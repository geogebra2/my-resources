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</p:sldIdLst>
  <p:sldSz cx="10693400" cy="7556500"/>
  <p:notesSz cx="10693400" cy="7556500"/>
  <p:embeddedFontLst>
    <p:embeddedFont>
      <p:font typeface="NKPUOW+ComicSansMS" panose="030F0702030302020204"/>
      <p:regular r:id="rId67"/>
    </p:embeddedFont>
    <p:embeddedFont>
      <p:font typeface="黑体" panose="02010609060101010101" charset="-122"/>
      <p:regular r:id="rId68"/>
    </p:embeddedFont>
    <p:embeddedFont>
      <p:font typeface="SCVBFU+ComicSansMS,Bold" panose="030F0902030302020204"/>
      <p:bold r:id="rId69"/>
    </p:embeddedFont>
    <p:embeddedFont>
      <p:font typeface="POPBIN+TimesNewRoman" panose="02020603050405020304"/>
      <p:regular r:id="rId70"/>
    </p:embeddedFont>
    <p:embeddedFont>
      <p:font typeface="UOVUCV+TimesNewRoman,Italic" panose="02020503050405090304"/>
      <p:italic r:id="rId71"/>
    </p:embeddedFont>
    <p:embeddedFont>
      <p:font typeface="BFWQOG+TimesNewRoman,Bold" panose="02020803070505020304"/>
      <p:bold r:id="rId72"/>
    </p:embeddedFont>
    <p:embeddedFont>
      <p:font typeface="Calibri" panose="020F0502020204030204" charset="0"/>
      <p:regular r:id="rId73"/>
      <p:bold r:id="rId74"/>
      <p:italic r:id="rId75"/>
      <p:boldItalic r:id="rId76"/>
    </p:embeddedFont>
    <p:embeddedFont>
      <p:font typeface="UPVCUQ+ComicSansMS,Italic" panose="030F0702030302060204"/>
      <p:italic r:id="rId77"/>
    </p:embeddedFont>
    <p:embeddedFont>
      <p:font typeface="TLESNE+Symbol" panose="02000500000000000000"/>
      <p:regular r:id="rId78"/>
    </p:embeddedFont>
    <p:embeddedFont>
      <p:font typeface="IJJRAK+Symbol" panose="05050102010706020507"/>
      <p:regular r:id="rId79"/>
    </p:embeddedFont>
    <p:embeddedFont>
      <p:font typeface="TMUJNU+ComicSansMS,BoldItalic" panose="030F0902030302060204"/>
      <p:boldItalic r:id="rId80"/>
    </p:embeddedFont>
    <p:embeddedFont>
      <p:font typeface="ITKFGI+CambriaMath" panose="02040503050406030204"/>
      <p:regular r:id="rId81"/>
    </p:embeddedFont>
  </p:embeddedFontLst>
  <p:custDataLst>
    <p:tags r:id="rId8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2" Type="http://schemas.openxmlformats.org/officeDocument/2006/relationships/tags" Target="tags/tag1.xml"/><Relationship Id="rId81" Type="http://schemas.openxmlformats.org/officeDocument/2006/relationships/font" Target="fonts/font15.fntdata"/><Relationship Id="rId80" Type="http://schemas.openxmlformats.org/officeDocument/2006/relationships/font" Target="fonts/font14.fntdata"/><Relationship Id="rId8" Type="http://schemas.openxmlformats.org/officeDocument/2006/relationships/slide" Target="slides/slide6.xml"/><Relationship Id="rId79" Type="http://schemas.openxmlformats.org/officeDocument/2006/relationships/font" Target="fonts/font13.fntdata"/><Relationship Id="rId78" Type="http://schemas.openxmlformats.org/officeDocument/2006/relationships/font" Target="fonts/font12.fntdata"/><Relationship Id="rId77" Type="http://schemas.openxmlformats.org/officeDocument/2006/relationships/font" Target="fonts/font11.fntdata"/><Relationship Id="rId76" Type="http://schemas.openxmlformats.org/officeDocument/2006/relationships/font" Target="fonts/font10.fntdata"/><Relationship Id="rId75" Type="http://schemas.openxmlformats.org/officeDocument/2006/relationships/font" Target="fonts/font9.fntdata"/><Relationship Id="rId74" Type="http://schemas.openxmlformats.org/officeDocument/2006/relationships/font" Target="fonts/font8.fntdata"/><Relationship Id="rId73" Type="http://schemas.openxmlformats.org/officeDocument/2006/relationships/font" Target="fonts/font7.fntdata"/><Relationship Id="rId72" Type="http://schemas.openxmlformats.org/officeDocument/2006/relationships/font" Target="fonts/font6.fntdata"/><Relationship Id="rId71" Type="http://schemas.openxmlformats.org/officeDocument/2006/relationships/font" Target="fonts/font5.fntdata"/><Relationship Id="rId70" Type="http://schemas.openxmlformats.org/officeDocument/2006/relationships/font" Target="fonts/font4.fntdata"/><Relationship Id="rId7" Type="http://schemas.openxmlformats.org/officeDocument/2006/relationships/slide" Target="slides/slide5.xml"/><Relationship Id="rId69" Type="http://schemas.openxmlformats.org/officeDocument/2006/relationships/font" Target="fonts/font3.fntdata"/><Relationship Id="rId68" Type="http://schemas.openxmlformats.org/officeDocument/2006/relationships/font" Target="fonts/font2.fntdata"/><Relationship Id="rId67" Type="http://schemas.openxmlformats.org/officeDocument/2006/relationships/font" Target="fonts/font1.fntdata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jpeg"/><Relationship Id="rId1" Type="http://schemas.openxmlformats.org/officeDocument/2006/relationships/image" Target="../media/image8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jpeg"/><Relationship Id="rId1" Type="http://schemas.openxmlformats.org/officeDocument/2006/relationships/image" Target="../media/image8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4.jpeg"/><Relationship Id="rId1" Type="http://schemas.openxmlformats.org/officeDocument/2006/relationships/image" Target="../media/image8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76123" y="804923"/>
            <a:ext cx="4076745" cy="818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145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4400" spc="2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4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Circuits</a:t>
            </a:r>
            <a:endParaRPr sz="44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2451" y="1755400"/>
            <a:ext cx="6873209" cy="5981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10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数字电路（数字电子技术）</a:t>
            </a:r>
            <a:endParaRPr sz="4400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3059" y="3868926"/>
            <a:ext cx="5449384" cy="662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550" spc="-11" dirty="0">
                <a:solidFill>
                  <a:srgbClr val="000000"/>
                </a:solidFill>
                <a:latin typeface="SCVBFU+ComicSansMS,Bold" panose="030F0902030302020204"/>
                <a:cs typeface="SCVBFU+ComicSansMS,Bold" panose="030F0902030302020204"/>
              </a:rPr>
              <a:t>Subject:</a:t>
            </a:r>
            <a:r>
              <a:rPr sz="3550" spc="647" dirty="0">
                <a:solidFill>
                  <a:srgbClr val="000000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550" spc="-10" dirty="0">
                <a:solidFill>
                  <a:srgbClr val="000000"/>
                </a:solidFill>
                <a:latin typeface="SCVBFU+ComicSansMS,Bold" panose="030F0902030302020204"/>
                <a:cs typeface="SCVBFU+ComicSansMS,Bold" panose="030F0902030302020204"/>
              </a:rPr>
              <a:t>Digital</a:t>
            </a:r>
            <a:r>
              <a:rPr sz="3550" spc="648" dirty="0">
                <a:solidFill>
                  <a:srgbClr val="000000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550" spc="-10" dirty="0">
                <a:solidFill>
                  <a:srgbClr val="000000"/>
                </a:solidFill>
                <a:latin typeface="SCVBFU+ComicSansMS,Bold" panose="030F0902030302020204"/>
                <a:cs typeface="SCVBFU+ComicSansMS,Bold" panose="030F0902030302020204"/>
              </a:rPr>
              <a:t>Circuits</a:t>
            </a:r>
            <a:endParaRPr sz="3550" spc="-10" dirty="0">
              <a:solidFill>
                <a:srgbClr val="000000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2823" y="4950214"/>
            <a:ext cx="3289536" cy="662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550" spc="-10" dirty="0">
                <a:solidFill>
                  <a:srgbClr val="000000"/>
                </a:solidFill>
                <a:latin typeface="SCVBFU+ComicSansMS,Bold" panose="030F0902030302020204"/>
                <a:cs typeface="SCVBFU+ComicSansMS,Bold" panose="030F0902030302020204"/>
              </a:rPr>
              <a:t>Lecturer:</a:t>
            </a:r>
            <a:r>
              <a:rPr sz="3550" spc="630" dirty="0">
                <a:solidFill>
                  <a:srgbClr val="000000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550" spc="-15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陈新</a:t>
            </a:r>
            <a:endParaRPr sz="3550" spc="-15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59893" y="486407"/>
            <a:ext cx="4076746" cy="818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145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4400" spc="2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4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Circuits</a:t>
            </a:r>
            <a:endParaRPr sz="44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9258" y="1916701"/>
            <a:ext cx="4818146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Lecturer:</a:t>
            </a:r>
            <a:r>
              <a:rPr sz="2650" spc="642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Associate.</a:t>
            </a:r>
            <a:r>
              <a:rPr sz="265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Prof.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陈新</a:t>
            </a:r>
            <a:endParaRPr sz="2650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9258" y="2601739"/>
            <a:ext cx="4006329" cy="1014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Office:</a:t>
            </a:r>
            <a:r>
              <a:rPr sz="265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Micro-Electronics</a:t>
            </a:r>
            <a:endParaRPr sz="26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Building</a:t>
            </a:r>
            <a:r>
              <a:rPr sz="2650" spc="-2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微电子楼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309</a:t>
            </a:r>
            <a:endParaRPr sz="26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5305" y="3891055"/>
            <a:ext cx="3984123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email:</a:t>
            </a:r>
            <a:r>
              <a:rPr sz="2650" spc="-2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xin.chen@sjtu.edu.cn</a:t>
            </a:r>
            <a:endParaRPr sz="26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9258" y="4576081"/>
            <a:ext cx="2276422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Assist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Tutor:</a:t>
            </a:r>
            <a:endParaRPr sz="26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08433" y="5525935"/>
            <a:ext cx="909058" cy="290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85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7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杨启明</a:t>
            </a:r>
            <a:endParaRPr sz="2000" spc="-17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349" y="5526697"/>
            <a:ext cx="909058" cy="290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85"/>
              </a:lnSpc>
              <a:spcBef>
                <a:spcPts val="0"/>
              </a:spcBef>
              <a:spcAft>
                <a:spcPts val="0"/>
              </a:spcAft>
            </a:pPr>
            <a:r>
              <a:rPr sz="2000" spc="-17" dirty="0">
                <a:solidFill>
                  <a:srgbClr val="000000"/>
                </a:solidFill>
                <a:latin typeface="黑体" panose="02010609060101010101" charset="-122"/>
                <a:cs typeface="黑体" panose="02010609060101010101" charset="-122"/>
              </a:rPr>
              <a:t>杨启明</a:t>
            </a:r>
            <a:endParaRPr sz="2000" spc="-17" dirty="0">
              <a:solidFill>
                <a:srgbClr val="000000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23495" y="5967748"/>
            <a:ext cx="2483336" cy="1226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15939727804</a:t>
            </a:r>
            <a:endParaRPr sz="20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0" marR="0">
              <a:lnSpc>
                <a:spcPts val="2220"/>
              </a:lnSpc>
              <a:spcBef>
                <a:spcPts val="13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yangqimingxpz@sjtu</a:t>
            </a:r>
            <a:endParaRPr sz="20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0" marR="0">
              <a:lnSpc>
                <a:spcPts val="2220"/>
              </a:lnSpc>
              <a:spcBef>
                <a:spcPts val="13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.edu.cn</a:t>
            </a:r>
            <a:endParaRPr sz="20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85412" y="5968510"/>
            <a:ext cx="2498361" cy="1226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13596086951</a:t>
            </a:r>
            <a:endParaRPr sz="20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0" marR="0">
              <a:lnSpc>
                <a:spcPts val="2220"/>
              </a:lnSpc>
              <a:spcBef>
                <a:spcPts val="1350"/>
              </a:spcBef>
              <a:spcAft>
                <a:spcPts val="0"/>
              </a:spcAft>
            </a:pPr>
            <a:r>
              <a:rPr sz="2000" spc="-1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dushande2000@163</a:t>
            </a:r>
            <a:endParaRPr sz="2000" spc="-1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0" marR="0">
              <a:lnSpc>
                <a:spcPts val="2220"/>
              </a:lnSpc>
              <a:spcBef>
                <a:spcPts val="13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.com</a:t>
            </a:r>
            <a:endParaRPr sz="20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59893" y="486407"/>
            <a:ext cx="4076746" cy="818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145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4400" spc="2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4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Circuits</a:t>
            </a:r>
            <a:endParaRPr sz="44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03355" y="661378"/>
            <a:ext cx="7036358" cy="600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430"/>
              </a:lnSpc>
              <a:spcBef>
                <a:spcPts val="0"/>
              </a:spcBef>
              <a:spcAft>
                <a:spcPts val="0"/>
              </a:spcAft>
            </a:pPr>
            <a:r>
              <a:rPr sz="39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EST2501</a:t>
            </a:r>
            <a:r>
              <a:rPr sz="39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Course</a:t>
            </a:r>
            <a:r>
              <a:rPr sz="39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Information</a:t>
            </a:r>
            <a:endParaRPr sz="3950" b="1" dirty="0">
              <a:solidFill>
                <a:srgbClr val="00009A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0802" y="1874796"/>
            <a:ext cx="5207294" cy="117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800" spc="18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50" spc="-14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Name: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Digital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Electronics</a:t>
            </a:r>
            <a:endParaRPr sz="35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3905"/>
              </a:lnSpc>
              <a:spcBef>
                <a:spcPts val="1170"/>
              </a:spcBef>
              <a:spcAft>
                <a:spcPts val="0"/>
              </a:spcAft>
            </a:pPr>
            <a:r>
              <a:rPr sz="28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800" spc="18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Hours/Credits: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32/2.0</a:t>
            </a:r>
            <a:endParaRPr sz="3550" spc="-1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0802" y="3164861"/>
            <a:ext cx="5516289" cy="534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800" spc="18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Terms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offered: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Spring</a:t>
            </a:r>
            <a:r>
              <a:rPr sz="3550" spc="-2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2024</a:t>
            </a:r>
            <a:endParaRPr sz="3550" spc="-11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0802" y="3809513"/>
            <a:ext cx="8253583" cy="534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800" spc="18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Textbook:</a:t>
            </a:r>
            <a:r>
              <a:rPr sz="3550" spc="-14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UOVUCV+TimesNewRoman,Italic" panose="02020503050405090304"/>
                <a:cs typeface="UOVUCV+TimesNewRoman,Italic" panose="02020503050405090304"/>
              </a:rPr>
              <a:t>Digital</a:t>
            </a:r>
            <a:r>
              <a:rPr sz="3550" dirty="0">
                <a:solidFill>
                  <a:srgbClr val="009AFF"/>
                </a:solidFill>
                <a:latin typeface="UOVUCV+TimesNewRoman,Italic" panose="02020503050405090304"/>
                <a:cs typeface="UOVUCV+TimesNewRoman,Italic" panose="0202050305040509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UOVUCV+TimesNewRoman,Italic" panose="02020503050405090304"/>
                <a:cs typeface="UOVUCV+TimesNewRoman,Italic" panose="02020503050405090304"/>
              </a:rPr>
              <a:t>Fundamentals</a:t>
            </a:r>
            <a:r>
              <a:rPr sz="3550" spc="-15" dirty="0">
                <a:solidFill>
                  <a:srgbClr val="009AFF"/>
                </a:solidFill>
                <a:latin typeface="UOVUCV+TimesNewRoman,Italic" panose="02020503050405090304"/>
                <a:cs typeface="UOVUCV+TimesNewRoman,Italic" panose="0202050305040509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by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Floyd,</a:t>
            </a:r>
            <a:endParaRPr sz="3550" spc="-1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8753" y="4345701"/>
            <a:ext cx="2186479" cy="5353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11</a:t>
            </a:r>
            <a:r>
              <a:rPr sz="3500" baseline="300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</a:t>
            </a:r>
            <a:r>
              <a:rPr sz="3500" spc="275" baseline="300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edition</a:t>
            </a:r>
            <a:endParaRPr sz="35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0802" y="4991375"/>
            <a:ext cx="1998621" cy="534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800" spc="18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Grading</a:t>
            </a:r>
            <a:endParaRPr sz="3550" spc="-1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56111" y="5613916"/>
            <a:ext cx="7349663" cy="1000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9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2100" spc="1227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4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Homework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1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Assignments,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2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30%</a:t>
            </a:r>
            <a:r>
              <a:rPr sz="3000" spc="-14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(</a:t>
            </a:r>
            <a:r>
              <a:rPr sz="2000" spc="-14" dirty="0">
                <a:solidFill>
                  <a:srgbClr val="3365CC"/>
                </a:solidFill>
                <a:latin typeface="黑体" panose="02010609060101010101" charset="-122"/>
                <a:cs typeface="黑体" panose="02010609060101010101" charset="-122"/>
              </a:rPr>
              <a:t>英文答题、抄题</a:t>
            </a:r>
            <a:r>
              <a:rPr sz="2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)</a:t>
            </a:r>
            <a:endParaRPr sz="200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3295"/>
              </a:lnSpc>
              <a:spcBef>
                <a:spcPts val="990"/>
              </a:spcBef>
              <a:spcAft>
                <a:spcPts val="0"/>
              </a:spcAft>
            </a:pPr>
            <a:r>
              <a:rPr sz="21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2100" spc="1227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Final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4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Exam,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1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70%</a:t>
            </a:r>
            <a:r>
              <a:rPr sz="3000" spc="-21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(</a:t>
            </a:r>
            <a:r>
              <a:rPr sz="2000" spc="-15" dirty="0">
                <a:solidFill>
                  <a:srgbClr val="3365CC"/>
                </a:solidFill>
                <a:latin typeface="黑体" panose="02010609060101010101" charset="-122"/>
                <a:cs typeface="黑体" panose="02010609060101010101" charset="-122"/>
              </a:rPr>
              <a:t>要求：英文试卷、不许带电子词典</a:t>
            </a:r>
            <a:r>
              <a:rPr sz="2000" spc="-25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)</a:t>
            </a:r>
            <a:endParaRPr sz="200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67257" y="669506"/>
            <a:ext cx="2510030" cy="429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8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数字电子技术</a:t>
            </a:r>
            <a:endParaRPr sz="3100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9341" y="1683510"/>
            <a:ext cx="2504398" cy="662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800" spc="18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50" spc="-14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Required:</a:t>
            </a:r>
            <a:endParaRPr sz="3550" spc="-14" dirty="0">
              <a:solidFill>
                <a:srgbClr val="FF00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9360" y="2328170"/>
            <a:ext cx="4503857" cy="662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5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355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Fundamentals</a:t>
            </a:r>
            <a:endParaRPr sz="3550" spc="-11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9360" y="2865386"/>
            <a:ext cx="3808238" cy="662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5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11/E</a:t>
            </a:r>
            <a:r>
              <a:rPr sz="35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5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35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Thomas</a:t>
            </a:r>
            <a:r>
              <a:rPr sz="35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5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</a:t>
            </a:r>
            <a:endParaRPr sz="35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9360" y="3402602"/>
            <a:ext cx="4493211" cy="1199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15"/>
              </a:lnSpc>
              <a:spcBef>
                <a:spcPts val="0"/>
              </a:spcBef>
              <a:spcAft>
                <a:spcPts val="0"/>
              </a:spcAft>
            </a:pPr>
            <a:r>
              <a:rPr sz="35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Floyd,</a:t>
            </a:r>
            <a:r>
              <a:rPr sz="35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Science</a:t>
            </a:r>
            <a:r>
              <a:rPr sz="35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Press</a:t>
            </a:r>
            <a:endParaRPr sz="3550" spc="-11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4230"/>
              </a:lnSpc>
              <a:spcBef>
                <a:spcPts val="0"/>
              </a:spcBef>
              <a:spcAft>
                <a:spcPts val="0"/>
              </a:spcAft>
            </a:pPr>
            <a:r>
              <a:rPr sz="35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&amp;</a:t>
            </a:r>
            <a:r>
              <a:rPr sz="35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Pearson</a:t>
            </a:r>
            <a:r>
              <a:rPr sz="35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Education,</a:t>
            </a:r>
            <a:endParaRPr sz="3550" spc="-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36955" y="2342728"/>
            <a:ext cx="2845146" cy="569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CHAPTER</a:t>
            </a:r>
            <a:r>
              <a:rPr sz="37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7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1</a:t>
            </a:r>
            <a:endParaRPr sz="3750" b="1" dirty="0">
              <a:solidFill>
                <a:srgbClr val="00009A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4410" y="3198459"/>
            <a:ext cx="8790731" cy="5693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18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INTRODUCTORY</a:t>
            </a:r>
            <a:r>
              <a:rPr sz="37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7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DIGITAL</a:t>
            </a:r>
            <a:r>
              <a:rPr sz="3750" b="1" spc="20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750" b="1" dirty="0">
                <a:solidFill>
                  <a:srgbClr val="00009A"/>
                </a:solidFill>
                <a:latin typeface="Arial" panose="020B0604020202020204"/>
                <a:cs typeface="Arial" panose="020B0604020202020204"/>
              </a:rPr>
              <a:t>CONCEPTS</a:t>
            </a:r>
            <a:endParaRPr sz="3750" b="1" dirty="0">
              <a:solidFill>
                <a:srgbClr val="00009A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20553" y="2606121"/>
            <a:ext cx="9203125" cy="6231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05"/>
              </a:lnSpc>
              <a:spcBef>
                <a:spcPts val="0"/>
              </a:spcBef>
              <a:spcAft>
                <a:spcPts val="0"/>
              </a:spcAft>
            </a:pP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1-1</a:t>
            </a:r>
            <a:r>
              <a:rPr sz="3300" spc="592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DIGITAL</a:t>
            </a:r>
            <a:r>
              <a:rPr sz="3300" spc="60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AND</a:t>
            </a:r>
            <a:r>
              <a:rPr sz="3300" spc="607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ANALOG</a:t>
            </a:r>
            <a:r>
              <a:rPr sz="3300" spc="607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QUANTITIES</a:t>
            </a:r>
            <a:endParaRPr sz="330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70832" y="3463170"/>
            <a:ext cx="3100485" cy="457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3300" spc="1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数字量和模拟量</a:t>
            </a:r>
            <a:endParaRPr sz="3300" spc="1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28551" y="289469"/>
            <a:ext cx="6287277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What’s</a:t>
            </a:r>
            <a:r>
              <a:rPr sz="3950" spc="73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Analog</a:t>
            </a:r>
            <a:r>
              <a:rPr sz="3950" spc="737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Quantity?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1290319"/>
            <a:ext cx="8706849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analog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quantity(</a:t>
            </a:r>
            <a:r>
              <a:rPr sz="2650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模拟量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),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having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continuous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values,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11" y="1647697"/>
            <a:ext cx="8428387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takes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infinite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values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between,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say,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[a,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b].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15369" y="236892"/>
            <a:ext cx="6493381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spc="1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What’</a:t>
            </a:r>
            <a:r>
              <a:rPr sz="3950" spc="72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s</a:t>
            </a:r>
            <a:r>
              <a:rPr sz="3950" spc="74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Digital</a:t>
            </a:r>
            <a:r>
              <a:rPr sz="3950" spc="754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Quantity?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0761" y="1120393"/>
            <a:ext cx="828784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quantity</a:t>
            </a:r>
            <a:r>
              <a:rPr sz="2650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（数字量）</a:t>
            </a:r>
            <a:r>
              <a:rPr sz="2650" spc="107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has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set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discrete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8714" y="1477771"/>
            <a:ext cx="118646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values.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253875" y="615477"/>
            <a:ext cx="6337393" cy="538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65"/>
              </a:lnSpc>
              <a:spcBef>
                <a:spcPts val="0"/>
              </a:spcBef>
              <a:spcAft>
                <a:spcPts val="0"/>
              </a:spcAft>
            </a:pPr>
            <a:r>
              <a:rPr sz="3550" b="1" u="sng" spc="-14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Analog-to-Digital</a:t>
            </a:r>
            <a:r>
              <a:rPr sz="3550" b="1" u="sng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550" b="1" u="sng" spc="-15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Conversion</a:t>
            </a:r>
            <a:endParaRPr sz="3550" b="1" u="sng" spc="-15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1514" y="1577571"/>
            <a:ext cx="7398385" cy="471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3100" spc="-14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70C0"/>
                </a:solidFill>
                <a:latin typeface="BFWQOG+TimesNewRoman,Bold" panose="02020803070505020304"/>
                <a:cs typeface="BFWQOG+TimesNewRoman,Bold" panose="02020803070505020304"/>
              </a:rPr>
              <a:t>signal</a:t>
            </a:r>
            <a:r>
              <a:rPr sz="3100" dirty="0">
                <a:solidFill>
                  <a:srgbClr val="0070C0"/>
                </a:solidFill>
                <a:latin typeface="BFWQOG+TimesNewRoman,Bold" panose="02020803070505020304"/>
                <a:cs typeface="BFWQOG+TimesNewRoman,Bold" panose="02020803070505020304"/>
              </a:rPr>
              <a:t> </a:t>
            </a:r>
            <a:r>
              <a:rPr sz="3100" dirty="0">
                <a:solidFill>
                  <a:srgbClr val="0070C0"/>
                </a:solidFill>
                <a:latin typeface="黑体" panose="02010609060101010101" charset="-122"/>
                <a:cs typeface="黑体" panose="02010609060101010101" charset="-122"/>
              </a:rPr>
              <a:t>（信号）</a:t>
            </a:r>
            <a:r>
              <a:rPr sz="3100" spc="2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310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quantity</a:t>
            </a:r>
            <a:r>
              <a:rPr sz="3100" spc="-25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that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carries</a:t>
            </a:r>
            <a:endParaRPr sz="310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9465" y="2042400"/>
            <a:ext cx="2100191" cy="471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information.</a:t>
            </a:r>
            <a:endParaRPr sz="310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1514" y="2607033"/>
            <a:ext cx="7766508" cy="471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Mathematically,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3100" spc="-14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signal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3100" spc="-14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function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some</a:t>
            </a:r>
            <a:endParaRPr sz="3100" spc="-1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9465" y="3077189"/>
            <a:ext cx="3674255" cy="471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independent</a:t>
            </a:r>
            <a:r>
              <a:rPr sz="310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variables.</a:t>
            </a:r>
            <a:endParaRPr sz="310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1514" y="3641068"/>
            <a:ext cx="8909642" cy="2822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1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process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analog</a:t>
            </a:r>
            <a:r>
              <a:rPr sz="310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signals</a:t>
            </a:r>
            <a:r>
              <a:rPr sz="3100" spc="-17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by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digital</a:t>
            </a:r>
            <a:r>
              <a:rPr sz="3100" spc="-15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means,</a:t>
            </a:r>
            <a:r>
              <a:rPr sz="310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it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first</a:t>
            </a:r>
            <a:endParaRPr sz="310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3415"/>
              </a:lnSpc>
              <a:spcBef>
                <a:spcPts val="285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necessary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convert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them</a:t>
            </a:r>
            <a:r>
              <a:rPr sz="310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into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digital</a:t>
            </a:r>
            <a:r>
              <a:rPr sz="3100" spc="-2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form,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that</a:t>
            </a:r>
            <a:r>
              <a:rPr sz="3100" spc="-15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is,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endParaRPr sz="310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3415"/>
              </a:lnSpc>
              <a:spcBef>
                <a:spcPts val="285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convert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them</a:t>
            </a:r>
            <a:r>
              <a:rPr sz="310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310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sequence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numbers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having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finite</a:t>
            </a:r>
            <a:endParaRPr sz="310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3415"/>
              </a:lnSpc>
              <a:spcBef>
                <a:spcPts val="285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precision.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This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procedure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called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analog-to-digital</a:t>
            </a:r>
            <a:endParaRPr sz="310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3415"/>
              </a:lnSpc>
              <a:spcBef>
                <a:spcPts val="285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(A/D)</a:t>
            </a:r>
            <a:r>
              <a:rPr sz="3100" spc="2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conversion,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and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corresponding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devices</a:t>
            </a:r>
            <a:r>
              <a:rPr sz="3100" spc="-23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are</a:t>
            </a:r>
            <a:endParaRPr sz="310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3415"/>
              </a:lnSpc>
              <a:spcBef>
                <a:spcPts val="285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called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A/D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converters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(ADCs).</a:t>
            </a:r>
            <a:endParaRPr sz="3100" spc="-1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28579" y="1182137"/>
            <a:ext cx="8407065" cy="534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800" spc="18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Conceptually,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5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we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view</a:t>
            </a:r>
            <a:r>
              <a:rPr sz="3550" spc="-12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A/D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conversion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as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endParaRPr sz="35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6531" y="1719353"/>
            <a:ext cx="3499284" cy="534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three-step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process:</a:t>
            </a:r>
            <a:endParaRPr sz="35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3889" y="2347222"/>
            <a:ext cx="6855370" cy="4566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9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2100" spc="1227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1" dirty="0">
                <a:solidFill>
                  <a:srgbClr val="3365CC"/>
                </a:solidFill>
                <a:latin typeface="BFWQOG+TimesNewRoman,Bold" panose="02020803070505020304"/>
                <a:cs typeface="BFWQOG+TimesNewRoman,Bold" panose="02020803070505020304"/>
              </a:rPr>
              <a:t>Sampling</a:t>
            </a:r>
            <a:r>
              <a:rPr sz="3000" spc="-23" dirty="0">
                <a:solidFill>
                  <a:srgbClr val="3365CC"/>
                </a:solidFill>
                <a:latin typeface="黑体" panose="02010609060101010101" charset="-122"/>
                <a:cs typeface="黑体" panose="02010609060101010101" charset="-122"/>
              </a:rPr>
              <a:t>（采样）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.</a:t>
            </a:r>
            <a:r>
              <a:rPr sz="3000" spc="-28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4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conversion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2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endParaRPr sz="300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4137" y="2796037"/>
            <a:ext cx="7709121" cy="4566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95"/>
              </a:lnSpc>
              <a:spcBef>
                <a:spcPts val="0"/>
              </a:spcBef>
              <a:spcAft>
                <a:spcPts val="0"/>
              </a:spcAft>
            </a:pP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continuous-time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signal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into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3000" spc="-17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discrete-time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signal.</a:t>
            </a:r>
            <a:endParaRPr sz="3000" spc="-1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3889" y="3344680"/>
            <a:ext cx="7487888" cy="1358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9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2100" spc="1227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BFWQOG+TimesNewRoman,Bold" panose="02020803070505020304"/>
                <a:cs typeface="BFWQOG+TimesNewRoman,Bold" panose="02020803070505020304"/>
              </a:rPr>
              <a:t>Quantization</a:t>
            </a:r>
            <a:r>
              <a:rPr sz="3000" spc="-23" dirty="0">
                <a:solidFill>
                  <a:srgbClr val="3365CC"/>
                </a:solidFill>
                <a:latin typeface="黑体" panose="02010609060101010101" charset="-122"/>
                <a:cs typeface="黑体" panose="02010609060101010101" charset="-122"/>
              </a:rPr>
              <a:t>（量化）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.</a:t>
            </a:r>
            <a:r>
              <a:rPr sz="3000" spc="-28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4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conversion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2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endParaRPr sz="300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460375" marR="0">
              <a:lnSpc>
                <a:spcPts val="3295"/>
              </a:lnSpc>
              <a:spcBef>
                <a:spcPts val="230"/>
              </a:spcBef>
              <a:spcAft>
                <a:spcPts val="0"/>
              </a:spcAft>
            </a:pP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discrete-time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continuous-valued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signal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into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endParaRPr sz="300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460375" marR="0">
              <a:lnSpc>
                <a:spcPts val="3295"/>
              </a:lnSpc>
              <a:spcBef>
                <a:spcPts val="275"/>
              </a:spcBef>
              <a:spcAft>
                <a:spcPts val="0"/>
              </a:spcAft>
            </a:pP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discrete-time,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discrete-valued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(digital)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signal.</a:t>
            </a:r>
            <a:endParaRPr sz="300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889" y="4794766"/>
            <a:ext cx="8210188" cy="1358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29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2100" spc="1227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1" dirty="0">
                <a:solidFill>
                  <a:srgbClr val="3365CC"/>
                </a:solidFill>
                <a:latin typeface="BFWQOG+TimesNewRoman,Bold" panose="02020803070505020304"/>
                <a:cs typeface="BFWQOG+TimesNewRoman,Bold" panose="02020803070505020304"/>
              </a:rPr>
              <a:t>Coding</a:t>
            </a:r>
            <a:r>
              <a:rPr sz="3000" spc="-23" dirty="0">
                <a:solidFill>
                  <a:srgbClr val="3365CC"/>
                </a:solidFill>
                <a:latin typeface="黑体" panose="02010609060101010101" charset="-122"/>
                <a:cs typeface="黑体" panose="02010609060101010101" charset="-122"/>
              </a:rPr>
              <a:t>（编码）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.</a:t>
            </a:r>
            <a:r>
              <a:rPr sz="3000" spc="-3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In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this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process,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each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quantized</a:t>
            </a:r>
            <a:endParaRPr sz="3000" spc="-1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460375" marR="0">
              <a:lnSpc>
                <a:spcPts val="3295"/>
              </a:lnSpc>
              <a:spcBef>
                <a:spcPts val="240"/>
              </a:spcBef>
              <a:spcAft>
                <a:spcPts val="0"/>
              </a:spcAft>
            </a:pPr>
            <a:r>
              <a:rPr sz="3000" spc="-11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sample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represented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1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by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3000" spc="-17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finite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2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number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1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spc="-1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binary</a:t>
            </a:r>
            <a:endParaRPr sz="3000" spc="-1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460375" marR="0">
              <a:lnSpc>
                <a:spcPts val="3295"/>
              </a:lnSpc>
              <a:spcBef>
                <a:spcPts val="275"/>
              </a:spcBef>
              <a:spcAft>
                <a:spcPts val="0"/>
              </a:spcAft>
            </a:pP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digits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000" dirty="0">
                <a:solidFill>
                  <a:srgbClr val="3365CC"/>
                </a:solidFill>
                <a:latin typeface="POPBIN+TimesNewRoman" panose="02020603050405020304"/>
                <a:cs typeface="POPBIN+TimesNewRoman" panose="02020603050405020304"/>
              </a:rPr>
              <a:t>(bits).</a:t>
            </a:r>
            <a:endParaRPr sz="3000" dirty="0">
              <a:solidFill>
                <a:srgbClr val="3365C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39319" y="315378"/>
            <a:ext cx="3927166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Analog</a:t>
            </a:r>
            <a:r>
              <a:rPr sz="3950" spc="743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spc="1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Example</a:t>
            </a:r>
            <a:endParaRPr sz="3950" spc="1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1047241"/>
            <a:ext cx="8343464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public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address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system,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used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amplify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sound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so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11" y="1409962"/>
            <a:ext cx="7196207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can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heard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large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audience,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11" y="1772683"/>
            <a:ext cx="751617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example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application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analog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electronics.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21437" y="289469"/>
            <a:ext cx="4201104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</a:t>
            </a:r>
            <a:r>
              <a:rPr sz="3950" spc="74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Mixed</a:t>
            </a:r>
            <a:r>
              <a:rPr sz="3950" spc="73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System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1047241"/>
            <a:ext cx="8012176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compact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disk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(CD)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player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example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11" y="1409962"/>
            <a:ext cx="8142932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which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both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analog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circuits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11" y="1772683"/>
            <a:ext cx="956147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used.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65171" y="2810783"/>
            <a:ext cx="3957990" cy="924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Analog-to-Digital</a:t>
            </a:r>
            <a:r>
              <a:rPr sz="2000" spc="-17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Converter</a:t>
            </a:r>
            <a:r>
              <a:rPr sz="2000" spc="-18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(ADC)</a:t>
            </a:r>
            <a:endParaRPr sz="2000" spc="-1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0" marR="0">
              <a:lnSpc>
                <a:spcPts val="2220"/>
              </a:lnSpc>
              <a:spcBef>
                <a:spcPts val="16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&amp;</a:t>
            </a:r>
            <a:endParaRPr sz="20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0" marR="0">
              <a:lnSpc>
                <a:spcPts val="2220"/>
              </a:lnSpc>
              <a:spcBef>
                <a:spcPts val="16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Digital-to-Analog</a:t>
            </a:r>
            <a:r>
              <a:rPr sz="2000" spc="-21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Converter</a:t>
            </a:r>
            <a:r>
              <a:rPr sz="2000" spc="-17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(DAC)</a:t>
            </a:r>
            <a:endParaRPr sz="20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65455" y="289469"/>
            <a:ext cx="3913970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Digital</a:t>
            </a:r>
            <a:r>
              <a:rPr sz="3950" spc="757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Example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1087627"/>
            <a:ext cx="8570982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computer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</a:t>
            </a:r>
            <a:r>
              <a:rPr sz="2650" spc="-2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example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application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11" y="1490740"/>
            <a:ext cx="3507426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electronics.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22683" y="289469"/>
            <a:ext cx="5599029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spc="1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The</a:t>
            </a:r>
            <a:r>
              <a:rPr sz="3950" spc="71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Digital</a:t>
            </a:r>
            <a:r>
              <a:rPr sz="3950" spc="75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Advantage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1134124"/>
            <a:ext cx="5565299" cy="383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数字电路与模拟电路比较的优势？</a:t>
            </a:r>
            <a:endParaRPr sz="2650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3379" y="1492670"/>
            <a:ext cx="8197908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550" spc="70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has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certain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advantages</a:t>
            </a:r>
            <a:r>
              <a:rPr sz="2200" spc="2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over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analog,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e.g.,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data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8085" y="1795197"/>
            <a:ext cx="7903837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can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r>
              <a:rPr sz="2200" spc="12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stored,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processed,</a:t>
            </a:r>
            <a:r>
              <a:rPr sz="2200" spc="1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200" spc="1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transmitted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more</a:t>
            </a:r>
            <a:r>
              <a:rPr sz="2200" spc="11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efficiently</a:t>
            </a:r>
            <a:endParaRPr sz="2200" dirty="0">
              <a:solidFill>
                <a:srgbClr val="FF0000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8085" y="2097724"/>
            <a:ext cx="3960560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200" spc="1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reliably</a:t>
            </a:r>
            <a:r>
              <a:rPr sz="2200" spc="11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than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analog</a:t>
            </a:r>
            <a:r>
              <a:rPr sz="2200" spc="1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data.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3379" y="2466506"/>
            <a:ext cx="7588280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550" spc="70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circuits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200" spc="18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less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vulnerable</a:t>
            </a:r>
            <a:r>
              <a:rPr sz="2200" spc="27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noise</a:t>
            </a:r>
            <a:r>
              <a:rPr sz="2200" spc="18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than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analog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8113" y="2769032"/>
            <a:ext cx="1214802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circuits.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3379" y="3138590"/>
            <a:ext cx="7801671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550" spc="709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circuits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200" spc="18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more</a:t>
            </a:r>
            <a:r>
              <a:rPr sz="2200" spc="1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compact,</a:t>
            </a:r>
            <a:r>
              <a:rPr sz="2200" spc="-1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less</a:t>
            </a:r>
            <a:r>
              <a:rPr sz="2200" spc="1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power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consuming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.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0687" y="6435764"/>
            <a:ext cx="8606326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</a:t>
            </a:r>
            <a:r>
              <a:rPr sz="2200" spc="465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Analog</a:t>
            </a:r>
            <a:r>
              <a:rPr sz="2200" spc="15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systems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can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generally</a:t>
            </a:r>
            <a:r>
              <a:rPr sz="2200" spc="25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handle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higher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power</a:t>
            </a:r>
            <a:r>
              <a:rPr sz="2200" spc="11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than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8636" y="6742848"/>
            <a:ext cx="6331298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systems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黑体" panose="02010609060101010101" charset="-122"/>
                <a:cs typeface="黑体" panose="02010609060101010101" charset="-122"/>
              </a:rPr>
              <a:t>（另外：远距离传输依然依赖模拟信号）</a:t>
            </a:r>
            <a:endParaRPr sz="2200" dirty="0">
              <a:solidFill>
                <a:srgbClr val="3365CC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71608" y="1866220"/>
            <a:ext cx="9097255" cy="1378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05"/>
              </a:lnSpc>
              <a:spcBef>
                <a:spcPts val="0"/>
              </a:spcBef>
              <a:spcAft>
                <a:spcPts val="0"/>
              </a:spcAft>
            </a:pP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1-2</a:t>
            </a:r>
            <a:r>
              <a:rPr sz="3300" spc="59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BINARY</a:t>
            </a:r>
            <a:r>
              <a:rPr sz="3300" spc="59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DIGITS,</a:t>
            </a:r>
            <a:r>
              <a:rPr sz="3300" spc="597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LOGIC</a:t>
            </a:r>
            <a:r>
              <a:rPr sz="3300" spc="59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LEVELS,</a:t>
            </a:r>
            <a:r>
              <a:rPr sz="3300" spc="59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and</a:t>
            </a:r>
            <a:endParaRPr sz="330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  <a:p>
            <a:pPr marL="2038350" marR="0">
              <a:lnSpc>
                <a:spcPts val="4605"/>
              </a:lnSpc>
              <a:spcBef>
                <a:spcPts val="1390"/>
              </a:spcBef>
              <a:spcAft>
                <a:spcPts val="0"/>
              </a:spcAft>
            </a:pP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DIGITAL</a:t>
            </a:r>
            <a:r>
              <a:rPr sz="3300" spc="59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WAVEFORMS</a:t>
            </a:r>
            <a:endParaRPr sz="330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4061" y="3479183"/>
            <a:ext cx="6050082" cy="457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3300" spc="1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二进制数、逻辑电平和数字波形</a:t>
            </a:r>
            <a:endParaRPr sz="3300" spc="1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04879" y="324521"/>
            <a:ext cx="6824390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Binary</a:t>
            </a:r>
            <a:r>
              <a:rPr sz="3950" spc="74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Digits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（二进制数字）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2276" y="2028697"/>
            <a:ext cx="8069951" cy="1312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two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binary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system,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0,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called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bits,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which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contraction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words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binary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04879" y="316140"/>
            <a:ext cx="6823443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spc="1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How</a:t>
            </a:r>
            <a:r>
              <a:rPr sz="3950" spc="733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to</a:t>
            </a:r>
            <a:r>
              <a:rPr sz="3950" spc="734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represent</a:t>
            </a:r>
            <a:r>
              <a:rPr sz="3950" spc="731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0</a:t>
            </a:r>
            <a:r>
              <a:rPr sz="3950" spc="74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and</a:t>
            </a:r>
            <a:r>
              <a:rPr sz="3950" spc="732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1?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702" y="1047241"/>
            <a:ext cx="8435932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circuits,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two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different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voltage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levels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9653" y="1409962"/>
            <a:ext cx="7877633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used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represent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two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bits.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higher/lower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9653" y="1772683"/>
            <a:ext cx="841729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voltage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level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referred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HIGH/LOW,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H/L.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55221" y="323759"/>
            <a:ext cx="6079901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Logic</a:t>
            </a:r>
            <a:r>
              <a:rPr sz="3950" spc="73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Levels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（逻辑电平）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1216825"/>
            <a:ext cx="8488777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310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practical</a:t>
            </a:r>
            <a:r>
              <a:rPr sz="31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31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circuit,</a:t>
            </a:r>
            <a:r>
              <a:rPr sz="31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</a:t>
            </a:r>
            <a:r>
              <a:rPr sz="310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can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endParaRPr sz="3100" spc="-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1593255"/>
            <a:ext cx="7623205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any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voltage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between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specified</a:t>
            </a:r>
            <a:r>
              <a:rPr sz="31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minimum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891" y="1968940"/>
            <a:ext cx="8267685" cy="17124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value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specified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maximum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value.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Likewise,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any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voltage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between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0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specified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minimum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specified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5"/>
              </a:lnSpc>
              <a:spcBef>
                <a:spcPts val="0"/>
              </a:spcBef>
              <a:spcAft>
                <a:spcPts val="0"/>
              </a:spcAft>
            </a:pP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maximum.</a:t>
            </a:r>
            <a:endParaRPr sz="3100" spc="-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89411" y="324521"/>
            <a:ext cx="7931577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Positive</a:t>
            </a:r>
            <a:r>
              <a:rPr sz="3950" spc="73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Logic</a:t>
            </a:r>
            <a:r>
              <a:rPr sz="3950" spc="73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System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（正逻辑）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702" y="1087627"/>
            <a:ext cx="8520293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represented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0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represented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9653" y="1490740"/>
            <a:ext cx="151135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70134" y="324521"/>
            <a:ext cx="8251615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Negative</a:t>
            </a:r>
            <a:r>
              <a:rPr sz="3950" spc="742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Logic</a:t>
            </a:r>
            <a:r>
              <a:rPr sz="3950" spc="744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System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（负逻辑）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702" y="1087627"/>
            <a:ext cx="8520294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0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represented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represented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9653" y="1490740"/>
            <a:ext cx="151135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23979" y="297852"/>
            <a:ext cx="6111180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Ideal</a:t>
            </a:r>
            <a:r>
              <a:rPr sz="3950" spc="72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Pulses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（理想脉冲）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8579" y="1835929"/>
            <a:ext cx="8748532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Digital</a:t>
            </a:r>
            <a:r>
              <a:rPr sz="265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waveform</a:t>
            </a:r>
            <a:r>
              <a:rPr sz="2650" spc="-2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consists</a:t>
            </a:r>
            <a:r>
              <a:rPr sz="2650" spc="-12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voltage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levels</a:t>
            </a:r>
            <a:r>
              <a:rPr sz="2650" spc="-12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that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are</a:t>
            </a:r>
            <a:r>
              <a:rPr sz="2650" spc="-2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changing</a:t>
            </a:r>
            <a:endParaRPr sz="26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6531" y="2238269"/>
            <a:ext cx="8272391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back</a:t>
            </a:r>
            <a:r>
              <a:rPr sz="265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and</a:t>
            </a:r>
            <a:r>
              <a:rPr sz="2650" spc="-14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forth</a:t>
            </a:r>
            <a:r>
              <a:rPr sz="265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between</a:t>
            </a:r>
            <a:r>
              <a:rPr sz="265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HIGH</a:t>
            </a:r>
            <a:r>
              <a:rPr sz="2650" spc="12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and</a:t>
            </a:r>
            <a:r>
              <a:rPr sz="2650" spc="-14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LOW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levels</a:t>
            </a:r>
            <a:r>
              <a:rPr sz="2650" spc="-18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or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states.</a:t>
            </a:r>
            <a:endParaRPr sz="2650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25047" y="297852"/>
            <a:ext cx="7392843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Nonideal</a:t>
            </a:r>
            <a:r>
              <a:rPr sz="3950" spc="732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Pulse</a:t>
            </a:r>
            <a:r>
              <a:rPr sz="3950" spc="724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（非理想脉冲）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770" y="1047241"/>
            <a:ext cx="867304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required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pulse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go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from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1721" y="1409962"/>
            <a:ext cx="8780432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(HIGH)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level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(LOW)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level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called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rise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1721" y="1772683"/>
            <a:ext cx="9186286" cy="1231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(fall)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time.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practice,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common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measure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rise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(fall)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from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10%(90%)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pulse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amplitude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90%(10%)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pulse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amplitude.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08333" y="245273"/>
            <a:ext cx="6305449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Period</a:t>
            </a:r>
            <a:r>
              <a:rPr sz="3950" spc="719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Pulse</a:t>
            </a:r>
            <a:r>
              <a:rPr sz="3950" spc="74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（周期脉冲）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1047241"/>
            <a:ext cx="8484613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periodic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</a:t>
            </a:r>
            <a:r>
              <a:rPr sz="2650" spc="-2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repeats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itself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at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1409962"/>
            <a:ext cx="851800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fixed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interval,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called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period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</a:t>
            </a: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T</a:t>
            </a:r>
            <a:r>
              <a:rPr sz="2650" spc="122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).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frequency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</a:t>
            </a: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f</a:t>
            </a:r>
            <a:r>
              <a:rPr sz="2650" spc="12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)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856" y="1772683"/>
            <a:ext cx="8440948" cy="1231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rate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at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which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repeats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itself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measured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hertz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(Hz).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relationship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between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f</a:t>
            </a:r>
            <a:r>
              <a:rPr sz="2650" spc="126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T</a:t>
            </a:r>
            <a:r>
              <a:rPr sz="2650" spc="122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expressed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follows: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7805" y="3514658"/>
            <a:ext cx="372132" cy="524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3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POPBIN+TimesNewRoman" panose="02020603050405020304"/>
                <a:cs typeface="POPBIN+TimesNewRoman" panose="02020603050405020304"/>
              </a:rPr>
              <a:t>1</a:t>
            </a:r>
            <a:endParaRPr sz="3450" dirty="0">
              <a:solidFill>
                <a:srgbClr val="00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79913" y="3514658"/>
            <a:ext cx="372132" cy="524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3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POPBIN+TimesNewRoman" panose="02020603050405020304"/>
                <a:cs typeface="POPBIN+TimesNewRoman" panose="02020603050405020304"/>
              </a:rPr>
              <a:t>1</a:t>
            </a:r>
            <a:endParaRPr sz="3450" dirty="0">
              <a:solidFill>
                <a:srgbClr val="00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3917" y="3739011"/>
            <a:ext cx="2342081" cy="6107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1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UOVUCV+TimesNewRoman,Italic" panose="02020503050405090304"/>
                <a:cs typeface="UOVUCV+TimesNewRoman,Italic" panose="02020503050405090304"/>
              </a:rPr>
              <a:t>f</a:t>
            </a:r>
            <a:r>
              <a:rPr sz="3450" spc="723" dirty="0">
                <a:solidFill>
                  <a:srgbClr val="000000"/>
                </a:solidFill>
                <a:latin typeface="UOVUCV+TimesNewRoman,Italic" panose="02020503050405090304"/>
                <a:cs typeface="UOVUCV+TimesNewRoman,Italic" panose="02020503050405090304"/>
              </a:rPr>
              <a:t> </a:t>
            </a:r>
            <a:r>
              <a:rPr sz="3450" dirty="0">
                <a:solidFill>
                  <a:srgbClr val="000000"/>
                </a:solidFill>
                <a:latin typeface="TLESNE+Symbol" panose="02000500000000000000"/>
                <a:cs typeface="TLESNE+Symbol" panose="02000500000000000000"/>
              </a:rPr>
              <a:t>=</a:t>
            </a:r>
            <a:r>
              <a:rPr sz="3450" spc="30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dirty="0">
                <a:solidFill>
                  <a:srgbClr val="000000"/>
                </a:solidFill>
                <a:latin typeface="POPBIN+TimesNewRoman" panose="02020603050405020304"/>
                <a:cs typeface="POPBIN+TimesNewRoman" panose="02020603050405020304"/>
              </a:rPr>
              <a:t>,</a:t>
            </a:r>
            <a:r>
              <a:rPr sz="3450" spc="2169" dirty="0">
                <a:solidFill>
                  <a:srgbClr val="000000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450" dirty="0">
                <a:solidFill>
                  <a:srgbClr val="000000"/>
                </a:solidFill>
                <a:latin typeface="UOVUCV+TimesNewRoman,Italic" panose="02020503050405090304"/>
                <a:cs typeface="UOVUCV+TimesNewRoman,Italic" panose="02020503050405090304"/>
              </a:rPr>
              <a:t>T</a:t>
            </a:r>
            <a:r>
              <a:rPr sz="3450" spc="356" dirty="0">
                <a:solidFill>
                  <a:srgbClr val="000000"/>
                </a:solidFill>
                <a:latin typeface="UOVUCV+TimesNewRoman,Italic" panose="02020503050405090304"/>
                <a:cs typeface="UOVUCV+TimesNewRoman,Italic" panose="02020503050405090304"/>
              </a:rPr>
              <a:t> </a:t>
            </a:r>
            <a:r>
              <a:rPr sz="3450" dirty="0">
                <a:solidFill>
                  <a:srgbClr val="000000"/>
                </a:solidFill>
                <a:latin typeface="TLESNE+Symbol" panose="02000500000000000000"/>
                <a:cs typeface="TLESNE+Symbol" panose="02000500000000000000"/>
              </a:rPr>
              <a:t>=</a:t>
            </a:r>
            <a:endParaRPr sz="3450" dirty="0">
              <a:solidFill>
                <a:srgbClr val="000000"/>
              </a:solidFill>
              <a:latin typeface="TLESNE+Symbol" panose="02000500000000000000"/>
              <a:cs typeface="TLESNE+Symbol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9068" y="4134920"/>
            <a:ext cx="396809" cy="524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3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UOVUCV+TimesNewRoman,Italic" panose="02020503050405090304"/>
                <a:cs typeface="UOVUCV+TimesNewRoman,Italic" panose="02020503050405090304"/>
              </a:rPr>
              <a:t>T</a:t>
            </a:r>
            <a:endParaRPr sz="3450" dirty="0">
              <a:solidFill>
                <a:srgbClr val="000000"/>
              </a:solidFill>
              <a:latin typeface="UOVUCV+TimesNewRoman,Italic" panose="02020503050405090304"/>
              <a:cs typeface="UOVUCV+TimesNewRoman,Italic" panose="0202050305040509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24123" y="4134920"/>
            <a:ext cx="274497" cy="524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3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UOVUCV+TimesNewRoman,Italic" panose="02020503050405090304"/>
                <a:cs typeface="UOVUCV+TimesNewRoman,Italic" panose="02020503050405090304"/>
              </a:rPr>
              <a:t>f</a:t>
            </a:r>
            <a:endParaRPr sz="3450" dirty="0">
              <a:solidFill>
                <a:srgbClr val="000000"/>
              </a:solidFill>
              <a:latin typeface="UOVUCV+TimesNewRoman,Italic" panose="02020503050405090304"/>
              <a:cs typeface="UOVUCV+TimesNewRoman,Italic" panose="0202050305040509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91413" y="315378"/>
            <a:ext cx="3056707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Period</a:t>
            </a:r>
            <a:r>
              <a:rPr sz="3950" spc="719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Pulse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1087627"/>
            <a:ext cx="8198922" cy="909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duty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cycle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</a:t>
            </a: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D</a:t>
            </a:r>
            <a:r>
              <a:rPr sz="2650" spc="125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)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defined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ratio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pulse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width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</a:t>
            </a: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t</a:t>
            </a:r>
            <a:r>
              <a:rPr sz="2650" spc="1058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)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period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</a:t>
            </a: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T</a:t>
            </a:r>
            <a:r>
              <a:rPr sz="2650" spc="122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)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86207" y="1697228"/>
            <a:ext cx="305651" cy="350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60"/>
              </a:lnSpc>
              <a:spcBef>
                <a:spcPts val="0"/>
              </a:spcBef>
              <a:spcAft>
                <a:spcPts val="0"/>
              </a:spcAft>
            </a:pPr>
            <a:r>
              <a:rPr sz="17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</a:t>
            </a:r>
            <a:endParaRPr sz="17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880" y="1893838"/>
            <a:ext cx="4405323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expressed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percentage.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8524" y="2431741"/>
            <a:ext cx="1025983" cy="576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IJJRAK+Symbol" panose="05050102010706020507"/>
                <a:cs typeface="IJJRAK+Symbol" panose="05050102010706020507"/>
              </a:rPr>
              <a:t></a:t>
            </a:r>
            <a:r>
              <a:rPr sz="3450" spc="33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dirty="0">
                <a:solidFill>
                  <a:srgbClr val="000000"/>
                </a:solidFill>
                <a:latin typeface="IJJRAK+Symbol" panose="05050102010706020507"/>
                <a:cs typeface="IJJRAK+Symbol" panose="05050102010706020507"/>
              </a:rPr>
              <a:t></a:t>
            </a:r>
            <a:endParaRPr sz="3450" dirty="0">
              <a:solidFill>
                <a:srgbClr val="000000"/>
              </a:solidFill>
              <a:latin typeface="IJJRAK+Symbol" panose="05050102010706020507"/>
              <a:cs typeface="IJJRAK+Symbol" panose="05050102010706020507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3006" y="2505045"/>
            <a:ext cx="372236" cy="477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6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sz="345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0758" y="2713660"/>
            <a:ext cx="1288908" cy="613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1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sz="3450" spc="1468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dirty="0">
                <a:solidFill>
                  <a:srgbClr val="000000"/>
                </a:solidFill>
                <a:latin typeface="TLESNE+Symbol" panose="02000500000000000000"/>
                <a:cs typeface="TLESNE+Symbol" panose="02000500000000000000"/>
              </a:rPr>
              <a:t>=</a:t>
            </a:r>
            <a:r>
              <a:rPr sz="3450" spc="807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dirty="0">
                <a:solidFill>
                  <a:srgbClr val="000000"/>
                </a:solidFill>
                <a:latin typeface="IJJRAK+Symbol" panose="05050102010706020507"/>
                <a:cs typeface="IJJRAK+Symbol" panose="05050102010706020507"/>
              </a:rPr>
              <a:t></a:t>
            </a:r>
            <a:endParaRPr sz="3450" dirty="0">
              <a:solidFill>
                <a:srgbClr val="000000"/>
              </a:solidFill>
              <a:latin typeface="IJJRAK+Symbol" panose="05050102010706020507"/>
              <a:cs typeface="IJJRAK+Symbol" panose="05050102010706020507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3366" y="2713660"/>
            <a:ext cx="1169277" cy="576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IJJRAK+Symbol" panose="05050102010706020507"/>
                <a:cs typeface="IJJRAK+Symbol" panose="05050102010706020507"/>
              </a:rPr>
              <a:t></a:t>
            </a:r>
            <a:endParaRPr sz="3450" dirty="0">
              <a:solidFill>
                <a:srgbClr val="000000"/>
              </a:solidFill>
              <a:latin typeface="IJJRAK+Symbol" panose="05050102010706020507"/>
              <a:cs typeface="IJJRAK+Symbol" panose="05050102010706020507"/>
            </a:endParaRPr>
          </a:p>
          <a:p>
            <a:pPr marL="137795" marR="0">
              <a:lnSpc>
                <a:spcPts val="346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100%</a:t>
            </a:r>
            <a:endParaRPr sz="345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88743" y="2772219"/>
            <a:ext cx="280637" cy="294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2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W</a:t>
            </a:r>
            <a:endParaRPr sz="20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524" y="2873701"/>
            <a:ext cx="1025983" cy="576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4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IJJRAK+Symbol" panose="05050102010706020507"/>
                <a:cs typeface="IJJRAK+Symbol" panose="05050102010706020507"/>
              </a:rPr>
              <a:t></a:t>
            </a:r>
            <a:r>
              <a:rPr sz="3450" spc="33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dirty="0">
                <a:solidFill>
                  <a:srgbClr val="000000"/>
                </a:solidFill>
                <a:latin typeface="IJJRAK+Symbol" panose="05050102010706020507"/>
                <a:cs typeface="IJJRAK+Symbol" panose="05050102010706020507"/>
              </a:rPr>
              <a:t></a:t>
            </a:r>
            <a:endParaRPr sz="3450" dirty="0">
              <a:solidFill>
                <a:srgbClr val="000000"/>
              </a:solidFill>
              <a:latin typeface="IJJRAK+Symbol" panose="05050102010706020507"/>
              <a:cs typeface="IJJRAK+Symbol" panose="05050102010706020507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08524" y="3126085"/>
            <a:ext cx="1025983" cy="6062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2730" marR="0">
              <a:lnSpc>
                <a:spcPts val="3460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endParaRPr sz="345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>
              <a:lnSpc>
                <a:spcPts val="735"/>
              </a:lnSpc>
              <a:spcBef>
                <a:spcPts val="0"/>
              </a:spcBef>
              <a:spcAft>
                <a:spcPts val="0"/>
              </a:spcAft>
            </a:pPr>
            <a:r>
              <a:rPr sz="3450" dirty="0">
                <a:solidFill>
                  <a:srgbClr val="000000"/>
                </a:solidFill>
                <a:latin typeface="IJJRAK+Symbol" panose="05050102010706020507"/>
                <a:cs typeface="IJJRAK+Symbol" panose="05050102010706020507"/>
              </a:rPr>
              <a:t></a:t>
            </a:r>
            <a:r>
              <a:rPr sz="3450" spc="3363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dirty="0">
                <a:solidFill>
                  <a:srgbClr val="000000"/>
                </a:solidFill>
                <a:latin typeface="IJJRAK+Symbol" panose="05050102010706020507"/>
                <a:cs typeface="IJJRAK+Symbol" panose="05050102010706020507"/>
              </a:rPr>
              <a:t></a:t>
            </a:r>
            <a:endParaRPr sz="3450" dirty="0">
              <a:solidFill>
                <a:srgbClr val="000000"/>
              </a:solidFill>
              <a:latin typeface="IJJRAK+Symbol" panose="05050102010706020507"/>
              <a:cs typeface="IJJRAK+Symbol" panose="0505010201070602050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46740" y="297852"/>
            <a:ext cx="7750203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Nonperiod</a:t>
            </a:r>
            <a:r>
              <a:rPr sz="3950" spc="71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Pulse</a:t>
            </a:r>
            <a:r>
              <a:rPr sz="3950" spc="73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（非周期脉冲）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989749"/>
            <a:ext cx="8647770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nonperiodic</a:t>
            </a:r>
            <a:r>
              <a:rPr sz="31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waveform,</a:t>
            </a:r>
            <a:r>
              <a:rPr sz="3100" spc="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course,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does</a:t>
            </a:r>
            <a:r>
              <a:rPr sz="3100" spc="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not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1366179"/>
            <a:ext cx="7958155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repeat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itself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at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fixed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intervals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may</a:t>
            </a:r>
            <a:r>
              <a:rPr sz="31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891" y="1741864"/>
            <a:ext cx="8425607" cy="1336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composed</a:t>
            </a:r>
            <a:r>
              <a:rPr sz="3100" spc="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pulses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randomly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differing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pulses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widths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and/or</a:t>
            </a:r>
            <a:r>
              <a:rPr sz="3100" spc="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randomly</a:t>
            </a:r>
            <a:r>
              <a:rPr sz="3100" spc="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differing</a:t>
            </a:r>
            <a:r>
              <a:rPr sz="3100" spc="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0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intervals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between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pulses.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29214" y="297852"/>
            <a:ext cx="7699936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Digital</a:t>
            </a:r>
            <a:r>
              <a:rPr sz="3950" spc="757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Waveforms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（数字波形）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1047241"/>
            <a:ext cx="8069987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consists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series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pulses,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1409962"/>
            <a:ext cx="764505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(voltage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levels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changing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back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forth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891" y="1772683"/>
            <a:ext cx="586094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between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levels).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61702" y="290232"/>
            <a:ext cx="8711340" cy="1263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4325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Pulse</a:t>
            </a:r>
            <a:r>
              <a:rPr sz="3950" spc="1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Train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  <a:p>
            <a:pPr marL="0" marR="0">
              <a:lnSpc>
                <a:spcPts val="3685"/>
              </a:lnSpc>
              <a:spcBef>
                <a:spcPts val="435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sometimes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called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pulse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trains.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49837" y="395390"/>
            <a:ext cx="6622007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</a:t>
            </a:r>
            <a:r>
              <a:rPr sz="2200" spc="403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2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Digital</a:t>
            </a:r>
            <a:r>
              <a:rPr sz="2200" spc="392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2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Waveform</a:t>
            </a:r>
            <a:r>
              <a:rPr sz="2200" spc="393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2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Carries</a:t>
            </a:r>
            <a:r>
              <a:rPr sz="2200" spc="41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2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Binary</a:t>
            </a:r>
            <a:r>
              <a:rPr sz="2200" spc="411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2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Information</a:t>
            </a:r>
            <a:endParaRPr sz="220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4974" y="803870"/>
            <a:ext cx="3811023" cy="317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spc="17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（带二进制信息的数字波形）</a:t>
            </a:r>
            <a:endParaRPr sz="2200" spc="17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7797" y="1235455"/>
            <a:ext cx="8811377" cy="2521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Binary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information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handled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systems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appears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waveforms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represent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sequences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bits.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When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HIGH,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binary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present;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when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LOW,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binary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0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present.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Each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sequence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occupies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defined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interval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called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bit</a:t>
            </a:r>
            <a:r>
              <a:rPr sz="2650" spc="-17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time,</a:t>
            </a:r>
            <a:r>
              <a:rPr sz="2650" spc="-23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bit</a:t>
            </a:r>
            <a:r>
              <a:rPr sz="2650" spc="-17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interval.</a:t>
            </a:r>
            <a:endParaRPr sz="2650" dirty="0">
              <a:solidFill>
                <a:srgbClr val="FF00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43129" y="297852"/>
            <a:ext cx="4557479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spc="12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The</a:t>
            </a:r>
            <a:r>
              <a:rPr sz="3950" spc="71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Clock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（时钟）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989749"/>
            <a:ext cx="8527082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310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3100" spc="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systems,</a:t>
            </a:r>
            <a:r>
              <a:rPr sz="31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r>
              <a:rPr sz="310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3100" spc="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waveforms</a:t>
            </a:r>
            <a:r>
              <a:rPr sz="31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1366179"/>
            <a:ext cx="8059091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synchronized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with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basic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timing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waveform,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891" y="1741864"/>
            <a:ext cx="7867275" cy="1336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called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clock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.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clock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periodic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waveform.</a:t>
            </a:r>
            <a:r>
              <a:rPr sz="3100" spc="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clock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itself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does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0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not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carry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information.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90045" y="297852"/>
            <a:ext cx="6662859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Timing</a:t>
            </a:r>
            <a:r>
              <a:rPr sz="3950" spc="7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Diagrams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（时序图）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989749"/>
            <a:ext cx="7299828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timing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diagram</a:t>
            </a:r>
            <a:r>
              <a:rPr sz="3100" spc="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graph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1366179"/>
            <a:ext cx="6536410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showing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actual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891" y="1741864"/>
            <a:ext cx="8023200" cy="960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relationship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two</a:t>
            </a:r>
            <a:r>
              <a:rPr sz="31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more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waveforms</a:t>
            </a:r>
            <a:r>
              <a:rPr sz="31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how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each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changes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relation</a:t>
            </a:r>
            <a:r>
              <a:rPr sz="31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others.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41861" y="375576"/>
            <a:ext cx="6722294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spc="1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Data</a:t>
            </a:r>
            <a:r>
              <a:rPr sz="3950" spc="74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Transfer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（数据传输）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7149" y="1219453"/>
            <a:ext cx="873484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Data</a:t>
            </a:r>
            <a:r>
              <a:rPr sz="2650" spc="-25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refers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groups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convey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some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type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5102" y="1582174"/>
            <a:ext cx="811310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information.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Binary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data,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which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represented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5102" y="1944895"/>
            <a:ext cx="8481425" cy="1599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waveforms,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must</a:t>
            </a:r>
            <a:r>
              <a:rPr sz="2650" spc="-2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transferred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from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another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within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from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another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order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accomplish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given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9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purpose.</a:t>
            </a:r>
            <a:r>
              <a:rPr sz="2650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数据是指一组可以用来传达某种信息的位。</a:t>
            </a:r>
            <a:endParaRPr sz="2650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10235" y="324521"/>
            <a:ext cx="3571426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spc="1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Codes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（编码）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702" y="1047241"/>
            <a:ext cx="8051789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Groups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(combination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0s),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called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9653" y="1409962"/>
            <a:ext cx="7459933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codes,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used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represent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numbers,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letters,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9653" y="1772683"/>
            <a:ext cx="8399084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symbols,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instructions,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anything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else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required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9653" y="2135404"/>
            <a:ext cx="2801070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given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application.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1702" y="2578861"/>
            <a:ext cx="79969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American</a:t>
            </a:r>
            <a:r>
              <a:rPr sz="2650" spc="476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Standard</a:t>
            </a:r>
            <a:r>
              <a:rPr sz="2650" spc="476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Code</a:t>
            </a:r>
            <a:r>
              <a:rPr sz="2650" spc="476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for</a:t>
            </a:r>
            <a:r>
              <a:rPr sz="2650" spc="476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Information</a:t>
            </a:r>
            <a:endParaRPr sz="2650" dirty="0">
              <a:solidFill>
                <a:srgbClr val="4F82BD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9653" y="2941582"/>
            <a:ext cx="781199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Interchange</a:t>
            </a:r>
            <a:r>
              <a:rPr sz="2650" spc="466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(ASCII)</a:t>
            </a:r>
            <a:r>
              <a:rPr sz="2650" spc="99" dirty="0">
                <a:solidFill>
                  <a:srgbClr val="4F82BD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pronounced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“askee”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9653" y="3304303"/>
            <a:ext cx="8331933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universally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accepted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alphanumeric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code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used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most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9653" y="3666251"/>
            <a:ext cx="6842952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computers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other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electronic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equipment.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3003" y="6561818"/>
            <a:ext cx="404239" cy="595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90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00"/>
                </a:solidFill>
                <a:latin typeface="POPBIN+TimesNewRoman" panose="02020603050405020304"/>
                <a:cs typeface="POPBIN+TimesNewRoman" panose="02020603050405020304"/>
              </a:rPr>
              <a:t>1</a:t>
            </a:r>
            <a:endParaRPr sz="3950" dirty="0">
              <a:solidFill>
                <a:srgbClr val="00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514729" y="289469"/>
            <a:ext cx="1732054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ASCII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555884" y="577505"/>
            <a:ext cx="7732831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Serial</a:t>
            </a:r>
            <a:r>
              <a:rPr sz="3950" spc="739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spc="1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Data</a:t>
            </a:r>
            <a:r>
              <a:rPr sz="3950" spc="742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Transfer(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串行传输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)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1326133"/>
            <a:ext cx="845915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When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transferred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serial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form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from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1688854"/>
            <a:ext cx="7674727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point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another,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they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sent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at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891" y="2051575"/>
            <a:ext cx="8410354" cy="869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along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single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conductor.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transfer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n</a:t>
            </a:r>
            <a:r>
              <a:rPr sz="2650" spc="128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series,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takes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n</a:t>
            </a:r>
            <a:r>
              <a:rPr sz="2650" spc="122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intervals.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49737" y="245273"/>
            <a:ext cx="8065058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Parallel</a:t>
            </a:r>
            <a:r>
              <a:rPr sz="3950" spc="73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spc="1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Data</a:t>
            </a:r>
            <a:r>
              <a:rPr sz="3950" spc="739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Transfer(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并行传输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)</a:t>
            </a:r>
            <a:endParaRPr sz="39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962659"/>
            <a:ext cx="842144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When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transferred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parallel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form,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1325381"/>
            <a:ext cx="8180802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group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2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sent</a:t>
            </a:r>
            <a:r>
              <a:rPr sz="2650" spc="-2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out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separate</a:t>
            </a:r>
            <a:r>
              <a:rPr sz="2650" spc="-2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lines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at</a:t>
            </a:r>
            <a:r>
              <a:rPr sz="2650" spc="-2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8891" y="1688101"/>
            <a:ext cx="8518563" cy="869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same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time.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There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line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each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bit.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transfer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n</a:t>
            </a:r>
            <a:r>
              <a:rPr sz="2650" spc="128" dirty="0">
                <a:solidFill>
                  <a:srgbClr val="009AFF"/>
                </a:solidFill>
                <a:latin typeface="UPVCUQ+ComicSansMS,Italic" panose="030F0702030302060204"/>
                <a:cs typeface="UPVCUQ+ComicSansMS,Italic" panose="030F070203030206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bits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parallel,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takes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time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interval.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822583" y="2403429"/>
            <a:ext cx="7038035" cy="6231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05"/>
              </a:lnSpc>
              <a:spcBef>
                <a:spcPts val="0"/>
              </a:spcBef>
              <a:spcAft>
                <a:spcPts val="0"/>
              </a:spcAft>
            </a:pP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1-3</a:t>
            </a:r>
            <a:r>
              <a:rPr sz="3300" spc="593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BASIC</a:t>
            </a:r>
            <a:r>
              <a:rPr sz="3300" spc="59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LOGIC</a:t>
            </a:r>
            <a:r>
              <a:rPr sz="3300" spc="59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OPERATIONS</a:t>
            </a:r>
            <a:endParaRPr sz="330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2661" y="3260478"/>
            <a:ext cx="2679114" cy="457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3300" spc="1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基本逻辑运算</a:t>
            </a:r>
            <a:endParaRPr sz="3300" spc="1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95913" y="156882"/>
            <a:ext cx="7086504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Boolean</a:t>
            </a:r>
            <a:r>
              <a:rPr sz="3950" spc="722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Algebra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（布尔代数）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8505" y="1029715"/>
            <a:ext cx="781089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1850s,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Irish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logician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mathematician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6457" y="1392436"/>
            <a:ext cx="794974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George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Bool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developed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mathematical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6457" y="1755157"/>
            <a:ext cx="7982655" cy="1231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formulating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statements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with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symbols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so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problems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can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written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solved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manner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similar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ordinary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algebra.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3414" y="245273"/>
            <a:ext cx="9710825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Basic</a:t>
            </a:r>
            <a:r>
              <a:rPr sz="3950" spc="73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Logic</a:t>
            </a:r>
            <a:r>
              <a:rPr sz="3950" spc="73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Operations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（基本逻辑运算）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962659"/>
            <a:ext cx="7819004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Boolean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algebra,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there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three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basic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1325381"/>
            <a:ext cx="510354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operations:</a:t>
            </a:r>
            <a:r>
              <a:rPr sz="2650" spc="-2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NOT,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AND,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0940" y="1768855"/>
            <a:ext cx="8577796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Each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three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basic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operations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produces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8891" y="2131576"/>
            <a:ext cx="832018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unique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response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(output)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given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set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conditions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8891" y="2494297"/>
            <a:ext cx="142862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(inputs).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0940" y="2937001"/>
            <a:ext cx="893021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standard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distinctive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shape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symbols</a:t>
            </a:r>
            <a:r>
              <a:rPr sz="2650" spc="-3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three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8891" y="3299714"/>
            <a:ext cx="622974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basic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operations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shown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below.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549787" y="561504"/>
            <a:ext cx="7578800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spc="11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The</a:t>
            </a:r>
            <a:r>
              <a:rPr sz="3950" spc="721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spc="12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NOT</a:t>
            </a:r>
            <a:r>
              <a:rPr sz="3950" spc="724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Operation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（非运算）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927" y="1630933"/>
            <a:ext cx="4862663" cy="3004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NOT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operation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changes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level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opposite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level.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3685"/>
              </a:lnSpc>
              <a:spcBef>
                <a:spcPts val="115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NOT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operation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implemented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known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strike="sngStrike" dirty="0">
                <a:solidFill>
                  <a:srgbClr val="C0504D"/>
                </a:solidFill>
                <a:latin typeface="NKPUOW+ComicSansMS" panose="030F0702030302020204"/>
                <a:cs typeface="NKPUOW+ComicSansMS" panose="030F0702030302020204"/>
              </a:rPr>
              <a:t>inverter</a:t>
            </a:r>
            <a:endParaRPr sz="2650" strike="sngStrike" dirty="0">
              <a:solidFill>
                <a:srgbClr val="C0504D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strike="sngStrike" dirty="0">
                <a:solidFill>
                  <a:srgbClr val="C0504D"/>
                </a:solidFill>
                <a:latin typeface="NKPUOW+ComicSansMS" panose="030F0702030302020204"/>
                <a:cs typeface="NKPUOW+ComicSansMS" panose="030F0702030302020204"/>
              </a:rPr>
              <a:t>(NOT</a:t>
            </a:r>
            <a:r>
              <a:rPr sz="2650" strike="sngStrike" spc="119" dirty="0">
                <a:solidFill>
                  <a:srgbClr val="C0504D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strike="sngStrike" dirty="0">
                <a:solidFill>
                  <a:srgbClr val="C0504D"/>
                </a:solidFill>
                <a:latin typeface="NKPUOW+ComicSansMS" panose="030F0702030302020204"/>
                <a:cs typeface="NKPUOW+ComicSansMS" panose="030F0702030302020204"/>
              </a:rPr>
              <a:t>gate)</a:t>
            </a:r>
            <a:r>
              <a:rPr sz="2650" dirty="0">
                <a:solidFill>
                  <a:srgbClr val="C0504D"/>
                </a:solidFill>
                <a:latin typeface="NKPUOW+ComicSansMS" panose="030F0702030302020204"/>
                <a:cs typeface="NKPUOW+ComicSansMS" panose="030F0702030302020204"/>
              </a:rPr>
              <a:t>.</a:t>
            </a:r>
            <a:endParaRPr sz="2650" dirty="0">
              <a:solidFill>
                <a:srgbClr val="C0504D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60940" y="245273"/>
            <a:ext cx="9040390" cy="2070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102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spc="11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The</a:t>
            </a:r>
            <a:r>
              <a:rPr sz="3950" spc="71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spc="11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AND</a:t>
            </a:r>
            <a:r>
              <a:rPr sz="3950" spc="747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Operation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（与运算）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0" marR="0">
              <a:lnSpc>
                <a:spcPts val="3685"/>
              </a:lnSpc>
              <a:spcBef>
                <a:spcPts val="49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operation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produces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output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only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if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inputs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HIGH.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When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any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inputs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LOW,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377825" marR="0">
              <a:lnSpc>
                <a:spcPts val="317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output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40" y="2292349"/>
            <a:ext cx="868542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operation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implemented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r>
              <a:rPr sz="265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8891" y="2695462"/>
            <a:ext cx="3705756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known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gate.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68481" y="483018"/>
            <a:ext cx="7142161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spc="11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The</a:t>
            </a:r>
            <a:r>
              <a:rPr sz="3950" spc="72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spc="11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OR</a:t>
            </a:r>
            <a:r>
              <a:rPr sz="3950" spc="72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Operation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（或运算）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020" y="1376083"/>
            <a:ext cx="9043750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operation</a:t>
            </a:r>
            <a:r>
              <a:rPr sz="3100" spc="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produces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output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only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7971" y="1752512"/>
            <a:ext cx="7777549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if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inputs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LOW.</a:t>
            </a:r>
            <a:r>
              <a:rPr sz="31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When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any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7971" y="2128198"/>
            <a:ext cx="7053397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inputs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HIGH,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output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HIGH.</a:t>
            </a:r>
            <a:endParaRPr sz="3100" spc="-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0020" y="2598330"/>
            <a:ext cx="8419501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operation</a:t>
            </a:r>
            <a:r>
              <a:rPr sz="3100" spc="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implemented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7971" y="2974760"/>
            <a:ext cx="5296895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known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gate.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36755" y="246035"/>
            <a:ext cx="5491653" cy="740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25"/>
              </a:lnSpc>
              <a:spcBef>
                <a:spcPts val="0"/>
              </a:spcBef>
              <a:spcAft>
                <a:spcPts val="0"/>
              </a:spcAft>
            </a:pP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Logic</a:t>
            </a:r>
            <a:r>
              <a:rPr sz="3950" spc="73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9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Gates</a:t>
            </a:r>
            <a:r>
              <a:rPr sz="3950" spc="2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（逻辑门）</a:t>
            </a:r>
            <a:endParaRPr sz="3950" spc="2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161" y="962859"/>
            <a:ext cx="7767290" cy="506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strike="sngStrike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performs</a:t>
            </a:r>
            <a:r>
              <a:rPr sz="2650" strike="sngStrike" spc="111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strike="sngStrike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trike="sngStrike" spc="110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strike="sngStrike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specified</a:t>
            </a:r>
            <a:r>
              <a:rPr sz="2650" strike="sngStrike" spc="109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strike="sngStrike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basic</a:t>
            </a:r>
            <a:r>
              <a:rPr sz="2650" strike="sngStrike" spc="111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strike="sngStrike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endParaRPr sz="2650" strike="sngStrike" dirty="0">
              <a:solidFill>
                <a:srgbClr val="00B050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91114" y="1325571"/>
            <a:ext cx="8324661" cy="506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sz="2650" strike="sngStrike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operation</a:t>
            </a:r>
            <a:r>
              <a:rPr sz="2650" spc="-25" dirty="0">
                <a:solidFill>
                  <a:srgbClr val="00B05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called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C0504D"/>
                </a:solidFill>
                <a:latin typeface="NKPUOW+ComicSansMS" panose="030F0702030302020204"/>
                <a:cs typeface="NKPUOW+ComicSansMS" panose="030F0702030302020204"/>
              </a:rPr>
              <a:t>gate.</a:t>
            </a:r>
            <a:r>
              <a:rPr sz="2650" spc="-25" dirty="0">
                <a:solidFill>
                  <a:srgbClr val="C0504D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gates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form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1114" y="1688845"/>
            <a:ext cx="559050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building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blocks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systems.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161" y="2132329"/>
            <a:ext cx="8211794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true/false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statements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mentioned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earlier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1114" y="2495050"/>
            <a:ext cx="7905849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represented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(true)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(false).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3161" y="2937763"/>
            <a:ext cx="8352283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gates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have</a:t>
            </a:r>
            <a:r>
              <a:rPr sz="2650" spc="-2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any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number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inputs.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57941" y="2323420"/>
            <a:ext cx="8323897" cy="6231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05"/>
              </a:lnSpc>
              <a:spcBef>
                <a:spcPts val="0"/>
              </a:spcBef>
              <a:spcAft>
                <a:spcPts val="0"/>
              </a:spcAft>
            </a:pP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1-5</a:t>
            </a:r>
            <a:r>
              <a:rPr sz="3300" spc="594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DIGITAL</a:t>
            </a:r>
            <a:r>
              <a:rPr sz="3300" spc="595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INTEGRATED</a:t>
            </a:r>
            <a:r>
              <a:rPr sz="3300" spc="609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330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CIRCUITS</a:t>
            </a:r>
            <a:endParaRPr sz="330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79648" y="3180469"/>
            <a:ext cx="2679113" cy="457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3300" spc="18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数字集成电路</a:t>
            </a:r>
            <a:endParaRPr sz="3300" spc="18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71755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75361" y="415543"/>
            <a:ext cx="399267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Introductory</a:t>
            </a:r>
            <a:r>
              <a:rPr sz="2650" spc="461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Paragraph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1213948"/>
            <a:ext cx="7892672" cy="467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195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50" spc="103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elements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functions</a:t>
            </a:r>
            <a:r>
              <a:rPr sz="2400" spc="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400" spc="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have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been</a:t>
            </a:r>
            <a:endParaRPr sz="2400" spc="12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11" y="1546175"/>
            <a:ext cx="8047866" cy="467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discussed</a:t>
            </a:r>
            <a:r>
              <a:rPr sz="24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r>
              <a:rPr sz="2400" spc="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4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many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more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r>
              <a:rPr sz="2400" spc="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4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available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integrated</a:t>
            </a:r>
            <a:endParaRPr sz="2400" spc="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11" y="1878402"/>
            <a:ext cx="8345188" cy="2129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(IC)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form.</a:t>
            </a:r>
            <a:r>
              <a:rPr sz="2400" spc="3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4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Modern</a:t>
            </a:r>
            <a:r>
              <a:rPr sz="2400" spc="15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40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systems</a:t>
            </a:r>
            <a:r>
              <a:rPr sz="2400" spc="18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use</a:t>
            </a:r>
            <a:r>
              <a:rPr sz="2400" spc="2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ICs</a:t>
            </a:r>
            <a:r>
              <a:rPr sz="2400" spc="10" dirty="0">
                <a:solidFill>
                  <a:srgbClr val="FF0000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almost</a:t>
            </a:r>
            <a:endParaRPr sz="2400" spc="12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620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exclusively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4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their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designs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because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their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small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size,</a:t>
            </a:r>
            <a:endParaRPr sz="2400" spc="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61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high</a:t>
            </a:r>
            <a:r>
              <a:rPr sz="2400" spc="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reliability,</a:t>
            </a:r>
            <a:r>
              <a:rPr sz="2400" spc="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</a:t>
            </a:r>
            <a:r>
              <a:rPr sz="2400" spc="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cost,</a:t>
            </a:r>
            <a:r>
              <a:rPr sz="24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low</a:t>
            </a:r>
            <a:r>
              <a:rPr sz="2400" spc="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power</a:t>
            </a:r>
            <a:r>
              <a:rPr sz="24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consumption.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</a:t>
            </a:r>
            <a:endParaRPr sz="2400" spc="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615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2400" spc="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important</a:t>
            </a:r>
            <a:r>
              <a:rPr sz="2400" spc="3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able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recognize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IC</a:t>
            </a:r>
            <a:r>
              <a:rPr sz="2400" spc="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packages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endParaRPr sz="2400" spc="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61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know</a:t>
            </a:r>
            <a:r>
              <a:rPr sz="2400" spc="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how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400" spc="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pin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connections</a:t>
            </a:r>
            <a:r>
              <a:rPr sz="2400" spc="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numbered,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24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well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endParaRPr sz="2400" spc="12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620"/>
              </a:lnSpc>
              <a:spcBef>
                <a:spcPts val="50"/>
              </a:spcBef>
              <a:spcAft>
                <a:spcPts val="0"/>
              </a:spcAft>
            </a:pP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4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familiar</a:t>
            </a:r>
            <a:r>
              <a:rPr sz="24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with</a:t>
            </a:r>
            <a:r>
              <a:rPr sz="2400" spc="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4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way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400" spc="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which</a:t>
            </a:r>
            <a:r>
              <a:rPr sz="24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24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complexities</a:t>
            </a:r>
            <a:endParaRPr sz="2400" spc="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2711" y="3873302"/>
            <a:ext cx="7261271" cy="467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technologies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determine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various</a:t>
            </a:r>
            <a:r>
              <a:rPr sz="2400" spc="46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IC</a:t>
            </a:r>
            <a:endParaRPr sz="2400" spc="11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2711" y="4205529"/>
            <a:ext cx="2277706" cy="467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classifications.</a:t>
            </a:r>
            <a:endParaRPr sz="2400" spc="1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4759" y="4617041"/>
            <a:ext cx="8842210" cy="14181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195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1950" spc="103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23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集成电路（</a:t>
            </a:r>
            <a:r>
              <a:rPr sz="2400" spc="125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integrated</a:t>
            </a:r>
            <a:r>
              <a:rPr sz="2400" spc="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2400" spc="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400" spc="23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）是目前用的最广泛的一类</a:t>
            </a:r>
            <a:endParaRPr sz="2400" spc="23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77825" marR="0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2400" spc="23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器件。它具有尺寸小、功耗低、价格便宜、可靠性高等优点。</a:t>
            </a:r>
            <a:endParaRPr sz="2400" spc="23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77825" marR="0">
              <a:lnSpc>
                <a:spcPts val="2425"/>
              </a:lnSpc>
              <a:spcBef>
                <a:spcPts val="190"/>
              </a:spcBef>
              <a:spcAft>
                <a:spcPts val="0"/>
              </a:spcAft>
            </a:pPr>
            <a:r>
              <a:rPr sz="2400" spc="23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因此学会认识不同芯片的管脚封装类型、使用方法、生产工</a:t>
            </a:r>
            <a:endParaRPr sz="2400" spc="23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77825" marR="0">
              <a:lnSpc>
                <a:spcPts val="2425"/>
              </a:lnSpc>
              <a:spcBef>
                <a:spcPts val="85"/>
              </a:spcBef>
              <a:spcAft>
                <a:spcPts val="0"/>
              </a:spcAft>
            </a:pPr>
            <a:r>
              <a:rPr sz="2400" spc="23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艺等基本知识十分必要。</a:t>
            </a:r>
            <a:endParaRPr sz="2400" spc="23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20165" y="6298565"/>
            <a:ext cx="83464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现代数字系统几乎使用IC由于体积小，因此仅在其设计中，高可靠性、低成本、低功耗。它能够识别 IC 封装和了解引脚连接的编号方式，以及熟悉电路复杂性的方式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199767" y="415543"/>
            <a:ext cx="543899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IC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992035"/>
            <a:ext cx="7440338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monolithic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</a:t>
            </a:r>
            <a:r>
              <a:rPr sz="3100" spc="-15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整体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)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IC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electronic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11" y="1366192"/>
            <a:ext cx="8153812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31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fabricated</a:t>
            </a:r>
            <a:r>
              <a:rPr sz="3100" spc="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single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chip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10" y="1741878"/>
            <a:ext cx="7462792" cy="24645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semiconductor</a:t>
            </a:r>
            <a:r>
              <a:rPr sz="3100" spc="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material</a:t>
            </a:r>
            <a:r>
              <a:rPr sz="3100" spc="2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(usually</a:t>
            </a:r>
            <a:r>
              <a:rPr sz="310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silicon)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7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called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substrate</a:t>
            </a:r>
            <a:r>
              <a:rPr sz="3100" spc="-15" dirty="0">
                <a:solidFill>
                  <a:srgbClr val="FF00FF"/>
                </a:solidFill>
                <a:latin typeface="黑体" panose="02010609060101010101" charset="-122"/>
                <a:cs typeface="黑体" panose="02010609060101010101" charset="-122"/>
              </a:rPr>
              <a:t>（基片）</a:t>
            </a:r>
            <a:r>
              <a:rPr sz="3100" dirty="0">
                <a:solidFill>
                  <a:srgbClr val="009AFF"/>
                </a:solidFill>
                <a:latin typeface="TMUJNU+ComicSansMS,BoldItalic" panose="030F0902030302060204"/>
                <a:cs typeface="TMUJNU+ComicSansMS,BoldItalic" panose="030F0902030302060204"/>
              </a:rPr>
              <a:t>.</a:t>
            </a:r>
            <a:r>
              <a:rPr sz="3100" spc="16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4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components</a:t>
            </a:r>
            <a:r>
              <a:rPr sz="31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make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up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31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transistors,</a:t>
            </a:r>
            <a:r>
              <a:rPr sz="3100" spc="3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diodes,</a:t>
            </a:r>
            <a:r>
              <a:rPr sz="3100" spc="3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resistors,</a:t>
            </a:r>
            <a:r>
              <a:rPr sz="3100" spc="3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0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capacitors</a:t>
            </a:r>
            <a:r>
              <a:rPr sz="3100" spc="2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r>
              <a:rPr sz="3100" spc="-1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integral</a:t>
            </a:r>
            <a:r>
              <a:rPr sz="3100" spc="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part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single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chip.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1185" y="4274185"/>
            <a:ext cx="30270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半导体材料（通常为硅）</a:t>
            </a:r>
            <a:endParaRPr lang="zh-CN" altLang="en-US"/>
          </a:p>
          <a:p>
            <a:r>
              <a:rPr lang="zh-CN" altLang="en-US"/>
              <a:t>称为基片（基片）。所有</a:t>
            </a:r>
            <a:endParaRPr lang="zh-CN" altLang="en-US"/>
          </a:p>
          <a:p>
            <a:r>
              <a:rPr lang="zh-CN" altLang="en-US"/>
              <a:t>构成电路的组件 –</a:t>
            </a:r>
            <a:endParaRPr lang="zh-CN" altLang="en-US"/>
          </a:p>
          <a:p>
            <a:r>
              <a:rPr lang="zh-CN" altLang="en-US"/>
              <a:t>晶体管、二极管、电阻器和</a:t>
            </a:r>
            <a:endParaRPr lang="zh-CN" altLang="en-US"/>
          </a:p>
          <a:p>
            <a:r>
              <a:rPr lang="zh-CN" altLang="en-US"/>
              <a:t>电容器 – 是其中不可或缺的一部分</a:t>
            </a:r>
            <a:endParaRPr lang="zh-CN" altLang="en-US"/>
          </a:p>
          <a:p>
            <a:r>
              <a:rPr lang="zh-CN" altLang="en-US"/>
              <a:t>单芯片。</a:t>
            </a:r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79149" y="415543"/>
            <a:ext cx="7286260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Integrated</a:t>
            </a:r>
            <a:r>
              <a:rPr sz="2650" spc="323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Circuit</a:t>
            </a:r>
            <a:r>
              <a:rPr sz="2650" spc="469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Complexity</a:t>
            </a:r>
            <a:r>
              <a:rPr sz="2650" spc="47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Classification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1047241"/>
            <a:ext cx="8017416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ICs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classified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according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their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complexity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11" y="1409962"/>
            <a:ext cx="8267657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depending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number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equivalent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gate</a:t>
            </a:r>
            <a:r>
              <a:rPr sz="2650" spc="-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circuits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11" y="1772683"/>
            <a:ext cx="2605430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single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chip: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0070" y="2218094"/>
            <a:ext cx="7836716" cy="797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550" spc="1854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Small-scale</a:t>
            </a:r>
            <a:r>
              <a:rPr sz="2200" spc="14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integration</a:t>
            </a:r>
            <a:r>
              <a:rPr sz="2200" spc="12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(SSI):</a:t>
            </a:r>
            <a:r>
              <a:rPr sz="2200" spc="25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&lt;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10,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gates,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flip-flops.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1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550" spc="1854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Medium-scale</a:t>
            </a:r>
            <a:r>
              <a:rPr sz="2200" spc="1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integration</a:t>
            </a:r>
            <a:r>
              <a:rPr sz="2200" spc="1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(MSI):</a:t>
            </a:r>
            <a:r>
              <a:rPr sz="2200" spc="2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10</a:t>
            </a:r>
            <a:r>
              <a:rPr sz="2200" spc="1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100</a:t>
            </a:r>
            <a:r>
              <a:rPr sz="2200" spc="11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gates</a:t>
            </a:r>
            <a:r>
              <a:rPr sz="2200" spc="1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flip-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0317" y="2890191"/>
            <a:ext cx="7423539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flops,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encoders,</a:t>
            </a:r>
            <a:r>
              <a:rPr sz="2200" spc="12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decoders,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registers,</a:t>
            </a:r>
            <a:r>
              <a:rPr sz="2200" spc="12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multiplexers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(data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0317" y="3191935"/>
            <a:ext cx="2595833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selectors),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adders.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0070" y="3561500"/>
            <a:ext cx="7640294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550" spc="1854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Large-scale</a:t>
            </a:r>
            <a:r>
              <a:rPr sz="2200" spc="18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integration</a:t>
            </a:r>
            <a:r>
              <a:rPr sz="2200" spc="18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(LSI):</a:t>
            </a:r>
            <a:r>
              <a:rPr sz="2200" spc="18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100</a:t>
            </a:r>
            <a:r>
              <a:rPr sz="2200" spc="18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r>
              <a:rPr sz="2200" spc="14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10000,</a:t>
            </a:r>
            <a:r>
              <a:rPr sz="2200" spc="18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memories.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0070" y="3997364"/>
            <a:ext cx="5322181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550" spc="1854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Very</a:t>
            </a:r>
            <a:r>
              <a:rPr sz="2200" spc="1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large-scale</a:t>
            </a:r>
            <a:r>
              <a:rPr sz="2200" spc="2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integration</a:t>
            </a:r>
            <a:r>
              <a:rPr sz="2200" spc="2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(VLSI):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45914" y="3935221"/>
            <a:ext cx="1359869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900" baseline="36000" dirty="0">
                <a:solidFill>
                  <a:srgbClr val="3365CC"/>
                </a:solidFill>
                <a:latin typeface="ITKFGI+CambriaMath" panose="02040503050406030204"/>
                <a:cs typeface="ITKFGI+CambriaMath" panose="02040503050406030204"/>
              </a:rPr>
              <a:t>ହ</a:t>
            </a:r>
            <a:r>
              <a:rPr sz="2900" spc="150" baseline="36000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r>
              <a:rPr sz="2650" spc="2915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1950" dirty="0">
                <a:solidFill>
                  <a:srgbClr val="3365CC"/>
                </a:solidFill>
                <a:latin typeface="ITKFGI+CambriaMath" panose="02040503050406030204"/>
                <a:cs typeface="ITKFGI+CambriaMath" panose="02040503050406030204"/>
              </a:rPr>
              <a:t>଻</a:t>
            </a:r>
            <a:endParaRPr sz="1950" dirty="0">
              <a:solidFill>
                <a:srgbClr val="3365CC"/>
              </a:solidFill>
              <a:latin typeface="ITKFGI+CambriaMath" panose="02040503050406030204"/>
              <a:cs typeface="ITKFGI+CambriaMath" panose="02040503050406030204"/>
            </a:endParaRPr>
          </a:p>
          <a:p>
            <a:pPr marL="113030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,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0307" y="4312083"/>
            <a:ext cx="5359069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microprocessors,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single-chip</a:t>
            </a:r>
            <a:r>
              <a:rPr sz="2200" spc="27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computers.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47261" y="4680458"/>
            <a:ext cx="1161674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1950" dirty="0">
                <a:solidFill>
                  <a:srgbClr val="3365CC"/>
                </a:solidFill>
                <a:latin typeface="ITKFGI+CambriaMath" panose="02040503050406030204"/>
                <a:cs typeface="ITKFGI+CambriaMath" panose="02040503050406030204"/>
              </a:rPr>
              <a:t>଻</a:t>
            </a:r>
            <a:r>
              <a:rPr sz="1950" spc="388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–</a:t>
            </a:r>
            <a:r>
              <a:rPr sz="2650" spc="2915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1950" dirty="0">
                <a:solidFill>
                  <a:srgbClr val="3365CC"/>
                </a:solidFill>
                <a:latin typeface="ITKFGI+CambriaMath" panose="02040503050406030204"/>
                <a:cs typeface="ITKFGI+CambriaMath" panose="02040503050406030204"/>
              </a:rPr>
              <a:t>ଽ</a:t>
            </a:r>
            <a:endParaRPr sz="1950" dirty="0">
              <a:solidFill>
                <a:srgbClr val="3365CC"/>
              </a:solidFill>
              <a:latin typeface="ITKFGI+CambriaMath" panose="02040503050406030204"/>
              <a:cs typeface="ITKFGI+Cambria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0070" y="4742600"/>
            <a:ext cx="5421652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550" spc="1854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Ultra</a:t>
            </a:r>
            <a:r>
              <a:rPr sz="2200" spc="1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large-scale</a:t>
            </a:r>
            <a:r>
              <a:rPr sz="2200" spc="2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integration</a:t>
            </a:r>
            <a:r>
              <a:rPr sz="2200" spc="2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(ULSI):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94583" y="5138451"/>
            <a:ext cx="287660" cy="325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65"/>
              </a:lnSpc>
              <a:spcBef>
                <a:spcPts val="0"/>
              </a:spcBef>
              <a:spcAft>
                <a:spcPts val="0"/>
              </a:spcAft>
            </a:pPr>
            <a:r>
              <a:rPr sz="1950" dirty="0">
                <a:solidFill>
                  <a:srgbClr val="3365CC"/>
                </a:solidFill>
                <a:latin typeface="ITKFGI+CambriaMath" panose="02040503050406030204"/>
                <a:cs typeface="ITKFGI+CambriaMath" panose="02040503050406030204"/>
              </a:rPr>
              <a:t>ଽ</a:t>
            </a:r>
            <a:endParaRPr sz="1950" dirty="0">
              <a:solidFill>
                <a:srgbClr val="3365CC"/>
              </a:solidFill>
              <a:latin typeface="ITKFGI+CambriaMath" panose="02040503050406030204"/>
              <a:cs typeface="ITKFGI+Cambria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0070" y="5186084"/>
            <a:ext cx="4572048" cy="427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1550" dirty="0">
                <a:solidFill>
                  <a:srgbClr val="3365CC"/>
                </a:solidFill>
                <a:latin typeface="Wingdings" panose="05000000000000000000"/>
                <a:cs typeface="Wingdings" panose="05000000000000000000"/>
              </a:rPr>
              <a:t></a:t>
            </a:r>
            <a:r>
              <a:rPr sz="1550" spc="1854" dirty="0">
                <a:solidFill>
                  <a:srgbClr val="3365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Giga-scale</a:t>
            </a:r>
            <a:r>
              <a:rPr sz="2200" spc="2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integration</a:t>
            </a:r>
            <a:r>
              <a:rPr sz="2200" spc="2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(GSI):</a:t>
            </a:r>
            <a:r>
              <a:rPr sz="2200" spc="2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200" dirty="0">
                <a:solidFill>
                  <a:srgbClr val="3365CC"/>
                </a:solidFill>
                <a:latin typeface="NKPUOW+ComicSansMS" panose="030F0702030302020204"/>
                <a:cs typeface="NKPUOW+ComicSansMS" panose="030F0702030302020204"/>
              </a:rPr>
              <a:t>&gt;</a:t>
            </a:r>
            <a:endParaRPr sz="2200" dirty="0">
              <a:solidFill>
                <a:srgbClr val="3365CC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64415" y="415543"/>
            <a:ext cx="5315316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Integrated</a:t>
            </a:r>
            <a:r>
              <a:rPr sz="2650" spc="468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Circuit</a:t>
            </a:r>
            <a:r>
              <a:rPr sz="2650" spc="469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Technologies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1047241"/>
            <a:ext cx="786839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types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transistors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with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which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ICs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11" y="1409962"/>
            <a:ext cx="7401824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implemented</a:t>
            </a:r>
            <a:r>
              <a:rPr sz="2650" spc="-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either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BJTs</a:t>
            </a:r>
            <a:r>
              <a:rPr sz="2650" spc="-1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(bipolar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junction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11" y="1772683"/>
            <a:ext cx="623933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transistors)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MOSFETs</a:t>
            </a:r>
            <a:r>
              <a:rPr sz="2650" spc="-1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(metal-oxide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2711" y="2135404"/>
            <a:ext cx="649044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semiconductor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field-effect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transistors).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4759" y="2578861"/>
            <a:ext cx="7971829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Two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types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digital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technology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use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2711" y="2941582"/>
            <a:ext cx="8142940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BJTs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TTL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(transistor-transistor</a:t>
            </a:r>
            <a:r>
              <a:rPr sz="2650" spc="-3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logic)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ECL</a:t>
            </a:r>
            <a:endParaRPr sz="2650" dirty="0">
              <a:solidFill>
                <a:srgbClr val="FF00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2710" y="3304303"/>
            <a:ext cx="3812717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(emitter-coupled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logic).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4759" y="3747008"/>
            <a:ext cx="842271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major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technologies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use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MOSFETs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2711" y="4109728"/>
            <a:ext cx="771097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CMOS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(complementary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MOS)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NMOS</a:t>
            </a:r>
            <a:r>
              <a:rPr sz="2650" dirty="0">
                <a:solidFill>
                  <a:srgbClr val="FF00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(n-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2711" y="4472449"/>
            <a:ext cx="242453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channel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MOS).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4759" y="4915915"/>
            <a:ext cx="8695451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SSI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MSI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circuits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generally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available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both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2711" y="5278636"/>
            <a:ext cx="2625658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TTL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CMOS.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4759" y="5721350"/>
            <a:ext cx="6797792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100" spc="882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LSI,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VLSI,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ULSI,</a:t>
            </a:r>
            <a:r>
              <a:rPr sz="265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spc="-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GSI</a:t>
            </a:r>
            <a:r>
              <a:rPr sz="2650" spc="-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</a:t>
            </a:r>
            <a:r>
              <a:rPr sz="2650" spc="-12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generally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2711" y="6084070"/>
            <a:ext cx="7297502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implemented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with</a:t>
            </a:r>
            <a:r>
              <a:rPr sz="2650" spc="-17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CMOS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2650" spc="-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NMOS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because</a:t>
            </a:r>
            <a:r>
              <a:rPr sz="2650" spc="-18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it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22711" y="6446791"/>
            <a:ext cx="8434704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requires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less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area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on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chip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and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consumes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less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265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power.</a:t>
            </a:r>
            <a:endParaRPr sz="265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2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04061" y="707916"/>
            <a:ext cx="1949184" cy="486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5"/>
              </a:lnSpc>
              <a:spcBef>
                <a:spcPts val="0"/>
              </a:spcBef>
              <a:spcAft>
                <a:spcPts val="0"/>
              </a:spcAft>
            </a:pPr>
            <a:r>
              <a:rPr sz="3550" spc="-10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摩尔定律</a:t>
            </a:r>
            <a:endParaRPr sz="3550" spc="-10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7096" y="1697982"/>
            <a:ext cx="8102340" cy="1351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spc="-15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当价格不变时，</a:t>
            </a:r>
            <a:r>
              <a:rPr sz="3100" u="sng" spc="-15" dirty="0">
                <a:solidFill>
                  <a:srgbClr val="0000FF"/>
                </a:solidFill>
                <a:latin typeface="黑体" panose="02010609060101010101" charset="-122"/>
                <a:cs typeface="黑体" panose="02010609060101010101" charset="-122"/>
              </a:rPr>
              <a:t>集成电路</a:t>
            </a:r>
            <a:r>
              <a:rPr sz="3100" spc="-15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上可容纳的元器件</a:t>
            </a:r>
            <a:endParaRPr sz="3100" spc="-15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77825" marR="0">
              <a:lnSpc>
                <a:spcPts val="3415"/>
              </a:lnSpc>
              <a:spcBef>
                <a:spcPts val="270"/>
              </a:spcBef>
              <a:spcAft>
                <a:spcPts val="0"/>
              </a:spcAft>
            </a:pPr>
            <a:r>
              <a:rPr sz="3100" spc="-15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的数目，约每隔</a:t>
            </a:r>
            <a:r>
              <a:rPr sz="310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18-24</a:t>
            </a:r>
            <a:r>
              <a:rPr sz="3100" spc="-15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个月便会增加一倍，性</a:t>
            </a:r>
            <a:endParaRPr sz="3100" spc="-15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  <a:p>
            <a:pPr marL="377825" marR="0">
              <a:lnSpc>
                <a:spcPts val="3085"/>
              </a:lnSpc>
              <a:spcBef>
                <a:spcPts val="385"/>
              </a:spcBef>
              <a:spcAft>
                <a:spcPts val="0"/>
              </a:spcAft>
            </a:pPr>
            <a:r>
              <a:rPr sz="3100" spc="-15" dirty="0">
                <a:solidFill>
                  <a:srgbClr val="009AFF"/>
                </a:solidFill>
                <a:latin typeface="黑体" panose="02010609060101010101" charset="-122"/>
                <a:cs typeface="黑体" panose="02010609060101010101" charset="-122"/>
              </a:rPr>
              <a:t>能也将提升一倍。</a:t>
            </a:r>
            <a:endParaRPr sz="3100" spc="-15" dirty="0">
              <a:solidFill>
                <a:srgbClr val="009AFF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693" y="6855624"/>
            <a:ext cx="9687582" cy="290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8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《我国集成电路领域重要技术发展趋势和技术预见浅析》余文科，李</a:t>
            </a:r>
            <a:r>
              <a:rPr sz="2000" spc="-41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芳，程</a:t>
            </a:r>
            <a:r>
              <a:rPr sz="2000" spc="-56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14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媛，赵</a:t>
            </a:r>
            <a:r>
              <a:rPr sz="2000" spc="-5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solidFill>
                  <a:srgbClr val="0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琦</a:t>
            </a:r>
            <a:endParaRPr sz="2000" dirty="0">
              <a:solidFill>
                <a:srgbClr val="0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82753" y="420878"/>
            <a:ext cx="4477429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Pin</a:t>
            </a:r>
            <a:r>
              <a:rPr sz="2650" spc="476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 </a:t>
            </a: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Numbering</a:t>
            </a:r>
            <a:r>
              <a:rPr sz="2650" dirty="0">
                <a:solidFill>
                  <a:srgbClr val="00009A"/>
                </a:solidFill>
                <a:latin typeface="黑体" panose="02010609060101010101" charset="-122"/>
                <a:cs typeface="黑体" panose="02010609060101010101" charset="-122"/>
              </a:rPr>
              <a:t>（引脚编号）</a:t>
            </a:r>
            <a:endParaRPr sz="2650" dirty="0">
              <a:solidFill>
                <a:srgbClr val="00009A"/>
              </a:solidFill>
              <a:latin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59" y="989749"/>
            <a:ext cx="8485300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245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450" spc="534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All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IC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packages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have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standard</a:t>
            </a:r>
            <a:r>
              <a:rPr sz="3100" spc="23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format</a:t>
            </a:r>
            <a:r>
              <a:rPr sz="3100" spc="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for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2711" y="1366179"/>
            <a:ext cx="7668892" cy="5839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numbering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pins.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Looking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at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top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of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11" y="1741864"/>
            <a:ext cx="8345044" cy="2088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package,</a:t>
            </a:r>
            <a:r>
              <a:rPr sz="3100" spc="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pin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indicated</a:t>
            </a:r>
            <a:r>
              <a:rPr sz="3100" spc="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by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an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identifier</a:t>
            </a:r>
            <a:r>
              <a:rPr sz="3100" spc="2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that</a:t>
            </a:r>
            <a:r>
              <a:rPr sz="31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can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either</a:t>
            </a:r>
            <a:r>
              <a:rPr sz="3100" spc="14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spc="-1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small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dot,</a:t>
            </a:r>
            <a:r>
              <a:rPr sz="3100" spc="2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0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notch,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or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beveled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edge.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Starting</a:t>
            </a:r>
            <a:r>
              <a:rPr sz="3100" spc="21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with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pin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1,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5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the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pin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numbers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increase</a:t>
            </a:r>
            <a:r>
              <a:rPr sz="3100" spc="15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as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you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 </a:t>
            </a: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go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  <a:p>
            <a:pPr marL="0" marR="0">
              <a:lnSpc>
                <a:spcPts val="2960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9AFF"/>
                </a:solidFill>
                <a:latin typeface="NKPUOW+ComicSansMS" panose="030F0702030302020204"/>
                <a:cs typeface="NKPUOW+ComicSansMS" panose="030F0702030302020204"/>
              </a:rPr>
              <a:t>counterclockwise.</a:t>
            </a:r>
            <a:endParaRPr sz="3100" dirty="0">
              <a:solidFill>
                <a:srgbClr val="009AFF"/>
              </a:solidFill>
              <a:latin typeface="NKPUOW+ComicSansMS" panose="030F0702030302020204"/>
              <a:cs typeface="NKPUOW+ComicSansMS" panose="030F07020303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1109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4215" y="415543"/>
            <a:ext cx="8970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Quiz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65" y="1164621"/>
            <a:ext cx="6612342" cy="1014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1.</a:t>
            </a:r>
            <a:r>
              <a:rPr sz="2650" spc="661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Compared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2650" spc="-15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analog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systems,</a:t>
            </a:r>
            <a:r>
              <a:rPr sz="2650" spc="-12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digital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systems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28321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a.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are less</a:t>
            </a:r>
            <a:r>
              <a:rPr sz="2650" spc="-14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prone</a:t>
            </a:r>
            <a:r>
              <a:rPr sz="2650" spc="-18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2650" spc="-14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noise</a:t>
            </a:r>
            <a:endParaRPr sz="2650" dirty="0">
              <a:solidFill>
                <a:srgbClr val="FF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8215" y="2373154"/>
            <a:ext cx="6134292" cy="1618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can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represent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an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infinite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number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values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can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handle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much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higher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power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2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all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above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1109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4215" y="415543"/>
            <a:ext cx="8970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Quiz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65" y="1164621"/>
            <a:ext cx="7793919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2.</a:t>
            </a:r>
            <a:r>
              <a:rPr sz="2650" spc="663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2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number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values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that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can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be</a:t>
            </a:r>
            <a:r>
              <a:rPr sz="2650" spc="-12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assigned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bit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are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8215" y="1768888"/>
            <a:ext cx="1141548" cy="2223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one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b.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two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2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three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ten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1109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4215" y="415543"/>
            <a:ext cx="8970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Quiz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65" y="1164621"/>
            <a:ext cx="8616847" cy="12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3.</a:t>
            </a:r>
            <a:r>
              <a:rPr sz="2650" spc="661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time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measurement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between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50%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point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on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2930"/>
              </a:lnSpc>
              <a:spcBef>
                <a:spcPts val="28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leading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edge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pulse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2650" spc="-15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2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50%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point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on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trailing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edge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2930"/>
              </a:lnSpc>
              <a:spcBef>
                <a:spcPts val="29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pulse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called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8215" y="2574341"/>
            <a:ext cx="1634618" cy="1619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rise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time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8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fall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time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period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8215" y="4387912"/>
            <a:ext cx="2046284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. pulse</a:t>
            </a:r>
            <a:r>
              <a:rPr sz="2650" spc="-18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width</a:t>
            </a:r>
            <a:endParaRPr sz="2650" dirty="0">
              <a:solidFill>
                <a:srgbClr val="FF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1109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4215" y="415543"/>
            <a:ext cx="8970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Quiz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65" y="1164621"/>
            <a:ext cx="8598298" cy="12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4.</a:t>
            </a:r>
            <a:r>
              <a:rPr sz="2650" spc="661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time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measurement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between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90%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point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on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2930"/>
              </a:lnSpc>
              <a:spcBef>
                <a:spcPts val="28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trailing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edge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pulse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2650" spc="-15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10%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point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on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trailing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edge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2930"/>
              </a:lnSpc>
              <a:spcBef>
                <a:spcPts val="29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pulse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called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8215" y="2574341"/>
            <a:ext cx="1634618" cy="1619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rise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time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8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b.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fall</a:t>
            </a:r>
            <a:r>
              <a:rPr sz="2650" spc="-18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time</a:t>
            </a:r>
            <a:endParaRPr sz="2650" dirty="0">
              <a:solidFill>
                <a:srgbClr val="FF0000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period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8215" y="4387912"/>
            <a:ext cx="2046284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pulse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width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1109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4215" y="415543"/>
            <a:ext cx="8970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Quiz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65" y="1164621"/>
            <a:ext cx="7894429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5.</a:t>
            </a:r>
            <a:r>
              <a:rPr sz="2650" spc="659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reciprocal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frequency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clock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signal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8215" y="1768888"/>
            <a:ext cx="1634618" cy="1618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rise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time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fall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time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2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c.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period</a:t>
            </a:r>
            <a:endParaRPr sz="2650" dirty="0">
              <a:solidFill>
                <a:srgbClr val="FF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8215" y="3581686"/>
            <a:ext cx="2046284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pulse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width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1109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4215" y="415543"/>
            <a:ext cx="8970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Quiz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65" y="1164621"/>
            <a:ext cx="8111616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6.</a:t>
            </a:r>
            <a:r>
              <a:rPr sz="2650" spc="661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period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clock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signal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500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ps,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frequency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8215" y="1768888"/>
            <a:ext cx="1766245" cy="1618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20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MHz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200</a:t>
            </a:r>
            <a:r>
              <a:rPr sz="2650" spc="-12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MHz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2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2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GHz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8215" y="3581686"/>
            <a:ext cx="1541199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d.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20</a:t>
            </a:r>
            <a:r>
              <a:rPr sz="2650" spc="-14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GHz</a:t>
            </a:r>
            <a:endParaRPr sz="2650" dirty="0">
              <a:solidFill>
                <a:srgbClr val="FF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1109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4215" y="415543"/>
            <a:ext cx="8970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Quiz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65" y="1164621"/>
            <a:ext cx="6867083" cy="1014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7.</a:t>
            </a:r>
            <a:r>
              <a:rPr sz="2650" spc="659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AND,</a:t>
            </a:r>
            <a:r>
              <a:rPr sz="2650" spc="15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OR,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and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NOT</a:t>
            </a:r>
            <a:r>
              <a:rPr sz="2650" spc="1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gates</a:t>
            </a:r>
            <a:r>
              <a:rPr sz="2650" spc="-21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can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be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used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form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28321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storage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devices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8215" y="2373154"/>
            <a:ext cx="214822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b. comparators</a:t>
            </a:r>
            <a:r>
              <a:rPr lang="zh-CN"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（</a:t>
            </a:r>
            <a:r>
              <a:rPr lang="zh-CN"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比较器）</a:t>
            </a:r>
            <a:endParaRPr lang="zh-CN"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8215" y="2977420"/>
            <a:ext cx="2286976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data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selectors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8215" y="3581686"/>
            <a:ext cx="2567800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d.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 all</a:t>
            </a:r>
            <a:r>
              <a:rPr sz="2650" spc="-18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of the</a:t>
            </a:r>
            <a:r>
              <a:rPr sz="2650" spc="-18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above</a:t>
            </a:r>
            <a:endParaRPr sz="2650" dirty="0">
              <a:solidFill>
                <a:srgbClr val="FF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1109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4215" y="415543"/>
            <a:ext cx="8970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Quiz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65" y="1164621"/>
            <a:ext cx="8704822" cy="812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9.</a:t>
            </a:r>
            <a:r>
              <a:rPr sz="2650" spc="663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device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that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2650" spc="-15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used</a:t>
            </a:r>
            <a:r>
              <a:rPr sz="2650" spc="-14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2650" spc="-15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switch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one</a:t>
            </a:r>
            <a:r>
              <a:rPr sz="2650" spc="-12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several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input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lines</a:t>
            </a:r>
            <a:r>
              <a:rPr sz="2650" spc="-4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2650" spc="-15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2930"/>
              </a:lnSpc>
              <a:spcBef>
                <a:spcPts val="28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single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output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line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is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called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8215" y="2172001"/>
            <a:ext cx="1997931" cy="1014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comparator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decoder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8215" y="3380533"/>
            <a:ext cx="1476196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counter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8215" y="3984799"/>
            <a:ext cx="2034862" cy="4102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d. multiplexer</a:t>
            </a:r>
            <a:endParaRPr sz="2650" dirty="0">
              <a:solidFill>
                <a:srgbClr val="FF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110977" cy="75565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74215" y="415543"/>
            <a:ext cx="897025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Quiz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4765" y="1164621"/>
            <a:ext cx="8411241" cy="812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10.</a:t>
            </a:r>
            <a:r>
              <a:rPr sz="2650" spc="661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For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most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digital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work,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an</a:t>
            </a:r>
            <a:r>
              <a:rPr sz="2650" spc="-15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oscilloscope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should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coupled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377825" marR="0">
              <a:lnSpc>
                <a:spcPts val="2930"/>
              </a:lnSpc>
              <a:spcBef>
                <a:spcPts val="28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to</a:t>
            </a:r>
            <a:r>
              <a:rPr sz="2650" spc="-12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signal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using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8215" y="2172001"/>
            <a:ext cx="2025987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a. ac coupling</a:t>
            </a:r>
            <a:r>
              <a:rPr lang="zh-CN"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（交流</a:t>
            </a:r>
            <a:r>
              <a:rPr lang="zh-CN" sz="2650" dirty="0">
                <a:solidFill>
                  <a:srgbClr val="FF0000"/>
                </a:solidFill>
                <a:latin typeface="POPBIN+TimesNewRoman" panose="02020603050405020304"/>
                <a:cs typeface="POPBIN+TimesNewRoman" panose="02020603050405020304"/>
              </a:rPr>
              <a:t>耦合）</a:t>
            </a:r>
            <a:endParaRPr lang="zh-CN" sz="2650" dirty="0">
              <a:solidFill>
                <a:srgbClr val="FF0000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8215" y="2776267"/>
            <a:ext cx="2065002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b. dc</a:t>
            </a:r>
            <a:r>
              <a:rPr sz="2650" spc="-12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coupling</a:t>
            </a:r>
            <a:r>
              <a:rPr lang="zh-CN"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（直流</a:t>
            </a:r>
            <a:r>
              <a:rPr lang="zh-CN"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耦合）</a:t>
            </a:r>
            <a:endParaRPr lang="zh-CN"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8215" y="3380533"/>
            <a:ext cx="2885861" cy="1367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0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c. GND</a:t>
            </a:r>
            <a:r>
              <a:rPr sz="2650" spc="2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coupling</a:t>
            </a:r>
            <a:r>
              <a:rPr lang="zh-CN"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（</a:t>
            </a:r>
            <a:r>
              <a:rPr lang="en-US" altLang="zh-CN"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GND</a:t>
            </a:r>
            <a:r>
              <a:rPr lang="zh-CN"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）耦合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  <a:p>
            <a:pPr marL="0" marR="0">
              <a:lnSpc>
                <a:spcPts val="2930"/>
              </a:lnSpc>
              <a:spcBef>
                <a:spcPts val="1875"/>
              </a:spcBef>
              <a:spcAft>
                <a:spcPts val="0"/>
              </a:spcAft>
            </a:pP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d.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none</a:t>
            </a:r>
            <a:r>
              <a:rPr sz="2650" spc="-18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of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the</a:t>
            </a:r>
            <a:r>
              <a:rPr sz="2650" spc="-12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2650" dirty="0">
                <a:solidFill>
                  <a:srgbClr val="1F497C"/>
                </a:solidFill>
                <a:latin typeface="POPBIN+TimesNewRoman" panose="02020603050405020304"/>
                <a:cs typeface="POPBIN+TimesNewRoman" panose="02020603050405020304"/>
              </a:rPr>
              <a:t>above</a:t>
            </a:r>
            <a:endParaRPr sz="2650" dirty="0">
              <a:solidFill>
                <a:srgbClr val="1F497C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61230" y="2216150"/>
            <a:ext cx="4474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对于大多数数字工作，应耦合示波器</a:t>
            </a:r>
            <a:endParaRPr lang="zh-CN" altLang="en-US"/>
          </a:p>
          <a:p>
            <a:r>
              <a:rPr lang="zh-CN" altLang="en-US"/>
              <a:t>对信号使用</a:t>
            </a:r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09257" y="0"/>
            <a:ext cx="10075277" cy="75539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91463" y="363728"/>
            <a:ext cx="1785669" cy="506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85"/>
              </a:lnSpc>
              <a:spcBef>
                <a:spcPts val="0"/>
              </a:spcBef>
              <a:spcAft>
                <a:spcPts val="0"/>
              </a:spcAft>
            </a:pPr>
            <a:r>
              <a:rPr sz="2650" dirty="0">
                <a:solidFill>
                  <a:srgbClr val="00009A"/>
                </a:solidFill>
                <a:latin typeface="SCVBFU+ComicSansMS,Bold" panose="030F0902030302020204"/>
                <a:cs typeface="SCVBFU+ComicSansMS,Bold" panose="030F0902030302020204"/>
              </a:rPr>
              <a:t>Homework</a:t>
            </a:r>
            <a:endParaRPr sz="2650" dirty="0">
              <a:solidFill>
                <a:srgbClr val="00009A"/>
              </a:solidFill>
              <a:latin typeface="SCVBFU+ComicSansMS,Bold" panose="030F0902030302020204"/>
              <a:cs typeface="SCVBFU+ComicSansMS,Bold" panose="030F09020303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5521" y="1172231"/>
            <a:ext cx="7231621" cy="534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05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9AFF"/>
                </a:solidFill>
                <a:latin typeface="Wingdings" panose="05000000000000000000"/>
                <a:cs typeface="Wingdings" panose="05000000000000000000"/>
              </a:rPr>
              <a:t></a:t>
            </a:r>
            <a:r>
              <a:rPr sz="2800" spc="186" dirty="0">
                <a:solidFill>
                  <a:srgbClr val="009A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Problems:</a:t>
            </a:r>
            <a:r>
              <a:rPr sz="3550" spc="1759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1,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2,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6(b),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7,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8,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12,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13,</a:t>
            </a:r>
            <a:r>
              <a:rPr sz="3550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 </a:t>
            </a:r>
            <a:r>
              <a:rPr sz="3550" spc="-11" dirty="0">
                <a:solidFill>
                  <a:srgbClr val="009AFF"/>
                </a:solidFill>
                <a:latin typeface="POPBIN+TimesNewRoman" panose="02020603050405020304"/>
                <a:cs typeface="POPBIN+TimesNewRoman" panose="02020603050405020304"/>
              </a:rPr>
              <a:t>17</a:t>
            </a:r>
            <a:endParaRPr sz="3550" spc="-11" dirty="0">
              <a:solidFill>
                <a:srgbClr val="009AFF"/>
              </a:solidFill>
              <a:latin typeface="POPBIN+TimesNewRoman" panose="02020603050405020304"/>
              <a:cs typeface="POPBIN+TimesNew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Q1ZjQ5ZGNmZTBkNDVjZDg2NGQ3ZWE0MGY0YWNjMWYifQ==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11996</Words>
  <Application>WPS 演示</Application>
  <PresentationFormat>On-screen Show (4:3)</PresentationFormat>
  <Paragraphs>675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82" baseType="lpstr">
      <vt:lpstr>Arial</vt:lpstr>
      <vt:lpstr>宋体</vt:lpstr>
      <vt:lpstr>Wingdings</vt:lpstr>
      <vt:lpstr>NKPUOW+ComicSansMS</vt:lpstr>
      <vt:lpstr>黑体</vt:lpstr>
      <vt:lpstr>SCVBFU+ComicSansMS,Bold</vt:lpstr>
      <vt:lpstr>Wingdings</vt:lpstr>
      <vt:lpstr>Times New Roman</vt:lpstr>
      <vt:lpstr>POPBIN+TimesNewRoman</vt:lpstr>
      <vt:lpstr>Arial</vt:lpstr>
      <vt:lpstr>UOVUCV+TimesNewRoman,Italic</vt:lpstr>
      <vt:lpstr>BFWQOG+TimesNewRoman,Bold</vt:lpstr>
      <vt:lpstr>Calibri</vt:lpstr>
      <vt:lpstr>微软雅黑</vt:lpstr>
      <vt:lpstr>Arial Unicode MS</vt:lpstr>
      <vt:lpstr>UPVCUQ+ComicSansMS,Italic</vt:lpstr>
      <vt:lpstr>TLESNE+Symbol</vt:lpstr>
      <vt:lpstr>IJJRAK+Symbol</vt:lpstr>
      <vt:lpstr>TMUJNU+ComicSansMS,BoldItalic</vt:lpstr>
      <vt:lpstr>ITKFGI+CambriaMath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Clown</dc:creator>
  <cp:lastModifiedBy>陈卓妍</cp:lastModifiedBy>
  <cp:revision>2</cp:revision>
  <dcterms:created xsi:type="dcterms:W3CDTF">2024-02-25T02:38:56Z</dcterms:created>
  <dcterms:modified xsi:type="dcterms:W3CDTF">2024-02-25T02:54:41Z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4B39506B4E66467D91E4E7CC6207EA69_12</vt:lpwstr>
  </property>
  <property fmtid="{D5CDD505-2E9C-101B-9397-08002B2CF9AE}" pid="3" name="KSOProductBuildVer">
    <vt:lpwstr>2052-12.1.0.15712</vt:lpwstr>
  </property>
</Properties>
</file>