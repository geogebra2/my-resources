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comments/comment1.xml" ContentType="application/vnd.openxmlformats-officedocument.presentationml.comment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handoutMasterIdLst>
    <p:handoutMasterId r:id="rId63"/>
  </p:handoutMasterIdLst>
  <p:sldIdLst>
    <p:sldId id="256" r:id="rId3"/>
    <p:sldId id="257" r:id="rId5"/>
    <p:sldId id="289" r:id="rId6"/>
    <p:sldId id="378" r:id="rId7"/>
    <p:sldId id="379" r:id="rId8"/>
    <p:sldId id="380" r:id="rId9"/>
    <p:sldId id="382" r:id="rId10"/>
    <p:sldId id="381" r:id="rId11"/>
    <p:sldId id="384" r:id="rId12"/>
    <p:sldId id="383" r:id="rId13"/>
    <p:sldId id="388" r:id="rId14"/>
    <p:sldId id="389" r:id="rId15"/>
    <p:sldId id="390" r:id="rId16"/>
    <p:sldId id="391" r:id="rId17"/>
    <p:sldId id="426" r:id="rId18"/>
    <p:sldId id="393" r:id="rId19"/>
    <p:sldId id="394" r:id="rId20"/>
    <p:sldId id="395" r:id="rId21"/>
    <p:sldId id="392" r:id="rId22"/>
    <p:sldId id="397" r:id="rId23"/>
    <p:sldId id="398" r:id="rId24"/>
    <p:sldId id="399" r:id="rId25"/>
    <p:sldId id="424" r:id="rId26"/>
    <p:sldId id="440" r:id="rId27"/>
    <p:sldId id="441" r:id="rId28"/>
    <p:sldId id="442" r:id="rId29"/>
    <p:sldId id="443" r:id="rId30"/>
    <p:sldId id="396" r:id="rId31"/>
    <p:sldId id="404" r:id="rId32"/>
    <p:sldId id="405" r:id="rId33"/>
    <p:sldId id="406" r:id="rId34"/>
    <p:sldId id="407" r:id="rId35"/>
    <p:sldId id="355" r:id="rId36"/>
    <p:sldId id="356" r:id="rId37"/>
    <p:sldId id="408" r:id="rId38"/>
    <p:sldId id="409" r:id="rId39"/>
    <p:sldId id="410" r:id="rId40"/>
    <p:sldId id="411" r:id="rId41"/>
    <p:sldId id="412" r:id="rId42"/>
    <p:sldId id="413" r:id="rId43"/>
    <p:sldId id="415" r:id="rId44"/>
    <p:sldId id="416" r:id="rId45"/>
    <p:sldId id="417" r:id="rId46"/>
    <p:sldId id="419" r:id="rId47"/>
    <p:sldId id="420" r:id="rId48"/>
    <p:sldId id="422" r:id="rId49"/>
    <p:sldId id="423" r:id="rId50"/>
    <p:sldId id="434" r:id="rId51"/>
    <p:sldId id="427" r:id="rId52"/>
    <p:sldId id="428" r:id="rId53"/>
    <p:sldId id="429" r:id="rId54"/>
    <p:sldId id="430" r:id="rId55"/>
    <p:sldId id="431" r:id="rId56"/>
    <p:sldId id="435" r:id="rId57"/>
    <p:sldId id="436" r:id="rId58"/>
    <p:sldId id="437" r:id="rId59"/>
    <p:sldId id="432" r:id="rId60"/>
    <p:sldId id="439" r:id="rId61"/>
    <p:sldId id="433" r:id="rId62"/>
  </p:sldIdLst>
  <p:sldSz cx="9144000" cy="5143500" type="screen16x9"/>
  <p:notesSz cx="6858000" cy="9144000"/>
  <p:embeddedFontLst>
    <p:embeddedFont>
      <p:font typeface="Raleway"/>
      <p:regular r:id="rId68"/>
    </p:embeddedFont>
    <p:embeddedFont>
      <p:font typeface="Source Sans Pro" panose="020B0503030403020204"/>
      <p:regular r:id="rId69"/>
    </p:embeddedFont>
    <p:embeddedFont>
      <p:font typeface="Source Sans Pro" panose="020B0503030403020204" pitchFamily="34" charset="0"/>
      <p:regular r:id="rId70"/>
      <p:bold r:id="rId71"/>
      <p:italic r:id="rId72"/>
      <p:boldItalic r:id="rId73"/>
    </p:embeddedFont>
    <p:embeddedFont>
      <p:font typeface="Raleway" pitchFamily="34" charset="0"/>
      <p:regular r:id="rId74"/>
      <p:bold r:id="rId75"/>
      <p:italic r:id="rId76"/>
      <p:boldItalic r:id="rId77"/>
    </p:embeddedFont>
    <p:embeddedFont>
      <p:font typeface="黑体" panose="02010609060101010101" pitchFamily="49" charset="-122"/>
      <p:regular r:id="rId78"/>
    </p:embeddedFont>
  </p:embeddedFontLst>
  <p:custDataLst>
    <p:tags r:id="rId79"/>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521415D9-36F7-43E2-AB2F-B90AF26B5E84}">
      <p14:sectionLst xmlns:p14="http://schemas.microsoft.com/office/powerpoint/2010/main">
        <p14:section name="默认节" id="{FA4343E0-B24A-4A78-ACC4-92B04329ADDA}">
          <p14:sldIdLst>
            <p14:sldId id="256"/>
            <p14:sldId id="257"/>
          </p14:sldIdLst>
        </p14:section>
        <p14:section name="Algorithm complexity&#10;" id="{F866783A-CD8B-468F-910D-FC913A6F6BFD}">
          <p14:sldIdLst>
            <p14:sldId id="289"/>
            <p14:sldId id="378"/>
            <p14:sldId id="379"/>
            <p14:sldId id="380"/>
            <p14:sldId id="382"/>
            <p14:sldId id="381"/>
            <p14:sldId id="384"/>
            <p14:sldId id="383"/>
            <p14:sldId id="388"/>
            <p14:sldId id="389"/>
            <p14:sldId id="390"/>
            <p14:sldId id="391"/>
            <p14:sldId id="426"/>
            <p14:sldId id="393"/>
            <p14:sldId id="394"/>
            <p14:sldId id="395"/>
            <p14:sldId id="392"/>
            <p14:sldId id="397"/>
            <p14:sldId id="398"/>
            <p14:sldId id="399"/>
            <p14:sldId id="424"/>
            <p14:sldId id="440"/>
            <p14:sldId id="441"/>
            <p14:sldId id="442"/>
            <p14:sldId id="443"/>
            <p14:sldId id="396"/>
            <p14:sldId id="404"/>
            <p14:sldId id="405"/>
            <p14:sldId id="406"/>
            <p14:sldId id="407"/>
          </p14:sldIdLst>
        </p14:section>
        <p14:section name="Exception" id="{49EB99E2-C266-49A6-B557-7635D49DED87}">
          <p14:sldIdLst>
            <p14:sldId id="355"/>
            <p14:sldId id="356"/>
            <p14:sldId id="408"/>
            <p14:sldId id="409"/>
            <p14:sldId id="410"/>
            <p14:sldId id="411"/>
            <p14:sldId id="412"/>
            <p14:sldId id="413"/>
            <p14:sldId id="415"/>
            <p14:sldId id="416"/>
            <p14:sldId id="417"/>
            <p14:sldId id="419"/>
            <p14:sldId id="420"/>
            <p14:sldId id="422"/>
            <p14:sldId id="423"/>
          </p14:sldIdLst>
        </p14:section>
        <p14:section name="Assertion" id="{35302C59-7280-4374-AF57-E5D7E7C34680}">
          <p14:sldIdLst>
            <p14:sldId id="434"/>
            <p14:sldId id="427"/>
            <p14:sldId id="428"/>
            <p14:sldId id="429"/>
            <p14:sldId id="430"/>
            <p14:sldId id="431"/>
            <p14:sldId id="435"/>
            <p14:sldId id="436"/>
            <p14:sldId id="437"/>
            <p14:sldId id="432"/>
            <p14:sldId id="439"/>
            <p14:sldId id="433"/>
          </p14:sldIdLst>
        </p14:section>
      </p14:sectionLst>
    </p:ex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lown" initials="C"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7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09" autoAdjust="0"/>
    <p:restoredTop sz="94699"/>
  </p:normalViewPr>
  <p:slideViewPr>
    <p:cSldViewPr snapToGrid="0" showGuides="1">
      <p:cViewPr varScale="1">
        <p:scale>
          <a:sx n="202" d="100"/>
          <a:sy n="202" d="100"/>
        </p:scale>
        <p:origin x="712" y="116"/>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9" Type="http://schemas.openxmlformats.org/officeDocument/2006/relationships/tags" Target="tags/tag1.xml"/><Relationship Id="rId78" Type="http://schemas.openxmlformats.org/officeDocument/2006/relationships/font" Target="fonts/font11.fntdata"/><Relationship Id="rId77" Type="http://schemas.openxmlformats.org/officeDocument/2006/relationships/font" Target="fonts/font10.fntdata"/><Relationship Id="rId76" Type="http://schemas.openxmlformats.org/officeDocument/2006/relationships/font" Target="fonts/font9.fntdata"/><Relationship Id="rId75" Type="http://schemas.openxmlformats.org/officeDocument/2006/relationships/font" Target="fonts/font8.fntdata"/><Relationship Id="rId74" Type="http://schemas.openxmlformats.org/officeDocument/2006/relationships/font" Target="fonts/font7.fntdata"/><Relationship Id="rId73" Type="http://schemas.openxmlformats.org/officeDocument/2006/relationships/font" Target="fonts/font6.fntdata"/><Relationship Id="rId72" Type="http://schemas.openxmlformats.org/officeDocument/2006/relationships/font" Target="fonts/font5.fntdata"/><Relationship Id="rId71" Type="http://schemas.openxmlformats.org/officeDocument/2006/relationships/font" Target="fonts/font4.fntdata"/><Relationship Id="rId70" Type="http://schemas.openxmlformats.org/officeDocument/2006/relationships/font" Target="fonts/font3.fntdata"/><Relationship Id="rId7" Type="http://schemas.openxmlformats.org/officeDocument/2006/relationships/slide" Target="slides/slide4.xml"/><Relationship Id="rId69" Type="http://schemas.openxmlformats.org/officeDocument/2006/relationships/font" Target="fonts/font2.fntdata"/><Relationship Id="rId68" Type="http://schemas.openxmlformats.org/officeDocument/2006/relationships/font" Target="fonts/font1.fntdata"/><Relationship Id="rId67" Type="http://schemas.openxmlformats.org/officeDocument/2006/relationships/commentAuthors" Target="commentAuthors.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3-12-19T10:59:39.511" idx="1">
    <p:pos x="5574" y="683"/>
    <p:text>测试是开发过程中断言有用的另一个领域
测试归结为将观察到的值与预期值进行比较，以检查它们是否相等
这种检查完全符合断言
断言必须检查通常应为真的条件，除非代码中存在 bug
这个想法是测试背后的另一个重要概念
pytest 第三方库是 Python 中流行的测试框架
在它的核心，你会发现assert语句，你可以用它来在pytest中编写你的大多数测试用例
</p:text>
  </p:cm>
  <p:cm authorId="1" dt="2023-12-19T11:03:27.774" idx="2">
    <p:pos x="5338" y="1820"/>
    <p:text>这种选择背后有几个显着的优势：
assert 语句允许 pytest 降低入门门槛并在一定程度上拉平学习曲线，因为它的用户可以利用他们已经知道的 Python 语法
pytest 的用户无需从库中导入任何内容即可开始编写测试用例。只有当他们的测试用例变得复杂，需要更高级的功能时，他们才需要开始导入东西
这些优势使得使用 pytest 对于初学者和来自其他具有自定义 API 的测试框架的人来说是一种愉快的体验
例如，standard-library unittest 模块提供了一个 API，该 API 由一系列 .assert*（） 方法组成，这些方法的工作方式与 assert 语句非常相似
对于从框架开始的开发人员来说，这种 API 可能很难学习和记忆
</p:tex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CC3311C-1080-4025-A587-3C8245D9CD74}"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ltLang="zh-CN"/>
              <a:t>https://zh.wikipedia.org/zh-hans/%E6%91%A9%E5%B0%94%E5%AE%9A%E5%BE%8B</a:t>
            </a: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E7B472-84CF-4C91-970E-0A87C7012FEF}" type="slidenum">
              <a:rPr lang="zh-CN" altLang="en-US" smtClean="0"/>
            </a:fld>
            <a:endParaRPr lang="zh-CN" altLang="en-US"/>
          </a:p>
        </p:txBody>
      </p:sp>
    </p:spTree>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p:txBody>
      </p:sp>
    </p:spTree>
  </p:cSld>
  <p:clrMap bg1="lt1" tx1="dk1" bg2="dk2" tx2="lt2" accent1="accent1" accent2="accent2" accent3="accent3" accent4="accent4" accent5="accent5" accent6="accent6" hlink="hlink" folHlink="folHlink"/>
  <p:hf sldNum="0" hdr="0" ftr="0"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54"/>
        <p:cNvGrpSpPr/>
        <p:nvPr/>
      </p:nvGrpSpPr>
      <p:grpSpPr>
        <a:xfrm>
          <a:off x="0" y="0"/>
          <a:ext cx="0" cy="0"/>
          <a:chOff x="0" y="0"/>
          <a:chExt cx="0" cy="0"/>
        </a:xfrm>
      </p:grpSpPr>
      <p:sp>
        <p:nvSpPr>
          <p:cNvPr id="55" name="Google Shape;55;gc6f91993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c6f91993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60"/>
        <p:cNvGrpSpPr/>
        <p:nvPr/>
      </p:nvGrpSpPr>
      <p:grpSpPr>
        <a:xfrm>
          <a:off x="0" y="0"/>
          <a:ext cx="0" cy="0"/>
          <a:chOff x="0" y="0"/>
          <a:chExt cx="0" cy="0"/>
        </a:xfrm>
      </p:grpSpPr>
      <p:sp>
        <p:nvSpPr>
          <p:cNvPr id="61" name="Google Shape;61;gc6f91993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c6f91993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78"/>
        <p:cNvGrpSpPr/>
        <p:nvPr/>
      </p:nvGrpSpPr>
      <p:grpSpPr>
        <a:xfrm>
          <a:off x="0" y="0"/>
          <a:ext cx="0" cy="0"/>
          <a:chOff x="0" y="0"/>
          <a:chExt cx="0" cy="0"/>
        </a:xfrm>
      </p:grpSpPr>
      <p:sp>
        <p:nvSpPr>
          <p:cNvPr id="79" name="Google Shape;79;gc6f91993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gc6f91993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1" name="Google Shape;11;p2"/>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lvl1pPr lvl="0">
              <a:spcBef>
                <a:spcPts val="0"/>
              </a:spcBef>
              <a:spcAft>
                <a:spcPts val="0"/>
              </a:spcAft>
              <a:buSzPts val="4200"/>
              <a:buNone/>
              <a:defRPr sz="4200">
                <a:latin typeface="Source Sans Pro" panose="020B0503030403020204" pitchFamily="34" charset="0"/>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dirty="0"/>
          </a:p>
        </p:txBody>
      </p:sp>
      <p:sp>
        <p:nvSpPr>
          <p:cNvPr id="12" name="Google Shape;12;p2"/>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sp>
        <p:nvSpPr>
          <p:cNvPr id="16" name="Google Shape;16;p3"/>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lvl1pPr lvl="0">
              <a:spcBef>
                <a:spcPts val="0"/>
              </a:spcBef>
              <a:spcAft>
                <a:spcPts val="0"/>
              </a:spcAft>
              <a:buSzPts val="3600"/>
              <a:buNone/>
              <a:defRPr sz="3600">
                <a:latin typeface="Source Sans Pro" panose="020B0503030403020204" pitchFamily="34" charset="0"/>
              </a:defRPr>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a:endParaRPr dirty="0"/>
          </a:p>
        </p:txBody>
      </p:sp>
      <p:sp>
        <p:nvSpPr>
          <p:cNvPr id="17" name="Google Shape;17;p3"/>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x" matchingName="Title and body">
  <p:cSld name="TITLE_AND_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311700" y="445025"/>
            <a:ext cx="8520600" cy="623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Source Sans Pro" panose="020B0503030403020204" pitchFamily="34" charset="0"/>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dirty="0"/>
          </a:p>
        </p:txBody>
      </p:sp>
      <p:sp>
        <p:nvSpPr>
          <p:cNvPr id="20" name="Google Shape;20;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p:txBody>
      </p:sp>
      <p:sp>
        <p:nvSpPr>
          <p:cNvPr id="21" name="Google Shape;21;p4"/>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2"/>
        </a:solid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800"/>
              <a:buNone/>
              <a:defRPr sz="4800">
                <a:solidFill>
                  <a:schemeClr val="lt1"/>
                </a:solidFill>
                <a:latin typeface="Source Sans Pro" panose="020B0503030403020204" pitchFamily="34" charset="0"/>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dirty="0"/>
          </a:p>
        </p:txBody>
      </p:sp>
      <p:sp>
        <p:nvSpPr>
          <p:cNvPr id="36" name="Google Shape;36;p8"/>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p>
        </p:txBody>
      </p:sp>
      <p:cxnSp>
        <p:nvCxnSpPr>
          <p:cNvPr id="39" name="Google Shape;39;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0" name="Google Shape;40;p9"/>
          <p:cNvSpPr txBox="1">
            <a:spLocks noGrp="1"/>
          </p:cNvSpPr>
          <p:nvPr>
            <p:ph type="title"/>
          </p:nvPr>
        </p:nvSpPr>
        <p:spPr>
          <a:xfrm>
            <a:off x="265500" y="1181700"/>
            <a:ext cx="4045200" cy="1533600"/>
          </a:xfrm>
          <a:prstGeom prst="rect">
            <a:avLst/>
          </a:prstGeom>
        </p:spPr>
        <p:txBody>
          <a:bodyPr spcFirstLastPara="1" wrap="square" lIns="91425" tIns="91425" rIns="91425" bIns="91425" anchor="b" anchorCtr="0">
            <a:normAutofit/>
          </a:bodyPr>
          <a:lstStyle>
            <a:lvl1pPr lvl="0" algn="ctr">
              <a:spcBef>
                <a:spcPts val="0"/>
              </a:spcBef>
              <a:spcAft>
                <a:spcPts val="0"/>
              </a:spcAft>
              <a:buSzPts val="3800"/>
              <a:buNone/>
              <a:defRPr sz="3800">
                <a:latin typeface="Source Sans Pro" panose="020B0503030403020204" pitchFamily="34" charset="0"/>
              </a:defRPr>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dirty="0"/>
          </a:p>
        </p:txBody>
      </p:sp>
      <p:sp>
        <p:nvSpPr>
          <p:cNvPr id="41" name="Google Shape;41;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p:txBody>
      </p:sp>
      <p:sp>
        <p:nvSpPr>
          <p:cNvPr id="43" name="Google Shape;43;p9"/>
          <p:cNvSpPr txBox="1">
            <a:spLocks noGrp="1"/>
          </p:cNvSpPr>
          <p:nvPr>
            <p:ph type="sldNum" idx="12"/>
          </p:nvPr>
        </p:nvSpPr>
        <p:spPr>
          <a:xfrm>
            <a:off x="8497999" y="4688759"/>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GB"/>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23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sz="3000" b="1">
                <a:solidFill>
                  <a:schemeClr val="dk2"/>
                </a:solidFill>
                <a:latin typeface="Raleway"/>
                <a:ea typeface="Raleway"/>
                <a:cs typeface="Raleway"/>
                <a:sym typeface="Raleway"/>
              </a:defRPr>
            </a:lvl9pPr>
          </a:lstStyle>
          <a:p>
            <a:endParaRPr dirty="0"/>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lt2"/>
              </a:buClr>
              <a:buSzPts val="1800"/>
              <a:buFont typeface="Source Sans Pro" panose="020B0503030403020204"/>
              <a:buChar char="●"/>
              <a:defRPr sz="1800">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lvl="1"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lvl="2"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lvl="3"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lvl="4"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lvl="5"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lvl="6"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lvl="7"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lvl="8" indent="-317500">
              <a:lnSpc>
                <a:spcPct val="115000"/>
              </a:lnSpc>
              <a:spcBef>
                <a:spcPts val="0"/>
              </a:spcBef>
              <a:spcAft>
                <a:spcPts val="0"/>
              </a:spcAft>
              <a:buClr>
                <a:schemeClr val="lt2"/>
              </a:buClr>
              <a:buSzPts val="1400"/>
              <a:buFont typeface="Source Sans Pro" panose="020B0503030403020204"/>
              <a:buChar char="■"/>
              <a:defRPr>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p:txBody>
      </p:sp>
      <p:sp>
        <p:nvSpPr>
          <p:cNvPr id="8" name="Google Shape;8;p1"/>
          <p:cNvSpPr txBox="1">
            <a:spLocks noGrp="1"/>
          </p:cNvSpPr>
          <p:nvPr>
            <p:ph type="sldNum" idx="12"/>
          </p:nvPr>
        </p:nvSpPr>
        <p:spPr>
          <a:xfrm>
            <a:off x="8497999" y="4688759"/>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lvl="1"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lvl="2"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lvl="3"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lvl="4"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lvl="5"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lvl="6"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lvl="7"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lvl="8" algn="r">
              <a:buNone/>
              <a:defRPr sz="1000">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marL="0" lvl="0" indent="0" algn="r" rtl="0">
              <a:spcBef>
                <a:spcPts val="0"/>
              </a:spcBef>
              <a:spcAft>
                <a:spcPts val="0"/>
              </a:spcAft>
              <a:buNone/>
            </a:pPr>
            <a:fld id="{00000000-1234-1234-1234-123412341234}" type="slidenum">
              <a:rPr lang="en-GB"/>
            </a:fld>
            <a:endParaRPr lang="en-GB"/>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Source Serif Pro" panose="02040603050405020204" pitchFamily="18" charset="0"/>
          <a:ea typeface="Source Serif Pro" panose="02040603050405020204" pitchFamily="18" charset="0"/>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hyperlink" Target="mailto:chengfan85@gmail.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jpeg"/><Relationship Id="rId1" Type="http://schemas.openxmlformats.org/officeDocument/2006/relationships/image" Target="../media/image5.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hyperlink" Target="https://docs.python.org/3/library/time.html" TargetMode="Externa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4.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1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3.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image" Target="../media/image24.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27.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0.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33.png"/><Relationship Id="rId1" Type="http://schemas.openxmlformats.org/officeDocument/2006/relationships/image" Target="../media/image32.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4.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6.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37.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2.png"/><Relationship Id="rId1" Type="http://schemas.openxmlformats.org/officeDocument/2006/relationships/image" Target="../media/image41.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3.xml"/><Relationship Id="rId4" Type="http://schemas.openxmlformats.org/officeDocument/2006/relationships/image" Target="../media/image46.png"/><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image" Target="../media/image43.png"/></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48.png"/><Relationship Id="rId1" Type="http://schemas.openxmlformats.org/officeDocument/2006/relationships/image" Target="../media/image4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9.jpe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1.png"/><Relationship Id="rId1" Type="http://schemas.openxmlformats.org/officeDocument/2006/relationships/image" Target="../media/image5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52.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image" Target="../media/image53.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55.png"/><Relationship Id="rId1" Type="http://schemas.openxmlformats.org/officeDocument/2006/relationships/image" Target="../media/image54.png"/></Relationships>
</file>

<file path=ppt/slides/_rels/slide4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image" Target="../media/image56.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0.png"/><Relationship Id="rId1" Type="http://schemas.openxmlformats.org/officeDocument/2006/relationships/image" Target="../media/image5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61.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3.png"/><Relationship Id="rId1" Type="http://schemas.openxmlformats.org/officeDocument/2006/relationships/image" Target="../media/image62.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5.png"/><Relationship Id="rId1" Type="http://schemas.openxmlformats.org/officeDocument/2006/relationships/image" Target="../media/image64.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3.xml"/><Relationship Id="rId1" Type="http://schemas.openxmlformats.org/officeDocument/2006/relationships/image" Target="../media/image66.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68.png"/><Relationship Id="rId1" Type="http://schemas.openxmlformats.org/officeDocument/2006/relationships/image" Target="../media/image67.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image" Target="../media/image69.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3.png"/><Relationship Id="rId1" Type="http://schemas.openxmlformats.org/officeDocument/2006/relationships/image" Target="../media/image7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74.png"/></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6.png"/><Relationship Id="rId1" Type="http://schemas.openxmlformats.org/officeDocument/2006/relationships/image" Target="../media/image7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78.png"/><Relationship Id="rId1" Type="http://schemas.openxmlformats.org/officeDocument/2006/relationships/image" Target="../media/image7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58" name="Google Shape;58;p13"/>
          <p:cNvSpPr txBox="1">
            <a:spLocks noGrp="1"/>
          </p:cNvSpPr>
          <p:nvPr>
            <p:ph type="ctrTitle"/>
          </p:nvPr>
        </p:nvSpPr>
        <p:spPr>
          <a:xfrm>
            <a:off x="485875" y="264475"/>
            <a:ext cx="8183700" cy="1473600"/>
          </a:xfrm>
          <a:prstGeom prst="rect">
            <a:avLst/>
          </a:prstGeom>
        </p:spPr>
        <p:txBody>
          <a:bodyPr spcFirstLastPara="1" wrap="square" lIns="91425" tIns="91425" rIns="91425" bIns="91425" anchor="b" anchorCtr="0">
            <a:normAutofit/>
          </a:bodyPr>
          <a:lstStyle/>
          <a:p>
            <a:pPr marL="0" lvl="0" indent="0" rtl="0">
              <a:spcBef>
                <a:spcPts val="0"/>
              </a:spcBef>
              <a:spcAft>
                <a:spcPts val="0"/>
              </a:spcAft>
              <a:buNone/>
            </a:pPr>
            <a:r>
              <a:rPr lang="en-US" altLang="zh-CN" dirty="0">
                <a:latin typeface="Raleway" pitchFamily="34" charset="0"/>
                <a:ea typeface="Source Sans Pro" panose="020B0503030403020204" pitchFamily="34" charset="0"/>
              </a:rPr>
              <a:t>Introduction to Computation</a:t>
            </a:r>
            <a:endParaRPr dirty="0">
              <a:latin typeface="Raleway" pitchFamily="34" charset="0"/>
              <a:ea typeface="Source Sans Pro" panose="020B0503030403020204" pitchFamily="34" charset="0"/>
            </a:endParaRPr>
          </a:p>
        </p:txBody>
      </p:sp>
      <p:sp>
        <p:nvSpPr>
          <p:cNvPr id="59" name="Google Shape;59;p13"/>
          <p:cNvSpPr txBox="1">
            <a:spLocks noGrp="1"/>
          </p:cNvSpPr>
          <p:nvPr>
            <p:ph type="subTitle" idx="1"/>
          </p:nvPr>
        </p:nvSpPr>
        <p:spPr>
          <a:xfrm>
            <a:off x="485875" y="1738075"/>
            <a:ext cx="8183700" cy="861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dirty="0"/>
              <a:t>Autumn, 2023</a:t>
            </a:r>
            <a:endParaRPr lang="en-GB" dirty="0"/>
          </a:p>
        </p:txBody>
      </p:sp>
      <p:sp>
        <p:nvSpPr>
          <p:cNvPr id="4" name="文本框 3"/>
          <p:cNvSpPr txBox="1"/>
          <p:nvPr/>
        </p:nvSpPr>
        <p:spPr>
          <a:xfrm>
            <a:off x="485875" y="2940517"/>
            <a:ext cx="3374642" cy="1754326"/>
          </a:xfrm>
          <a:prstGeom prst="rect">
            <a:avLst/>
          </a:prstGeom>
          <a:noFill/>
        </p:spPr>
        <p:txBody>
          <a:bodyPr wrap="none" rtlCol="0">
            <a:spAutoFit/>
          </a:bodyPr>
          <a:lstStyle/>
          <a:p>
            <a:r>
              <a:rPr lang="en-US" altLang="zh-CN" sz="1800" dirty="0">
                <a:solidFill>
                  <a:schemeClr val="bg1"/>
                </a:solidFill>
                <a:latin typeface="Source Sans Pro" panose="020B0503030403020204" pitchFamily="34" charset="0"/>
                <a:ea typeface="Source Sans Pro" panose="020B0503030403020204" pitchFamily="34" charset="0"/>
              </a:rPr>
              <a:t>Prof. Fan Cheng</a:t>
            </a:r>
            <a:endParaRPr lang="en-US" altLang="zh-CN" sz="1800" dirty="0">
              <a:solidFill>
                <a:schemeClr val="bg1"/>
              </a:solidFill>
              <a:latin typeface="Source Sans Pro" panose="020B0503030403020204" pitchFamily="34" charset="0"/>
              <a:ea typeface="Source Sans Pro" panose="020B0503030403020204" pitchFamily="34" charset="0"/>
            </a:endParaRPr>
          </a:p>
          <a:p>
            <a:endParaRPr lang="en-US" altLang="zh-CN" sz="1800" dirty="0">
              <a:solidFill>
                <a:schemeClr val="bg1"/>
              </a:solidFill>
              <a:latin typeface="Source Sans Pro" panose="020B0503030403020204" pitchFamily="34" charset="0"/>
              <a:ea typeface="Source Sans Pro" panose="020B0503030403020204" pitchFamily="34" charset="0"/>
            </a:endParaRPr>
          </a:p>
          <a:p>
            <a:r>
              <a:rPr lang="en-US" altLang="zh-CN" sz="1800" dirty="0">
                <a:solidFill>
                  <a:schemeClr val="bg1"/>
                </a:solidFill>
                <a:latin typeface="Source Sans Pro" panose="020B0503030403020204" pitchFamily="34" charset="0"/>
                <a:ea typeface="Source Sans Pro" panose="020B0503030403020204" pitchFamily="34" charset="0"/>
              </a:rPr>
              <a:t>Shanghai Jiao</a:t>
            </a:r>
            <a:r>
              <a:rPr lang="zh-CN" altLang="en-US" sz="1800" dirty="0">
                <a:solidFill>
                  <a:schemeClr val="bg1"/>
                </a:solidFill>
                <a:latin typeface="Source Sans Pro" panose="020B0503030403020204" pitchFamily="34" charset="0"/>
              </a:rPr>
              <a:t> </a:t>
            </a:r>
            <a:r>
              <a:rPr lang="en-US" altLang="zh-CN" sz="1800" dirty="0">
                <a:solidFill>
                  <a:schemeClr val="bg1"/>
                </a:solidFill>
                <a:latin typeface="Source Sans Pro" panose="020B0503030403020204" pitchFamily="34" charset="0"/>
                <a:ea typeface="Source Sans Pro" panose="020B0503030403020204" pitchFamily="34" charset="0"/>
              </a:rPr>
              <a:t>Tong</a:t>
            </a:r>
            <a:r>
              <a:rPr lang="zh-CN" altLang="en-US" sz="1800" dirty="0">
                <a:solidFill>
                  <a:schemeClr val="bg1"/>
                </a:solidFill>
                <a:latin typeface="Source Sans Pro" panose="020B0503030403020204" pitchFamily="34" charset="0"/>
              </a:rPr>
              <a:t> </a:t>
            </a:r>
            <a:r>
              <a:rPr lang="en-US" altLang="zh-CN" sz="1800" dirty="0">
                <a:solidFill>
                  <a:schemeClr val="bg1"/>
                </a:solidFill>
                <a:latin typeface="Source Sans Pro" panose="020B0503030403020204" pitchFamily="34" charset="0"/>
                <a:ea typeface="Source Sans Pro" panose="020B0503030403020204" pitchFamily="34" charset="0"/>
              </a:rPr>
              <a:t>University</a:t>
            </a:r>
            <a:endParaRPr lang="en-US" altLang="zh-CN" sz="1800" dirty="0">
              <a:solidFill>
                <a:schemeClr val="bg1"/>
              </a:solidFill>
              <a:latin typeface="Source Sans Pro" panose="020B0503030403020204" pitchFamily="34" charset="0"/>
              <a:ea typeface="Source Sans Pro" panose="020B0503030403020204" pitchFamily="34" charset="0"/>
            </a:endParaRPr>
          </a:p>
          <a:p>
            <a:endParaRPr lang="en-US" altLang="zh-CN" sz="1800" dirty="0">
              <a:solidFill>
                <a:schemeClr val="bg1"/>
              </a:solidFill>
              <a:latin typeface="Source Sans Pro" panose="020B0503030403020204" pitchFamily="34" charset="0"/>
              <a:ea typeface="Source Sans Pro" panose="020B0503030403020204" pitchFamily="34" charset="0"/>
              <a:hlinkClick r:id="rId1"/>
            </a:endParaRPr>
          </a:p>
          <a:p>
            <a:r>
              <a:rPr lang="en-US" altLang="zh-CN" sz="1800" dirty="0">
                <a:solidFill>
                  <a:schemeClr val="bg1"/>
                </a:solidFill>
                <a:latin typeface="Source Sans Pro" panose="020B0503030403020204" pitchFamily="34" charset="0"/>
                <a:ea typeface="Source Sans Pro" panose="020B0503030403020204" pitchFamily="34" charset="0"/>
              </a:rPr>
              <a:t>chengfan85@gmail.com</a:t>
            </a:r>
            <a:endParaRPr lang="en-US" altLang="zh-CN" sz="1800" dirty="0">
              <a:solidFill>
                <a:schemeClr val="bg1"/>
              </a:solidFill>
              <a:latin typeface="Source Sans Pro" panose="020B0503030403020204" pitchFamily="34" charset="0"/>
              <a:ea typeface="Source Sans Pro" panose="020B0503030403020204" pitchFamily="34" charset="0"/>
            </a:endParaRPr>
          </a:p>
          <a:p>
            <a:r>
              <a:rPr lang="en-US" altLang="zh-CN" sz="1800" dirty="0">
                <a:solidFill>
                  <a:schemeClr val="bg1"/>
                </a:solidFill>
                <a:latin typeface="Source Sans Pro" panose="020B0503030403020204" pitchFamily="34" charset="0"/>
                <a:ea typeface="Source Sans Pro" panose="020B0503030403020204" pitchFamily="34" charset="0"/>
              </a:rPr>
              <a:t>https://github.com/ichengfan/itc</a:t>
            </a:r>
            <a:endParaRPr lang="en-US" altLang="zh-CN" sz="1800" dirty="0">
              <a:solidFill>
                <a:schemeClr val="bg1"/>
              </a:solidFill>
              <a:latin typeface="Source Sans Pro" panose="020B0503030403020204" pitchFamily="34" charset="0"/>
              <a:ea typeface="Source Sans Pro" panose="020B0503030403020204" pitchFamily="34" charset="0"/>
            </a:endParaRP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554393" y="2821214"/>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Premium Vector | Cute green tree python carto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54392" y="4038081"/>
            <a:ext cx="914400" cy="9144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Image result for eight quee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97927" y="4038079"/>
            <a:ext cx="914399" cy="9144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组合 6"/>
          <p:cNvGrpSpPr/>
          <p:nvPr/>
        </p:nvGrpSpPr>
        <p:grpSpPr>
          <a:xfrm>
            <a:off x="6797927" y="2821214"/>
            <a:ext cx="914400" cy="914400"/>
            <a:chOff x="6180217" y="2783700"/>
            <a:chExt cx="914400" cy="914400"/>
          </a:xfrm>
        </p:grpSpPr>
        <p:sp>
          <p:nvSpPr>
            <p:cNvPr id="6" name="文本框 5"/>
            <p:cNvSpPr txBox="1"/>
            <p:nvPr/>
          </p:nvSpPr>
          <p:spPr>
            <a:xfrm>
              <a:off x="6180217" y="2783700"/>
              <a:ext cx="914400" cy="914400"/>
            </a:xfrm>
            <a:prstGeom prst="rect">
              <a:avLst/>
            </a:prstGeom>
            <a:solidFill>
              <a:schemeClr val="bg1"/>
            </a:solidFill>
          </p:spPr>
          <p:txBody>
            <a:bodyPr wrap="square" rtlCol="0">
              <a:spAutoFit/>
            </a:bodyPr>
            <a:lstStyle/>
            <a:p>
              <a:endParaRPr lang="zh-CN" altLang="en-US" dirty="0"/>
            </a:p>
          </p:txBody>
        </p:sp>
        <p:pic>
          <p:nvPicPr>
            <p:cNvPr id="3" name="Picture 6"/>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18718" y="2783700"/>
              <a:ext cx="837395" cy="914400"/>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txBox="1">
            <a:spLocks noGrp="1"/>
          </p:cNvSpPr>
          <p:nvPr>
            <p:ph type="title"/>
          </p:nvPr>
        </p:nvSpPr>
        <p:spPr>
          <a:xfrm>
            <a:off x="265500" y="1718250"/>
            <a:ext cx="4045200" cy="17070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GB" dirty="0">
                <a:latin typeface="Raleway" pitchFamily="34" charset="0"/>
                <a:ea typeface="Source Sans Pro" panose="020B0503030403020204" pitchFamily="34" charset="0"/>
              </a:rPr>
              <a:t>Outline</a:t>
            </a:r>
            <a:endParaRPr dirty="0">
              <a:latin typeface="Raleway" pitchFamily="34" charset="0"/>
              <a:ea typeface="Source Sans Pro" panose="020B0503030403020204" pitchFamily="34" charset="0"/>
            </a:endParaRPr>
          </a:p>
        </p:txBody>
      </p:sp>
      <p:sp>
        <p:nvSpPr>
          <p:cNvPr id="65" name="Google Shape;65;p14"/>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p>
            <a:pPr marL="457200" lvl="0" indent="-342900" algn="l" rtl="0">
              <a:spcBef>
                <a:spcPts val="0"/>
              </a:spcBef>
              <a:spcAft>
                <a:spcPts val="0"/>
              </a:spcAft>
              <a:buSzPts val="1800"/>
              <a:buChar char="●"/>
            </a:pPr>
            <a:r>
              <a:rPr lang="en-US" dirty="0"/>
              <a:t>Algorithm complexity</a:t>
            </a:r>
            <a:endParaRPr lang="en-US" dirty="0"/>
          </a:p>
          <a:p>
            <a:pPr marL="457200" lvl="0" indent="-342900" algn="l" rtl="0">
              <a:spcBef>
                <a:spcPts val="0"/>
              </a:spcBef>
              <a:spcAft>
                <a:spcPts val="0"/>
              </a:spcAft>
              <a:buSzPts val="1800"/>
              <a:buChar char="●"/>
            </a:pPr>
            <a:r>
              <a:rPr lang="en-US" dirty="0"/>
              <a:t>Exception</a:t>
            </a:r>
            <a:endParaRPr lang="en-US" dirty="0"/>
          </a:p>
        </p:txBody>
      </p:sp>
      <p:sp>
        <p:nvSpPr>
          <p:cNvPr id="4" name="椭圆 3"/>
          <p:cNvSpPr/>
          <p:nvPr/>
        </p:nvSpPr>
        <p:spPr>
          <a:xfrm>
            <a:off x="1785180" y="998621"/>
            <a:ext cx="1005840" cy="1005840"/>
          </a:xfrm>
          <a:prstGeom prst="ellipse">
            <a:avLst/>
          </a:prstGeom>
          <a:ln>
            <a:solidFill>
              <a:schemeClr val="bg1"/>
            </a:solid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US" altLang="zh-CN" sz="3600" dirty="0"/>
              <a:t>11</a:t>
            </a:r>
            <a:endParaRPr lang="zh-CN" altLang="en-US" sz="3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Raleway" pitchFamily="34" charset="0"/>
                <a:ea typeface="Source Sans Pro" panose="020B0503030403020204" pitchFamily="34" charset="0"/>
              </a:rPr>
              <a:t>Algorithm complexity</a:t>
            </a:r>
            <a:endParaRPr lang="en-US" dirty="0">
              <a:latin typeface="Raleway" pitchFamily="34" charset="0"/>
              <a:ea typeface="Source Sans Pro" panose="020B0503030403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Correctness and Performance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3416400"/>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most important thing to think about when designing and implementing a program is that it should produce results that can be </a:t>
            </a:r>
            <a:r>
              <a:rPr lang="en-US" altLang="zh-CN" sz="1400" dirty="0">
                <a:solidFill>
                  <a:schemeClr val="tx1"/>
                </a:solidFill>
                <a:latin typeface="Source Sans Pro" panose="020B0503030403020204" pitchFamily="34" charset="0"/>
                <a:ea typeface="Source Sans Pro" panose="020B0503030403020204" pitchFamily="34" charset="0"/>
              </a:rPr>
              <a:t>relied upon</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Sometimes </a:t>
            </a:r>
            <a:r>
              <a:rPr lang="en-US" altLang="zh-CN" sz="1400" dirty="0">
                <a:solidFill>
                  <a:schemeClr val="tx1"/>
                </a:solidFill>
                <a:latin typeface="Source Sans Pro" panose="020B0503030403020204" pitchFamily="34" charset="0"/>
                <a:ea typeface="Source Sans Pro" panose="020B0503030403020204" pitchFamily="34" charset="0"/>
              </a:rPr>
              <a:t>performance</a:t>
            </a:r>
            <a:r>
              <a:rPr lang="en-US" altLang="zh-CN" sz="1400" dirty="0">
                <a:solidFill>
                  <a:schemeClr val="bg2"/>
                </a:solidFill>
                <a:latin typeface="Source Sans Pro" panose="020B0503030403020204" pitchFamily="34" charset="0"/>
                <a:ea typeface="Source Sans Pro" panose="020B0503030403020204" pitchFamily="34" charset="0"/>
              </a:rPr>
              <a:t> is an important aspect of </a:t>
            </a:r>
            <a:r>
              <a:rPr lang="en-US" altLang="zh-CN" sz="1400" dirty="0">
                <a:solidFill>
                  <a:schemeClr val="tx1"/>
                </a:solidFill>
                <a:latin typeface="Source Sans Pro" panose="020B0503030403020204" pitchFamily="34" charset="0"/>
                <a:ea typeface="Source Sans Pro" panose="020B0503030403020204" pitchFamily="34" charset="0"/>
              </a:rPr>
              <a:t>correctness</a:t>
            </a:r>
            <a:r>
              <a:rPr lang="en-US" altLang="zh-CN" sz="1400" dirty="0">
                <a:solidFill>
                  <a:schemeClr val="bg2"/>
                </a:solidFill>
                <a:latin typeface="Source Sans Pro" panose="020B0503030403020204" pitchFamily="34" charset="0"/>
                <a:ea typeface="Source Sans Pro" panose="020B0503030403020204" pitchFamily="34" charset="0"/>
              </a:rPr>
              <a:t>. This is most obvious for programs that need to run in real time. A program that warns airplanes of potential obstructions needs to issue the warning before the obstructions are encountered.</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4" name="Picture 2" descr="Image result for stock marke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72000" y="2571750"/>
            <a:ext cx="3783947" cy="2126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1" descr="Image result for alibab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1127" y="2615396"/>
            <a:ext cx="3126446" cy="20830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Time: measure performance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6045786" cy="3371399"/>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In Python, we can use the </a:t>
            </a:r>
            <a:r>
              <a:rPr lang="en-US" altLang="zh-CN" sz="1400" dirty="0">
                <a:solidFill>
                  <a:schemeClr val="tx1"/>
                </a:solidFill>
                <a:latin typeface="Source Sans Pro" panose="020B0503030403020204" pitchFamily="34" charset="0"/>
                <a:ea typeface="Source Sans Pro" panose="020B0503030403020204" pitchFamily="34" charset="0"/>
              </a:rPr>
              <a:t>time module</a:t>
            </a:r>
            <a:r>
              <a:rPr lang="en-US" altLang="zh-CN" sz="1400" dirty="0">
                <a:solidFill>
                  <a:schemeClr val="bg2"/>
                </a:solidFill>
                <a:latin typeface="Source Sans Pro" panose="020B0503030403020204" pitchFamily="34" charset="0"/>
                <a:ea typeface="Source Sans Pro" panose="020B0503030403020204" pitchFamily="34" charset="0"/>
              </a:rPr>
              <a:t> to study the running time of a program:</a:t>
            </a:r>
            <a:r>
              <a:rPr lang="en-US" altLang="zh-CN" sz="1400" dirty="0">
                <a:solidFill>
                  <a:srgbClr val="C00000"/>
                </a:solidFill>
                <a:latin typeface="Source Sans Pro" panose="020B0503030403020204" pitchFamily="34" charset="0"/>
                <a:ea typeface="Source Sans Pro" panose="020B0503030403020204" pitchFamily="34" charset="0"/>
              </a:rPr>
              <a:t> </a:t>
            </a:r>
            <a:r>
              <a:rPr lang="en-US" altLang="zh-CN" sz="1400" dirty="0">
                <a:solidFill>
                  <a:srgbClr val="C00000"/>
                </a:solidFill>
                <a:latin typeface="Source Sans Pro" panose="020B0503030403020204" pitchFamily="34" charset="0"/>
                <a:ea typeface="Source Sans Pro" panose="020B0503030403020204" pitchFamily="34" charset="0"/>
                <a:hlinkClick r:id="rId1"/>
              </a:rPr>
              <a:t>https://docs.python.org/3/library/time.html</a:t>
            </a:r>
            <a:endParaRPr lang="en-US" altLang="zh-CN" sz="1400" dirty="0">
              <a:solidFill>
                <a:srgbClr val="C00000"/>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We could run the program on some input and time it. But that wouldn’t be particularly informative because the result would depend upon</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the speed of the computer on which it is run</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the efficiency of the Python implementation on that machine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the value of the input</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time depends on the machine and system. How to measure its running time in theory?</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It is cumbersome to use </a:t>
            </a:r>
            <a:r>
              <a:rPr lang="en-US" altLang="zh-CN" sz="1400" dirty="0" err="1">
                <a:solidFill>
                  <a:schemeClr val="bg2"/>
                </a:solidFill>
                <a:latin typeface="Source Sans Pro" panose="020B0503030403020204" pitchFamily="34" charset="0"/>
                <a:ea typeface="Source Sans Pro" panose="020B0503030403020204" pitchFamily="34" charset="0"/>
              </a:rPr>
              <a:t>time.time</a:t>
            </a:r>
            <a:r>
              <a:rPr lang="en-US" altLang="zh-CN" sz="1400" dirty="0">
                <a:solidFill>
                  <a:schemeClr val="bg2"/>
                </a:solidFill>
                <a:latin typeface="Source Sans Pro" panose="020B0503030403020204" pitchFamily="34" charset="0"/>
                <a:ea typeface="Source Sans Pro" panose="020B0503030403020204" pitchFamily="34" charset="0"/>
              </a:rPr>
              <a:t>() or </a:t>
            </a:r>
            <a:r>
              <a:rPr lang="en-US" altLang="zh-CN" sz="1400" dirty="0" err="1">
                <a:solidFill>
                  <a:schemeClr val="bg2"/>
                </a:solidFill>
                <a:latin typeface="Source Sans Pro" panose="020B0503030403020204" pitchFamily="34" charset="0"/>
                <a:ea typeface="Source Sans Pro" panose="020B0503030403020204" pitchFamily="34" charset="0"/>
              </a:rPr>
              <a:t>timeit.timeit</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We need a theory to predict the future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6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600" dirty="0">
              <a:solidFill>
                <a:schemeClr val="bg2"/>
              </a:solidFill>
              <a:latin typeface="Source Sans Pro" panose="020B0503030403020204" pitchFamily="34" charset="0"/>
              <a:ea typeface="Source Sans Pro" panose="020B0503030403020204" pitchFamily="34" charset="0"/>
            </a:endParaRPr>
          </a:p>
        </p:txBody>
      </p:sp>
      <p:sp>
        <p:nvSpPr>
          <p:cNvPr id="5" name="Rectangle 4"/>
          <p:cNvSpPr/>
          <p:nvPr/>
        </p:nvSpPr>
        <p:spPr>
          <a:xfrm>
            <a:off x="507244" y="4209093"/>
            <a:ext cx="2728441" cy="314781"/>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solidFill>
                <a:latin typeface="Source Sans Pro" panose="020B0503030403020204" pitchFamily="34" charset="0"/>
                <a:ea typeface="Source Sans Pro" panose="020B0503030403020204" pitchFamily="34" charset="0"/>
              </a:rPr>
              <a:t>Nothing is practical than a good theory</a:t>
            </a:r>
            <a:endParaRPr lang="en-US" sz="1200" dirty="0">
              <a:solidFill>
                <a:schemeClr val="bg2"/>
              </a:solidFill>
              <a:latin typeface="Source Sans Pro" panose="020B0503030403020204" pitchFamily="34" charset="0"/>
              <a:ea typeface="Source Sans Pro" panose="020B0503030403020204" pitchFamily="34" charset="0"/>
            </a:endParaRPr>
          </a:p>
        </p:txBody>
      </p:sp>
      <p:pic>
        <p:nvPicPr>
          <p:cNvPr id="6" name="Picture 4"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23552" y="1150925"/>
            <a:ext cx="2263538" cy="2850961"/>
          </a:xfrm>
          <a:prstGeom prst="rect">
            <a:avLst/>
          </a:prstGeom>
        </p:spPr>
      </p:pic>
      <p:pic>
        <p:nvPicPr>
          <p:cNvPr id="7"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3739" y="4247194"/>
            <a:ext cx="4619625" cy="2476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How to measure performance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699" y="1152475"/>
            <a:ext cx="5133449" cy="3117017"/>
          </a:xfrm>
        </p:spPr>
        <p:txBody>
          <a:bodyPr>
            <a:noAutofit/>
          </a:bodyPr>
          <a:lstStyle/>
          <a:p>
            <a:pPr>
              <a:lnSpc>
                <a:spcPct val="120000"/>
              </a:lnSpc>
            </a:pPr>
            <a:r>
              <a:rPr lang="en-US" altLang="zh-CN" sz="1400" b="1" dirty="0">
                <a:solidFill>
                  <a:schemeClr val="tx1"/>
                </a:solidFill>
                <a:latin typeface="Source Sans Pro" panose="020B0503030403020204" pitchFamily="34" charset="0"/>
                <a:ea typeface="Source Sans Pro" panose="020B0503030403020204" pitchFamily="34" charset="0"/>
              </a:rPr>
              <a:t>Idea:</a:t>
            </a:r>
            <a:r>
              <a:rPr lang="en-US" altLang="zh-CN" sz="1400" dirty="0">
                <a:solidFill>
                  <a:schemeClr val="bg2"/>
                </a:solidFill>
                <a:latin typeface="Source Sans Pro" panose="020B0503030403020204" pitchFamily="34" charset="0"/>
                <a:ea typeface="Source Sans Pro" panose="020B0503030403020204" pitchFamily="34" charset="0"/>
              </a:rPr>
              <a:t> computer programs consists of fundamental instructions like</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 -, *, /, //, %, if, =, print, input……</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Regarded the running time of these instructions as “1” </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For each program, </a:t>
            </a:r>
            <a:r>
              <a:rPr lang="en-US" altLang="zh-CN" sz="1200" dirty="0">
                <a:solidFill>
                  <a:schemeClr val="tx1"/>
                </a:solidFill>
                <a:latin typeface="Source Sans Pro" panose="020B0503030403020204" pitchFamily="34" charset="0"/>
                <a:ea typeface="Source Sans Pro" panose="020B0503030403020204" pitchFamily="34" charset="0"/>
              </a:rPr>
              <a:t>just count how many fundamental instructions </a:t>
            </a:r>
            <a:r>
              <a:rPr lang="en-US" altLang="zh-CN" sz="1200" dirty="0">
                <a:solidFill>
                  <a:schemeClr val="bg2"/>
                </a:solidFill>
                <a:latin typeface="Source Sans Pro" panose="020B0503030403020204" pitchFamily="34" charset="0"/>
                <a:ea typeface="Source Sans Pro" panose="020B0503030403020204" pitchFamily="34" charset="0"/>
              </a:rPr>
              <a:t>it contains</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tx1"/>
                </a:solidFill>
                <a:latin typeface="Source Sans Pro" panose="020B0503030403020204" pitchFamily="34" charset="0"/>
                <a:ea typeface="Source Sans Pro" panose="020B0503030403020204" pitchFamily="34" charset="0"/>
              </a:rPr>
              <a:t>A step </a:t>
            </a:r>
            <a:r>
              <a:rPr lang="en-US" altLang="zh-CN" sz="1400" dirty="0">
                <a:solidFill>
                  <a:schemeClr val="bg2"/>
                </a:solidFill>
                <a:latin typeface="Source Sans Pro" panose="020B0503030403020204" pitchFamily="34" charset="0"/>
                <a:ea typeface="Source Sans Pro" panose="020B0503030403020204" pitchFamily="34" charset="0"/>
              </a:rPr>
              <a:t>is an operation that takes a fixed amount of time, such as binding a variable to an object, making a comparison, executing an arithmetic operation, or accessing an object in memory</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400" dirty="0">
              <a:solidFill>
                <a:srgbClr val="C00000"/>
              </a:solidFill>
              <a:latin typeface="Source Sans Pro" panose="020B0503030403020204" pitchFamily="34" charset="0"/>
              <a:ea typeface="Source Sans Pro" panose="020B0503030403020204" pitchFamily="34" charset="0"/>
            </a:endParaRPr>
          </a:p>
        </p:txBody>
      </p:sp>
      <p:sp>
        <p:nvSpPr>
          <p:cNvPr id="4" name="Rectangle 4"/>
          <p:cNvSpPr/>
          <p:nvPr/>
        </p:nvSpPr>
        <p:spPr>
          <a:xfrm>
            <a:off x="5235456" y="4269492"/>
            <a:ext cx="3301144" cy="293711"/>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dirty="0">
                <a:solidFill>
                  <a:schemeClr val="tx1"/>
                </a:solidFill>
                <a:latin typeface="Source Sans Pro" panose="020B0503030403020204" pitchFamily="34" charset="0"/>
                <a:ea typeface="黑体" panose="02010609060101010101" pitchFamily="49" charset="-122"/>
              </a:rPr>
              <a:t>the number of steps may depend on the input</a:t>
            </a:r>
            <a:endParaRPr lang="en-US" sz="1200" b="1" dirty="0">
              <a:solidFill>
                <a:schemeClr val="tx1"/>
              </a:solidFill>
              <a:latin typeface="Source Sans Pro" panose="020B0503030403020204" pitchFamily="34" charset="0"/>
              <a:ea typeface="黑体" panose="02010609060101010101" pitchFamily="49" charset="-122"/>
            </a:endParaRPr>
          </a:p>
        </p:txBody>
      </p:sp>
      <p:pic>
        <p:nvPicPr>
          <p:cNvPr id="5" name="Picture 4"/>
          <p:cNvPicPr>
            <a:picLocks noChangeAspect="1"/>
          </p:cNvPicPr>
          <p:nvPr/>
        </p:nvPicPr>
        <p:blipFill>
          <a:blip r:embed="rId1"/>
          <a:stretch>
            <a:fillRect/>
          </a:stretch>
        </p:blipFill>
        <p:spPr>
          <a:xfrm>
            <a:off x="5616734" y="1152475"/>
            <a:ext cx="2919866" cy="288611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Worst-case Running Time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3416400"/>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Both L and x will affect the running time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b="1" dirty="0">
                <a:solidFill>
                  <a:schemeClr val="tx1"/>
                </a:solidFill>
                <a:latin typeface="Source Sans Pro" panose="020B0503030403020204" pitchFamily="34" charset="0"/>
                <a:ea typeface="Source Sans Pro" panose="020B0503030403020204" pitchFamily="34" charset="0"/>
              </a:rPr>
              <a:t>Best-case running time</a:t>
            </a:r>
            <a:r>
              <a:rPr lang="en-US" altLang="zh-CN" sz="1400" dirty="0">
                <a:solidFill>
                  <a:schemeClr val="bg2"/>
                </a:solidFill>
                <a:latin typeface="Source Sans Pro" panose="020B0503030403020204" pitchFamily="34" charset="0"/>
                <a:ea typeface="Source Sans Pro" panose="020B0503030403020204" pitchFamily="34" charset="0"/>
              </a:rPr>
              <a:t>: the minimum running time over all the possible inputs of a given size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b="1" dirty="0">
                <a:solidFill>
                  <a:schemeClr val="tx1"/>
                </a:solidFill>
                <a:latin typeface="Source Sans Pro" panose="020B0503030403020204" pitchFamily="34" charset="0"/>
                <a:ea typeface="Source Sans Pro" panose="020B0503030403020204" pitchFamily="34" charset="0"/>
              </a:rPr>
              <a:t>Worst-case running time</a:t>
            </a:r>
            <a:r>
              <a:rPr lang="en-US" altLang="zh-CN" sz="1400" dirty="0">
                <a:solidFill>
                  <a:schemeClr val="bg2"/>
                </a:solidFill>
                <a:latin typeface="Source Sans Pro" panose="020B0503030403020204" pitchFamily="34" charset="0"/>
                <a:ea typeface="Source Sans Pro" panose="020B0503030403020204" pitchFamily="34" charset="0"/>
              </a:rPr>
              <a:t>: the maximum running time over all the possible inputs of a given size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b="1" dirty="0">
                <a:solidFill>
                  <a:schemeClr val="tx1"/>
                </a:solidFill>
                <a:latin typeface="Source Sans Pro" panose="020B0503030403020204" pitchFamily="34" charset="0"/>
                <a:ea typeface="Source Sans Pro" panose="020B0503030403020204" pitchFamily="34" charset="0"/>
              </a:rPr>
              <a:t>Average-case running time</a:t>
            </a:r>
            <a:r>
              <a:rPr lang="en-US" altLang="zh-CN" sz="1400" dirty="0">
                <a:solidFill>
                  <a:schemeClr val="bg2"/>
                </a:solidFill>
                <a:latin typeface="Source Sans Pro" panose="020B0503030403020204" pitchFamily="34" charset="0"/>
                <a:ea typeface="Source Sans Pro" panose="020B0503030403020204" pitchFamily="34" charset="0"/>
              </a:rPr>
              <a:t>: the average running time over all possible inputs of a given size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rgbClr val="C00000"/>
              </a:solidFill>
              <a:latin typeface="Source Sans Pro" panose="020B0503030403020204" pitchFamily="34" charset="0"/>
              <a:ea typeface="Source Sans Pro" panose="020B0503030403020204" pitchFamily="34" charset="0"/>
            </a:endParaRPr>
          </a:p>
        </p:txBody>
      </p:sp>
      <p:pic>
        <p:nvPicPr>
          <p:cNvPr id="5"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3231211" y="2571750"/>
            <a:ext cx="1923117" cy="105742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Asymptotic Notation</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311700" y="1152475"/>
                <a:ext cx="8520600" cy="3416400"/>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Observed that, when n is large,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5n and 5n+2 are very close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14:m>
                  <m:oMath xmlns:m="http://schemas.openxmlformats.org/officeDocument/2006/math">
                    <m:r>
                      <a:rPr lang="en-US" altLang="zh-CN" sz="1200" i="1" dirty="0" smtClean="0">
                        <a:solidFill>
                          <a:schemeClr val="bg2"/>
                        </a:solidFill>
                        <a:latin typeface="Cambria Math" panose="02040503050406030204" pitchFamily="18" charset="0"/>
                        <a:ea typeface="Source Sans Pro" panose="020B0503030403020204" pitchFamily="34" charset="0"/>
                      </a:rPr>
                      <m:t>1000000</m:t>
                    </m:r>
                    <m:r>
                      <a:rPr lang="en-US" altLang="zh-CN" sz="1200" i="1" dirty="0" smtClean="0">
                        <a:solidFill>
                          <a:schemeClr val="bg2"/>
                        </a:solidFill>
                        <a:latin typeface="Cambria Math" panose="02040503050406030204" pitchFamily="18" charset="0"/>
                        <a:ea typeface="Source Sans Pro" panose="020B0503030403020204" pitchFamily="34" charset="0"/>
                      </a:rPr>
                      <m:t>𝑛</m:t>
                    </m:r>
                  </m:oMath>
                </a14:m>
                <a:r>
                  <a:rPr lang="en-US" altLang="zh-CN" sz="1200" dirty="0">
                    <a:solidFill>
                      <a:schemeClr val="bg2"/>
                    </a:solidFill>
                    <a:latin typeface="Source Sans Pro" panose="020B0503030403020204" pitchFamily="34" charset="0"/>
                    <a:ea typeface="Source Sans Pro" panose="020B0503030403020204" pitchFamily="34" charset="0"/>
                  </a:rPr>
                  <a:t> and </a:t>
                </a:r>
                <a14:m>
                  <m:oMath xmlns:m="http://schemas.openxmlformats.org/officeDocument/2006/math">
                    <m:sSup>
                      <m:sSupPr>
                        <m:ctrlPr>
                          <a:rPr lang="en-US" altLang="zh-CN" sz="1200" b="0" i="1" smtClean="0">
                            <a:solidFill>
                              <a:schemeClr val="bg2"/>
                            </a:solidFill>
                            <a:latin typeface="Cambria Math" panose="02040503050406030204" pitchFamily="18" charset="0"/>
                            <a:ea typeface="Source Sans Pro" panose="020B0503030403020204" pitchFamily="34" charset="0"/>
                          </a:rPr>
                        </m:ctrlPr>
                      </m:sSupPr>
                      <m:e>
                        <m:r>
                          <a:rPr lang="en-US" altLang="zh-CN" sz="1200" b="0" i="1" smtClean="0">
                            <a:solidFill>
                              <a:schemeClr val="bg2"/>
                            </a:solidFill>
                            <a:latin typeface="Cambria Math" panose="02040503050406030204" pitchFamily="18" charset="0"/>
                            <a:ea typeface="Source Sans Pro" panose="020B0503030403020204" pitchFamily="34" charset="0"/>
                          </a:rPr>
                          <m:t>𝑛</m:t>
                        </m:r>
                      </m:e>
                      <m:sup>
                        <m:r>
                          <a:rPr lang="en-US" altLang="zh-CN" sz="1200" b="0" i="1" smtClean="0">
                            <a:solidFill>
                              <a:schemeClr val="bg2"/>
                            </a:solidFill>
                            <a:latin typeface="Cambria Math" panose="02040503050406030204" pitchFamily="18" charset="0"/>
                            <a:ea typeface="Source Sans Pro" panose="020B0503030403020204" pitchFamily="34" charset="0"/>
                          </a:rPr>
                          <m:t>2</m:t>
                        </m:r>
                      </m:sup>
                    </m:sSup>
                  </m:oMath>
                </a14:m>
                <a:r>
                  <a:rPr lang="en-US" altLang="zh-CN" sz="1200" dirty="0">
                    <a:solidFill>
                      <a:schemeClr val="bg2"/>
                    </a:solidFill>
                    <a:latin typeface="Source Sans Pro" panose="020B0503030403020204" pitchFamily="34" charset="0"/>
                    <a:ea typeface="Source Sans Pro" panose="020B0503030403020204" pitchFamily="34" charset="0"/>
                  </a:rPr>
                  <a:t> are very far away</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We are concerned with n is very large in theory</a:t>
                </a:r>
                <a:r>
                  <a:rPr lang="en-US" altLang="zh-CN" sz="1400" dirty="0">
                    <a:solidFill>
                      <a:schemeClr val="tx1"/>
                    </a:solidFill>
                    <a:latin typeface="Source Sans Pro" panose="020B0503030403020204" pitchFamily="34" charset="0"/>
                    <a:ea typeface="Source Sans Pro" panose="020B0503030403020204" pitchFamily="34" charset="0"/>
                  </a:rPr>
                  <a:t>: the order</a:t>
                </a:r>
                <a:r>
                  <a:rPr lang="zh-CN" altLang="en-US" sz="1400" dirty="0">
                    <a:solidFill>
                      <a:schemeClr val="bg2"/>
                    </a:solidFill>
                    <a:latin typeface="Source Sans Pro" panose="020B0503030403020204" pitchFamily="34" charset="0"/>
                    <a:ea typeface="Source Sans Pro" panose="020B0503030403020204" pitchFamily="34" charset="0"/>
                  </a:rPr>
                  <a:t>（</a:t>
                </a:r>
                <a:r>
                  <a:rPr lang="zh-CN" altLang="en-US" sz="1400" dirty="0">
                    <a:solidFill>
                      <a:schemeClr val="bg2"/>
                    </a:solidFill>
                    <a:latin typeface="黑体" panose="02010609060101010101" pitchFamily="49" charset="-122"/>
                    <a:ea typeface="黑体" panose="02010609060101010101" pitchFamily="49" charset="-122"/>
                  </a:rPr>
                  <a:t>阶数</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is more important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tx1"/>
                    </a:solidFill>
                    <a:latin typeface="Source Sans Pro" panose="020B0503030403020204" pitchFamily="34" charset="0"/>
                    <a:ea typeface="Source Sans Pro" panose="020B0503030403020204" pitchFamily="34" charset="0"/>
                  </a:rPr>
                  <a:t>asymptotic notation</a:t>
                </a:r>
                <a:r>
                  <a:rPr lang="en-US" altLang="zh-CN" sz="1400" dirty="0">
                    <a:solidFill>
                      <a:schemeClr val="bg2"/>
                    </a:solidFill>
                    <a:latin typeface="Source Sans Pro" panose="020B0503030403020204" pitchFamily="34" charset="0"/>
                    <a:ea typeface="Source Sans Pro" panose="020B0503030403020204" pitchFamily="34" charset="0"/>
                  </a:rPr>
                  <a:t>: the order of an algorithm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The underlying motivation is that almost any algorithm is sufficiently efficient when run on small inputs</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What we typically need to worry about is the efficiency of the algorithm when run on very large inputs. As a proxy for “very large,” asymptotic notation describes the complexity of an algorithm as</a:t>
                </a:r>
                <a:r>
                  <a:rPr lang="en-US" altLang="zh-CN" sz="1200" dirty="0">
                    <a:solidFill>
                      <a:schemeClr val="tx1"/>
                    </a:solidFill>
                    <a:latin typeface="Source Sans Pro" panose="020B0503030403020204" pitchFamily="34" charset="0"/>
                    <a:ea typeface="Source Sans Pro" panose="020B0503030403020204" pitchFamily="34" charset="0"/>
                  </a:rPr>
                  <a:t> the size of its inputs approaches infinity</a:t>
                </a:r>
                <a:endParaRPr lang="en-US" altLang="zh-CN" sz="1200" dirty="0">
                  <a:solidFill>
                    <a:schemeClr val="tx1"/>
                  </a:solidFill>
                  <a:latin typeface="Source Sans Pro" panose="020B0503030403020204" pitchFamily="34" charset="0"/>
                  <a:ea typeface="Source Sans Pro" panose="020B0503030403020204" pitchFamily="34" charset="0"/>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311700" y="1152475"/>
                <a:ext cx="8520600" cy="3416400"/>
              </a:xfrm>
              <a:blipFill rotWithShape="1">
                <a:blip r:embed="rId1"/>
                <a:stretch>
                  <a:fillRect l="-6" t="-17" r="1" b="1"/>
                </a:stretch>
              </a:blipFill>
            </p:spPr>
            <p:txBody>
              <a:bodyPr/>
              <a:lstStyle/>
              <a:p>
                <a:r>
                  <a:rPr lang="zh-CN"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“Big O” notation</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311700" y="1152474"/>
                <a:ext cx="8520600" cy="3034515"/>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a:t>
                </a:r>
                <a:r>
                  <a:rPr lang="en-US" altLang="zh-CN" sz="1400" dirty="0">
                    <a:solidFill>
                      <a:schemeClr val="tx1"/>
                    </a:solidFill>
                    <a:latin typeface="Source Sans Pro" panose="020B0503030403020204" pitchFamily="34" charset="0"/>
                    <a:ea typeface="Source Sans Pro" panose="020B0503030403020204" pitchFamily="34" charset="0"/>
                  </a:rPr>
                  <a:t>order</a:t>
                </a:r>
                <a:r>
                  <a:rPr lang="en-US" altLang="zh-CN" sz="1400" dirty="0">
                    <a:solidFill>
                      <a:schemeClr val="bg2"/>
                    </a:solidFill>
                    <a:latin typeface="Source Sans Pro" panose="020B0503030403020204" pitchFamily="34" charset="0"/>
                    <a:ea typeface="Source Sans Pro" panose="020B0503030403020204" pitchFamily="34" charset="0"/>
                  </a:rPr>
                  <a:t> of complexity is much more important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a:t>
                </a:r>
                <a:r>
                  <a:rPr lang="en-US" altLang="zh-CN" sz="1400" dirty="0">
                    <a:solidFill>
                      <a:schemeClr val="tx1"/>
                    </a:solidFill>
                    <a:latin typeface="Source Sans Pro" panose="020B0503030403020204" pitchFamily="34" charset="0"/>
                    <a:ea typeface="Source Sans Pro" panose="020B0503030403020204" pitchFamily="34" charset="0"/>
                  </a:rPr>
                  <a:t>asymptotic complexity </a:t>
                </a:r>
                <a:r>
                  <a:rPr lang="en-US" altLang="zh-CN" sz="1400" dirty="0">
                    <a:solidFill>
                      <a:schemeClr val="bg2"/>
                    </a:solidFill>
                    <a:latin typeface="Source Sans Pro" panose="020B0503030403020204" pitchFamily="34" charset="0"/>
                    <a:ea typeface="Source Sans Pro" panose="020B0503030403020204" pitchFamily="34" charset="0"/>
                  </a:rPr>
                  <a:t>of an algorithm:</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If the running time is the sum of multiple terms, keep the one with the largest growth rate, and drop the others</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If the remaining term is a product, </a:t>
                </a:r>
                <a:r>
                  <a:rPr lang="en-US" altLang="zh-CN" sz="1200" b="1" dirty="0">
                    <a:solidFill>
                      <a:schemeClr val="tx1"/>
                    </a:solidFill>
                    <a:latin typeface="Source Sans Pro" panose="020B0503030403020204" pitchFamily="34" charset="0"/>
                    <a:ea typeface="Source Sans Pro" panose="020B0503030403020204" pitchFamily="34" charset="0"/>
                  </a:rPr>
                  <a:t>drop any constants</a:t>
                </a:r>
                <a:endParaRPr lang="en-US" altLang="zh-CN" sz="1200" b="1"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most commonly used asymptotic notation is called “Big O” notation. Big O notation is used to give an upper bound on the asymptotic growth (often called the order of growth) of a function</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b="1" dirty="0">
                    <a:solidFill>
                      <a:schemeClr val="tx1"/>
                    </a:solidFill>
                    <a:latin typeface="Source Sans Pro" panose="020B0503030403020204" pitchFamily="34" charset="0"/>
                    <a:ea typeface="Source Sans Pro" panose="020B0503030403020204" pitchFamily="34" charset="0"/>
                  </a:rPr>
                  <a:t>O(</a:t>
                </a:r>
                <a14:m>
                  <m:oMath xmlns:m="http://schemas.openxmlformats.org/officeDocument/2006/math">
                    <m:r>
                      <a:rPr lang="en-US" altLang="zh-CN" sz="1200" b="1" i="1" dirty="0" smtClean="0">
                        <a:solidFill>
                          <a:schemeClr val="tx1"/>
                        </a:solidFill>
                        <a:latin typeface="Cambria Math" panose="02040503050406030204" pitchFamily="18" charset="0"/>
                        <a:ea typeface="Source Sans Pro" panose="020B0503030403020204" pitchFamily="34" charset="0"/>
                      </a:rPr>
                      <m:t>𝟏</m:t>
                    </m:r>
                  </m:oMath>
                </a14:m>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denotes constant running time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b="1" dirty="0">
                    <a:solidFill>
                      <a:schemeClr val="tx1"/>
                    </a:solidFill>
                    <a:latin typeface="Source Sans Pro" panose="020B0503030403020204" pitchFamily="34" charset="0"/>
                    <a:ea typeface="Source Sans Pro" panose="020B0503030403020204" pitchFamily="34" charset="0"/>
                  </a:rPr>
                  <a:t>O(</a:t>
                </a:r>
                <a14:m>
                  <m:oMath xmlns:m="http://schemas.openxmlformats.org/officeDocument/2006/math">
                    <m:r>
                      <m:rPr>
                        <m:sty m:val="p"/>
                      </m:rPr>
                      <a:rPr lang="en-US" altLang="zh-CN" sz="1200" b="1" i="1" dirty="0" smtClean="0">
                        <a:solidFill>
                          <a:schemeClr val="tx1"/>
                        </a:solidFill>
                        <a:latin typeface="Cambria Math" panose="02040503050406030204" pitchFamily="18" charset="0"/>
                        <a:ea typeface="Source Sans Pro" panose="020B0503030403020204" pitchFamily="34" charset="0"/>
                      </a:rPr>
                      <m:t>log</m:t>
                    </m:r>
                    <m:r>
                      <a:rPr lang="en-US" altLang="zh-CN" sz="1200" b="1" i="1" dirty="0" smtClean="0">
                        <a:solidFill>
                          <a:schemeClr val="tx1"/>
                        </a:solidFill>
                        <a:latin typeface="Cambria Math" panose="02040503050406030204" pitchFamily="18" charset="0"/>
                        <a:ea typeface="Source Sans Pro" panose="020B0503030403020204" pitchFamily="34" charset="0"/>
                      </a:rPr>
                      <m:t>⁡</m:t>
                    </m:r>
                    <m:r>
                      <a:rPr lang="en-US" altLang="zh-CN" sz="1200" b="1" i="1" dirty="0" smtClean="0">
                        <a:solidFill>
                          <a:schemeClr val="tx1"/>
                        </a:solidFill>
                        <a:latin typeface="Cambria Math" panose="02040503050406030204" pitchFamily="18" charset="0"/>
                        <a:ea typeface="Source Sans Pro" panose="020B0503030403020204" pitchFamily="34" charset="0"/>
                      </a:rPr>
                      <m:t>𝒏</m:t>
                    </m:r>
                  </m:oMath>
                </a14:m>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denotes logarithmic running time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b="1" dirty="0">
                    <a:solidFill>
                      <a:schemeClr val="tx1"/>
                    </a:solidFill>
                    <a:latin typeface="Source Sans Pro" panose="020B0503030403020204" pitchFamily="34" charset="0"/>
                    <a:ea typeface="Source Sans Pro" panose="020B0503030403020204" pitchFamily="34" charset="0"/>
                  </a:rPr>
                  <a:t>O(</a:t>
                </a:r>
                <a14:m>
                  <m:oMath xmlns:m="http://schemas.openxmlformats.org/officeDocument/2006/math">
                    <m:r>
                      <a:rPr lang="en-US" altLang="zh-CN" sz="1200" b="1" i="1" dirty="0" smtClean="0">
                        <a:solidFill>
                          <a:schemeClr val="tx1"/>
                        </a:solidFill>
                        <a:latin typeface="Cambria Math" panose="02040503050406030204" pitchFamily="18" charset="0"/>
                        <a:ea typeface="Source Sans Pro" panose="020B0503030403020204" pitchFamily="34" charset="0"/>
                      </a:rPr>
                      <m:t>𝒏</m:t>
                    </m:r>
                  </m:oMath>
                </a14:m>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denotes linear running time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b="1" dirty="0">
                    <a:solidFill>
                      <a:schemeClr val="tx1"/>
                    </a:solidFill>
                    <a:latin typeface="Source Sans Pro" panose="020B0503030403020204" pitchFamily="34" charset="0"/>
                    <a:ea typeface="Source Sans Pro" panose="020B0503030403020204" pitchFamily="34" charset="0"/>
                  </a:rPr>
                  <a:t>O(</a:t>
                </a:r>
                <a14:m>
                  <m:oMath xmlns:m="http://schemas.openxmlformats.org/officeDocument/2006/math">
                    <m:r>
                      <a:rPr lang="en-US" altLang="zh-CN" sz="1200" b="1" i="1" dirty="0" smtClean="0">
                        <a:solidFill>
                          <a:schemeClr val="tx1"/>
                        </a:solidFill>
                        <a:latin typeface="Cambria Math" panose="02040503050406030204" pitchFamily="18" charset="0"/>
                        <a:ea typeface="Source Sans Pro" panose="020B0503030403020204" pitchFamily="34" charset="0"/>
                      </a:rPr>
                      <m:t>𝒏</m:t>
                    </m:r>
                    <m:r>
                      <a:rPr lang="en-US" altLang="zh-CN" sz="1200" b="1" i="1" dirty="0" smtClean="0">
                        <a:solidFill>
                          <a:schemeClr val="tx1"/>
                        </a:solidFill>
                        <a:latin typeface="Cambria Math" panose="02040503050406030204" pitchFamily="18" charset="0"/>
                        <a:ea typeface="Source Sans Pro" panose="020B0503030403020204" pitchFamily="34" charset="0"/>
                      </a:rPr>
                      <m:t> </m:t>
                    </m:r>
                    <m:r>
                      <m:rPr>
                        <m:sty m:val="p"/>
                      </m:rPr>
                      <a:rPr lang="en-US" altLang="zh-CN" sz="1200" b="1" i="1" dirty="0" smtClean="0">
                        <a:solidFill>
                          <a:schemeClr val="tx1"/>
                        </a:solidFill>
                        <a:latin typeface="Cambria Math" panose="02040503050406030204" pitchFamily="18" charset="0"/>
                        <a:ea typeface="Source Sans Pro" panose="020B0503030403020204" pitchFamily="34" charset="0"/>
                      </a:rPr>
                      <m:t>log</m:t>
                    </m:r>
                    <m:r>
                      <a:rPr lang="en-US" altLang="zh-CN" sz="1200" b="1" i="1" dirty="0" smtClean="0">
                        <a:solidFill>
                          <a:schemeClr val="tx1"/>
                        </a:solidFill>
                        <a:latin typeface="Cambria Math" panose="02040503050406030204" pitchFamily="18" charset="0"/>
                        <a:ea typeface="Source Sans Pro" panose="020B0503030403020204" pitchFamily="34" charset="0"/>
                      </a:rPr>
                      <m:t>⁡</m:t>
                    </m:r>
                    <m:r>
                      <a:rPr lang="en-US" altLang="zh-CN" sz="1200" b="1" i="1" dirty="0" smtClean="0">
                        <a:solidFill>
                          <a:schemeClr val="tx1"/>
                        </a:solidFill>
                        <a:latin typeface="Cambria Math" panose="02040503050406030204" pitchFamily="18" charset="0"/>
                        <a:ea typeface="Source Sans Pro" panose="020B0503030403020204" pitchFamily="34" charset="0"/>
                      </a:rPr>
                      <m:t>𝒏</m:t>
                    </m:r>
                  </m:oMath>
                </a14:m>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denotes log-linear running time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b="1" dirty="0">
                    <a:solidFill>
                      <a:schemeClr val="tx1"/>
                    </a:solidFill>
                    <a:latin typeface="Source Sans Pro" panose="020B0503030403020204" pitchFamily="34" charset="0"/>
                    <a:ea typeface="Source Sans Pro" panose="020B0503030403020204" pitchFamily="34" charset="0"/>
                  </a:rPr>
                  <a:t>O(</a:t>
                </a:r>
                <a14:m>
                  <m:oMath xmlns:m="http://schemas.openxmlformats.org/officeDocument/2006/math">
                    <m:sSup>
                      <m:sSupPr>
                        <m:ctrlPr>
                          <a:rPr lang="en-US" altLang="zh-CN" sz="1200" b="1" i="1" dirty="0" smtClean="0">
                            <a:solidFill>
                              <a:schemeClr val="tx1"/>
                            </a:solidFill>
                            <a:latin typeface="Cambria Math" panose="02040503050406030204" pitchFamily="18" charset="0"/>
                            <a:ea typeface="Source Sans Pro" panose="020B0503030403020204" pitchFamily="34" charset="0"/>
                          </a:rPr>
                        </m:ctrlPr>
                      </m:sSupPr>
                      <m:e>
                        <m:r>
                          <a:rPr lang="en-US" altLang="zh-CN" sz="1200" b="1" i="1" dirty="0" smtClean="0">
                            <a:solidFill>
                              <a:schemeClr val="tx1"/>
                            </a:solidFill>
                            <a:latin typeface="Cambria Math" panose="02040503050406030204" pitchFamily="18" charset="0"/>
                            <a:ea typeface="Source Sans Pro" panose="020B0503030403020204" pitchFamily="34" charset="0"/>
                          </a:rPr>
                          <m:t>𝒏</m:t>
                        </m:r>
                      </m:e>
                      <m:sup>
                        <m:r>
                          <a:rPr lang="en-US" altLang="zh-CN" sz="1200" b="1" i="1" dirty="0" smtClean="0">
                            <a:solidFill>
                              <a:schemeClr val="tx1"/>
                            </a:solidFill>
                            <a:latin typeface="Cambria Math" panose="02040503050406030204" pitchFamily="18" charset="0"/>
                            <a:ea typeface="Source Sans Pro" panose="020B0503030403020204" pitchFamily="34" charset="0"/>
                          </a:rPr>
                          <m:t>𝒌</m:t>
                        </m:r>
                      </m:sup>
                    </m:sSup>
                  </m:oMath>
                </a14:m>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denotes polynomial running time. Notice that k is a constant</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b="1" dirty="0">
                    <a:solidFill>
                      <a:schemeClr val="tx1"/>
                    </a:solidFill>
                    <a:latin typeface="Source Sans Pro" panose="020B0503030403020204" pitchFamily="34" charset="0"/>
                    <a:ea typeface="Source Sans Pro" panose="020B0503030403020204" pitchFamily="34" charset="0"/>
                  </a:rPr>
                  <a:t>O(</a:t>
                </a:r>
                <a14:m>
                  <m:oMath xmlns:m="http://schemas.openxmlformats.org/officeDocument/2006/math">
                    <m:sSup>
                      <m:sSupPr>
                        <m:ctrlPr>
                          <a:rPr lang="en-US" altLang="zh-CN" sz="1200" b="1" i="1" dirty="0" smtClean="0">
                            <a:solidFill>
                              <a:schemeClr val="tx1"/>
                            </a:solidFill>
                            <a:latin typeface="Cambria Math" panose="02040503050406030204" pitchFamily="18" charset="0"/>
                            <a:ea typeface="Source Sans Pro" panose="020B0503030403020204" pitchFamily="34" charset="0"/>
                          </a:rPr>
                        </m:ctrlPr>
                      </m:sSupPr>
                      <m:e>
                        <m:r>
                          <a:rPr lang="en-US" altLang="zh-CN" sz="1200" b="1" i="1" dirty="0" smtClean="0">
                            <a:solidFill>
                              <a:schemeClr val="tx1"/>
                            </a:solidFill>
                            <a:latin typeface="Cambria Math" panose="02040503050406030204" pitchFamily="18" charset="0"/>
                            <a:ea typeface="Source Sans Pro" panose="020B0503030403020204" pitchFamily="34" charset="0"/>
                          </a:rPr>
                          <m:t>𝒄</m:t>
                        </m:r>
                      </m:e>
                      <m:sup>
                        <m:r>
                          <a:rPr lang="en-US" altLang="zh-CN" sz="1200" b="1" i="1" dirty="0" smtClean="0">
                            <a:solidFill>
                              <a:schemeClr val="tx1"/>
                            </a:solidFill>
                            <a:latin typeface="Cambria Math" panose="02040503050406030204" pitchFamily="18" charset="0"/>
                            <a:ea typeface="Source Sans Pro" panose="020B0503030403020204" pitchFamily="34" charset="0"/>
                          </a:rPr>
                          <m:t>𝒏</m:t>
                        </m:r>
                      </m:sup>
                    </m:sSup>
                  </m:oMath>
                </a14:m>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denotes exponential running time. Here a constant is being raised to a power based on the size of the input</a:t>
                </a:r>
                <a:endParaRPr lang="en-US" altLang="zh-CN" sz="1200" dirty="0">
                  <a:solidFill>
                    <a:schemeClr val="bg2"/>
                  </a:solidFill>
                  <a:latin typeface="Source Sans Pro" panose="020B0503030403020204" pitchFamily="34" charset="0"/>
                  <a:ea typeface="Source Sans Pro" panose="020B0503030403020204" pitchFamily="34" charset="0"/>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311700" y="1152474"/>
                <a:ext cx="8520600" cy="3034515"/>
              </a:xfrm>
              <a:blipFill rotWithShape="1">
                <a:blip r:embed="rId1"/>
                <a:stretch>
                  <a:fillRect l="-6" t="-19" r="1" b="14"/>
                </a:stretch>
              </a:blipFill>
            </p:spPr>
            <p:txBody>
              <a:bodyPr/>
              <a:lstStyle/>
              <a:p>
                <a:r>
                  <a:rPr lang="zh-CN" altLang="en-US">
                    <a:noFill/>
                  </a:rPr>
                  <a:t> </a:t>
                </a:r>
              </a:p>
            </p:txBody>
          </p:sp>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Asymptotic Notation: </a:t>
            </a:r>
            <a:r>
              <a:rPr lang="en-US" altLang="zh-CN" dirty="0">
                <a:solidFill>
                  <a:schemeClr val="tx1"/>
                </a:solidFill>
                <a:latin typeface="Raleway" pitchFamily="34" charset="0"/>
                <a:ea typeface="Source Sans Pro" panose="020B0503030403020204" pitchFamily="34" charset="0"/>
              </a:rPr>
              <a:t>Summary</a:t>
            </a:r>
            <a:endParaRPr lang="en-US" altLang="zh-CN" dirty="0">
              <a:solidFill>
                <a:schemeClr val="tx1"/>
              </a:solidFill>
              <a:latin typeface="Raleway" pitchFamily="34" charset="0"/>
              <a:ea typeface="Source Sans Pro" panose="020B0503030403020204" pitchFamily="34" charset="0"/>
            </a:endParaRPr>
          </a:p>
        </p:txBody>
      </p:sp>
      <p:sp>
        <p:nvSpPr>
          <p:cNvPr id="6" name="文本占位符 2"/>
          <p:cNvSpPr txBox="1"/>
          <p:nvPr/>
        </p:nvSpPr>
        <p:spPr>
          <a:xfrm>
            <a:off x="311700" y="1282075"/>
            <a:ext cx="8520600" cy="34164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panose="020B0503030403020204"/>
              <a:buChar char="●"/>
              <a:defRPr sz="18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marR="0" lvl="1"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marR="0" lvl="2"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marR="0" lvl="3"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marR="0" lvl="4"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marR="0" lvl="5"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marR="0" lvl="6"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marR="0" lvl="7"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marR="0" lvl="8"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Not real time consumed by algorithms</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Time approximated by steps.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If the size of input is large enough, asymptotic time complexity is accurate to compare the time complexity of algorithms</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Understand time complexity is the foundation of computer science and engineering</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From now on, when you write a program, you should be Very </a:t>
            </a:r>
            <a:r>
              <a:rPr lang="en-US" altLang="zh-CN" sz="1400" dirty="0" err="1">
                <a:solidFill>
                  <a:schemeClr val="bg2"/>
                </a:solidFill>
                <a:latin typeface="Source Sans Pro" panose="020B0503030403020204" pitchFamily="34" charset="0"/>
                <a:ea typeface="Source Sans Pro" panose="020B0503030403020204" pitchFamily="34" charset="0"/>
              </a:rPr>
              <a:t>Very</a:t>
            </a:r>
            <a:r>
              <a:rPr lang="en-US" altLang="zh-CN" sz="1400" dirty="0">
                <a:solidFill>
                  <a:schemeClr val="bg2"/>
                </a:solidFill>
                <a:latin typeface="Source Sans Pro" panose="020B0503030403020204" pitchFamily="34" charset="0"/>
                <a:ea typeface="Source Sans Pro" panose="020B0503030403020204" pitchFamily="34" charset="0"/>
              </a:rPr>
              <a:t> sensitive to the time complexity of your algorithm </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Complexity in Python statement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2182717"/>
            <a:ext cx="8520600" cy="2856493"/>
          </a:xfrm>
        </p:spPr>
        <p:txBody>
          <a:bodyPr numCol="2">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 +, -, *, /, //, %, +=, -/=…,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&gt;=, &gt;, &lt;=, &lt;, ==,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not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if…</a:t>
            </a:r>
            <a:r>
              <a:rPr lang="en-US" altLang="zh-CN" sz="1400" dirty="0" err="1">
                <a:solidFill>
                  <a:schemeClr val="bg2"/>
                </a:solidFill>
                <a:latin typeface="Source Sans Pro" panose="020B0503030403020204" pitchFamily="34" charset="0"/>
                <a:ea typeface="Source Sans Pro" panose="020B0503030403020204" pitchFamily="34" charset="0"/>
              </a:rPr>
              <a:t>elif</a:t>
            </a:r>
            <a:r>
              <a:rPr lang="en-US" altLang="zh-CN" sz="1400" dirty="0">
                <a:solidFill>
                  <a:schemeClr val="bg2"/>
                </a:solidFill>
                <a:latin typeface="Source Sans Pro" panose="020B0503030403020204" pitchFamily="34" charset="0"/>
                <a:ea typeface="Source Sans Pro" panose="020B0503030403020204" pitchFamily="34" charset="0"/>
              </a:rPr>
              <a:t>…else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print(), input(): </a:t>
            </a:r>
            <a:r>
              <a:rPr lang="zh-CN" altLang="en-US" sz="1400" dirty="0">
                <a:solidFill>
                  <a:schemeClr val="bg2"/>
                </a:solidFill>
                <a:latin typeface="黑体" panose="02010609060101010101" pitchFamily="49" charset="-122"/>
                <a:ea typeface="黑体" panose="02010609060101010101" pitchFamily="49" charset="-122"/>
              </a:rPr>
              <a:t>取决于输入类型的长度</a:t>
            </a:r>
            <a:r>
              <a:rPr lang="en-US" altLang="zh-CN" sz="1400" dirty="0">
                <a:solidFill>
                  <a:schemeClr val="bg2"/>
                </a:solidFill>
                <a:latin typeface="黑体" panose="02010609060101010101" pitchFamily="49" charset="-122"/>
                <a:ea typeface="黑体" panose="02010609060101010101" pitchFamily="49" charset="-122"/>
              </a:rPr>
              <a:t>. </a:t>
            </a:r>
            <a:r>
              <a:rPr lang="zh-CN" altLang="en-US" sz="1400" dirty="0">
                <a:solidFill>
                  <a:schemeClr val="bg2"/>
                </a:solidFill>
                <a:latin typeface="黑体" panose="02010609060101010101" pitchFamily="49" charset="-122"/>
                <a:ea typeface="黑体" panose="02010609060101010101" pitchFamily="49" charset="-122"/>
              </a:rPr>
              <a:t>一般是</a:t>
            </a:r>
            <a:r>
              <a:rPr lang="en-US" altLang="zh-CN" sz="1400" dirty="0">
                <a:solidFill>
                  <a:schemeClr val="bg2"/>
                </a:solidFill>
                <a:latin typeface="Source Sans Pro" panose="020B0503030403020204" pitchFamily="34" charset="0"/>
                <a:ea typeface="Source Sans Pro" panose="020B0503030403020204" pitchFamily="34" charset="0"/>
              </a:rPr>
              <a:t>O(1)</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math.sin</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math.cos</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return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黑体" panose="02010609060101010101" pitchFamily="49" charset="-122"/>
                <a:ea typeface="黑体" panose="02010609060101010101" pitchFamily="49" charset="-122"/>
              </a:rPr>
              <a:t>复杂语法由其定义决定</a:t>
            </a:r>
            <a:endParaRPr lang="zh-CN" altLang="en-US" sz="1400" dirty="0">
              <a:solidFill>
                <a:schemeClr val="bg2"/>
              </a:solidFill>
              <a:latin typeface="黑体" panose="02010609060101010101" pitchFamily="49" charset="-122"/>
              <a:ea typeface="黑体" panose="02010609060101010101" pitchFamily="49" charset="-122"/>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while()</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for()</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zh-CN" altLang="en-US" sz="1200" dirty="0">
                <a:solidFill>
                  <a:schemeClr val="bg2"/>
                </a:solidFill>
                <a:latin typeface="Source Sans Pro" panose="020B0503030403020204" pitchFamily="34" charset="0"/>
                <a:ea typeface="Source Sans Pro" panose="020B0503030403020204" pitchFamily="34" charset="0"/>
              </a:rPr>
              <a:t>自定义类、函数</a:t>
            </a:r>
            <a:r>
              <a:rPr lang="en-US" altLang="zh-CN" sz="1200" dirty="0">
                <a:solidFill>
                  <a:schemeClr val="bg2"/>
                </a:solidFill>
                <a:latin typeface="Source Sans Pro" panose="020B0503030403020204" pitchFamily="34" charset="0"/>
                <a:ea typeface="Source Sans Pro" panose="020B0503030403020204" pitchFamily="34" charset="0"/>
              </a:rPr>
              <a:t>def f():</a:t>
            </a: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4" name="TextBox 6"/>
              <p:cNvSpPr txBox="1"/>
              <p:nvPr/>
            </p:nvSpPr>
            <p:spPr>
              <a:xfrm>
                <a:off x="862778" y="1068425"/>
                <a:ext cx="7418443" cy="1111010"/>
              </a:xfrm>
              <a:prstGeom prst="rect">
                <a:avLst/>
              </a:prstGeom>
              <a:ln w="19050">
                <a:noFill/>
              </a:ln>
            </p:spPr>
            <p:style>
              <a:lnRef idx="2">
                <a:schemeClr val="dk1"/>
              </a:lnRef>
              <a:fillRef idx="1">
                <a:schemeClr val="lt1"/>
              </a:fillRef>
              <a:effectRef idx="0">
                <a:schemeClr val="dk1"/>
              </a:effectRef>
              <a:fontRef idx="minor">
                <a:schemeClr val="dk1"/>
              </a:fontRef>
            </p:style>
            <p:txBody>
              <a:bodyPr wrap="square">
                <a:spAutoFit/>
              </a:bodyPr>
              <a:lstStyle/>
              <a:p>
                <a:pPr marL="457200" indent="-342900">
                  <a:lnSpc>
                    <a:spcPct val="120000"/>
                  </a:lnSpc>
                  <a:buClr>
                    <a:schemeClr val="lt2"/>
                  </a:buClr>
                  <a:buSzPts val="1800"/>
                  <a:buFont typeface="Source Sans Pro" panose="020B0503030403020204"/>
                  <a:buChar char="●"/>
                </a:pPr>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要根据操作数是数</a:t>
                </a:r>
                <a:r>
                  <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rPr>
                  <a:t>, </a:t>
                </a:r>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字符串判断或者是自定义类型判断</a:t>
                </a:r>
                <a:endPar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endParaRPr>
              </a:p>
              <a:p>
                <a:pPr marL="457200" indent="-342900">
                  <a:lnSpc>
                    <a:spcPct val="120000"/>
                  </a:lnSpc>
                  <a:buClr>
                    <a:schemeClr val="lt2"/>
                  </a:buClr>
                  <a:buSzPts val="1800"/>
                  <a:buFont typeface="Source Sans Pro" panose="020B0503030403020204"/>
                  <a:buChar char="●"/>
                </a:pPr>
                <a:r>
                  <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rPr>
                  <a:t>Python</a:t>
                </a:r>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的基本数据类型没有范围限制，可以为无穷长</a:t>
                </a:r>
                <a:endPar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endParaRPr>
              </a:p>
              <a:p>
                <a:pPr marL="457200" indent="-342900">
                  <a:lnSpc>
                    <a:spcPct val="120000"/>
                  </a:lnSpc>
                  <a:buClr>
                    <a:schemeClr val="lt2"/>
                  </a:buClr>
                  <a:buSzPts val="1800"/>
                  <a:buFont typeface="Source Sans Pro" panose="020B0503030403020204"/>
                  <a:buChar char="●"/>
                </a:pPr>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小规模的数可以看作</a:t>
                </a:r>
                <a:r>
                  <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rPr>
                  <a:t>O(1): </a:t>
                </a:r>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小规模 </a:t>
                </a:r>
                <a14:m>
                  <m:oMath xmlns:m="http://schemas.openxmlformats.org/officeDocument/2006/math">
                    <m:sSup>
                      <m:sSupPr>
                        <m:ctrlPr>
                          <a:rPr lang="en-US" altLang="zh-CN" i="1" dirty="0">
                            <a:solidFill>
                              <a:schemeClr val="tx1"/>
                            </a:solidFill>
                            <a:latin typeface="Cambria Math" panose="02040503050406030204" pitchFamily="18" charset="0"/>
                            <a:sym typeface="Source Sans Pro" panose="020B0503030403020204"/>
                          </a:rPr>
                        </m:ctrlPr>
                      </m:sSupPr>
                      <m:e>
                        <m:r>
                          <a:rPr lang="en-US" altLang="zh-CN" dirty="0">
                            <a:solidFill>
                              <a:schemeClr val="tx1"/>
                            </a:solidFill>
                            <a:latin typeface="Cambria Math" panose="02040503050406030204" pitchFamily="18" charset="0"/>
                            <a:sym typeface="Source Sans Pro" panose="020B0503030403020204"/>
                          </a:rPr>
                          <m:t>−</m:t>
                        </m:r>
                        <m:r>
                          <a:rPr lang="en-US" altLang="zh-CN" dirty="0">
                            <a:solidFill>
                              <a:schemeClr val="tx1"/>
                            </a:solidFill>
                            <a:latin typeface="Cambria Math" panose="02040503050406030204" pitchFamily="18" charset="0"/>
                            <a:sym typeface="Source Sans Pro" panose="020B0503030403020204"/>
                          </a:rPr>
                          <m:t>2</m:t>
                        </m:r>
                      </m:e>
                      <m:sup>
                        <m:r>
                          <a:rPr lang="en-US" altLang="zh-CN" dirty="0">
                            <a:solidFill>
                              <a:schemeClr val="tx1"/>
                            </a:solidFill>
                            <a:latin typeface="Cambria Math" panose="02040503050406030204" pitchFamily="18" charset="0"/>
                            <a:sym typeface="Source Sans Pro" panose="020B0503030403020204"/>
                          </a:rPr>
                          <m:t>64</m:t>
                        </m:r>
                      </m:sup>
                    </m:sSup>
                    <m:r>
                      <a:rPr lang="en-US" altLang="zh-CN" dirty="0">
                        <a:solidFill>
                          <a:schemeClr val="tx1"/>
                        </a:solidFill>
                        <a:latin typeface="Cambria Math" panose="02040503050406030204" pitchFamily="18" charset="0"/>
                        <a:sym typeface="Source Sans Pro" panose="020B0503030403020204"/>
                      </a:rPr>
                      <m:t>∼</m:t>
                    </m:r>
                    <m:sSup>
                      <m:sSupPr>
                        <m:ctrlPr>
                          <a:rPr lang="en-US" altLang="zh-CN" i="1" dirty="0">
                            <a:solidFill>
                              <a:schemeClr val="tx1"/>
                            </a:solidFill>
                            <a:latin typeface="Cambria Math" panose="02040503050406030204" pitchFamily="18" charset="0"/>
                            <a:sym typeface="Source Sans Pro" panose="020B0503030403020204"/>
                          </a:rPr>
                        </m:ctrlPr>
                      </m:sSupPr>
                      <m:e>
                        <m:r>
                          <a:rPr lang="en-US" altLang="zh-CN" dirty="0">
                            <a:solidFill>
                              <a:schemeClr val="tx1"/>
                            </a:solidFill>
                            <a:latin typeface="Cambria Math" panose="02040503050406030204" pitchFamily="18" charset="0"/>
                            <a:sym typeface="Source Sans Pro" panose="020B0503030403020204"/>
                          </a:rPr>
                          <m:t>2</m:t>
                        </m:r>
                      </m:e>
                      <m:sup>
                        <m:r>
                          <a:rPr lang="en-US" altLang="zh-CN" dirty="0">
                            <a:solidFill>
                              <a:schemeClr val="tx1"/>
                            </a:solidFill>
                            <a:latin typeface="Cambria Math" panose="02040503050406030204" pitchFamily="18" charset="0"/>
                            <a:sym typeface="Source Sans Pro" panose="020B0503030403020204"/>
                          </a:rPr>
                          <m:t>64</m:t>
                        </m:r>
                      </m:sup>
                    </m:sSup>
                  </m:oMath>
                </a14:m>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；如果超过这个范围，要特别对待</a:t>
                </a:r>
                <a:endPar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endParaRPr>
              </a:p>
              <a:p>
                <a:pPr marL="457200" indent="-342900">
                  <a:lnSpc>
                    <a:spcPct val="120000"/>
                  </a:lnSpc>
                  <a:buClr>
                    <a:schemeClr val="lt2"/>
                  </a:buClr>
                  <a:buSzPts val="1800"/>
                  <a:buFont typeface="Source Sans Pro" panose="020B0503030403020204"/>
                  <a:buChar char="●"/>
                </a:pPr>
                <a:r>
                  <a:rPr lang="zh-CN" altLang="en-US" dirty="0">
                    <a:solidFill>
                      <a:schemeClr val="tx1"/>
                    </a:solidFill>
                    <a:latin typeface="Source Sans Pro" panose="020B0503030403020204" pitchFamily="34" charset="0"/>
                    <a:ea typeface="黑体" panose="02010609060101010101" pitchFamily="49" charset="-122"/>
                    <a:sym typeface="Source Sans Pro" panose="020B0503030403020204"/>
                  </a:rPr>
                  <a:t>字符串和数一样，短字符串可以看做</a:t>
                </a:r>
                <a:r>
                  <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rPr>
                  <a:t>O(1)</a:t>
                </a:r>
                <a:endParaRPr lang="en-US" altLang="zh-CN" dirty="0">
                  <a:solidFill>
                    <a:schemeClr val="tx1"/>
                  </a:solidFill>
                  <a:latin typeface="Source Sans Pro" panose="020B0503030403020204" pitchFamily="34" charset="0"/>
                  <a:ea typeface="Source Sans Pro" panose="020B0503030403020204" pitchFamily="34" charset="0"/>
                  <a:sym typeface="Source Sans Pro" panose="020B0503030403020204"/>
                </a:endParaRPr>
              </a:p>
            </p:txBody>
          </p:sp>
        </mc:Choice>
        <mc:Fallback>
          <p:sp>
            <p:nvSpPr>
              <p:cNvPr id="4" name="TextBox 6"/>
              <p:cNvSpPr txBox="1">
                <a:spLocks noRot="1" noChangeAspect="1" noMove="1" noResize="1" noEditPoints="1" noAdjustHandles="1" noChangeArrowheads="1" noChangeShapeType="1" noTextEdit="1"/>
              </p:cNvSpPr>
              <p:nvPr/>
            </p:nvSpPr>
            <p:spPr>
              <a:xfrm>
                <a:off x="862778" y="1068425"/>
                <a:ext cx="7418443" cy="1111010"/>
              </a:xfrm>
              <a:prstGeom prst="rect">
                <a:avLst/>
              </a:prstGeom>
              <a:blipFill rotWithShape="1">
                <a:blip r:embed="rId1"/>
                <a:stretch>
                  <a:fillRect l="-6" t="-32" r="3" b="10"/>
                </a:stretch>
              </a:blipFill>
              <a:ln w="19050">
                <a:noFill/>
              </a:ln>
            </p:spPr>
            <p:style>
              <a:lnRef idx="2">
                <a:schemeClr val="dk1"/>
              </a:lnRef>
              <a:fillRef idx="1">
                <a:schemeClr val="lt1"/>
              </a:fillRef>
              <a:effectRef idx="0">
                <a:schemeClr val="dk1"/>
              </a:effectRef>
              <a:fontRef idx="minor">
                <a:schemeClr val="dk1"/>
              </a:fontRef>
            </p:style>
            <p:txBody>
              <a:bodyPr/>
              <a:lstStyle/>
              <a:p>
                <a:r>
                  <a:rPr lang="zh-CN" alt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396257"/>
            <a:ext cx="8520600" cy="623400"/>
          </a:xfrm>
        </p:spPr>
        <p:txBody>
          <a:bodyPr>
            <a:normAutofit fontScale="90000"/>
          </a:bodyPr>
          <a:lstStyle/>
          <a:p>
            <a:r>
              <a:rPr lang="en-US" altLang="zh-CN" dirty="0">
                <a:latin typeface="Raleway" pitchFamily="34" charset="0"/>
                <a:ea typeface="Source Sans Pro" panose="020B0503030403020204" pitchFamily="34" charset="0"/>
              </a:rPr>
              <a:t>High Precision (</a:t>
            </a:r>
            <a:r>
              <a:rPr lang="zh-CN" altLang="en-US" dirty="0">
                <a:latin typeface="Raleway" pitchFamily="34" charset="0"/>
                <a:ea typeface="Source Sans Pro" panose="020B0503030403020204" pitchFamily="34" charset="0"/>
              </a:rPr>
              <a:t>高精度</a:t>
            </a:r>
            <a:r>
              <a:rPr lang="en-US" altLang="zh-CN" dirty="0">
                <a:latin typeface="Raleway" pitchFamily="34" charset="0"/>
                <a:ea typeface="Source Sans Pro" panose="020B0503030403020204" pitchFamily="34" charset="0"/>
              </a:rPr>
              <a:t>)</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txBox="1"/>
              <p:nvPr/>
            </p:nvSpPr>
            <p:spPr>
              <a:xfrm>
                <a:off x="311700" y="1205345"/>
                <a:ext cx="8520600" cy="349312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panose="020B0503030403020204"/>
                  <a:buChar char="●"/>
                  <a:defRPr sz="18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marR="0" lvl="1"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marR="0" lvl="2"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marR="0" lvl="3"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marR="0" lvl="4"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marR="0" lvl="5"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marR="0" lvl="6"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marR="0" lvl="7"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marR="0" lvl="8"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遇到</a:t>
                </a:r>
                <a:r>
                  <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rPr>
                  <a:t>python</a:t>
                </a: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的</a:t>
                </a:r>
                <a:r>
                  <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rPr>
                  <a:t>+, - </a:t>
                </a: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等要注意整数的大小，才能确定复杂度</a:t>
                </a:r>
                <a:endPar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rPr>
                  <a:t>Operating system: 32 bits, 64bits</a:t>
                </a:r>
                <a:endPar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一般情况下，一个整数的范围 </a:t>
                </a:r>
                <a14:m>
                  <m:oMath xmlns:m="http://schemas.openxmlformats.org/officeDocument/2006/math">
                    <m:r>
                      <a:rPr lang="en-US" altLang="zh-CN" sz="1400" i="1" dirty="0" smtClean="0">
                        <a:solidFill>
                          <a:schemeClr val="bg2"/>
                        </a:solidFill>
                        <a:latin typeface="Cambria Math" panose="02040503050406030204" pitchFamily="18" charset="0"/>
                        <a:ea typeface="Source Sans Pro" panose="020B0503030403020204" pitchFamily="34" charset="0"/>
                      </a:rPr>
                      <m:t>−</m:t>
                    </m:r>
                    <m:sSup>
                      <m:sSupPr>
                        <m:ctrlPr>
                          <a:rPr lang="en-US" altLang="zh-CN" sz="1400" i="1" dirty="0" smtClean="0">
                            <a:solidFill>
                              <a:schemeClr val="bg2"/>
                            </a:solidFill>
                            <a:latin typeface="Cambria Math" panose="02040503050406030204" pitchFamily="18" charset="0"/>
                            <a:ea typeface="Source Sans Pro" panose="020B0503030403020204" pitchFamily="34" charset="0"/>
                          </a:rPr>
                        </m:ctrlPr>
                      </m:sSupPr>
                      <m:e>
                        <m:r>
                          <a:rPr lang="en-US" altLang="zh-CN" sz="1400" i="1" dirty="0">
                            <a:solidFill>
                              <a:schemeClr val="bg2"/>
                            </a:solidFill>
                            <a:latin typeface="Cambria Math" panose="02040503050406030204" pitchFamily="18" charset="0"/>
                            <a:ea typeface="Source Sans Pro" panose="020B0503030403020204" pitchFamily="34" charset="0"/>
                          </a:rPr>
                          <m:t>2</m:t>
                        </m:r>
                      </m:e>
                      <m:sup>
                        <m:r>
                          <a:rPr lang="en-US" altLang="zh-CN" sz="1400" i="1" dirty="0" smtClean="0">
                            <a:solidFill>
                              <a:schemeClr val="bg2"/>
                            </a:solidFill>
                            <a:latin typeface="Cambria Math" panose="02040503050406030204" pitchFamily="18" charset="0"/>
                            <a:ea typeface="Source Sans Pro" panose="020B0503030403020204" pitchFamily="34" charset="0"/>
                          </a:rPr>
                          <m:t>32</m:t>
                        </m:r>
                      </m:sup>
                    </m:sSup>
                    <m:r>
                      <a:rPr lang="en-US" altLang="zh-CN" sz="1400" i="1" dirty="0" smtClean="0">
                        <a:solidFill>
                          <a:schemeClr val="bg2"/>
                        </a:solidFill>
                        <a:latin typeface="Cambria Math" panose="02040503050406030204" pitchFamily="18" charset="0"/>
                        <a:ea typeface="Source Sans Pro" panose="020B0503030403020204" pitchFamily="34" charset="0"/>
                      </a:rPr>
                      <m:t>∼</m:t>
                    </m:r>
                    <m:sSup>
                      <m:sSupPr>
                        <m:ctrlPr>
                          <a:rPr lang="en-US" altLang="zh-CN" sz="1400" i="1" dirty="0" smtClean="0">
                            <a:solidFill>
                              <a:schemeClr val="bg2"/>
                            </a:solidFill>
                            <a:latin typeface="Cambria Math" panose="02040503050406030204" pitchFamily="18" charset="0"/>
                            <a:ea typeface="Source Sans Pro" panose="020B0503030403020204" pitchFamily="34" charset="0"/>
                          </a:rPr>
                        </m:ctrlPr>
                      </m:sSupPr>
                      <m:e>
                        <m:r>
                          <a:rPr lang="en-US" altLang="zh-CN" sz="1400" i="1" dirty="0" smtClean="0">
                            <a:solidFill>
                              <a:schemeClr val="bg2"/>
                            </a:solidFill>
                            <a:latin typeface="Cambria Math" panose="02040503050406030204" pitchFamily="18" charset="0"/>
                            <a:ea typeface="Source Sans Pro" panose="020B0503030403020204" pitchFamily="34" charset="0"/>
                          </a:rPr>
                          <m:t>2</m:t>
                        </m:r>
                      </m:e>
                      <m:sup>
                        <m:r>
                          <a:rPr lang="en-US" altLang="zh-CN" sz="1400" i="1" dirty="0" smtClean="0">
                            <a:solidFill>
                              <a:schemeClr val="bg2"/>
                            </a:solidFill>
                            <a:latin typeface="Cambria Math" panose="02040503050406030204" pitchFamily="18" charset="0"/>
                            <a:ea typeface="Source Sans Pro" panose="020B0503030403020204" pitchFamily="34" charset="0"/>
                          </a:rPr>
                          <m:t>32</m:t>
                        </m:r>
                      </m:sup>
                    </m:sSup>
                    <m:r>
                      <a:rPr lang="en-US" altLang="zh-CN" sz="1400" i="1" dirty="0" smtClean="0">
                        <a:solidFill>
                          <a:schemeClr val="bg2"/>
                        </a:solidFill>
                        <a:latin typeface="Cambria Math" panose="02040503050406030204" pitchFamily="18" charset="0"/>
                        <a:ea typeface="Source Sans Pro" panose="020B0503030403020204" pitchFamily="34" charset="0"/>
                      </a:rPr>
                      <m:t> −</m:t>
                    </m:r>
                    <m:sSup>
                      <m:sSupPr>
                        <m:ctrlPr>
                          <a:rPr lang="en-US" altLang="zh-CN" sz="1400" i="1" dirty="0" smtClean="0">
                            <a:solidFill>
                              <a:schemeClr val="bg2"/>
                            </a:solidFill>
                            <a:latin typeface="Cambria Math" panose="02040503050406030204" pitchFamily="18" charset="0"/>
                            <a:ea typeface="Source Sans Pro" panose="020B0503030403020204" pitchFamily="34" charset="0"/>
                          </a:rPr>
                        </m:ctrlPr>
                      </m:sSupPr>
                      <m:e>
                        <m:r>
                          <a:rPr lang="en-US" altLang="zh-CN" sz="1400" i="1" dirty="0" smtClean="0">
                            <a:solidFill>
                              <a:schemeClr val="bg2"/>
                            </a:solidFill>
                            <a:latin typeface="Cambria Math" panose="02040503050406030204" pitchFamily="18" charset="0"/>
                            <a:ea typeface="Source Sans Pro" panose="020B0503030403020204" pitchFamily="34" charset="0"/>
                          </a:rPr>
                          <m:t>2</m:t>
                        </m:r>
                      </m:e>
                      <m:sup>
                        <m:r>
                          <a:rPr lang="en-US" altLang="zh-CN" sz="1400" i="1" dirty="0" smtClean="0">
                            <a:solidFill>
                              <a:schemeClr val="bg2"/>
                            </a:solidFill>
                            <a:latin typeface="Cambria Math" panose="02040503050406030204" pitchFamily="18" charset="0"/>
                            <a:ea typeface="Source Sans Pro" panose="020B0503030403020204" pitchFamily="34" charset="0"/>
                          </a:rPr>
                          <m:t>64</m:t>
                        </m:r>
                      </m:sup>
                    </m:sSup>
                    <m:r>
                      <a:rPr lang="en-US" altLang="zh-CN" sz="1400" i="1" dirty="0" smtClean="0">
                        <a:solidFill>
                          <a:schemeClr val="bg2"/>
                        </a:solidFill>
                        <a:latin typeface="Cambria Math" panose="02040503050406030204" pitchFamily="18" charset="0"/>
                        <a:ea typeface="Source Sans Pro" panose="020B0503030403020204" pitchFamily="34" charset="0"/>
                      </a:rPr>
                      <m:t>∼</m:t>
                    </m:r>
                    <m:sSup>
                      <m:sSupPr>
                        <m:ctrlPr>
                          <a:rPr lang="en-US" altLang="zh-CN" sz="1400" i="1" dirty="0" smtClean="0">
                            <a:solidFill>
                              <a:schemeClr val="bg2"/>
                            </a:solidFill>
                            <a:latin typeface="Cambria Math" panose="02040503050406030204" pitchFamily="18" charset="0"/>
                            <a:ea typeface="Source Sans Pro" panose="020B0503030403020204" pitchFamily="34" charset="0"/>
                          </a:rPr>
                        </m:ctrlPr>
                      </m:sSupPr>
                      <m:e>
                        <m:r>
                          <a:rPr lang="en-US" altLang="zh-CN" sz="1400" i="1" dirty="0" smtClean="0">
                            <a:solidFill>
                              <a:schemeClr val="bg2"/>
                            </a:solidFill>
                            <a:latin typeface="Cambria Math" panose="02040503050406030204" pitchFamily="18" charset="0"/>
                            <a:ea typeface="Source Sans Pro" panose="020B0503030403020204" pitchFamily="34" charset="0"/>
                          </a:rPr>
                          <m:t>2</m:t>
                        </m:r>
                      </m:e>
                      <m:sup>
                        <m:r>
                          <a:rPr lang="en-US" altLang="zh-CN" sz="1400" i="1" dirty="0" smtClean="0">
                            <a:solidFill>
                              <a:schemeClr val="bg2"/>
                            </a:solidFill>
                            <a:latin typeface="Cambria Math" panose="02040503050406030204" pitchFamily="18" charset="0"/>
                            <a:ea typeface="Source Sans Pro" panose="020B0503030403020204" pitchFamily="34" charset="0"/>
                          </a:rPr>
                          <m:t>64</m:t>
                        </m:r>
                      </m:sup>
                    </m:sSup>
                  </m:oMath>
                </a14:m>
                <a:endPar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溢出：整数操作超过了上述范围</a:t>
                </a:r>
                <a:endPar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rPr>
                  <a:t>Python</a:t>
                </a: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整数没有限制，</a:t>
                </a:r>
                <a:r>
                  <a:rPr lang="en-US" altLang="zh-CN" sz="14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rPr>
                  <a:t>±</a:t>
                </a:r>
                <a14:m>
                  <m:oMath xmlns:m="http://schemas.openxmlformats.org/officeDocument/2006/math">
                    <m:sSup>
                      <m:sSupPr>
                        <m:ctrlPr>
                          <a:rPr lang="en-US" altLang="zh-CN" sz="1400" i="1" dirty="0" smtClean="0">
                            <a:solidFill>
                              <a:schemeClr val="bg2"/>
                            </a:solidFill>
                            <a:latin typeface="Cambria Math" panose="02040503050406030204" pitchFamily="18" charset="0"/>
                            <a:ea typeface="Source Sans Pro" panose="020B0503030403020204" pitchFamily="34" charset="0"/>
                          </a:rPr>
                        </m:ctrlPr>
                      </m:sSupPr>
                      <m:e>
                        <m:r>
                          <a:rPr lang="en-US" altLang="zh-CN" sz="1400" i="1" dirty="0" smtClean="0">
                            <a:solidFill>
                              <a:schemeClr val="bg2"/>
                            </a:solidFill>
                            <a:latin typeface="Cambria Math" panose="02040503050406030204" pitchFamily="18" charset="0"/>
                            <a:ea typeface="Source Sans Pro" panose="020B0503030403020204" pitchFamily="34" charset="0"/>
                          </a:rPr>
                          <m:t>2</m:t>
                        </m:r>
                      </m:e>
                      <m:sup>
                        <m:r>
                          <a:rPr lang="en-US" altLang="zh-CN" sz="1400" i="1" dirty="0" smtClean="0">
                            <a:solidFill>
                              <a:schemeClr val="bg2"/>
                            </a:solidFill>
                            <a:latin typeface="Cambria Math" panose="02040503050406030204" pitchFamily="18" charset="0"/>
                            <a:ea typeface="Source Sans Pro" panose="020B0503030403020204" pitchFamily="34" charset="0"/>
                          </a:rPr>
                          <m:t>100000</m:t>
                        </m:r>
                      </m:sup>
                    </m:sSup>
                  </m:oMath>
                </a14:m>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都可以表示</a:t>
                </a:r>
                <a:endPar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列表模拟高精度：</a:t>
                </a:r>
                <a:endParaRPr lang="zh-CN" altLang="en-US" sz="14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用一个列表表示一个任意长度的整数，列表的每一位对应于整数相应位置的数字</a:t>
                </a:r>
                <a:endPar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两个任意长度整数的叫法，通过列表来完成：模拟对位相加，进位等等</a:t>
                </a:r>
                <a:endPar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可以模拟</a:t>
                </a:r>
                <a:r>
                  <a:rPr lang="en-US" altLang="zh-CN" sz="1200" dirty="0">
                    <a:solidFill>
                      <a:schemeClr val="bg2"/>
                    </a:solidFill>
                    <a:latin typeface="Source Sans Pro" panose="020B0503030403020204" pitchFamily="34" charset="0"/>
                    <a:ea typeface="Source Sans Pro" panose="020B0503030403020204" pitchFamily="34" charset="0"/>
                    <a:cs typeface="Times New Roman" panose="02020603050405020304" pitchFamily="18" charset="0"/>
                  </a:rPr>
                  <a:t>+, -, *, /, // </a:t>
                </a:r>
                <a:r>
                  <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rPr>
                  <a:t>等等</a:t>
                </a:r>
                <a:endParaRPr lang="zh-CN" altLang="en-US" sz="1200" dirty="0">
                  <a:solidFill>
                    <a:schemeClr val="bg2"/>
                  </a:solidFill>
                  <a:latin typeface="Source Sans Pro" panose="020B0503030403020204" pitchFamily="34" charset="0"/>
                  <a:ea typeface="黑体" panose="02010609060101010101" pitchFamily="49" charset="-122"/>
                  <a:cs typeface="Times New Roman" panose="02020603050405020304" pitchFamily="18" charset="0"/>
                </a:endParaRPr>
              </a:p>
              <a:p>
                <a:pPr>
                  <a:lnSpc>
                    <a:spcPct val="120000"/>
                  </a:lnSpc>
                </a:pPr>
                <a:endParaRPr lang="zh-CN" altLang="en-US" sz="1400" dirty="0">
                  <a:solidFill>
                    <a:schemeClr val="bg2"/>
                  </a:solidFill>
                  <a:latin typeface="Source Sans Pro" panose="020B0503030403020204" pitchFamily="34" charset="0"/>
                  <a:ea typeface="Source Sans Pro" panose="020B0503030403020204" pitchFamily="34" charset="0"/>
                </a:endParaRPr>
              </a:p>
            </p:txBody>
          </p:sp>
        </mc:Choice>
        <mc:Fallback>
          <p:sp>
            <p:nvSpPr>
              <p:cNvPr id="3" name="文本占位符 2"/>
              <p:cNvSpPr txBox="1">
                <a:spLocks noRot="1" noChangeAspect="1" noMove="1" noResize="1" noEditPoints="1" noAdjustHandles="1" noChangeArrowheads="1" noChangeShapeType="1" noTextEdit="1"/>
              </p:cNvSpPr>
              <p:nvPr/>
            </p:nvSpPr>
            <p:spPr>
              <a:xfrm>
                <a:off x="311700" y="1205345"/>
                <a:ext cx="8520600" cy="3493129"/>
              </a:xfrm>
              <a:prstGeom prst="rect">
                <a:avLst/>
              </a:prstGeom>
              <a:blipFill rotWithShape="1">
                <a:blip r:embed="rId1"/>
                <a:stretch>
                  <a:fillRect l="-6" t="-3" r="1" b="3"/>
                </a:stretch>
              </a:blipFill>
              <a:ln>
                <a:noFill/>
              </a:ln>
            </p:spPr>
            <p:txBody>
              <a:bodyPr/>
              <a:lstStyle/>
              <a:p>
                <a:r>
                  <a:rPr lang="zh-CN" alt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占位符 2"/>
          <p:cNvSpPr>
            <a:spLocks noGrp="1"/>
          </p:cNvSpPr>
          <p:nvPr>
            <p:ph type="body" idx="1"/>
          </p:nvPr>
        </p:nvSpPr>
        <p:spPr>
          <a:xfrm>
            <a:off x="701844" y="369165"/>
            <a:ext cx="2797260" cy="1033235"/>
          </a:xfrm>
        </p:spPr>
        <p:txBody>
          <a:bodyPr>
            <a:noAutofit/>
          </a:bodyPr>
          <a:lstStyle/>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对位相加</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进位</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最高位进位</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11" name="文本占位符 2"/>
          <p:cNvSpPr txBox="1"/>
          <p:nvPr/>
        </p:nvSpPr>
        <p:spPr>
          <a:xfrm>
            <a:off x="7194819" y="2239386"/>
            <a:ext cx="1814362" cy="54712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lt2"/>
              </a:buClr>
              <a:buSzPts val="1800"/>
              <a:buFont typeface="Source Sans Pro" panose="020B0503030403020204"/>
              <a:buChar char="●"/>
              <a:defRPr sz="18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1pPr>
            <a:lvl2pPr marL="914400" marR="0" lvl="1"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2pPr>
            <a:lvl3pPr marL="1371600" marR="0" lvl="2"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3pPr>
            <a:lvl4pPr marL="1828800" marR="0" lvl="3"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4pPr>
            <a:lvl5pPr marL="2286000" marR="0" lvl="4"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5pPr>
            <a:lvl6pPr marL="2743200" marR="0" lvl="5"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6pPr>
            <a:lvl7pPr marL="3200400" marR="0" lvl="6"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7pPr>
            <a:lvl8pPr marL="3657600" marR="0" lvl="7"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8pPr>
            <a:lvl9pPr marL="4114800" marR="0" lvl="8" indent="-317500" algn="l" rtl="0">
              <a:lnSpc>
                <a:spcPct val="115000"/>
              </a:lnSpc>
              <a:spcBef>
                <a:spcPts val="0"/>
              </a:spcBef>
              <a:spcAft>
                <a:spcPts val="0"/>
              </a:spcAft>
              <a:buClr>
                <a:schemeClr val="lt2"/>
              </a:buClr>
              <a:buSzPts val="1400"/>
              <a:buFont typeface="Source Sans Pro" panose="020B0503030403020204"/>
              <a:buChar char="■"/>
              <a:defRPr sz="1400" b="0" i="0" u="none" strike="noStrike" cap="none">
                <a:solidFill>
                  <a:schemeClr val="lt2"/>
                </a:solidFill>
                <a:latin typeface="Source Sans Pro" panose="020B0503030403020204"/>
                <a:ea typeface="Source Sans Pro" panose="020B0503030403020204"/>
                <a:cs typeface="Source Sans Pro" panose="020B0503030403020204"/>
                <a:sym typeface="Source Sans Pro" panose="020B0503030403020204"/>
              </a:defRPr>
            </a:lvl9pPr>
          </a:lstStyle>
          <a:p>
            <a:pPr>
              <a:lnSpc>
                <a:spcPct val="120000"/>
              </a:lnSpc>
            </a:pPr>
            <a:r>
              <a:rPr lang="zh-CN" altLang="en-US" sz="1200" dirty="0">
                <a:solidFill>
                  <a:schemeClr val="bg2"/>
                </a:solidFill>
                <a:latin typeface="Source Sans Pro" panose="020B0503030403020204" pitchFamily="34" charset="0"/>
                <a:ea typeface="Source Sans Pro" panose="020B0503030403020204" pitchFamily="34" charset="0"/>
              </a:rPr>
              <a:t>用字符串表示一个大整数</a:t>
            </a:r>
            <a:endParaRPr lang="en-US" altLang="zh-CN" sz="1200" dirty="0">
              <a:solidFill>
                <a:schemeClr val="tx1"/>
              </a:solidFill>
              <a:latin typeface="Source Sans Pro" panose="020B0503030403020204" pitchFamily="34" charset="0"/>
              <a:ea typeface="Source Sans Pro" panose="020B0503030403020204" pitchFamily="34" charset="0"/>
            </a:endParaRPr>
          </a:p>
        </p:txBody>
      </p:sp>
      <p:pic>
        <p:nvPicPr>
          <p:cNvPr id="12" name="Picture 4" descr="A picture containing screen, table, monitor, mounted&#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909950" y="1493433"/>
            <a:ext cx="2880294" cy="2933524"/>
          </a:xfrm>
          <a:prstGeom prst="rect">
            <a:avLst/>
          </a:prstGeom>
        </p:spPr>
      </p:pic>
      <p:sp>
        <p:nvSpPr>
          <p:cNvPr id="14" name="Rectangle 3"/>
          <p:cNvSpPr/>
          <p:nvPr/>
        </p:nvSpPr>
        <p:spPr>
          <a:xfrm>
            <a:off x="3173454" y="369165"/>
            <a:ext cx="984773" cy="1015663"/>
          </a:xfrm>
          <a:prstGeom prst="rect">
            <a:avLst/>
          </a:prstGeom>
          <a:ln w="19050">
            <a:noFill/>
          </a:ln>
        </p:spPr>
        <p:txBody>
          <a:bodyPr wrap="square">
            <a:spAutoFit/>
          </a:bodyPr>
          <a:lstStyle/>
          <a:p>
            <a:pPr>
              <a:lnSpc>
                <a:spcPct val="100000"/>
              </a:lnSpc>
            </a:pPr>
            <a:r>
              <a:rPr lang="en-US" altLang="zh-CN" sz="2000" dirty="0"/>
              <a:t>     987</a:t>
            </a:r>
            <a:endParaRPr lang="en-US" altLang="zh-CN" sz="2000" dirty="0"/>
          </a:p>
          <a:p>
            <a:pPr>
              <a:lnSpc>
                <a:spcPct val="100000"/>
              </a:lnSpc>
            </a:pPr>
            <a:r>
              <a:rPr lang="en-US" altLang="zh-CN" sz="2000" u="sng" dirty="0"/>
              <a:t>+  </a:t>
            </a:r>
            <a:r>
              <a:rPr lang="zh-CN" altLang="en-US" sz="2000" u="sng" dirty="0"/>
              <a:t> </a:t>
            </a:r>
            <a:r>
              <a:rPr lang="en-US" altLang="zh-CN" sz="2000" u="sng" dirty="0"/>
              <a:t>123</a:t>
            </a:r>
            <a:endParaRPr lang="en-US" altLang="zh-CN" sz="2000" u="sng" dirty="0"/>
          </a:p>
          <a:p>
            <a:pPr>
              <a:lnSpc>
                <a:spcPct val="100000"/>
              </a:lnSpc>
            </a:pPr>
            <a:r>
              <a:rPr lang="en-US" altLang="zh-CN" sz="2000" dirty="0"/>
              <a:t>  </a:t>
            </a:r>
            <a:r>
              <a:rPr lang="zh-CN" altLang="en-US" sz="2000" dirty="0"/>
              <a:t> </a:t>
            </a:r>
            <a:r>
              <a:rPr lang="en-US" altLang="zh-CN" sz="2000" dirty="0"/>
              <a:t>1110</a:t>
            </a:r>
            <a:endParaRPr lang="en-US" altLang="zh-CN" sz="2000" dirty="0"/>
          </a:p>
        </p:txBody>
      </p:sp>
      <p:pic>
        <p:nvPicPr>
          <p:cNvPr id="15" name="Picture 6"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85774" y="369165"/>
            <a:ext cx="2699231" cy="1015662"/>
          </a:xfrm>
          <a:prstGeom prst="rect">
            <a:avLst/>
          </a:prstGeom>
        </p:spPr>
      </p:pic>
      <p:pic>
        <p:nvPicPr>
          <p:cNvPr id="16" name="Picture 8" descr="Tex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5773" y="1493433"/>
            <a:ext cx="2236567" cy="2573504"/>
          </a:xfrm>
          <a:prstGeom prst="rect">
            <a:avLst/>
          </a:prstGeom>
        </p:spPr>
      </p:pic>
      <p:pic>
        <p:nvPicPr>
          <p:cNvPr id="17" name="Picture 10" descr="A close up of a keyboard&#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5774" y="4105628"/>
            <a:ext cx="4023407" cy="8470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pow(), **</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311700" y="1152475"/>
                <a:ext cx="4019668" cy="2648792"/>
              </a:xfrm>
            </p:spPr>
            <p:txBody>
              <a:bodyPr>
                <a:noAutofit/>
              </a:bodyPr>
              <a:lstStyle/>
              <a:p>
                <a:pPr marL="342900" indent="-342900">
                  <a:lnSpc>
                    <a:spcPct val="120000"/>
                  </a:lnSpc>
                  <a:buFont typeface="Wingdings" panose="05000000000000000000" pitchFamily="2" charset="2"/>
                  <a:buChar char="l"/>
                </a:pPr>
                <a14:m>
                  <m:oMath xmlns:m="http://schemas.openxmlformats.org/officeDocument/2006/math">
                    <m:sSup>
                      <m:sSupPr>
                        <m:ctrlPr>
                          <a:rPr lang="en-US" altLang="zh-CN" sz="1400" i="1">
                            <a:solidFill>
                              <a:schemeClr val="bg2"/>
                            </a:solidFill>
                            <a:latin typeface="Cambria Math" panose="02040503050406030204" pitchFamily="18" charset="0"/>
                            <a:ea typeface="Source Sans Pro" panose="020B0503030403020204" pitchFamily="34" charset="0"/>
                          </a:rPr>
                        </m:ctrlPr>
                      </m:sSupPr>
                      <m:e>
                        <m:r>
                          <a:rPr lang="en-US" altLang="zh-CN" sz="1400">
                            <a:solidFill>
                              <a:schemeClr val="bg2"/>
                            </a:solidFill>
                            <a:latin typeface="Cambria Math" panose="02040503050406030204" pitchFamily="18" charset="0"/>
                            <a:ea typeface="Source Sans Pro" panose="020B0503030403020204" pitchFamily="34" charset="0"/>
                          </a:rPr>
                          <m:t>𝑎</m:t>
                        </m:r>
                      </m:e>
                      <m:sup>
                        <m:r>
                          <a:rPr lang="en-US" altLang="zh-CN" sz="1400">
                            <a:solidFill>
                              <a:schemeClr val="bg2"/>
                            </a:solidFill>
                            <a:latin typeface="Cambria Math" panose="02040503050406030204" pitchFamily="18" charset="0"/>
                            <a:ea typeface="Source Sans Pro" panose="020B0503030403020204" pitchFamily="34" charset="0"/>
                          </a:rPr>
                          <m:t>𝑥</m:t>
                        </m:r>
                      </m:sup>
                    </m:sSup>
                  </m:oMath>
                </a14:m>
                <a:r>
                  <a:rPr lang="en-US" altLang="zh-CN" sz="1400" dirty="0">
                    <a:solidFill>
                      <a:schemeClr val="bg2"/>
                    </a:solidFill>
                    <a:latin typeface="Source Sans Pro" panose="020B0503030403020204" pitchFamily="34" charset="0"/>
                    <a:ea typeface="Source Sans Pro" panose="020B0503030403020204" pitchFamily="34" charset="0"/>
                  </a:rPr>
                  <a:t>: pow(a, x), a**x</a:t>
                </a:r>
                <a:r>
                  <a:rPr lang="zh-CN" altLang="en-US" sz="1400" dirty="0">
                    <a:solidFill>
                      <a:schemeClr val="bg2"/>
                    </a:solidFill>
                    <a:latin typeface="Source Sans Pro" panose="020B0503030403020204" pitchFamily="34" charset="0"/>
                    <a:ea typeface="黑体" panose="02010609060101010101" pitchFamily="49" charset="-122"/>
                  </a:rPr>
                  <a:t>内部实现一样</a:t>
                </a:r>
                <a:endParaRPr lang="en-US" altLang="zh-CN" sz="1400" dirty="0">
                  <a:solidFill>
                    <a:schemeClr val="bg2"/>
                  </a:solidFill>
                  <a:latin typeface="Source Sans Pro" panose="020B0503030403020204" pitchFamily="34" charset="0"/>
                  <a:ea typeface="Source Sans Pro" panose="020B0503030403020204" pitchFamily="34" charset="0"/>
                </a:endParaRPr>
              </a:p>
              <a:p>
                <a:pPr marL="818515" lvl="1">
                  <a:lnSpc>
                    <a:spcPct val="120000"/>
                  </a:lnSpc>
                  <a:buFont typeface="Wingdings" panose="05000000000000000000" pitchFamily="2" charset="2"/>
                  <a:buChar char="l"/>
                </a:pPr>
                <a14:m>
                  <m:oMath xmlns:m="http://schemas.openxmlformats.org/officeDocument/2006/math">
                    <m:r>
                      <a:rPr lang="en-US" altLang="zh-CN" sz="1200">
                        <a:solidFill>
                          <a:schemeClr val="bg2"/>
                        </a:solidFill>
                        <a:latin typeface="Cambria Math" panose="02040503050406030204" pitchFamily="18" charset="0"/>
                        <a:ea typeface="Source Sans Pro" panose="020B0503030403020204" pitchFamily="34" charset="0"/>
                      </a:rPr>
                      <m:t>𝑥</m:t>
                    </m:r>
                  </m:oMath>
                </a14:m>
                <a:r>
                  <a:rPr lang="en-US" altLang="zh-CN" sz="1200" dirty="0">
                    <a:solidFill>
                      <a:schemeClr val="bg2"/>
                    </a:solidFill>
                    <a:latin typeface="Source Sans Pro" panose="020B0503030403020204" pitchFamily="34" charset="0"/>
                    <a:ea typeface="Source Sans Pro" panose="020B0503030403020204" pitchFamily="34" charset="0"/>
                  </a:rPr>
                  <a:t> </a:t>
                </a:r>
                <a:r>
                  <a:rPr lang="zh-CN" altLang="en-US" sz="1200" dirty="0">
                    <a:solidFill>
                      <a:schemeClr val="bg2"/>
                    </a:solidFill>
                    <a:latin typeface="Source Sans Pro" panose="020B0503030403020204" pitchFamily="34" charset="0"/>
                    <a:ea typeface="黑体" panose="02010609060101010101" pitchFamily="49" charset="-122"/>
                  </a:rPr>
                  <a:t>如果是整数</a:t>
                </a:r>
                <a:r>
                  <a:rPr lang="en-US" altLang="zh-CN" sz="1200" dirty="0">
                    <a:solidFill>
                      <a:schemeClr val="bg2"/>
                    </a:solidFill>
                    <a:latin typeface="Source Sans Pro" panose="020B0503030403020204" pitchFamily="34" charset="0"/>
                    <a:ea typeface="Source Sans Pro" panose="020B0503030403020204" pitchFamily="34" charset="0"/>
                  </a:rPr>
                  <a:t>, </a:t>
                </a:r>
                <a14:m>
                  <m:oMath xmlns:m="http://schemas.openxmlformats.org/officeDocument/2006/math">
                    <m:r>
                      <a:rPr lang="en-US" altLang="zh-CN" sz="1200">
                        <a:solidFill>
                          <a:schemeClr val="bg2"/>
                        </a:solidFill>
                        <a:latin typeface="Cambria Math" panose="02040503050406030204" pitchFamily="18" charset="0"/>
                        <a:ea typeface="Source Sans Pro" panose="020B0503030403020204" pitchFamily="34" charset="0"/>
                      </a:rPr>
                      <m:t>𝑂</m:t>
                    </m:r>
                    <m:r>
                      <a:rPr lang="en-US" altLang="zh-CN" sz="1200">
                        <a:solidFill>
                          <a:schemeClr val="bg2"/>
                        </a:solidFill>
                        <a:latin typeface="Cambria Math" panose="02040503050406030204" pitchFamily="18" charset="0"/>
                        <a:ea typeface="Source Sans Pro" panose="020B0503030403020204" pitchFamily="34" charset="0"/>
                      </a:rPr>
                      <m:t>(</m:t>
                    </m:r>
                    <m:func>
                      <m:funcPr>
                        <m:ctrlPr>
                          <a:rPr lang="en-US" altLang="zh-CN" sz="1200" i="1">
                            <a:solidFill>
                              <a:schemeClr val="bg2"/>
                            </a:solidFill>
                            <a:latin typeface="Cambria Math" panose="02040503050406030204" pitchFamily="18" charset="0"/>
                            <a:ea typeface="Source Sans Pro" panose="020B0503030403020204" pitchFamily="34" charset="0"/>
                          </a:rPr>
                        </m:ctrlPr>
                      </m:funcPr>
                      <m:fName>
                        <m:r>
                          <m:rPr>
                            <m:sty m:val="p"/>
                          </m:rPr>
                          <a:rPr lang="en-US" altLang="zh-CN" sz="1200">
                            <a:solidFill>
                              <a:schemeClr val="bg2"/>
                            </a:solidFill>
                            <a:latin typeface="Cambria Math" panose="02040503050406030204" pitchFamily="18" charset="0"/>
                            <a:ea typeface="Source Sans Pro" panose="020B0503030403020204" pitchFamily="34" charset="0"/>
                          </a:rPr>
                          <m:t>log</m:t>
                        </m:r>
                      </m:fName>
                      <m:e>
                        <m:r>
                          <a:rPr lang="en-US" altLang="zh-CN" sz="1200">
                            <a:solidFill>
                              <a:schemeClr val="bg2"/>
                            </a:solidFill>
                            <a:latin typeface="Cambria Math" panose="02040503050406030204" pitchFamily="18" charset="0"/>
                            <a:ea typeface="Source Sans Pro" panose="020B0503030403020204" pitchFamily="34" charset="0"/>
                          </a:rPr>
                          <m:t>𝑥</m:t>
                        </m:r>
                      </m:e>
                    </m:func>
                    <m:r>
                      <a:rPr lang="en-US" altLang="zh-CN" sz="1200">
                        <a:solidFill>
                          <a:schemeClr val="bg2"/>
                        </a:solidFill>
                        <a:latin typeface="Cambria Math" panose="02040503050406030204" pitchFamily="18" charset="0"/>
                        <a:ea typeface="Source Sans Pro" panose="020B0503030403020204" pitchFamily="34" charset="0"/>
                      </a:rPr>
                      <m:t>)</m:t>
                    </m:r>
                  </m:oMath>
                </a14:m>
                <a:r>
                  <a:rPr lang="zh-CN" altLang="en-US" sz="1200" dirty="0">
                    <a:solidFill>
                      <a:schemeClr val="bg2"/>
                    </a:solidFill>
                    <a:latin typeface="Source Sans Pro" panose="020B0503030403020204" pitchFamily="34" charset="0"/>
                    <a:ea typeface="黑体" panose="02010609060101010101" pitchFamily="49" charset="-122"/>
                  </a:rPr>
                  <a:t>：二分法</a:t>
                </a:r>
                <a:endParaRPr lang="en-US" altLang="zh-CN" sz="1200" dirty="0">
                  <a:solidFill>
                    <a:schemeClr val="bg2"/>
                  </a:solidFill>
                  <a:latin typeface="Source Sans Pro" panose="020B0503030403020204" pitchFamily="34" charset="0"/>
                  <a:ea typeface="Source Sans Pro" panose="020B0503030403020204" pitchFamily="34" charset="0"/>
                </a:endParaRPr>
              </a:p>
              <a:p>
                <a:pPr marL="818515" lvl="1">
                  <a:lnSpc>
                    <a:spcPct val="120000"/>
                  </a:lnSpc>
                  <a:buFont typeface="Wingdings" panose="05000000000000000000" pitchFamily="2" charset="2"/>
                  <a:buChar char="l"/>
                </a:pPr>
                <a:r>
                  <a:rPr lang="zh-CN" altLang="en-US" sz="1200" dirty="0">
                    <a:solidFill>
                      <a:schemeClr val="bg2"/>
                    </a:solidFill>
                    <a:latin typeface="Source Sans Pro" panose="020B0503030403020204" pitchFamily="34" charset="0"/>
                    <a:ea typeface="黑体" panose="02010609060101010101" pitchFamily="49" charset="-122"/>
                  </a:rPr>
                  <a:t>如果</a:t>
                </a:r>
                <a:r>
                  <a:rPr lang="en-US" altLang="zh-CN" sz="1200" dirty="0">
                    <a:solidFill>
                      <a:schemeClr val="bg2"/>
                    </a:solidFill>
                    <a:latin typeface="Source Sans Pro" panose="020B0503030403020204" pitchFamily="34" charset="0"/>
                    <a:ea typeface="Source Sans Pro" panose="020B0503030403020204" pitchFamily="34" charset="0"/>
                  </a:rPr>
                  <a:t>a</a:t>
                </a:r>
                <a:r>
                  <a:rPr lang="zh-CN" altLang="en-US" sz="1200" dirty="0">
                    <a:solidFill>
                      <a:schemeClr val="bg2"/>
                    </a:solidFill>
                    <a:latin typeface="Source Sans Pro" panose="020B0503030403020204" pitchFamily="34" charset="0"/>
                    <a:ea typeface="黑体" panose="02010609060101010101" pitchFamily="49" charset="-122"/>
                  </a:rPr>
                  <a:t>是很大的整数，要考虑</a:t>
                </a:r>
                <a:r>
                  <a:rPr lang="en-US" altLang="zh-CN" sz="1200" dirty="0">
                    <a:solidFill>
                      <a:schemeClr val="bg2"/>
                    </a:solidFill>
                    <a:latin typeface="Source Sans Pro" panose="020B0503030403020204" pitchFamily="34" charset="0"/>
                    <a:ea typeface="Source Sans Pro" panose="020B0503030403020204" pitchFamily="34" charset="0"/>
                  </a:rPr>
                  <a:t>a</a:t>
                </a:r>
                <a:r>
                  <a:rPr lang="zh-CN" altLang="en-US" sz="1200" dirty="0">
                    <a:solidFill>
                      <a:schemeClr val="bg2"/>
                    </a:solidFill>
                    <a:latin typeface="Source Sans Pro" panose="020B0503030403020204" pitchFamily="34" charset="0"/>
                    <a:ea typeface="黑体" panose="02010609060101010101" pitchFamily="49" charset="-122"/>
                  </a:rPr>
                  <a:t>的长度</a:t>
                </a:r>
                <a:endParaRPr lang="en-US" altLang="zh-CN" sz="1200" dirty="0">
                  <a:solidFill>
                    <a:schemeClr val="bg2"/>
                  </a:solidFill>
                  <a:latin typeface="Source Sans Pro" panose="020B0503030403020204" pitchFamily="34" charset="0"/>
                  <a:ea typeface="Source Sans Pro" panose="020B0503030403020204" pitchFamily="34" charset="0"/>
                </a:endParaRPr>
              </a:p>
              <a:p>
                <a:pPr marL="342900" indent="-342900">
                  <a:lnSpc>
                    <a:spcPct val="120000"/>
                  </a:lnSpc>
                  <a:buFont typeface="Wingdings" panose="05000000000000000000" pitchFamily="2" charset="2"/>
                  <a:buChar char="l"/>
                </a:pPr>
                <a:r>
                  <a:rPr lang="en-US" altLang="zh-CN" sz="1400" dirty="0">
                    <a:solidFill>
                      <a:schemeClr val="bg2"/>
                    </a:solidFill>
                    <a:latin typeface="Source Sans Pro" panose="020B0503030403020204" pitchFamily="34" charset="0"/>
                    <a:ea typeface="Source Sans Pro" panose="020B0503030403020204" pitchFamily="34" charset="0"/>
                  </a:rPr>
                  <a:t>pow(a, x, n)</a:t>
                </a:r>
                <a:r>
                  <a:rPr lang="zh-CN" altLang="en-US" sz="1400" dirty="0">
                    <a:solidFill>
                      <a:schemeClr val="bg2"/>
                    </a:solidFill>
                    <a:latin typeface="Source Sans Pro" panose="020B0503030403020204" pitchFamily="34" charset="0"/>
                    <a:ea typeface="黑体" panose="02010609060101010101" pitchFamily="49" charset="-122"/>
                  </a:rPr>
                  <a:t>数学上等于 </a:t>
                </a:r>
                <a14:m>
                  <m:oMath xmlns:m="http://schemas.openxmlformats.org/officeDocument/2006/math">
                    <m:r>
                      <a:rPr lang="en-US" altLang="zh-CN" sz="1400" dirty="0">
                        <a:solidFill>
                          <a:schemeClr val="bg2"/>
                        </a:solidFill>
                        <a:latin typeface="Cambria Math" panose="02040503050406030204" pitchFamily="18" charset="0"/>
                        <a:ea typeface="Source Sans Pro" panose="020B0503030403020204" pitchFamily="34" charset="0"/>
                      </a:rPr>
                      <m:t>𝑎</m:t>
                    </m:r>
                    <m:r>
                      <a:rPr lang="zh-CN" altLang="en-US" sz="1400" dirty="0">
                        <a:solidFill>
                          <a:schemeClr val="bg2"/>
                        </a:solidFill>
                        <a:latin typeface="Cambria Math" panose="02040503050406030204" pitchFamily="18" charset="0"/>
                        <a:ea typeface="Source Sans Pro" panose="020B0503030403020204" pitchFamily="34" charset="0"/>
                      </a:rPr>
                      <m:t>∗∗</m:t>
                    </m:r>
                    <m:r>
                      <a:rPr lang="en-US" altLang="zh-CN" sz="1400" dirty="0" err="1">
                        <a:solidFill>
                          <a:schemeClr val="bg2"/>
                        </a:solidFill>
                        <a:latin typeface="Cambria Math" panose="02040503050406030204" pitchFamily="18" charset="0"/>
                        <a:ea typeface="Source Sans Pro" panose="020B0503030403020204" pitchFamily="34" charset="0"/>
                      </a:rPr>
                      <m:t>𝑥</m:t>
                    </m:r>
                    <m:r>
                      <a:rPr lang="en-US" altLang="zh-CN" sz="1400" dirty="0" err="1">
                        <a:solidFill>
                          <a:schemeClr val="bg2"/>
                        </a:solidFill>
                        <a:latin typeface="Cambria Math" panose="02040503050406030204" pitchFamily="18" charset="0"/>
                        <a:ea typeface="Source Sans Pro" panose="020B0503030403020204" pitchFamily="34" charset="0"/>
                      </a:rPr>
                      <m:t>%</m:t>
                    </m:r>
                    <m:r>
                      <a:rPr lang="en-US" altLang="zh-CN" sz="1400" dirty="0" err="1">
                        <a:solidFill>
                          <a:schemeClr val="bg2"/>
                        </a:solidFill>
                        <a:latin typeface="Cambria Math" panose="02040503050406030204" pitchFamily="18" charset="0"/>
                        <a:ea typeface="Source Sans Pro" panose="020B0503030403020204" pitchFamily="34" charset="0"/>
                      </a:rPr>
                      <m:t>𝑛</m:t>
                    </m:r>
                  </m:oMath>
                </a14:m>
                <a:endParaRPr lang="en-US" altLang="zh-CN" sz="1400" dirty="0">
                  <a:solidFill>
                    <a:schemeClr val="bg2"/>
                  </a:solidFill>
                  <a:latin typeface="Source Sans Pro" panose="020B0503030403020204" pitchFamily="34" charset="0"/>
                  <a:ea typeface="Source Sans Pro" panose="020B0503030403020204" pitchFamily="34" charset="0"/>
                </a:endParaRPr>
              </a:p>
              <a:p>
                <a:pPr marL="818515" lvl="1" indent="-342900">
                  <a:lnSpc>
                    <a:spcPct val="120000"/>
                  </a:lnSpc>
                  <a:buFont typeface="Wingdings" panose="05000000000000000000" pitchFamily="2" charset="2"/>
                  <a:buChar char="l"/>
                </a:pPr>
                <a:r>
                  <a:rPr lang="en-US" altLang="zh-CN" sz="1200" dirty="0">
                    <a:solidFill>
                      <a:schemeClr val="bg2"/>
                    </a:solidFill>
                    <a:latin typeface="Source Sans Pro" panose="020B0503030403020204" pitchFamily="34" charset="0"/>
                    <a:ea typeface="Source Sans Pro" panose="020B0503030403020204" pitchFamily="34" charset="0"/>
                  </a:rPr>
                  <a:t>pow(a, x, n)</a:t>
                </a:r>
                <a:r>
                  <a:rPr lang="zh-CN" altLang="en-US" sz="1200" dirty="0">
                    <a:solidFill>
                      <a:schemeClr val="bg2"/>
                    </a:solidFill>
                    <a:latin typeface="Source Sans Pro" panose="020B0503030403020204" pitchFamily="34" charset="0"/>
                    <a:ea typeface="黑体" panose="02010609060101010101" pitchFamily="49" charset="-122"/>
                  </a:rPr>
                  <a:t>比</a:t>
                </a:r>
                <a14:m>
                  <m:oMath xmlns:m="http://schemas.openxmlformats.org/officeDocument/2006/math">
                    <m:r>
                      <a:rPr lang="en-US" altLang="zh-CN" sz="1200" dirty="0">
                        <a:solidFill>
                          <a:schemeClr val="bg2"/>
                        </a:solidFill>
                        <a:latin typeface="Cambria Math" panose="02040503050406030204" pitchFamily="18" charset="0"/>
                        <a:ea typeface="Source Sans Pro" panose="020B0503030403020204" pitchFamily="34" charset="0"/>
                      </a:rPr>
                      <m:t>𝑎</m:t>
                    </m:r>
                    <m:r>
                      <a:rPr lang="en-US" altLang="zh-CN" sz="1200" dirty="0">
                        <a:solidFill>
                          <a:schemeClr val="bg2"/>
                        </a:solidFill>
                        <a:latin typeface="Cambria Math" panose="02040503050406030204" pitchFamily="18" charset="0"/>
                        <a:ea typeface="Source Sans Pro" panose="020B0503030403020204" pitchFamily="34" charset="0"/>
                      </a:rPr>
                      <m:t>∗∗</m:t>
                    </m:r>
                    <m:r>
                      <a:rPr lang="en-US" altLang="zh-CN" sz="1200" dirty="0" err="1">
                        <a:solidFill>
                          <a:schemeClr val="bg2"/>
                        </a:solidFill>
                        <a:latin typeface="Cambria Math" panose="02040503050406030204" pitchFamily="18" charset="0"/>
                        <a:ea typeface="Source Sans Pro" panose="020B0503030403020204" pitchFamily="34" charset="0"/>
                      </a:rPr>
                      <m:t>𝑥</m:t>
                    </m:r>
                    <m:r>
                      <a:rPr lang="en-US" altLang="zh-CN" sz="1200" dirty="0" err="1">
                        <a:solidFill>
                          <a:schemeClr val="bg2"/>
                        </a:solidFill>
                        <a:latin typeface="Cambria Math" panose="02040503050406030204" pitchFamily="18" charset="0"/>
                        <a:ea typeface="Source Sans Pro" panose="020B0503030403020204" pitchFamily="34" charset="0"/>
                      </a:rPr>
                      <m:t>%</m:t>
                    </m:r>
                    <m:r>
                      <a:rPr lang="en-US" altLang="zh-CN" sz="1200" dirty="0" err="1">
                        <a:solidFill>
                          <a:schemeClr val="bg2"/>
                        </a:solidFill>
                        <a:latin typeface="Cambria Math" panose="02040503050406030204" pitchFamily="18" charset="0"/>
                        <a:ea typeface="Source Sans Pro" panose="020B0503030403020204" pitchFamily="34" charset="0"/>
                      </a:rPr>
                      <m:t>𝑛</m:t>
                    </m:r>
                  </m:oMath>
                </a14:m>
                <a:r>
                  <a:rPr lang="zh-CN" altLang="en-US" sz="1200" dirty="0">
                    <a:solidFill>
                      <a:schemeClr val="bg2"/>
                    </a:solidFill>
                    <a:latin typeface="Source Sans Pro" panose="020B0503030403020204" pitchFamily="34" charset="0"/>
                    <a:ea typeface="黑体" panose="02010609060101010101" pitchFamily="49" charset="-122"/>
                  </a:rPr>
                  <a:t>会快</a:t>
                </a:r>
                <a:r>
                  <a:rPr lang="en-US" altLang="zh-CN" sz="1200" dirty="0">
                    <a:solidFill>
                      <a:schemeClr val="bg2"/>
                    </a:solidFill>
                    <a:latin typeface="Source Sans Pro" panose="020B0503030403020204" pitchFamily="34" charset="0"/>
                    <a:ea typeface="Source Sans Pro" panose="020B0503030403020204" pitchFamily="34" charset="0"/>
                  </a:rPr>
                  <a:t>, </a:t>
                </a:r>
                <a:r>
                  <a:rPr lang="zh-CN" altLang="en-US" sz="1200" dirty="0">
                    <a:solidFill>
                      <a:schemeClr val="bg2"/>
                    </a:solidFill>
                    <a:latin typeface="Source Sans Pro" panose="020B0503030403020204" pitchFamily="34" charset="0"/>
                    <a:ea typeface="黑体" panose="02010609060101010101" pitchFamily="49" charset="-122"/>
                  </a:rPr>
                  <a:t>尤其是</a:t>
                </a:r>
                <a14:m>
                  <m:oMath xmlns:m="http://schemas.openxmlformats.org/officeDocument/2006/math">
                    <m:r>
                      <a:rPr lang="en-US" altLang="zh-CN" sz="1200" dirty="0">
                        <a:solidFill>
                          <a:schemeClr val="bg2"/>
                        </a:solidFill>
                        <a:latin typeface="Cambria Math" panose="02040503050406030204" pitchFamily="18" charset="0"/>
                        <a:ea typeface="Source Sans Pro" panose="020B0503030403020204" pitchFamily="34" charset="0"/>
                      </a:rPr>
                      <m:t>𝑎</m:t>
                    </m:r>
                    <m:r>
                      <a:rPr lang="en-US" altLang="zh-CN" sz="1200" dirty="0">
                        <a:solidFill>
                          <a:schemeClr val="bg2"/>
                        </a:solidFill>
                        <a:latin typeface="Cambria Math" panose="02040503050406030204" pitchFamily="18" charset="0"/>
                        <a:ea typeface="Source Sans Pro" panose="020B0503030403020204" pitchFamily="34" charset="0"/>
                      </a:rPr>
                      <m:t>, </m:t>
                    </m:r>
                    <m:r>
                      <a:rPr lang="en-US" altLang="zh-CN" sz="1200" dirty="0">
                        <a:solidFill>
                          <a:schemeClr val="bg2"/>
                        </a:solidFill>
                        <a:latin typeface="Cambria Math" panose="02040503050406030204" pitchFamily="18" charset="0"/>
                        <a:ea typeface="Source Sans Pro" panose="020B0503030403020204" pitchFamily="34" charset="0"/>
                      </a:rPr>
                      <m:t>𝑥</m:t>
                    </m:r>
                  </m:oMath>
                </a14:m>
                <a:r>
                  <a:rPr lang="zh-CN" altLang="en-US" sz="1200" dirty="0">
                    <a:solidFill>
                      <a:schemeClr val="bg2"/>
                    </a:solidFill>
                    <a:latin typeface="Source Sans Pro" panose="020B0503030403020204" pitchFamily="34" charset="0"/>
                    <a:ea typeface="黑体" panose="02010609060101010101" pitchFamily="49" charset="-122"/>
                  </a:rPr>
                  <a:t>很大的情况</a:t>
                </a:r>
                <a:r>
                  <a:rPr lang="zh-CN" altLang="en-US" sz="1200" b="1" dirty="0">
                    <a:solidFill>
                      <a:schemeClr val="tx1"/>
                    </a:solidFill>
                    <a:latin typeface="Source Sans Pro" panose="020B0503030403020204" pitchFamily="34" charset="0"/>
                    <a:ea typeface="黑体" panose="02010609060101010101" pitchFamily="49" charset="-122"/>
                  </a:rPr>
                  <a:t> </a:t>
                </a:r>
                <a:r>
                  <a:rPr lang="en-US" altLang="zh-CN" sz="1200" b="1" dirty="0">
                    <a:solidFill>
                      <a:schemeClr val="tx1"/>
                    </a:solidFill>
                    <a:latin typeface="Source Sans Pro" panose="020B0503030403020204" pitchFamily="34" charset="0"/>
                    <a:ea typeface="Source Sans Pro" panose="020B0503030403020204" pitchFamily="34" charset="0"/>
                  </a:rPr>
                  <a:t>(</a:t>
                </a:r>
                <a:r>
                  <a:rPr lang="zh-CN" altLang="en-US" sz="1200" b="1" dirty="0">
                    <a:solidFill>
                      <a:schemeClr val="tx1"/>
                    </a:solidFill>
                    <a:latin typeface="Source Sans Pro" panose="020B0503030403020204" pitchFamily="34" charset="0"/>
                    <a:ea typeface="黑体" panose="02010609060101010101" pitchFamily="49" charset="-122"/>
                  </a:rPr>
                  <a:t>高精度会影响速度</a:t>
                </a:r>
                <a:r>
                  <a:rPr lang="en-US" altLang="zh-CN" sz="1200" b="1" dirty="0">
                    <a:solidFill>
                      <a:schemeClr val="tx1"/>
                    </a:solidFill>
                    <a:latin typeface="Source Sans Pro" panose="020B0503030403020204" pitchFamily="34" charset="0"/>
                    <a:ea typeface="Source Sans Pro" panose="020B0503030403020204" pitchFamily="34" charset="0"/>
                  </a:rPr>
                  <a:t>)</a:t>
                </a:r>
                <a:endParaRPr lang="en-US" altLang="zh-CN" sz="1200" b="1" dirty="0">
                  <a:solidFill>
                    <a:schemeClr val="tx1"/>
                  </a:solidFill>
                  <a:latin typeface="Source Sans Pro" panose="020B0503030403020204" pitchFamily="34" charset="0"/>
                  <a:ea typeface="Source Sans Pro" panose="020B0503030403020204" pitchFamily="34" charset="0"/>
                </a:endParaRPr>
              </a:p>
              <a:p>
                <a:pPr marL="818515" lvl="1" indent="-342900">
                  <a:lnSpc>
                    <a:spcPct val="120000"/>
                  </a:lnSpc>
                  <a:buFont typeface="Wingdings" panose="05000000000000000000" pitchFamily="2" charset="2"/>
                  <a:buChar char="l"/>
                </a:pPr>
                <a:r>
                  <a:rPr lang="zh-CN" altLang="en-US" sz="1200" dirty="0">
                    <a:solidFill>
                      <a:schemeClr val="bg2"/>
                    </a:solidFill>
                    <a:latin typeface="Source Sans Pro" panose="020B0503030403020204" pitchFamily="34" charset="0"/>
                    <a:ea typeface="黑体" panose="02010609060101010101" pitchFamily="49" charset="-122"/>
                  </a:rPr>
                  <a:t>原因：</a:t>
                </a:r>
                <a14:m>
                  <m:oMath xmlns:m="http://schemas.openxmlformats.org/officeDocument/2006/math">
                    <m:r>
                      <a:rPr lang="en-US" altLang="zh-CN" sz="1200" dirty="0">
                        <a:solidFill>
                          <a:schemeClr val="bg2"/>
                        </a:solidFill>
                        <a:latin typeface="Cambria Math" panose="02040503050406030204" pitchFamily="18" charset="0"/>
                        <a:ea typeface="Source Sans Pro" panose="020B0503030403020204" pitchFamily="34" charset="0"/>
                      </a:rPr>
                      <m:t>𝑎</m:t>
                    </m:r>
                    <m:r>
                      <a:rPr lang="en-US" altLang="zh-CN" sz="1200" dirty="0">
                        <a:solidFill>
                          <a:schemeClr val="bg2"/>
                        </a:solidFill>
                        <a:latin typeface="Cambria Math" panose="02040503050406030204" pitchFamily="18" charset="0"/>
                        <a:ea typeface="Source Sans Pro" panose="020B0503030403020204" pitchFamily="34" charset="0"/>
                      </a:rPr>
                      <m:t>%</m:t>
                    </m:r>
                    <m:r>
                      <a:rPr lang="en-US" altLang="zh-CN" sz="1200" dirty="0">
                        <a:solidFill>
                          <a:schemeClr val="bg2"/>
                        </a:solidFill>
                        <a:latin typeface="Cambria Math" panose="02040503050406030204" pitchFamily="18" charset="0"/>
                        <a:ea typeface="Source Sans Pro" panose="020B0503030403020204" pitchFamily="34" charset="0"/>
                      </a:rPr>
                      <m:t>𝑛</m:t>
                    </m:r>
                  </m:oMath>
                </a14:m>
                <a:r>
                  <a:rPr lang="zh-CN" altLang="en-US" sz="1200" dirty="0">
                    <a:solidFill>
                      <a:schemeClr val="bg2"/>
                    </a:solidFill>
                    <a:latin typeface="Source Sans Pro" panose="020B0503030403020204" pitchFamily="34" charset="0"/>
                    <a:ea typeface="黑体" panose="02010609060101010101" pitchFamily="49" charset="-122"/>
                  </a:rPr>
                  <a:t>始终</a:t>
                </a:r>
                <a14:m>
                  <m:oMath xmlns:m="http://schemas.openxmlformats.org/officeDocument/2006/math">
                    <m:r>
                      <a:rPr lang="en-US" altLang="zh-CN" sz="1200" dirty="0">
                        <a:solidFill>
                          <a:schemeClr val="bg2"/>
                        </a:solidFill>
                        <a:latin typeface="Cambria Math" panose="02040503050406030204" pitchFamily="18" charset="0"/>
                        <a:ea typeface="Source Sans Pro" panose="020B0503030403020204" pitchFamily="34" charset="0"/>
                      </a:rPr>
                      <m:t>≤</m:t>
                    </m:r>
                    <m:r>
                      <a:rPr lang="en-US" altLang="zh-CN" sz="1200" dirty="0">
                        <a:solidFill>
                          <a:schemeClr val="bg2"/>
                        </a:solidFill>
                        <a:latin typeface="Cambria Math" panose="02040503050406030204" pitchFamily="18" charset="0"/>
                        <a:ea typeface="Source Sans Pro" panose="020B0503030403020204" pitchFamily="34" charset="0"/>
                      </a:rPr>
                      <m:t>𝑛</m:t>
                    </m:r>
                  </m:oMath>
                </a14:m>
                <a:r>
                  <a:rPr lang="en-US" altLang="zh-CN" sz="1200" dirty="0">
                    <a:solidFill>
                      <a:schemeClr val="bg2"/>
                    </a:solidFill>
                    <a:latin typeface="Source Sans Pro" panose="020B0503030403020204" pitchFamily="34" charset="0"/>
                    <a:ea typeface="Source Sans Pro" panose="020B0503030403020204" pitchFamily="34" charset="0"/>
                  </a:rPr>
                  <a:t>,</a:t>
                </a:r>
                <a:r>
                  <a:rPr lang="zh-CN" altLang="en-US" sz="1200" dirty="0">
                    <a:solidFill>
                      <a:schemeClr val="bg2"/>
                    </a:solidFill>
                    <a:latin typeface="Source Sans Pro" panose="020B0503030403020204" pitchFamily="34" charset="0"/>
                    <a:ea typeface="黑体" panose="02010609060101010101" pitchFamily="49" charset="-122"/>
                  </a:rPr>
                  <a:t> 而</a:t>
                </a:r>
                <a14:m>
                  <m:oMath xmlns:m="http://schemas.openxmlformats.org/officeDocument/2006/math">
                    <m:r>
                      <a:rPr lang="en-US" altLang="zh-CN" sz="1200" dirty="0">
                        <a:solidFill>
                          <a:schemeClr val="bg2"/>
                        </a:solidFill>
                        <a:latin typeface="Cambria Math" panose="02040503050406030204" pitchFamily="18" charset="0"/>
                        <a:ea typeface="Source Sans Pro" panose="020B0503030403020204" pitchFamily="34" charset="0"/>
                      </a:rPr>
                      <m:t>𝑎</m:t>
                    </m:r>
                    <m:r>
                      <a:rPr lang="zh-CN" altLang="en-US" sz="1200" dirty="0">
                        <a:solidFill>
                          <a:schemeClr val="bg2"/>
                        </a:solidFill>
                        <a:latin typeface="Cambria Math" panose="02040503050406030204" pitchFamily="18" charset="0"/>
                        <a:ea typeface="Source Sans Pro" panose="020B0503030403020204" pitchFamily="34" charset="0"/>
                      </a:rPr>
                      <m:t>∗∗</m:t>
                    </m:r>
                    <m:r>
                      <a:rPr lang="en-US" altLang="zh-CN" sz="1200" dirty="0">
                        <a:solidFill>
                          <a:schemeClr val="bg2"/>
                        </a:solidFill>
                        <a:latin typeface="Cambria Math" panose="02040503050406030204" pitchFamily="18" charset="0"/>
                        <a:ea typeface="Source Sans Pro" panose="020B0503030403020204" pitchFamily="34" charset="0"/>
                      </a:rPr>
                      <m:t>𝑥</m:t>
                    </m:r>
                  </m:oMath>
                </a14:m>
                <a:r>
                  <a:rPr lang="zh-CN" altLang="en-US" sz="1200" dirty="0">
                    <a:solidFill>
                      <a:schemeClr val="bg2"/>
                    </a:solidFill>
                    <a:latin typeface="Source Sans Pro" panose="020B0503030403020204" pitchFamily="34" charset="0"/>
                    <a:ea typeface="黑体" panose="02010609060101010101" pitchFamily="49" charset="-122"/>
                  </a:rPr>
                  <a:t>可能是一个非常大的整数，最后的答案一定是在</a:t>
                </a:r>
                <a14:m>
                  <m:oMath xmlns:m="http://schemas.openxmlformats.org/officeDocument/2006/math">
                    <m:r>
                      <a:rPr lang="en-US" altLang="zh-CN" sz="1200" i="1" dirty="0" smtClean="0">
                        <a:solidFill>
                          <a:schemeClr val="bg2"/>
                        </a:solidFill>
                        <a:latin typeface="Cambria Math" panose="02040503050406030204" pitchFamily="18" charset="0"/>
                        <a:ea typeface="黑体" panose="02010609060101010101" pitchFamily="49" charset="-122"/>
                      </a:rPr>
                      <m:t>[</m:t>
                    </m:r>
                    <m:r>
                      <a:rPr lang="en-US" altLang="zh-CN" sz="1200" i="1" dirty="0" smtClean="0">
                        <a:solidFill>
                          <a:schemeClr val="bg2"/>
                        </a:solidFill>
                        <a:latin typeface="Cambria Math" panose="02040503050406030204" pitchFamily="18" charset="0"/>
                        <a:ea typeface="黑体" panose="02010609060101010101" pitchFamily="49" charset="-122"/>
                      </a:rPr>
                      <m:t>0</m:t>
                    </m:r>
                    <m:r>
                      <a:rPr lang="en-US" altLang="zh-CN" sz="1200" i="1" dirty="0" smtClean="0">
                        <a:solidFill>
                          <a:schemeClr val="bg2"/>
                        </a:solidFill>
                        <a:latin typeface="Cambria Math" panose="02040503050406030204" pitchFamily="18" charset="0"/>
                        <a:ea typeface="黑体" panose="02010609060101010101" pitchFamily="49" charset="-122"/>
                      </a:rPr>
                      <m:t>,</m:t>
                    </m:r>
                    <m:r>
                      <a:rPr lang="en-US" altLang="zh-CN" sz="1200" i="1" dirty="0" smtClean="0">
                        <a:solidFill>
                          <a:schemeClr val="bg2"/>
                        </a:solidFill>
                        <a:latin typeface="Cambria Math" panose="02040503050406030204" pitchFamily="18" charset="0"/>
                        <a:ea typeface="黑体" panose="02010609060101010101" pitchFamily="49" charset="-122"/>
                      </a:rPr>
                      <m:t>𝑛</m:t>
                    </m:r>
                    <m:r>
                      <a:rPr lang="en-US" altLang="zh-CN" sz="1200" i="1" dirty="0" smtClean="0">
                        <a:solidFill>
                          <a:schemeClr val="bg2"/>
                        </a:solidFill>
                        <a:latin typeface="Cambria Math" panose="02040503050406030204" pitchFamily="18" charset="0"/>
                        <a:ea typeface="黑体" panose="02010609060101010101" pitchFamily="49" charset="-122"/>
                      </a:rPr>
                      <m:t>−</m:t>
                    </m:r>
                    <m:r>
                      <a:rPr lang="en-US" altLang="zh-CN" sz="1200" i="1" dirty="0" smtClean="0">
                        <a:solidFill>
                          <a:schemeClr val="bg2"/>
                        </a:solidFill>
                        <a:latin typeface="Cambria Math" panose="02040503050406030204" pitchFamily="18" charset="0"/>
                        <a:ea typeface="黑体" panose="02010609060101010101" pitchFamily="49" charset="-122"/>
                      </a:rPr>
                      <m:t>1</m:t>
                    </m:r>
                    <m:r>
                      <a:rPr lang="en-US" altLang="zh-CN" sz="1200" i="1" dirty="0" smtClean="0">
                        <a:solidFill>
                          <a:schemeClr val="bg2"/>
                        </a:solidFill>
                        <a:latin typeface="Cambria Math" panose="02040503050406030204" pitchFamily="18" charset="0"/>
                        <a:ea typeface="黑体" panose="02010609060101010101" pitchFamily="49" charset="-122"/>
                      </a:rPr>
                      <m:t>]</m:t>
                    </m:r>
                  </m:oMath>
                </a14:m>
                <a:endParaRPr lang="en-US" altLang="zh-CN" sz="1200" dirty="0">
                  <a:solidFill>
                    <a:schemeClr val="bg2"/>
                  </a:solidFill>
                  <a:latin typeface="Source Sans Pro" panose="020B0503030403020204" pitchFamily="34" charset="0"/>
                  <a:ea typeface="Source Sans Pro" panose="020B0503030403020204" pitchFamily="34" charset="0"/>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311700" y="1152475"/>
                <a:ext cx="4019668" cy="2648792"/>
              </a:xfrm>
              <a:blipFill rotWithShape="1">
                <a:blip r:embed="rId1"/>
                <a:stretch>
                  <a:fillRect l="-14" t="-22" r="1" b="6"/>
                </a:stretch>
              </a:blipFill>
            </p:spPr>
            <p:txBody>
              <a:bodyPr/>
              <a:lstStyle/>
              <a:p>
                <a:r>
                  <a:rPr lang="zh-CN" altLang="en-US">
                    <a:noFill/>
                  </a:rPr>
                  <a:t> </a:t>
                </a:r>
              </a:p>
            </p:txBody>
          </p:sp>
        </mc:Fallback>
      </mc:AlternateContent>
      <p:pic>
        <p:nvPicPr>
          <p:cNvPr id="5" name="Picture 5" descr="A picture containing 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4017002"/>
            <a:ext cx="4263830" cy="1080617"/>
          </a:xfrm>
          <a:prstGeom prst="rect">
            <a:avLst/>
          </a:prstGeom>
        </p:spPr>
      </p:pic>
      <p:pic>
        <p:nvPicPr>
          <p:cNvPr id="7" name="图片 6"/>
          <p:cNvPicPr>
            <a:picLocks noChangeAspect="1"/>
          </p:cNvPicPr>
          <p:nvPr/>
        </p:nvPicPr>
        <p:blipFill>
          <a:blip r:embed="rId3"/>
          <a:stretch>
            <a:fillRect/>
          </a:stretch>
        </p:blipFill>
        <p:spPr>
          <a:xfrm>
            <a:off x="4572000" y="1152475"/>
            <a:ext cx="3459240" cy="278047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Evaluate a Polynomial</a:t>
            </a:r>
            <a:endParaRPr lang="zh-CN" altLang="en-US" dirty="0"/>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p:txBody>
              <a:bodyPr>
                <a:normAutofit/>
              </a:bodyPr>
              <a:lstStyle/>
              <a:p>
                <a14:m>
                  <m:oMath xmlns:m="http://schemas.openxmlformats.org/officeDocument/2006/math">
                    <m:sSub>
                      <m:sSubPr>
                        <m:ctrlPr>
                          <a:rPr lang="en-US" altLang="zh-CN" sz="1400" b="0" i="1" smtClean="0">
                            <a:solidFill>
                              <a:schemeClr val="bg2"/>
                            </a:solidFill>
                            <a:latin typeface="Cambria Math" panose="02040503050406030204" pitchFamily="18" charset="0"/>
                          </a:rPr>
                        </m:ctrlPr>
                      </m:sSubPr>
                      <m:e>
                        <m:r>
                          <a:rPr lang="en-US" altLang="zh-CN" sz="1400" b="0" i="1" smtClean="0">
                            <a:solidFill>
                              <a:schemeClr val="bg2"/>
                            </a:solidFill>
                            <a:latin typeface="Cambria Math" panose="02040503050406030204" pitchFamily="18" charset="0"/>
                          </a:rPr>
                          <m:t>𝑓</m:t>
                        </m:r>
                      </m:e>
                      <m:sub>
                        <m:r>
                          <a:rPr lang="en-US" altLang="zh-CN" sz="1400" b="0" i="1" smtClean="0">
                            <a:solidFill>
                              <a:schemeClr val="bg2"/>
                            </a:solidFill>
                            <a:latin typeface="Cambria Math" panose="02040503050406030204" pitchFamily="18" charset="0"/>
                          </a:rPr>
                          <m:t>𝑛</m:t>
                        </m:r>
                      </m:sub>
                    </m:sSub>
                    <m:d>
                      <m:dPr>
                        <m:ctrlPr>
                          <a:rPr lang="en-US" altLang="zh-CN" sz="1400" b="0" i="1" smtClean="0">
                            <a:solidFill>
                              <a:schemeClr val="bg2"/>
                            </a:solidFill>
                            <a:latin typeface="Cambria Math" panose="02040503050406030204" pitchFamily="18" charset="0"/>
                          </a:rPr>
                        </m:ctrlPr>
                      </m:dPr>
                      <m:e>
                        <m:r>
                          <a:rPr lang="en-US" altLang="zh-CN" sz="1400" b="0" i="1" smtClean="0">
                            <a:solidFill>
                              <a:schemeClr val="bg2"/>
                            </a:solidFill>
                            <a:latin typeface="Cambria Math" panose="02040503050406030204" pitchFamily="18" charset="0"/>
                          </a:rPr>
                          <m:t>𝑥</m:t>
                        </m:r>
                      </m:e>
                    </m:d>
                    <m:r>
                      <a:rPr lang="en-US" altLang="zh-CN" sz="1400" b="0" i="1" smtClean="0">
                        <a:solidFill>
                          <a:schemeClr val="bg2"/>
                        </a:solidFill>
                        <a:latin typeface="Cambria Math" panose="02040503050406030204" pitchFamily="18" charset="0"/>
                      </a:rPr>
                      <m:t>=</m:t>
                    </m:r>
                    <m:sSub>
                      <m:sSubPr>
                        <m:ctrlPr>
                          <a:rPr lang="en-US" altLang="zh-CN" sz="1400" b="0" i="1" smtClean="0">
                            <a:solidFill>
                              <a:schemeClr val="bg2"/>
                            </a:solidFill>
                            <a:latin typeface="Cambria Math" panose="02040503050406030204" pitchFamily="18" charset="0"/>
                          </a:rPr>
                        </m:ctrlPr>
                      </m:sSubPr>
                      <m:e>
                        <m:r>
                          <a:rPr lang="en-US" altLang="zh-CN" sz="1400" b="0" i="1" smtClean="0">
                            <a:solidFill>
                              <a:schemeClr val="bg2"/>
                            </a:solidFill>
                            <a:latin typeface="Cambria Math" panose="02040503050406030204" pitchFamily="18" charset="0"/>
                          </a:rPr>
                          <m:t>𝑎</m:t>
                        </m:r>
                      </m:e>
                      <m:sub>
                        <m:r>
                          <a:rPr lang="en-US" altLang="zh-CN" sz="1400" b="0" i="1" smtClean="0">
                            <a:solidFill>
                              <a:schemeClr val="bg2"/>
                            </a:solidFill>
                            <a:latin typeface="Cambria Math" panose="02040503050406030204" pitchFamily="18" charset="0"/>
                          </a:rPr>
                          <m:t>𝑛</m:t>
                        </m:r>
                      </m:sub>
                    </m:sSub>
                    <m:sSup>
                      <m:sSupPr>
                        <m:ctrlPr>
                          <a:rPr lang="en-US" altLang="zh-CN" sz="1400" b="0" i="1" smtClean="0">
                            <a:solidFill>
                              <a:schemeClr val="bg2"/>
                            </a:solidFill>
                            <a:latin typeface="Cambria Math" panose="02040503050406030204" pitchFamily="18" charset="0"/>
                          </a:rPr>
                        </m:ctrlPr>
                      </m:sSupPr>
                      <m:e>
                        <m:r>
                          <a:rPr lang="en-US" altLang="zh-CN" sz="1400" b="0" i="1" smtClean="0">
                            <a:solidFill>
                              <a:schemeClr val="bg2"/>
                            </a:solidFill>
                            <a:latin typeface="Cambria Math" panose="02040503050406030204" pitchFamily="18" charset="0"/>
                          </a:rPr>
                          <m:t>𝑥</m:t>
                        </m:r>
                      </m:e>
                      <m:sup>
                        <m:r>
                          <a:rPr lang="en-US" altLang="zh-CN" sz="1400" b="0" i="1" smtClean="0">
                            <a:solidFill>
                              <a:schemeClr val="bg2"/>
                            </a:solidFill>
                            <a:latin typeface="Cambria Math" panose="02040503050406030204" pitchFamily="18" charset="0"/>
                          </a:rPr>
                          <m:t>𝑛</m:t>
                        </m:r>
                      </m:sup>
                    </m:sSup>
                    <m:r>
                      <a:rPr lang="en-US" altLang="zh-CN" sz="1400" b="0" i="1" smtClean="0">
                        <a:solidFill>
                          <a:schemeClr val="bg2"/>
                        </a:solidFill>
                        <a:latin typeface="Cambria Math" panose="02040503050406030204" pitchFamily="18" charset="0"/>
                      </a:rPr>
                      <m:t>+</m:t>
                    </m:r>
                    <m:sSub>
                      <m:sSubPr>
                        <m:ctrlPr>
                          <a:rPr lang="en-US" altLang="zh-CN" sz="1400" b="0" i="1" smtClean="0">
                            <a:solidFill>
                              <a:schemeClr val="bg2"/>
                            </a:solidFill>
                            <a:latin typeface="Cambria Math" panose="02040503050406030204" pitchFamily="18" charset="0"/>
                          </a:rPr>
                        </m:ctrlPr>
                      </m:sSubPr>
                      <m:e>
                        <m:r>
                          <a:rPr lang="en-US" altLang="zh-CN" sz="1400" b="0" i="1" smtClean="0">
                            <a:solidFill>
                              <a:schemeClr val="bg2"/>
                            </a:solidFill>
                            <a:latin typeface="Cambria Math" panose="02040503050406030204" pitchFamily="18" charset="0"/>
                          </a:rPr>
                          <m:t>𝑎</m:t>
                        </m:r>
                      </m:e>
                      <m:sub>
                        <m:r>
                          <a:rPr lang="en-US" altLang="zh-CN" sz="1400" b="0" i="1" smtClean="0">
                            <a:solidFill>
                              <a:schemeClr val="bg2"/>
                            </a:solidFill>
                            <a:latin typeface="Cambria Math" panose="02040503050406030204" pitchFamily="18" charset="0"/>
                          </a:rPr>
                          <m:t>𝑛</m:t>
                        </m:r>
                        <m:r>
                          <a:rPr lang="en-US" altLang="zh-CN" sz="1400" b="0" i="1" smtClean="0">
                            <a:solidFill>
                              <a:schemeClr val="bg2"/>
                            </a:solidFill>
                            <a:latin typeface="Cambria Math" panose="02040503050406030204" pitchFamily="18" charset="0"/>
                          </a:rPr>
                          <m:t>−</m:t>
                        </m:r>
                        <m:r>
                          <a:rPr lang="en-US" altLang="zh-CN" sz="1400" b="0" i="1" smtClean="0">
                            <a:solidFill>
                              <a:schemeClr val="bg2"/>
                            </a:solidFill>
                            <a:latin typeface="Cambria Math" panose="02040503050406030204" pitchFamily="18" charset="0"/>
                          </a:rPr>
                          <m:t>1</m:t>
                        </m:r>
                      </m:sub>
                    </m:sSub>
                    <m:sSup>
                      <m:sSupPr>
                        <m:ctrlPr>
                          <a:rPr lang="en-US" altLang="zh-CN" sz="1400" b="0" i="1" smtClean="0">
                            <a:solidFill>
                              <a:schemeClr val="bg2"/>
                            </a:solidFill>
                            <a:latin typeface="Cambria Math" panose="02040503050406030204" pitchFamily="18" charset="0"/>
                          </a:rPr>
                        </m:ctrlPr>
                      </m:sSupPr>
                      <m:e>
                        <m:r>
                          <a:rPr lang="en-US" altLang="zh-CN" sz="1400" b="0" i="1" smtClean="0">
                            <a:solidFill>
                              <a:schemeClr val="bg2"/>
                            </a:solidFill>
                            <a:latin typeface="Cambria Math" panose="02040503050406030204" pitchFamily="18" charset="0"/>
                          </a:rPr>
                          <m:t>𝑥</m:t>
                        </m:r>
                      </m:e>
                      <m:sup>
                        <m:r>
                          <a:rPr lang="en-US" altLang="zh-CN" sz="1400" b="0" i="1" smtClean="0">
                            <a:solidFill>
                              <a:schemeClr val="bg2"/>
                            </a:solidFill>
                            <a:latin typeface="Cambria Math" panose="02040503050406030204" pitchFamily="18" charset="0"/>
                          </a:rPr>
                          <m:t>𝑛</m:t>
                        </m:r>
                        <m:r>
                          <a:rPr lang="en-US" altLang="zh-CN" sz="1400" b="0" i="1" smtClean="0">
                            <a:solidFill>
                              <a:schemeClr val="bg2"/>
                            </a:solidFill>
                            <a:latin typeface="Cambria Math" panose="02040503050406030204" pitchFamily="18" charset="0"/>
                          </a:rPr>
                          <m:t>−</m:t>
                        </m:r>
                        <m:r>
                          <a:rPr lang="en-US" altLang="zh-CN" sz="1400" b="0" i="1" smtClean="0">
                            <a:solidFill>
                              <a:schemeClr val="bg2"/>
                            </a:solidFill>
                            <a:latin typeface="Cambria Math" panose="02040503050406030204" pitchFamily="18" charset="0"/>
                          </a:rPr>
                          <m:t>1</m:t>
                        </m:r>
                      </m:sup>
                    </m:sSup>
                    <m:r>
                      <a:rPr lang="en-US" altLang="zh-CN" sz="1400" b="0" i="1" smtClean="0">
                        <a:solidFill>
                          <a:schemeClr val="bg2"/>
                        </a:solidFill>
                        <a:latin typeface="Cambria Math" panose="02040503050406030204" pitchFamily="18" charset="0"/>
                      </a:rPr>
                      <m:t>+…+</m:t>
                    </m:r>
                    <m:sSub>
                      <m:sSubPr>
                        <m:ctrlPr>
                          <a:rPr lang="en-US" altLang="zh-CN" sz="1400" b="0" i="1" smtClean="0">
                            <a:solidFill>
                              <a:schemeClr val="bg2"/>
                            </a:solidFill>
                            <a:latin typeface="Cambria Math" panose="02040503050406030204" pitchFamily="18" charset="0"/>
                          </a:rPr>
                        </m:ctrlPr>
                      </m:sSubPr>
                      <m:e>
                        <m:r>
                          <a:rPr lang="en-US" altLang="zh-CN" sz="1400" b="0" i="1" smtClean="0">
                            <a:solidFill>
                              <a:schemeClr val="bg2"/>
                            </a:solidFill>
                            <a:latin typeface="Cambria Math" panose="02040503050406030204" pitchFamily="18" charset="0"/>
                          </a:rPr>
                          <m:t>𝑎</m:t>
                        </m:r>
                      </m:e>
                      <m:sub>
                        <m:r>
                          <a:rPr lang="en-US" altLang="zh-CN" sz="1400" b="0" i="1" smtClean="0">
                            <a:solidFill>
                              <a:schemeClr val="bg2"/>
                            </a:solidFill>
                            <a:latin typeface="Cambria Math" panose="02040503050406030204" pitchFamily="18" charset="0"/>
                          </a:rPr>
                          <m:t>1</m:t>
                        </m:r>
                      </m:sub>
                    </m:sSub>
                    <m:r>
                      <a:rPr lang="en-US" altLang="zh-CN" sz="1400" b="0" i="1" smtClean="0">
                        <a:solidFill>
                          <a:schemeClr val="bg2"/>
                        </a:solidFill>
                        <a:latin typeface="Cambria Math" panose="02040503050406030204" pitchFamily="18" charset="0"/>
                      </a:rPr>
                      <m:t>𝑥</m:t>
                    </m:r>
                    <m:r>
                      <a:rPr lang="en-US" altLang="zh-CN" sz="1400" b="0" i="1" smtClean="0">
                        <a:solidFill>
                          <a:schemeClr val="bg2"/>
                        </a:solidFill>
                        <a:latin typeface="Cambria Math" panose="02040503050406030204" pitchFamily="18" charset="0"/>
                      </a:rPr>
                      <m:t>+</m:t>
                    </m:r>
                    <m:sSub>
                      <m:sSubPr>
                        <m:ctrlPr>
                          <a:rPr lang="en-US" altLang="zh-CN" sz="1400" b="0" i="1" smtClean="0">
                            <a:solidFill>
                              <a:schemeClr val="bg2"/>
                            </a:solidFill>
                            <a:latin typeface="Cambria Math" panose="02040503050406030204" pitchFamily="18" charset="0"/>
                          </a:rPr>
                        </m:ctrlPr>
                      </m:sSubPr>
                      <m:e>
                        <m:r>
                          <a:rPr lang="en-US" altLang="zh-CN" sz="1400" b="0" i="1" smtClean="0">
                            <a:solidFill>
                              <a:schemeClr val="bg2"/>
                            </a:solidFill>
                            <a:latin typeface="Cambria Math" panose="02040503050406030204" pitchFamily="18" charset="0"/>
                          </a:rPr>
                          <m:t>𝑎</m:t>
                        </m:r>
                      </m:e>
                      <m:sub>
                        <m:r>
                          <a:rPr lang="en-US" altLang="zh-CN" sz="1400" b="0" i="1" smtClean="0">
                            <a:solidFill>
                              <a:schemeClr val="bg2"/>
                            </a:solidFill>
                            <a:latin typeface="Cambria Math" panose="02040503050406030204" pitchFamily="18" charset="0"/>
                          </a:rPr>
                          <m:t>0</m:t>
                        </m:r>
                      </m:sub>
                    </m:sSub>
                  </m:oMath>
                </a14:m>
                <a:endParaRPr lang="en-US" altLang="zh-CN" sz="1400" b="0" dirty="0">
                  <a:solidFill>
                    <a:schemeClr val="bg2"/>
                  </a:solidFill>
                </a:endParaRPr>
              </a:p>
              <a:p>
                <a:r>
                  <a:rPr lang="en-US" altLang="zh-CN" sz="1400" dirty="0">
                    <a:solidFill>
                      <a:schemeClr val="bg2"/>
                    </a:solidFill>
                  </a:rPr>
                  <a:t>Directly computation</a:t>
                </a:r>
                <a:endParaRPr lang="en-US" altLang="zh-CN" sz="1400" dirty="0">
                  <a:solidFill>
                    <a:schemeClr val="bg2"/>
                  </a:solidFill>
                </a:endParaRPr>
              </a:p>
              <a:p>
                <a:pPr lvl="1"/>
                <a:r>
                  <a:rPr lang="en-US" altLang="zh-CN" sz="1200" dirty="0">
                    <a:solidFill>
                      <a:schemeClr val="bg2"/>
                    </a:solidFill>
                  </a:rPr>
                  <a:t>Time</a:t>
                </a:r>
                <a:r>
                  <a:rPr lang="zh-CN" altLang="en-US" sz="1200" dirty="0">
                    <a:solidFill>
                      <a:schemeClr val="bg2"/>
                    </a:solidFill>
                  </a:rPr>
                  <a:t> </a:t>
                </a:r>
                <a:r>
                  <a:rPr lang="en-US" altLang="zh-CN" sz="1200" dirty="0">
                    <a:solidFill>
                      <a:schemeClr val="bg2"/>
                    </a:solidFill>
                  </a:rPr>
                  <a:t>complexity</a:t>
                </a:r>
                <a:r>
                  <a:rPr lang="zh-CN" altLang="en-US" sz="1200" dirty="0">
                    <a:solidFill>
                      <a:schemeClr val="bg2"/>
                    </a:solidFill>
                  </a:rPr>
                  <a:t> </a:t>
                </a:r>
                <a14:m>
                  <m:oMath xmlns:m="http://schemas.openxmlformats.org/officeDocument/2006/math">
                    <m:r>
                      <a:rPr lang="en-US" altLang="zh-CN" sz="1200" b="0" i="1" smtClean="0">
                        <a:solidFill>
                          <a:schemeClr val="bg2"/>
                        </a:solidFill>
                        <a:latin typeface="Cambria Math" panose="02040503050406030204" pitchFamily="18" charset="0"/>
                      </a:rPr>
                      <m:t>𝑂</m:t>
                    </m:r>
                    <m:r>
                      <a:rPr lang="en-US" altLang="zh-CN" sz="1200" b="0" i="1" smtClean="0">
                        <a:solidFill>
                          <a:schemeClr val="bg2"/>
                        </a:solidFill>
                        <a:latin typeface="Cambria Math" panose="02040503050406030204" pitchFamily="18" charset="0"/>
                      </a:rPr>
                      <m:t>(</m:t>
                    </m:r>
                    <m:r>
                      <a:rPr lang="en-US" altLang="zh-CN" sz="1200" b="0" i="1" smtClean="0">
                        <a:solidFill>
                          <a:schemeClr val="bg2"/>
                        </a:solidFill>
                        <a:latin typeface="Cambria Math" panose="02040503050406030204" pitchFamily="18" charset="0"/>
                      </a:rPr>
                      <m:t>𝑛</m:t>
                    </m:r>
                    <m:r>
                      <m:rPr>
                        <m:sty m:val="p"/>
                      </m:rPr>
                      <a:rPr lang="en-US" altLang="zh-CN" sz="1200" b="0" i="0" smtClean="0">
                        <a:solidFill>
                          <a:schemeClr val="bg2"/>
                        </a:solidFill>
                        <a:latin typeface="Cambria Math" panose="02040503050406030204" pitchFamily="18" charset="0"/>
                      </a:rPr>
                      <m:t>log</m:t>
                    </m:r>
                    <m:r>
                      <a:rPr lang="en-US" altLang="zh-CN" sz="1200" b="0" i="1" smtClean="0">
                        <a:solidFill>
                          <a:schemeClr val="bg2"/>
                        </a:solidFill>
                        <a:latin typeface="Cambria Math" panose="02040503050406030204" pitchFamily="18" charset="0"/>
                      </a:rPr>
                      <m:t>𝑛</m:t>
                    </m:r>
                    <m:r>
                      <a:rPr lang="en-US" altLang="zh-CN" sz="1200" b="0" i="1" smtClean="0">
                        <a:solidFill>
                          <a:schemeClr val="bg2"/>
                        </a:solidFill>
                        <a:latin typeface="Cambria Math" panose="02040503050406030204" pitchFamily="18" charset="0"/>
                      </a:rPr>
                      <m:t>)</m:t>
                    </m:r>
                  </m:oMath>
                </a14:m>
                <a:endParaRPr lang="en-US" altLang="zh-CN" sz="1200" dirty="0">
                  <a:solidFill>
                    <a:schemeClr val="bg2"/>
                  </a:solidFill>
                </a:endParaRPr>
              </a:p>
              <a:p>
                <a:r>
                  <a:rPr lang="en-US" altLang="zh-CN" sz="1400" dirty="0">
                    <a:solidFill>
                      <a:schemeClr val="bg2"/>
                    </a:solidFill>
                  </a:rPr>
                  <a:t>Horner’s rule</a:t>
                </a:r>
                <a:r>
                  <a:rPr lang="zh-CN" altLang="en-US" sz="1400" dirty="0">
                    <a:solidFill>
                      <a:schemeClr val="bg2"/>
                    </a:solidFill>
                  </a:rPr>
                  <a:t> </a:t>
                </a:r>
                <a:endParaRPr lang="en-US" altLang="zh-CN" sz="1400" dirty="0">
                  <a:solidFill>
                    <a:schemeClr val="bg2"/>
                  </a:solidFill>
                </a:endParaRPr>
              </a:p>
              <a:p>
                <a:pPr lvl="1"/>
                <a14:m>
                  <m:oMath xmlns:m="http://schemas.openxmlformats.org/officeDocument/2006/math">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𝑓</m:t>
                        </m:r>
                      </m:e>
                      <m:sub>
                        <m:r>
                          <a:rPr lang="en-US" altLang="zh-CN" sz="1200" b="0" i="1" smtClean="0">
                            <a:solidFill>
                              <a:schemeClr val="bg2"/>
                            </a:solidFill>
                            <a:latin typeface="Cambria Math" panose="02040503050406030204" pitchFamily="18" charset="0"/>
                          </a:rPr>
                          <m:t>𝑛</m:t>
                        </m:r>
                      </m:sub>
                    </m:sSub>
                    <m:d>
                      <m:dPr>
                        <m:ctrlPr>
                          <a:rPr lang="en-US" altLang="zh-CN" sz="1200" b="0" i="1" smtClean="0">
                            <a:solidFill>
                              <a:schemeClr val="bg2"/>
                            </a:solidFill>
                            <a:latin typeface="Cambria Math" panose="02040503050406030204" pitchFamily="18" charset="0"/>
                          </a:rPr>
                        </m:ctrlPr>
                      </m:dPr>
                      <m:e>
                        <m:r>
                          <a:rPr lang="en-US" altLang="zh-CN" sz="1200" b="0" i="1" smtClean="0">
                            <a:solidFill>
                              <a:schemeClr val="bg2"/>
                            </a:solidFill>
                            <a:latin typeface="Cambria Math" panose="02040503050406030204" pitchFamily="18" charset="0"/>
                          </a:rPr>
                          <m:t>𝑥</m:t>
                        </m:r>
                      </m:e>
                    </m:d>
                    <m:r>
                      <a:rPr lang="en-US" altLang="zh-CN" sz="1200" b="0" i="1" smtClean="0">
                        <a:solidFill>
                          <a:schemeClr val="bg2"/>
                        </a:solidFill>
                        <a:latin typeface="Cambria Math" panose="02040503050406030204" pitchFamily="18" charset="0"/>
                      </a:rPr>
                      <m:t>=</m:t>
                    </m:r>
                    <m:r>
                      <a:rPr lang="en-US" altLang="zh-CN" sz="1200" b="0" i="1" smtClean="0">
                        <a:solidFill>
                          <a:schemeClr val="bg2"/>
                        </a:solidFill>
                        <a:latin typeface="Cambria Math" panose="02040503050406030204" pitchFamily="18" charset="0"/>
                      </a:rPr>
                      <m:t>𝑥</m:t>
                    </m:r>
                    <m:d>
                      <m:dPr>
                        <m:ctrlPr>
                          <a:rPr lang="en-US" altLang="zh-CN" sz="1200" b="0" i="1" smtClean="0">
                            <a:solidFill>
                              <a:schemeClr val="bg2"/>
                            </a:solidFill>
                            <a:latin typeface="Cambria Math" panose="02040503050406030204" pitchFamily="18" charset="0"/>
                          </a:rPr>
                        </m:ctrlPr>
                      </m:dPr>
                      <m:e>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𝑎</m:t>
                            </m:r>
                          </m:e>
                          <m:sub>
                            <m:r>
                              <a:rPr lang="en-US" altLang="zh-CN" sz="1200" b="0" i="1" smtClean="0">
                                <a:solidFill>
                                  <a:schemeClr val="bg2"/>
                                </a:solidFill>
                                <a:latin typeface="Cambria Math" panose="02040503050406030204" pitchFamily="18" charset="0"/>
                              </a:rPr>
                              <m:t>𝑛</m:t>
                            </m:r>
                          </m:sub>
                        </m:sSub>
                        <m:sSup>
                          <m:sSupPr>
                            <m:ctrlPr>
                              <a:rPr lang="en-US" altLang="zh-CN" sz="1200" b="0" i="1" smtClean="0">
                                <a:solidFill>
                                  <a:schemeClr val="bg2"/>
                                </a:solidFill>
                                <a:latin typeface="Cambria Math" panose="02040503050406030204" pitchFamily="18" charset="0"/>
                              </a:rPr>
                            </m:ctrlPr>
                          </m:sSupPr>
                          <m:e>
                            <m:r>
                              <a:rPr lang="en-US" altLang="zh-CN" sz="1200" b="0" i="1" smtClean="0">
                                <a:solidFill>
                                  <a:schemeClr val="bg2"/>
                                </a:solidFill>
                                <a:latin typeface="Cambria Math" panose="02040503050406030204" pitchFamily="18" charset="0"/>
                              </a:rPr>
                              <m:t>𝑥</m:t>
                            </m:r>
                          </m:e>
                          <m:sup>
                            <m:r>
                              <a:rPr lang="en-US" altLang="zh-CN" sz="1200" b="0" i="1" smtClean="0">
                                <a:solidFill>
                                  <a:schemeClr val="bg2"/>
                                </a:solidFill>
                                <a:latin typeface="Cambria Math" panose="02040503050406030204" pitchFamily="18" charset="0"/>
                              </a:rPr>
                              <m:t>𝑛</m:t>
                            </m:r>
                            <m:r>
                              <a:rPr lang="en-US" altLang="zh-CN" sz="1200" b="0" i="1" smtClean="0">
                                <a:solidFill>
                                  <a:schemeClr val="bg2"/>
                                </a:solidFill>
                                <a:latin typeface="Cambria Math" panose="02040503050406030204" pitchFamily="18" charset="0"/>
                              </a:rPr>
                              <m:t>−</m:t>
                            </m:r>
                            <m:r>
                              <a:rPr lang="en-US" altLang="zh-CN" sz="1200" b="0" i="1" smtClean="0">
                                <a:solidFill>
                                  <a:schemeClr val="bg2"/>
                                </a:solidFill>
                                <a:latin typeface="Cambria Math" panose="02040503050406030204" pitchFamily="18" charset="0"/>
                              </a:rPr>
                              <m:t>1</m:t>
                            </m:r>
                          </m:sup>
                        </m:sSup>
                        <m:r>
                          <a:rPr lang="en-US" altLang="zh-CN" sz="1200" b="0" i="1" smtClean="0">
                            <a:solidFill>
                              <a:schemeClr val="bg2"/>
                            </a:solidFill>
                            <a:latin typeface="Cambria Math" panose="02040503050406030204" pitchFamily="18" charset="0"/>
                          </a:rPr>
                          <m:t>+…+</m:t>
                        </m:r>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𝑎</m:t>
                            </m:r>
                          </m:e>
                          <m:sub>
                            <m:r>
                              <a:rPr lang="en-US" altLang="zh-CN" sz="1200" b="0" i="1" smtClean="0">
                                <a:solidFill>
                                  <a:schemeClr val="bg2"/>
                                </a:solidFill>
                                <a:latin typeface="Cambria Math" panose="02040503050406030204" pitchFamily="18" charset="0"/>
                              </a:rPr>
                              <m:t>2</m:t>
                            </m:r>
                          </m:sub>
                        </m:sSub>
                        <m:r>
                          <a:rPr lang="en-US" altLang="zh-CN" sz="1200" b="0" i="1" smtClean="0">
                            <a:solidFill>
                              <a:schemeClr val="bg2"/>
                            </a:solidFill>
                            <a:latin typeface="Cambria Math" panose="02040503050406030204" pitchFamily="18" charset="0"/>
                          </a:rPr>
                          <m:t>𝑥</m:t>
                        </m:r>
                        <m:r>
                          <a:rPr lang="en-US" altLang="zh-CN" sz="1200" b="0" i="1" smtClean="0">
                            <a:solidFill>
                              <a:schemeClr val="bg2"/>
                            </a:solidFill>
                            <a:latin typeface="Cambria Math" panose="02040503050406030204" pitchFamily="18" charset="0"/>
                          </a:rPr>
                          <m:t>+</m:t>
                        </m:r>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𝑎</m:t>
                            </m:r>
                          </m:e>
                          <m:sub>
                            <m:r>
                              <a:rPr lang="en-US" altLang="zh-CN" sz="1200" b="0" i="1" smtClean="0">
                                <a:solidFill>
                                  <a:schemeClr val="bg2"/>
                                </a:solidFill>
                                <a:latin typeface="Cambria Math" panose="02040503050406030204" pitchFamily="18" charset="0"/>
                              </a:rPr>
                              <m:t>1</m:t>
                            </m:r>
                          </m:sub>
                        </m:sSub>
                      </m:e>
                    </m:d>
                    <m:r>
                      <a:rPr lang="en-US" altLang="zh-CN" sz="1200" b="0" i="1" smtClean="0">
                        <a:solidFill>
                          <a:schemeClr val="bg2"/>
                        </a:solidFill>
                        <a:latin typeface="Cambria Math" panose="02040503050406030204" pitchFamily="18" charset="0"/>
                      </a:rPr>
                      <m:t>+</m:t>
                    </m:r>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𝑎</m:t>
                        </m:r>
                      </m:e>
                      <m:sub>
                        <m:r>
                          <a:rPr lang="en-US" altLang="zh-CN" sz="1200" b="0" i="1" smtClean="0">
                            <a:solidFill>
                              <a:schemeClr val="bg2"/>
                            </a:solidFill>
                            <a:latin typeface="Cambria Math" panose="02040503050406030204" pitchFamily="18" charset="0"/>
                          </a:rPr>
                          <m:t>0</m:t>
                        </m:r>
                      </m:sub>
                    </m:sSub>
                    <m:r>
                      <a:rPr lang="en-US" altLang="zh-CN" sz="1200" b="0" i="1" smtClean="0">
                        <a:solidFill>
                          <a:schemeClr val="bg2"/>
                        </a:solidFill>
                        <a:latin typeface="Cambria Math" panose="02040503050406030204" pitchFamily="18" charset="0"/>
                      </a:rPr>
                      <m:t>=</m:t>
                    </m:r>
                    <m:r>
                      <a:rPr lang="en-US" altLang="zh-CN" sz="1200" b="0" i="1" smtClean="0">
                        <a:solidFill>
                          <a:schemeClr val="bg2"/>
                        </a:solidFill>
                        <a:latin typeface="Cambria Math" panose="02040503050406030204" pitchFamily="18" charset="0"/>
                      </a:rPr>
                      <m:t>𝑥</m:t>
                    </m:r>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𝑓</m:t>
                        </m:r>
                      </m:e>
                      <m:sub>
                        <m:r>
                          <a:rPr lang="en-US" altLang="zh-CN" sz="1200" b="0" i="1" smtClean="0">
                            <a:solidFill>
                              <a:schemeClr val="bg2"/>
                            </a:solidFill>
                            <a:latin typeface="Cambria Math" panose="02040503050406030204" pitchFamily="18" charset="0"/>
                          </a:rPr>
                          <m:t>𝑛</m:t>
                        </m:r>
                        <m:r>
                          <a:rPr lang="en-US" altLang="zh-CN" sz="1200" b="0" i="1" smtClean="0">
                            <a:solidFill>
                              <a:schemeClr val="bg2"/>
                            </a:solidFill>
                            <a:latin typeface="Cambria Math" panose="02040503050406030204" pitchFamily="18" charset="0"/>
                          </a:rPr>
                          <m:t>−</m:t>
                        </m:r>
                        <m:r>
                          <a:rPr lang="en-US" altLang="zh-CN" sz="1200" b="0" i="1" smtClean="0">
                            <a:solidFill>
                              <a:schemeClr val="bg2"/>
                            </a:solidFill>
                            <a:latin typeface="Cambria Math" panose="02040503050406030204" pitchFamily="18" charset="0"/>
                          </a:rPr>
                          <m:t>1</m:t>
                        </m:r>
                      </m:sub>
                    </m:sSub>
                    <m:d>
                      <m:dPr>
                        <m:ctrlPr>
                          <a:rPr lang="en-US" altLang="zh-CN" sz="1200" b="0" i="1" smtClean="0">
                            <a:solidFill>
                              <a:schemeClr val="bg2"/>
                            </a:solidFill>
                            <a:latin typeface="Cambria Math" panose="02040503050406030204" pitchFamily="18" charset="0"/>
                          </a:rPr>
                        </m:ctrlPr>
                      </m:dPr>
                      <m:e>
                        <m:r>
                          <a:rPr lang="en-US" altLang="zh-CN" sz="1200" b="0" i="1" smtClean="0">
                            <a:solidFill>
                              <a:schemeClr val="bg2"/>
                            </a:solidFill>
                            <a:latin typeface="Cambria Math" panose="02040503050406030204" pitchFamily="18" charset="0"/>
                          </a:rPr>
                          <m:t>𝑥</m:t>
                        </m:r>
                      </m:e>
                    </m:d>
                    <m:r>
                      <a:rPr lang="en-US" altLang="zh-CN" sz="1200" b="0" i="1" smtClean="0">
                        <a:solidFill>
                          <a:schemeClr val="bg2"/>
                        </a:solidFill>
                        <a:latin typeface="Cambria Math" panose="02040503050406030204" pitchFamily="18" charset="0"/>
                      </a:rPr>
                      <m:t>+</m:t>
                    </m:r>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𝑎</m:t>
                        </m:r>
                      </m:e>
                      <m:sub>
                        <m:r>
                          <a:rPr lang="en-US" altLang="zh-CN" sz="1200" b="0" i="1" smtClean="0">
                            <a:solidFill>
                              <a:schemeClr val="bg2"/>
                            </a:solidFill>
                            <a:latin typeface="Cambria Math" panose="02040503050406030204" pitchFamily="18" charset="0"/>
                          </a:rPr>
                          <m:t>0</m:t>
                        </m:r>
                      </m:sub>
                    </m:sSub>
                  </m:oMath>
                </a14:m>
                <a:endParaRPr lang="en-US" altLang="zh-CN" sz="1200" dirty="0">
                  <a:solidFill>
                    <a:schemeClr val="bg2"/>
                  </a:solidFill>
                </a:endParaRPr>
              </a:p>
              <a:p>
                <a:pPr lvl="1"/>
                <a14:m>
                  <m:oMath xmlns:m="http://schemas.openxmlformats.org/officeDocument/2006/math">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𝑓</m:t>
                        </m:r>
                      </m:e>
                      <m:sub>
                        <m:r>
                          <a:rPr lang="en-US" altLang="zh-CN" sz="1200" b="0" i="1" smtClean="0">
                            <a:solidFill>
                              <a:schemeClr val="bg2"/>
                            </a:solidFill>
                            <a:latin typeface="Cambria Math" panose="02040503050406030204" pitchFamily="18" charset="0"/>
                          </a:rPr>
                          <m:t>0</m:t>
                        </m:r>
                      </m:sub>
                    </m:sSub>
                    <m:d>
                      <m:dPr>
                        <m:ctrlPr>
                          <a:rPr lang="en-US" altLang="zh-CN" sz="1200" b="0" i="1" smtClean="0">
                            <a:solidFill>
                              <a:schemeClr val="bg2"/>
                            </a:solidFill>
                            <a:latin typeface="Cambria Math" panose="02040503050406030204" pitchFamily="18" charset="0"/>
                          </a:rPr>
                        </m:ctrlPr>
                      </m:dPr>
                      <m:e>
                        <m:r>
                          <a:rPr lang="en-US" altLang="zh-CN" sz="1200" b="0" i="1" smtClean="0">
                            <a:solidFill>
                              <a:schemeClr val="bg2"/>
                            </a:solidFill>
                            <a:latin typeface="Cambria Math" panose="02040503050406030204" pitchFamily="18" charset="0"/>
                          </a:rPr>
                          <m:t>𝑥</m:t>
                        </m:r>
                      </m:e>
                    </m:d>
                    <m:r>
                      <a:rPr lang="en-US" altLang="zh-CN" sz="1200" b="0" i="1" smtClean="0">
                        <a:solidFill>
                          <a:schemeClr val="bg2"/>
                        </a:solidFill>
                        <a:latin typeface="Cambria Math" panose="02040503050406030204" pitchFamily="18" charset="0"/>
                      </a:rPr>
                      <m:t>=</m:t>
                    </m:r>
                    <m:sSub>
                      <m:sSubPr>
                        <m:ctrlPr>
                          <a:rPr lang="en-US" altLang="zh-CN" sz="1200" b="0" i="1" smtClean="0">
                            <a:solidFill>
                              <a:schemeClr val="bg2"/>
                            </a:solidFill>
                            <a:latin typeface="Cambria Math" panose="02040503050406030204" pitchFamily="18" charset="0"/>
                          </a:rPr>
                        </m:ctrlPr>
                      </m:sSubPr>
                      <m:e>
                        <m:r>
                          <a:rPr lang="en-US" altLang="zh-CN" sz="1200" b="0" i="1" smtClean="0">
                            <a:solidFill>
                              <a:schemeClr val="bg2"/>
                            </a:solidFill>
                            <a:latin typeface="Cambria Math" panose="02040503050406030204" pitchFamily="18" charset="0"/>
                          </a:rPr>
                          <m:t>𝑎</m:t>
                        </m:r>
                      </m:e>
                      <m:sub>
                        <m:r>
                          <a:rPr lang="en-US" altLang="zh-CN" sz="1200" b="0" i="1" smtClean="0">
                            <a:solidFill>
                              <a:schemeClr val="bg2"/>
                            </a:solidFill>
                            <a:latin typeface="Cambria Math" panose="02040503050406030204" pitchFamily="18" charset="0"/>
                          </a:rPr>
                          <m:t>𝑛</m:t>
                        </m:r>
                      </m:sub>
                    </m:sSub>
                  </m:oMath>
                </a14:m>
                <a:endParaRPr lang="en-US" altLang="zh-CN" sz="1200" dirty="0">
                  <a:solidFill>
                    <a:schemeClr val="bg2"/>
                  </a:solidFill>
                </a:endParaRPr>
              </a:p>
              <a:p>
                <a:pPr lvl="1"/>
                <a:r>
                  <a:rPr lang="en-US" altLang="zh-CN" sz="1200" dirty="0">
                    <a:solidFill>
                      <a:schemeClr val="bg2"/>
                    </a:solidFill>
                  </a:rPr>
                  <a:t>Time</a:t>
                </a:r>
                <a:r>
                  <a:rPr lang="zh-CN" altLang="en-US" sz="1200" dirty="0">
                    <a:solidFill>
                      <a:schemeClr val="bg2"/>
                    </a:solidFill>
                  </a:rPr>
                  <a:t> </a:t>
                </a:r>
                <a:r>
                  <a:rPr lang="en-US" altLang="zh-CN" sz="1200" dirty="0">
                    <a:solidFill>
                      <a:schemeClr val="bg2"/>
                    </a:solidFill>
                  </a:rPr>
                  <a:t>complexity</a:t>
                </a:r>
                <a:r>
                  <a:rPr lang="zh-CN" altLang="en-US" sz="1200" dirty="0">
                    <a:solidFill>
                      <a:schemeClr val="bg2"/>
                    </a:solidFill>
                  </a:rPr>
                  <a:t> </a:t>
                </a:r>
                <a14:m>
                  <m:oMath xmlns:m="http://schemas.openxmlformats.org/officeDocument/2006/math">
                    <m:r>
                      <a:rPr lang="en-US" altLang="zh-CN" sz="1200" b="0" i="1" smtClean="0">
                        <a:solidFill>
                          <a:schemeClr val="bg2"/>
                        </a:solidFill>
                        <a:latin typeface="Cambria Math" panose="02040503050406030204" pitchFamily="18" charset="0"/>
                      </a:rPr>
                      <m:t>𝑂</m:t>
                    </m:r>
                    <m:r>
                      <a:rPr lang="en-US" altLang="zh-CN" sz="1200" b="0" i="1" smtClean="0">
                        <a:solidFill>
                          <a:schemeClr val="bg2"/>
                        </a:solidFill>
                        <a:latin typeface="Cambria Math" panose="02040503050406030204" pitchFamily="18" charset="0"/>
                      </a:rPr>
                      <m:t>(</m:t>
                    </m:r>
                    <m:r>
                      <a:rPr lang="en-US" altLang="zh-CN" sz="1200" b="0" i="1" smtClean="0">
                        <a:solidFill>
                          <a:schemeClr val="bg2"/>
                        </a:solidFill>
                        <a:latin typeface="Cambria Math" panose="02040503050406030204" pitchFamily="18" charset="0"/>
                      </a:rPr>
                      <m:t>𝑛</m:t>
                    </m:r>
                    <m:r>
                      <a:rPr lang="en-US" altLang="zh-CN" sz="1200" b="0" i="1" smtClean="0">
                        <a:solidFill>
                          <a:schemeClr val="bg2"/>
                        </a:solidFill>
                        <a:latin typeface="Cambria Math" panose="02040503050406030204" pitchFamily="18" charset="0"/>
                      </a:rPr>
                      <m:t>)</m:t>
                    </m:r>
                  </m:oMath>
                </a14:m>
                <a:endParaRPr lang="en-US" altLang="zh-CN" sz="1200" dirty="0">
                  <a:solidFill>
                    <a:schemeClr val="bg2"/>
                  </a:solidFill>
                </a:endParaRPr>
              </a:p>
              <a:p>
                <a:endParaRPr lang="en-US" altLang="zh-CN" sz="1400" dirty="0">
                  <a:solidFill>
                    <a:schemeClr val="bg2"/>
                  </a:solidFill>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blipFill rotWithShape="1">
                <a:blip r:embed="rId1"/>
                <a:stretch>
                  <a:fillRect l="-6" t="-17" r="1" b="1"/>
                </a:stretch>
              </a:blipFill>
            </p:spPr>
            <p:txBody>
              <a:bodyPr/>
              <a:lstStyle/>
              <a:p>
                <a:r>
                  <a:rPr lang="zh-CN" altLang="en-US">
                    <a:noFill/>
                  </a:rPr>
                  <a:t> </a:t>
                </a:r>
              </a:p>
            </p:txBody>
          </p:sp>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Source Sans Pro" panose="020B0503030403020204" pitchFamily="34" charset="0"/>
                <a:ea typeface="Source Sans Pro" panose="020B0503030403020204" pitchFamily="34" charset="0"/>
              </a:rPr>
              <a:t>列表的复杂度</a:t>
            </a:r>
            <a:endParaRPr lang="zh-CN" altLang="en-US"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79042"/>
            <a:ext cx="8520600" cy="3777894"/>
          </a:xfrm>
        </p:spPr>
        <p:txBody>
          <a:bodyPr>
            <a:noAutofit/>
          </a:bodyPr>
          <a:lstStyle/>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列表的</a:t>
            </a:r>
            <a:r>
              <a:rPr lang="zh-CN" altLang="en-US" sz="1400" dirty="0">
                <a:solidFill>
                  <a:schemeClr val="tx1"/>
                </a:solidFill>
                <a:latin typeface="Source Sans Pro" panose="020B0503030403020204" pitchFamily="34" charset="0"/>
                <a:ea typeface="黑体" panose="02010609060101010101" pitchFamily="49" charset="-122"/>
              </a:rPr>
              <a:t>基本假设</a:t>
            </a:r>
            <a:endParaRPr lang="zh-CN" altLang="en-US" sz="1400" dirty="0">
              <a:solidFill>
                <a:schemeClr val="tx1"/>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列表中的元素在内存中是</a:t>
            </a:r>
            <a:r>
              <a:rPr lang="zh-CN" altLang="en-US" sz="1200" dirty="0">
                <a:solidFill>
                  <a:schemeClr val="tx1"/>
                </a:solidFill>
                <a:latin typeface="Source Sans Pro" panose="020B0503030403020204" pitchFamily="34" charset="0"/>
                <a:ea typeface="黑体" panose="02010609060101010101" pitchFamily="49" charset="-122"/>
              </a:rPr>
              <a:t>依次连续排列</a:t>
            </a:r>
            <a:r>
              <a:rPr lang="zh-CN" altLang="en-US" sz="1200" dirty="0">
                <a:solidFill>
                  <a:schemeClr val="bg2"/>
                </a:solidFill>
                <a:latin typeface="Source Sans Pro" panose="020B0503030403020204" pitchFamily="34" charset="0"/>
                <a:ea typeface="黑体" panose="02010609060101010101" pitchFamily="49" charset="-122"/>
              </a:rPr>
              <a:t>的</a:t>
            </a:r>
            <a:endParaRPr lang="zh-CN" altLang="en-US" sz="12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列表中的元素是</a:t>
            </a:r>
            <a:r>
              <a:rPr lang="zh-CN" altLang="en-US" sz="1200" dirty="0">
                <a:solidFill>
                  <a:schemeClr val="tx1"/>
                </a:solidFill>
                <a:latin typeface="Source Sans Pro" panose="020B0503030403020204" pitchFamily="34" charset="0"/>
                <a:ea typeface="黑体" panose="02010609060101010101" pitchFamily="49" charset="-122"/>
              </a:rPr>
              <a:t>通过下标访问</a:t>
            </a:r>
            <a:r>
              <a:rPr lang="zh-CN" altLang="en-US" sz="1200" dirty="0">
                <a:solidFill>
                  <a:schemeClr val="bg2"/>
                </a:solidFill>
                <a:latin typeface="Source Sans Pro" panose="020B0503030403020204" pitchFamily="34" charset="0"/>
                <a:ea typeface="黑体" panose="02010609060101010101" pitchFamily="49" charset="-122"/>
              </a:rPr>
              <a:t>的</a:t>
            </a:r>
            <a:r>
              <a:rPr lang="en-US" altLang="zh-CN" sz="1200" dirty="0">
                <a:solidFill>
                  <a:schemeClr val="bg2"/>
                </a:solidFill>
                <a:latin typeface="Source Sans Pro" panose="020B0503030403020204" pitchFamily="34" charset="0"/>
                <a:ea typeface="Source Sans Pro" panose="020B0503030403020204" pitchFamily="34" charset="0"/>
              </a:rPr>
              <a:t>: </a:t>
            </a:r>
            <a:r>
              <a:rPr lang="en-US" altLang="zh-CN" sz="1200" dirty="0" err="1">
                <a:solidFill>
                  <a:schemeClr val="bg2"/>
                </a:solidFill>
                <a:latin typeface="Source Sans Pro" panose="020B0503030403020204" pitchFamily="34" charset="0"/>
                <a:ea typeface="Source Sans Pro" panose="020B0503030403020204" pitchFamily="34" charset="0"/>
              </a:rPr>
              <a:t>lst</a:t>
            </a:r>
            <a:r>
              <a:rPr lang="en-US" altLang="zh-CN" sz="1200" dirty="0">
                <a:solidFill>
                  <a:schemeClr val="bg2"/>
                </a:solidFill>
                <a:latin typeface="Source Sans Pro" panose="020B0503030403020204" pitchFamily="34" charset="0"/>
                <a:ea typeface="Source Sans Pro" panose="020B0503030403020204" pitchFamily="34" charset="0"/>
              </a:rPr>
              <a:t>[</a:t>
            </a:r>
            <a:r>
              <a:rPr lang="en-US" altLang="zh-CN" sz="1200" dirty="0" err="1">
                <a:solidFill>
                  <a:schemeClr val="bg2"/>
                </a:solidFill>
                <a:latin typeface="Source Sans Pro" panose="020B0503030403020204" pitchFamily="34" charset="0"/>
                <a:ea typeface="Source Sans Pro" panose="020B0503030403020204" pitchFamily="34" charset="0"/>
              </a:rPr>
              <a:t>i</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a:p>
            <a:pPr lvl="2">
              <a:lnSpc>
                <a:spcPct val="120000"/>
              </a:lnSpc>
            </a:pPr>
            <a:r>
              <a:rPr lang="zh-CN" altLang="en-US" sz="1000" dirty="0">
                <a:solidFill>
                  <a:schemeClr val="bg2"/>
                </a:solidFill>
                <a:latin typeface="Source Sans Pro" panose="020B0503030403020204" pitchFamily="34" charset="0"/>
                <a:ea typeface="黑体" panose="02010609060101010101" pitchFamily="49" charset="-122"/>
              </a:rPr>
              <a:t>访问一个元素是</a:t>
            </a:r>
            <a:r>
              <a:rPr lang="en-US" altLang="zh-CN" sz="1000" dirty="0">
                <a:solidFill>
                  <a:schemeClr val="bg2"/>
                </a:solidFill>
                <a:latin typeface="Source Sans Pro" panose="020B0503030403020204" pitchFamily="34" charset="0"/>
                <a:ea typeface="Source Sans Pro" panose="020B0503030403020204" pitchFamily="34" charset="0"/>
              </a:rPr>
              <a:t>O(1)</a:t>
            </a:r>
            <a:endParaRPr lang="en-US" altLang="zh-CN" sz="10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在这两个假设下</a:t>
            </a:r>
            <a:endParaRPr lang="zh-CN" altLang="en-US" sz="14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rgbClr val="FF0000"/>
                </a:solidFill>
                <a:highlight>
                  <a:srgbClr val="FFFF00"/>
                </a:highlight>
                <a:latin typeface="Source Sans Pro" panose="020B0503030403020204" pitchFamily="34" charset="0"/>
                <a:ea typeface="黑体" panose="02010609060101010101" pitchFamily="49" charset="-122"/>
              </a:rPr>
              <a:t>插入 </a:t>
            </a:r>
            <a:r>
              <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rPr>
              <a:t>O(n)</a:t>
            </a:r>
            <a:endPar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endParaRPr>
          </a:p>
          <a:p>
            <a:pPr lvl="1">
              <a:lnSpc>
                <a:spcPct val="120000"/>
              </a:lnSpc>
            </a:pPr>
            <a:r>
              <a:rPr lang="zh-CN" altLang="en-US" sz="1200" dirty="0">
                <a:solidFill>
                  <a:srgbClr val="FF0000"/>
                </a:solidFill>
                <a:highlight>
                  <a:srgbClr val="FFFF00"/>
                </a:highlight>
                <a:latin typeface="Source Sans Pro" panose="020B0503030403020204" pitchFamily="34" charset="0"/>
                <a:ea typeface="黑体" panose="02010609060101010101" pitchFamily="49" charset="-122"/>
              </a:rPr>
              <a:t>查找 </a:t>
            </a:r>
            <a:r>
              <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rPr>
              <a:t>O(n)</a:t>
            </a:r>
            <a:endPar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endParaRPr>
          </a:p>
          <a:p>
            <a:pPr lvl="1">
              <a:lnSpc>
                <a:spcPct val="120000"/>
              </a:lnSpc>
            </a:pPr>
            <a:r>
              <a:rPr lang="zh-CN" altLang="en-US" sz="1200" dirty="0">
                <a:solidFill>
                  <a:srgbClr val="FF0000"/>
                </a:solidFill>
                <a:highlight>
                  <a:srgbClr val="FFFF00"/>
                </a:highlight>
                <a:latin typeface="Source Sans Pro" panose="020B0503030403020204" pitchFamily="34" charset="0"/>
                <a:ea typeface="黑体" panose="02010609060101010101" pitchFamily="49" charset="-122"/>
              </a:rPr>
              <a:t>删除 </a:t>
            </a:r>
            <a:r>
              <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rPr>
              <a:t>O(n)</a:t>
            </a:r>
            <a:endParaRPr lang="en-US" altLang="zh-CN" sz="1200" dirty="0">
              <a:solidFill>
                <a:srgbClr val="FF0000"/>
              </a:solidFill>
              <a:highlight>
                <a:srgbClr val="FFFF00"/>
              </a:highlight>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所有的操作都要保证，经过操作后的数据结构依然是列表，即满足两个基本假设</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endParaRPr lang="en-US" altLang="zh-CN" sz="1200" dirty="0">
              <a:solidFill>
                <a:schemeClr val="bg2"/>
              </a:solidFill>
              <a:latin typeface="Source Sans Pro" panose="020B0503030403020204" pitchFamily="34" charset="0"/>
              <a:ea typeface="Source Sans Pro" panose="020B0503030403020204" pitchFamily="34" charset="0"/>
            </a:endParaRPr>
          </a:p>
          <a:p>
            <a:pPr marL="596900" lvl="1" indent="0">
              <a:lnSpc>
                <a:spcPct val="120000"/>
              </a:lnSpc>
              <a:buNone/>
            </a:pPr>
            <a:endParaRPr lang="en-US" altLang="zh-CN" sz="1200" dirty="0">
              <a:solidFill>
                <a:schemeClr val="bg2"/>
              </a:solidFill>
              <a:latin typeface="Source Sans Pro" panose="020B0503030403020204" pitchFamily="34" charset="0"/>
              <a:ea typeface="Source Sans Pro" panose="020B0503030403020204" pitchFamily="34" charset="0"/>
            </a:endParaRPr>
          </a:p>
        </p:txBody>
      </p:sp>
      <p:graphicFrame>
        <p:nvGraphicFramePr>
          <p:cNvPr id="4" name="Table 7"/>
          <p:cNvGraphicFramePr>
            <a:graphicFrameLocks noGrp="1"/>
          </p:cNvGraphicFramePr>
          <p:nvPr/>
        </p:nvGraphicFramePr>
        <p:xfrm>
          <a:off x="1219200" y="3417163"/>
          <a:ext cx="6705600" cy="396240"/>
        </p:xfrm>
        <a:graphic>
          <a:graphicData uri="http://schemas.openxmlformats.org/drawingml/2006/table">
            <a:tbl>
              <a:tblPr firstRow="1" bandRow="1">
                <a:tableStyleId>{93296810-A885-4BE3-A3E7-6D5BEEA58F35}</a:tableStyleId>
              </a:tblPr>
              <a:tblGrid>
                <a:gridCol w="670560"/>
                <a:gridCol w="670560"/>
                <a:gridCol w="670560"/>
                <a:gridCol w="670560"/>
                <a:gridCol w="670560"/>
                <a:gridCol w="670560"/>
                <a:gridCol w="670560"/>
                <a:gridCol w="670560"/>
                <a:gridCol w="670560"/>
                <a:gridCol w="670560"/>
              </a:tblGrid>
              <a:tr h="372381">
                <a:tc>
                  <a:txBody>
                    <a:bodyPr/>
                    <a:lstStyle/>
                    <a:p>
                      <a:pPr algn="ctr"/>
                      <a:r>
                        <a:rPr lang="en-US" sz="2000" dirty="0">
                          <a:solidFill>
                            <a:schemeClr val="tx1"/>
                          </a:solidFill>
                        </a:rPr>
                        <a:t>100</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2</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3</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4</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5</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7</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8</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-1</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-3</a:t>
                      </a:r>
                      <a:endParaRPr lang="en-US" sz="2000" dirty="0">
                        <a:solidFill>
                          <a:schemeClr val="tx1"/>
                        </a:solidFill>
                      </a:endParaRPr>
                    </a:p>
                  </a:txBody>
                  <a:tcPr>
                    <a:solidFill>
                      <a:schemeClr val="accent6">
                        <a:lumMod val="40000"/>
                        <a:lumOff val="60000"/>
                      </a:schemeClr>
                    </a:solidFill>
                  </a:tcPr>
                </a:tc>
                <a:tc>
                  <a:txBody>
                    <a:bodyPr/>
                    <a:lstStyle/>
                    <a:p>
                      <a:pPr algn="ctr"/>
                      <a:r>
                        <a:rPr lang="en-US" sz="2000" dirty="0">
                          <a:solidFill>
                            <a:schemeClr val="tx1"/>
                          </a:solidFill>
                        </a:rPr>
                        <a:t>-7</a:t>
                      </a:r>
                      <a:endParaRPr lang="en-US" sz="2000" dirty="0">
                        <a:solidFill>
                          <a:schemeClr val="tx1"/>
                        </a:solidFill>
                      </a:endParaRPr>
                    </a:p>
                  </a:txBody>
                  <a:tcPr>
                    <a:solidFill>
                      <a:schemeClr val="accent6">
                        <a:lumMod val="40000"/>
                        <a:lumOff val="60000"/>
                      </a:schemeClr>
                    </a:solidFill>
                  </a:tcPr>
                </a:tc>
              </a:tr>
            </a:tbl>
          </a:graphicData>
        </a:graphic>
      </p:graphicFrame>
      <p:sp>
        <p:nvSpPr>
          <p:cNvPr id="5" name="Rectangle 4"/>
          <p:cNvSpPr/>
          <p:nvPr/>
        </p:nvSpPr>
        <p:spPr>
          <a:xfrm>
            <a:off x="5116991" y="1909020"/>
            <a:ext cx="2952188" cy="46461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200" dirty="0">
                <a:solidFill>
                  <a:schemeClr val="bg2"/>
                </a:solidFill>
                <a:latin typeface="Source Sans Pro" panose="020B0503030403020204" pitchFamily="34" charset="0"/>
                <a:ea typeface="黑体" panose="02010609060101010101" pitchFamily="49" charset="-122"/>
              </a:rPr>
              <a:t>依次连续排列才能保证通过下标访问</a:t>
            </a:r>
            <a:endParaRPr lang="zh-CN" altLang="en-US" sz="1200" dirty="0">
              <a:solidFill>
                <a:schemeClr val="bg2"/>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r>
              <a:rPr lang="zh-CN" altLang="en-US" sz="1200" dirty="0">
                <a:solidFill>
                  <a:schemeClr val="bg2"/>
                </a:solidFill>
                <a:latin typeface="Source Sans Pro" panose="020B0503030403020204" pitchFamily="34" charset="0"/>
                <a:ea typeface="黑体" panose="02010609060101010101" pitchFamily="49" charset="-122"/>
              </a:rPr>
              <a:t>下标和元素一一对应</a:t>
            </a:r>
            <a:endParaRPr lang="zh-CN" altLang="en-US" sz="1200" dirty="0">
              <a:solidFill>
                <a:schemeClr val="bg2"/>
              </a:solidFill>
              <a:latin typeface="Source Sans Pro" panose="020B0503030403020204" pitchFamily="34" charset="0"/>
              <a:ea typeface="黑体" panose="02010609060101010101" pitchFamily="49"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Source Sans Pro" panose="020B0503030403020204" pitchFamily="34" charset="0"/>
                <a:ea typeface="Source Sans Pro" panose="020B0503030403020204" pitchFamily="34" charset="0"/>
              </a:rPr>
              <a:t>列表的复杂度</a:t>
            </a:r>
            <a:r>
              <a:rPr lang="en-US" altLang="zh-CN" dirty="0">
                <a:latin typeface="Source Sans Pro" panose="020B0503030403020204" pitchFamily="34" charset="0"/>
                <a:ea typeface="Source Sans Pro" panose="020B0503030403020204" pitchFamily="34" charset="0"/>
              </a:rPr>
              <a:t>		</a:t>
            </a:r>
            <a:endParaRPr lang="zh-CN" altLang="en-US" dirty="0">
              <a:latin typeface="Source Sans Pro" panose="020B0503030403020204" pitchFamily="34" charset="0"/>
              <a:ea typeface="Source Sans Pro" panose="020B0503030403020204" pitchFamily="34" charset="0"/>
            </a:endParaRPr>
          </a:p>
        </p:txBody>
      </p:sp>
      <p:sp>
        <p:nvSpPr>
          <p:cNvPr id="3" name="文本占位符 2"/>
          <p:cNvSpPr>
            <a:spLocks noGrp="1"/>
          </p:cNvSpPr>
          <p:nvPr>
            <p:ph type="body" idx="1"/>
          </p:nvPr>
        </p:nvSpPr>
        <p:spPr>
          <a:xfrm>
            <a:off x="311700" y="1068425"/>
            <a:ext cx="8520600" cy="2842897"/>
          </a:xfrm>
        </p:spPr>
        <p:txBody>
          <a:bodyPr>
            <a:noAutofit/>
          </a:bodyPr>
          <a:lstStyle/>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在基本假设下，如何自己实现插入、查找、删除</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插入 </a:t>
            </a:r>
            <a:r>
              <a:rPr lang="en-US" altLang="zh-CN" sz="1400" dirty="0">
                <a:solidFill>
                  <a:schemeClr val="bg2"/>
                </a:solidFill>
                <a:latin typeface="Source Sans Pro" panose="020B0503030403020204" pitchFamily="34" charset="0"/>
                <a:ea typeface="Source Sans Pro" panose="020B0503030403020204" pitchFamily="34" charset="0"/>
              </a:rPr>
              <a:t>O(n)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20000"/>
              </a:lnSpc>
              <a:buNone/>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查找 </a:t>
            </a:r>
            <a:r>
              <a:rPr lang="en-US" altLang="zh-CN" sz="1400" dirty="0">
                <a:solidFill>
                  <a:schemeClr val="bg2"/>
                </a:solidFill>
                <a:latin typeface="Source Sans Pro" panose="020B0503030403020204" pitchFamily="34" charset="0"/>
                <a:ea typeface="Source Sans Pro" panose="020B0503030403020204" pitchFamily="34" charset="0"/>
              </a:rPr>
              <a:t>O(n)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删除 </a:t>
            </a:r>
            <a:r>
              <a:rPr lang="en-US" altLang="zh-CN" sz="1400" dirty="0">
                <a:solidFill>
                  <a:schemeClr val="bg2"/>
                </a:solidFill>
                <a:latin typeface="Source Sans Pro" panose="020B0503030403020204" pitchFamily="34" charset="0"/>
                <a:ea typeface="Source Sans Pro" panose="020B0503030403020204" pitchFamily="34" charset="0"/>
              </a:rPr>
              <a:t>O(n)</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5" name="Rectangle 4"/>
          <p:cNvSpPr/>
          <p:nvPr/>
        </p:nvSpPr>
        <p:spPr>
          <a:xfrm>
            <a:off x="5693344" y="1162335"/>
            <a:ext cx="2275959" cy="382652"/>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200" dirty="0">
                <a:solidFill>
                  <a:schemeClr val="tx1"/>
                </a:solidFill>
                <a:latin typeface="Source Sans Pro" panose="020B0503030403020204" pitchFamily="34" charset="0"/>
                <a:ea typeface="黑体" panose="02010609060101010101" pitchFamily="49" charset="-122"/>
              </a:rPr>
              <a:t>修改和插入很费时</a:t>
            </a:r>
            <a:endParaRPr lang="zh-CN" altLang="en-US" sz="1200" dirty="0">
              <a:solidFill>
                <a:schemeClr val="tx1"/>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r>
              <a:rPr lang="zh-CN" altLang="en-US" sz="1200" dirty="0">
                <a:solidFill>
                  <a:schemeClr val="tx1"/>
                </a:solidFill>
                <a:latin typeface="Source Sans Pro" panose="020B0503030403020204" pitchFamily="34" charset="0"/>
                <a:ea typeface="黑体" panose="02010609060101010101" pitchFamily="49" charset="-122"/>
              </a:rPr>
              <a:t>不要一边遍历，一边修改</a:t>
            </a:r>
            <a:endParaRPr lang="zh-CN" altLang="en-US" sz="1200" dirty="0">
              <a:solidFill>
                <a:schemeClr val="tx1"/>
              </a:solidFill>
              <a:latin typeface="Source Sans Pro" panose="020B0503030403020204" pitchFamily="34" charset="0"/>
              <a:ea typeface="黑体" panose="02010609060101010101" pitchFamily="49" charset="-122"/>
            </a:endParaRPr>
          </a:p>
        </p:txBody>
      </p:sp>
      <p:pic>
        <p:nvPicPr>
          <p:cNvPr id="9" name="图片 8"/>
          <p:cNvPicPr>
            <a:picLocks noChangeAspect="1"/>
          </p:cNvPicPr>
          <p:nvPr/>
        </p:nvPicPr>
        <p:blipFill>
          <a:blip r:embed="rId1"/>
          <a:stretch>
            <a:fillRect/>
          </a:stretch>
        </p:blipFill>
        <p:spPr>
          <a:xfrm>
            <a:off x="1665585" y="1638898"/>
            <a:ext cx="5812829" cy="324510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Source Sans Pro" panose="020B0503030403020204" pitchFamily="34" charset="0"/>
                <a:ea typeface="Source Sans Pro" panose="020B0503030403020204" pitchFamily="34" charset="0"/>
              </a:rPr>
              <a:t>列表的复杂度</a:t>
            </a:r>
            <a:r>
              <a:rPr lang="en-US" altLang="zh-CN" dirty="0">
                <a:latin typeface="Source Sans Pro" panose="020B0503030403020204" pitchFamily="34" charset="0"/>
                <a:ea typeface="Source Sans Pro" panose="020B0503030403020204" pitchFamily="34" charset="0"/>
              </a:rPr>
              <a:t>		</a:t>
            </a:r>
            <a:endParaRPr lang="zh-CN" altLang="en-US" dirty="0">
              <a:latin typeface="Source Sans Pro" panose="020B0503030403020204" pitchFamily="34" charset="0"/>
              <a:ea typeface="Source Sans Pro" panose="020B0503030403020204" pitchFamily="34" charset="0"/>
            </a:endParaRPr>
          </a:p>
        </p:txBody>
      </p:sp>
      <p:sp>
        <p:nvSpPr>
          <p:cNvPr id="3" name="文本占位符 2"/>
          <p:cNvSpPr>
            <a:spLocks noGrp="1"/>
          </p:cNvSpPr>
          <p:nvPr>
            <p:ph type="body" idx="1"/>
          </p:nvPr>
        </p:nvSpPr>
        <p:spPr>
          <a:xfrm>
            <a:off x="311700" y="1028338"/>
            <a:ext cx="8520600" cy="460644"/>
          </a:xfrm>
        </p:spPr>
        <p:txBody>
          <a:bodyPr>
            <a:noAutofit/>
          </a:bodyPr>
          <a:lstStyle/>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给一个</a:t>
            </a:r>
            <a:r>
              <a:rPr lang="en-US" altLang="zh-CN" sz="1400" dirty="0">
                <a:solidFill>
                  <a:schemeClr val="bg2"/>
                </a:solidFill>
                <a:latin typeface="Source Sans Pro" panose="020B0503030403020204" pitchFamily="34" charset="0"/>
                <a:ea typeface="Source Sans Pro" panose="020B0503030403020204" pitchFamily="34" charset="0"/>
              </a:rPr>
              <a:t>1024</a:t>
            </a:r>
            <a:r>
              <a:rPr lang="zh-CN" altLang="en-US" sz="1400" dirty="0">
                <a:solidFill>
                  <a:schemeClr val="bg2"/>
                </a:solidFill>
                <a:latin typeface="Source Sans Pro" panose="020B0503030403020204" pitchFamily="34" charset="0"/>
                <a:ea typeface="Source Sans Pro" panose="020B0503030403020204" pitchFamily="34" charset="0"/>
              </a:rPr>
              <a:t>长度的内存，模拟</a:t>
            </a:r>
            <a:r>
              <a:rPr lang="en-US" altLang="zh-CN" sz="1400" dirty="0">
                <a:solidFill>
                  <a:schemeClr val="bg2"/>
                </a:solidFill>
                <a:latin typeface="Source Sans Pro" panose="020B0503030403020204" pitchFamily="34" charset="0"/>
                <a:ea typeface="Source Sans Pro" panose="020B0503030403020204" pitchFamily="34" charset="0"/>
              </a:rPr>
              <a:t>insert, remove, find. (</a:t>
            </a:r>
            <a:r>
              <a:rPr lang="zh-CN" altLang="en-US" sz="1400" dirty="0">
                <a:solidFill>
                  <a:schemeClr val="bg2"/>
                </a:solidFill>
                <a:latin typeface="Source Sans Pro" panose="020B0503030403020204" pitchFamily="34" charset="0"/>
                <a:ea typeface="Source Sans Pro" panose="020B0503030403020204" pitchFamily="34" charset="0"/>
              </a:rPr>
              <a:t>用</a:t>
            </a:r>
            <a:r>
              <a:rPr lang="en-US" altLang="zh-CN" sz="1400" dirty="0">
                <a:solidFill>
                  <a:schemeClr val="bg2"/>
                </a:solidFill>
                <a:latin typeface="Source Sans Pro" panose="020B0503030403020204" pitchFamily="34" charset="0"/>
                <a:ea typeface="Source Sans Pro" panose="020B0503030403020204" pitchFamily="34" charset="0"/>
              </a:rPr>
              <a:t>list</a:t>
            </a:r>
            <a:r>
              <a:rPr lang="zh-CN" altLang="en-US" sz="1400" dirty="0">
                <a:solidFill>
                  <a:schemeClr val="bg2"/>
                </a:solidFill>
                <a:latin typeface="Source Sans Pro" panose="020B0503030403020204" pitchFamily="34" charset="0"/>
                <a:ea typeface="Source Sans Pro" panose="020B0503030403020204" pitchFamily="34" charset="0"/>
              </a:rPr>
              <a:t>模拟内存，</a:t>
            </a:r>
            <a:r>
              <a:rPr lang="en-US" altLang="zh-CN" sz="1400" dirty="0">
                <a:solidFill>
                  <a:schemeClr val="bg2"/>
                </a:solidFill>
                <a:latin typeface="Source Sans Pro" panose="020B0503030403020204" pitchFamily="34" charset="0"/>
                <a:ea typeface="Source Sans Pro" panose="020B0503030403020204" pitchFamily="34" charset="0"/>
              </a:rPr>
              <a:t>list[</a:t>
            </a:r>
            <a:r>
              <a:rPr lang="en-US" altLang="zh-CN" sz="1400" dirty="0" err="1">
                <a:solidFill>
                  <a:schemeClr val="bg2"/>
                </a:solidFill>
                <a:latin typeface="Source Sans Pro" panose="020B0503030403020204" pitchFamily="34" charset="0"/>
                <a:ea typeface="Source Sans Pro" panose="020B0503030403020204" pitchFamily="34" charset="0"/>
              </a:rPr>
              <a:t>i</a:t>
            </a:r>
            <a:r>
              <a:rPr lang="en-US" altLang="zh-CN" sz="1400" dirty="0">
                <a:solidFill>
                  <a:schemeClr val="bg2"/>
                </a:solidFill>
                <a:latin typeface="Source Sans Pro" panose="020B0503030403020204" pitchFamily="34" charset="0"/>
                <a:ea typeface="Source Sans Pro" panose="020B0503030403020204" pitchFamily="34" charset="0"/>
              </a:rPr>
              <a:t>]</a:t>
            </a:r>
            <a:r>
              <a:rPr lang="zh-CN" altLang="en-US" sz="1400" dirty="0">
                <a:solidFill>
                  <a:schemeClr val="bg2"/>
                </a:solidFill>
                <a:latin typeface="Source Sans Pro" panose="020B0503030403020204" pitchFamily="34" charset="0"/>
                <a:ea typeface="Source Sans Pro" panose="020B0503030403020204" pitchFamily="34" charset="0"/>
              </a:rPr>
              <a:t>第</a:t>
            </a:r>
            <a:r>
              <a:rPr lang="en-US" altLang="zh-CN" sz="1400" dirty="0" err="1">
                <a:solidFill>
                  <a:schemeClr val="bg2"/>
                </a:solidFill>
                <a:latin typeface="Source Sans Pro" panose="020B0503030403020204" pitchFamily="34" charset="0"/>
                <a:ea typeface="Source Sans Pro" panose="020B0503030403020204" pitchFamily="34" charset="0"/>
              </a:rPr>
              <a:t>i</a:t>
            </a:r>
            <a:r>
              <a:rPr lang="zh-CN" altLang="en-US" sz="1400" dirty="0">
                <a:solidFill>
                  <a:schemeClr val="bg2"/>
                </a:solidFill>
                <a:latin typeface="Source Sans Pro" panose="020B0503030403020204" pitchFamily="34" charset="0"/>
                <a:ea typeface="Source Sans Pro" panose="020B0503030403020204" pitchFamily="34" charset="0"/>
              </a:rPr>
              <a:t>个内存</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4" name="Picture 8" descr="Text&#10;&#10;Description automatically generated"/>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41383" y="1488982"/>
            <a:ext cx="2559664" cy="3512340"/>
          </a:xfrm>
          <a:prstGeom prst="rect">
            <a:avLst/>
          </a:prstGeom>
        </p:spPr>
      </p:pic>
      <p:pic>
        <p:nvPicPr>
          <p:cNvPr id="6" name="Picture 10"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68319" y="1492099"/>
            <a:ext cx="3513514" cy="2913646"/>
          </a:xfrm>
          <a:prstGeom prst="rect">
            <a:avLst/>
          </a:prstGeom>
        </p:spPr>
      </p:pic>
      <p:pic>
        <p:nvPicPr>
          <p:cNvPr id="7" name="Picture 6" descr="A black background with white numbers&#10;&#10;Description automatically generated"/>
          <p:cNvPicPr>
            <a:picLocks noChangeAspect="1"/>
          </p:cNvPicPr>
          <p:nvPr/>
        </p:nvPicPr>
        <p:blipFill>
          <a:blip r:embed="rId3"/>
          <a:stretch>
            <a:fillRect/>
          </a:stretch>
        </p:blipFill>
        <p:spPr>
          <a:xfrm>
            <a:off x="7329082" y="3962333"/>
            <a:ext cx="1503218" cy="103898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zh-CN" altLang="en-US" dirty="0">
                <a:latin typeface="Source Sans Pro" panose="020B0503030403020204" pitchFamily="34" charset="0"/>
                <a:ea typeface="Source Sans Pro" panose="020B0503030403020204" pitchFamily="34" charset="0"/>
              </a:rPr>
              <a:t>复合数据结构</a:t>
            </a:r>
            <a:r>
              <a:rPr lang="en-US" altLang="zh-CN" dirty="0">
                <a:latin typeface="Raleway" pitchFamily="34" charset="0"/>
                <a:ea typeface="Source Sans Pro" panose="020B0503030403020204" pitchFamily="34" charset="0"/>
              </a:rPr>
              <a:t>list, tuple, str, </a:t>
            </a:r>
            <a:r>
              <a:rPr lang="en-US" altLang="zh-CN" dirty="0" err="1">
                <a:latin typeface="Raleway" pitchFamily="34" charset="0"/>
                <a:ea typeface="Source Sans Pro" panose="020B0503030403020204" pitchFamily="34" charset="0"/>
              </a:rPr>
              <a:t>dict</a:t>
            </a:r>
            <a:r>
              <a:rPr lang="en-US" altLang="zh-CN" dirty="0">
                <a:latin typeface="Raleway" pitchFamily="34" charset="0"/>
                <a:ea typeface="Source Sans Pro" panose="020B0503030403020204" pitchFamily="34" charset="0"/>
              </a:rPr>
              <a:t>, set</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311700" y="1068425"/>
                <a:ext cx="8520600" cy="3777894"/>
              </a:xfrm>
            </p:spPr>
            <p:txBody>
              <a:bodyPr numCol="2">
                <a:noAutofit/>
              </a:bodyPr>
              <a:lstStyle/>
              <a:p>
                <a:pPr>
                  <a:lnSpc>
                    <a:spcPct val="120000"/>
                  </a:lnSpc>
                </a:pPr>
                <a:r>
                  <a:rPr lang="en-US" altLang="zh-CN" sz="1400" dirty="0">
                    <a:solidFill>
                      <a:srgbClr val="FF0000"/>
                    </a:solidFill>
                    <a:highlight>
                      <a:srgbClr val="FFFF00"/>
                    </a:highlight>
                    <a:latin typeface="Source Sans Pro" panose="020B0503030403020204" pitchFamily="34" charset="0"/>
                    <a:ea typeface="Source Sans Pro" panose="020B0503030403020204" pitchFamily="34" charset="0"/>
                  </a:rPr>
                  <a:t>list, tuple, str: </a:t>
                </a:r>
                <a:r>
                  <a:rPr lang="zh-CN" altLang="en-US" sz="1400" dirty="0">
                    <a:solidFill>
                      <a:srgbClr val="FF0000"/>
                    </a:solidFill>
                    <a:highlight>
                      <a:srgbClr val="FFFF00"/>
                    </a:highlight>
                    <a:latin typeface="Source Sans Pro" panose="020B0503030403020204" pitchFamily="34" charset="0"/>
                    <a:ea typeface="黑体" panose="02010609060101010101" pitchFamily="49" charset="-122"/>
                  </a:rPr>
                  <a:t>内存中，数据依次</a:t>
                </a:r>
                <a:r>
                  <a:rPr lang="en-US" altLang="zh-CN" sz="1400" dirty="0">
                    <a:solidFill>
                      <a:srgbClr val="FF0000"/>
                    </a:solidFill>
                    <a:highlight>
                      <a:srgbClr val="FFFF00"/>
                    </a:highlight>
                    <a:latin typeface="Source Sans Pro" panose="020B0503030403020204" pitchFamily="34" charset="0"/>
                    <a:ea typeface="Source Sans Pro" panose="020B0503030403020204" pitchFamily="34" charset="0"/>
                  </a:rPr>
                  <a:t>(consecutive)</a:t>
                </a:r>
                <a:r>
                  <a:rPr lang="zh-CN" altLang="en-US" sz="1400" dirty="0">
                    <a:solidFill>
                      <a:srgbClr val="FF0000"/>
                    </a:solidFill>
                    <a:highlight>
                      <a:srgbClr val="FFFF00"/>
                    </a:highlight>
                    <a:latin typeface="Source Sans Pro" panose="020B0503030403020204" pitchFamily="34" charset="0"/>
                    <a:ea typeface="黑体" panose="02010609060101010101" pitchFamily="49" charset="-122"/>
                  </a:rPr>
                  <a:t>存储，排列成一行</a:t>
                </a:r>
                <a:endParaRPr lang="zh-CN" altLang="en-US" sz="1400" dirty="0">
                  <a:solidFill>
                    <a:srgbClr val="FF0000"/>
                  </a:solidFill>
                  <a:highlight>
                    <a:srgbClr val="FFFF00"/>
                  </a:highlight>
                  <a:latin typeface="Source Sans Pro" panose="020B0503030403020204" pitchFamily="34" charset="0"/>
                  <a:ea typeface="黑体" panose="02010609060101010101" pitchFamily="49" charset="-122"/>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list=[1,</a:t>
                </a:r>
                <a:r>
                  <a:rPr lang="zh-CN" altLang="en-US" sz="1200" dirty="0">
                    <a:solidFill>
                      <a:schemeClr val="bg2"/>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2,</a:t>
                </a:r>
                <a:r>
                  <a:rPr lang="zh-CN" altLang="en-US" sz="1200" dirty="0">
                    <a:solidFill>
                      <a:schemeClr val="bg2"/>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3,</a:t>
                </a:r>
                <a:r>
                  <a:rPr lang="zh-CN" altLang="en-US" sz="1200" dirty="0">
                    <a:solidFill>
                      <a:schemeClr val="bg2"/>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a:t>
                </a:r>
                <a:r>
                  <a:rPr lang="zh-CN" altLang="en-US" sz="1200" dirty="0">
                    <a:solidFill>
                      <a:schemeClr val="bg2"/>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n]:  1 2 3 … n</a:t>
                </a:r>
                <a:endParaRPr lang="en-US" altLang="zh-CN" sz="1200" dirty="0">
                  <a:solidFill>
                    <a:schemeClr val="bg2"/>
                  </a:solidFill>
                  <a:latin typeface="Source Sans Pro" panose="020B0503030403020204" pitchFamily="34" charset="0"/>
                  <a:ea typeface="Source Sans Pro" panose="020B0503030403020204" pitchFamily="34" charset="0"/>
                </a:endParaRPr>
              </a:p>
              <a:p>
                <a:pPr lvl="2">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如果列表嵌套、列表含有不同类型，需要单独分析</a:t>
                </a:r>
                <a:endParaRPr lang="zh-CN" altLang="en-US" sz="1200" dirty="0">
                  <a:solidFill>
                    <a:schemeClr val="bg2"/>
                  </a:solidFill>
                  <a:latin typeface="Source Sans Pro" panose="020B0503030403020204" pitchFamily="34" charset="0"/>
                  <a:ea typeface="黑体" panose="02010609060101010101" pitchFamily="49" charset="-122"/>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tuple=(1,</a:t>
                </a:r>
                <a:r>
                  <a:rPr lang="zh-CN" altLang="en-US" sz="1200" dirty="0">
                    <a:solidFill>
                      <a:schemeClr val="bg2"/>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2,</a:t>
                </a:r>
                <a:r>
                  <a:rPr lang="zh-CN" altLang="en-US" sz="1200" dirty="0">
                    <a:solidFill>
                      <a:schemeClr val="bg2"/>
                    </a:solidFill>
                    <a:latin typeface="Source Sans Pro" panose="020B0503030403020204" pitchFamily="34" charset="0"/>
                    <a:ea typeface="Source Sans Pro" panose="020B0503030403020204" pitchFamily="34" charset="0"/>
                  </a:rPr>
                  <a:t> </a:t>
                </a:r>
                <a:r>
                  <a:rPr lang="en-US" altLang="zh-CN" sz="1200" dirty="0">
                    <a:solidFill>
                      <a:schemeClr val="bg2"/>
                    </a:solidFill>
                    <a:latin typeface="Source Sans Pro" panose="020B0503030403020204" pitchFamily="34" charset="0"/>
                    <a:ea typeface="Source Sans Pro" panose="020B0503030403020204" pitchFamily="34" charset="0"/>
                  </a:rPr>
                  <a:t>3):  1 2 3 … n</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str=“</a:t>
                </a:r>
                <a:r>
                  <a:rPr lang="en-US" altLang="zh-CN" sz="1200" dirty="0" err="1">
                    <a:solidFill>
                      <a:schemeClr val="bg2"/>
                    </a:solidFill>
                    <a:latin typeface="Source Sans Pro" panose="020B0503030403020204" pitchFamily="34" charset="0"/>
                    <a:ea typeface="Source Sans Pro" panose="020B0503030403020204" pitchFamily="34" charset="0"/>
                  </a:rPr>
                  <a:t>abc</a:t>
                </a:r>
                <a:r>
                  <a:rPr lang="en-US" altLang="zh-CN" sz="1200" dirty="0">
                    <a:solidFill>
                      <a:schemeClr val="bg2"/>
                    </a:solidFill>
                    <a:latin typeface="Source Sans Pro" panose="020B0503030403020204" pitchFamily="34" charset="0"/>
                    <a:ea typeface="Source Sans Pro" panose="020B0503030403020204" pitchFamily="34" charset="0"/>
                  </a:rPr>
                  <a:t>…z”: a b c … z</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rgbClr val="FF0000"/>
                    </a:solidFill>
                    <a:highlight>
                      <a:srgbClr val="FFFF00"/>
                    </a:highlight>
                    <a:latin typeface="Source Sans Pro" panose="020B0503030403020204" pitchFamily="34" charset="0"/>
                    <a:ea typeface="Source Sans Pro" panose="020B0503030403020204" pitchFamily="34" charset="0"/>
                  </a:rPr>
                  <a:t>dict</a:t>
                </a:r>
                <a:r>
                  <a:rPr lang="en-US" altLang="zh-CN" sz="1400" dirty="0">
                    <a:solidFill>
                      <a:srgbClr val="FF0000"/>
                    </a:solidFill>
                    <a:highlight>
                      <a:srgbClr val="FFFF00"/>
                    </a:highlight>
                    <a:latin typeface="Source Sans Pro" panose="020B0503030403020204" pitchFamily="34" charset="0"/>
                    <a:ea typeface="Source Sans Pro" panose="020B0503030403020204" pitchFamily="34" charset="0"/>
                  </a:rPr>
                  <a:t>, set: </a:t>
                </a:r>
                <a:r>
                  <a:rPr lang="zh-CN" altLang="en-US" sz="1400" dirty="0">
                    <a:solidFill>
                      <a:srgbClr val="FF0000"/>
                    </a:solidFill>
                    <a:highlight>
                      <a:srgbClr val="FFFF00"/>
                    </a:highlight>
                    <a:latin typeface="Source Sans Pro" panose="020B0503030403020204" pitchFamily="34" charset="0"/>
                    <a:ea typeface="黑体" panose="02010609060101010101" pitchFamily="49" charset="-122"/>
                  </a:rPr>
                  <a:t>内部实现是</a:t>
                </a:r>
                <a:r>
                  <a:rPr lang="en-US" altLang="zh-CN" sz="1400" dirty="0">
                    <a:solidFill>
                      <a:srgbClr val="FF0000"/>
                    </a:solidFill>
                    <a:highlight>
                      <a:srgbClr val="FFFF00"/>
                    </a:highlight>
                    <a:latin typeface="Source Sans Pro" panose="020B0503030403020204" pitchFamily="34" charset="0"/>
                    <a:ea typeface="Source Sans Pro" panose="020B0503030403020204" pitchFamily="34" charset="0"/>
                  </a:rPr>
                  <a:t>hash table</a:t>
                </a:r>
                <a:r>
                  <a:rPr lang="zh-CN" altLang="en-US" sz="1400" dirty="0">
                    <a:solidFill>
                      <a:srgbClr val="FF0000"/>
                    </a:solidFill>
                    <a:highlight>
                      <a:srgbClr val="FFFF00"/>
                    </a:highlight>
                    <a:latin typeface="Source Sans Pro" panose="020B0503030403020204" pitchFamily="34" charset="0"/>
                    <a:ea typeface="黑体" panose="02010609060101010101" pitchFamily="49" charset="-122"/>
                  </a:rPr>
                  <a:t>，需要更多的额外空间</a:t>
                </a:r>
                <a:endParaRPr lang="zh-CN" altLang="en-US" sz="1400" dirty="0">
                  <a:solidFill>
                    <a:srgbClr val="FF0000"/>
                  </a:solidFill>
                  <a:highlight>
                    <a:srgbClr val="FFFF00"/>
                  </a:highlight>
                  <a:latin typeface="Source Sans Pro" panose="020B0503030403020204" pitchFamily="34" charset="0"/>
                  <a:ea typeface="黑体" panose="02010609060101010101" pitchFamily="49" charset="-122"/>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插入</a:t>
                </a:r>
                <a:r>
                  <a:rPr lang="zh-CN" altLang="en-US" sz="1200" dirty="0">
                    <a:solidFill>
                      <a:schemeClr val="bg2"/>
                    </a:solidFill>
                    <a:latin typeface="Source Sans Pro" panose="020B0503030403020204" pitchFamily="34" charset="0"/>
                    <a:ea typeface="黑体" panose="02010609060101010101" pitchFamily="49" charset="-122"/>
                  </a:rPr>
                  <a:t>、</a:t>
                </a:r>
                <a:r>
                  <a:rPr lang="zh-CN" altLang="en-US" sz="1400" dirty="0">
                    <a:solidFill>
                      <a:schemeClr val="bg2"/>
                    </a:solidFill>
                    <a:latin typeface="Source Sans Pro" panose="020B0503030403020204" pitchFamily="34" charset="0"/>
                    <a:ea typeface="黑体" panose="02010609060101010101" pitchFamily="49" charset="-122"/>
                  </a:rPr>
                  <a:t>删除：</a:t>
                </a:r>
                <a:endParaRPr lang="zh-CN" altLang="en-US" sz="1400" dirty="0">
                  <a:solidFill>
                    <a:schemeClr val="bg2"/>
                  </a:solidFill>
                  <a:latin typeface="Source Sans Pro" panose="020B0503030403020204" pitchFamily="34" charset="0"/>
                  <a:ea typeface="黑体" panose="02010609060101010101" pitchFamily="49" charset="-122"/>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list, tuple, str: </a:t>
                </a:r>
                <a14:m>
                  <m:oMath xmlns:m="http://schemas.openxmlformats.org/officeDocument/2006/math">
                    <m:r>
                      <a:rPr lang="en-US" altLang="zh-CN" sz="1200" i="1" dirty="0" smtClean="0">
                        <a:solidFill>
                          <a:schemeClr val="bg2"/>
                        </a:solidFill>
                        <a:latin typeface="Cambria Math" panose="02040503050406030204" pitchFamily="18" charset="0"/>
                        <a:ea typeface="Source Sans Pro" panose="020B0503030403020204" pitchFamily="34" charset="0"/>
                      </a:rPr>
                      <m:t>𝑂</m:t>
                    </m:r>
                    <m:r>
                      <a:rPr lang="en-US" altLang="zh-CN" sz="1200" i="1" dirty="0" smtClean="0">
                        <a:solidFill>
                          <a:schemeClr val="bg2"/>
                        </a:solidFill>
                        <a:latin typeface="Cambria Math" panose="02040503050406030204" pitchFamily="18" charset="0"/>
                        <a:ea typeface="Source Sans Pro" panose="020B0503030403020204" pitchFamily="34" charset="0"/>
                      </a:rPr>
                      <m:t>(</m:t>
                    </m:r>
                    <m:r>
                      <a:rPr lang="en-US" altLang="zh-CN" sz="1200" i="1" dirty="0" smtClean="0">
                        <a:solidFill>
                          <a:schemeClr val="bg2"/>
                        </a:solidFill>
                        <a:latin typeface="Cambria Math" panose="02040503050406030204" pitchFamily="18" charset="0"/>
                        <a:ea typeface="Source Sans Pro" panose="020B0503030403020204" pitchFamily="34" charset="0"/>
                      </a:rPr>
                      <m:t>𝑛</m:t>
                    </m:r>
                    <m:r>
                      <a:rPr lang="en-US" altLang="zh-CN" sz="1200" i="1" dirty="0" smtClean="0">
                        <a:solidFill>
                          <a:schemeClr val="bg2"/>
                        </a:solidFill>
                        <a:latin typeface="Cambria Math" panose="02040503050406030204" pitchFamily="18" charset="0"/>
                        <a:ea typeface="Source Sans Pro" panose="020B0503030403020204" pitchFamily="34" charset="0"/>
                      </a:rPr>
                      <m:t>)</m:t>
                    </m:r>
                  </m:oMath>
                </a14:m>
                <a:r>
                  <a:rPr lang="en-US" altLang="zh-CN" sz="1200" dirty="0">
                    <a:solidFill>
                      <a:schemeClr val="bg2"/>
                    </a:solidFill>
                    <a:latin typeface="Source Sans Pro" panose="020B0503030403020204" pitchFamily="34" charset="0"/>
                    <a:ea typeface="Source Sans Pro" panose="020B0503030403020204" pitchFamily="34" charset="0"/>
                  </a:rPr>
                  <a:t> (tuple, str</a:t>
                </a:r>
                <a:r>
                  <a:rPr lang="zh-CN" altLang="en-US" sz="1200" dirty="0">
                    <a:solidFill>
                      <a:schemeClr val="bg2"/>
                    </a:solidFill>
                    <a:latin typeface="Source Sans Pro" panose="020B0503030403020204" pitchFamily="34" charset="0"/>
                    <a:ea typeface="黑体" panose="02010609060101010101" pitchFamily="49" charset="-122"/>
                  </a:rPr>
                  <a:t>不能修改，而是建立一个新的变量</a:t>
                </a:r>
                <a:r>
                  <a:rPr lang="en-US" altLang="zh-CN" sz="1200" dirty="0">
                    <a:solidFill>
                      <a:schemeClr val="bg2"/>
                    </a:solidFill>
                    <a:latin typeface="Source Sans Pro" panose="020B0503030403020204" pitchFamily="34" charset="0"/>
                    <a:ea typeface="Source Sans Pro" panose="020B0503030403020204" pitchFamily="34" charset="0"/>
                  </a:rPr>
                  <a:t>)</a:t>
                </a:r>
                <a:endParaRPr lang="en-US" altLang="zh-CN" sz="1200" dirty="0">
                  <a:solidFill>
                    <a:schemeClr val="bg2"/>
                  </a:solidFill>
                  <a:latin typeface="Source Sans Pro" panose="020B0503030403020204" pitchFamily="34" charset="0"/>
                  <a:ea typeface="Source Sans Pro" panose="020B0503030403020204" pitchFamily="34" charset="0"/>
                </a:endParaRPr>
              </a:p>
              <a:p>
                <a:pPr lvl="2">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删掉后，列表中不能有空位，要把所有后面的元素往前移一位</a:t>
                </a:r>
                <a:endParaRPr lang="zh-CN" altLang="en-US" sz="1200" dirty="0">
                  <a:solidFill>
                    <a:schemeClr val="bg2"/>
                  </a:solidFill>
                  <a:latin typeface="Source Sans Pro" panose="020B0503030403020204" pitchFamily="34" charset="0"/>
                  <a:ea typeface="黑体" panose="02010609060101010101" pitchFamily="49" charset="-122"/>
                </a:endParaRPr>
              </a:p>
              <a:p>
                <a:pPr lvl="2">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插入时，要把所有后面的元素往后移一位，然后插进去</a:t>
                </a:r>
                <a:endParaRPr lang="zh-CN" altLang="en-US" sz="1200" dirty="0">
                  <a:solidFill>
                    <a:schemeClr val="bg2"/>
                  </a:solidFill>
                  <a:latin typeface="Source Sans Pro" panose="020B0503030403020204" pitchFamily="34" charset="0"/>
                  <a:ea typeface="黑体" panose="02010609060101010101" pitchFamily="49" charset="-122"/>
                </a:endParaRPr>
              </a:p>
              <a:p>
                <a:pPr lvl="1">
                  <a:lnSpc>
                    <a:spcPct val="120000"/>
                  </a:lnSpc>
                </a:pPr>
                <a:r>
                  <a:rPr lang="en-US" altLang="zh-CN" sz="1200" dirty="0" err="1">
                    <a:solidFill>
                      <a:schemeClr val="bg2"/>
                    </a:solidFill>
                    <a:latin typeface="Source Sans Pro" panose="020B0503030403020204" pitchFamily="34" charset="0"/>
                    <a:ea typeface="Source Sans Pro" panose="020B0503030403020204" pitchFamily="34" charset="0"/>
                  </a:rPr>
                  <a:t>dict</a:t>
                </a:r>
                <a:r>
                  <a:rPr lang="en-US" altLang="zh-CN" sz="1200" dirty="0">
                    <a:solidFill>
                      <a:schemeClr val="bg2"/>
                    </a:solidFill>
                    <a:latin typeface="Source Sans Pro" panose="020B0503030403020204" pitchFamily="34" charset="0"/>
                    <a:ea typeface="Source Sans Pro" panose="020B0503030403020204" pitchFamily="34" charset="0"/>
                  </a:rPr>
                  <a:t>, set: </a:t>
                </a:r>
                <a14:m>
                  <m:oMath xmlns:m="http://schemas.openxmlformats.org/officeDocument/2006/math">
                    <m:r>
                      <a:rPr lang="en-US" altLang="zh-CN" sz="1200" i="1" dirty="0" smtClean="0">
                        <a:solidFill>
                          <a:schemeClr val="bg2"/>
                        </a:solidFill>
                        <a:latin typeface="Cambria Math" panose="02040503050406030204" pitchFamily="18" charset="0"/>
                        <a:ea typeface="Source Sans Pro" panose="020B0503030403020204" pitchFamily="34" charset="0"/>
                      </a:rPr>
                      <m:t>𝑂</m:t>
                    </m:r>
                    <m:r>
                      <a:rPr lang="en-US" altLang="zh-CN" sz="1200" i="1" dirty="0" smtClean="0">
                        <a:solidFill>
                          <a:schemeClr val="bg2"/>
                        </a:solidFill>
                        <a:latin typeface="Cambria Math" panose="02040503050406030204" pitchFamily="18" charset="0"/>
                        <a:ea typeface="Source Sans Pro" panose="020B0503030403020204" pitchFamily="34" charset="0"/>
                      </a:rPr>
                      <m:t>(</m:t>
                    </m:r>
                    <m:r>
                      <a:rPr lang="en-US" altLang="zh-CN" sz="1200" i="1" dirty="0" smtClean="0">
                        <a:solidFill>
                          <a:schemeClr val="bg2"/>
                        </a:solidFill>
                        <a:latin typeface="Cambria Math" panose="02040503050406030204" pitchFamily="18" charset="0"/>
                        <a:ea typeface="Source Sans Pro" panose="020B0503030403020204" pitchFamily="34" charset="0"/>
                      </a:rPr>
                      <m:t>1</m:t>
                    </m:r>
                    <m:r>
                      <a:rPr lang="en-US" altLang="zh-CN" sz="1200" i="1" dirty="0" smtClean="0">
                        <a:solidFill>
                          <a:schemeClr val="bg2"/>
                        </a:solidFill>
                        <a:latin typeface="Cambria Math" panose="02040503050406030204" pitchFamily="18" charset="0"/>
                        <a:ea typeface="Source Sans Pro" panose="020B0503030403020204" pitchFamily="34" charset="0"/>
                      </a:rPr>
                      <m:t>)</m:t>
                    </m:r>
                  </m:oMath>
                </a14:m>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查找：</a:t>
                </a:r>
                <a:r>
                  <a:rPr lang="en-US" altLang="zh-CN" sz="1400" dirty="0">
                    <a:solidFill>
                      <a:schemeClr val="bg2"/>
                    </a:solidFill>
                    <a:latin typeface="Source Sans Pro" panose="020B0503030403020204" pitchFamily="34" charset="0"/>
                    <a:ea typeface="Source Sans Pro" panose="020B0503030403020204" pitchFamily="34" charset="0"/>
                  </a:rPr>
                  <a:t>x in </a:t>
                </a:r>
                <a:r>
                  <a:rPr lang="en-US" altLang="zh-CN" sz="1400" dirty="0" err="1">
                    <a:solidFill>
                      <a:schemeClr val="bg2"/>
                    </a:solidFill>
                    <a:latin typeface="Source Sans Pro" panose="020B0503030403020204" pitchFamily="34" charset="0"/>
                    <a:ea typeface="Source Sans Pro" panose="020B0503030403020204" pitchFamily="34" charset="0"/>
                  </a:rPr>
                  <a:t>collection_a</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list, tuple, str: </a:t>
                </a:r>
                <a14:m>
                  <m:oMath xmlns:m="http://schemas.openxmlformats.org/officeDocument/2006/math">
                    <m:r>
                      <a:rPr lang="en-US" altLang="zh-CN" sz="1200" i="1" dirty="0" smtClean="0">
                        <a:solidFill>
                          <a:schemeClr val="bg2"/>
                        </a:solidFill>
                        <a:latin typeface="Cambria Math" panose="02040503050406030204" pitchFamily="18" charset="0"/>
                        <a:ea typeface="Source Sans Pro" panose="020B0503030403020204" pitchFamily="34" charset="0"/>
                      </a:rPr>
                      <m:t>𝑂</m:t>
                    </m:r>
                    <m:r>
                      <a:rPr lang="en-US" altLang="zh-CN" sz="1200" i="1" dirty="0" smtClean="0">
                        <a:solidFill>
                          <a:schemeClr val="bg2"/>
                        </a:solidFill>
                        <a:latin typeface="Cambria Math" panose="02040503050406030204" pitchFamily="18" charset="0"/>
                        <a:ea typeface="Source Sans Pro" panose="020B0503030403020204" pitchFamily="34" charset="0"/>
                      </a:rPr>
                      <m:t>(</m:t>
                    </m:r>
                    <m:r>
                      <a:rPr lang="en-US" altLang="zh-CN" sz="1200" i="1" dirty="0" smtClean="0">
                        <a:solidFill>
                          <a:schemeClr val="bg2"/>
                        </a:solidFill>
                        <a:latin typeface="Cambria Math" panose="02040503050406030204" pitchFamily="18" charset="0"/>
                        <a:ea typeface="Source Sans Pro" panose="020B0503030403020204" pitchFamily="34" charset="0"/>
                      </a:rPr>
                      <m:t>𝑛</m:t>
                    </m:r>
                    <m:r>
                      <a:rPr lang="en-US" altLang="zh-CN" sz="1200" i="1" dirty="0" smtClean="0">
                        <a:solidFill>
                          <a:schemeClr val="bg2"/>
                        </a:solidFill>
                        <a:latin typeface="Cambria Math" panose="02040503050406030204" pitchFamily="18" charset="0"/>
                        <a:ea typeface="Source Sans Pro" panose="020B0503030403020204" pitchFamily="34" charset="0"/>
                      </a:rPr>
                      <m:t>)</m:t>
                    </m:r>
                  </m:oMath>
                </a14:m>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err="1">
                    <a:solidFill>
                      <a:schemeClr val="bg2"/>
                    </a:solidFill>
                    <a:latin typeface="Source Sans Pro" panose="020B0503030403020204" pitchFamily="34" charset="0"/>
                    <a:ea typeface="Source Sans Pro" panose="020B0503030403020204" pitchFamily="34" charset="0"/>
                  </a:rPr>
                  <a:t>dict</a:t>
                </a:r>
                <a:r>
                  <a:rPr lang="en-US" altLang="zh-CN" sz="1200" dirty="0">
                    <a:solidFill>
                      <a:schemeClr val="bg2"/>
                    </a:solidFill>
                    <a:latin typeface="Source Sans Pro" panose="020B0503030403020204" pitchFamily="34" charset="0"/>
                    <a:ea typeface="Source Sans Pro" panose="020B0503030403020204" pitchFamily="34" charset="0"/>
                  </a:rPr>
                  <a:t>, set: </a:t>
                </a:r>
                <a14:m>
                  <m:oMath xmlns:m="http://schemas.openxmlformats.org/officeDocument/2006/math">
                    <m:r>
                      <a:rPr lang="en-US" altLang="zh-CN" sz="1200" i="1" dirty="0" smtClean="0">
                        <a:solidFill>
                          <a:schemeClr val="bg2"/>
                        </a:solidFill>
                        <a:latin typeface="Cambria Math" panose="02040503050406030204" pitchFamily="18" charset="0"/>
                        <a:ea typeface="Source Sans Pro" panose="020B0503030403020204" pitchFamily="34" charset="0"/>
                      </a:rPr>
                      <m:t>𝑂</m:t>
                    </m:r>
                    <m:r>
                      <a:rPr lang="en-US" altLang="zh-CN" sz="1200" i="1" dirty="0" smtClean="0">
                        <a:solidFill>
                          <a:schemeClr val="bg2"/>
                        </a:solidFill>
                        <a:latin typeface="Cambria Math" panose="02040503050406030204" pitchFamily="18" charset="0"/>
                        <a:ea typeface="Source Sans Pro" panose="020B0503030403020204" pitchFamily="34" charset="0"/>
                      </a:rPr>
                      <m:t>(</m:t>
                    </m:r>
                    <m:r>
                      <a:rPr lang="en-US" altLang="zh-CN" sz="1200" i="1" dirty="0" smtClean="0">
                        <a:solidFill>
                          <a:schemeClr val="bg2"/>
                        </a:solidFill>
                        <a:latin typeface="Cambria Math" panose="02040503050406030204" pitchFamily="18" charset="0"/>
                        <a:ea typeface="Source Sans Pro" panose="020B0503030403020204" pitchFamily="34" charset="0"/>
                      </a:rPr>
                      <m:t>1</m:t>
                    </m:r>
                    <m:r>
                      <a:rPr lang="en-US" altLang="zh-CN" sz="1200" i="1" dirty="0" smtClean="0">
                        <a:solidFill>
                          <a:schemeClr val="bg2"/>
                        </a:solidFill>
                        <a:latin typeface="Cambria Math" panose="02040503050406030204" pitchFamily="18" charset="0"/>
                        <a:ea typeface="Source Sans Pro" panose="020B0503030403020204" pitchFamily="34" charset="0"/>
                      </a:rPr>
                      <m:t>)</m:t>
                    </m:r>
                  </m:oMath>
                </a14:m>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List.append</a:t>
                </a:r>
                <a:r>
                  <a:rPr lang="en-US" altLang="zh-CN" sz="1400" dirty="0">
                    <a:solidFill>
                      <a:schemeClr val="bg2"/>
                    </a:solidFill>
                    <a:latin typeface="Source Sans Pro" panose="020B0503030403020204" pitchFamily="34" charset="0"/>
                    <a:ea typeface="Source Sans Pro" panose="020B0503030403020204" pitchFamily="34" charset="0"/>
                  </a:rPr>
                  <a:t>(): </a:t>
                </a:r>
                <a14:m>
                  <m:oMath xmlns:m="http://schemas.openxmlformats.org/officeDocument/2006/math">
                    <m:r>
                      <a:rPr lang="en-US" altLang="zh-CN" sz="1400" i="1" dirty="0" smtClean="0">
                        <a:solidFill>
                          <a:schemeClr val="bg2"/>
                        </a:solidFill>
                        <a:latin typeface="Cambria Math" panose="02040503050406030204" pitchFamily="18" charset="0"/>
                        <a:ea typeface="Source Sans Pro" panose="020B0503030403020204" pitchFamily="34" charset="0"/>
                      </a:rPr>
                      <m:t>𝑂</m:t>
                    </m:r>
                    <m:r>
                      <a:rPr lang="en-US" altLang="zh-CN" sz="1400" i="1" dirty="0" smtClean="0">
                        <a:solidFill>
                          <a:schemeClr val="bg2"/>
                        </a:solidFill>
                        <a:latin typeface="Cambria Math" panose="02040503050406030204" pitchFamily="18" charset="0"/>
                        <a:ea typeface="Source Sans Pro" panose="020B0503030403020204" pitchFamily="34" charset="0"/>
                      </a:rPr>
                      <m:t>(</m:t>
                    </m:r>
                    <m:r>
                      <a:rPr lang="en-US" altLang="zh-CN" sz="1400" i="1" dirty="0" smtClean="0">
                        <a:solidFill>
                          <a:schemeClr val="bg2"/>
                        </a:solidFill>
                        <a:latin typeface="Cambria Math" panose="02040503050406030204" pitchFamily="18" charset="0"/>
                        <a:ea typeface="Source Sans Pro" panose="020B0503030403020204" pitchFamily="34" charset="0"/>
                      </a:rPr>
                      <m:t>1</m:t>
                    </m:r>
                    <m:r>
                      <a:rPr lang="en-US" altLang="zh-CN" sz="1400" i="1" dirty="0" smtClean="0">
                        <a:solidFill>
                          <a:schemeClr val="bg2"/>
                        </a:solidFill>
                        <a:latin typeface="Cambria Math" panose="02040503050406030204" pitchFamily="18" charset="0"/>
                        <a:ea typeface="Source Sans Pro" panose="020B0503030403020204" pitchFamily="34" charset="0"/>
                      </a:rPr>
                      <m:t>)</m:t>
                    </m:r>
                  </m:oMath>
                </a14:m>
                <a:endParaRPr lang="en-US" altLang="zh-CN" sz="1400" dirty="0">
                  <a:solidFill>
                    <a:schemeClr val="bg2"/>
                  </a:solidFill>
                  <a:latin typeface="Source Sans Pro" panose="020B0503030403020204" pitchFamily="34" charset="0"/>
                  <a:ea typeface="Source Sans Pro" panose="020B0503030403020204" pitchFamily="34" charset="0"/>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311700" y="1068425"/>
                <a:ext cx="8520600" cy="3777894"/>
              </a:xfrm>
              <a:blipFill rotWithShape="1">
                <a:blip r:embed="rId1"/>
                <a:stretch>
                  <a:fillRect l="-6" t="-9" r="1" b="17"/>
                </a:stretch>
              </a:blipFill>
            </p:spPr>
            <p:txBody>
              <a:bodyPr/>
              <a:lstStyle/>
              <a:p>
                <a:r>
                  <a:rPr lang="zh-CN"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Hash (</a:t>
            </a:r>
            <a:r>
              <a:rPr lang="zh-CN" altLang="en-US" dirty="0">
                <a:latin typeface="Raleway" pitchFamily="34" charset="0"/>
                <a:ea typeface="Source Sans Pro" panose="020B0503030403020204" pitchFamily="34" charset="0"/>
              </a:rPr>
              <a:t>哈希</a:t>
            </a:r>
            <a:r>
              <a:rPr lang="en-US" altLang="zh-CN" dirty="0">
                <a:latin typeface="Raleway" pitchFamily="34" charset="0"/>
                <a:ea typeface="Source Sans Pro" panose="020B0503030403020204" pitchFamily="34" charset="0"/>
              </a:rPr>
              <a:t>) Table</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311700" y="2502131"/>
                <a:ext cx="8520600" cy="2196344"/>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A </a:t>
                </a:r>
                <a:r>
                  <a:rPr lang="en-US" altLang="zh-CN" sz="1400" dirty="0">
                    <a:solidFill>
                      <a:schemeClr val="tx1"/>
                    </a:solidFill>
                    <a:latin typeface="Source Sans Pro" panose="020B0503030403020204" pitchFamily="34" charset="0"/>
                    <a:ea typeface="Source Sans Pro" panose="020B0503030403020204" pitchFamily="34" charset="0"/>
                  </a:rPr>
                  <a:t>new idea </a:t>
                </a:r>
                <a:r>
                  <a:rPr lang="en-US" altLang="zh-CN" sz="1400" dirty="0">
                    <a:solidFill>
                      <a:schemeClr val="bg2"/>
                    </a:solidFill>
                    <a:latin typeface="Source Sans Pro" panose="020B0503030403020204" pitchFamily="34" charset="0"/>
                    <a:ea typeface="Source Sans Pro" panose="020B0503030403020204" pitchFamily="34" charset="0"/>
                  </a:rPr>
                  <a:t>for store and search data, take string processing for example</a:t>
                </a: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Assume we have </a:t>
                </a:r>
                <a:r>
                  <a:rPr lang="en-US" altLang="zh-CN" sz="1400" dirty="0">
                    <a:solidFill>
                      <a:schemeClr val="tx1"/>
                    </a:solidFill>
                    <a:latin typeface="Source Sans Pro" panose="020B0503030403020204" pitchFamily="34" charset="0"/>
                    <a:ea typeface="Source Sans Pro" panose="020B0503030403020204" pitchFamily="34" charset="0"/>
                  </a:rPr>
                  <a:t>a large table </a:t>
                </a:r>
                <a:r>
                  <a:rPr lang="en-US" altLang="zh-CN" sz="1400" dirty="0">
                    <a:solidFill>
                      <a:schemeClr val="bg2"/>
                    </a:solidFill>
                    <a:latin typeface="Source Sans Pro" panose="020B0503030403020204" pitchFamily="34" charset="0"/>
                    <a:ea typeface="Source Sans Pro" panose="020B0503030403020204" pitchFamily="34" charset="0"/>
                  </a:rPr>
                  <a:t>to store data: </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gn="ctr">
                  <a:lnSpc>
                    <a:spcPct val="120000"/>
                  </a:lnSpc>
                  <a:buNone/>
                </a:pPr>
                <a:r>
                  <a:rPr lang="en-US" altLang="zh-CN" sz="1400" dirty="0">
                    <a:solidFill>
                      <a:schemeClr val="tx1"/>
                    </a:solidFill>
                    <a:latin typeface="Source Sans Pro" panose="020B0503030403020204" pitchFamily="34" charset="0"/>
                    <a:ea typeface="Source Sans Pro" panose="020B0503030403020204" pitchFamily="34" charset="0"/>
                  </a:rPr>
                  <a:t>length = 100001, </a:t>
                </a:r>
                <a:r>
                  <a:rPr lang="en-US" altLang="zh-CN" sz="1400" dirty="0" err="1">
                    <a:solidFill>
                      <a:schemeClr val="tx1"/>
                    </a:solidFill>
                    <a:latin typeface="Source Sans Pro" panose="020B0503030403020204" pitchFamily="34" charset="0"/>
                    <a:ea typeface="Source Sans Pro" panose="020B0503030403020204" pitchFamily="34" charset="0"/>
                  </a:rPr>
                  <a:t>hash_table</a:t>
                </a:r>
                <a:r>
                  <a:rPr lang="en-US" altLang="zh-CN" sz="1400" dirty="0">
                    <a:solidFill>
                      <a:schemeClr val="tx1"/>
                    </a:solidFill>
                    <a:latin typeface="Source Sans Pro" panose="020B0503030403020204" pitchFamily="34" charset="0"/>
                    <a:ea typeface="Source Sans Pro" panose="020B0503030403020204" pitchFamily="34" charset="0"/>
                  </a:rPr>
                  <a:t> = [0]*length</a:t>
                </a:r>
                <a:endParaRPr lang="en-US" altLang="zh-CN" sz="1400" dirty="0">
                  <a:solidFill>
                    <a:schemeClr val="tx1"/>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For each word w, use a function f to compute a position pos to store w</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gn="ctr">
                  <a:lnSpc>
                    <a:spcPct val="120000"/>
                  </a:lnSpc>
                  <a:buNone/>
                </a:pPr>
                <a:r>
                  <a:rPr lang="en-US" altLang="zh-CN" sz="1400" dirty="0">
                    <a:solidFill>
                      <a:schemeClr val="tx1"/>
                    </a:solidFill>
                    <a:latin typeface="Source Sans Pro" panose="020B0503030403020204" pitchFamily="34" charset="0"/>
                    <a:ea typeface="Source Sans Pro" panose="020B0503030403020204" pitchFamily="34" charset="0"/>
                  </a:rPr>
                  <a:t>pos = f(w),  </a:t>
                </a:r>
                <a:r>
                  <a:rPr lang="en-US" altLang="zh-CN" sz="1400" dirty="0" err="1">
                    <a:solidFill>
                      <a:schemeClr val="tx1"/>
                    </a:solidFill>
                    <a:latin typeface="Source Sans Pro" panose="020B0503030403020204" pitchFamily="34" charset="0"/>
                    <a:ea typeface="Source Sans Pro" panose="020B0503030403020204" pitchFamily="34" charset="0"/>
                  </a:rPr>
                  <a:t>hash_table</a:t>
                </a:r>
                <a:r>
                  <a:rPr lang="en-US" altLang="zh-CN" sz="1400" dirty="0">
                    <a:solidFill>
                      <a:schemeClr val="tx1"/>
                    </a:solidFill>
                    <a:latin typeface="Source Sans Pro" panose="020B0503030403020204" pitchFamily="34" charset="0"/>
                    <a:ea typeface="Source Sans Pro" panose="020B0503030403020204" pitchFamily="34" charset="0"/>
                  </a:rPr>
                  <a:t>[pos] = w</a:t>
                </a:r>
                <a:endParaRPr lang="en-US" altLang="zh-CN" sz="1400" dirty="0">
                  <a:solidFill>
                    <a:schemeClr val="tx1"/>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The computation of function f should be linear: O(|w|)</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There should be </a:t>
                </a:r>
                <a:r>
                  <a:rPr lang="en-US" altLang="zh-CN" sz="1200" dirty="0">
                    <a:solidFill>
                      <a:schemeClr val="tx1"/>
                    </a:solidFill>
                    <a:latin typeface="Source Sans Pro" panose="020B0503030403020204" pitchFamily="34" charset="0"/>
                    <a:ea typeface="Source Sans Pro" panose="020B0503030403020204" pitchFamily="34" charset="0"/>
                  </a:rPr>
                  <a:t>no or very few collision</a:t>
                </a:r>
                <a:r>
                  <a:rPr lang="zh-CN" altLang="en-US" sz="1200" dirty="0">
                    <a:solidFill>
                      <a:schemeClr val="tx1"/>
                    </a:solidFill>
                    <a:latin typeface="Source Sans Pro" panose="020B0503030403020204" pitchFamily="34" charset="0"/>
                    <a:ea typeface="Source Sans Pro" panose="020B0503030403020204" pitchFamily="34" charset="0"/>
                  </a:rPr>
                  <a:t>（</a:t>
                </a:r>
                <a:r>
                  <a:rPr lang="en-US" altLang="zh-CN" sz="1200" dirty="0">
                    <a:solidFill>
                      <a:schemeClr val="tx1"/>
                    </a:solidFill>
                    <a:latin typeface="Source Sans Pro" panose="020B0503030403020204" pitchFamily="34" charset="0"/>
                    <a:ea typeface="Source Sans Pro" panose="020B0503030403020204" pitchFamily="34" charset="0"/>
                  </a:rPr>
                  <a:t>hash</a:t>
                </a:r>
                <a:r>
                  <a:rPr lang="zh-CN" altLang="en-US" sz="1200" dirty="0">
                    <a:solidFill>
                      <a:schemeClr val="tx1"/>
                    </a:solidFill>
                    <a:latin typeface="Source Sans Pro" panose="020B0503030403020204" pitchFamily="34" charset="0"/>
                    <a:ea typeface="Source Sans Pro" panose="020B0503030403020204" pitchFamily="34" charset="0"/>
                  </a:rPr>
                  <a:t>碰撞）</a:t>
                </a:r>
                <a:r>
                  <a:rPr lang="en-US" altLang="zh-CN" sz="1200" dirty="0">
                    <a:solidFill>
                      <a:schemeClr val="bg2"/>
                    </a:solidFill>
                    <a:latin typeface="Source Sans Pro" panose="020B0503030403020204" pitchFamily="34" charset="0"/>
                    <a:ea typeface="Source Sans Pro" panose="020B0503030403020204" pitchFamily="34" charset="0"/>
                  </a:rPr>
                  <a:t>: </a:t>
                </a:r>
                <a14:m>
                  <m:oMath xmlns:m="http://schemas.openxmlformats.org/officeDocument/2006/math">
                    <m:r>
                      <a:rPr lang="zh-CN" altLang="en-US" sz="1200" i="1" dirty="0" smtClean="0">
                        <a:solidFill>
                          <a:schemeClr val="bg2"/>
                        </a:solidFill>
                        <a:latin typeface="Cambria Math" panose="02040503050406030204" pitchFamily="18" charset="0"/>
                        <a:ea typeface="Source Sans Pro" panose="020B0503030403020204" pitchFamily="34" charset="0"/>
                      </a:rPr>
                      <m:t>𝑝𝑜𝑠</m:t>
                    </m:r>
                    <m:r>
                      <a:rPr lang="en-US" altLang="zh-CN" sz="1200" i="1" dirty="0">
                        <a:solidFill>
                          <a:schemeClr val="bg2"/>
                        </a:solidFill>
                        <a:latin typeface="Cambria Math" panose="02040503050406030204" pitchFamily="18" charset="0"/>
                        <a:ea typeface="Source Sans Pro" panose="020B0503030403020204" pitchFamily="34" charset="0"/>
                      </a:rPr>
                      <m:t>(</m:t>
                    </m:r>
                    <m:sSub>
                      <m:sSubPr>
                        <m:ctrlPr>
                          <a:rPr lang="en-US" altLang="zh-CN" sz="1200" i="1" dirty="0">
                            <a:solidFill>
                              <a:schemeClr val="bg2"/>
                            </a:solidFill>
                            <a:latin typeface="Cambria Math" panose="02040503050406030204" pitchFamily="18" charset="0"/>
                            <a:ea typeface="Source Sans Pro" panose="020B0503030403020204" pitchFamily="34" charset="0"/>
                          </a:rPr>
                        </m:ctrlPr>
                      </m:sSubPr>
                      <m:e>
                        <m:r>
                          <a:rPr lang="zh-CN" altLang="en-US" sz="1200" i="1" dirty="0">
                            <a:solidFill>
                              <a:schemeClr val="bg2"/>
                            </a:solidFill>
                            <a:latin typeface="Cambria Math" panose="02040503050406030204" pitchFamily="18" charset="0"/>
                            <a:ea typeface="Source Sans Pro" panose="020B0503030403020204" pitchFamily="34" charset="0"/>
                          </a:rPr>
                          <m:t>𝑤</m:t>
                        </m:r>
                      </m:e>
                      <m:sub>
                        <m:r>
                          <a:rPr lang="en-US" altLang="zh-CN" sz="1200" i="1" dirty="0">
                            <a:solidFill>
                              <a:schemeClr val="bg2"/>
                            </a:solidFill>
                            <a:latin typeface="Cambria Math" panose="02040503050406030204" pitchFamily="18" charset="0"/>
                            <a:ea typeface="Source Sans Pro" panose="020B0503030403020204" pitchFamily="34" charset="0"/>
                          </a:rPr>
                          <m:t>1</m:t>
                        </m:r>
                      </m:sub>
                    </m:sSub>
                    <m:r>
                      <a:rPr lang="en-US" altLang="zh-CN" sz="1200" i="1" dirty="0">
                        <a:solidFill>
                          <a:schemeClr val="bg2"/>
                        </a:solidFill>
                        <a:latin typeface="Cambria Math" panose="02040503050406030204" pitchFamily="18" charset="0"/>
                        <a:ea typeface="Source Sans Pro" panose="020B0503030403020204" pitchFamily="34" charset="0"/>
                      </a:rPr>
                      <m:t> )≠  </m:t>
                    </m:r>
                    <m:r>
                      <a:rPr lang="zh-CN" altLang="en-US" sz="1200" i="1" dirty="0">
                        <a:solidFill>
                          <a:schemeClr val="bg2"/>
                        </a:solidFill>
                        <a:latin typeface="Cambria Math" panose="02040503050406030204" pitchFamily="18" charset="0"/>
                        <a:ea typeface="Source Sans Pro" panose="020B0503030403020204" pitchFamily="34" charset="0"/>
                      </a:rPr>
                      <m:t>𝑝𝑜𝑠</m:t>
                    </m:r>
                    <m:r>
                      <a:rPr lang="en-US" altLang="zh-CN" sz="1200" i="1" dirty="0">
                        <a:solidFill>
                          <a:schemeClr val="bg2"/>
                        </a:solidFill>
                        <a:latin typeface="Cambria Math" panose="02040503050406030204" pitchFamily="18" charset="0"/>
                        <a:ea typeface="Source Sans Pro" panose="020B0503030403020204" pitchFamily="34" charset="0"/>
                      </a:rPr>
                      <m:t>(</m:t>
                    </m:r>
                    <m:sSub>
                      <m:sSubPr>
                        <m:ctrlPr>
                          <a:rPr lang="en-US" altLang="zh-CN" sz="1200" i="1" dirty="0">
                            <a:solidFill>
                              <a:schemeClr val="bg2"/>
                            </a:solidFill>
                            <a:latin typeface="Cambria Math" panose="02040503050406030204" pitchFamily="18" charset="0"/>
                            <a:ea typeface="Source Sans Pro" panose="020B0503030403020204" pitchFamily="34" charset="0"/>
                          </a:rPr>
                        </m:ctrlPr>
                      </m:sSubPr>
                      <m:e>
                        <m:r>
                          <a:rPr lang="zh-CN" altLang="en-US" sz="1200" i="1" dirty="0">
                            <a:solidFill>
                              <a:schemeClr val="bg2"/>
                            </a:solidFill>
                            <a:latin typeface="Cambria Math" panose="02040503050406030204" pitchFamily="18" charset="0"/>
                            <a:ea typeface="Source Sans Pro" panose="020B0503030403020204" pitchFamily="34" charset="0"/>
                          </a:rPr>
                          <m:t>𝑤</m:t>
                        </m:r>
                      </m:e>
                      <m:sub>
                        <m:r>
                          <a:rPr lang="en-US" altLang="zh-CN" sz="1200" i="1" dirty="0">
                            <a:solidFill>
                              <a:schemeClr val="bg2"/>
                            </a:solidFill>
                            <a:latin typeface="Cambria Math" panose="02040503050406030204" pitchFamily="18" charset="0"/>
                            <a:ea typeface="Source Sans Pro" panose="020B0503030403020204" pitchFamily="34" charset="0"/>
                          </a:rPr>
                          <m:t>2</m:t>
                        </m:r>
                      </m:sub>
                    </m:sSub>
                    <m:r>
                      <a:rPr lang="en-US" altLang="zh-CN" sz="1200" i="1" dirty="0">
                        <a:solidFill>
                          <a:schemeClr val="bg2"/>
                        </a:solidFill>
                        <a:latin typeface="Cambria Math" panose="02040503050406030204" pitchFamily="18" charset="0"/>
                        <a:ea typeface="Source Sans Pro" panose="020B0503030403020204" pitchFamily="34" charset="0"/>
                      </a:rPr>
                      <m:t> ), </m:t>
                    </m:r>
                    <m:sSub>
                      <m:sSubPr>
                        <m:ctrlPr>
                          <a:rPr lang="en-US" altLang="zh-CN" sz="1200" i="1" dirty="0">
                            <a:solidFill>
                              <a:schemeClr val="bg2"/>
                            </a:solidFill>
                            <a:latin typeface="Cambria Math" panose="02040503050406030204" pitchFamily="18" charset="0"/>
                            <a:ea typeface="Source Sans Pro" panose="020B0503030403020204" pitchFamily="34" charset="0"/>
                          </a:rPr>
                        </m:ctrlPr>
                      </m:sSubPr>
                      <m:e>
                        <m:r>
                          <a:rPr lang="zh-CN" altLang="en-US" sz="1200" i="1" dirty="0">
                            <a:solidFill>
                              <a:schemeClr val="bg2"/>
                            </a:solidFill>
                            <a:latin typeface="Cambria Math" panose="02040503050406030204" pitchFamily="18" charset="0"/>
                            <a:ea typeface="Source Sans Pro" panose="020B0503030403020204" pitchFamily="34" charset="0"/>
                          </a:rPr>
                          <m:t>𝑤</m:t>
                        </m:r>
                      </m:e>
                      <m:sub>
                        <m:r>
                          <a:rPr lang="en-US" altLang="zh-CN" sz="1200" i="1" dirty="0">
                            <a:solidFill>
                              <a:schemeClr val="bg2"/>
                            </a:solidFill>
                            <a:latin typeface="Cambria Math" panose="02040503050406030204" pitchFamily="18" charset="0"/>
                            <a:ea typeface="Source Sans Pro" panose="020B0503030403020204" pitchFamily="34" charset="0"/>
                          </a:rPr>
                          <m:t>1</m:t>
                        </m:r>
                      </m:sub>
                    </m:sSub>
                    <m:r>
                      <a:rPr lang="en-US" altLang="zh-CN" sz="1200" i="1" dirty="0">
                        <a:solidFill>
                          <a:schemeClr val="bg2"/>
                        </a:solidFill>
                        <a:latin typeface="Cambria Math" panose="02040503050406030204" pitchFamily="18" charset="0"/>
                        <a:ea typeface="Source Sans Pro" panose="020B0503030403020204" pitchFamily="34" charset="0"/>
                      </a:rPr>
                      <m:t>≠ </m:t>
                    </m:r>
                    <m:sSub>
                      <m:sSubPr>
                        <m:ctrlPr>
                          <a:rPr lang="en-US" altLang="zh-CN" sz="1200" i="1" dirty="0">
                            <a:solidFill>
                              <a:schemeClr val="bg2"/>
                            </a:solidFill>
                            <a:latin typeface="Cambria Math" panose="02040503050406030204" pitchFamily="18" charset="0"/>
                            <a:ea typeface="Source Sans Pro" panose="020B0503030403020204" pitchFamily="34" charset="0"/>
                          </a:rPr>
                        </m:ctrlPr>
                      </m:sSubPr>
                      <m:e>
                        <m:r>
                          <a:rPr lang="zh-CN" altLang="en-US" sz="1200" i="1" dirty="0">
                            <a:solidFill>
                              <a:schemeClr val="bg2"/>
                            </a:solidFill>
                            <a:latin typeface="Cambria Math" panose="02040503050406030204" pitchFamily="18" charset="0"/>
                            <a:ea typeface="Source Sans Pro" panose="020B0503030403020204" pitchFamily="34" charset="0"/>
                          </a:rPr>
                          <m:t>𝑤</m:t>
                        </m:r>
                      </m:e>
                      <m:sub>
                        <m:r>
                          <a:rPr lang="en-US" altLang="zh-CN" sz="1200" i="1" dirty="0">
                            <a:solidFill>
                              <a:schemeClr val="bg2"/>
                            </a:solidFill>
                            <a:latin typeface="Cambria Math" panose="02040503050406030204" pitchFamily="18" charset="0"/>
                            <a:ea typeface="Source Sans Pro" panose="020B0503030403020204" pitchFamily="34" charset="0"/>
                          </a:rPr>
                          <m:t>2</m:t>
                        </m:r>
                      </m:sub>
                    </m:sSub>
                  </m:oMath>
                </a14:m>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Then, we could insert, find and delete each word w in </a:t>
                </a:r>
                <a:r>
                  <a:rPr lang="zh-CN" altLang="en-US" sz="1400" dirty="0">
                    <a:solidFill>
                      <a:schemeClr val="tx1"/>
                    </a:solidFill>
                    <a:latin typeface="Source Sans Pro" panose="020B0503030403020204" pitchFamily="34" charset="0"/>
                    <a:ea typeface="Source Sans Pro" panose="020B0503030403020204" pitchFamily="34" charset="0"/>
                  </a:rPr>
                  <a:t>𝑂</a:t>
                </a:r>
                <a:r>
                  <a:rPr lang="en-US" altLang="zh-CN" sz="1400" dirty="0">
                    <a:solidFill>
                      <a:schemeClr val="tx1"/>
                    </a:solidFill>
                    <a:latin typeface="Source Sans Pro" panose="020B0503030403020204" pitchFamily="34" charset="0"/>
                    <a:ea typeface="Source Sans Pro" panose="020B0503030403020204" pitchFamily="34" charset="0"/>
                  </a:rPr>
                  <a:t>(|</a:t>
                </a:r>
                <a:r>
                  <a:rPr lang="zh-CN" altLang="en-US" sz="1400" dirty="0">
                    <a:solidFill>
                      <a:schemeClr val="tx1"/>
                    </a:solidFill>
                    <a:latin typeface="Source Sans Pro" panose="020B0503030403020204" pitchFamily="34" charset="0"/>
                    <a:ea typeface="Source Sans Pro" panose="020B0503030403020204" pitchFamily="34" charset="0"/>
                  </a:rPr>
                  <a:t>𝑊</a:t>
                </a:r>
                <a:r>
                  <a:rPr lang="en-US" altLang="zh-CN" sz="1400" dirty="0">
                    <a:solidFill>
                      <a:schemeClr val="tx1"/>
                    </a:solidFill>
                    <a:latin typeface="Source Sans Pro" panose="020B0503030403020204" pitchFamily="34" charset="0"/>
                    <a:ea typeface="Source Sans Pro" panose="020B0503030403020204" pitchFamily="34" charset="0"/>
                  </a:rPr>
                  <a:t>|)→ </a:t>
                </a:r>
                <a:r>
                  <a:rPr lang="zh-CN" altLang="en-US" sz="1400" dirty="0">
                    <a:solidFill>
                      <a:schemeClr val="tx1"/>
                    </a:solidFill>
                    <a:latin typeface="Source Sans Pro" panose="020B0503030403020204" pitchFamily="34" charset="0"/>
                    <a:ea typeface="Source Sans Pro" panose="020B0503030403020204" pitchFamily="34" charset="0"/>
                  </a:rPr>
                  <a:t>𝑂</a:t>
                </a:r>
                <a:r>
                  <a:rPr lang="en-US" altLang="zh-CN" sz="1400" dirty="0">
                    <a:solidFill>
                      <a:schemeClr val="tx1"/>
                    </a:solidFill>
                    <a:latin typeface="Source Sans Pro" panose="020B0503030403020204" pitchFamily="34" charset="0"/>
                    <a:ea typeface="Source Sans Pro" panose="020B0503030403020204" pitchFamily="34" charset="0"/>
                  </a:rPr>
                  <a:t>(1).</a:t>
                </a:r>
                <a:endParaRPr lang="en-US" altLang="zh-CN" sz="1400" dirty="0">
                  <a:solidFill>
                    <a:schemeClr val="tx1"/>
                  </a:solidFill>
                  <a:latin typeface="Source Sans Pro" panose="020B0503030403020204" pitchFamily="34" charset="0"/>
                  <a:ea typeface="Source Sans Pro" panose="020B0503030403020204" pitchFamily="34" charset="0"/>
                </a:endParaRPr>
              </a:p>
              <a:p>
                <a:pPr>
                  <a:lnSpc>
                    <a:spcPct val="120000"/>
                  </a:lnSpc>
                </a:pPr>
                <a:endParaRPr lang="zh-CN" altLang="en-US" sz="1500" dirty="0">
                  <a:solidFill>
                    <a:schemeClr val="bg2"/>
                  </a:solidFill>
                  <a:latin typeface="Source Sans Pro" panose="020B0503030403020204" pitchFamily="34" charset="0"/>
                  <a:ea typeface="Source Sans Pro" panose="020B0503030403020204" pitchFamily="34" charset="0"/>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311700" y="2502131"/>
                <a:ext cx="8520600" cy="2196344"/>
              </a:xfrm>
              <a:blipFill rotWithShape="1">
                <a:blip r:embed="rId1"/>
                <a:stretch>
                  <a:fillRect l="-6" t="-11" r="1" b="-647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Rectangle 4"/>
              <p:cNvSpPr/>
              <p:nvPr/>
            </p:nvSpPr>
            <p:spPr>
              <a:xfrm>
                <a:off x="3882612" y="1068424"/>
                <a:ext cx="4423886" cy="1151074"/>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1" indent="-285750">
                  <a:buFont typeface="Arial" panose="020B0604020202020204" pitchFamily="34" charset="0"/>
                  <a:buChar char="•"/>
                </a:pPr>
                <a:r>
                  <a:rPr lang="zh-CN" altLang="en-US" dirty="0">
                    <a:solidFill>
                      <a:schemeClr val="tx1"/>
                    </a:solidFill>
                    <a:latin typeface="Source Sans Pro" panose="020B0503030403020204" pitchFamily="34" charset="0"/>
                    <a:ea typeface="黑体" panose="02010609060101010101" pitchFamily="49" charset="-122"/>
                  </a:rPr>
                  <a:t>预先准备一个表</a:t>
                </a:r>
                <a:r>
                  <a:rPr lang="en-US" altLang="zh-CN" dirty="0">
                    <a:solidFill>
                      <a:schemeClr val="tx1"/>
                    </a:solidFill>
                    <a:latin typeface="Source Sans Pro" panose="020B0503030403020204" pitchFamily="34" charset="0"/>
                    <a:ea typeface="黑体" panose="02010609060101010101" pitchFamily="49" charset="-122"/>
                  </a:rPr>
                  <a:t>(</a:t>
                </a:r>
                <a:r>
                  <a:rPr lang="zh-CN" altLang="en-US" dirty="0">
                    <a:solidFill>
                      <a:schemeClr val="tx1"/>
                    </a:solidFill>
                    <a:latin typeface="Source Sans Pro" panose="020B0503030403020204" pitchFamily="34" charset="0"/>
                    <a:ea typeface="黑体" panose="02010609060101010101" pitchFamily="49" charset="-122"/>
                  </a:rPr>
                  <a:t>连续分布的一块内存空间</a:t>
                </a:r>
                <a:r>
                  <a:rPr lang="en-US" altLang="zh-CN" dirty="0">
                    <a:solidFill>
                      <a:schemeClr val="tx1"/>
                    </a:solidFill>
                    <a:latin typeface="Source Sans Pro" panose="020B0503030403020204" pitchFamily="34" charset="0"/>
                    <a:ea typeface="黑体" panose="02010609060101010101" pitchFamily="49" charset="-122"/>
                  </a:rPr>
                  <a:t>)</a:t>
                </a:r>
                <a:r>
                  <a:rPr lang="zh-CN" altLang="en-US" dirty="0">
                    <a:solidFill>
                      <a:schemeClr val="tx1"/>
                    </a:solidFill>
                    <a:latin typeface="Source Sans Pro" panose="020B0503030403020204" pitchFamily="34" charset="0"/>
                    <a:ea typeface="黑体" panose="02010609060101010101" pitchFamily="49" charset="-122"/>
                  </a:rPr>
                  <a:t>：需要时间和空间</a:t>
                </a:r>
                <a:endParaRPr lang="zh-CN" altLang="en-US" dirty="0">
                  <a:solidFill>
                    <a:schemeClr val="tx1"/>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r>
                  <a:rPr lang="zh-CN" altLang="en-US" dirty="0">
                    <a:solidFill>
                      <a:schemeClr val="tx1"/>
                    </a:solidFill>
                    <a:latin typeface="Source Sans Pro" panose="020B0503030403020204" pitchFamily="34" charset="0"/>
                    <a:ea typeface="黑体" panose="02010609060101010101" pitchFamily="49" charset="-122"/>
                  </a:rPr>
                  <a:t>对每个元素</a:t>
                </a:r>
                <a:r>
                  <a:rPr lang="en-US" altLang="zh-CN" dirty="0">
                    <a:solidFill>
                      <a:schemeClr val="tx1"/>
                    </a:solidFill>
                    <a:latin typeface="Source Sans Pro" panose="020B0503030403020204" pitchFamily="34" charset="0"/>
                    <a:ea typeface="黑体" panose="02010609060101010101" pitchFamily="49" charset="-122"/>
                  </a:rPr>
                  <a:t>x, </a:t>
                </a:r>
                <a:r>
                  <a:rPr lang="zh-CN" altLang="en-US" dirty="0">
                    <a:solidFill>
                      <a:schemeClr val="tx1"/>
                    </a:solidFill>
                    <a:latin typeface="Source Sans Pro" panose="020B0503030403020204" pitchFamily="34" charset="0"/>
                    <a:ea typeface="黑体" panose="02010609060101010101" pitchFamily="49" charset="-122"/>
                  </a:rPr>
                  <a:t>用表中一个位置</a:t>
                </a:r>
                <a14:m>
                  <m:oMath xmlns:m="http://schemas.openxmlformats.org/officeDocument/2006/math">
                    <m:r>
                      <a:rPr lang="en-US" altLang="zh-CN" i="1" dirty="0" smtClean="0">
                        <a:solidFill>
                          <a:schemeClr val="tx1"/>
                        </a:solidFill>
                        <a:latin typeface="Cambria Math" panose="02040503050406030204" pitchFamily="18" charset="0"/>
                        <a:ea typeface="黑体" panose="02010609060101010101" pitchFamily="49" charset="-122"/>
                      </a:rPr>
                      <m:t>𝑝𝑜𝑠</m:t>
                    </m:r>
                    <m:r>
                      <a:rPr lang="en-US" altLang="zh-CN" i="1" dirty="0" smtClean="0">
                        <a:solidFill>
                          <a:schemeClr val="tx1"/>
                        </a:solidFill>
                        <a:latin typeface="Cambria Math" panose="02040503050406030204" pitchFamily="18" charset="0"/>
                        <a:ea typeface="黑体" panose="02010609060101010101" pitchFamily="49" charset="-122"/>
                      </a:rPr>
                      <m:t>(</m:t>
                    </m:r>
                    <m:r>
                      <a:rPr lang="en-US" altLang="zh-CN" i="1" dirty="0" smtClean="0">
                        <a:solidFill>
                          <a:schemeClr val="tx1"/>
                        </a:solidFill>
                        <a:latin typeface="Cambria Math" panose="02040503050406030204" pitchFamily="18" charset="0"/>
                        <a:ea typeface="黑体" panose="02010609060101010101" pitchFamily="49" charset="-122"/>
                      </a:rPr>
                      <m:t>𝑥</m:t>
                    </m:r>
                    <m:r>
                      <a:rPr lang="en-US" altLang="zh-CN" i="1" dirty="0" smtClean="0">
                        <a:solidFill>
                          <a:schemeClr val="tx1"/>
                        </a:solidFill>
                        <a:latin typeface="Cambria Math" panose="02040503050406030204" pitchFamily="18" charset="0"/>
                        <a:ea typeface="黑体" panose="02010609060101010101" pitchFamily="49" charset="-122"/>
                      </a:rPr>
                      <m:t>)</m:t>
                    </m:r>
                  </m:oMath>
                </a14:m>
                <a:r>
                  <a:rPr lang="zh-CN" altLang="en-US" dirty="0">
                    <a:solidFill>
                      <a:schemeClr val="tx1"/>
                    </a:solidFill>
                    <a:latin typeface="Source Sans Pro" panose="020B0503030403020204" pitchFamily="34" charset="0"/>
                    <a:ea typeface="黑体" panose="02010609060101010101" pitchFamily="49" charset="-122"/>
                  </a:rPr>
                  <a:t>来存储</a:t>
                </a:r>
                <a:endParaRPr lang="en-US" altLang="zh-CN" dirty="0">
                  <a:solidFill>
                    <a:schemeClr val="tx1"/>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14:m>
                  <m:oMath xmlns:m="http://schemas.openxmlformats.org/officeDocument/2006/math">
                    <m:r>
                      <a:rPr lang="en-US" altLang="zh-CN" i="1" dirty="0" smtClean="0">
                        <a:solidFill>
                          <a:schemeClr val="tx1"/>
                        </a:solidFill>
                        <a:latin typeface="Cambria Math" panose="02040503050406030204" pitchFamily="18" charset="0"/>
                        <a:ea typeface="黑体" panose="02010609060101010101" pitchFamily="49" charset="-122"/>
                      </a:rPr>
                      <m:t>𝑝𝑜𝑠</m:t>
                    </m:r>
                    <m:r>
                      <a:rPr lang="en-US" altLang="zh-CN" i="1" dirty="0" smtClean="0">
                        <a:solidFill>
                          <a:schemeClr val="tx1"/>
                        </a:solidFill>
                        <a:latin typeface="Cambria Math" panose="02040503050406030204" pitchFamily="18" charset="0"/>
                        <a:ea typeface="黑体" panose="02010609060101010101" pitchFamily="49" charset="-122"/>
                      </a:rPr>
                      <m:t>(</m:t>
                    </m:r>
                    <m:r>
                      <a:rPr lang="en-US" altLang="zh-CN" i="1" dirty="0" smtClean="0">
                        <a:solidFill>
                          <a:schemeClr val="tx1"/>
                        </a:solidFill>
                        <a:latin typeface="Cambria Math" panose="02040503050406030204" pitchFamily="18" charset="0"/>
                        <a:ea typeface="黑体" panose="02010609060101010101" pitchFamily="49" charset="-122"/>
                      </a:rPr>
                      <m:t>𝑥</m:t>
                    </m:r>
                    <m:r>
                      <a:rPr lang="en-US" altLang="zh-CN" i="1" dirty="0" smtClean="0">
                        <a:solidFill>
                          <a:schemeClr val="tx1"/>
                        </a:solidFill>
                        <a:latin typeface="Cambria Math" panose="02040503050406030204" pitchFamily="18" charset="0"/>
                        <a:ea typeface="黑体" panose="02010609060101010101" pitchFamily="49" charset="-122"/>
                      </a:rPr>
                      <m:t>)</m:t>
                    </m:r>
                  </m:oMath>
                </a14:m>
                <a:r>
                  <a:rPr lang="zh-CN" altLang="en-US" dirty="0">
                    <a:solidFill>
                      <a:schemeClr val="tx1"/>
                    </a:solidFill>
                    <a:latin typeface="Source Sans Pro" panose="020B0503030403020204" pitchFamily="34" charset="0"/>
                    <a:ea typeface="黑体" panose="02010609060101010101" pitchFamily="49" charset="-122"/>
                  </a:rPr>
                  <a:t>叫做</a:t>
                </a:r>
                <a:r>
                  <a:rPr lang="en-US" altLang="zh-CN" dirty="0">
                    <a:solidFill>
                      <a:schemeClr val="tx1"/>
                    </a:solidFill>
                    <a:latin typeface="Source Sans Pro" panose="020B0503030403020204" pitchFamily="34" charset="0"/>
                    <a:ea typeface="黑体" panose="02010609060101010101" pitchFamily="49" charset="-122"/>
                  </a:rPr>
                  <a:t>hash</a:t>
                </a:r>
                <a:r>
                  <a:rPr lang="zh-CN" altLang="en-US" dirty="0">
                    <a:solidFill>
                      <a:schemeClr val="tx1"/>
                    </a:solidFill>
                    <a:latin typeface="Source Sans Pro" panose="020B0503030403020204" pitchFamily="34" charset="0"/>
                    <a:ea typeface="黑体" panose="02010609060101010101" pitchFamily="49" charset="-122"/>
                  </a:rPr>
                  <a:t>函数，需要自己设计（难点）</a:t>
                </a:r>
                <a:endParaRPr lang="en-US" altLang="zh-CN" dirty="0">
                  <a:solidFill>
                    <a:schemeClr val="tx1"/>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r>
                  <a:rPr lang="zh-CN" altLang="en-US" dirty="0">
                    <a:solidFill>
                      <a:schemeClr val="tx1"/>
                    </a:solidFill>
                    <a:latin typeface="Source Sans Pro" panose="020B0503030403020204" pitchFamily="34" charset="0"/>
                    <a:ea typeface="黑体" panose="02010609060101010101" pitchFamily="49" charset="-122"/>
                  </a:rPr>
                  <a:t>理想状况 </a:t>
                </a:r>
                <a14:m>
                  <m:oMath xmlns:m="http://schemas.openxmlformats.org/officeDocument/2006/math">
                    <m:r>
                      <a:rPr lang="en-US" altLang="zh-CN" i="1" dirty="0" smtClean="0">
                        <a:solidFill>
                          <a:schemeClr val="tx1"/>
                        </a:solidFill>
                        <a:latin typeface="Cambria Math" panose="02040503050406030204" pitchFamily="18" charset="0"/>
                        <a:ea typeface="黑体" panose="02010609060101010101" pitchFamily="49" charset="-122"/>
                      </a:rPr>
                      <m:t>𝑝𝑜𝑥</m:t>
                    </m:r>
                    <m:d>
                      <m:dPr>
                        <m:ctrlPr>
                          <a:rPr lang="en-US" altLang="zh-CN" i="1" dirty="0" smtClean="0">
                            <a:solidFill>
                              <a:schemeClr val="tx1"/>
                            </a:solidFill>
                            <a:latin typeface="Cambria Math" panose="02040503050406030204" pitchFamily="18" charset="0"/>
                            <a:ea typeface="黑体" panose="02010609060101010101" pitchFamily="49" charset="-122"/>
                          </a:rPr>
                        </m:ctrlPr>
                      </m:dPr>
                      <m:e>
                        <m:r>
                          <a:rPr lang="en-US" altLang="zh-CN" i="1" dirty="0" smtClean="0">
                            <a:solidFill>
                              <a:schemeClr val="tx1"/>
                            </a:solidFill>
                            <a:latin typeface="Cambria Math" panose="02040503050406030204" pitchFamily="18" charset="0"/>
                            <a:ea typeface="黑体" panose="02010609060101010101" pitchFamily="49" charset="-122"/>
                          </a:rPr>
                          <m:t>𝑥</m:t>
                        </m:r>
                      </m:e>
                    </m:d>
                    <m:r>
                      <a:rPr lang="en-US" altLang="zh-CN" b="0" i="1" dirty="0" smtClean="0">
                        <a:solidFill>
                          <a:schemeClr val="tx1"/>
                        </a:solidFill>
                        <a:latin typeface="Cambria Math" panose="02040503050406030204" pitchFamily="18" charset="0"/>
                        <a:ea typeface="黑体" panose="02010609060101010101" pitchFamily="49" charset="-122"/>
                      </a:rPr>
                      <m:t>≠</m:t>
                    </m:r>
                    <m:r>
                      <a:rPr lang="en-US" altLang="zh-CN" b="0" i="1" dirty="0" smtClean="0">
                        <a:solidFill>
                          <a:schemeClr val="tx1"/>
                        </a:solidFill>
                        <a:latin typeface="Cambria Math" panose="02040503050406030204" pitchFamily="18" charset="0"/>
                        <a:ea typeface="黑体" panose="02010609060101010101" pitchFamily="49" charset="-122"/>
                      </a:rPr>
                      <m:t>𝑝𝑜𝑠</m:t>
                    </m:r>
                    <m:d>
                      <m:dPr>
                        <m:ctrlPr>
                          <a:rPr lang="en-US" altLang="zh-CN" b="0" i="1" dirty="0" smtClean="0">
                            <a:solidFill>
                              <a:schemeClr val="tx1"/>
                            </a:solidFill>
                            <a:latin typeface="Cambria Math" panose="02040503050406030204" pitchFamily="18" charset="0"/>
                            <a:ea typeface="黑体" panose="02010609060101010101" pitchFamily="49" charset="-122"/>
                          </a:rPr>
                        </m:ctrlPr>
                      </m:dPr>
                      <m:e>
                        <m:r>
                          <a:rPr lang="en-US" altLang="zh-CN" b="0" i="1" dirty="0" smtClean="0">
                            <a:solidFill>
                              <a:schemeClr val="tx1"/>
                            </a:solidFill>
                            <a:latin typeface="Cambria Math" panose="02040503050406030204" pitchFamily="18" charset="0"/>
                            <a:ea typeface="黑体" panose="02010609060101010101" pitchFamily="49" charset="-122"/>
                          </a:rPr>
                          <m:t>𝑦</m:t>
                        </m:r>
                      </m:e>
                    </m:d>
                    <m:r>
                      <a:rPr lang="en-US" altLang="zh-CN" b="0" i="1" dirty="0" smtClean="0">
                        <a:solidFill>
                          <a:schemeClr val="tx1"/>
                        </a:solidFill>
                        <a:latin typeface="Cambria Math" panose="02040503050406030204" pitchFamily="18" charset="0"/>
                        <a:ea typeface="黑体" panose="02010609060101010101" pitchFamily="49" charset="-122"/>
                      </a:rPr>
                      <m:t>,</m:t>
                    </m:r>
                    <m:r>
                      <a:rPr lang="zh-CN" altLang="en-US" b="0" i="1" dirty="0" smtClean="0">
                        <a:solidFill>
                          <a:schemeClr val="tx1"/>
                        </a:solidFill>
                        <a:latin typeface="Cambria Math" panose="02040503050406030204" pitchFamily="18" charset="0"/>
                        <a:ea typeface="黑体" panose="02010609060101010101" pitchFamily="49" charset="-122"/>
                      </a:rPr>
                      <m:t> </m:t>
                    </m:r>
                    <m:r>
                      <a:rPr lang="en-US" altLang="zh-CN" b="0" i="1" dirty="0" smtClean="0">
                        <a:solidFill>
                          <a:schemeClr val="tx1"/>
                        </a:solidFill>
                        <a:latin typeface="Cambria Math" panose="02040503050406030204" pitchFamily="18" charset="0"/>
                        <a:ea typeface="黑体" panose="02010609060101010101" pitchFamily="49" charset="-122"/>
                      </a:rPr>
                      <m:t>∀</m:t>
                    </m:r>
                    <m:r>
                      <a:rPr lang="en-US" altLang="zh-CN" b="0" i="1" dirty="0" smtClean="0">
                        <a:solidFill>
                          <a:schemeClr val="tx1"/>
                        </a:solidFill>
                        <a:latin typeface="Cambria Math" panose="02040503050406030204" pitchFamily="18" charset="0"/>
                        <a:ea typeface="黑体" panose="02010609060101010101" pitchFamily="49" charset="-122"/>
                      </a:rPr>
                      <m:t>𝑥</m:t>
                    </m:r>
                    <m:r>
                      <a:rPr lang="en-US" altLang="zh-CN" b="0" i="1" dirty="0" smtClean="0">
                        <a:solidFill>
                          <a:schemeClr val="tx1"/>
                        </a:solidFill>
                        <a:latin typeface="Cambria Math" panose="02040503050406030204" pitchFamily="18" charset="0"/>
                        <a:ea typeface="黑体" panose="02010609060101010101" pitchFamily="49" charset="-122"/>
                      </a:rPr>
                      <m:t>≠</m:t>
                    </m:r>
                    <m:r>
                      <a:rPr lang="en-US" altLang="zh-CN" b="0" i="1" dirty="0" smtClean="0">
                        <a:solidFill>
                          <a:schemeClr val="tx1"/>
                        </a:solidFill>
                        <a:latin typeface="Cambria Math" panose="02040503050406030204" pitchFamily="18" charset="0"/>
                        <a:ea typeface="黑体" panose="02010609060101010101" pitchFamily="49" charset="-122"/>
                      </a:rPr>
                      <m:t>𝑦</m:t>
                    </m:r>
                  </m:oMath>
                </a14:m>
                <a:endParaRPr lang="zh-CN" altLang="en-US" dirty="0">
                  <a:solidFill>
                    <a:schemeClr val="tx1"/>
                  </a:solidFill>
                  <a:latin typeface="Source Sans Pro" panose="020B0503030403020204" pitchFamily="34" charset="0"/>
                  <a:ea typeface="黑体" panose="02010609060101010101" pitchFamily="49" charset="-122"/>
                </a:endParaRPr>
              </a:p>
            </p:txBody>
          </p:sp>
        </mc:Choice>
        <mc:Fallback>
          <p:sp>
            <p:nvSpPr>
              <p:cNvPr id="5" name="Rectangle 4"/>
              <p:cNvSpPr>
                <a:spLocks noRot="1" noChangeAspect="1" noMove="1" noResize="1" noEditPoints="1" noAdjustHandles="1" noChangeArrowheads="1" noChangeShapeType="1" noTextEdit="1"/>
              </p:cNvSpPr>
              <p:nvPr/>
            </p:nvSpPr>
            <p:spPr>
              <a:xfrm>
                <a:off x="3882612" y="1068424"/>
                <a:ext cx="4423886" cy="1151074"/>
              </a:xfrm>
              <a:prstGeom prst="rect">
                <a:avLst/>
              </a:prstGeom>
              <a:blipFill rotWithShape="1">
                <a:blip r:embed="rId2"/>
                <a:stretch>
                  <a:fillRect l="-292" t="-1134" r="-286" b="-1088"/>
                </a:stretch>
              </a:blip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001672" y="1068424"/>
            <a:ext cx="2355139" cy="125475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Hash (</a:t>
            </a:r>
            <a:r>
              <a:rPr lang="zh-CN" altLang="en-US" dirty="0">
                <a:latin typeface="Raleway" pitchFamily="34" charset="0"/>
                <a:ea typeface="Source Sans Pro" panose="020B0503030403020204" pitchFamily="34" charset="0"/>
              </a:rPr>
              <a:t>哈希</a:t>
            </a:r>
            <a:r>
              <a:rPr lang="en-US" altLang="zh-CN" dirty="0">
                <a:latin typeface="Raleway" pitchFamily="34" charset="0"/>
                <a:ea typeface="Source Sans Pro" panose="020B0503030403020204" pitchFamily="34" charset="0"/>
              </a:rPr>
              <a:t>) Table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432016" y="2820322"/>
            <a:ext cx="8520600" cy="1801554"/>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The function f is called </a:t>
            </a:r>
            <a:r>
              <a:rPr lang="en-US" altLang="zh-CN" sz="1400" dirty="0">
                <a:solidFill>
                  <a:schemeClr val="tx1"/>
                </a:solidFill>
                <a:latin typeface="Source Sans Pro" panose="020B0503030403020204" pitchFamily="34" charset="0"/>
                <a:ea typeface="Source Sans Pro" panose="020B0503030403020204" pitchFamily="34" charset="0"/>
              </a:rPr>
              <a:t>a hash function </a:t>
            </a:r>
            <a:r>
              <a:rPr lang="en-US" altLang="zh-CN" sz="1400" dirty="0">
                <a:solidFill>
                  <a:schemeClr val="bg2"/>
                </a:solidFill>
                <a:latin typeface="Source Sans Pro" panose="020B0503030403020204" pitchFamily="34" charset="0"/>
                <a:ea typeface="Source Sans Pro" panose="020B0503030403020204" pitchFamily="34" charset="0"/>
              </a:rPr>
              <a:t>(hash</a:t>
            </a:r>
            <a:r>
              <a:rPr lang="zh-CN" altLang="en-US" sz="1400" dirty="0">
                <a:solidFill>
                  <a:schemeClr val="bg2"/>
                </a:solidFill>
                <a:latin typeface="Source Sans Pro" panose="020B0503030403020204" pitchFamily="34" charset="0"/>
                <a:ea typeface="黑体" panose="02010609060101010101" pitchFamily="49" charset="-122"/>
              </a:rPr>
              <a:t>： 混乱无章</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哈希函数的设计是有技巧的：为了避免冲突</a:t>
            </a:r>
            <a:endParaRPr lang="zh-CN" altLang="en-US" sz="1400" dirty="0">
              <a:solidFill>
                <a:schemeClr val="bg2"/>
              </a:solidFill>
              <a:latin typeface="Source Sans Pro" panose="020B0503030403020204" pitchFamily="34" charset="0"/>
              <a:ea typeface="黑体" panose="02010609060101010101" pitchFamily="49" charset="-122"/>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table</a:t>
            </a:r>
            <a:r>
              <a:rPr lang="zh-CN" altLang="en-US" sz="1200" dirty="0">
                <a:solidFill>
                  <a:schemeClr val="bg2"/>
                </a:solidFill>
                <a:latin typeface="Source Sans Pro" panose="020B0503030403020204" pitchFamily="34" charset="0"/>
                <a:ea typeface="黑体" panose="02010609060101010101" pitchFamily="49" charset="-122"/>
              </a:rPr>
              <a:t>的</a:t>
            </a:r>
            <a:r>
              <a:rPr lang="en-US" altLang="zh-CN" sz="1200" dirty="0">
                <a:solidFill>
                  <a:schemeClr val="bg2"/>
                </a:solidFill>
                <a:latin typeface="Source Sans Pro" panose="020B0503030403020204" pitchFamily="34" charset="0"/>
                <a:ea typeface="Source Sans Pro" panose="020B0503030403020204" pitchFamily="34" charset="0"/>
              </a:rPr>
              <a:t>length</a:t>
            </a:r>
            <a:r>
              <a:rPr lang="zh-CN" altLang="en-US" sz="1200" dirty="0">
                <a:solidFill>
                  <a:schemeClr val="bg2"/>
                </a:solidFill>
                <a:latin typeface="Source Sans Pro" panose="020B0503030403020204" pitchFamily="34" charset="0"/>
                <a:ea typeface="黑体" panose="02010609060101010101" pitchFamily="49" charset="-122"/>
              </a:rPr>
              <a:t>要足够大，越大越不容易碰撞 （空间需求大）</a:t>
            </a:r>
            <a:endParaRPr lang="zh-CN" altLang="en-US" sz="12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用空间换时间：</a:t>
            </a:r>
            <a:r>
              <a:rPr lang="en-US" altLang="zh-CN" sz="1200" dirty="0">
                <a:solidFill>
                  <a:schemeClr val="bg2"/>
                </a:solidFill>
                <a:latin typeface="Source Sans Pro" panose="020B0503030403020204" pitchFamily="34" charset="0"/>
                <a:ea typeface="Source Sans Pro" panose="020B0503030403020204" pitchFamily="34" charset="0"/>
              </a:rPr>
              <a:t>O(1)</a:t>
            </a:r>
            <a:r>
              <a:rPr lang="zh-CN" altLang="en-US" sz="1200" dirty="0">
                <a:solidFill>
                  <a:schemeClr val="bg2"/>
                </a:solidFill>
                <a:latin typeface="Source Sans Pro" panose="020B0503030403020204" pitchFamily="34" charset="0"/>
                <a:ea typeface="黑体" panose="02010609060101010101" pitchFamily="49" charset="-122"/>
              </a:rPr>
              <a:t>来源于更大的空间</a:t>
            </a:r>
            <a:endParaRPr lang="zh-CN" altLang="en-US" sz="12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有碰撞可以解决（本课程不深入）</a:t>
            </a:r>
            <a:endParaRPr lang="en-US" altLang="zh-CN" sz="1200" dirty="0">
              <a:solidFill>
                <a:schemeClr val="bg2"/>
              </a:solidFill>
              <a:latin typeface="Source Sans Pro" panose="020B0503030403020204" pitchFamily="34" charset="0"/>
              <a:ea typeface="黑体" panose="02010609060101010101" pitchFamily="49" charset="-122"/>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常用</a:t>
            </a:r>
            <a:r>
              <a:rPr lang="en-US" altLang="zh-CN" sz="1400" dirty="0">
                <a:solidFill>
                  <a:schemeClr val="bg2"/>
                </a:solidFill>
                <a:latin typeface="Source Sans Pro" panose="020B0503030403020204" pitchFamily="34" charset="0"/>
                <a:ea typeface="黑体" panose="02010609060101010101" pitchFamily="49" charset="-122"/>
              </a:rPr>
              <a:t>hash</a:t>
            </a:r>
            <a:r>
              <a:rPr lang="zh-CN" altLang="en-US" sz="1400" dirty="0">
                <a:solidFill>
                  <a:schemeClr val="bg2"/>
                </a:solidFill>
                <a:latin typeface="Source Sans Pro" panose="020B0503030403020204" pitchFamily="34" charset="0"/>
                <a:ea typeface="黑体" panose="02010609060101010101" pitchFamily="49" charset="-122"/>
              </a:rPr>
              <a:t>函数</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5" name="Rectangle 4"/>
          <p:cNvSpPr/>
          <p:nvPr/>
        </p:nvSpPr>
        <p:spPr>
          <a:xfrm>
            <a:off x="4181536" y="1543979"/>
            <a:ext cx="3701555" cy="919011"/>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lvl="1" indent="-285750">
              <a:buFont typeface="Arial" panose="020B0604020202020204" pitchFamily="34" charset="0"/>
              <a:buChar char="•"/>
            </a:pPr>
            <a:r>
              <a:rPr lang="zh-CN" altLang="en-US" sz="1500" dirty="0">
                <a:solidFill>
                  <a:schemeClr val="tx1"/>
                </a:solidFill>
                <a:latin typeface="Source Sans Pro" panose="020B0503030403020204" pitchFamily="34" charset="0"/>
                <a:ea typeface="黑体" panose="02010609060101010101" pitchFamily="49" charset="-122"/>
              </a:rPr>
              <a:t>预先准备一个表：需要时间和空间</a:t>
            </a:r>
            <a:endParaRPr lang="zh-CN" altLang="en-US" sz="1500" dirty="0">
              <a:solidFill>
                <a:schemeClr val="tx1"/>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r>
              <a:rPr lang="zh-CN" altLang="en-US" sz="1500" dirty="0">
                <a:solidFill>
                  <a:schemeClr val="tx1"/>
                </a:solidFill>
                <a:latin typeface="Source Sans Pro" panose="020B0503030403020204" pitchFamily="34" charset="0"/>
                <a:ea typeface="黑体" panose="02010609060101010101" pitchFamily="49" charset="-122"/>
              </a:rPr>
              <a:t>对每个元素</a:t>
            </a:r>
            <a:r>
              <a:rPr lang="en-US" altLang="zh-CN" sz="1500" dirty="0">
                <a:solidFill>
                  <a:schemeClr val="tx1"/>
                </a:solidFill>
                <a:latin typeface="Source Sans Pro" panose="020B0503030403020204" pitchFamily="34" charset="0"/>
                <a:ea typeface="黑体" panose="02010609060101010101" pitchFamily="49" charset="-122"/>
              </a:rPr>
              <a:t>x, </a:t>
            </a:r>
            <a:r>
              <a:rPr lang="zh-CN" altLang="en-US" sz="1500" dirty="0">
                <a:solidFill>
                  <a:schemeClr val="tx1"/>
                </a:solidFill>
                <a:latin typeface="Source Sans Pro" panose="020B0503030403020204" pitchFamily="34" charset="0"/>
                <a:ea typeface="黑体" panose="02010609060101010101" pitchFamily="49" charset="-122"/>
              </a:rPr>
              <a:t>用表中一个位置</a:t>
            </a:r>
            <a:r>
              <a:rPr lang="en-US" altLang="zh-CN" sz="1500" dirty="0">
                <a:solidFill>
                  <a:schemeClr val="tx1"/>
                </a:solidFill>
                <a:latin typeface="Source Sans Pro" panose="020B0503030403020204" pitchFamily="34" charset="0"/>
                <a:ea typeface="黑体" panose="02010609060101010101" pitchFamily="49" charset="-122"/>
              </a:rPr>
              <a:t>pos(x)</a:t>
            </a:r>
            <a:r>
              <a:rPr lang="zh-CN" altLang="en-US" sz="1500" dirty="0">
                <a:solidFill>
                  <a:schemeClr val="tx1"/>
                </a:solidFill>
                <a:latin typeface="Source Sans Pro" panose="020B0503030403020204" pitchFamily="34" charset="0"/>
                <a:ea typeface="黑体" panose="02010609060101010101" pitchFamily="49" charset="-122"/>
              </a:rPr>
              <a:t>来存储</a:t>
            </a:r>
            <a:endParaRPr lang="zh-CN" altLang="en-US" sz="1500" dirty="0">
              <a:solidFill>
                <a:schemeClr val="tx1"/>
              </a:solidFill>
              <a:latin typeface="Source Sans Pro" panose="020B0503030403020204" pitchFamily="34" charset="0"/>
              <a:ea typeface="黑体" panose="02010609060101010101" pitchFamily="49" charset="-122"/>
            </a:endParaRPr>
          </a:p>
        </p:txBody>
      </p:sp>
      <p:pic>
        <p:nvPicPr>
          <p:cNvPr id="4" name="图片 3"/>
          <p:cNvPicPr>
            <a:picLocks noChangeAspect="1"/>
          </p:cNvPicPr>
          <p:nvPr/>
        </p:nvPicPr>
        <p:blipFill>
          <a:blip r:embed="rId1"/>
          <a:stretch>
            <a:fillRect/>
          </a:stretch>
        </p:blipFill>
        <p:spPr>
          <a:xfrm>
            <a:off x="1064236" y="1376108"/>
            <a:ext cx="2355139" cy="125475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4256116" y="313206"/>
            <a:ext cx="4682025" cy="4598300"/>
          </a:xfrm>
        </p:spPr>
        <p:txBody>
          <a:bodyPr>
            <a:noAutofit/>
          </a:bodyPr>
          <a:lstStyle/>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例子：实际中通过位置函数</a:t>
            </a:r>
            <a:r>
              <a:rPr lang="en-US" altLang="zh-CN" sz="1400" dirty="0">
                <a:solidFill>
                  <a:schemeClr val="bg2"/>
                </a:solidFill>
                <a:latin typeface="Source Sans Pro" panose="020B0503030403020204" pitchFamily="34" charset="0"/>
                <a:ea typeface="Source Sans Pro" panose="020B0503030403020204" pitchFamily="34" charset="0"/>
              </a:rPr>
              <a:t>pos(x)</a:t>
            </a:r>
            <a:r>
              <a:rPr lang="zh-CN" altLang="en-US" sz="1400" dirty="0">
                <a:solidFill>
                  <a:schemeClr val="bg2"/>
                </a:solidFill>
                <a:latin typeface="Source Sans Pro" panose="020B0503030403020204" pitchFamily="34" charset="0"/>
                <a:ea typeface="黑体" panose="02010609060101010101" pitchFamily="49" charset="-122"/>
              </a:rPr>
              <a:t>来存储、查询</a:t>
            </a:r>
            <a:endParaRPr lang="zh-CN" altLang="en-US" sz="14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电影院直接告诉你座位在</a:t>
            </a:r>
            <a:r>
              <a:rPr lang="en-US" altLang="zh-CN" sz="1200" dirty="0">
                <a:solidFill>
                  <a:schemeClr val="bg2"/>
                </a:solidFill>
                <a:latin typeface="Source Sans Pro" panose="020B0503030403020204" pitchFamily="34" charset="0"/>
                <a:ea typeface="Source Sans Pro" panose="020B0503030403020204" pitchFamily="34" charset="0"/>
              </a:rPr>
              <a:t>m</a:t>
            </a:r>
            <a:r>
              <a:rPr lang="zh-CN" altLang="en-US" sz="1200" dirty="0">
                <a:solidFill>
                  <a:schemeClr val="bg2"/>
                </a:solidFill>
                <a:latin typeface="Source Sans Pro" panose="020B0503030403020204" pitchFamily="34" charset="0"/>
                <a:ea typeface="黑体" panose="02010609060101010101" pitchFamily="49" charset="-122"/>
              </a:rPr>
              <a:t>排</a:t>
            </a:r>
            <a:r>
              <a:rPr lang="en-US" altLang="zh-CN" sz="1200" dirty="0">
                <a:solidFill>
                  <a:schemeClr val="bg2"/>
                </a:solidFill>
                <a:latin typeface="Source Sans Pro" panose="020B0503030403020204" pitchFamily="34" charset="0"/>
                <a:ea typeface="Source Sans Pro" panose="020B0503030403020204" pitchFamily="34" charset="0"/>
              </a:rPr>
              <a:t>n</a:t>
            </a:r>
            <a:r>
              <a:rPr lang="zh-CN" altLang="en-US" sz="1200" dirty="0">
                <a:solidFill>
                  <a:schemeClr val="bg2"/>
                </a:solidFill>
                <a:latin typeface="Source Sans Pro" panose="020B0503030403020204" pitchFamily="34" charset="0"/>
                <a:ea typeface="黑体" panose="02010609060101010101" pitchFamily="49" charset="-122"/>
              </a:rPr>
              <a:t>列</a:t>
            </a:r>
            <a:endParaRPr lang="zh-CN" altLang="en-US" sz="12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宴会上会告诉你在第几桌几号位</a:t>
            </a:r>
            <a:endParaRPr lang="zh-CN" altLang="en-US" sz="1200" dirty="0">
              <a:solidFill>
                <a:schemeClr val="bg2"/>
              </a:solidFill>
              <a:latin typeface="Source Sans Pro" panose="020B0503030403020204" pitchFamily="34" charset="0"/>
              <a:ea typeface="黑体" panose="02010609060101010101" pitchFamily="49" charset="-122"/>
            </a:endParaRPr>
          </a:p>
          <a:p>
            <a:pPr>
              <a:lnSpc>
                <a:spcPct val="120000"/>
              </a:lnSpc>
            </a:pPr>
            <a:r>
              <a:rPr lang="zh-CN" altLang="en-US" sz="1400" dirty="0">
                <a:solidFill>
                  <a:schemeClr val="bg2"/>
                </a:solidFill>
                <a:latin typeface="Source Sans Pro" panose="020B0503030403020204" pitchFamily="34" charset="0"/>
                <a:ea typeface="黑体" panose="02010609060101010101" pitchFamily="49" charset="-122"/>
              </a:rPr>
              <a:t>不是顺序比较来查找</a:t>
            </a:r>
            <a:endParaRPr lang="en-US" altLang="zh-CN" sz="1400" dirty="0">
              <a:solidFill>
                <a:schemeClr val="bg2"/>
              </a:solidFill>
              <a:latin typeface="Source Sans Pro" panose="020B0503030403020204" pitchFamily="34" charset="0"/>
              <a:ea typeface="黑体" panose="02010609060101010101" pitchFamily="49" charset="-122"/>
            </a:endParaRPr>
          </a:p>
          <a:p>
            <a:pPr>
              <a:lnSpc>
                <a:spcPct val="120000"/>
              </a:lnSpc>
            </a:pPr>
            <a:endParaRPr lang="en-US" altLang="zh-CN"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a:solidFill>
                  <a:schemeClr val="bg2"/>
                </a:solidFill>
                <a:latin typeface="Source Sans Pro" panose="020B0503030403020204" pitchFamily="34" charset="0"/>
                <a:ea typeface="黑体" panose="02010609060101010101" pitchFamily="49" charset="-122"/>
              </a:rPr>
              <a:t>Hash</a:t>
            </a:r>
            <a:r>
              <a:rPr lang="zh-CN" altLang="en-US" sz="1400" dirty="0">
                <a:solidFill>
                  <a:schemeClr val="bg2"/>
                </a:solidFill>
                <a:latin typeface="Source Sans Pro" panose="020B0503030403020204" pitchFamily="34" charset="0"/>
                <a:ea typeface="黑体" panose="02010609060101010101" pitchFamily="49" charset="-122"/>
              </a:rPr>
              <a:t>函数</a:t>
            </a:r>
            <a:r>
              <a:rPr lang="en-US" altLang="zh-CN" sz="1400" dirty="0">
                <a:solidFill>
                  <a:schemeClr val="bg2"/>
                </a:solidFill>
                <a:latin typeface="Source Sans Pro" panose="020B0503030403020204" pitchFamily="34" charset="0"/>
                <a:ea typeface="黑体" panose="02010609060101010101" pitchFamily="49" charset="-122"/>
              </a:rPr>
              <a:t>pos(x)</a:t>
            </a:r>
            <a:r>
              <a:rPr lang="zh-CN" altLang="en-US" sz="1400" dirty="0">
                <a:solidFill>
                  <a:schemeClr val="bg2"/>
                </a:solidFill>
                <a:latin typeface="Source Sans Pro" panose="020B0503030403020204" pitchFamily="34" charset="0"/>
                <a:ea typeface="黑体" panose="02010609060101010101" pitchFamily="49" charset="-122"/>
              </a:rPr>
              <a:t>需要设计。假定字符都是</a:t>
            </a:r>
            <a:r>
              <a:rPr lang="en-US" altLang="zh-CN" sz="1400" dirty="0">
                <a:solidFill>
                  <a:schemeClr val="bg2"/>
                </a:solidFill>
                <a:latin typeface="Source Sans Pro" panose="020B0503030403020204" pitchFamily="34" charset="0"/>
                <a:ea typeface="黑体" panose="02010609060101010101" pitchFamily="49" charset="-122"/>
              </a:rPr>
              <a:t>ASCII</a:t>
            </a:r>
            <a:r>
              <a:rPr lang="zh-CN" altLang="en-US" sz="1400" dirty="0">
                <a:solidFill>
                  <a:schemeClr val="bg2"/>
                </a:solidFill>
                <a:latin typeface="Source Sans Pro" panose="020B0503030403020204" pitchFamily="34" charset="0"/>
                <a:ea typeface="黑体" panose="02010609060101010101" pitchFamily="49" charset="-122"/>
              </a:rPr>
              <a:t>码，即小于</a:t>
            </a:r>
            <a:r>
              <a:rPr lang="en-US" altLang="zh-CN" sz="1400" dirty="0">
                <a:solidFill>
                  <a:schemeClr val="bg2"/>
                </a:solidFill>
                <a:latin typeface="Source Sans Pro" panose="020B0503030403020204" pitchFamily="34" charset="0"/>
                <a:ea typeface="黑体" panose="02010609060101010101" pitchFamily="49" charset="-122"/>
              </a:rPr>
              <a:t>256</a:t>
            </a:r>
            <a:r>
              <a:rPr lang="zh-CN" altLang="en-US" sz="1400" dirty="0">
                <a:solidFill>
                  <a:schemeClr val="bg2"/>
                </a:solidFill>
                <a:latin typeface="Source Sans Pro" panose="020B0503030403020204" pitchFamily="34" charset="0"/>
                <a:ea typeface="黑体" panose="02010609060101010101" pitchFamily="49" charset="-122"/>
              </a:rPr>
              <a:t>，这里的</a:t>
            </a:r>
            <a:r>
              <a:rPr lang="en-US" altLang="zh-CN" sz="1400" dirty="0">
                <a:solidFill>
                  <a:schemeClr val="bg2"/>
                </a:solidFill>
                <a:latin typeface="Source Sans Pro" panose="020B0503030403020204" pitchFamily="34" charset="0"/>
                <a:ea typeface="黑体" panose="02010609060101010101" pitchFamily="49" charset="-122"/>
              </a:rPr>
              <a:t>pos(key)</a:t>
            </a:r>
            <a:r>
              <a:rPr lang="zh-CN" altLang="en-US" sz="1400" dirty="0">
                <a:solidFill>
                  <a:schemeClr val="bg2"/>
                </a:solidFill>
                <a:latin typeface="Source Sans Pro" panose="020B0503030403020204" pitchFamily="34" charset="0"/>
                <a:ea typeface="黑体" panose="02010609060101010101" pitchFamily="49" charset="-122"/>
              </a:rPr>
              <a:t>的设计，是把字符串看做一个</a:t>
            </a:r>
            <a:r>
              <a:rPr lang="en-US" altLang="zh-CN" sz="1400" dirty="0">
                <a:solidFill>
                  <a:schemeClr val="bg2"/>
                </a:solidFill>
                <a:latin typeface="Source Sans Pro" panose="020B0503030403020204" pitchFamily="34" charset="0"/>
                <a:ea typeface="黑体" panose="02010609060101010101" pitchFamily="49" charset="-122"/>
              </a:rPr>
              <a:t>256</a:t>
            </a:r>
            <a:r>
              <a:rPr lang="zh-CN" altLang="en-US" sz="1400" dirty="0">
                <a:solidFill>
                  <a:schemeClr val="bg2"/>
                </a:solidFill>
                <a:latin typeface="Source Sans Pro" panose="020B0503030403020204" pitchFamily="34" charset="0"/>
                <a:ea typeface="黑体" panose="02010609060101010101" pitchFamily="49" charset="-122"/>
              </a:rPr>
              <a:t>进制的整数</a:t>
            </a:r>
            <a:endParaRPr lang="en-US" altLang="zh-CN" sz="1400" dirty="0">
              <a:solidFill>
                <a:schemeClr val="bg2"/>
              </a:solidFill>
              <a:latin typeface="Source Sans Pro" panose="020B0503030403020204" pitchFamily="34" charset="0"/>
              <a:ea typeface="黑体" panose="02010609060101010101" pitchFamily="49" charset="-122"/>
            </a:endParaRPr>
          </a:p>
          <a:p>
            <a:pPr>
              <a:lnSpc>
                <a:spcPct val="120000"/>
              </a:lnSpc>
            </a:pPr>
            <a:r>
              <a:rPr lang="en-US" altLang="zh-CN" sz="1400" dirty="0">
                <a:solidFill>
                  <a:schemeClr val="bg2"/>
                </a:solidFill>
                <a:latin typeface="Source Sans Pro" panose="020B0503030403020204" pitchFamily="34" charset="0"/>
                <a:ea typeface="黑体" panose="02010609060101010101" pitchFamily="49" charset="-122"/>
              </a:rPr>
              <a:t>Hash</a:t>
            </a:r>
            <a:r>
              <a:rPr lang="zh-CN" altLang="en-US" sz="1400" dirty="0">
                <a:solidFill>
                  <a:schemeClr val="bg2"/>
                </a:solidFill>
                <a:latin typeface="Source Sans Pro" panose="020B0503030403020204" pitchFamily="34" charset="0"/>
                <a:ea typeface="黑体" panose="02010609060101010101" pitchFamily="49" charset="-122"/>
              </a:rPr>
              <a:t>函数的设计是一个</a:t>
            </a:r>
            <a:r>
              <a:rPr lang="zh-CN" altLang="en-US" sz="1400" dirty="0">
                <a:solidFill>
                  <a:schemeClr val="tx1"/>
                </a:solidFill>
                <a:latin typeface="Source Sans Pro" panose="020B0503030403020204" pitchFamily="34" charset="0"/>
                <a:ea typeface="黑体" panose="02010609060101010101" pitchFamily="49" charset="-122"/>
              </a:rPr>
              <a:t>很复杂的问题</a:t>
            </a:r>
            <a:endParaRPr lang="en-US" altLang="zh-CN" sz="1400" dirty="0">
              <a:solidFill>
                <a:schemeClr val="tx1"/>
              </a:solidFill>
              <a:latin typeface="Source Sans Pro" panose="020B0503030403020204" pitchFamily="34" charset="0"/>
              <a:ea typeface="黑体" panose="02010609060101010101" pitchFamily="49" charset="-122"/>
            </a:endParaRPr>
          </a:p>
          <a:p>
            <a:pPr lvl="1">
              <a:lnSpc>
                <a:spcPct val="120000"/>
              </a:lnSpc>
            </a:pPr>
            <a:r>
              <a:rPr lang="en-US" altLang="zh-CN" sz="1200" dirty="0">
                <a:solidFill>
                  <a:schemeClr val="tx1"/>
                </a:solidFill>
                <a:latin typeface="Source Sans Pro" panose="020B0503030403020204" pitchFamily="34" charset="0"/>
                <a:ea typeface="Source Sans Pro" panose="020B0503030403020204" pitchFamily="34" charset="0"/>
              </a:rPr>
              <a:t>No</a:t>
            </a:r>
            <a:r>
              <a:rPr lang="zh-CN" altLang="en-US" sz="1200" dirty="0">
                <a:solidFill>
                  <a:schemeClr val="tx1"/>
                </a:solidFill>
                <a:latin typeface="Source Sans Pro" panose="020B0503030403020204" pitchFamily="34" charset="0"/>
                <a:ea typeface="黑体" panose="02010609060101010101" pitchFamily="49" charset="-122"/>
              </a:rPr>
              <a:t> </a:t>
            </a:r>
            <a:r>
              <a:rPr lang="en-US" altLang="zh-CN" sz="1200" dirty="0">
                <a:solidFill>
                  <a:schemeClr val="tx1"/>
                </a:solidFill>
                <a:latin typeface="Source Sans Pro" panose="020B0503030403020204" pitchFamily="34" charset="0"/>
                <a:ea typeface="Source Sans Pro" panose="020B0503030403020204" pitchFamily="34" charset="0"/>
              </a:rPr>
              <a:t>pain</a:t>
            </a:r>
            <a:r>
              <a:rPr lang="zh-CN" altLang="en-US" sz="1200" dirty="0">
                <a:solidFill>
                  <a:schemeClr val="tx1"/>
                </a:solidFill>
                <a:latin typeface="Source Sans Pro" panose="020B0503030403020204" pitchFamily="34" charset="0"/>
                <a:ea typeface="黑体" panose="02010609060101010101" pitchFamily="49" charset="-122"/>
              </a:rPr>
              <a:t> </a:t>
            </a:r>
            <a:r>
              <a:rPr lang="en-US" altLang="zh-CN" sz="1200" dirty="0">
                <a:solidFill>
                  <a:schemeClr val="tx1"/>
                </a:solidFill>
                <a:latin typeface="Source Sans Pro" panose="020B0503030403020204" pitchFamily="34" charset="0"/>
                <a:ea typeface="Source Sans Pro" panose="020B0503030403020204" pitchFamily="34" charset="0"/>
              </a:rPr>
              <a:t>no</a:t>
            </a:r>
            <a:r>
              <a:rPr lang="zh-CN" altLang="en-US" sz="1200" dirty="0">
                <a:solidFill>
                  <a:schemeClr val="tx1"/>
                </a:solidFill>
                <a:latin typeface="Source Sans Pro" panose="020B0503030403020204" pitchFamily="34" charset="0"/>
                <a:ea typeface="黑体" panose="02010609060101010101" pitchFamily="49" charset="-122"/>
              </a:rPr>
              <a:t> </a:t>
            </a:r>
            <a:r>
              <a:rPr lang="en-US" altLang="zh-CN" sz="1200" dirty="0">
                <a:solidFill>
                  <a:schemeClr val="tx1"/>
                </a:solidFill>
                <a:latin typeface="Source Sans Pro" panose="020B0503030403020204" pitchFamily="34" charset="0"/>
                <a:ea typeface="Source Sans Pro" panose="020B0503030403020204" pitchFamily="34" charset="0"/>
              </a:rPr>
              <a:t>gain</a:t>
            </a:r>
            <a:endParaRPr lang="en-US" altLang="zh-CN" sz="1200" dirty="0">
              <a:solidFill>
                <a:schemeClr val="tx1"/>
              </a:solidFill>
              <a:latin typeface="Source Sans Pro" panose="020B0503030403020204" pitchFamily="34" charset="0"/>
              <a:ea typeface="Source Sans Pro" panose="020B0503030403020204" pitchFamily="34" charset="0"/>
            </a:endParaRPr>
          </a:p>
          <a:p>
            <a:pPr marL="114300" indent="0">
              <a:lnSpc>
                <a:spcPct val="120000"/>
              </a:lnSpc>
              <a:buNone/>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List: </a:t>
            </a:r>
            <a:r>
              <a:rPr lang="zh-CN" altLang="en-US" sz="1400" dirty="0">
                <a:solidFill>
                  <a:schemeClr val="bg2"/>
                </a:solidFill>
                <a:latin typeface="Source Sans Pro" panose="020B0503030403020204" pitchFamily="34" charset="0"/>
                <a:ea typeface="黑体" panose="02010609060101010101" pitchFamily="49" charset="-122"/>
              </a:rPr>
              <a:t>插入、查找、删除都是</a:t>
            </a:r>
            <a:r>
              <a:rPr lang="en-US" altLang="zh-CN" sz="1400" dirty="0">
                <a:solidFill>
                  <a:schemeClr val="bg2"/>
                </a:solidFill>
                <a:latin typeface="Source Sans Pro" panose="020B0503030403020204" pitchFamily="34" charset="0"/>
                <a:ea typeface="Source Sans Pro" panose="020B0503030403020204" pitchFamily="34" charset="0"/>
              </a:rPr>
              <a:t>O(n)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err="1">
                <a:solidFill>
                  <a:schemeClr val="bg2"/>
                </a:solidFill>
                <a:latin typeface="Source Sans Pro" panose="020B0503030403020204" pitchFamily="34" charset="0"/>
                <a:ea typeface="Source Sans Pro" panose="020B0503030403020204" pitchFamily="34" charset="0"/>
              </a:rPr>
              <a:t>dict</a:t>
            </a:r>
            <a:r>
              <a:rPr lang="en-US" altLang="zh-CN" sz="1400" dirty="0">
                <a:solidFill>
                  <a:schemeClr val="bg2"/>
                </a:solidFill>
                <a:latin typeface="Source Sans Pro" panose="020B0503030403020204" pitchFamily="34" charset="0"/>
                <a:ea typeface="Source Sans Pro" panose="020B0503030403020204" pitchFamily="34" charset="0"/>
              </a:rPr>
              <a:t>(), set(): </a:t>
            </a:r>
            <a:r>
              <a:rPr lang="zh-CN" altLang="en-US" sz="1400" dirty="0">
                <a:solidFill>
                  <a:schemeClr val="bg2"/>
                </a:solidFill>
                <a:latin typeface="Source Sans Pro" panose="020B0503030403020204" pitchFamily="34" charset="0"/>
                <a:ea typeface="黑体" panose="02010609060101010101" pitchFamily="49" charset="-122"/>
              </a:rPr>
              <a:t>插入、查找、删除都是 </a:t>
            </a:r>
            <a:r>
              <a:rPr lang="en-US" altLang="zh-CN" sz="1400" dirty="0">
                <a:solidFill>
                  <a:schemeClr val="bg2"/>
                </a:solidFill>
                <a:latin typeface="Source Sans Pro" panose="020B0503030403020204" pitchFamily="34" charset="0"/>
                <a:ea typeface="Source Sans Pro" panose="020B0503030403020204" pitchFamily="34" charset="0"/>
              </a:rPr>
              <a:t>O(1)</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Hash table </a:t>
            </a:r>
            <a:r>
              <a:rPr lang="zh-CN" altLang="en-US" sz="1400" dirty="0">
                <a:solidFill>
                  <a:schemeClr val="bg2"/>
                </a:solidFill>
                <a:latin typeface="Source Sans Pro" panose="020B0503030403020204" pitchFamily="34" charset="0"/>
                <a:ea typeface="黑体" panose="02010609060101010101" pitchFamily="49" charset="-122"/>
              </a:rPr>
              <a:t>的问题：初始化需要额外时间和空间</a:t>
            </a:r>
            <a:endParaRPr lang="zh-CN" altLang="en-US" sz="1400" dirty="0">
              <a:solidFill>
                <a:schemeClr val="bg2"/>
              </a:solidFill>
              <a:latin typeface="Source Sans Pro" panose="020B0503030403020204" pitchFamily="34" charset="0"/>
              <a:ea typeface="黑体" panose="02010609060101010101" pitchFamily="49" charset="-122"/>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查找、插入、删除：</a:t>
            </a:r>
            <a:r>
              <a:rPr lang="en-US" altLang="zh-CN" sz="1200" dirty="0">
                <a:solidFill>
                  <a:schemeClr val="bg2"/>
                </a:solidFill>
                <a:latin typeface="Source Sans Pro" panose="020B0503030403020204" pitchFamily="34" charset="0"/>
                <a:ea typeface="Source Sans Pro" panose="020B0503030403020204" pitchFamily="34" charset="0"/>
              </a:rPr>
              <a:t>O(1)</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Python: __hash__()</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zh-CN" altLang="en-US" sz="1200" dirty="0">
                <a:solidFill>
                  <a:schemeClr val="bg2"/>
                </a:solidFill>
                <a:latin typeface="Source Sans Pro" panose="020B0503030403020204" pitchFamily="34" charset="0"/>
                <a:ea typeface="黑体" panose="02010609060101010101" pitchFamily="49" charset="-122"/>
              </a:rPr>
              <a:t>尽量只初始化使用一个</a:t>
            </a:r>
            <a:r>
              <a:rPr lang="en-US" altLang="zh-CN" sz="1200" dirty="0" err="1">
                <a:solidFill>
                  <a:schemeClr val="bg2"/>
                </a:solidFill>
                <a:latin typeface="Source Sans Pro" panose="020B0503030403020204" pitchFamily="34" charset="0"/>
                <a:ea typeface="Source Sans Pro" panose="020B0503030403020204" pitchFamily="34" charset="0"/>
              </a:rPr>
              <a:t>dict</a:t>
            </a:r>
            <a:r>
              <a:rPr lang="en-US" altLang="zh-CN" sz="1200" dirty="0">
                <a:solidFill>
                  <a:schemeClr val="bg2"/>
                </a:solidFill>
                <a:latin typeface="Source Sans Pro" panose="020B0503030403020204" pitchFamily="34" charset="0"/>
                <a:ea typeface="Source Sans Pro" panose="020B0503030403020204" pitchFamily="34" charset="0"/>
              </a:rPr>
              <a:t>, set</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2" name="Picture 1"/>
          <p:cNvPicPr>
            <a:picLocks noChangeAspect="1"/>
          </p:cNvPicPr>
          <p:nvPr/>
        </p:nvPicPr>
        <p:blipFill>
          <a:blip r:embed="rId1"/>
          <a:stretch>
            <a:fillRect/>
          </a:stretch>
        </p:blipFill>
        <p:spPr>
          <a:xfrm>
            <a:off x="205859" y="313206"/>
            <a:ext cx="3944416" cy="4679512"/>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hash()</a:t>
            </a:r>
            <a:endParaRPr lang="en-US" dirty="0"/>
          </a:p>
        </p:txBody>
      </p:sp>
      <p:sp>
        <p:nvSpPr>
          <p:cNvPr id="3" name="Text Placeholder 2"/>
          <p:cNvSpPr>
            <a:spLocks noGrp="1"/>
          </p:cNvSpPr>
          <p:nvPr>
            <p:ph type="body" idx="1"/>
          </p:nvPr>
        </p:nvSpPr>
        <p:spPr>
          <a:xfrm>
            <a:off x="311700" y="1152475"/>
            <a:ext cx="4260300" cy="3416400"/>
          </a:xfrm>
        </p:spPr>
        <p:txBody>
          <a:bodyPr>
            <a:normAutofit/>
          </a:bodyPr>
          <a:lstStyle/>
          <a:p>
            <a:r>
              <a:rPr lang="en-US" sz="1400" dirty="0">
                <a:solidFill>
                  <a:schemeClr val="bg2"/>
                </a:solidFill>
              </a:rPr>
              <a:t>hash(object)</a:t>
            </a:r>
            <a:endParaRPr lang="en-US" sz="1400" dirty="0">
              <a:solidFill>
                <a:schemeClr val="bg2"/>
              </a:solidFill>
            </a:endParaRPr>
          </a:p>
          <a:p>
            <a:pPr lvl="1"/>
            <a:r>
              <a:rPr lang="en-US" sz="1200" dirty="0">
                <a:solidFill>
                  <a:schemeClr val="bg2"/>
                </a:solidFill>
              </a:rPr>
              <a:t>Return the hash value of the object (if it has one). Hash values are integers. They are used to quickly compare dictionary keys during a dictionary lookup. Numeric values that compare equal have the same hash value (even if they are of different types, as is the case for 1 and 1.0).</a:t>
            </a:r>
            <a:endParaRPr lang="en-US" sz="1200" dirty="0">
              <a:solidFill>
                <a:schemeClr val="bg2"/>
              </a:solidFill>
            </a:endParaRPr>
          </a:p>
          <a:p>
            <a:pPr lvl="1"/>
            <a:r>
              <a:rPr lang="en-US" sz="1200" dirty="0">
                <a:solidFill>
                  <a:schemeClr val="bg2"/>
                </a:solidFill>
              </a:rPr>
              <a:t>For objects with custom __hash__() methods, note that hash() truncates the return value based on the bit width of the host machine. See __hash__() for details.</a:t>
            </a:r>
            <a:endParaRPr lang="en-US" sz="1200" dirty="0">
              <a:solidFill>
                <a:schemeClr val="bg2"/>
              </a:solidFill>
            </a:endParaRPr>
          </a:p>
        </p:txBody>
      </p:sp>
      <p:pic>
        <p:nvPicPr>
          <p:cNvPr id="6" name="Picture 5"/>
          <p:cNvPicPr>
            <a:picLocks noChangeAspect="1"/>
          </p:cNvPicPr>
          <p:nvPr/>
        </p:nvPicPr>
        <p:blipFill>
          <a:blip r:embed="rId1"/>
          <a:stretch>
            <a:fillRect/>
          </a:stretch>
        </p:blipFill>
        <p:spPr>
          <a:xfrm>
            <a:off x="5104965" y="1456538"/>
            <a:ext cx="3835400" cy="3429000"/>
          </a:xfrm>
          <a:prstGeom prst="rect">
            <a:avLst/>
          </a:prstGeom>
        </p:spPr>
      </p:pic>
      <p:pic>
        <p:nvPicPr>
          <p:cNvPr id="7" name="Picture 6"/>
          <p:cNvPicPr>
            <a:picLocks noChangeAspect="1"/>
          </p:cNvPicPr>
          <p:nvPr/>
        </p:nvPicPr>
        <p:blipFill>
          <a:blip r:embed="rId2"/>
          <a:stretch>
            <a:fillRect/>
          </a:stretch>
        </p:blipFill>
        <p:spPr>
          <a:xfrm>
            <a:off x="3357867" y="3549102"/>
            <a:ext cx="1578468" cy="133643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Example I</a:t>
            </a:r>
            <a:endParaRPr lang="en-US" altLang="zh-CN" dirty="0">
              <a:latin typeface="Raleway" pitchFamily="34" charset="0"/>
              <a:ea typeface="Source Sans Pro" panose="020B0503030403020204" pitchFamily="34" charset="0"/>
            </a:endParaRPr>
          </a:p>
        </p:txBody>
      </p:sp>
      <p:pic>
        <p:nvPicPr>
          <p:cNvPr id="8"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81317" y="1406716"/>
            <a:ext cx="5781366" cy="262141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Example II</a:t>
            </a:r>
            <a:endParaRPr lang="en-US" altLang="zh-CN" dirty="0">
              <a:latin typeface="Raleway" pitchFamily="34" charset="0"/>
              <a:ea typeface="Source Sans Pro" panose="020B0503030403020204" pitchFamily="34" charset="0"/>
            </a:endParaRPr>
          </a:p>
        </p:txBody>
      </p:sp>
      <p:pic>
        <p:nvPicPr>
          <p:cNvPr id="3"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303065" y="1557253"/>
            <a:ext cx="6537870" cy="202899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Example III</a:t>
            </a:r>
            <a:endParaRPr lang="en-US" altLang="zh-CN" dirty="0">
              <a:latin typeface="Raleway" pitchFamily="34" charset="0"/>
              <a:ea typeface="Source Sans Pro" panose="020B0503030403020204" pitchFamily="34" charset="0"/>
            </a:endParaRPr>
          </a:p>
        </p:txBody>
      </p:sp>
      <p:pic>
        <p:nvPicPr>
          <p:cNvPr id="4"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11660" y="1360595"/>
            <a:ext cx="6120680" cy="333788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Example IV</a:t>
            </a:r>
            <a:endParaRPr lang="en-US" altLang="zh-CN" dirty="0">
              <a:latin typeface="Raleway" pitchFamily="34" charset="0"/>
              <a:ea typeface="Source Sans Pro" panose="020B0503030403020204" pitchFamily="34" charset="0"/>
            </a:endParaRPr>
          </a:p>
        </p:txBody>
      </p:sp>
      <p:pic>
        <p:nvPicPr>
          <p:cNvPr id="3"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974392" y="1383378"/>
            <a:ext cx="5195216" cy="275493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Binary Search</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42773"/>
            <a:ext cx="8520600" cy="556897"/>
          </a:xfrm>
        </p:spPr>
        <p:txBody>
          <a:bodyPr>
            <a:noAutofit/>
          </a:bodyPr>
          <a:lstStyle/>
          <a:p>
            <a:pPr>
              <a:lnSpc>
                <a:spcPct val="120000"/>
              </a:lnSpc>
            </a:pPr>
            <a:r>
              <a:rPr lang="zh-CN" altLang="en-US" sz="1400" dirty="0">
                <a:solidFill>
                  <a:schemeClr val="bg2"/>
                </a:solidFill>
                <a:latin typeface="Source Sans Pro" panose="020B0503030403020204" pitchFamily="34" charset="0"/>
                <a:ea typeface="Source Sans Pro" panose="020B0503030403020204" pitchFamily="34" charset="0"/>
              </a:rPr>
              <a:t>对于</a:t>
            </a:r>
            <a:r>
              <a:rPr lang="zh-CN" altLang="en-US" sz="1400" dirty="0">
                <a:solidFill>
                  <a:schemeClr val="tx1"/>
                </a:solidFill>
                <a:latin typeface="Source Sans Pro" panose="020B0503030403020204" pitchFamily="34" charset="0"/>
                <a:ea typeface="Source Sans Pro" panose="020B0503030403020204" pitchFamily="34" charset="0"/>
              </a:rPr>
              <a:t>从小到大排好序</a:t>
            </a:r>
            <a:r>
              <a:rPr lang="zh-CN" altLang="en-US" sz="1400" dirty="0">
                <a:solidFill>
                  <a:schemeClr val="bg2"/>
                </a:solidFill>
                <a:latin typeface="Source Sans Pro" panose="020B0503030403020204" pitchFamily="34" charset="0"/>
                <a:ea typeface="Source Sans Pro" panose="020B0503030403020204" pitchFamily="34" charset="0"/>
              </a:rPr>
              <a:t>的列表，每次和中间的元素比较，可以排除掉一半的元素</a:t>
            </a:r>
            <a:endParaRPr lang="zh-CN" altLang="en-US" sz="1400" dirty="0">
              <a:solidFill>
                <a:schemeClr val="bg2"/>
              </a:solidFill>
              <a:latin typeface="Source Sans Pro" panose="020B0503030403020204" pitchFamily="34" charset="0"/>
              <a:ea typeface="Source Sans Pro" panose="020B0503030403020204" pitchFamily="34" charset="0"/>
            </a:endParaRPr>
          </a:p>
        </p:txBody>
      </p:sp>
      <p:sp>
        <p:nvSpPr>
          <p:cNvPr id="5" name="Rectangle 4"/>
          <p:cNvSpPr/>
          <p:nvPr/>
        </p:nvSpPr>
        <p:spPr>
          <a:xfrm>
            <a:off x="731472" y="3638632"/>
            <a:ext cx="3214316" cy="42155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latin typeface="Source Sans Pro" panose="020B0503030403020204" pitchFamily="34" charset="0"/>
                <a:ea typeface="黑体" panose="02010609060101010101" pitchFamily="49" charset="-122"/>
              </a:rPr>
              <a:t>Sorted list, Binary search: O(log n) </a:t>
            </a:r>
            <a:endParaRPr lang="en-US" altLang="zh-CN" dirty="0">
              <a:solidFill>
                <a:schemeClr val="tx1"/>
              </a:solidFill>
              <a:latin typeface="Source Sans Pro" panose="020B0503030403020204" pitchFamily="34" charset="0"/>
              <a:ea typeface="黑体" panose="02010609060101010101" pitchFamily="49" charset="-122"/>
            </a:endParaRPr>
          </a:p>
          <a:p>
            <a:r>
              <a:rPr lang="en-US" altLang="zh-CN" dirty="0">
                <a:solidFill>
                  <a:schemeClr val="tx1"/>
                </a:solidFill>
                <a:latin typeface="Source Sans Pro" panose="020B0503030403020204" pitchFamily="34" charset="0"/>
                <a:ea typeface="黑体" panose="02010609060101010101" pitchFamily="49" charset="-122"/>
              </a:rPr>
              <a:t>in : O(n)</a:t>
            </a:r>
            <a:endParaRPr lang="en-US" altLang="zh-CN" dirty="0">
              <a:solidFill>
                <a:schemeClr val="tx1"/>
              </a:solidFill>
              <a:latin typeface="Source Sans Pro" panose="020B0503030403020204" pitchFamily="34" charset="0"/>
              <a:ea typeface="黑体" panose="02010609060101010101" pitchFamily="49" charset="-122"/>
            </a:endParaRPr>
          </a:p>
        </p:txBody>
      </p:sp>
      <p:sp>
        <p:nvSpPr>
          <p:cNvPr id="7" name="Rectangle 4"/>
          <p:cNvSpPr/>
          <p:nvPr/>
        </p:nvSpPr>
        <p:spPr>
          <a:xfrm>
            <a:off x="2436665" y="4248547"/>
            <a:ext cx="1509123" cy="623400"/>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Arial" panose="020B0604020202020204" pitchFamily="34" charset="0"/>
              <a:buChar char="•"/>
            </a:pPr>
            <a:r>
              <a:rPr lang="zh-CN" altLang="en-US" sz="1500" dirty="0">
                <a:solidFill>
                  <a:schemeClr val="bg2"/>
                </a:solidFill>
                <a:latin typeface="Source Sans Pro" panose="020B0503030403020204" pitchFamily="34" charset="0"/>
                <a:ea typeface="黑体" panose="02010609060101010101" pitchFamily="49" charset="-122"/>
              </a:rPr>
              <a:t>注意</a:t>
            </a:r>
            <a:r>
              <a:rPr lang="en-US" altLang="zh-CN" sz="1500" dirty="0">
                <a:solidFill>
                  <a:schemeClr val="bg2"/>
                </a:solidFill>
                <a:latin typeface="Source Sans Pro" panose="020B0503030403020204" pitchFamily="34" charset="0"/>
                <a:ea typeface="黑体" panose="02010609060101010101" pitchFamily="49" charset="-122"/>
              </a:rPr>
              <a:t>+1</a:t>
            </a:r>
            <a:r>
              <a:rPr lang="zh-CN" altLang="en-US" sz="1500" dirty="0">
                <a:solidFill>
                  <a:schemeClr val="bg2"/>
                </a:solidFill>
                <a:latin typeface="Source Sans Pro" panose="020B0503030403020204" pitchFamily="34" charset="0"/>
                <a:ea typeface="黑体" panose="02010609060101010101" pitchFamily="49" charset="-122"/>
              </a:rPr>
              <a:t>， </a:t>
            </a:r>
            <a:r>
              <a:rPr lang="en-US" altLang="zh-CN" sz="1500" dirty="0">
                <a:solidFill>
                  <a:schemeClr val="bg2"/>
                </a:solidFill>
                <a:latin typeface="Source Sans Pro" panose="020B0503030403020204" pitchFamily="34" charset="0"/>
                <a:ea typeface="黑体" panose="02010609060101010101" pitchFamily="49" charset="-122"/>
              </a:rPr>
              <a:t>-1</a:t>
            </a:r>
            <a:endParaRPr lang="en-US" altLang="zh-CN" sz="1500" dirty="0">
              <a:solidFill>
                <a:schemeClr val="bg2"/>
              </a:solidFill>
              <a:latin typeface="Source Sans Pro" panose="020B0503030403020204" pitchFamily="34" charset="0"/>
              <a:ea typeface="黑体" panose="02010609060101010101" pitchFamily="49" charset="-122"/>
            </a:endParaRPr>
          </a:p>
          <a:p>
            <a:pPr marL="285750" indent="-285750">
              <a:buFont typeface="Arial" panose="020B0604020202020204" pitchFamily="34" charset="0"/>
              <a:buChar char="•"/>
            </a:pPr>
            <a:r>
              <a:rPr lang="zh-CN" altLang="en-US" sz="1500" dirty="0">
                <a:solidFill>
                  <a:schemeClr val="bg2"/>
                </a:solidFill>
                <a:latin typeface="Source Sans Pro" panose="020B0503030403020204" pitchFamily="34" charset="0"/>
                <a:ea typeface="黑体" panose="02010609060101010101" pitchFamily="49" charset="-122"/>
              </a:rPr>
              <a:t>用</a:t>
            </a:r>
            <a:r>
              <a:rPr lang="en-US" altLang="zh-CN" sz="1500" dirty="0">
                <a:solidFill>
                  <a:schemeClr val="bg2"/>
                </a:solidFill>
                <a:latin typeface="Source Sans Pro" panose="020B0503030403020204" pitchFamily="34" charset="0"/>
                <a:ea typeface="黑体" panose="02010609060101010101" pitchFamily="49" charset="-122"/>
              </a:rPr>
              <a:t>while</a:t>
            </a:r>
            <a:r>
              <a:rPr lang="zh-CN" altLang="en-US" sz="1500" dirty="0">
                <a:solidFill>
                  <a:schemeClr val="bg2"/>
                </a:solidFill>
                <a:latin typeface="Source Sans Pro" panose="020B0503030403020204" pitchFamily="34" charset="0"/>
                <a:ea typeface="黑体" panose="02010609060101010101" pitchFamily="49" charset="-122"/>
              </a:rPr>
              <a:t>实现</a:t>
            </a:r>
            <a:endParaRPr lang="zh-CN" altLang="en-US" sz="1500" dirty="0">
              <a:solidFill>
                <a:schemeClr val="bg2"/>
              </a:solidFill>
              <a:latin typeface="Source Sans Pro" panose="020B0503030403020204" pitchFamily="34" charset="0"/>
              <a:ea typeface="黑体" panose="02010609060101010101" pitchFamily="49" charset="-122"/>
            </a:endParaRPr>
          </a:p>
        </p:txBody>
      </p:sp>
      <p:pic>
        <p:nvPicPr>
          <p:cNvPr id="8" name="Picture 8" descr="A picture containing graphical user interface&#10;&#10;Description automatically generated"/>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442987" y="1473753"/>
            <a:ext cx="3502801" cy="1970326"/>
          </a:xfrm>
          <a:prstGeom prst="rect">
            <a:avLst/>
          </a:prstGeom>
        </p:spPr>
      </p:pic>
      <p:pic>
        <p:nvPicPr>
          <p:cNvPr id="4" name="Picture 3"/>
          <p:cNvPicPr>
            <a:picLocks noChangeAspect="1"/>
          </p:cNvPicPr>
          <p:nvPr/>
        </p:nvPicPr>
        <p:blipFill>
          <a:blip r:embed="rId2"/>
          <a:stretch>
            <a:fillRect/>
          </a:stretch>
        </p:blipFill>
        <p:spPr>
          <a:xfrm>
            <a:off x="4140231" y="1473753"/>
            <a:ext cx="4425369" cy="3413856"/>
          </a:xfrm>
          <a:prstGeom prst="rect">
            <a:avLst/>
          </a:prstGeom>
        </p:spPr>
      </p:pic>
      <p:pic>
        <p:nvPicPr>
          <p:cNvPr id="9" name="Picture 8"/>
          <p:cNvPicPr>
            <a:picLocks noChangeAspect="1"/>
          </p:cNvPicPr>
          <p:nvPr/>
        </p:nvPicPr>
        <p:blipFill>
          <a:blip r:embed="rId3"/>
          <a:stretch>
            <a:fillRect/>
          </a:stretch>
        </p:blipFill>
        <p:spPr>
          <a:xfrm>
            <a:off x="8701013" y="1473753"/>
            <a:ext cx="266700" cy="13208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Example VI: Fibonacci sequence</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4" name="文本占位符 2"/>
              <p:cNvSpPr>
                <a:spLocks noGrp="1"/>
              </p:cNvSpPr>
              <p:nvPr>
                <p:ph type="body" idx="1"/>
              </p:nvPr>
            </p:nvSpPr>
            <p:spPr>
              <a:xfrm>
                <a:off x="311700" y="920581"/>
                <a:ext cx="8520600" cy="3777894"/>
              </a:xfrm>
            </p:spPr>
            <p:txBody>
              <a:bodyPr>
                <a:noAutofit/>
              </a:bodyPr>
              <a:lstStyle/>
              <a:p>
                <a:pPr>
                  <a:lnSpc>
                    <a:spcPct val="120000"/>
                  </a:lnSpc>
                </a:pPr>
                <a14:m>
                  <m:oMath xmlns:m="http://schemas.openxmlformats.org/officeDocument/2006/math">
                    <m:r>
                      <a:rPr lang="en-US" altLang="zh-CN" sz="1400" i="1" dirty="0" smtClean="0">
                        <a:solidFill>
                          <a:schemeClr val="bg2"/>
                        </a:solidFill>
                        <a:latin typeface="Cambria Math" panose="02040503050406030204" pitchFamily="18" charset="0"/>
                        <a:ea typeface="Source Sans Pro" panose="020B0503030403020204" pitchFamily="34" charset="0"/>
                      </a:rPr>
                      <m:t>𝐹𝑖𝑏</m:t>
                    </m:r>
                    <m:r>
                      <a:rPr lang="en-US" altLang="zh-CN" sz="1400" i="1" dirty="0" smtClean="0">
                        <a:solidFill>
                          <a:schemeClr val="bg2"/>
                        </a:solidFill>
                        <a:latin typeface="Cambria Math" panose="02040503050406030204" pitchFamily="18" charset="0"/>
                        <a:ea typeface="Source Sans Pro" panose="020B0503030403020204" pitchFamily="34" charset="0"/>
                      </a:rPr>
                      <m:t>(</m:t>
                    </m:r>
                    <m:r>
                      <a:rPr lang="en-US" altLang="zh-CN" sz="1400" i="1" dirty="0" smtClean="0">
                        <a:solidFill>
                          <a:schemeClr val="bg2"/>
                        </a:solidFill>
                        <a:latin typeface="Cambria Math" panose="02040503050406030204" pitchFamily="18" charset="0"/>
                        <a:ea typeface="Source Sans Pro" panose="020B0503030403020204" pitchFamily="34" charset="0"/>
                      </a:rPr>
                      <m:t>𝑛</m:t>
                    </m:r>
                    <m:r>
                      <a:rPr lang="en-US" altLang="zh-CN" sz="1400" i="1" dirty="0" smtClean="0">
                        <a:solidFill>
                          <a:schemeClr val="bg2"/>
                        </a:solidFill>
                        <a:latin typeface="Cambria Math" panose="02040503050406030204" pitchFamily="18" charset="0"/>
                        <a:ea typeface="Source Sans Pro" panose="020B0503030403020204" pitchFamily="34" charset="0"/>
                      </a:rPr>
                      <m:t>+</m:t>
                    </m:r>
                    <m:r>
                      <a:rPr lang="en-US" altLang="zh-CN" sz="1400" i="1" dirty="0" smtClean="0">
                        <a:solidFill>
                          <a:schemeClr val="bg2"/>
                        </a:solidFill>
                        <a:latin typeface="Cambria Math" panose="02040503050406030204" pitchFamily="18" charset="0"/>
                        <a:ea typeface="Source Sans Pro" panose="020B0503030403020204" pitchFamily="34" charset="0"/>
                      </a:rPr>
                      <m:t>2</m:t>
                    </m:r>
                    <m:r>
                      <a:rPr lang="en-US" altLang="zh-CN" sz="1400" i="1" dirty="0" smtClean="0">
                        <a:solidFill>
                          <a:schemeClr val="bg2"/>
                        </a:solidFill>
                        <a:latin typeface="Cambria Math" panose="02040503050406030204" pitchFamily="18" charset="0"/>
                        <a:ea typeface="Source Sans Pro" panose="020B0503030403020204" pitchFamily="34" charset="0"/>
                      </a:rPr>
                      <m:t>) = </m:t>
                    </m:r>
                    <m:r>
                      <a:rPr lang="en-US" altLang="zh-CN" sz="1400" i="1" dirty="0" smtClean="0">
                        <a:solidFill>
                          <a:schemeClr val="bg2"/>
                        </a:solidFill>
                        <a:latin typeface="Cambria Math" panose="02040503050406030204" pitchFamily="18" charset="0"/>
                        <a:ea typeface="Source Sans Pro" panose="020B0503030403020204" pitchFamily="34" charset="0"/>
                      </a:rPr>
                      <m:t>𝐹𝑖𝑏</m:t>
                    </m:r>
                    <m:r>
                      <a:rPr lang="en-US" altLang="zh-CN" sz="1400" i="1" dirty="0" smtClean="0">
                        <a:solidFill>
                          <a:schemeClr val="bg2"/>
                        </a:solidFill>
                        <a:latin typeface="Cambria Math" panose="02040503050406030204" pitchFamily="18" charset="0"/>
                        <a:ea typeface="Source Sans Pro" panose="020B0503030403020204" pitchFamily="34" charset="0"/>
                      </a:rPr>
                      <m:t>(</m:t>
                    </m:r>
                    <m:r>
                      <a:rPr lang="en-US" altLang="zh-CN" sz="1400" i="1" dirty="0" smtClean="0">
                        <a:solidFill>
                          <a:schemeClr val="bg2"/>
                        </a:solidFill>
                        <a:latin typeface="Cambria Math" panose="02040503050406030204" pitchFamily="18" charset="0"/>
                        <a:ea typeface="Source Sans Pro" panose="020B0503030403020204" pitchFamily="34" charset="0"/>
                      </a:rPr>
                      <m:t>𝑛</m:t>
                    </m:r>
                    <m:r>
                      <a:rPr lang="en-US" altLang="zh-CN" sz="1400" i="1" dirty="0" smtClean="0">
                        <a:solidFill>
                          <a:schemeClr val="bg2"/>
                        </a:solidFill>
                        <a:latin typeface="Cambria Math" panose="02040503050406030204" pitchFamily="18" charset="0"/>
                        <a:ea typeface="Source Sans Pro" panose="020B0503030403020204" pitchFamily="34" charset="0"/>
                      </a:rPr>
                      <m:t>+</m:t>
                    </m:r>
                    <m:r>
                      <a:rPr lang="en-US" altLang="zh-CN" sz="1400" i="1" dirty="0" smtClean="0">
                        <a:solidFill>
                          <a:schemeClr val="bg2"/>
                        </a:solidFill>
                        <a:latin typeface="Cambria Math" panose="02040503050406030204" pitchFamily="18" charset="0"/>
                        <a:ea typeface="Source Sans Pro" panose="020B0503030403020204" pitchFamily="34" charset="0"/>
                      </a:rPr>
                      <m:t>1</m:t>
                    </m:r>
                    <m:r>
                      <a:rPr lang="en-US" altLang="zh-CN" sz="1400" i="1" dirty="0" smtClean="0">
                        <a:solidFill>
                          <a:schemeClr val="bg2"/>
                        </a:solidFill>
                        <a:latin typeface="Cambria Math" panose="02040503050406030204" pitchFamily="18" charset="0"/>
                        <a:ea typeface="Source Sans Pro" panose="020B0503030403020204" pitchFamily="34" charset="0"/>
                      </a:rPr>
                      <m:t>) + </m:t>
                    </m:r>
                    <m:r>
                      <a:rPr lang="en-US" altLang="zh-CN" sz="1400" i="1" dirty="0" smtClean="0">
                        <a:solidFill>
                          <a:schemeClr val="bg2"/>
                        </a:solidFill>
                        <a:latin typeface="Cambria Math" panose="02040503050406030204" pitchFamily="18" charset="0"/>
                        <a:ea typeface="Source Sans Pro" panose="020B0503030403020204" pitchFamily="34" charset="0"/>
                      </a:rPr>
                      <m:t>𝐹𝑖𝑏</m:t>
                    </m:r>
                    <m:r>
                      <a:rPr lang="en-US" altLang="zh-CN" sz="1400" i="1" dirty="0" smtClean="0">
                        <a:solidFill>
                          <a:schemeClr val="bg2"/>
                        </a:solidFill>
                        <a:latin typeface="Cambria Math" panose="02040503050406030204" pitchFamily="18" charset="0"/>
                        <a:ea typeface="Source Sans Pro" panose="020B0503030403020204" pitchFamily="34" charset="0"/>
                      </a:rPr>
                      <m:t>(</m:t>
                    </m:r>
                    <m:r>
                      <a:rPr lang="en-US" altLang="zh-CN" sz="1400" i="1" dirty="0" smtClean="0">
                        <a:solidFill>
                          <a:schemeClr val="bg2"/>
                        </a:solidFill>
                        <a:latin typeface="Cambria Math" panose="02040503050406030204" pitchFamily="18" charset="0"/>
                        <a:ea typeface="Source Sans Pro" panose="020B0503030403020204" pitchFamily="34" charset="0"/>
                      </a:rPr>
                      <m:t>𝑛</m:t>
                    </m:r>
                    <m:r>
                      <a:rPr lang="en-US" altLang="zh-CN" sz="1400" i="1" dirty="0" smtClean="0">
                        <a:solidFill>
                          <a:schemeClr val="bg2"/>
                        </a:solidFill>
                        <a:latin typeface="Cambria Math" panose="02040503050406030204" pitchFamily="18" charset="0"/>
                        <a:ea typeface="Source Sans Pro" panose="020B0503030403020204" pitchFamily="34" charset="0"/>
                      </a:rPr>
                      <m:t>):</m:t>
                    </m:r>
                  </m:oMath>
                </a14:m>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en-US" altLang="zh-CN" sz="1500" dirty="0">
                  <a:solidFill>
                    <a:schemeClr val="bg2"/>
                  </a:solidFill>
                  <a:latin typeface="Source Sans Pro" panose="020B0503030403020204" pitchFamily="34" charset="0"/>
                  <a:ea typeface="Source Sans Pro" panose="020B0503030403020204" pitchFamily="34" charset="0"/>
                </a:endParaRPr>
              </a:p>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Time complexity ≈</a:t>
                </a:r>
                <a14:m>
                  <m:oMath xmlns:m="http://schemas.openxmlformats.org/officeDocument/2006/math">
                    <m:r>
                      <a:rPr lang="zh-CN" altLang="en-US" sz="1400" i="1" dirty="0" smtClean="0">
                        <a:solidFill>
                          <a:schemeClr val="bg2"/>
                        </a:solidFill>
                        <a:latin typeface="Cambria Math" panose="02040503050406030204" pitchFamily="18" charset="0"/>
                        <a:ea typeface="Source Sans Pro" panose="020B0503030403020204" pitchFamily="34" charset="0"/>
                      </a:rPr>
                      <m:t>𝑂</m:t>
                    </m:r>
                    <m:r>
                      <a:rPr lang="en-US" altLang="zh-CN" sz="1400" i="1" dirty="0">
                        <a:solidFill>
                          <a:schemeClr val="bg2"/>
                        </a:solidFill>
                        <a:latin typeface="Cambria Math" panose="02040503050406030204" pitchFamily="18" charset="0"/>
                        <a:ea typeface="Source Sans Pro" panose="020B0503030403020204" pitchFamily="34" charset="0"/>
                      </a:rPr>
                      <m:t>(</m:t>
                    </m:r>
                    <m:sSup>
                      <m:sSupPr>
                        <m:ctrlPr>
                          <a:rPr lang="en-US" altLang="zh-CN" sz="1400" i="1" dirty="0">
                            <a:solidFill>
                              <a:schemeClr val="bg2"/>
                            </a:solidFill>
                            <a:latin typeface="Cambria Math" panose="02040503050406030204" pitchFamily="18" charset="0"/>
                            <a:ea typeface="Source Sans Pro" panose="020B0503030403020204" pitchFamily="34" charset="0"/>
                          </a:rPr>
                        </m:ctrlPr>
                      </m:sSupPr>
                      <m:e>
                        <m:r>
                          <a:rPr lang="en-US" altLang="zh-CN" sz="1400" i="1" dirty="0">
                            <a:solidFill>
                              <a:schemeClr val="bg2"/>
                            </a:solidFill>
                            <a:latin typeface="Cambria Math" panose="02040503050406030204" pitchFamily="18" charset="0"/>
                            <a:ea typeface="Source Sans Pro" panose="020B0503030403020204" pitchFamily="34" charset="0"/>
                          </a:rPr>
                          <m:t>2</m:t>
                        </m:r>
                      </m:e>
                      <m:sup>
                        <m:r>
                          <a:rPr lang="zh-CN" altLang="en-US" sz="1400" i="1" dirty="0">
                            <a:solidFill>
                              <a:schemeClr val="bg2"/>
                            </a:solidFill>
                            <a:latin typeface="Cambria Math" panose="02040503050406030204" pitchFamily="18" charset="0"/>
                            <a:ea typeface="Source Sans Pro" panose="020B0503030403020204" pitchFamily="34" charset="0"/>
                          </a:rPr>
                          <m:t>𝑛</m:t>
                        </m:r>
                      </m:sup>
                    </m:sSup>
                    <m:r>
                      <a:rPr lang="en-US" altLang="zh-CN" sz="1400" i="1" dirty="0">
                        <a:solidFill>
                          <a:schemeClr val="bg2"/>
                        </a:solidFill>
                        <a:latin typeface="Cambria Math" panose="02040503050406030204" pitchFamily="18" charset="0"/>
                        <a:ea typeface="Source Sans Pro" panose="020B0503030403020204" pitchFamily="34" charset="0"/>
                      </a:rPr>
                      <m:t>)</m:t>
                    </m:r>
                  </m:oMath>
                </a14:m>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14:m>
                  <m:oMath xmlns:m="http://schemas.openxmlformats.org/officeDocument/2006/math">
                    <m:r>
                      <a:rPr lang="zh-CN" altLang="en-US" sz="1200" i="1" dirty="0" smtClean="0">
                        <a:solidFill>
                          <a:schemeClr val="bg2"/>
                        </a:solidFill>
                        <a:latin typeface="Cambria Math" panose="02040503050406030204" pitchFamily="18" charset="0"/>
                        <a:ea typeface="Source Sans Pro" panose="020B0503030403020204" pitchFamily="34" charset="0"/>
                      </a:rPr>
                      <m:t>𝑇</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𝑛</m:t>
                    </m:r>
                    <m:r>
                      <a:rPr lang="en-US" altLang="zh-CN" sz="1200" i="1" dirty="0">
                        <a:solidFill>
                          <a:schemeClr val="bg2"/>
                        </a:solidFill>
                        <a:latin typeface="Cambria Math" panose="02040503050406030204" pitchFamily="18" charset="0"/>
                        <a:ea typeface="Source Sans Pro" panose="020B0503030403020204" pitchFamily="34" charset="0"/>
                      </a:rPr>
                      <m:t>+</m:t>
                    </m:r>
                    <m:r>
                      <a:rPr lang="en-US" altLang="zh-CN" sz="1200" i="1" dirty="0">
                        <a:solidFill>
                          <a:schemeClr val="bg2"/>
                        </a:solidFill>
                        <a:latin typeface="Cambria Math" panose="02040503050406030204" pitchFamily="18" charset="0"/>
                        <a:ea typeface="Source Sans Pro" panose="020B0503030403020204" pitchFamily="34" charset="0"/>
                      </a:rPr>
                      <m:t>2</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𝑇</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𝑛</m:t>
                    </m:r>
                    <m:r>
                      <a:rPr lang="en-US" altLang="zh-CN" sz="1200" i="1" dirty="0">
                        <a:solidFill>
                          <a:schemeClr val="bg2"/>
                        </a:solidFill>
                        <a:latin typeface="Cambria Math" panose="02040503050406030204" pitchFamily="18" charset="0"/>
                        <a:ea typeface="Source Sans Pro" panose="020B0503030403020204" pitchFamily="34" charset="0"/>
                      </a:rPr>
                      <m:t>+</m:t>
                    </m:r>
                    <m:r>
                      <a:rPr lang="en-US" altLang="zh-CN" sz="1200" i="1" dirty="0">
                        <a:solidFill>
                          <a:schemeClr val="bg2"/>
                        </a:solidFill>
                        <a:latin typeface="Cambria Math" panose="02040503050406030204" pitchFamily="18" charset="0"/>
                        <a:ea typeface="Source Sans Pro" panose="020B0503030403020204" pitchFamily="34" charset="0"/>
                      </a:rPr>
                      <m:t>1</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𝑇</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𝑛</m:t>
                    </m:r>
                    <m:r>
                      <a:rPr lang="en-US" altLang="zh-CN" sz="1200" i="1" dirty="0">
                        <a:solidFill>
                          <a:schemeClr val="bg2"/>
                        </a:solidFill>
                        <a:latin typeface="Cambria Math" panose="02040503050406030204" pitchFamily="18" charset="0"/>
                        <a:ea typeface="Source Sans Pro" panose="020B0503030403020204" pitchFamily="34" charset="0"/>
                      </a:rPr>
                      <m:t>)</m:t>
                    </m:r>
                  </m:oMath>
                </a14:m>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14:m>
                  <m:oMath xmlns:m="http://schemas.openxmlformats.org/officeDocument/2006/math">
                    <m:r>
                      <a:rPr lang="zh-CN" altLang="en-US" sz="1200" i="1" dirty="0" smtClean="0">
                        <a:solidFill>
                          <a:schemeClr val="bg2"/>
                        </a:solidFill>
                        <a:latin typeface="Cambria Math" panose="02040503050406030204" pitchFamily="18" charset="0"/>
                        <a:ea typeface="Source Sans Pro" panose="020B0503030403020204" pitchFamily="34" charset="0"/>
                      </a:rPr>
                      <m:t>𝑇</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𝑛</m:t>
                    </m:r>
                    <m:r>
                      <a:rPr lang="en-US" altLang="zh-CN" sz="1200" i="1" dirty="0">
                        <a:solidFill>
                          <a:schemeClr val="bg2"/>
                        </a:solidFill>
                        <a:latin typeface="Cambria Math" panose="02040503050406030204" pitchFamily="18" charset="0"/>
                        <a:ea typeface="Source Sans Pro" panose="020B0503030403020204" pitchFamily="34" charset="0"/>
                      </a:rPr>
                      <m:t>)=</m:t>
                    </m:r>
                    <m:r>
                      <a:rPr lang="zh-CN" altLang="en-US" sz="1200" i="1" dirty="0">
                        <a:solidFill>
                          <a:schemeClr val="bg2"/>
                        </a:solidFill>
                        <a:latin typeface="Cambria Math" panose="02040503050406030204" pitchFamily="18" charset="0"/>
                        <a:ea typeface="Source Sans Pro" panose="020B0503030403020204" pitchFamily="34" charset="0"/>
                      </a:rPr>
                      <m:t>𝑂</m:t>
                    </m:r>
                    <m:d>
                      <m:dPr>
                        <m:ctrlPr>
                          <a:rPr lang="en-US" altLang="zh-CN" sz="1200" i="1" dirty="0">
                            <a:solidFill>
                              <a:schemeClr val="bg2"/>
                            </a:solidFill>
                            <a:latin typeface="Cambria Math" panose="02040503050406030204" pitchFamily="18" charset="0"/>
                            <a:ea typeface="Source Sans Pro" panose="020B0503030403020204" pitchFamily="34" charset="0"/>
                          </a:rPr>
                        </m:ctrlPr>
                      </m:dPr>
                      <m:e>
                        <m:sSup>
                          <m:sSupPr>
                            <m:ctrlPr>
                              <a:rPr lang="en-US" altLang="zh-CN" sz="1200" i="1" dirty="0">
                                <a:solidFill>
                                  <a:schemeClr val="bg2"/>
                                </a:solidFill>
                                <a:latin typeface="Cambria Math" panose="02040503050406030204" pitchFamily="18" charset="0"/>
                                <a:ea typeface="Source Sans Pro" panose="020B0503030403020204" pitchFamily="34" charset="0"/>
                              </a:rPr>
                            </m:ctrlPr>
                          </m:sSupPr>
                          <m:e>
                            <m:d>
                              <m:dPr>
                                <m:ctrlPr>
                                  <a:rPr lang="en-US" altLang="zh-CN" sz="1200" i="1" dirty="0">
                                    <a:solidFill>
                                      <a:schemeClr val="bg2"/>
                                    </a:solidFill>
                                    <a:latin typeface="Cambria Math" panose="02040503050406030204" pitchFamily="18" charset="0"/>
                                    <a:ea typeface="Source Sans Pro" panose="020B0503030403020204" pitchFamily="34" charset="0"/>
                                  </a:rPr>
                                </m:ctrlPr>
                              </m:dPr>
                              <m:e>
                                <m:f>
                                  <m:fPr>
                                    <m:ctrlPr>
                                      <a:rPr lang="en-US" altLang="zh-CN" sz="1200" i="1" dirty="0">
                                        <a:solidFill>
                                          <a:schemeClr val="bg2"/>
                                        </a:solidFill>
                                        <a:latin typeface="Cambria Math" panose="02040503050406030204" pitchFamily="18" charset="0"/>
                                        <a:ea typeface="Source Sans Pro" panose="020B0503030403020204" pitchFamily="34" charset="0"/>
                                      </a:rPr>
                                    </m:ctrlPr>
                                  </m:fPr>
                                  <m:num>
                                    <m:r>
                                      <a:rPr lang="en-US" altLang="zh-CN" sz="1200" i="1" dirty="0">
                                        <a:solidFill>
                                          <a:schemeClr val="bg2"/>
                                        </a:solidFill>
                                        <a:latin typeface="Cambria Math" panose="02040503050406030204" pitchFamily="18" charset="0"/>
                                        <a:ea typeface="Source Sans Pro" panose="020B0503030403020204" pitchFamily="34" charset="0"/>
                                      </a:rPr>
                                      <m:t>1</m:t>
                                    </m:r>
                                    <m:r>
                                      <a:rPr lang="en-US" altLang="zh-CN" sz="1200" i="1" dirty="0">
                                        <a:solidFill>
                                          <a:schemeClr val="bg2"/>
                                        </a:solidFill>
                                        <a:latin typeface="Cambria Math" panose="02040503050406030204" pitchFamily="18" charset="0"/>
                                        <a:ea typeface="Source Sans Pro" panose="020B0503030403020204" pitchFamily="34" charset="0"/>
                                      </a:rPr>
                                      <m:t>+</m:t>
                                    </m:r>
                                    <m:rad>
                                      <m:radPr>
                                        <m:degHide m:val="on"/>
                                        <m:ctrlPr>
                                          <a:rPr lang="en-US" altLang="zh-CN" sz="1200" b="0" i="1" dirty="0" smtClean="0">
                                            <a:solidFill>
                                              <a:schemeClr val="bg2"/>
                                            </a:solidFill>
                                            <a:latin typeface="Cambria Math" panose="02040503050406030204" pitchFamily="18" charset="0"/>
                                            <a:ea typeface="Source Sans Pro" panose="020B0503030403020204" pitchFamily="34" charset="0"/>
                                          </a:rPr>
                                        </m:ctrlPr>
                                      </m:radPr>
                                      <m:deg/>
                                      <m:e>
                                        <m:r>
                                          <a:rPr lang="en-US" altLang="zh-CN" sz="1200" b="0" i="1" dirty="0" smtClean="0">
                                            <a:solidFill>
                                              <a:schemeClr val="bg2"/>
                                            </a:solidFill>
                                            <a:latin typeface="Cambria Math" panose="02040503050406030204" pitchFamily="18" charset="0"/>
                                            <a:ea typeface="Source Sans Pro" panose="020B0503030403020204" pitchFamily="34" charset="0"/>
                                          </a:rPr>
                                          <m:t>5</m:t>
                                        </m:r>
                                      </m:e>
                                    </m:rad>
                                  </m:num>
                                  <m:den>
                                    <m:r>
                                      <a:rPr lang="en-US" altLang="zh-CN" sz="1200" i="1" dirty="0">
                                        <a:solidFill>
                                          <a:schemeClr val="bg2"/>
                                        </a:solidFill>
                                        <a:latin typeface="Cambria Math" panose="02040503050406030204" pitchFamily="18" charset="0"/>
                                        <a:ea typeface="Source Sans Pro" panose="020B0503030403020204" pitchFamily="34" charset="0"/>
                                      </a:rPr>
                                      <m:t>2</m:t>
                                    </m:r>
                                  </m:den>
                                </m:f>
                              </m:e>
                            </m:d>
                          </m:e>
                          <m:sup>
                            <m:r>
                              <a:rPr lang="zh-CN" altLang="en-US" sz="1200" i="1" dirty="0">
                                <a:solidFill>
                                  <a:schemeClr val="bg2"/>
                                </a:solidFill>
                                <a:latin typeface="Cambria Math" panose="02040503050406030204" pitchFamily="18" charset="0"/>
                                <a:ea typeface="Source Sans Pro" panose="020B0503030403020204" pitchFamily="34" charset="0"/>
                              </a:rPr>
                              <m:t>𝑛</m:t>
                            </m:r>
                          </m:sup>
                        </m:sSup>
                      </m:e>
                    </m:d>
                    <m:r>
                      <a:rPr lang="en-US" altLang="zh-CN" sz="1200" i="1" dirty="0">
                        <a:solidFill>
                          <a:schemeClr val="bg2"/>
                        </a:solidFill>
                        <a:latin typeface="Cambria Math" panose="02040503050406030204" pitchFamily="18" charset="0"/>
                        <a:ea typeface="Source Sans Pro" panose="020B0503030403020204" pitchFamily="34" charset="0"/>
                      </a:rPr>
                      <m:t>  </m:t>
                    </m:r>
                  </m:oMath>
                </a14:m>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zh-CN" altLang="en-US" sz="1200" dirty="0">
                    <a:solidFill>
                      <a:schemeClr val="bg2"/>
                    </a:solidFill>
                    <a:latin typeface="Source Sans Pro" panose="020B0503030403020204" pitchFamily="34" charset="0"/>
                    <a:ea typeface="Source Sans Pro" panose="020B0503030403020204" pitchFamily="34" charset="0"/>
                  </a:rPr>
                  <a:t>每个</a:t>
                </a:r>
                <a14:m>
                  <m:oMath xmlns:m="http://schemas.openxmlformats.org/officeDocument/2006/math">
                    <m:r>
                      <a:rPr lang="en-US" altLang="zh-CN" sz="1200" i="1" dirty="0" smtClean="0">
                        <a:solidFill>
                          <a:schemeClr val="bg2"/>
                        </a:solidFill>
                        <a:latin typeface="Cambria Math" panose="02040503050406030204" pitchFamily="18" charset="0"/>
                        <a:ea typeface="Source Sans Pro" panose="020B0503030403020204" pitchFamily="34" charset="0"/>
                      </a:rPr>
                      <m:t>𝐹𝑖𝑏</m:t>
                    </m:r>
                    <m:r>
                      <a:rPr lang="en-US" altLang="zh-CN" sz="1200" i="1" dirty="0" smtClean="0">
                        <a:solidFill>
                          <a:schemeClr val="bg2"/>
                        </a:solidFill>
                        <a:latin typeface="Cambria Math" panose="02040503050406030204" pitchFamily="18" charset="0"/>
                        <a:ea typeface="Source Sans Pro" panose="020B0503030403020204" pitchFamily="34" charset="0"/>
                      </a:rPr>
                      <m:t>(</m:t>
                    </m:r>
                    <m:r>
                      <a:rPr lang="en-US" altLang="zh-CN" sz="1200" i="1" dirty="0" smtClean="0">
                        <a:solidFill>
                          <a:schemeClr val="bg2"/>
                        </a:solidFill>
                        <a:latin typeface="Cambria Math" panose="02040503050406030204" pitchFamily="18" charset="0"/>
                        <a:ea typeface="Source Sans Pro" panose="020B0503030403020204" pitchFamily="34" charset="0"/>
                      </a:rPr>
                      <m:t>𝑛</m:t>
                    </m:r>
                    <m:r>
                      <a:rPr lang="en-US" altLang="zh-CN" sz="1200" i="1" dirty="0" smtClean="0">
                        <a:solidFill>
                          <a:schemeClr val="bg2"/>
                        </a:solidFill>
                        <a:latin typeface="Cambria Math" panose="02040503050406030204" pitchFamily="18" charset="0"/>
                        <a:ea typeface="Source Sans Pro" panose="020B0503030403020204" pitchFamily="34" charset="0"/>
                      </a:rPr>
                      <m:t>)</m:t>
                    </m:r>
                  </m:oMath>
                </a14:m>
                <a:r>
                  <a:rPr lang="zh-CN" altLang="en-US" sz="1200" dirty="0">
                    <a:solidFill>
                      <a:schemeClr val="bg2"/>
                    </a:solidFill>
                    <a:latin typeface="Source Sans Pro" panose="020B0503030403020204" pitchFamily="34" charset="0"/>
                    <a:ea typeface="Source Sans Pro" panose="020B0503030403020204" pitchFamily="34" charset="0"/>
                  </a:rPr>
                  <a:t>都被重复计算</a:t>
                </a:r>
                <a:endParaRPr lang="zh-CN" altLang="en-US" sz="1200" dirty="0">
                  <a:solidFill>
                    <a:schemeClr val="bg2"/>
                  </a:solidFill>
                  <a:latin typeface="Source Sans Pro" panose="020B0503030403020204" pitchFamily="34" charset="0"/>
                  <a:ea typeface="Source Sans Pro" panose="020B0503030403020204" pitchFamily="34" charset="0"/>
                </a:endParaRPr>
              </a:p>
              <a:p>
                <a:pPr>
                  <a:lnSpc>
                    <a:spcPct val="120000"/>
                  </a:lnSpc>
                </a:pPr>
                <a:endParaRPr lang="zh-CN" altLang="en-US" sz="1500" dirty="0">
                  <a:solidFill>
                    <a:schemeClr val="bg2"/>
                  </a:solidFill>
                  <a:latin typeface="Source Sans Pro" panose="020B0503030403020204" pitchFamily="34" charset="0"/>
                  <a:ea typeface="Source Sans Pro" panose="020B0503030403020204" pitchFamily="34" charset="0"/>
                </a:endParaRPr>
              </a:p>
            </p:txBody>
          </p:sp>
        </mc:Choice>
        <mc:Fallback>
          <p:sp>
            <p:nvSpPr>
              <p:cNvPr id="4" name="文本占位符 2"/>
              <p:cNvSpPr>
                <a:spLocks noRot="1" noChangeAspect="1" noMove="1" noResize="1" noEditPoints="1" noAdjustHandles="1" noChangeArrowheads="1" noChangeShapeType="1" noTextEdit="1"/>
              </p:cNvSpPr>
              <p:nvPr>
                <p:ph type="body" idx="1"/>
              </p:nvPr>
            </p:nvSpPr>
            <p:spPr>
              <a:xfrm>
                <a:off x="311700" y="920581"/>
                <a:ext cx="8520600" cy="3777894"/>
              </a:xfrm>
              <a:blipFill rotWithShape="1">
                <a:blip r:embed="rId1"/>
                <a:stretch>
                  <a:fillRect l="-6" t="-12" r="1" b="3"/>
                </a:stretch>
              </a:blipFill>
            </p:spPr>
            <p:txBody>
              <a:bodyPr/>
              <a:lstStyle/>
              <a:p>
                <a:r>
                  <a:rPr lang="zh-CN" altLang="en-US">
                    <a:noFill/>
                  </a:rPr>
                  <a:t> </a:t>
                </a:r>
              </a:p>
            </p:txBody>
          </p:sp>
        </mc:Fallback>
      </mc:AlternateContent>
      <p:pic>
        <p:nvPicPr>
          <p:cNvPr id="5" name="Picture 5"/>
          <p:cNvPicPr>
            <a:picLocks noChangeAspect="1"/>
          </p:cNvPicPr>
          <p:nvPr/>
        </p:nvPicPr>
        <p:blipFill>
          <a:blip r:embed="rId2"/>
          <a:stretch>
            <a:fillRect/>
          </a:stretch>
        </p:blipFill>
        <p:spPr>
          <a:xfrm>
            <a:off x="1925706" y="1543981"/>
            <a:ext cx="5292588" cy="136877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Example VI: Speed Up </a:t>
            </a:r>
            <a:r>
              <a:rPr lang="en-US" altLang="zh-CN" dirty="0" err="1">
                <a:latin typeface="Raleway" pitchFamily="34" charset="0"/>
                <a:ea typeface="Source Sans Pro" panose="020B0503030403020204" pitchFamily="34" charset="0"/>
              </a:rPr>
              <a:t>Fibo</a:t>
            </a:r>
            <a:r>
              <a:rPr lang="en-US" altLang="zh-CN" dirty="0">
                <a:latin typeface="Raleway" pitchFamily="34" charset="0"/>
                <a:ea typeface="Source Sans Pro" panose="020B0503030403020204" pitchFamily="34" charset="0"/>
              </a:rPr>
              <a:t>.</a:t>
            </a:r>
            <a:endParaRPr lang="en-US" altLang="zh-CN" dirty="0">
              <a:latin typeface="Raleway" pitchFamily="34" charset="0"/>
              <a:ea typeface="Source Sans Pro" panose="020B0503030403020204" pitchFamily="34" charset="0"/>
            </a:endParaRPr>
          </a:p>
        </p:txBody>
      </p:sp>
      <p:sp>
        <p:nvSpPr>
          <p:cNvPr id="4" name="文本占位符 2"/>
          <p:cNvSpPr>
            <a:spLocks noGrp="1"/>
          </p:cNvSpPr>
          <p:nvPr>
            <p:ph type="body" idx="1"/>
          </p:nvPr>
        </p:nvSpPr>
        <p:spPr>
          <a:xfrm>
            <a:off x="311700" y="920581"/>
            <a:ext cx="8520600" cy="1530658"/>
          </a:xfrm>
        </p:spPr>
        <p:txBody>
          <a:bodyPr>
            <a:noAutofit/>
          </a:bodyPr>
          <a:lstStyle/>
          <a:p>
            <a:pPr>
              <a:lnSpc>
                <a:spcPct val="120000"/>
              </a:lnSpc>
            </a:pPr>
            <a:r>
              <a:rPr lang="en-US" altLang="zh-CN" sz="1400" dirty="0">
                <a:solidFill>
                  <a:schemeClr val="bg2"/>
                </a:solidFill>
                <a:latin typeface="Source Sans Pro" panose="020B0503030403020204" pitchFamily="34" charset="0"/>
                <a:ea typeface="Source Sans Pro" panose="020B0503030403020204" pitchFamily="34" charset="0"/>
              </a:rPr>
              <a:t>Tips: use a list (or </a:t>
            </a:r>
            <a:r>
              <a:rPr lang="en-US" altLang="zh-CN" sz="1400" dirty="0" err="1">
                <a:solidFill>
                  <a:schemeClr val="bg2"/>
                </a:solidFill>
                <a:latin typeface="Source Sans Pro" panose="020B0503030403020204" pitchFamily="34" charset="0"/>
                <a:ea typeface="Source Sans Pro" panose="020B0503030403020204" pitchFamily="34" charset="0"/>
              </a:rPr>
              <a:t>dict</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lst</a:t>
            </a:r>
            <a:r>
              <a:rPr lang="en-US" altLang="zh-CN" sz="1400" dirty="0">
                <a:solidFill>
                  <a:schemeClr val="bg2"/>
                </a:solidFill>
                <a:latin typeface="Source Sans Pro" panose="020B0503030403020204" pitchFamily="34" charset="0"/>
                <a:ea typeface="Source Sans Pro" panose="020B0503030403020204" pitchFamily="34" charset="0"/>
              </a:rPr>
              <a:t> to store the intermediate results to speed up the computation</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Each item in </a:t>
            </a:r>
            <a:r>
              <a:rPr lang="en-US" altLang="zh-CN" sz="1200" dirty="0" err="1">
                <a:solidFill>
                  <a:schemeClr val="bg2"/>
                </a:solidFill>
                <a:latin typeface="Source Sans Pro" panose="020B0503030403020204" pitchFamily="34" charset="0"/>
                <a:ea typeface="Source Sans Pro" panose="020B0503030403020204" pitchFamily="34" charset="0"/>
              </a:rPr>
              <a:t>lst</a:t>
            </a:r>
            <a:r>
              <a:rPr lang="en-US" altLang="zh-CN" sz="1200" dirty="0">
                <a:solidFill>
                  <a:schemeClr val="bg2"/>
                </a:solidFill>
                <a:latin typeface="Source Sans Pro" panose="020B0503030403020204" pitchFamily="34" charset="0"/>
                <a:ea typeface="Source Sans Pro" panose="020B0503030403020204" pitchFamily="34" charset="0"/>
              </a:rPr>
              <a:t> is initialized as -1</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When invoke f(n), we could check </a:t>
            </a:r>
            <a:r>
              <a:rPr lang="en-US" altLang="zh-CN" sz="1200" dirty="0" err="1">
                <a:solidFill>
                  <a:schemeClr val="bg2"/>
                </a:solidFill>
                <a:latin typeface="Source Sans Pro" panose="020B0503030403020204" pitchFamily="34" charset="0"/>
                <a:ea typeface="Source Sans Pro" panose="020B0503030403020204" pitchFamily="34" charset="0"/>
              </a:rPr>
              <a:t>lst</a:t>
            </a:r>
            <a:r>
              <a:rPr lang="en-US" altLang="zh-CN" sz="1200" dirty="0">
                <a:solidFill>
                  <a:schemeClr val="bg2"/>
                </a:solidFill>
                <a:latin typeface="Source Sans Pro" panose="020B0503030403020204" pitchFamily="34" charset="0"/>
                <a:ea typeface="Source Sans Pro" panose="020B0503030403020204" pitchFamily="34" charset="0"/>
              </a:rPr>
              <a:t>[n] to see whether </a:t>
            </a:r>
            <a:r>
              <a:rPr lang="en-US" altLang="zh-CN" sz="1200" dirty="0" err="1">
                <a:solidFill>
                  <a:schemeClr val="bg2"/>
                </a:solidFill>
                <a:latin typeface="Source Sans Pro" panose="020B0503030403020204" pitchFamily="34" charset="0"/>
                <a:ea typeface="Source Sans Pro" panose="020B0503030403020204" pitchFamily="34" charset="0"/>
              </a:rPr>
              <a:t>lst</a:t>
            </a:r>
            <a:r>
              <a:rPr lang="en-US" altLang="zh-CN" sz="1200" dirty="0">
                <a:solidFill>
                  <a:schemeClr val="bg2"/>
                </a:solidFill>
                <a:latin typeface="Source Sans Pro" panose="020B0503030403020204" pitchFamily="34" charset="0"/>
                <a:ea typeface="Source Sans Pro" panose="020B0503030403020204" pitchFamily="34" charset="0"/>
              </a:rPr>
              <a:t>[n] had been computed before</a:t>
            </a:r>
            <a:endParaRPr lang="en-US" altLang="zh-CN" sz="1200" dirty="0">
              <a:solidFill>
                <a:schemeClr val="bg2"/>
              </a:solidFill>
              <a:latin typeface="Source Sans Pro" panose="020B0503030403020204" pitchFamily="34" charset="0"/>
              <a:ea typeface="Source Sans Pro" panose="020B0503030403020204" pitchFamily="34" charset="0"/>
            </a:endParaRPr>
          </a:p>
          <a:p>
            <a:pPr lvl="2">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If so, just return f(n)</a:t>
            </a:r>
            <a:endParaRPr lang="en-US" altLang="zh-CN" sz="1200" dirty="0">
              <a:solidFill>
                <a:schemeClr val="bg2"/>
              </a:solidFill>
              <a:latin typeface="Source Sans Pro" panose="020B0503030403020204" pitchFamily="34" charset="0"/>
              <a:ea typeface="Source Sans Pro" panose="020B0503030403020204" pitchFamily="34" charset="0"/>
            </a:endParaRPr>
          </a:p>
          <a:p>
            <a:pPr lvl="2">
              <a:lnSpc>
                <a:spcPct val="120000"/>
              </a:lnSpc>
            </a:pPr>
            <a:r>
              <a:rPr lang="en-US" altLang="zh-CN" sz="1200" dirty="0">
                <a:solidFill>
                  <a:schemeClr val="bg2"/>
                </a:solidFill>
                <a:latin typeface="Source Sans Pro" panose="020B0503030403020204" pitchFamily="34" charset="0"/>
                <a:ea typeface="Source Sans Pro" panose="020B0503030403020204" pitchFamily="34" charset="0"/>
              </a:rPr>
              <a:t>Otherwise, we invoke the recursive function to compute f(n) and store it in </a:t>
            </a:r>
            <a:r>
              <a:rPr lang="en-US" altLang="zh-CN" sz="1200" dirty="0" err="1">
                <a:solidFill>
                  <a:schemeClr val="bg2"/>
                </a:solidFill>
                <a:latin typeface="Source Sans Pro" panose="020B0503030403020204" pitchFamily="34" charset="0"/>
                <a:ea typeface="Source Sans Pro" panose="020B0503030403020204" pitchFamily="34" charset="0"/>
              </a:rPr>
              <a:t>lst</a:t>
            </a:r>
            <a:r>
              <a:rPr lang="en-US" altLang="zh-CN" sz="1200" dirty="0">
                <a:solidFill>
                  <a:schemeClr val="bg2"/>
                </a:solidFill>
                <a:latin typeface="Source Sans Pro" panose="020B0503030403020204" pitchFamily="34" charset="0"/>
                <a:ea typeface="Source Sans Pro" panose="020B0503030403020204" pitchFamily="34" charset="0"/>
              </a:rPr>
              <a:t>[n]</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pic>
        <p:nvPicPr>
          <p:cNvPr id="3" name="Picture 7"/>
          <p:cNvPicPr>
            <a:picLocks noChangeAspect="1"/>
          </p:cNvPicPr>
          <p:nvPr/>
        </p:nvPicPr>
        <p:blipFill>
          <a:blip r:embed="rId1"/>
          <a:stretch>
            <a:fillRect/>
          </a:stretch>
        </p:blipFill>
        <p:spPr>
          <a:xfrm>
            <a:off x="3002538" y="2206066"/>
            <a:ext cx="5737534" cy="725865"/>
          </a:xfrm>
          <a:prstGeom prst="rect">
            <a:avLst/>
          </a:prstGeom>
        </p:spPr>
      </p:pic>
      <p:pic>
        <p:nvPicPr>
          <p:cNvPr id="5" name="Picture 11"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4364" y="2206066"/>
            <a:ext cx="2189256" cy="2831909"/>
          </a:xfrm>
          <a:prstGeom prst="rect">
            <a:avLst/>
          </a:prstGeom>
        </p:spPr>
      </p:pic>
      <p:pic>
        <p:nvPicPr>
          <p:cNvPr id="6" name="Picture 13" descr="Text&#10;&#10;Description automatically generate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2538" y="2975561"/>
            <a:ext cx="4844491" cy="1667488"/>
          </a:xfrm>
          <a:prstGeom prst="rect">
            <a:avLst/>
          </a:prstGeom>
        </p:spPr>
      </p:pic>
      <p:pic>
        <p:nvPicPr>
          <p:cNvPr id="7" name="Picture 1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02539" y="4692927"/>
            <a:ext cx="5737534" cy="34754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Python cache mechanism</a:t>
            </a:r>
            <a:endParaRPr lang="en-US" altLang="zh-CN" dirty="0">
              <a:latin typeface="Raleway" pitchFamily="34" charset="0"/>
              <a:ea typeface="Source Sans Pro" panose="020B0503030403020204" pitchFamily="34" charset="0"/>
            </a:endParaRPr>
          </a:p>
        </p:txBody>
      </p:sp>
      <p:sp>
        <p:nvSpPr>
          <p:cNvPr id="5" name="Rectangle 4"/>
          <p:cNvSpPr/>
          <p:nvPr/>
        </p:nvSpPr>
        <p:spPr>
          <a:xfrm>
            <a:off x="7307982" y="1325644"/>
            <a:ext cx="1013060" cy="298047"/>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bg2"/>
                </a:solidFill>
                <a:latin typeface="黑体" panose="02010609060101010101" pitchFamily="49" charset="-122"/>
                <a:ea typeface="黑体" panose="02010609060101010101" pitchFamily="49" charset="-122"/>
              </a:rPr>
              <a:t>仅供了解</a:t>
            </a:r>
            <a:r>
              <a:rPr lang="zh-CN" altLang="en-US" sz="1200" dirty="0">
                <a:solidFill>
                  <a:schemeClr val="bg2"/>
                </a:solidFill>
                <a:latin typeface="黑体" panose="02010609060101010101" pitchFamily="49" charset="-122"/>
                <a:ea typeface="黑体" panose="02010609060101010101" pitchFamily="49" charset="-122"/>
              </a:rPr>
              <a:t> </a:t>
            </a:r>
            <a:r>
              <a:rPr lang="en-US" altLang="zh-CN" sz="1200" dirty="0">
                <a:solidFill>
                  <a:schemeClr val="bg2"/>
                </a:solidFill>
                <a:latin typeface="黑体" panose="02010609060101010101" pitchFamily="49" charset="-122"/>
                <a:ea typeface="黑体" panose="02010609060101010101" pitchFamily="49" charset="-122"/>
                <a:sym typeface="Wingdings" panose="05000000000000000000" pitchFamily="2" charset="2"/>
              </a:rPr>
              <a:t></a:t>
            </a:r>
            <a:endParaRPr lang="en-US" altLang="zh-CN" sz="1200" dirty="0">
              <a:solidFill>
                <a:schemeClr val="bg2"/>
              </a:solidFill>
              <a:latin typeface="黑体" panose="02010609060101010101" pitchFamily="49" charset="-122"/>
              <a:ea typeface="黑体" panose="02010609060101010101" pitchFamily="49" charset="-122"/>
            </a:endParaRPr>
          </a:p>
        </p:txBody>
      </p:sp>
      <p:pic>
        <p:nvPicPr>
          <p:cNvPr id="8" name="Picture 6"/>
          <p:cNvPicPr>
            <a:picLocks noChangeAspect="1"/>
          </p:cNvPicPr>
          <p:nvPr/>
        </p:nvPicPr>
        <p:blipFill>
          <a:blip r:embed="rId1"/>
          <a:stretch>
            <a:fillRect/>
          </a:stretch>
        </p:blipFill>
        <p:spPr>
          <a:xfrm>
            <a:off x="2585246" y="1325644"/>
            <a:ext cx="3656738" cy="2252741"/>
          </a:xfrm>
          <a:prstGeom prst="rect">
            <a:avLst/>
          </a:prstGeom>
        </p:spPr>
      </p:pic>
      <p:pic>
        <p:nvPicPr>
          <p:cNvPr id="10" name="Picture 8"/>
          <p:cNvPicPr>
            <a:picLocks noChangeAspect="1"/>
          </p:cNvPicPr>
          <p:nvPr/>
        </p:nvPicPr>
        <p:blipFill>
          <a:blip r:embed="rId2"/>
          <a:stretch>
            <a:fillRect/>
          </a:stretch>
        </p:blipFill>
        <p:spPr>
          <a:xfrm>
            <a:off x="822958" y="3941772"/>
            <a:ext cx="7498084" cy="53857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Exercise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520304"/>
            <a:ext cx="8520600" cy="2943644"/>
          </a:xfrm>
        </p:spPr>
        <p:txBody>
          <a:bodyPr>
            <a:noAutofit/>
          </a:bodyPr>
          <a:lstStyle/>
          <a:p>
            <a:r>
              <a:rPr lang="en-US" altLang="zh-CN" sz="1400" i="0" dirty="0">
                <a:solidFill>
                  <a:srgbClr val="000000"/>
                </a:solidFill>
                <a:effectLst/>
              </a:rPr>
              <a:t>Fibonacci</a:t>
            </a:r>
            <a:r>
              <a:rPr lang="zh-CN" altLang="en-US" sz="1400" i="0" dirty="0">
                <a:solidFill>
                  <a:srgbClr val="000000"/>
                </a:solidFill>
                <a:effectLst/>
              </a:rPr>
              <a:t>序列</a:t>
            </a:r>
            <a:endParaRPr lang="zh-CN" altLang="en-US" sz="1400" i="0" dirty="0">
              <a:solidFill>
                <a:srgbClr val="000000"/>
              </a:solidFill>
              <a:effectLst/>
            </a:endParaRPr>
          </a:p>
          <a:p>
            <a:r>
              <a:rPr lang="en-US" altLang="zh-CN" sz="1400" i="0" dirty="0" err="1">
                <a:solidFill>
                  <a:srgbClr val="000000"/>
                </a:solidFill>
                <a:effectLst/>
              </a:rPr>
              <a:t>gcd</a:t>
            </a:r>
            <a:endParaRPr lang="en-US" altLang="zh-CN" sz="1400" i="0" dirty="0">
              <a:solidFill>
                <a:srgbClr val="000000"/>
              </a:solidFill>
              <a:effectLst/>
            </a:endParaRPr>
          </a:p>
          <a:p>
            <a:r>
              <a:rPr lang="zh-CN" altLang="en-US" sz="1400" i="0" dirty="0">
                <a:solidFill>
                  <a:srgbClr val="000000"/>
                </a:solidFill>
                <a:effectLst/>
              </a:rPr>
              <a:t>合并两个</a:t>
            </a:r>
            <a:r>
              <a:rPr lang="en-US" altLang="zh-CN" sz="1400" i="0" dirty="0">
                <a:solidFill>
                  <a:srgbClr val="000000"/>
                </a:solidFill>
                <a:effectLst/>
              </a:rPr>
              <a:t>list</a:t>
            </a:r>
            <a:endParaRPr lang="en-US" altLang="zh-CN" sz="1400" i="0" dirty="0">
              <a:solidFill>
                <a:srgbClr val="000000"/>
              </a:solidFill>
              <a:effectLst/>
            </a:endParaRPr>
          </a:p>
          <a:p>
            <a:r>
              <a:rPr lang="zh-CN" altLang="en-US" sz="1400" i="0" dirty="0">
                <a:solidFill>
                  <a:srgbClr val="000000"/>
                </a:solidFill>
                <a:effectLst/>
              </a:rPr>
              <a:t>合并两个排序好的</a:t>
            </a:r>
            <a:r>
              <a:rPr lang="en-US" altLang="zh-CN" sz="1400" i="0" dirty="0">
                <a:solidFill>
                  <a:srgbClr val="000000"/>
                </a:solidFill>
                <a:effectLst/>
              </a:rPr>
              <a:t>list</a:t>
            </a:r>
            <a:endParaRPr lang="en-US" altLang="zh-CN" sz="1400" i="0" dirty="0">
              <a:solidFill>
                <a:srgbClr val="000000"/>
              </a:solidFill>
              <a:effectLst/>
            </a:endParaRPr>
          </a:p>
          <a:p>
            <a:r>
              <a:rPr lang="zh-CN" altLang="en-US" sz="1400" i="0" dirty="0">
                <a:solidFill>
                  <a:srgbClr val="000000"/>
                </a:solidFill>
                <a:effectLst/>
              </a:rPr>
              <a:t>测试</a:t>
            </a:r>
            <a:r>
              <a:rPr lang="en-US" altLang="zh-CN" sz="1400" i="0" dirty="0">
                <a:solidFill>
                  <a:srgbClr val="000000"/>
                </a:solidFill>
                <a:effectLst/>
              </a:rPr>
              <a:t>list, set</a:t>
            </a:r>
            <a:r>
              <a:rPr lang="zh-CN" altLang="en-US" sz="1400" i="0" dirty="0">
                <a:solidFill>
                  <a:srgbClr val="000000"/>
                </a:solidFill>
                <a:effectLst/>
              </a:rPr>
              <a:t>的效率</a:t>
            </a:r>
            <a:endParaRPr lang="zh-CN" altLang="en-US" sz="1400" i="0" dirty="0">
              <a:solidFill>
                <a:srgbClr val="000000"/>
              </a:solidFill>
              <a:effectLst/>
            </a:endParaRPr>
          </a:p>
          <a:p>
            <a:r>
              <a:rPr lang="zh-CN" altLang="en-US" sz="1400" i="0" dirty="0">
                <a:solidFill>
                  <a:srgbClr val="000000"/>
                </a:solidFill>
                <a:effectLst/>
              </a:rPr>
              <a:t>从时间复杂度可以类似的定义空间复杂度</a:t>
            </a:r>
            <a:endParaRPr lang="zh-CN" altLang="en-US" sz="1400" i="0" dirty="0">
              <a:solidFill>
                <a:srgbClr val="000000"/>
              </a:solidFill>
              <a:effectLst/>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Raleway" pitchFamily="34" charset="0"/>
                <a:ea typeface="Source Sans Pro" panose="020B0503030403020204" pitchFamily="34" charset="0"/>
              </a:rPr>
              <a:t>Exception</a:t>
            </a:r>
            <a:endParaRPr dirty="0">
              <a:latin typeface="Raleway" pitchFamily="34" charset="0"/>
              <a:ea typeface="Source Sans Pro" panose="020B0503030403020204" pitchFamily="34" charset="0"/>
            </a:endParaRPr>
          </a:p>
        </p:txBody>
      </p:sp>
      <p:pic>
        <p:nvPicPr>
          <p:cNvPr id="2" name="Picture 2" descr="Image result for excep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a:xfrm>
            <a:off x="5568213" y="3122520"/>
            <a:ext cx="2054995" cy="1418236"/>
          </a:xfrm>
          <a:prstGeom prst="rect">
            <a:avLst/>
          </a:prstGeom>
          <a:noFill/>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Even grammar is correct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636295"/>
            <a:ext cx="8520600" cy="3162636"/>
          </a:xfrm>
        </p:spPr>
        <p:txBody>
          <a:bodyPr numCol="2">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x</a:t>
            </a:r>
            <a:r>
              <a:rPr lang="zh-CN" altLang="en-US" sz="1400" dirty="0">
                <a:solidFill>
                  <a:schemeClr val="bg2"/>
                </a:solidFill>
                <a:latin typeface="Source Sans Pro" panose="020B0503030403020204" pitchFamily="34" charset="0"/>
                <a:ea typeface="Source Sans Pro" panose="020B0503030403020204" pitchFamily="34" charset="0"/>
              </a:rPr>
              <a:t> * </a:t>
            </a:r>
            <a:r>
              <a:rPr lang="en-US" altLang="zh-CN" sz="1400" dirty="0">
                <a:solidFill>
                  <a:schemeClr val="bg2"/>
                </a:solidFill>
                <a:latin typeface="Source Sans Pro" panose="020B0503030403020204" pitchFamily="34" charset="0"/>
                <a:ea typeface="Source Sans Pro" panose="020B0503030403020204" pitchFamily="34" charset="0"/>
              </a:rPr>
              <a:t>(y/z)</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 10 * (1/0)</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Traceback (most recent call last):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File "&lt;stdin&gt;", line 1, in &lt;module&gt;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b="1" dirty="0" err="1">
                <a:solidFill>
                  <a:schemeClr val="tx1"/>
                </a:solidFill>
                <a:latin typeface="Source Sans Pro" panose="020B0503030403020204" pitchFamily="34" charset="0"/>
                <a:ea typeface="Source Sans Pro" panose="020B0503030403020204" pitchFamily="34" charset="0"/>
              </a:rPr>
              <a:t>ZeroDivisionError</a:t>
            </a:r>
            <a:r>
              <a:rPr lang="en-US" altLang="zh-CN" sz="1400" dirty="0">
                <a:solidFill>
                  <a:schemeClr val="bg2"/>
                </a:solidFill>
                <a:latin typeface="Source Sans Pro" panose="020B0503030403020204" pitchFamily="34" charset="0"/>
                <a:ea typeface="Source Sans Pro" panose="020B0503030403020204" pitchFamily="34" charset="0"/>
              </a:rPr>
              <a:t>: division by zero</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x</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y</a:t>
            </a:r>
            <a:r>
              <a:rPr lang="zh-CN" altLang="en-US" sz="1400" dirty="0">
                <a:solidFill>
                  <a:schemeClr val="bg2"/>
                </a:solidFill>
                <a:latin typeface="Source Sans Pro" panose="020B0503030403020204" pitchFamily="34" charset="0"/>
                <a:ea typeface="Source Sans Pro" panose="020B0503030403020204" pitchFamily="34" charset="0"/>
              </a:rPr>
              <a:t>*</a:t>
            </a:r>
            <a:r>
              <a:rPr lang="en-US" altLang="zh-CN" sz="1400" dirty="0">
                <a:solidFill>
                  <a:schemeClr val="bg2"/>
                </a:solidFill>
                <a:latin typeface="Source Sans Pro" panose="020B0503030403020204" pitchFamily="34" charset="0"/>
                <a:ea typeface="Source Sans Pro" panose="020B0503030403020204" pitchFamily="34" charset="0"/>
              </a:rPr>
              <a:t>3</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 4 + spam*3</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Traceback (most recent call last):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File "&lt;stdin&gt;", line 1, in &lt;module&gt;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b="1" dirty="0" err="1">
                <a:solidFill>
                  <a:schemeClr val="tx1"/>
                </a:solidFill>
                <a:latin typeface="Source Sans Pro" panose="020B0503030403020204" pitchFamily="34" charset="0"/>
                <a:ea typeface="Source Sans Pro" panose="020B0503030403020204" pitchFamily="34" charset="0"/>
              </a:rPr>
              <a:t>NameError</a:t>
            </a:r>
            <a:r>
              <a:rPr lang="en-US" altLang="zh-CN" sz="1400" dirty="0">
                <a:solidFill>
                  <a:schemeClr val="bg2"/>
                </a:solidFill>
                <a:latin typeface="Source Sans Pro" panose="020B0503030403020204" pitchFamily="34" charset="0"/>
                <a:ea typeface="Source Sans Pro" panose="020B0503030403020204" pitchFamily="34" charset="0"/>
              </a:rPr>
              <a:t>: name 'spam' is not define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x</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a:t>
            </a: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2</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 '2' + 2</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Traceback (most recent call last):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File "&lt;stdin&gt;", line 1, in &lt;module&gt;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b="1" dirty="0" err="1">
                <a:solidFill>
                  <a:schemeClr val="tx1"/>
                </a:solidFill>
                <a:latin typeface="Source Sans Pro" panose="020B0503030403020204" pitchFamily="34" charset="0"/>
                <a:ea typeface="Source Sans Pro" panose="020B0503030403020204" pitchFamily="34" charset="0"/>
              </a:rPr>
              <a:t>TypeError</a:t>
            </a:r>
            <a:r>
              <a:rPr lang="en-US" altLang="zh-CN" sz="1400" dirty="0">
                <a:solidFill>
                  <a:schemeClr val="bg2"/>
                </a:solidFill>
                <a:latin typeface="Source Sans Pro" panose="020B0503030403020204" pitchFamily="34" charset="0"/>
                <a:ea typeface="Source Sans Pro" panose="020B0503030403020204" pitchFamily="34" charset="0"/>
              </a:rPr>
              <a:t>: Can't convert 'int' object to str implicitly</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12" name="Rectangle 4"/>
          <p:cNvSpPr/>
          <p:nvPr/>
        </p:nvSpPr>
        <p:spPr>
          <a:xfrm>
            <a:off x="4729289" y="3939319"/>
            <a:ext cx="3887084" cy="463700"/>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dirty="0">
                <a:solidFill>
                  <a:schemeClr val="bg2"/>
                </a:solidFill>
                <a:latin typeface="Source Sans Pro" panose="020B0503030403020204" pitchFamily="34" charset="0"/>
                <a:ea typeface="黑体" panose="02010609060101010101" pitchFamily="49" charset="-122"/>
              </a:rPr>
              <a:t>It is not an </a:t>
            </a:r>
            <a:r>
              <a:rPr lang="en-US" sz="1200" dirty="0">
                <a:solidFill>
                  <a:schemeClr val="tx1"/>
                </a:solidFill>
                <a:latin typeface="Source Sans Pro" panose="020B0503030403020204" pitchFamily="34" charset="0"/>
                <a:ea typeface="黑体" panose="02010609060101010101" pitchFamily="49" charset="-122"/>
              </a:rPr>
              <a:t>error</a:t>
            </a:r>
            <a:r>
              <a:rPr lang="en-US" sz="1200" dirty="0">
                <a:solidFill>
                  <a:schemeClr val="bg2"/>
                </a:solidFill>
                <a:latin typeface="Source Sans Pro" panose="020B0503030403020204" pitchFamily="34" charset="0"/>
                <a:ea typeface="黑体" panose="02010609060101010101" pitchFamily="49" charset="-122"/>
              </a:rPr>
              <a:t>. It is an </a:t>
            </a:r>
            <a:r>
              <a:rPr lang="en-US" sz="1200" dirty="0">
                <a:solidFill>
                  <a:schemeClr val="tx1"/>
                </a:solidFill>
                <a:latin typeface="Source Sans Pro" panose="020B0503030403020204" pitchFamily="34" charset="0"/>
                <a:ea typeface="黑体" panose="02010609060101010101" pitchFamily="49" charset="-122"/>
              </a:rPr>
              <a:t>Exception</a:t>
            </a:r>
            <a:endParaRPr lang="en-US" sz="1200" dirty="0">
              <a:solidFill>
                <a:schemeClr val="tx1"/>
              </a:solidFill>
              <a:latin typeface="Source Sans Pro" panose="020B0503030403020204" pitchFamily="34" charset="0"/>
              <a:ea typeface="黑体" panose="02010609060101010101" pitchFamily="49" charset="-122"/>
            </a:endParaRPr>
          </a:p>
          <a:p>
            <a:r>
              <a:rPr lang="en-US" sz="1200" dirty="0">
                <a:solidFill>
                  <a:schemeClr val="bg2"/>
                </a:solidFill>
                <a:latin typeface="Source Sans Pro" panose="020B0503030403020204" pitchFamily="34" charset="0"/>
                <a:ea typeface="黑体" panose="02010609060101010101" pitchFamily="49" charset="-122"/>
              </a:rPr>
              <a:t>Your code is correct. </a:t>
            </a:r>
            <a:r>
              <a:rPr lang="en-US" sz="1200" dirty="0">
                <a:solidFill>
                  <a:schemeClr val="tx1"/>
                </a:solidFill>
                <a:latin typeface="Source Sans Pro" panose="020B0503030403020204" pitchFamily="34" charset="0"/>
                <a:ea typeface="黑体" panose="02010609060101010101" pitchFamily="49" charset="-122"/>
              </a:rPr>
              <a:t>Users</a:t>
            </a:r>
            <a:r>
              <a:rPr lang="en-US" sz="1200" dirty="0">
                <a:solidFill>
                  <a:schemeClr val="bg2"/>
                </a:solidFill>
                <a:latin typeface="Source Sans Pro" panose="020B0503030403020204" pitchFamily="34" charset="0"/>
                <a:ea typeface="黑体" panose="02010609060101010101" pitchFamily="49" charset="-122"/>
              </a:rPr>
              <a:t> do not follow your instructions.</a:t>
            </a:r>
            <a:endParaRPr lang="en-US" sz="1200" dirty="0">
              <a:solidFill>
                <a:schemeClr val="bg2"/>
              </a:solidFill>
              <a:latin typeface="Source Sans Pro" panose="020B0503030403020204" pitchFamily="34" charset="0"/>
              <a:ea typeface="黑体" panose="02010609060101010101" pitchFamily="49" charset="-122"/>
            </a:endParaRPr>
          </a:p>
        </p:txBody>
      </p:sp>
      <p:sp>
        <p:nvSpPr>
          <p:cNvPr id="5" name="文本框 5"/>
          <p:cNvSpPr txBox="1"/>
          <p:nvPr/>
        </p:nvSpPr>
        <p:spPr>
          <a:xfrm>
            <a:off x="527626" y="1208214"/>
            <a:ext cx="8088747" cy="307777"/>
          </a:xfrm>
          <a:prstGeom prst="rect">
            <a:avLst/>
          </a:prstGeom>
          <a:solidFill>
            <a:srgbClr val="7030A0"/>
          </a:solidFill>
        </p:spPr>
        <p:txBody>
          <a:bodyPr wrap="square" rtlCol="0">
            <a:spAutoFit/>
          </a:bodyPr>
          <a:lstStyle/>
          <a:p>
            <a:r>
              <a:rPr lang="zh-CN" altLang="en-US" dirty="0">
                <a:solidFill>
                  <a:schemeClr val="bg1"/>
                </a:solidFill>
                <a:latin typeface="Source Sans Pro" panose="020B0503030403020204" pitchFamily="34" charset="0"/>
                <a:ea typeface="黑体" panose="02010609060101010101" pitchFamily="49" charset="-122"/>
              </a:rPr>
              <a:t>三者的平衡：用户、程序员、</a:t>
            </a:r>
            <a:r>
              <a:rPr lang="en-US" altLang="zh-CN" dirty="0">
                <a:solidFill>
                  <a:schemeClr val="bg1"/>
                </a:solidFill>
                <a:latin typeface="Source Sans Pro" panose="020B0503030403020204" pitchFamily="34" charset="0"/>
                <a:ea typeface="Source Sans Pro" panose="020B0503030403020204" pitchFamily="34" charset="0"/>
              </a:rPr>
              <a:t>Python</a:t>
            </a:r>
            <a:r>
              <a:rPr lang="zh-CN" altLang="en-US" dirty="0">
                <a:solidFill>
                  <a:schemeClr val="bg1"/>
                </a:solidFill>
                <a:latin typeface="Source Sans Pro" panose="020B0503030403020204" pitchFamily="34" charset="0"/>
                <a:ea typeface="黑体" panose="02010609060101010101" pitchFamily="49" charset="-122"/>
              </a:rPr>
              <a:t>解释器</a:t>
            </a:r>
            <a:endParaRPr lang="en-US" altLang="zh-CN" dirty="0">
              <a:solidFill>
                <a:schemeClr val="bg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Exception: solution</a:t>
            </a:r>
            <a:endParaRPr lang="en-US" altLang="zh-CN" dirty="0">
              <a:latin typeface="Raleway" pitchFamily="34" charset="0"/>
              <a:ea typeface="Source Sans Pro" panose="020B0503030403020204" pitchFamily="34" charset="0"/>
            </a:endParaRPr>
          </a:p>
        </p:txBody>
      </p:sp>
      <mc:AlternateContent xmlns:mc="http://schemas.openxmlformats.org/markup-compatibility/2006">
        <mc:Choice xmlns:a14="http://schemas.microsoft.com/office/drawing/2010/main" Requires="a14">
          <p:sp>
            <p:nvSpPr>
              <p:cNvPr id="3" name="文本占位符 2"/>
              <p:cNvSpPr>
                <a:spLocks noGrp="1"/>
              </p:cNvSpPr>
              <p:nvPr>
                <p:ph type="body" idx="1"/>
              </p:nvPr>
            </p:nvSpPr>
            <p:spPr>
              <a:xfrm>
                <a:off x="311700" y="1152475"/>
                <a:ext cx="8520600" cy="3416400"/>
              </a:xfrm>
            </p:spPr>
            <p:txBody>
              <a:bodyPr numCol="2">
                <a:noAutofit/>
              </a:bodyPr>
              <a:lstStyle/>
              <a:p>
                <a:pPr>
                  <a:lnSpc>
                    <a:spcPts val="1680"/>
                  </a:lnSpc>
                </a:pPr>
                <a:r>
                  <a:rPr lang="en-US" altLang="zh-CN" sz="1400" dirty="0">
                    <a:solidFill>
                      <a:schemeClr val="bg2"/>
                    </a:solidFill>
                    <a:latin typeface="Source Sans Pro" panose="020B0503030403020204" pitchFamily="34" charset="0"/>
                    <a:ea typeface="Source Sans Pro" panose="020B0503030403020204" pitchFamily="34" charset="0"/>
                  </a:rPr>
                  <a:t>Quadratic formula </a:t>
                </a:r>
                <a14:m>
                  <m:oMath xmlns:m="http://schemas.openxmlformats.org/officeDocument/2006/math">
                    <m:r>
                      <a:rPr lang="zh-CN" altLang="en-US" sz="1400" i="1" dirty="0" smtClean="0">
                        <a:solidFill>
                          <a:schemeClr val="bg2"/>
                        </a:solidFill>
                        <a:latin typeface="Cambria Math" panose="02040503050406030204" pitchFamily="18" charset="0"/>
                        <a:ea typeface="Source Sans Pro" panose="020B0503030403020204" pitchFamily="34" charset="0"/>
                      </a:rPr>
                      <m:t>𝑓</m:t>
                    </m:r>
                    <m:r>
                      <a:rPr lang="en-US" altLang="zh-CN" sz="1400" i="1" dirty="0">
                        <a:solidFill>
                          <a:schemeClr val="bg2"/>
                        </a:solidFill>
                        <a:latin typeface="Cambria Math" panose="02040503050406030204" pitchFamily="18" charset="0"/>
                        <a:ea typeface="Source Sans Pro" panose="020B0503030403020204" pitchFamily="34" charset="0"/>
                      </a:rPr>
                      <m:t>(</m:t>
                    </m:r>
                    <m:r>
                      <a:rPr lang="zh-CN" altLang="en-US" sz="1400" i="1" dirty="0">
                        <a:solidFill>
                          <a:schemeClr val="bg2"/>
                        </a:solidFill>
                        <a:latin typeface="Cambria Math" panose="02040503050406030204" pitchFamily="18" charset="0"/>
                        <a:ea typeface="Source Sans Pro" panose="020B0503030403020204" pitchFamily="34" charset="0"/>
                      </a:rPr>
                      <m:t>𝑥</m:t>
                    </m:r>
                    <m:r>
                      <a:rPr lang="en-US" altLang="zh-CN" sz="1400" i="1" dirty="0">
                        <a:solidFill>
                          <a:schemeClr val="bg2"/>
                        </a:solidFill>
                        <a:latin typeface="Cambria Math" panose="02040503050406030204" pitchFamily="18" charset="0"/>
                        <a:ea typeface="Source Sans Pro" panose="020B0503030403020204" pitchFamily="34" charset="0"/>
                      </a:rPr>
                      <m:t>)=</m:t>
                    </m:r>
                    <m:r>
                      <a:rPr lang="zh-CN" altLang="en-US" sz="1400" i="1" dirty="0">
                        <a:solidFill>
                          <a:schemeClr val="bg2"/>
                        </a:solidFill>
                        <a:latin typeface="Cambria Math" panose="02040503050406030204" pitchFamily="18" charset="0"/>
                        <a:ea typeface="Source Sans Pro" panose="020B0503030403020204" pitchFamily="34" charset="0"/>
                      </a:rPr>
                      <m:t>𝑎</m:t>
                    </m:r>
                    <m:sSup>
                      <m:sSupPr>
                        <m:ctrlPr>
                          <a:rPr lang="en-US" altLang="zh-CN" sz="1400" i="1" dirty="0">
                            <a:solidFill>
                              <a:schemeClr val="bg2"/>
                            </a:solidFill>
                            <a:latin typeface="Cambria Math" panose="02040503050406030204" pitchFamily="18" charset="0"/>
                            <a:ea typeface="Source Sans Pro" panose="020B0503030403020204" pitchFamily="34" charset="0"/>
                          </a:rPr>
                        </m:ctrlPr>
                      </m:sSupPr>
                      <m:e>
                        <m:r>
                          <a:rPr lang="zh-CN" altLang="en-US" sz="1400" i="1" dirty="0">
                            <a:solidFill>
                              <a:schemeClr val="bg2"/>
                            </a:solidFill>
                            <a:latin typeface="Cambria Math" panose="02040503050406030204" pitchFamily="18" charset="0"/>
                            <a:ea typeface="Source Sans Pro" panose="020B0503030403020204" pitchFamily="34" charset="0"/>
                          </a:rPr>
                          <m:t>𝑥</m:t>
                        </m:r>
                      </m:e>
                      <m:sup>
                        <m:r>
                          <a:rPr lang="en-US" altLang="zh-CN" sz="1400" i="1" dirty="0">
                            <a:solidFill>
                              <a:schemeClr val="bg2"/>
                            </a:solidFill>
                            <a:latin typeface="Cambria Math" panose="02040503050406030204" pitchFamily="18" charset="0"/>
                            <a:ea typeface="Source Sans Pro" panose="020B0503030403020204" pitchFamily="34" charset="0"/>
                          </a:rPr>
                          <m:t>2</m:t>
                        </m:r>
                      </m:sup>
                    </m:sSup>
                    <m:r>
                      <a:rPr lang="en-US" altLang="zh-CN" sz="1400" i="1" dirty="0">
                        <a:solidFill>
                          <a:schemeClr val="bg2"/>
                        </a:solidFill>
                        <a:latin typeface="Cambria Math" panose="02040503050406030204" pitchFamily="18" charset="0"/>
                        <a:ea typeface="Source Sans Pro" panose="020B0503030403020204" pitchFamily="34" charset="0"/>
                      </a:rPr>
                      <m:t>+</m:t>
                    </m:r>
                    <m:r>
                      <a:rPr lang="zh-CN" altLang="en-US" sz="1400" i="1" dirty="0">
                        <a:solidFill>
                          <a:schemeClr val="bg2"/>
                        </a:solidFill>
                        <a:latin typeface="Cambria Math" panose="02040503050406030204" pitchFamily="18" charset="0"/>
                        <a:ea typeface="Source Sans Pro" panose="020B0503030403020204" pitchFamily="34" charset="0"/>
                      </a:rPr>
                      <m:t>𝑏𝑥</m:t>
                    </m:r>
                    <m:r>
                      <a:rPr lang="en-US" altLang="zh-CN" sz="1400" i="1" dirty="0">
                        <a:solidFill>
                          <a:schemeClr val="bg2"/>
                        </a:solidFill>
                        <a:latin typeface="Cambria Math" panose="02040503050406030204" pitchFamily="18" charset="0"/>
                        <a:ea typeface="Source Sans Pro" panose="020B0503030403020204" pitchFamily="34" charset="0"/>
                      </a:rPr>
                      <m:t>+</m:t>
                    </m:r>
                    <m:r>
                      <a:rPr lang="zh-CN" altLang="en-US" sz="1400" i="1" dirty="0">
                        <a:solidFill>
                          <a:schemeClr val="bg2"/>
                        </a:solidFill>
                        <a:latin typeface="Cambria Math" panose="02040503050406030204" pitchFamily="18" charset="0"/>
                        <a:ea typeface="Source Sans Pro" panose="020B0503030403020204" pitchFamily="34" charset="0"/>
                      </a:rPr>
                      <m:t>𝑐</m:t>
                    </m:r>
                  </m:oMath>
                </a14:m>
                <a:r>
                  <a:rPr lang="en-US" altLang="zh-CN" sz="1400" dirty="0">
                    <a:solidFill>
                      <a:schemeClr val="bg2"/>
                    </a:solidFill>
                    <a:latin typeface="Source Sans Pro" panose="020B0503030403020204" pitchFamily="34" charset="0"/>
                    <a:ea typeface="Source Sans Pro" panose="020B0503030403020204" pitchFamily="34" charset="0"/>
                  </a:rPr>
                  <a:t>, (</a:t>
                </a:r>
                <a14:m>
                  <m:oMath xmlns:m="http://schemas.openxmlformats.org/officeDocument/2006/math">
                    <m:r>
                      <a:rPr lang="zh-CN" altLang="en-US" sz="1400" i="1" dirty="0" smtClean="0">
                        <a:solidFill>
                          <a:schemeClr val="bg2"/>
                        </a:solidFill>
                        <a:latin typeface="Cambria Math" panose="02040503050406030204" pitchFamily="18" charset="0"/>
                        <a:ea typeface="Source Sans Pro" panose="020B0503030403020204" pitchFamily="34" charset="0"/>
                      </a:rPr>
                      <m:t>𝑎</m:t>
                    </m:r>
                    <m:r>
                      <a:rPr lang="zh-CN" altLang="en-US" sz="1400" i="1" dirty="0" smtClean="0">
                        <a:solidFill>
                          <a:schemeClr val="bg2"/>
                        </a:solidFill>
                        <a:latin typeface="Cambria Math" panose="02040503050406030204" pitchFamily="18" charset="0"/>
                        <a:ea typeface="Source Sans Pro" panose="020B0503030403020204" pitchFamily="34" charset="0"/>
                      </a:rPr>
                      <m:t>≠</m:t>
                    </m:r>
                    <m:r>
                      <a:rPr lang="zh-CN" altLang="en-US" sz="1400" i="1" dirty="0" smtClean="0">
                        <a:solidFill>
                          <a:schemeClr val="bg2"/>
                        </a:solidFill>
                        <a:latin typeface="Cambria Math" panose="02040503050406030204" pitchFamily="18" charset="0"/>
                        <a:ea typeface="Source Sans Pro" panose="020B0503030403020204" pitchFamily="34" charset="0"/>
                      </a:rPr>
                      <m:t>0</m:t>
                    </m:r>
                  </m:oMath>
                </a14:m>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r>
                  <a:rPr lang="en-US" altLang="zh-CN" sz="1400" dirty="0">
                    <a:solidFill>
                      <a:schemeClr val="bg2"/>
                    </a:solidFill>
                    <a:latin typeface="Source Sans Pro" panose="020B0503030403020204" pitchFamily="34" charset="0"/>
                    <a:ea typeface="Source Sans Pro" panose="020B0503030403020204" pitchFamily="34" charset="0"/>
                  </a:rPr>
                  <a:t>We assume that </a:t>
                </a:r>
                <a14:m>
                  <m:oMath xmlns:m="http://schemas.openxmlformats.org/officeDocument/2006/math">
                    <m:r>
                      <a:rPr lang="zh-CN" altLang="en-US" sz="1400" i="1" dirty="0" smtClean="0">
                        <a:solidFill>
                          <a:schemeClr val="bg2"/>
                        </a:solidFill>
                        <a:latin typeface="Cambria Math" panose="02040503050406030204" pitchFamily="18" charset="0"/>
                        <a:ea typeface="Source Sans Pro" panose="020B0503030403020204" pitchFamily="34" charset="0"/>
                      </a:rPr>
                      <m:t>𝑎</m:t>
                    </m:r>
                    <m:r>
                      <a:rPr lang="zh-CN" altLang="en-US" sz="1400" i="1" dirty="0" smtClean="0">
                        <a:solidFill>
                          <a:schemeClr val="bg2"/>
                        </a:solidFill>
                        <a:latin typeface="Cambria Math" panose="02040503050406030204" pitchFamily="18" charset="0"/>
                        <a:ea typeface="Source Sans Pro" panose="020B0503030403020204" pitchFamily="34" charset="0"/>
                      </a:rPr>
                      <m:t>≠</m:t>
                    </m:r>
                    <m:r>
                      <a:rPr lang="zh-CN" altLang="en-US" sz="1400" i="1" dirty="0" smtClean="0">
                        <a:solidFill>
                          <a:schemeClr val="bg2"/>
                        </a:solidFill>
                        <a:latin typeface="Cambria Math" panose="02040503050406030204" pitchFamily="18" charset="0"/>
                        <a:ea typeface="Source Sans Pro" panose="020B0503030403020204" pitchFamily="34" charset="0"/>
                      </a:rPr>
                      <m:t>0</m:t>
                    </m:r>
                  </m:oMath>
                </a14:m>
                <a:r>
                  <a:rPr lang="en-US" altLang="zh-CN" sz="1400" dirty="0">
                    <a:solidFill>
                      <a:schemeClr val="bg2"/>
                    </a:solidFill>
                    <a:latin typeface="Source Sans Pro" panose="020B0503030403020204" pitchFamily="34" charset="0"/>
                    <a:ea typeface="Source Sans Pro" panose="020B0503030403020204" pitchFamily="34" charset="0"/>
                  </a:rPr>
                  <a:t>, but….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ts val="1680"/>
                  </a:lnSpc>
                  <a:buNone/>
                </a:pPr>
                <a:endParaRPr lang="en-US" altLang="zh-CN" sz="1400" dirty="0">
                  <a:solidFill>
                    <a:schemeClr val="bg2"/>
                  </a:solidFill>
                  <a:latin typeface="Source Sans Pro" panose="020B0503030403020204" pitchFamily="34" charset="0"/>
                  <a:ea typeface="Source Sans Pro" panose="020B0503030403020204" pitchFamily="34" charset="0"/>
                </a:endParaRPr>
              </a:p>
            </p:txBody>
          </p:sp>
        </mc:Choice>
        <mc:Fallback>
          <p:sp>
            <p:nvSpPr>
              <p:cNvPr id="3" name="文本占位符 2"/>
              <p:cNvSpPr>
                <a:spLocks noRot="1" noChangeAspect="1" noMove="1" noResize="1" noEditPoints="1" noAdjustHandles="1" noChangeArrowheads="1" noChangeShapeType="1" noTextEdit="1"/>
              </p:cNvSpPr>
              <p:nvPr>
                <p:ph type="body" idx="1"/>
              </p:nvPr>
            </p:nvSpPr>
            <p:spPr>
              <a:xfrm>
                <a:off x="311700" y="1152475"/>
                <a:ext cx="8520600" cy="3416400"/>
              </a:xfrm>
              <a:blipFill rotWithShape="1">
                <a:blip r:embed="rId1"/>
                <a:stretch>
                  <a:fillRect l="-6" t="-17" r="1" b="-2564"/>
                </a:stretch>
              </a:blipFill>
            </p:spPr>
            <p:txBody>
              <a:bodyPr/>
              <a:lstStyle/>
              <a:p>
                <a:r>
                  <a:rPr lang="zh-CN" altLang="en-US">
                    <a:noFill/>
                  </a:rPr>
                  <a:t> </a:t>
                </a:r>
              </a:p>
            </p:txBody>
          </p:sp>
        </mc:Fallback>
      </mc:AlternateContent>
      <p:pic>
        <p:nvPicPr>
          <p:cNvPr id="4"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663" y="2078276"/>
            <a:ext cx="4312337" cy="2189413"/>
          </a:xfrm>
          <a:prstGeom prst="rect">
            <a:avLst/>
          </a:prstGeom>
        </p:spPr>
      </p:pic>
      <p:sp>
        <p:nvSpPr>
          <p:cNvPr id="12" name="Rectangle 4"/>
          <p:cNvSpPr/>
          <p:nvPr/>
        </p:nvSpPr>
        <p:spPr>
          <a:xfrm>
            <a:off x="6855904" y="4652664"/>
            <a:ext cx="2141620" cy="329194"/>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b="1" dirty="0">
                <a:solidFill>
                  <a:schemeClr val="bg2"/>
                </a:solidFill>
                <a:latin typeface="Source Sans Pro" panose="020B0503030403020204" pitchFamily="34" charset="0"/>
                <a:ea typeface="黑体" panose="02010609060101010101" pitchFamily="49" charset="-122"/>
              </a:rPr>
              <a:t>干扰了正常的</a:t>
            </a:r>
            <a:r>
              <a:rPr lang="zh-CN" altLang="en-US" sz="1500" b="1" dirty="0">
                <a:solidFill>
                  <a:schemeClr val="tx1"/>
                </a:solidFill>
                <a:latin typeface="Source Sans Pro" panose="020B0503030403020204" pitchFamily="34" charset="0"/>
                <a:ea typeface="黑体" panose="02010609060101010101" pitchFamily="49" charset="-122"/>
              </a:rPr>
              <a:t>业务逻辑</a:t>
            </a:r>
            <a:endParaRPr lang="zh-CN" altLang="en-US" sz="1500" b="1" dirty="0">
              <a:solidFill>
                <a:schemeClr val="tx1"/>
              </a:solidFill>
              <a:latin typeface="Source Sans Pro" panose="020B0503030403020204" pitchFamily="34" charset="0"/>
              <a:ea typeface="黑体" panose="02010609060101010101" pitchFamily="49" charset="-122"/>
            </a:endParaRPr>
          </a:p>
        </p:txBody>
      </p:sp>
      <p:sp>
        <p:nvSpPr>
          <p:cNvPr id="5" name="文本框 4"/>
          <p:cNvSpPr txBox="1"/>
          <p:nvPr/>
        </p:nvSpPr>
        <p:spPr>
          <a:xfrm>
            <a:off x="4923790" y="337820"/>
            <a:ext cx="3909060" cy="306705"/>
          </a:xfrm>
          <a:prstGeom prst="rect">
            <a:avLst/>
          </a:prstGeom>
          <a:noFill/>
        </p:spPr>
        <p:txBody>
          <a:bodyPr wrap="square" rtlCol="0">
            <a:spAutoFit/>
          </a:bodyPr>
          <a:p>
            <a:endParaRPr lang="zh-CN" altLang="en-US"/>
          </a:p>
        </p:txBody>
      </p:sp>
      <p:sp>
        <p:nvSpPr>
          <p:cNvPr id="6" name="文本框 5"/>
          <p:cNvSpPr txBox="1"/>
          <p:nvPr/>
        </p:nvSpPr>
        <p:spPr>
          <a:xfrm>
            <a:off x="5280660" y="452120"/>
            <a:ext cx="3439795" cy="3538220"/>
          </a:xfrm>
          <a:prstGeom prst="rect">
            <a:avLst/>
          </a:prstGeom>
          <a:noFill/>
        </p:spPr>
        <p:txBody>
          <a:bodyPr wrap="square" rtlCol="0">
            <a:spAutoFit/>
          </a:bodyPr>
          <a:p>
            <a:pPr marL="114300" indent="0">
              <a:lnSpc>
                <a:spcPts val="1680"/>
              </a:lnSpc>
              <a:buNone/>
            </a:pPr>
            <a:r>
              <a:rPr lang="en-US" altLang="zh-CN" dirty="0">
                <a:solidFill>
                  <a:schemeClr val="tx1"/>
                </a:solidFill>
                <a:latin typeface="Source Sans Pro" panose="020B0503030403020204" pitchFamily="34" charset="0"/>
                <a:ea typeface="Source Sans Pro" panose="020B0503030403020204" pitchFamily="34" charset="0"/>
                <a:sym typeface="+mn-ea"/>
              </a:rPr>
              <a:t>Another</a:t>
            </a:r>
            <a:r>
              <a:rPr lang="zh-CN" altLang="en-US" dirty="0">
                <a:solidFill>
                  <a:schemeClr val="tx1"/>
                </a:solidFill>
                <a:latin typeface="Source Sans Pro" panose="020B0503030403020204" pitchFamily="34" charset="0"/>
                <a:ea typeface="Source Sans Pro" panose="020B0503030403020204" pitchFamily="34" charset="0"/>
                <a:sym typeface="+mn-ea"/>
              </a:rPr>
              <a:t> </a:t>
            </a:r>
            <a:r>
              <a:rPr lang="en-US" altLang="zh-CN" dirty="0">
                <a:solidFill>
                  <a:schemeClr val="tx1"/>
                </a:solidFill>
                <a:latin typeface="Source Sans Pro" panose="020B0503030403020204" pitchFamily="34" charset="0"/>
                <a:ea typeface="Source Sans Pro" panose="020B0503030403020204" pitchFamily="34" charset="0"/>
                <a:sym typeface="+mn-ea"/>
              </a:rPr>
              <a:t>example</a:t>
            </a:r>
            <a:endParaRPr lang="en-US" altLang="zh-CN" dirty="0">
              <a:solidFill>
                <a:schemeClr val="tx1"/>
              </a:solidFill>
              <a:latin typeface="Source Sans Pro" panose="020B0503030403020204" pitchFamily="34" charset="0"/>
              <a:ea typeface="Source Sans Pro" panose="020B0503030403020204" pitchFamily="34" charset="0"/>
            </a:endParaRPr>
          </a:p>
          <a:p>
            <a:pPr>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Windows C++ programming</a:t>
            </a:r>
            <a:endParaRPr lang="en-US" altLang="zh-CN" dirty="0">
              <a:solidFill>
                <a:schemeClr val="bg2"/>
              </a:solidFill>
              <a:latin typeface="Source Sans Pro" panose="020B0503030403020204" pitchFamily="34" charset="0"/>
              <a:ea typeface="Source Sans Pro" panose="020B0503030403020204" pitchFamily="34" charset="0"/>
            </a:endParaRPr>
          </a:p>
          <a:p>
            <a:pPr>
              <a:lnSpc>
                <a:spcPts val="1680"/>
              </a:lnSpc>
            </a:pPr>
            <a:r>
              <a:rPr lang="en-US" altLang="zh-CN" dirty="0" err="1">
                <a:solidFill>
                  <a:schemeClr val="bg2"/>
                </a:solidFill>
                <a:latin typeface="Source Sans Pro" panose="020B0503030403020204" pitchFamily="34" charset="0"/>
                <a:ea typeface="Source Sans Pro" panose="020B0503030403020204" pitchFamily="34" charset="0"/>
                <a:sym typeface="+mn-ea"/>
              </a:rPr>
              <a:t>ReadFromFile</a:t>
            </a:r>
            <a:r>
              <a:rPr lang="en-US" altLang="zh-CN" dirty="0">
                <a:solidFill>
                  <a:schemeClr val="bg2"/>
                </a:solidFill>
                <a:latin typeface="Source Sans Pro" panose="020B0503030403020204" pitchFamily="34" charset="0"/>
                <a:ea typeface="Source Sans Pro" panose="020B0503030403020204" pitchFamily="34" charset="0"/>
                <a:sym typeface="+mn-ea"/>
              </a:rPr>
              <a:t>(</a:t>
            </a:r>
            <a:r>
              <a:rPr lang="en-US" altLang="zh-CN" dirty="0" err="1">
                <a:solidFill>
                  <a:schemeClr val="bg2"/>
                </a:solidFill>
                <a:latin typeface="Source Sans Pro" panose="020B0503030403020204" pitchFamily="34" charset="0"/>
                <a:ea typeface="Source Sans Pro" panose="020B0503030403020204" pitchFamily="34" charset="0"/>
                <a:sym typeface="+mn-ea"/>
              </a:rPr>
              <a:t>file_name</a:t>
            </a:r>
            <a:r>
              <a:rPr lang="en-US" altLang="zh-CN" dirty="0">
                <a:solidFill>
                  <a:schemeClr val="bg2"/>
                </a:solidFill>
                <a:latin typeface="Source Sans Pro" panose="020B0503030403020204" pitchFamily="34" charset="0"/>
                <a:ea typeface="Source Sans Pro" panose="020B0503030403020204" pitchFamily="34" charset="0"/>
                <a:sym typeface="+mn-ea"/>
              </a:rPr>
              <a:t>):</a:t>
            </a:r>
            <a:endParaRPr lang="en-US" altLang="zh-CN" dirty="0">
              <a:solidFill>
                <a:schemeClr val="bg2"/>
              </a:solidFill>
              <a:latin typeface="Source Sans Pro" panose="020B0503030403020204" pitchFamily="34" charset="0"/>
              <a:ea typeface="Source Sans Pro" panose="020B0503030403020204" pitchFamily="34" charset="0"/>
            </a:endParaRPr>
          </a:p>
          <a:p>
            <a:pPr marL="114300" indent="0">
              <a:lnSpc>
                <a:spcPts val="1680"/>
              </a:lnSpc>
              <a:buNone/>
            </a:pPr>
            <a:endParaRPr lang="en-US" altLang="zh-CN" dirty="0">
              <a:solidFill>
                <a:schemeClr val="bg2"/>
              </a:solidFill>
              <a:latin typeface="Source Sans Pro" panose="020B0503030403020204" pitchFamily="34" charset="0"/>
              <a:ea typeface="Source Sans Pro" panose="020B0503030403020204" pitchFamily="34" charset="0"/>
            </a:endParaRPr>
          </a:p>
          <a:p>
            <a:pPr>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In our mind,</a:t>
            </a:r>
            <a:endParaRPr lang="en-US" altLang="zh-CN" dirty="0">
              <a:solidFill>
                <a:schemeClr val="bg2"/>
              </a:solidFill>
              <a:latin typeface="Source Sans Pro" panose="020B0503030403020204" pitchFamily="34" charset="0"/>
              <a:ea typeface="Source Sans Pro" panose="020B0503030403020204" pitchFamily="34" charset="0"/>
            </a:endParaRPr>
          </a:p>
          <a:p>
            <a:pPr>
              <a:lnSpc>
                <a:spcPts val="1680"/>
              </a:lnSpc>
            </a:pPr>
            <a:r>
              <a:rPr lang="en-US" altLang="zh-CN" dirty="0">
                <a:solidFill>
                  <a:schemeClr val="tx1"/>
                </a:solidFill>
                <a:latin typeface="Source Sans Pro" panose="020B0503030403020204" pitchFamily="34" charset="0"/>
                <a:ea typeface="Source Sans Pro" panose="020B0503030403020204" pitchFamily="34" charset="0"/>
                <a:sym typeface="+mn-ea"/>
              </a:rPr>
              <a:t>filename = "C:\\Helloworld\\1.txt"</a:t>
            </a:r>
            <a:endParaRPr lang="en-US" altLang="zh-CN" dirty="0">
              <a:solidFill>
                <a:schemeClr val="tx1"/>
              </a:solidFill>
              <a:latin typeface="Source Sans Pro" panose="020B0503030403020204" pitchFamily="34" charset="0"/>
              <a:ea typeface="Source Sans Pro" panose="020B0503030403020204" pitchFamily="34" charset="0"/>
            </a:endParaRPr>
          </a:p>
          <a:p>
            <a:pPr>
              <a:lnSpc>
                <a:spcPts val="1680"/>
              </a:lnSpc>
            </a:pPr>
            <a:r>
              <a:rPr lang="en-US" altLang="zh-CN" dirty="0">
                <a:solidFill>
                  <a:schemeClr val="tx1"/>
                </a:solidFill>
                <a:latin typeface="Source Sans Pro" panose="020B0503030403020204" pitchFamily="34" charset="0"/>
                <a:ea typeface="Source Sans Pro" panose="020B0503030403020204" pitchFamily="34" charset="0"/>
                <a:sym typeface="+mn-ea"/>
              </a:rPr>
              <a:t>ret = </a:t>
            </a:r>
            <a:r>
              <a:rPr lang="en-US" altLang="zh-CN" dirty="0" err="1">
                <a:solidFill>
                  <a:schemeClr val="tx1"/>
                </a:solidFill>
                <a:latin typeface="Source Sans Pro" panose="020B0503030403020204" pitchFamily="34" charset="0"/>
                <a:ea typeface="Source Sans Pro" panose="020B0503030403020204" pitchFamily="34" charset="0"/>
                <a:sym typeface="+mn-ea"/>
              </a:rPr>
              <a:t>ReadFromFile</a:t>
            </a:r>
            <a:r>
              <a:rPr lang="en-US" altLang="zh-CN" dirty="0">
                <a:solidFill>
                  <a:schemeClr val="tx1"/>
                </a:solidFill>
                <a:latin typeface="Source Sans Pro" panose="020B0503030403020204" pitchFamily="34" charset="0"/>
                <a:ea typeface="Source Sans Pro" panose="020B0503030403020204" pitchFamily="34" charset="0"/>
                <a:sym typeface="+mn-ea"/>
              </a:rPr>
              <a:t>("C:\\Helloworld\\1.txt")</a:t>
            </a:r>
            <a:endParaRPr lang="en-US" altLang="zh-CN" dirty="0">
              <a:solidFill>
                <a:schemeClr val="tx1"/>
              </a:solidFill>
              <a:latin typeface="Source Sans Pro" panose="020B0503030403020204" pitchFamily="34" charset="0"/>
              <a:ea typeface="Source Sans Pro" panose="020B0503030403020204" pitchFamily="34" charset="0"/>
            </a:endParaRPr>
          </a:p>
          <a:p>
            <a:pPr marL="114300" indent="0">
              <a:lnSpc>
                <a:spcPts val="1680"/>
              </a:lnSpc>
              <a:buNone/>
            </a:pPr>
            <a:endParaRPr lang="en-US" altLang="zh-CN" dirty="0">
              <a:solidFill>
                <a:schemeClr val="bg2"/>
              </a:solidFill>
              <a:latin typeface="Source Sans Pro" panose="020B0503030403020204" pitchFamily="34" charset="0"/>
              <a:ea typeface="Source Sans Pro" panose="020B0503030403020204" pitchFamily="34" charset="0"/>
            </a:endParaRPr>
          </a:p>
          <a:p>
            <a:pPr>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In practice, we need to</a:t>
            </a:r>
            <a:endParaRPr lang="en-US" altLang="zh-CN" dirty="0">
              <a:solidFill>
                <a:schemeClr val="bg2"/>
              </a:solidFill>
              <a:latin typeface="Source Sans Pro" panose="020B0503030403020204" pitchFamily="34" charset="0"/>
              <a:ea typeface="Source Sans Pro" panose="020B0503030403020204" pitchFamily="34" charset="0"/>
            </a:endParaRPr>
          </a:p>
          <a:p>
            <a:pPr lvl="1">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Check whether the file exist</a:t>
            </a:r>
            <a:endParaRPr lang="en-US" altLang="zh-CN" dirty="0">
              <a:solidFill>
                <a:schemeClr val="bg2"/>
              </a:solidFill>
              <a:latin typeface="Source Sans Pro" panose="020B0503030403020204" pitchFamily="34" charset="0"/>
              <a:ea typeface="Source Sans Pro" panose="020B0503030403020204" pitchFamily="34" charset="0"/>
            </a:endParaRPr>
          </a:p>
          <a:p>
            <a:pPr lvl="1">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Check whether the file can be opened</a:t>
            </a:r>
            <a:endParaRPr lang="en-US" altLang="zh-CN" dirty="0">
              <a:solidFill>
                <a:schemeClr val="bg2"/>
              </a:solidFill>
              <a:latin typeface="Source Sans Pro" panose="020B0503030403020204" pitchFamily="34" charset="0"/>
              <a:ea typeface="Source Sans Pro" panose="020B0503030403020204" pitchFamily="34" charset="0"/>
            </a:endParaRPr>
          </a:p>
          <a:p>
            <a:pPr lvl="1">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Check whether the return value ret is valid</a:t>
            </a:r>
            <a:endParaRPr lang="en-US" altLang="zh-CN" dirty="0">
              <a:solidFill>
                <a:schemeClr val="bg2"/>
              </a:solidFill>
              <a:latin typeface="Source Sans Pro" panose="020B0503030403020204" pitchFamily="34" charset="0"/>
              <a:ea typeface="Source Sans Pro" panose="020B0503030403020204" pitchFamily="34" charset="0"/>
            </a:endParaRPr>
          </a:p>
          <a:p>
            <a:pPr>
              <a:lnSpc>
                <a:spcPts val="1680"/>
              </a:lnSpc>
            </a:pPr>
            <a:endParaRPr lang="en-US" altLang="zh-CN" dirty="0">
              <a:solidFill>
                <a:schemeClr val="bg2"/>
              </a:solidFill>
              <a:latin typeface="Source Sans Pro" panose="020B0503030403020204" pitchFamily="34" charset="0"/>
              <a:ea typeface="Source Sans Pro" panose="020B0503030403020204" pitchFamily="34" charset="0"/>
            </a:endParaRPr>
          </a:p>
          <a:p>
            <a:pPr>
              <a:lnSpc>
                <a:spcPts val="1680"/>
              </a:lnSpc>
            </a:pPr>
            <a:r>
              <a:rPr lang="en-US" altLang="zh-CN" dirty="0">
                <a:solidFill>
                  <a:schemeClr val="bg2"/>
                </a:solidFill>
                <a:latin typeface="Source Sans Pro" panose="020B0503030403020204" pitchFamily="34" charset="0"/>
                <a:ea typeface="Source Sans Pro" panose="020B0503030403020204" pitchFamily="34" charset="0"/>
                <a:sym typeface="+mn-ea"/>
              </a:rPr>
              <a:t>It is too distracting. I only want to read from a file!</a:t>
            </a:r>
            <a:endParaRPr lang="en-US" altLang="zh-CN" dirty="0">
              <a:solidFill>
                <a:schemeClr val="bg2"/>
              </a:solidFill>
              <a:latin typeface="Source Sans Pro" panose="020B0503030403020204" pitchFamily="34" charset="0"/>
              <a:ea typeface="Source Sans Pro" panose="020B0503030403020204" pitchFamily="34" charset="0"/>
            </a:endParaRPr>
          </a:p>
          <a:p>
            <a:endParaRPr lang="zh-CN"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Exception</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493909" y="1655779"/>
            <a:ext cx="7802436" cy="2913095"/>
          </a:xfrm>
        </p:spPr>
        <p:txBody>
          <a:bodyPr>
            <a:noAutofit/>
          </a:bodyPr>
          <a:lstStyle/>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Even if a statement or expression is syntactically correct, it may cause an error when an attempt is made to execute it.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Most exceptions are not handled by programs, however, and result in error messages as shown here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The last line of the error message indicates what happened. Exceptions come in different types, and the type is printed as part of the message: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ea typeface="Source Sans Pro" panose="020B0503030403020204" pitchFamily="34" charset="0"/>
              </a:rPr>
              <a:t>the types in the example are</a:t>
            </a:r>
            <a:r>
              <a:rPr lang="en-US" altLang="zh-CN" sz="1200" b="1" dirty="0">
                <a:solidFill>
                  <a:schemeClr val="tx1"/>
                </a:solidFill>
                <a:latin typeface="Source Sans Pro" panose="020B0503030403020204" pitchFamily="34" charset="0"/>
                <a:ea typeface="Source Sans Pro" panose="020B0503030403020204" pitchFamily="34" charset="0"/>
              </a:rPr>
              <a:t> </a:t>
            </a:r>
            <a:r>
              <a:rPr lang="en-US" altLang="zh-CN" sz="1200" dirty="0" err="1">
                <a:solidFill>
                  <a:schemeClr val="tx1"/>
                </a:solidFill>
                <a:latin typeface="Source Sans Pro" panose="020B0503030403020204" pitchFamily="34" charset="0"/>
                <a:ea typeface="Source Sans Pro" panose="020B0503030403020204" pitchFamily="34" charset="0"/>
              </a:rPr>
              <a:t>ZeroDivisionError</a:t>
            </a:r>
            <a:r>
              <a:rPr lang="en-US" altLang="zh-CN" sz="1200" dirty="0">
                <a:solidFill>
                  <a:schemeClr val="tx1"/>
                </a:solidFill>
                <a:latin typeface="Source Sans Pro" panose="020B0503030403020204" pitchFamily="34" charset="0"/>
                <a:ea typeface="Source Sans Pro" panose="020B0503030403020204" pitchFamily="34" charset="0"/>
              </a:rPr>
              <a:t>, </a:t>
            </a:r>
            <a:r>
              <a:rPr lang="en-US" altLang="zh-CN" sz="1200" dirty="0" err="1">
                <a:solidFill>
                  <a:schemeClr val="tx1"/>
                </a:solidFill>
                <a:latin typeface="Source Sans Pro" panose="020B0503030403020204" pitchFamily="34" charset="0"/>
                <a:ea typeface="Source Sans Pro" panose="020B0503030403020204" pitchFamily="34" charset="0"/>
              </a:rPr>
              <a:t>NameError</a:t>
            </a:r>
            <a:r>
              <a:rPr lang="en-US" altLang="zh-CN" sz="1200" dirty="0">
                <a:solidFill>
                  <a:schemeClr val="bg2"/>
                </a:solidFill>
                <a:latin typeface="Source Sans Pro" panose="020B0503030403020204" pitchFamily="34" charset="0"/>
                <a:ea typeface="Source Sans Pro" panose="020B0503030403020204" pitchFamily="34" charset="0"/>
              </a:rPr>
              <a:t> and </a:t>
            </a:r>
            <a:r>
              <a:rPr lang="en-US" altLang="zh-CN" sz="1200" dirty="0" err="1">
                <a:solidFill>
                  <a:schemeClr val="tx1"/>
                </a:solidFill>
                <a:latin typeface="Source Sans Pro" panose="020B0503030403020204" pitchFamily="34" charset="0"/>
                <a:ea typeface="Source Sans Pro" panose="020B0503030403020204" pitchFamily="34" charset="0"/>
              </a:rPr>
              <a:t>TypeError</a:t>
            </a:r>
            <a:endParaRPr lang="en-US" altLang="zh-CN" sz="12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Built-in exceptions: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tx1"/>
                </a:solidFill>
                <a:latin typeface="Source Sans Pro" panose="020B0503030403020204" pitchFamily="34" charset="0"/>
                <a:ea typeface="Source Sans Pro" panose="020B0503030403020204" pitchFamily="34" charset="0"/>
              </a:rPr>
              <a:t>https://docs.python.org/3/library/exceptions.html#bltin-exceptions</a:t>
            </a:r>
            <a:endParaRPr lang="en-US" altLang="zh-CN" sz="1200" dirty="0">
              <a:solidFill>
                <a:schemeClr val="tx1"/>
              </a:solidFill>
              <a:latin typeface="Source Sans Pro" panose="020B0503030403020204" pitchFamily="34" charset="0"/>
              <a:ea typeface="Source Sans Pro" panose="020B0503030403020204" pitchFamily="34" charset="0"/>
            </a:endParaRPr>
          </a:p>
        </p:txBody>
      </p:sp>
      <p:sp>
        <p:nvSpPr>
          <p:cNvPr id="4" name="文本框 5"/>
          <p:cNvSpPr txBox="1"/>
          <p:nvPr/>
        </p:nvSpPr>
        <p:spPr>
          <a:xfrm>
            <a:off x="527626" y="1208214"/>
            <a:ext cx="8088747" cy="307777"/>
          </a:xfrm>
          <a:prstGeom prst="rect">
            <a:avLst/>
          </a:prstGeom>
          <a:solidFill>
            <a:srgbClr val="7030A0"/>
          </a:solidFill>
        </p:spPr>
        <p:txBody>
          <a:bodyPr wrap="square" rtlCol="0">
            <a:spAutoFit/>
          </a:bodyPr>
          <a:lstStyle/>
          <a:p>
            <a:r>
              <a:rPr lang="en-US" altLang="zh-CN" dirty="0">
                <a:solidFill>
                  <a:schemeClr val="bg1"/>
                </a:solidFill>
              </a:rPr>
              <a:t>Errors detected during execution are called exceptions and are not unconditionally fatal</a:t>
            </a:r>
            <a:endParaRPr lang="en-US" altLang="zh-CN" dirty="0">
              <a:solidFill>
                <a:schemeClr val="bg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Handling Exception: Try except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594026" y="1152475"/>
            <a:ext cx="7822459" cy="3416400"/>
          </a:xfrm>
        </p:spPr>
        <p:txBody>
          <a:bodyPr>
            <a:noAutofit/>
          </a:bodyPr>
          <a:lstStyle/>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Two keywords </a:t>
            </a:r>
            <a:r>
              <a:rPr lang="en-US" altLang="zh-CN" sz="1400" b="1" dirty="0">
                <a:solidFill>
                  <a:schemeClr val="tx1"/>
                </a:solidFill>
                <a:latin typeface="Source Sans Pro" panose="020B0503030403020204" pitchFamily="34" charset="0"/>
                <a:ea typeface="Source Sans Pro" panose="020B0503030403020204" pitchFamily="34" charset="0"/>
              </a:rPr>
              <a:t>try</a:t>
            </a:r>
            <a:r>
              <a:rPr lang="en-US" altLang="zh-CN" sz="1400" dirty="0">
                <a:solidFill>
                  <a:schemeClr val="bg2"/>
                </a:solidFill>
                <a:latin typeface="Source Sans Pro" panose="020B0503030403020204" pitchFamily="34" charset="0"/>
                <a:ea typeface="Source Sans Pro" panose="020B0503030403020204" pitchFamily="34" charset="0"/>
              </a:rPr>
              <a:t> and </a:t>
            </a:r>
            <a:r>
              <a:rPr lang="en-US" altLang="zh-CN" sz="1400" b="1" dirty="0">
                <a:solidFill>
                  <a:schemeClr val="tx1"/>
                </a:solidFill>
                <a:latin typeface="Source Sans Pro" panose="020B0503030403020204" pitchFamily="34" charset="0"/>
                <a:ea typeface="Source Sans Pro" panose="020B0503030403020204" pitchFamily="34" charset="0"/>
              </a:rPr>
              <a:t>except</a:t>
            </a:r>
            <a:endParaRPr lang="en-US" altLang="zh-CN" sz="1400" b="1" dirty="0">
              <a:solidFill>
                <a:schemeClr val="tx1"/>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ea typeface="Source Sans Pro" panose="020B0503030403020204" pitchFamily="34" charset="0"/>
              </a:rPr>
              <a:t>First, the</a:t>
            </a:r>
            <a:r>
              <a:rPr lang="en-US" altLang="zh-CN" sz="1200" dirty="0">
                <a:solidFill>
                  <a:schemeClr val="tx1"/>
                </a:solidFill>
                <a:latin typeface="Source Sans Pro" panose="020B0503030403020204" pitchFamily="34" charset="0"/>
                <a:ea typeface="Source Sans Pro" panose="020B0503030403020204" pitchFamily="34" charset="0"/>
              </a:rPr>
              <a:t> try clause</a:t>
            </a:r>
            <a:r>
              <a:rPr lang="en-US" altLang="zh-CN" sz="1200" dirty="0">
                <a:solidFill>
                  <a:schemeClr val="bg2"/>
                </a:solidFill>
                <a:latin typeface="Source Sans Pro" panose="020B0503030403020204" pitchFamily="34" charset="0"/>
                <a:ea typeface="Source Sans Pro" panose="020B0503030403020204" pitchFamily="34" charset="0"/>
              </a:rPr>
              <a:t> (the statement(s) between the try and except keywords) is executed. If no exception occurs, the except clause is skipped and execution of the try statement is finished      </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tx1"/>
                </a:solidFill>
                <a:latin typeface="Source Sans Pro" panose="020B0503030403020204" pitchFamily="34" charset="0"/>
                <a:ea typeface="Source Sans Pro" panose="020B0503030403020204" pitchFamily="34" charset="0"/>
              </a:rPr>
              <a:t>If an exception occurs </a:t>
            </a:r>
            <a:r>
              <a:rPr lang="en-US" altLang="zh-CN" sz="1200" dirty="0">
                <a:solidFill>
                  <a:schemeClr val="bg2"/>
                </a:solidFill>
                <a:latin typeface="Source Sans Pro" panose="020B0503030403020204" pitchFamily="34" charset="0"/>
                <a:ea typeface="Source Sans Pro" panose="020B0503030403020204" pitchFamily="34" charset="0"/>
              </a:rPr>
              <a:t>during execution of the try clause, the rest of the clause is skipped. Then if its type matches the exception named after the except keyword, the except clause is executed, and then execution continues after the try statement</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tx1"/>
                </a:solidFill>
                <a:latin typeface="Source Sans Pro" panose="020B0503030403020204" pitchFamily="34" charset="0"/>
                <a:ea typeface="Source Sans Pro" panose="020B0503030403020204" pitchFamily="34" charset="0"/>
              </a:rPr>
              <a:t>If an exception occurs which does not match </a:t>
            </a:r>
            <a:r>
              <a:rPr lang="en-US" altLang="zh-CN" sz="1200" dirty="0">
                <a:solidFill>
                  <a:schemeClr val="bg2"/>
                </a:solidFill>
                <a:latin typeface="Source Sans Pro" panose="020B0503030403020204" pitchFamily="34" charset="0"/>
                <a:ea typeface="Source Sans Pro" panose="020B0503030403020204" pitchFamily="34" charset="0"/>
              </a:rPr>
              <a:t>the exception named in the except clause, it is passed on to outer try statements; if no handler is found, it is an unhandled exception and execution stops with a message as shown above</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pic>
        <p:nvPicPr>
          <p:cNvPr id="4"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159202" y="3252289"/>
            <a:ext cx="4692106" cy="1012881"/>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Exercise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99928"/>
            <a:ext cx="6348982" cy="2928246"/>
          </a:xfrm>
        </p:spPr>
        <p:txBody>
          <a:bodyPr>
            <a:noAutofit/>
          </a:bodyPr>
          <a:lstStyle/>
          <a:p>
            <a:r>
              <a:rPr lang="en-US" altLang="zh-CN" sz="1400" i="0" dirty="0">
                <a:solidFill>
                  <a:srgbClr val="000000"/>
                </a:solidFill>
                <a:effectLst/>
              </a:rPr>
              <a:t>Find potential sources of runtime errors in this code snippet:</a:t>
            </a:r>
            <a:endParaRPr lang="en-US" altLang="zh-CN" sz="1400" i="0" dirty="0">
              <a:solidFill>
                <a:srgbClr val="000000"/>
              </a:solidFill>
              <a:effectLst/>
            </a:endParaRPr>
          </a:p>
          <a:p>
            <a:pPr lvl="1"/>
            <a:r>
              <a:rPr lang="en-US" altLang="zh-CN" sz="1200" i="0" dirty="0">
                <a:solidFill>
                  <a:srgbClr val="000000"/>
                </a:solidFill>
                <a:effectLst/>
              </a:rPr>
              <a:t>dividend = float(input("Please enter the dividend: "))</a:t>
            </a:r>
            <a:endParaRPr lang="en-US" altLang="zh-CN" sz="1200" i="0" dirty="0">
              <a:solidFill>
                <a:srgbClr val="000000"/>
              </a:solidFill>
              <a:effectLst/>
            </a:endParaRPr>
          </a:p>
          <a:p>
            <a:pPr lvl="1"/>
            <a:r>
              <a:rPr lang="en-US" altLang="zh-CN" sz="1200" i="0" dirty="0">
                <a:solidFill>
                  <a:srgbClr val="000000"/>
                </a:solidFill>
                <a:effectLst/>
              </a:rPr>
              <a:t>divisor = float(input("Please enter the divisor: "))</a:t>
            </a:r>
            <a:endParaRPr lang="en-US" altLang="zh-CN" sz="1200" i="0" dirty="0">
              <a:solidFill>
                <a:srgbClr val="000000"/>
              </a:solidFill>
              <a:effectLst/>
            </a:endParaRPr>
          </a:p>
          <a:p>
            <a:pPr lvl="1"/>
            <a:r>
              <a:rPr lang="en-US" altLang="zh-CN" sz="1200" i="0" dirty="0">
                <a:solidFill>
                  <a:srgbClr val="000000"/>
                </a:solidFill>
                <a:effectLst/>
              </a:rPr>
              <a:t>quotient = dividend / divisor</a:t>
            </a:r>
            <a:endParaRPr lang="en-US" altLang="zh-CN" sz="1200" i="0" dirty="0">
              <a:solidFill>
                <a:srgbClr val="000000"/>
              </a:solidFill>
              <a:effectLst/>
            </a:endParaRPr>
          </a:p>
          <a:p>
            <a:pPr lvl="1"/>
            <a:r>
              <a:rPr lang="en-US" altLang="zh-CN" sz="1200" i="0" dirty="0" err="1">
                <a:solidFill>
                  <a:srgbClr val="000000"/>
                </a:solidFill>
                <a:effectLst/>
              </a:rPr>
              <a:t>quotient_rounded</a:t>
            </a:r>
            <a:r>
              <a:rPr lang="en-US" altLang="zh-CN" sz="1200" i="0" dirty="0">
                <a:solidFill>
                  <a:srgbClr val="000000"/>
                </a:solidFill>
                <a:effectLst/>
              </a:rPr>
              <a:t> = </a:t>
            </a:r>
            <a:r>
              <a:rPr lang="en-US" altLang="zh-CN" sz="1200" i="0" dirty="0" err="1">
                <a:solidFill>
                  <a:srgbClr val="000000"/>
                </a:solidFill>
                <a:effectLst/>
              </a:rPr>
              <a:t>math.round</a:t>
            </a:r>
            <a:r>
              <a:rPr lang="en-US" altLang="zh-CN" sz="1200" i="0" dirty="0">
                <a:solidFill>
                  <a:srgbClr val="000000"/>
                </a:solidFill>
                <a:effectLst/>
              </a:rPr>
              <a:t>(quotient)</a:t>
            </a:r>
            <a:endParaRPr lang="en-US" altLang="zh-CN" sz="1200" i="0" dirty="0">
              <a:solidFill>
                <a:srgbClr val="000000"/>
              </a:solidFill>
              <a:effectLst/>
            </a:endParaRPr>
          </a:p>
          <a:p>
            <a:r>
              <a:rPr lang="en-US" altLang="zh-CN" sz="1400" i="0" dirty="0">
                <a:solidFill>
                  <a:srgbClr val="000000"/>
                </a:solidFill>
                <a:effectLst/>
              </a:rPr>
              <a:t>for x in range(a, b):</a:t>
            </a:r>
            <a:endParaRPr lang="en-US" altLang="zh-CN" sz="1400" i="0" dirty="0">
              <a:solidFill>
                <a:srgbClr val="000000"/>
              </a:solidFill>
              <a:effectLst/>
            </a:endParaRPr>
          </a:p>
          <a:p>
            <a:pPr marL="114300" indent="0" algn="ctr">
              <a:buNone/>
            </a:pPr>
            <a:r>
              <a:rPr lang="en-US" altLang="zh-CN" sz="1400" i="0" dirty="0">
                <a:solidFill>
                  <a:srgbClr val="000000"/>
                </a:solidFill>
                <a:effectLst/>
              </a:rPr>
              <a:t>print("({},{}, {})“.format( </a:t>
            </a:r>
            <a:r>
              <a:rPr lang="en-US" altLang="zh-CN" sz="1400" i="0" dirty="0" err="1">
                <a:solidFill>
                  <a:srgbClr val="000000"/>
                </a:solidFill>
                <a:effectLst/>
              </a:rPr>
              <a:t>my_list</a:t>
            </a:r>
            <a:r>
              <a:rPr lang="en-US" altLang="zh-CN" sz="1400" i="0" dirty="0">
                <a:solidFill>
                  <a:srgbClr val="000000"/>
                </a:solidFill>
                <a:effectLst/>
              </a:rPr>
              <a:t>[x]))</a:t>
            </a:r>
            <a:endParaRPr lang="en-US" altLang="zh-CN" sz="1400" i="0" dirty="0">
              <a:solidFill>
                <a:srgbClr val="000000"/>
              </a:solidFill>
              <a:effectLst/>
            </a:endParaRPr>
          </a:p>
          <a:p>
            <a:r>
              <a:rPr lang="en-US" altLang="zh-CN" sz="1400" i="0" dirty="0">
                <a:solidFill>
                  <a:srgbClr val="000000"/>
                </a:solidFill>
                <a:effectLst/>
              </a:rPr>
              <a:t>Add a try-except statement to the body of this function which handles a possible </a:t>
            </a:r>
            <a:r>
              <a:rPr lang="en-US" altLang="zh-CN" sz="1400" b="1" i="0" dirty="0" err="1">
                <a:solidFill>
                  <a:schemeClr val="tx1"/>
                </a:solidFill>
                <a:effectLst/>
              </a:rPr>
              <a:t>IndexError</a:t>
            </a:r>
            <a:r>
              <a:rPr lang="en-US" altLang="zh-CN" sz="1400" i="0" dirty="0">
                <a:solidFill>
                  <a:srgbClr val="000000"/>
                </a:solidFill>
                <a:effectLst/>
              </a:rPr>
              <a:t>, which could occur if the index provided exceeds the length of the list. Print an error message if this happens:</a:t>
            </a:r>
            <a:endParaRPr lang="en-US" altLang="zh-CN" sz="1400" i="0" dirty="0">
              <a:solidFill>
                <a:srgbClr val="000000"/>
              </a:solidFill>
              <a:effectLst/>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607004" y="3570054"/>
            <a:ext cx="3758374" cy="489623"/>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Raise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3065626"/>
          </a:xfrm>
        </p:spPr>
        <p:txBody>
          <a:bodyPr>
            <a:noAutofit/>
          </a:bodyPr>
          <a:lstStyle/>
          <a:p>
            <a:pPr marL="114300" indent="0">
              <a:lnSpc>
                <a:spcPct val="100000"/>
              </a:lnSpc>
              <a:buNone/>
            </a:pP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&gt;&gt;&gt; raise </a:t>
            </a:r>
            <a:r>
              <a:rPr lang="en-US" altLang="zh-CN" sz="1400" dirty="0" err="1">
                <a:solidFill>
                  <a:schemeClr val="bg2"/>
                </a:solidFill>
                <a:latin typeface="Source Sans Pro" panose="020B0503030403020204" pitchFamily="34" charset="0"/>
                <a:ea typeface="Source Sans Pro" panose="020B0503030403020204" pitchFamily="34" charset="0"/>
              </a:rPr>
              <a:t>NameError</a:t>
            </a:r>
            <a:r>
              <a:rPr lang="en-US" altLang="zh-CN" sz="1400" dirty="0">
                <a:solidFill>
                  <a:schemeClr val="bg2"/>
                </a:solidFill>
                <a:latin typeface="Source Sans Pro" panose="020B0503030403020204" pitchFamily="34" charset="0"/>
                <a:ea typeface="Source Sans Pro" panose="020B0503030403020204" pitchFamily="34" charset="0"/>
              </a:rPr>
              <a:t>(‘</a:t>
            </a:r>
            <a:r>
              <a:rPr lang="en-US" altLang="zh-CN" sz="1400" dirty="0" err="1">
                <a:solidFill>
                  <a:schemeClr val="bg2"/>
                </a:solidFill>
                <a:latin typeface="Source Sans Pro" panose="020B0503030403020204" pitchFamily="34" charset="0"/>
                <a:ea typeface="Source Sans Pro" panose="020B0503030403020204" pitchFamily="34" charset="0"/>
              </a:rPr>
              <a:t>HiThere</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Traceback (most recent call last):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File "&lt;stdin&gt;", line 1, in &lt;module&gt;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r>
              <a:rPr lang="zh-CN" altLang="en-US"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NameError</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HiThere</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&gt;&gt;&gt;raise </a:t>
            </a:r>
            <a:r>
              <a:rPr lang="en-US" altLang="zh-CN" sz="1400" dirty="0" err="1">
                <a:solidFill>
                  <a:schemeClr val="bg2"/>
                </a:solidFill>
                <a:latin typeface="Source Sans Pro" panose="020B0503030403020204" pitchFamily="34" charset="0"/>
                <a:ea typeface="Source Sans Pro" panose="020B0503030403020204" pitchFamily="34" charset="0"/>
              </a:rPr>
              <a:t>ZeroDivisionError</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&gt;&gt;&gt;raise </a:t>
            </a:r>
            <a:r>
              <a:rPr lang="en-US" altLang="zh-CN" sz="1400" dirty="0" err="1">
                <a:solidFill>
                  <a:schemeClr val="bg2"/>
                </a:solidFill>
                <a:latin typeface="Source Sans Pro" panose="020B0503030403020204" pitchFamily="34" charset="0"/>
                <a:ea typeface="Source Sans Pro" panose="020B0503030403020204" pitchFamily="34" charset="0"/>
              </a:rPr>
              <a:t>ZeroDivisionError</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&gt;&gt;&gt;raise </a:t>
            </a:r>
            <a:r>
              <a:rPr lang="en-US" altLang="zh-CN" sz="1400" dirty="0" err="1">
                <a:solidFill>
                  <a:schemeClr val="bg2"/>
                </a:solidFill>
                <a:latin typeface="Source Sans Pro" panose="020B0503030403020204" pitchFamily="34" charset="0"/>
                <a:ea typeface="Source Sans Pro" panose="020B0503030403020204" pitchFamily="34" charset="0"/>
              </a:rPr>
              <a:t>TypeError</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&gt;&gt;&gt;raise </a:t>
            </a:r>
            <a:r>
              <a:rPr lang="en-US" altLang="zh-CN" sz="1400" dirty="0" err="1">
                <a:solidFill>
                  <a:schemeClr val="bg2"/>
                </a:solidFill>
                <a:latin typeface="Source Sans Pro" panose="020B0503030403020204" pitchFamily="34" charset="0"/>
                <a:ea typeface="Source Sans Pro" panose="020B0503030403020204" pitchFamily="34" charset="0"/>
              </a:rPr>
              <a:t>TypeError</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&gt;&gt;&gt;raise </a:t>
            </a:r>
            <a:r>
              <a:rPr lang="en-US" altLang="zh-CN" sz="1400" dirty="0" err="1">
                <a:solidFill>
                  <a:schemeClr val="bg2"/>
                </a:solidFill>
                <a:latin typeface="Source Sans Pro" panose="020B0503030403020204" pitchFamily="34" charset="0"/>
                <a:ea typeface="Source Sans Pro" panose="020B0503030403020204" pitchFamily="34" charset="0"/>
              </a:rPr>
              <a:t>ValueError</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If you need to determine whether an exception was raised but don’t intend to handle it, a simpler form of the raise statement allows you to re-raise the exception:</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endParaRPr lang="en-US" altLang="zh-CN" sz="1500" dirty="0">
              <a:solidFill>
                <a:schemeClr val="bg2"/>
              </a:solidFill>
              <a:latin typeface="Source Sans Pro" panose="020B0503030403020204" pitchFamily="34" charset="0"/>
              <a:ea typeface="Source Sans Pro" panose="020B0503030403020204" pitchFamily="34" charset="0"/>
            </a:endParaRPr>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2801169" y="4218101"/>
            <a:ext cx="5815204" cy="682947"/>
          </a:xfrm>
          <a:prstGeom prst="rect">
            <a:avLst/>
          </a:prstGeom>
        </p:spPr>
      </p:pic>
      <p:pic>
        <p:nvPicPr>
          <p:cNvPr id="4" name="Picture 3"/>
          <p:cNvPicPr>
            <a:picLocks noChangeAspect="1"/>
          </p:cNvPicPr>
          <p:nvPr/>
        </p:nvPicPr>
        <p:blipFill>
          <a:blip r:embed="rId2"/>
          <a:stretch>
            <a:fillRect/>
          </a:stretch>
        </p:blipFill>
        <p:spPr>
          <a:xfrm>
            <a:off x="4603173" y="1667711"/>
            <a:ext cx="4013200" cy="1600200"/>
          </a:xfrm>
          <a:prstGeom prst="rect">
            <a:avLst/>
          </a:prstGeom>
        </p:spPr>
      </p:pic>
      <p:sp>
        <p:nvSpPr>
          <p:cNvPr id="7" name="文本框 5"/>
          <p:cNvSpPr txBox="1"/>
          <p:nvPr/>
        </p:nvSpPr>
        <p:spPr>
          <a:xfrm>
            <a:off x="527626" y="1208214"/>
            <a:ext cx="8088747" cy="307777"/>
          </a:xfrm>
          <a:prstGeom prst="rect">
            <a:avLst/>
          </a:prstGeom>
          <a:solidFill>
            <a:srgbClr val="7030A0"/>
          </a:solidFill>
        </p:spPr>
        <p:txBody>
          <a:bodyPr wrap="square" rtlCol="0">
            <a:spAutoFit/>
          </a:bodyPr>
          <a:lstStyle/>
          <a:p>
            <a:r>
              <a:rPr lang="en-US" altLang="zh-CN" dirty="0">
                <a:solidFill>
                  <a:schemeClr val="bg1"/>
                </a:solidFill>
              </a:rPr>
              <a:t>The raise statement allows the programmer to force a specified exception to occur.</a:t>
            </a:r>
            <a:endParaRPr lang="en-US" altLang="zh-CN" dirty="0">
              <a:solidFill>
                <a:schemeClr val="bg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Clean up: try … finally(</a:t>
            </a:r>
            <a:r>
              <a:rPr lang="zh-CN" altLang="en-US" dirty="0">
                <a:latin typeface="Raleway" pitchFamily="34" charset="0"/>
                <a:ea typeface="Source Sans Pro" panose="020B0503030403020204" pitchFamily="34" charset="0"/>
              </a:rPr>
              <a:t>终极</a:t>
            </a:r>
            <a:r>
              <a:rPr lang="en-US" altLang="zh-CN" dirty="0">
                <a:latin typeface="Raleway" pitchFamily="34" charset="0"/>
                <a:ea typeface="Source Sans Pro" panose="020B0503030403020204" pitchFamily="34" charset="0"/>
              </a:rPr>
              <a: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6"/>
            <a:ext cx="8520600" cy="3546000"/>
          </a:xfrm>
        </p:spPr>
        <p:txBody>
          <a:bodyPr numCol="2">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try statement has another optional clause which is intended to define clean-up actions that </a:t>
            </a:r>
            <a:r>
              <a:rPr lang="en-US" altLang="zh-CN" sz="1400" b="1" dirty="0">
                <a:solidFill>
                  <a:schemeClr val="tx1"/>
                </a:solidFill>
                <a:latin typeface="Source Sans Pro" panose="020B0503030403020204" pitchFamily="34" charset="0"/>
                <a:ea typeface="Source Sans Pro" panose="020B0503030403020204" pitchFamily="34" charset="0"/>
              </a:rPr>
              <a:t>must be executed under all circumstances. </a:t>
            </a:r>
            <a:endParaRPr lang="en-US" altLang="zh-CN" sz="1400" b="1" dirty="0">
              <a:solidFill>
                <a:schemeClr val="tx1"/>
              </a:solidFill>
              <a:latin typeface="Source Sans Pro" panose="020B0503030403020204" pitchFamily="34" charset="0"/>
              <a:ea typeface="Source Sans Pro" panose="020B0503030403020204" pitchFamily="34" charset="0"/>
            </a:endParaRPr>
          </a:p>
          <a:p>
            <a:pPr>
              <a:lnSpc>
                <a:spcPct val="10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A finally clause </a:t>
            </a:r>
            <a:r>
              <a:rPr lang="en-US" altLang="zh-CN" sz="1400" dirty="0">
                <a:solidFill>
                  <a:schemeClr val="tx1"/>
                </a:solidFill>
                <a:latin typeface="Source Sans Pro" panose="020B0503030403020204" pitchFamily="34" charset="0"/>
                <a:ea typeface="Source Sans Pro" panose="020B0503030403020204" pitchFamily="34" charset="0"/>
              </a:rPr>
              <a:t>is always executed </a:t>
            </a:r>
            <a:r>
              <a:rPr lang="en-US" altLang="zh-CN" sz="1400" dirty="0">
                <a:solidFill>
                  <a:schemeClr val="bg2"/>
                </a:solidFill>
                <a:latin typeface="Source Sans Pro" panose="020B0503030403020204" pitchFamily="34" charset="0"/>
                <a:ea typeface="Source Sans Pro" panose="020B0503030403020204" pitchFamily="34" charset="0"/>
              </a:rPr>
              <a:t>before leaving the try statement, whether an exception has occurred or not. (</a:t>
            </a:r>
            <a:r>
              <a:rPr lang="zh-CN" altLang="en-US" sz="1400" dirty="0">
                <a:solidFill>
                  <a:schemeClr val="bg2"/>
                </a:solidFill>
                <a:latin typeface="Source Sans Pro" panose="020B0503030403020204" pitchFamily="34" charset="0"/>
                <a:ea typeface="Source Sans Pro" panose="020B0503030403020204" pitchFamily="34" charset="0"/>
              </a:rPr>
              <a:t>不管咋样都执行</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When an exception has occurred in the try clause and has not been handled by an except clause (or it has occurred in an except or else clause), it is </a:t>
            </a:r>
            <a:r>
              <a:rPr lang="en-US" altLang="zh-CN" sz="1400" dirty="0">
                <a:solidFill>
                  <a:schemeClr val="tx1"/>
                </a:solidFill>
                <a:latin typeface="Source Sans Pro" panose="020B0503030403020204" pitchFamily="34" charset="0"/>
                <a:ea typeface="Source Sans Pro" panose="020B0503030403020204" pitchFamily="34" charset="0"/>
              </a:rPr>
              <a:t>re-raised after the finally clause has been executed. </a:t>
            </a:r>
            <a:endParaRPr lang="en-US" altLang="zh-CN" sz="1400" dirty="0">
              <a:solidFill>
                <a:schemeClr val="tx1"/>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finally clause is also executed “on the way out” when any other clause of the try statement is left via a </a:t>
            </a:r>
            <a:r>
              <a:rPr lang="en-US" altLang="zh-CN" sz="1400" b="1" dirty="0">
                <a:solidFill>
                  <a:schemeClr val="tx1"/>
                </a:solidFill>
                <a:latin typeface="Source Sans Pro" panose="020B0503030403020204" pitchFamily="34" charset="0"/>
                <a:ea typeface="Source Sans Pro" panose="020B0503030403020204" pitchFamily="34" charset="0"/>
              </a:rPr>
              <a:t>break, continue or return </a:t>
            </a:r>
            <a:r>
              <a:rPr lang="en-US" altLang="zh-CN" sz="1400" dirty="0">
                <a:solidFill>
                  <a:schemeClr val="bg2"/>
                </a:solidFill>
                <a:latin typeface="Source Sans Pro" panose="020B0503030403020204" pitchFamily="34" charset="0"/>
                <a:ea typeface="Source Sans Pro" panose="020B0503030403020204" pitchFamily="34" charset="0"/>
              </a:rPr>
              <a:t>statement.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As you can see, the finally clause is executed in any event. The </a:t>
            </a:r>
            <a:r>
              <a:rPr lang="en-US" altLang="zh-CN" sz="1400" dirty="0" err="1">
                <a:solidFill>
                  <a:schemeClr val="bg2"/>
                </a:solidFill>
                <a:latin typeface="Source Sans Pro" panose="020B0503030403020204" pitchFamily="34" charset="0"/>
                <a:ea typeface="Source Sans Pro" panose="020B0503030403020204" pitchFamily="34" charset="0"/>
              </a:rPr>
              <a:t>TypeError</a:t>
            </a:r>
            <a:r>
              <a:rPr lang="en-US" altLang="zh-CN" sz="1400" dirty="0">
                <a:solidFill>
                  <a:schemeClr val="bg2"/>
                </a:solidFill>
                <a:latin typeface="Source Sans Pro" panose="020B0503030403020204" pitchFamily="34" charset="0"/>
                <a:ea typeface="Source Sans Pro" panose="020B0503030403020204" pitchFamily="34" charset="0"/>
              </a:rPr>
              <a:t> raised by dividing two strings is not handled by the except clause and therefore re-raised after the finally clause has been executed.</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In real world applications, the finally clause is useful for releasing external resources (such as files or network connections), regardless of whether the use of the resource was successful.</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4" name="Picture 1"/>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26657" y="1675782"/>
            <a:ext cx="2556879" cy="767064"/>
          </a:xfrm>
          <a:prstGeom prst="rect">
            <a:avLst/>
          </a:prstGeom>
        </p:spPr>
      </p:pic>
      <p:pic>
        <p:nvPicPr>
          <p:cNvPr id="7"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215" y="1907557"/>
            <a:ext cx="1585665" cy="447564"/>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9310" y="1482725"/>
            <a:ext cx="2141220" cy="1089025"/>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Exception: else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52475"/>
            <a:ext cx="8520600" cy="1465597"/>
          </a:xfrm>
        </p:spPr>
        <p:txBody>
          <a:bodyPr>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try … except statement has an optional </a:t>
            </a:r>
            <a:r>
              <a:rPr lang="en-US" altLang="zh-CN" sz="1400" dirty="0">
                <a:solidFill>
                  <a:schemeClr val="tx1"/>
                </a:solidFill>
                <a:latin typeface="Source Sans Pro" panose="020B0503030403020204" pitchFamily="34" charset="0"/>
                <a:ea typeface="Source Sans Pro" panose="020B0503030403020204" pitchFamily="34" charset="0"/>
              </a:rPr>
              <a:t>else clause</a:t>
            </a:r>
            <a:r>
              <a:rPr lang="en-US" altLang="zh-CN" sz="1400" dirty="0">
                <a:solidFill>
                  <a:schemeClr val="bg2"/>
                </a:solidFill>
                <a:latin typeface="Source Sans Pro" panose="020B0503030403020204" pitchFamily="34" charset="0"/>
                <a:ea typeface="Source Sans Pro" panose="020B0503030403020204" pitchFamily="34" charset="0"/>
              </a:rPr>
              <a:t>, which, when present, </a:t>
            </a:r>
            <a:r>
              <a:rPr lang="en-US" altLang="zh-CN" sz="1400" dirty="0">
                <a:solidFill>
                  <a:schemeClr val="tx1"/>
                </a:solidFill>
                <a:latin typeface="Source Sans Pro" panose="020B0503030403020204" pitchFamily="34" charset="0"/>
                <a:ea typeface="Source Sans Pro" panose="020B0503030403020204" pitchFamily="34" charset="0"/>
              </a:rPr>
              <a:t>must follow all except clauses</a:t>
            </a:r>
            <a:r>
              <a:rPr lang="en-US" altLang="zh-CN" sz="1400" dirty="0">
                <a:solidFill>
                  <a:schemeClr val="bg2"/>
                </a:solidFill>
                <a:latin typeface="Source Sans Pro" panose="020B0503030403020204" pitchFamily="34" charset="0"/>
                <a:ea typeface="Source Sans Pro" panose="020B0503030403020204" pitchFamily="34" charset="0"/>
              </a:rPr>
              <a:t>. It is useful for code that must be executed if the try clause does not raise an exception.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use of the else clause is better than adding additional code to the try clause because it avoids accidentally catching an exception that wasn’t raised by the code being protected by the try … except statement.</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b="1" dirty="0">
                <a:solidFill>
                  <a:schemeClr val="tx1"/>
                </a:solidFill>
                <a:latin typeface="Source Sans Pro" panose="020B0503030403020204" pitchFamily="34" charset="0"/>
                <a:ea typeface="Source Sans Pro" panose="020B0503030403020204" pitchFamily="34" charset="0"/>
              </a:rPr>
              <a:t>else</a:t>
            </a:r>
            <a:r>
              <a:rPr lang="en-US" altLang="zh-CN" sz="1400" dirty="0">
                <a:solidFill>
                  <a:schemeClr val="bg2"/>
                </a:solidFill>
                <a:latin typeface="Source Sans Pro" panose="020B0503030403020204" pitchFamily="34" charset="0"/>
                <a:ea typeface="Source Sans Pro" panose="020B0503030403020204" pitchFamily="34" charset="0"/>
              </a:rPr>
              <a:t> will be executed only if the try clause doesn’t raise an exception(</a:t>
            </a:r>
            <a:r>
              <a:rPr lang="zh-CN" altLang="en-US" sz="1400" dirty="0">
                <a:solidFill>
                  <a:schemeClr val="bg2"/>
                </a:solidFill>
                <a:latin typeface="Source Sans Pro" panose="020B0503030403020204" pitchFamily="34" charset="0"/>
                <a:ea typeface="Source Sans Pro" panose="020B0503030403020204" pitchFamily="34" charset="0"/>
              </a:rPr>
              <a:t>无异常时执行</a:t>
            </a:r>
            <a:r>
              <a:rPr lang="en-US" altLang="zh-CN" sz="1400" dirty="0">
                <a:solidFill>
                  <a:schemeClr val="bg2"/>
                </a:solidFill>
                <a:latin typeface="Source Sans Pro" panose="020B0503030403020204" pitchFamily="34" charset="0"/>
                <a:ea typeface="Source Sans Pro" panose="020B0503030403020204" pitchFamily="34" charset="0"/>
              </a:rPr>
              <a:t>else)</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5"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48879" y="2618072"/>
            <a:ext cx="3767585" cy="2351493"/>
          </a:xfrm>
          <a:prstGeom prst="rect">
            <a:avLst/>
          </a:prstGeom>
        </p:spPr>
      </p:pic>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2618072"/>
            <a:ext cx="4041478" cy="1578554"/>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20540"/>
            <a:ext cx="8520600" cy="623400"/>
          </a:xfrm>
        </p:spPr>
        <p:txBody>
          <a:bodyPr>
            <a:normAutofit fontScale="90000"/>
          </a:bodyPr>
          <a:lstStyle/>
          <a:p>
            <a:r>
              <a:rPr lang="en-US" altLang="zh-CN" dirty="0">
                <a:latin typeface="Raleway" pitchFamily="34" charset="0"/>
                <a:ea typeface="Source Sans Pro" panose="020B0503030403020204" pitchFamily="34" charset="0"/>
              </a:rPr>
              <a:t>Predefined Clean-up Actions</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790585"/>
            <a:ext cx="8520600" cy="3416400"/>
          </a:xfrm>
        </p:spPr>
        <p:txBody>
          <a:bodyPr numCol="2">
            <a:noAutofit/>
          </a:bodyPr>
          <a:lstStyle/>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Some objects define standard clean-up actions to be undertaken when the object is no longer needed, regardless of whether or not the operation using the object succeeded or failed. Look at the following example, which tries to open a file and print its contents to the screen.</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00000"/>
              </a:lnSpc>
              <a:buNone/>
            </a:pP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gn="ctr">
              <a:lnSpc>
                <a:spcPct val="100000"/>
              </a:lnSpc>
              <a:buNone/>
            </a:pPr>
            <a:r>
              <a:rPr lang="en-US" altLang="zh-CN" sz="1400" dirty="0">
                <a:solidFill>
                  <a:schemeClr val="tx1"/>
                </a:solidFill>
                <a:latin typeface="Source Sans Pro" panose="020B0503030403020204" pitchFamily="34" charset="0"/>
                <a:ea typeface="Source Sans Pro" panose="020B0503030403020204" pitchFamily="34" charset="0"/>
              </a:rPr>
              <a:t>for line in open("myfile.txt"):</a:t>
            </a:r>
            <a:endParaRPr lang="en-US" altLang="zh-CN" sz="1400" dirty="0">
              <a:solidFill>
                <a:schemeClr val="tx1"/>
              </a:solidFill>
              <a:latin typeface="Source Sans Pro" panose="020B0503030403020204" pitchFamily="34" charset="0"/>
              <a:ea typeface="Source Sans Pro" panose="020B0503030403020204" pitchFamily="34" charset="0"/>
            </a:endParaRPr>
          </a:p>
          <a:p>
            <a:pPr marL="114300" indent="0" algn="ctr">
              <a:lnSpc>
                <a:spcPct val="100000"/>
              </a:lnSpc>
              <a:buNone/>
            </a:pPr>
            <a:r>
              <a:rPr lang="en-US" altLang="zh-CN" sz="1400" dirty="0">
                <a:solidFill>
                  <a:schemeClr val="tx1"/>
                </a:solidFill>
                <a:latin typeface="Source Sans Pro" panose="020B0503030403020204" pitchFamily="34" charset="0"/>
                <a:ea typeface="Source Sans Pro" panose="020B0503030403020204" pitchFamily="34" charset="0"/>
              </a:rPr>
              <a:t>            print(line, end="")</a:t>
            </a:r>
            <a:endParaRPr lang="en-US" altLang="zh-CN" sz="1400" dirty="0">
              <a:solidFill>
                <a:schemeClr val="tx1"/>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 problem with this code is that it leaves the file open for an indeterminate amount of time after this part of the code has finished executing. This is not an issue in simple scripts, but can be a problem for larger applications.</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The</a:t>
            </a:r>
            <a:r>
              <a:rPr lang="en-US" altLang="zh-CN" sz="1400" dirty="0">
                <a:solidFill>
                  <a:schemeClr val="tx1"/>
                </a:solidFill>
                <a:latin typeface="Source Sans Pro" panose="020B0503030403020204" pitchFamily="34" charset="0"/>
                <a:ea typeface="Source Sans Pro" panose="020B0503030403020204" pitchFamily="34" charset="0"/>
              </a:rPr>
              <a:t> </a:t>
            </a:r>
            <a:r>
              <a:rPr lang="en-US" altLang="zh-CN" sz="1400" b="1" dirty="0">
                <a:solidFill>
                  <a:schemeClr val="tx1"/>
                </a:solidFill>
                <a:latin typeface="Source Sans Pro" panose="020B0503030403020204" pitchFamily="34" charset="0"/>
                <a:ea typeface="Source Sans Pro" panose="020B0503030403020204" pitchFamily="34" charset="0"/>
              </a:rPr>
              <a:t>with statement</a:t>
            </a:r>
            <a:r>
              <a:rPr lang="en-US" altLang="zh-CN" sz="1400" b="1" dirty="0">
                <a:solidFill>
                  <a:schemeClr val="bg2"/>
                </a:solidFill>
                <a:latin typeface="Source Sans Pro" panose="020B0503030403020204" pitchFamily="34" charset="0"/>
                <a:ea typeface="Source Sans Pro" panose="020B0503030403020204" pitchFamily="34" charset="0"/>
              </a:rPr>
              <a:t> </a:t>
            </a:r>
            <a:r>
              <a:rPr lang="en-US" altLang="zh-CN" sz="1400" dirty="0">
                <a:solidFill>
                  <a:schemeClr val="bg2"/>
                </a:solidFill>
                <a:latin typeface="Source Sans Pro" panose="020B0503030403020204" pitchFamily="34" charset="0"/>
                <a:ea typeface="Source Sans Pro" panose="020B0503030403020204" pitchFamily="34" charset="0"/>
              </a:rPr>
              <a:t>allows objects like files to be used in a way that ensures they are always cleaned up promptly and correctly.</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gn="ctr">
              <a:lnSpc>
                <a:spcPct val="100000"/>
              </a:lnSpc>
              <a:buNone/>
            </a:pPr>
            <a:r>
              <a:rPr lang="en-US" altLang="zh-CN" sz="1400" b="1" dirty="0">
                <a:solidFill>
                  <a:schemeClr val="tx1"/>
                </a:solidFill>
                <a:latin typeface="Source Sans Pro" panose="020B0503030403020204" pitchFamily="34" charset="0"/>
                <a:ea typeface="Source Sans Pro" panose="020B0503030403020204" pitchFamily="34" charset="0"/>
              </a:rPr>
              <a:t>with open("myfile.txt") as f:</a:t>
            </a:r>
            <a:endParaRPr lang="en-US" altLang="zh-CN" sz="1400" b="1" dirty="0">
              <a:solidFill>
                <a:schemeClr val="tx1"/>
              </a:solidFill>
              <a:latin typeface="Source Sans Pro" panose="020B0503030403020204" pitchFamily="34" charset="0"/>
              <a:ea typeface="Source Sans Pro" panose="020B0503030403020204" pitchFamily="34" charset="0"/>
            </a:endParaRPr>
          </a:p>
          <a:p>
            <a:pPr marL="114300" indent="0" algn="ctr">
              <a:lnSpc>
                <a:spcPct val="100000"/>
              </a:lnSpc>
              <a:buNone/>
            </a:pPr>
            <a:r>
              <a:rPr lang="en-US" altLang="zh-CN" sz="1400" b="1" dirty="0">
                <a:solidFill>
                  <a:schemeClr val="tx1"/>
                </a:solidFill>
                <a:latin typeface="Source Sans Pro" panose="020B0503030403020204" pitchFamily="34" charset="0"/>
                <a:ea typeface="Source Sans Pro" panose="020B0503030403020204" pitchFamily="34" charset="0"/>
              </a:rPr>
              <a:t>for line in f:</a:t>
            </a:r>
            <a:endParaRPr lang="en-US" altLang="zh-CN" sz="1400" b="1" dirty="0">
              <a:solidFill>
                <a:schemeClr val="tx1"/>
              </a:solidFill>
              <a:latin typeface="Source Sans Pro" panose="020B0503030403020204" pitchFamily="34" charset="0"/>
              <a:ea typeface="Source Sans Pro" panose="020B0503030403020204" pitchFamily="34" charset="0"/>
            </a:endParaRPr>
          </a:p>
          <a:p>
            <a:pPr marL="114300" indent="0" algn="ctr">
              <a:lnSpc>
                <a:spcPct val="100000"/>
              </a:lnSpc>
              <a:buNone/>
            </a:pPr>
            <a:r>
              <a:rPr lang="en-US" altLang="zh-CN" sz="1400" b="1" dirty="0">
                <a:solidFill>
                  <a:schemeClr val="tx1"/>
                </a:solidFill>
                <a:latin typeface="Source Sans Pro" panose="020B0503030403020204" pitchFamily="34" charset="0"/>
                <a:ea typeface="Source Sans Pro" panose="020B0503030403020204" pitchFamily="34" charset="0"/>
              </a:rPr>
              <a:t>print(line, end="")</a:t>
            </a:r>
            <a:endParaRPr lang="en-US" altLang="zh-CN" sz="1400" b="1" dirty="0">
              <a:solidFill>
                <a:schemeClr val="tx1"/>
              </a:solidFill>
              <a:latin typeface="Source Sans Pro" panose="020B0503030403020204" pitchFamily="34" charset="0"/>
              <a:ea typeface="Source Sans Pro" panose="020B0503030403020204" pitchFamily="34" charset="0"/>
            </a:endParaRPr>
          </a:p>
          <a:p>
            <a:pPr>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After the statement is executed, the file f is always closed, even if a problem was encountered while processing the lines. Objects which, like files, provide predefined clean-up actions will indicate this in their documentation(</a:t>
            </a:r>
            <a:r>
              <a:rPr lang="zh-CN" altLang="en-US" sz="1400" dirty="0">
                <a:solidFill>
                  <a:schemeClr val="bg2"/>
                </a:solidFill>
                <a:latin typeface="Source Sans Pro" panose="020B0503030403020204" pitchFamily="34" charset="0"/>
                <a:ea typeface="Source Sans Pro" panose="020B0503030403020204" pitchFamily="34" charset="0"/>
              </a:rPr>
              <a:t>确保文件关闭</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More on try and except</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970925"/>
            <a:ext cx="8520600" cy="3416400"/>
          </a:xfrm>
        </p:spPr>
        <p:txBody>
          <a:bodyPr numCol="2">
            <a:noAutofit/>
          </a:bodyPr>
          <a:lstStyle/>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A try statement may have more than one except clause, to specify handlers for different exceptions.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tx1"/>
                </a:solidFill>
                <a:latin typeface="Source Sans Pro" panose="020B0503030403020204" pitchFamily="34" charset="0"/>
                <a:ea typeface="Source Sans Pro" panose="020B0503030403020204" pitchFamily="34" charset="0"/>
              </a:rPr>
              <a:t>At most one handler will be executed</a:t>
            </a:r>
            <a:r>
              <a:rPr lang="en-US" altLang="zh-CN" sz="1400" dirty="0">
                <a:solidFill>
                  <a:schemeClr val="bg2"/>
                </a:solidFill>
                <a:latin typeface="Source Sans Pro" panose="020B0503030403020204" pitchFamily="34" charset="0"/>
                <a:ea typeface="Source Sans Pro" panose="020B0503030403020204" pitchFamily="34" charset="0"/>
              </a:rPr>
              <a:t>. Handlers only handle exceptions that occur in the corresponding try clause, not in other handlers of the same try statement. </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An except clause may name multiple exceptions as a parenthesized tuple, for example:</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14000"/>
              </a:lnSpc>
              <a:buNone/>
            </a:pPr>
            <a:r>
              <a:rPr lang="en-US" altLang="zh-CN" sz="1400" dirty="0">
                <a:solidFill>
                  <a:schemeClr val="bg2"/>
                </a:solidFill>
                <a:latin typeface="Source Sans Pro" panose="020B0503030403020204" pitchFamily="34" charset="0"/>
                <a:ea typeface="Source Sans Pro" panose="020B0503030403020204" pitchFamily="34" charset="0"/>
              </a:rPr>
              <a:t>             ... except (</a:t>
            </a:r>
            <a:r>
              <a:rPr lang="en-US" altLang="zh-CN" sz="1400" dirty="0" err="1">
                <a:solidFill>
                  <a:schemeClr val="bg2"/>
                </a:solidFill>
                <a:latin typeface="Source Sans Pro" panose="020B0503030403020204" pitchFamily="34" charset="0"/>
                <a:ea typeface="Source Sans Pro" panose="020B0503030403020204" pitchFamily="34" charset="0"/>
              </a:rPr>
              <a:t>RuntimeError</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TypeError</a:t>
            </a:r>
            <a:r>
              <a:rPr lang="en-US" altLang="zh-CN" sz="1400" dirty="0">
                <a:solidFill>
                  <a:schemeClr val="bg2"/>
                </a:solidFill>
                <a:latin typeface="Source Sans Pro" panose="020B0503030403020204" pitchFamily="34" charset="0"/>
                <a:ea typeface="Source Sans Pro" panose="020B0503030403020204" pitchFamily="34" charset="0"/>
              </a:rPr>
              <a:t>, </a:t>
            </a:r>
            <a:r>
              <a:rPr lang="en-US" altLang="zh-CN" sz="1400" dirty="0" err="1">
                <a:solidFill>
                  <a:schemeClr val="bg2"/>
                </a:solidFill>
                <a:latin typeface="Source Sans Pro" panose="020B0503030403020204" pitchFamily="34" charset="0"/>
                <a:ea typeface="Source Sans Pro" panose="020B0503030403020204" pitchFamily="34" charset="0"/>
              </a:rPr>
              <a:t>NameError</a:t>
            </a:r>
            <a:r>
              <a:rPr lang="en-US" altLang="zh-CN" sz="1400" dirty="0">
                <a:solidFill>
                  <a:schemeClr val="bg2"/>
                </a:solidFill>
                <a:latin typeface="Source Sans Pro" panose="020B0503030403020204" pitchFamily="34" charset="0"/>
                <a:ea typeface="Source Sans Pro" panose="020B0503030403020204" pitchFamily="34" charset="0"/>
              </a:rPr>
              <a:t>):</a:t>
            </a:r>
            <a:endParaRPr lang="en-US" altLang="zh-CN" sz="1400" dirty="0">
              <a:solidFill>
                <a:schemeClr val="bg2"/>
              </a:solidFill>
              <a:latin typeface="Source Sans Pro" panose="020B0503030403020204" pitchFamily="34" charset="0"/>
              <a:ea typeface="Source Sans Pro" panose="020B0503030403020204" pitchFamily="34" charset="0"/>
            </a:endParaRPr>
          </a:p>
          <a:p>
            <a:pPr marL="114300" indent="0">
              <a:lnSpc>
                <a:spcPct val="114000"/>
              </a:lnSpc>
              <a:buNone/>
            </a:pPr>
            <a:r>
              <a:rPr lang="en-US" altLang="zh-CN" sz="1400" dirty="0">
                <a:solidFill>
                  <a:schemeClr val="bg2"/>
                </a:solidFill>
                <a:latin typeface="Source Sans Pro" panose="020B0503030403020204" pitchFamily="34" charset="0"/>
                <a:ea typeface="Source Sans Pro" panose="020B0503030403020204" pitchFamily="34" charset="0"/>
              </a:rPr>
              <a:t>             ...     pass    #do nothing</a:t>
            </a:r>
            <a:endParaRPr lang="en-US" altLang="zh-CN" sz="1400" dirty="0">
              <a:solidFill>
                <a:schemeClr val="bg2"/>
              </a:solidFill>
              <a:latin typeface="Source Sans Pro" panose="020B0503030403020204" pitchFamily="34" charset="0"/>
              <a:ea typeface="Source Sans Pro" panose="020B0503030403020204" pitchFamily="34" charset="0"/>
            </a:endParaRPr>
          </a:p>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The last except clause may omit the exception name(s), to serve as a wildcard. Use this with extreme caution, since it is easy to mask a real programming error in this way! It can also be used to print an error message and then re-raise the exception (allowing a caller to handle the exception as well)</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pic>
        <p:nvPicPr>
          <p:cNvPr id="4"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736590" y="106680"/>
            <a:ext cx="2496820" cy="1300480"/>
          </a:xfrm>
          <a:prstGeom prst="rect">
            <a:avLst/>
          </a:prstGeom>
        </p:spPr>
      </p:pic>
      <p:sp>
        <p:nvSpPr>
          <p:cNvPr id="5" name="文本框 4"/>
          <p:cNvSpPr txBox="1"/>
          <p:nvPr/>
        </p:nvSpPr>
        <p:spPr>
          <a:xfrm>
            <a:off x="311785" y="3239135"/>
            <a:ext cx="8513445" cy="1814830"/>
          </a:xfrm>
          <a:prstGeom prst="rect">
            <a:avLst/>
          </a:prstGeom>
          <a:noFill/>
        </p:spPr>
        <p:txBody>
          <a:bodyPr wrap="square" rtlCol="0">
            <a:spAutoFit/>
          </a:bodyPr>
          <a:p>
            <a:r>
              <a:rPr lang="zh-CN" altLang="en-US"/>
              <a:t>try 语句可以有多个 except 子句，用于指定不同异常的处理程序。</a:t>
            </a:r>
            <a:endParaRPr lang="zh-CN" altLang="en-US"/>
          </a:p>
          <a:p>
            <a:r>
              <a:rPr lang="zh-CN" altLang="en-US"/>
              <a:t>最多执行一个处理程序。处理程序仅处理相应 try 子句中发生的异常，而不处理同一 try 语句的其他处理程序中发生的异常。</a:t>
            </a:r>
            <a:endParaRPr lang="zh-CN" altLang="en-US"/>
          </a:p>
          <a:p>
            <a:r>
              <a:rPr lang="zh-CN" altLang="en-US"/>
              <a:t>except 子句可以将多个异常命名为带括号的元组，例如：</a:t>
            </a:r>
            <a:endParaRPr lang="zh-CN" altLang="en-US"/>
          </a:p>
          <a:p>
            <a:r>
              <a:rPr lang="zh-CN" altLang="en-US"/>
              <a:t>             ...除了 （RuntimeError， TypeError， NameError）：</a:t>
            </a:r>
            <a:endParaRPr lang="zh-CN" altLang="en-US"/>
          </a:p>
          <a:p>
            <a:r>
              <a:rPr lang="zh-CN" altLang="en-US"/>
              <a:t>             ...    什么都没通过 #do</a:t>
            </a:r>
            <a:endParaRPr lang="zh-CN" altLang="en-US"/>
          </a:p>
          <a:p>
            <a:r>
              <a:rPr lang="zh-CN" altLang="en-US"/>
              <a:t>最后一个 except 子句可以省略异常名称，以用作通配符。使用时要格外小心，因为以这种方式很容易掩盖真正的编程错误！它还可用于打印错误消息，然后重新引发异常（允许调用方也处理异常）</a:t>
            </a:r>
            <a:endParaRPr lang="zh-CN" alt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473252"/>
            <a:ext cx="8520600" cy="623400"/>
          </a:xfrm>
        </p:spPr>
        <p:txBody>
          <a:bodyPr>
            <a:normAutofit fontScale="90000"/>
          </a:bodyPr>
          <a:lstStyle/>
          <a:p>
            <a:r>
              <a:rPr lang="en-US" altLang="zh-CN" dirty="0">
                <a:latin typeface="Raleway" pitchFamily="34" charset="0"/>
                <a:ea typeface="Source Sans Pro" panose="020B0503030403020204" pitchFamily="34" charset="0"/>
              </a:rPr>
              <a:t>User Defined Exception</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144504"/>
            <a:ext cx="4929256" cy="3525744"/>
          </a:xfrm>
        </p:spPr>
        <p:txBody>
          <a:bodyPr>
            <a:noAutofit/>
          </a:bodyPr>
          <a:lstStyle/>
          <a:p>
            <a:pPr algn="just">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Programs may name their own exceptions by </a:t>
            </a:r>
            <a:r>
              <a:rPr lang="en-US" altLang="zh-CN" sz="1400" dirty="0">
                <a:solidFill>
                  <a:schemeClr val="tx1"/>
                </a:solidFill>
                <a:latin typeface="Source Sans Pro" panose="020B0503030403020204" pitchFamily="34" charset="0"/>
                <a:ea typeface="Source Sans Pro" panose="020B0503030403020204" pitchFamily="34" charset="0"/>
              </a:rPr>
              <a:t>creating a new exception class </a:t>
            </a:r>
            <a:r>
              <a:rPr lang="en-US" altLang="zh-CN" sz="1400" dirty="0">
                <a:solidFill>
                  <a:schemeClr val="bg2"/>
                </a:solidFill>
                <a:latin typeface="Source Sans Pro" panose="020B0503030403020204" pitchFamily="34" charset="0"/>
                <a:ea typeface="Source Sans Pro" panose="020B0503030403020204" pitchFamily="34" charset="0"/>
              </a:rPr>
              <a:t>(see Classes for more about Python classes). </a:t>
            </a:r>
            <a:endParaRPr lang="en-US" altLang="zh-CN" sz="1400" dirty="0">
              <a:solidFill>
                <a:schemeClr val="bg2"/>
              </a:solidFill>
              <a:latin typeface="Source Sans Pro" panose="020B0503030403020204" pitchFamily="34" charset="0"/>
              <a:ea typeface="Source Sans Pro" panose="020B0503030403020204" pitchFamily="34" charset="0"/>
            </a:endParaRPr>
          </a:p>
          <a:p>
            <a:pPr algn="just">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Exceptions should typically be derived from the </a:t>
            </a:r>
            <a:r>
              <a:rPr lang="en-US" altLang="zh-CN" sz="1400" dirty="0">
                <a:solidFill>
                  <a:schemeClr val="tx1"/>
                </a:solidFill>
                <a:latin typeface="Source Sans Pro" panose="020B0503030403020204" pitchFamily="34" charset="0"/>
                <a:ea typeface="Source Sans Pro" panose="020B0503030403020204" pitchFamily="34" charset="0"/>
              </a:rPr>
              <a:t>Exception class</a:t>
            </a:r>
            <a:r>
              <a:rPr lang="en-US" altLang="zh-CN" sz="1400" dirty="0">
                <a:solidFill>
                  <a:schemeClr val="bg2"/>
                </a:solidFill>
                <a:latin typeface="Source Sans Pro" panose="020B0503030403020204" pitchFamily="34" charset="0"/>
                <a:ea typeface="Source Sans Pro" panose="020B0503030403020204" pitchFamily="34" charset="0"/>
              </a:rPr>
              <a:t>, either directly or indirectly.</a:t>
            </a:r>
            <a:endParaRPr lang="en-US" altLang="zh-CN" sz="1400" dirty="0">
              <a:solidFill>
                <a:schemeClr val="bg2"/>
              </a:solidFill>
              <a:latin typeface="Source Sans Pro" panose="020B0503030403020204" pitchFamily="34" charset="0"/>
              <a:ea typeface="Source Sans Pro" panose="020B0503030403020204" pitchFamily="34" charset="0"/>
            </a:endParaRPr>
          </a:p>
          <a:p>
            <a:pPr algn="just">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Exception classes can be defined which do anything any other class can do, but are usually kept simple, often only offering a number of attributes that allow information about the error to be extracted by handlers for the exception. </a:t>
            </a:r>
            <a:endParaRPr lang="en-US" altLang="zh-CN" sz="1400" dirty="0">
              <a:solidFill>
                <a:schemeClr val="bg2"/>
              </a:solidFill>
              <a:latin typeface="Source Sans Pro" panose="020B0503030403020204" pitchFamily="34" charset="0"/>
              <a:ea typeface="Source Sans Pro" panose="020B0503030403020204" pitchFamily="34" charset="0"/>
            </a:endParaRPr>
          </a:p>
          <a:p>
            <a:pPr algn="just">
              <a:lnSpc>
                <a:spcPct val="100000"/>
              </a:lnSpc>
            </a:pPr>
            <a:r>
              <a:rPr lang="en-US" altLang="zh-CN" sz="1400" dirty="0">
                <a:solidFill>
                  <a:schemeClr val="bg2"/>
                </a:solidFill>
                <a:latin typeface="Source Sans Pro" panose="020B0503030403020204" pitchFamily="34" charset="0"/>
                <a:ea typeface="Source Sans Pro" panose="020B0503030403020204" pitchFamily="34" charset="0"/>
              </a:rPr>
              <a:t>When creating a module that can raise several distinct errors, a common practice is to create a base class for exceptions defined by that module, and subclass that to create specific exception classes for different error conditions:</a:t>
            </a:r>
            <a:endParaRPr lang="en-US" altLang="zh-CN" sz="1400" dirty="0">
              <a:solidFill>
                <a:schemeClr val="bg2"/>
              </a:solidFill>
              <a:latin typeface="Source Sans Pro" panose="020B0503030403020204" pitchFamily="34" charset="0"/>
              <a:ea typeface="Source Sans Pro" panose="020B0503030403020204" pitchFamily="34" charset="0"/>
            </a:endParaRPr>
          </a:p>
        </p:txBody>
      </p:sp>
      <p:sp>
        <p:nvSpPr>
          <p:cNvPr id="4" name="Rectangle 4"/>
          <p:cNvSpPr/>
          <p:nvPr/>
        </p:nvSpPr>
        <p:spPr>
          <a:xfrm>
            <a:off x="7236249" y="644783"/>
            <a:ext cx="1033999" cy="202624"/>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200" dirty="0" err="1">
                <a:solidFill>
                  <a:schemeClr val="bg2"/>
                </a:solidFill>
                <a:latin typeface="黑体" panose="02010609060101010101" pitchFamily="49" charset="-122"/>
                <a:ea typeface="黑体" panose="02010609060101010101" pitchFamily="49" charset="-122"/>
              </a:rPr>
              <a:t>仅供了解</a:t>
            </a:r>
            <a:r>
              <a:rPr lang="zh-CN" altLang="en-US" sz="1200" dirty="0">
                <a:solidFill>
                  <a:schemeClr val="bg2"/>
                </a:solidFill>
                <a:latin typeface="黑体" panose="02010609060101010101" pitchFamily="49" charset="-122"/>
                <a:ea typeface="黑体" panose="02010609060101010101" pitchFamily="49" charset="-122"/>
              </a:rPr>
              <a:t> </a:t>
            </a:r>
            <a:r>
              <a:rPr lang="en-US" altLang="zh-CN" sz="1200" dirty="0">
                <a:solidFill>
                  <a:schemeClr val="bg2"/>
                </a:solidFill>
                <a:latin typeface="黑体" panose="02010609060101010101" pitchFamily="49" charset="-122"/>
                <a:ea typeface="黑体" panose="02010609060101010101" pitchFamily="49" charset="-122"/>
                <a:sym typeface="Wingdings" panose="05000000000000000000" pitchFamily="2" charset="2"/>
              </a:rPr>
              <a:t></a:t>
            </a:r>
            <a:endParaRPr lang="en-US" altLang="zh-CN" sz="1200" dirty="0">
              <a:solidFill>
                <a:schemeClr val="bg2"/>
              </a:solidFill>
              <a:latin typeface="黑体" panose="02010609060101010101" pitchFamily="49" charset="-122"/>
              <a:ea typeface="黑体" panose="02010609060101010101" pitchFamily="49" charset="-122"/>
            </a:endParaRPr>
          </a:p>
        </p:txBody>
      </p:sp>
      <p:pic>
        <p:nvPicPr>
          <p:cNvPr id="5"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5392477" y="1096652"/>
            <a:ext cx="2877771" cy="2170359"/>
          </a:xfrm>
          <a:prstGeom prst="rect">
            <a:avLst/>
          </a:prstGeom>
        </p:spPr>
      </p:pic>
      <p:pic>
        <p:nvPicPr>
          <p:cNvPr id="6"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00489" y="3421399"/>
            <a:ext cx="2869759" cy="1530799"/>
          </a:xfrm>
          <a:prstGeom prst="rect">
            <a:avLst/>
          </a:prstGeom>
        </p:spPr>
      </p:pic>
      <p:sp>
        <p:nvSpPr>
          <p:cNvPr id="7" name="文本框 6"/>
          <p:cNvSpPr txBox="1"/>
          <p:nvPr/>
        </p:nvSpPr>
        <p:spPr>
          <a:xfrm>
            <a:off x="4570730" y="76835"/>
            <a:ext cx="3152775" cy="3107690"/>
          </a:xfrm>
          <a:prstGeom prst="rect">
            <a:avLst/>
          </a:prstGeom>
          <a:noFill/>
        </p:spPr>
        <p:txBody>
          <a:bodyPr wrap="square" rtlCol="0">
            <a:spAutoFit/>
          </a:bodyPr>
          <a:p>
            <a:r>
              <a:rPr lang="zh-CN" altLang="en-US">
                <a:highlight>
                  <a:srgbClr val="FFFF00"/>
                </a:highlight>
              </a:rPr>
              <a:t>程序可以通过创建新的异常类来命名自己的异常（有关 Python 类的更多信息，请参阅类）。</a:t>
            </a:r>
            <a:endParaRPr lang="zh-CN" altLang="en-US">
              <a:highlight>
                <a:srgbClr val="FFFF00"/>
              </a:highlight>
            </a:endParaRPr>
          </a:p>
          <a:p>
            <a:r>
              <a:rPr lang="zh-CN" altLang="en-US">
                <a:highlight>
                  <a:srgbClr val="FFFF00"/>
                </a:highlight>
              </a:rPr>
              <a:t>异常通常应直接或间接派生自 Exception 类。</a:t>
            </a:r>
            <a:endParaRPr lang="zh-CN" altLang="en-US">
              <a:highlight>
                <a:srgbClr val="FFFF00"/>
              </a:highlight>
            </a:endParaRPr>
          </a:p>
          <a:p>
            <a:r>
              <a:rPr lang="zh-CN" altLang="en-US">
                <a:highlight>
                  <a:srgbClr val="FFFF00"/>
                </a:highlight>
              </a:rPr>
              <a:t>可以定义异常类，这些类可以执行任何其他类可以执行的任何操作，但通常保持简单，通常只提供许多属性，这些属性允许异常处理程序提取有关错误的信息。</a:t>
            </a:r>
            <a:endParaRPr lang="zh-CN" altLang="en-US">
              <a:highlight>
                <a:srgbClr val="FFFF00"/>
              </a:highlight>
            </a:endParaRPr>
          </a:p>
          <a:p>
            <a:r>
              <a:rPr lang="zh-CN" altLang="en-US">
                <a:highlight>
                  <a:srgbClr val="FFFF00"/>
                </a:highlight>
              </a:rPr>
              <a:t>在创建可能引发多个不同错误的模块时，一种常见的做法是为该模块定义的异常创建一个基类，并为该基类创建不同的错误条件的特定异常类：</a:t>
            </a:r>
            <a:endParaRPr lang="zh-CN" altLang="en-US">
              <a:highlight>
                <a:srgbClr val="FFFF00"/>
              </a:highlight>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Error checks vs exception handling</a:t>
            </a:r>
            <a:endParaRPr lang="en-US" altLang="zh-CN" dirty="0">
              <a:latin typeface="Raleway" pitchFamily="34" charset="0"/>
              <a:ea typeface="Source Sans Pro" panose="020B0503030403020204" pitchFamily="34" charset="0"/>
            </a:endParaRPr>
          </a:p>
        </p:txBody>
      </p:sp>
      <p:pic>
        <p:nvPicPr>
          <p:cNvPr id="9"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706025" y="1675813"/>
            <a:ext cx="3283899" cy="1501211"/>
          </a:xfrm>
          <a:prstGeom prst="rect">
            <a:avLst/>
          </a:prstGeom>
        </p:spPr>
      </p:pic>
      <p:pic>
        <p:nvPicPr>
          <p:cNvPr id="10"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675813"/>
            <a:ext cx="3271550" cy="1386853"/>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Exercise</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50202" y="1193045"/>
            <a:ext cx="8520600" cy="919700"/>
          </a:xfrm>
        </p:spPr>
        <p:txBody>
          <a:bodyPr>
            <a:noAutofit/>
          </a:bodyPr>
          <a:lstStyle/>
          <a:p>
            <a:r>
              <a:rPr lang="en-US" altLang="zh-CN" sz="1400" i="0" dirty="0">
                <a:solidFill>
                  <a:srgbClr val="000000"/>
                </a:solidFill>
                <a:effectLst/>
              </a:rPr>
              <a:t>This function adds an element to a list inside a </a:t>
            </a:r>
            <a:r>
              <a:rPr lang="en-US" altLang="zh-CN" sz="1400" i="0" dirty="0" err="1">
                <a:solidFill>
                  <a:srgbClr val="000000"/>
                </a:solidFill>
                <a:effectLst/>
              </a:rPr>
              <a:t>dict</a:t>
            </a:r>
            <a:r>
              <a:rPr lang="en-US" altLang="zh-CN" sz="1400" i="0" dirty="0">
                <a:solidFill>
                  <a:srgbClr val="000000"/>
                </a:solidFill>
                <a:effectLst/>
              </a:rPr>
              <a:t> of lists. Rewrite it to use a try-except statement which handles a possible </a:t>
            </a:r>
            <a:r>
              <a:rPr lang="en-US" altLang="zh-CN" sz="1400" i="0" dirty="0" err="1">
                <a:solidFill>
                  <a:srgbClr val="000000"/>
                </a:solidFill>
                <a:effectLst/>
              </a:rPr>
              <a:t>KeyError</a:t>
            </a:r>
            <a:r>
              <a:rPr lang="en-US" altLang="zh-CN" sz="1400" i="0" dirty="0">
                <a:solidFill>
                  <a:srgbClr val="000000"/>
                </a:solidFill>
                <a:effectLst/>
              </a:rPr>
              <a:t> if the list with the name provided doesn’t exist in the dictionary yet, instead of checking beforehand whether it does. Include else and finally clauses in your try-except block:</a:t>
            </a:r>
            <a:endParaRPr lang="en-US" altLang="zh-CN" sz="1400" i="0" dirty="0">
              <a:solidFill>
                <a:srgbClr val="000000"/>
              </a:solidFill>
              <a:effectLst/>
            </a:endParaRPr>
          </a:p>
        </p:txBody>
      </p:sp>
      <p:pic>
        <p:nvPicPr>
          <p:cNvPr id="4" name="Picture 2"/>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94467" y="2274503"/>
            <a:ext cx="5555065" cy="185782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latin typeface="Raleway" pitchFamily="34" charset="0"/>
                <a:ea typeface="Source Sans Pro" panose="020B0503030403020204" pitchFamily="34" charset="0"/>
              </a:rPr>
              <a:t>Application</a:t>
            </a:r>
            <a:endParaRPr lang="en-US" altLang="zh-CN" dirty="0">
              <a:latin typeface="Raleway" pitchFamily="34" charset="0"/>
              <a:ea typeface="Source Sans Pro" panose="020B0503030403020204" pitchFamily="34" charset="0"/>
            </a:endParaRPr>
          </a:p>
        </p:txBody>
      </p:sp>
      <p:sp>
        <p:nvSpPr>
          <p:cNvPr id="3" name="文本占位符 2"/>
          <p:cNvSpPr>
            <a:spLocks noGrp="1"/>
          </p:cNvSpPr>
          <p:nvPr>
            <p:ph type="body" idx="1"/>
          </p:nvPr>
        </p:nvSpPr>
        <p:spPr>
          <a:xfrm>
            <a:off x="311700" y="1067185"/>
            <a:ext cx="8100780" cy="879234"/>
          </a:xfrm>
        </p:spPr>
        <p:txBody>
          <a:bodyPr>
            <a:noAutofit/>
          </a:bodyPr>
          <a:lstStyle/>
          <a:p>
            <a:pPr>
              <a:lnSpc>
                <a:spcPct val="114000"/>
              </a:lnSpc>
            </a:pPr>
            <a:r>
              <a:rPr lang="en-US" altLang="zh-CN" sz="1400" dirty="0">
                <a:solidFill>
                  <a:schemeClr val="bg2"/>
                </a:solidFill>
                <a:latin typeface="Source Sans Pro" panose="020B0503030403020204" pitchFamily="34" charset="0"/>
                <a:ea typeface="Source Sans Pro" panose="020B0503030403020204" pitchFamily="34" charset="0"/>
              </a:rPr>
              <a:t>How to tell whether a given string is a number? </a:t>
            </a:r>
            <a:endParaRPr lang="en-US" altLang="zh-CN" sz="14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ea typeface="Source Sans Pro" panose="020B0503030403020204" pitchFamily="34" charset="0"/>
              </a:rPr>
              <a:t>“123”, “-3.14”, “-100”</a:t>
            </a:r>
            <a:endParaRPr lang="en-US" altLang="zh-CN" sz="1200" dirty="0">
              <a:solidFill>
                <a:schemeClr val="bg2"/>
              </a:solidFill>
              <a:latin typeface="Source Sans Pro" panose="020B0503030403020204" pitchFamily="34" charset="0"/>
              <a:ea typeface="Source Sans Pro" panose="020B0503030403020204" pitchFamily="34" charset="0"/>
            </a:endParaRPr>
          </a:p>
          <a:p>
            <a:pPr lvl="1">
              <a:lnSpc>
                <a:spcPct val="114000"/>
              </a:lnSpc>
            </a:pPr>
            <a:r>
              <a:rPr lang="en-US" altLang="zh-CN" sz="1200" dirty="0">
                <a:solidFill>
                  <a:schemeClr val="bg2"/>
                </a:solidFill>
                <a:latin typeface="Source Sans Pro" panose="020B0503030403020204" pitchFamily="34" charset="0"/>
                <a:ea typeface="Source Sans Pro" panose="020B0503030403020204" pitchFamily="34" charset="0"/>
              </a:rPr>
              <a:t>“123a”, ”345.888+”</a:t>
            </a:r>
            <a:endParaRPr lang="en-US" altLang="zh-CN" sz="1200" dirty="0">
              <a:solidFill>
                <a:schemeClr val="bg2"/>
              </a:solidFill>
              <a:latin typeface="Source Sans Pro" panose="020B0503030403020204" pitchFamily="34" charset="0"/>
              <a:ea typeface="Source Sans Pro" panose="020B0503030403020204" pitchFamily="34" charset="0"/>
            </a:endParaRPr>
          </a:p>
        </p:txBody>
      </p:sp>
      <p:pic>
        <p:nvPicPr>
          <p:cNvPr id="7"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702517" y="1837951"/>
            <a:ext cx="2902013" cy="2718262"/>
          </a:xfrm>
          <a:prstGeom prst="rect">
            <a:avLst/>
          </a:prstGeom>
        </p:spPr>
      </p:pic>
      <p:pic>
        <p:nvPicPr>
          <p:cNvPr id="8"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71096" y="3166879"/>
            <a:ext cx="498415" cy="1389334"/>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85875" y="1714500"/>
            <a:ext cx="8183700" cy="7857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US" dirty="0">
                <a:latin typeface="Raleway" pitchFamily="34" charset="0"/>
                <a:ea typeface="Source Sans Pro" panose="020B0503030403020204" pitchFamily="34" charset="0"/>
              </a:rPr>
              <a:t>Assertion</a:t>
            </a:r>
            <a:endParaRPr dirty="0">
              <a:latin typeface="Raleway" pitchFamily="34" charset="0"/>
              <a:ea typeface="Source Sans Pro" panose="020B0503030403020204" pitchFamily="34"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a:t>assert</a:t>
            </a:r>
            <a:endParaRPr lang="zh-CN" altLang="en-US"/>
          </a:p>
        </p:txBody>
      </p:sp>
      <p:sp>
        <p:nvSpPr>
          <p:cNvPr id="5" name="文本框 4"/>
          <p:cNvSpPr txBox="1"/>
          <p:nvPr/>
        </p:nvSpPr>
        <p:spPr>
          <a:xfrm>
            <a:off x="527626" y="1208214"/>
            <a:ext cx="8088747" cy="307777"/>
          </a:xfrm>
          <a:prstGeom prst="rect">
            <a:avLst/>
          </a:prstGeom>
          <a:solidFill>
            <a:srgbClr val="7030A0"/>
          </a:solidFill>
        </p:spPr>
        <p:txBody>
          <a:bodyPr wrap="square" rtlCol="0">
            <a:spAutoFit/>
          </a:bodyPr>
          <a:lstStyle/>
          <a:p>
            <a:r>
              <a:rPr lang="en-US" altLang="zh-CN" dirty="0">
                <a:solidFill>
                  <a:schemeClr val="bg1"/>
                </a:solidFill>
                <a:latin typeface="Source Sans Pro" panose="020B0503030403020204" pitchFamily="34" charset="0"/>
                <a:ea typeface="Source Sans Pro" panose="020B0503030403020204" pitchFamily="34" charset="0"/>
              </a:rPr>
              <a:t>assert expression[, </a:t>
            </a:r>
            <a:r>
              <a:rPr lang="en-US" altLang="zh-CN" dirty="0" err="1">
                <a:solidFill>
                  <a:schemeClr val="bg1"/>
                </a:solidFill>
                <a:latin typeface="Source Sans Pro" panose="020B0503030403020204" pitchFamily="34" charset="0"/>
                <a:ea typeface="Source Sans Pro" panose="020B0503030403020204" pitchFamily="34" charset="0"/>
              </a:rPr>
              <a:t>assertion_message</a:t>
            </a:r>
            <a:r>
              <a:rPr lang="en-US" altLang="zh-CN" dirty="0">
                <a:solidFill>
                  <a:schemeClr val="bg1"/>
                </a:solidFill>
                <a:latin typeface="Source Sans Pro" panose="020B0503030403020204" pitchFamily="34" charset="0"/>
                <a:ea typeface="Source Sans Pro" panose="020B0503030403020204" pitchFamily="34" charset="0"/>
              </a:rPr>
              <a:t>]</a:t>
            </a:r>
            <a:endParaRPr lang="en-US" altLang="zh-CN" dirty="0">
              <a:solidFill>
                <a:schemeClr val="bg1"/>
              </a:solidFill>
              <a:latin typeface="Source Sans Pro" panose="020B0503030403020204" pitchFamily="34" charset="0"/>
              <a:ea typeface="Source Sans Pro" panose="020B0503030403020204" pitchFamily="34" charset="0"/>
            </a:endParaRPr>
          </a:p>
        </p:txBody>
      </p:sp>
      <p:sp>
        <p:nvSpPr>
          <p:cNvPr id="7" name="文本占位符 6"/>
          <p:cNvSpPr>
            <a:spLocks noGrp="1"/>
          </p:cNvSpPr>
          <p:nvPr>
            <p:ph type="body" idx="1"/>
          </p:nvPr>
        </p:nvSpPr>
        <p:spPr>
          <a:xfrm>
            <a:off x="311700" y="1613677"/>
            <a:ext cx="8375100" cy="3390585"/>
          </a:xfrm>
        </p:spPr>
        <p:txBody>
          <a:bodyPr numCol="2"/>
          <a:lstStyle/>
          <a:p>
            <a:r>
              <a:rPr lang="en-US" altLang="zh-CN" sz="1400" dirty="0">
                <a:solidFill>
                  <a:schemeClr val="tx1"/>
                </a:solidFill>
              </a:rPr>
              <a:t>Sanity checks </a:t>
            </a:r>
            <a:r>
              <a:rPr lang="en-US" altLang="zh-CN" sz="1400" dirty="0">
                <a:solidFill>
                  <a:schemeClr val="bg2"/>
                </a:solidFill>
              </a:rPr>
              <a:t>in </a:t>
            </a:r>
            <a:r>
              <a:rPr lang="en-US" altLang="zh-CN" sz="1400">
                <a:solidFill>
                  <a:schemeClr val="bg2"/>
                </a:solidFill>
              </a:rPr>
              <a:t>your program:</a:t>
            </a:r>
            <a:endParaRPr lang="en-US" altLang="zh-CN" sz="1400" dirty="0">
              <a:solidFill>
                <a:schemeClr val="bg2"/>
              </a:solidFill>
            </a:endParaRPr>
          </a:p>
          <a:p>
            <a:pPr marL="114300" indent="0">
              <a:buNone/>
            </a:pPr>
            <a:r>
              <a:rPr lang="en-US" altLang="zh-CN" sz="1400" dirty="0">
                <a:solidFill>
                  <a:schemeClr val="tx1"/>
                </a:solidFill>
              </a:rPr>
              <a:t>                      if x&lt;0: print(“error”)</a:t>
            </a:r>
            <a:endParaRPr lang="en-US" altLang="zh-CN" sz="1400" dirty="0">
              <a:solidFill>
                <a:schemeClr val="tx1"/>
              </a:solidFill>
            </a:endParaRPr>
          </a:p>
          <a:p>
            <a:r>
              <a:rPr lang="en-US" altLang="zh-CN" sz="1400" dirty="0">
                <a:solidFill>
                  <a:schemeClr val="bg2"/>
                </a:solidFill>
              </a:rPr>
              <a:t>The assert keyword lets you test if </a:t>
            </a:r>
            <a:r>
              <a:rPr lang="en-US" altLang="zh-CN" sz="1400" dirty="0">
                <a:solidFill>
                  <a:schemeClr val="tx1"/>
                </a:solidFill>
              </a:rPr>
              <a:t>a condition </a:t>
            </a:r>
            <a:r>
              <a:rPr lang="en-US" altLang="zh-CN" sz="1400" dirty="0">
                <a:solidFill>
                  <a:schemeClr val="bg2"/>
                </a:solidFill>
              </a:rPr>
              <a:t>in your code returns True, if not, the program will raise an </a:t>
            </a:r>
            <a:r>
              <a:rPr lang="en-US" altLang="zh-CN" sz="1400" dirty="0" err="1">
                <a:solidFill>
                  <a:schemeClr val="tx1"/>
                </a:solidFill>
              </a:rPr>
              <a:t>AssertionError</a:t>
            </a:r>
            <a:endParaRPr lang="en-US" altLang="zh-CN" sz="1400" dirty="0">
              <a:solidFill>
                <a:schemeClr val="bg2"/>
              </a:solidFill>
            </a:endParaRPr>
          </a:p>
          <a:p>
            <a:pPr lvl="1"/>
            <a:r>
              <a:rPr lang="en-US" altLang="zh-CN" sz="1200" dirty="0">
                <a:solidFill>
                  <a:schemeClr val="bg2"/>
                </a:solidFill>
              </a:rPr>
              <a:t>if not (0&lt;x&lt;1): print(“x is not valid”)</a:t>
            </a:r>
            <a:endParaRPr lang="en-US" altLang="zh-CN" sz="1200" dirty="0">
              <a:solidFill>
                <a:schemeClr val="bg2"/>
              </a:solidFill>
            </a:endParaRPr>
          </a:p>
          <a:p>
            <a:pPr lvl="1"/>
            <a:r>
              <a:rPr lang="en-US" altLang="zh-CN" sz="1200" dirty="0">
                <a:solidFill>
                  <a:schemeClr val="bg2"/>
                </a:solidFill>
              </a:rPr>
              <a:t>assert 0&lt;x&lt;1</a:t>
            </a:r>
            <a:endParaRPr lang="en-US" altLang="zh-CN" sz="1200" dirty="0">
              <a:solidFill>
                <a:schemeClr val="bg2"/>
              </a:solidFill>
            </a:endParaRPr>
          </a:p>
          <a:p>
            <a:pPr lvl="1"/>
            <a:r>
              <a:rPr lang="en-US" altLang="zh-CN" sz="1200" dirty="0">
                <a:solidFill>
                  <a:schemeClr val="bg2"/>
                </a:solidFill>
              </a:rPr>
              <a:t>assert r==0 </a:t>
            </a:r>
            <a:endParaRPr lang="en-US" altLang="zh-CN" sz="1200" dirty="0">
              <a:solidFill>
                <a:schemeClr val="bg2"/>
              </a:solidFill>
            </a:endParaRPr>
          </a:p>
          <a:p>
            <a:r>
              <a:rPr lang="en-US" altLang="zh-CN" sz="1400" dirty="0" err="1">
                <a:solidFill>
                  <a:schemeClr val="bg2"/>
                </a:solidFill>
              </a:rPr>
              <a:t>assertion_message</a:t>
            </a:r>
            <a:r>
              <a:rPr lang="en-US" altLang="zh-CN" sz="1400" dirty="0">
                <a:solidFill>
                  <a:schemeClr val="bg2"/>
                </a:solidFill>
              </a:rPr>
              <a:t> is optional</a:t>
            </a:r>
            <a:endParaRPr lang="en-US" altLang="zh-CN" sz="1400" dirty="0">
              <a:solidFill>
                <a:schemeClr val="bg2"/>
              </a:solidFill>
            </a:endParaRPr>
          </a:p>
          <a:p>
            <a:r>
              <a:rPr lang="en-US" altLang="zh-CN" sz="1400" dirty="0">
                <a:solidFill>
                  <a:schemeClr val="tx1"/>
                </a:solidFill>
              </a:rPr>
              <a:t>Logic Error: assert (condition, message)</a:t>
            </a:r>
            <a:endParaRPr lang="en-US" altLang="zh-CN" sz="1400" dirty="0">
              <a:solidFill>
                <a:schemeClr val="tx1"/>
              </a:solidFill>
            </a:endParaRPr>
          </a:p>
          <a:p>
            <a:pPr lvl="1"/>
            <a:r>
              <a:rPr lang="en-US" altLang="zh-CN" sz="1200" dirty="0">
                <a:solidFill>
                  <a:schemeClr val="bg2"/>
                </a:solidFill>
              </a:rPr>
              <a:t>(condition, message) is a tuple</a:t>
            </a:r>
            <a:endParaRPr lang="en-US" altLang="zh-CN" sz="1200" dirty="0">
              <a:solidFill>
                <a:schemeClr val="bg2"/>
              </a:solidFill>
            </a:endParaRPr>
          </a:p>
          <a:p>
            <a:pPr lvl="1"/>
            <a:r>
              <a:rPr lang="en-US" altLang="zh-CN" sz="1200" dirty="0">
                <a:solidFill>
                  <a:schemeClr val="bg2"/>
                </a:solidFill>
              </a:rPr>
              <a:t>A tuple like (condition, message) is also True</a:t>
            </a:r>
            <a:endParaRPr lang="en-US" altLang="zh-CN" sz="1200" dirty="0">
              <a:solidFill>
                <a:schemeClr val="bg2"/>
              </a:solidFill>
            </a:endParaRPr>
          </a:p>
          <a:p>
            <a:pPr lvl="1"/>
            <a:r>
              <a:rPr lang="en-US" altLang="zh-CN" sz="1200" dirty="0">
                <a:solidFill>
                  <a:schemeClr val="bg2"/>
                </a:solidFill>
              </a:rPr>
              <a:t>Remove the () above</a:t>
            </a:r>
            <a:endParaRPr lang="en-US" altLang="zh-CN" sz="1200" dirty="0">
              <a:solidFill>
                <a:schemeClr val="bg2"/>
              </a:solidFill>
            </a:endParaRPr>
          </a:p>
          <a:p>
            <a:pPr lvl="1"/>
            <a:r>
              <a:rPr lang="en-US" altLang="zh-CN" sz="1200" dirty="0">
                <a:solidFill>
                  <a:schemeClr val="bg2"/>
                </a:solidFill>
              </a:rPr>
              <a:t>Multiline: \</a:t>
            </a:r>
            <a:endParaRPr lang="en-US" altLang="zh-CN" sz="1200" dirty="0">
              <a:solidFill>
                <a:schemeClr val="bg2"/>
              </a:solidFill>
            </a:endParaRPr>
          </a:p>
          <a:p>
            <a:endParaRPr lang="en-US" altLang="zh-CN" sz="1400" dirty="0">
              <a:solidFill>
                <a:schemeClr val="bg2"/>
              </a:solidFill>
            </a:endParaRPr>
          </a:p>
          <a:p>
            <a:endParaRPr lang="en-US" altLang="zh-CN" sz="1400" dirty="0">
              <a:solidFill>
                <a:schemeClr val="bg2"/>
              </a:solidFill>
            </a:endParaRPr>
          </a:p>
          <a:p>
            <a:endParaRPr lang="zh-CN" altLang="en-US" dirty="0"/>
          </a:p>
        </p:txBody>
      </p:sp>
      <p:pic>
        <p:nvPicPr>
          <p:cNvPr id="8" name="图片 7"/>
          <p:cNvPicPr>
            <a:picLocks noChangeAspect="1"/>
          </p:cNvPicPr>
          <p:nvPr/>
        </p:nvPicPr>
        <p:blipFill>
          <a:blip r:embed="rId1"/>
          <a:stretch>
            <a:fillRect/>
          </a:stretch>
        </p:blipFill>
        <p:spPr>
          <a:xfrm>
            <a:off x="3886835" y="73025"/>
            <a:ext cx="4831080" cy="1918335"/>
          </a:xfrm>
          <a:prstGeom prst="rect">
            <a:avLst/>
          </a:prstGeom>
        </p:spPr>
      </p:pic>
      <p:pic>
        <p:nvPicPr>
          <p:cNvPr id="10" name="图片 9"/>
          <p:cNvPicPr>
            <a:picLocks noChangeAspect="1"/>
          </p:cNvPicPr>
          <p:nvPr/>
        </p:nvPicPr>
        <p:blipFill>
          <a:blip r:embed="rId2"/>
          <a:stretch>
            <a:fillRect/>
          </a:stretch>
        </p:blipFill>
        <p:spPr>
          <a:xfrm>
            <a:off x="4490719" y="2648990"/>
            <a:ext cx="4341796" cy="952328"/>
          </a:xfrm>
          <a:prstGeom prst="rect">
            <a:avLst/>
          </a:prstGeom>
        </p:spPr>
      </p:pic>
      <p:pic>
        <p:nvPicPr>
          <p:cNvPr id="3" name="Picture 2"/>
          <p:cNvPicPr>
            <a:picLocks noChangeAspect="1"/>
          </p:cNvPicPr>
          <p:nvPr/>
        </p:nvPicPr>
        <p:blipFill>
          <a:blip r:embed="rId3"/>
          <a:stretch>
            <a:fillRect/>
          </a:stretch>
        </p:blipFill>
        <p:spPr>
          <a:xfrm>
            <a:off x="4457064" y="3885250"/>
            <a:ext cx="4516344" cy="62685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97045"/>
            <a:ext cx="8520600" cy="623400"/>
          </a:xfrm>
        </p:spPr>
        <p:txBody>
          <a:bodyPr>
            <a:normAutofit fontScale="90000"/>
          </a:bodyPr>
          <a:lstStyle/>
          <a:p>
            <a:r>
              <a:rPr lang="en-US" altLang="zh-CN" dirty="0"/>
              <a:t>Assertion Use Cases</a:t>
            </a:r>
            <a:endParaRPr lang="zh-CN" altLang="en-US" dirty="0"/>
          </a:p>
        </p:txBody>
      </p:sp>
      <p:sp>
        <p:nvSpPr>
          <p:cNvPr id="3" name="文本占位符 2"/>
          <p:cNvSpPr>
            <a:spLocks noGrp="1"/>
          </p:cNvSpPr>
          <p:nvPr>
            <p:ph type="body" idx="1"/>
          </p:nvPr>
        </p:nvSpPr>
        <p:spPr>
          <a:xfrm>
            <a:off x="311785" y="456565"/>
            <a:ext cx="8520430" cy="5379085"/>
          </a:xfrm>
        </p:spPr>
        <p:txBody>
          <a:bodyPr numCol="2">
            <a:noAutofit/>
          </a:bodyPr>
          <a:lstStyle/>
          <a:p>
            <a:r>
              <a:rPr lang="en-US" altLang="zh-CN" sz="1400" dirty="0">
                <a:solidFill>
                  <a:schemeClr val="bg2"/>
                </a:solidFill>
              </a:rPr>
              <a:t>Python’s assert statement allows you to </a:t>
            </a:r>
            <a:r>
              <a:rPr lang="en-US" altLang="zh-CN" sz="1400" dirty="0">
                <a:solidFill>
                  <a:schemeClr val="tx1"/>
                </a:solidFill>
              </a:rPr>
              <a:t>write sanity checks </a:t>
            </a:r>
            <a:r>
              <a:rPr lang="en-US" altLang="zh-CN" sz="1400" dirty="0">
                <a:solidFill>
                  <a:schemeClr val="bg2"/>
                </a:solidFill>
              </a:rPr>
              <a:t>in your code. </a:t>
            </a:r>
            <a:endParaRPr lang="en-US" altLang="zh-CN" sz="1400" dirty="0">
              <a:solidFill>
                <a:schemeClr val="bg2"/>
              </a:solidFill>
            </a:endParaRPr>
          </a:p>
          <a:p>
            <a:pPr lvl="1"/>
            <a:r>
              <a:rPr lang="en-US" altLang="zh-CN" sz="1200" dirty="0">
                <a:solidFill>
                  <a:schemeClr val="bg2"/>
                </a:solidFill>
              </a:rPr>
              <a:t>These checks are known as assertions, and you can use them to test if certain assumptions remain true while you’re developing your code. </a:t>
            </a:r>
            <a:endParaRPr lang="en-US" altLang="zh-CN" sz="1200" dirty="0">
              <a:solidFill>
                <a:schemeClr val="bg2"/>
              </a:solidFill>
            </a:endParaRPr>
          </a:p>
          <a:p>
            <a:pPr lvl="1"/>
            <a:r>
              <a:rPr lang="en-US" altLang="zh-CN" sz="1200" dirty="0">
                <a:solidFill>
                  <a:schemeClr val="bg2"/>
                </a:solidFill>
              </a:rPr>
              <a:t>If any of your </a:t>
            </a:r>
            <a:r>
              <a:rPr lang="en-US" altLang="zh-CN" sz="1200" dirty="0">
                <a:solidFill>
                  <a:schemeClr val="tx1"/>
                </a:solidFill>
              </a:rPr>
              <a:t>assertions</a:t>
            </a:r>
            <a:r>
              <a:rPr lang="en-US" altLang="zh-CN" sz="1200" dirty="0">
                <a:solidFill>
                  <a:schemeClr val="bg2"/>
                </a:solidFill>
              </a:rPr>
              <a:t> turn false, then you have </a:t>
            </a:r>
            <a:r>
              <a:rPr lang="en-US" altLang="zh-CN" sz="1200" dirty="0">
                <a:solidFill>
                  <a:schemeClr val="tx1"/>
                </a:solidFill>
              </a:rPr>
              <a:t>a bug in your code</a:t>
            </a:r>
            <a:endParaRPr lang="en-US" altLang="zh-CN" sz="1200" dirty="0">
              <a:solidFill>
                <a:schemeClr val="tx1"/>
              </a:solidFill>
            </a:endParaRPr>
          </a:p>
          <a:p>
            <a:pPr lvl="1"/>
            <a:r>
              <a:rPr lang="en-US" altLang="zh-CN" sz="1200" dirty="0">
                <a:solidFill>
                  <a:schemeClr val="bg2"/>
                </a:solidFill>
              </a:rPr>
              <a:t>Python 的 assert 语句允许您在代码中编写健全性检查。这些检查称为断言，您可以使用它们在开发代码时测试某些假设是否成立。如果你的任何断言变成假的，那么你的代码中有一个错误</a:t>
            </a:r>
            <a:endParaRPr lang="en-US" altLang="zh-CN" sz="1200" dirty="0">
              <a:solidFill>
                <a:schemeClr val="bg2"/>
              </a:solidFill>
            </a:endParaRPr>
          </a:p>
          <a:p>
            <a:r>
              <a:rPr lang="en-US" altLang="zh-CN" sz="1400" dirty="0">
                <a:solidFill>
                  <a:schemeClr val="bg2"/>
                </a:solidFill>
              </a:rPr>
              <a:t>Assertions are a convenient tool for documenting, debugging, and testing code during development. </a:t>
            </a:r>
            <a:endParaRPr lang="en-US" altLang="zh-CN" sz="1400" dirty="0">
              <a:solidFill>
                <a:schemeClr val="bg2"/>
              </a:solidFill>
            </a:endParaRPr>
          </a:p>
          <a:p>
            <a:pPr lvl="1"/>
            <a:r>
              <a:rPr lang="en-US" altLang="zh-CN" sz="1200" dirty="0">
                <a:solidFill>
                  <a:schemeClr val="bg2"/>
                </a:solidFill>
              </a:rPr>
              <a:t>Once you’ve debugged and tested your code with the help of assertions, then you can turn them off to optimize the code for production. </a:t>
            </a:r>
            <a:endParaRPr lang="en-US" altLang="zh-CN" sz="1200" dirty="0">
              <a:solidFill>
                <a:schemeClr val="bg2"/>
              </a:solidFill>
            </a:endParaRPr>
          </a:p>
          <a:p>
            <a:pPr lvl="1"/>
            <a:r>
              <a:rPr lang="en-US" altLang="zh-CN" sz="1200" dirty="0">
                <a:solidFill>
                  <a:schemeClr val="bg2"/>
                </a:solidFill>
              </a:rPr>
              <a:t>Assertions will help you make your code more efficient, robust, and reliable</a:t>
            </a:r>
            <a:endParaRPr lang="en-US" altLang="zh-CN" sz="1200" dirty="0">
              <a:solidFill>
                <a:schemeClr val="bg2"/>
              </a:solidFill>
            </a:endParaRPr>
          </a:p>
          <a:p>
            <a:pPr lvl="1"/>
            <a:r>
              <a:rPr lang="en-US" altLang="zh-CN" sz="1200" dirty="0">
                <a:solidFill>
                  <a:schemeClr val="bg2"/>
                </a:solidFill>
              </a:rPr>
              <a:t>断言是在开发过程中记录、调试和测试代码的便捷工具。在断言的帮助下调试和测试代码后，可以关闭它们以优化代码以用于生产。断言将帮助您使代码更高效、更健壮、更可靠</a:t>
            </a:r>
            <a:endParaRPr lang="en-US" altLang="zh-CN" sz="1200" dirty="0">
              <a:solidFill>
                <a:schemeClr val="bg2"/>
              </a:solidFill>
            </a:endParaRPr>
          </a:p>
          <a:p>
            <a:r>
              <a:rPr lang="en-US" altLang="zh-CN" sz="1400" dirty="0">
                <a:solidFill>
                  <a:schemeClr val="bg2"/>
                </a:solidFill>
              </a:rPr>
              <a:t>The assertion condition should always be true unless </a:t>
            </a:r>
            <a:r>
              <a:rPr lang="en-US" altLang="zh-CN" sz="1400" dirty="0">
                <a:solidFill>
                  <a:schemeClr val="tx1"/>
                </a:solidFill>
              </a:rPr>
              <a:t>you have a bug</a:t>
            </a:r>
            <a:r>
              <a:rPr lang="en-US" altLang="zh-CN" sz="1400" dirty="0">
                <a:solidFill>
                  <a:schemeClr val="bg2"/>
                </a:solidFill>
              </a:rPr>
              <a:t> in your program</a:t>
            </a:r>
            <a:endParaRPr lang="en-US" altLang="zh-CN" sz="1400" dirty="0">
              <a:solidFill>
                <a:schemeClr val="bg2"/>
              </a:solidFill>
            </a:endParaRPr>
          </a:p>
          <a:p>
            <a:r>
              <a:rPr lang="en-US" altLang="zh-CN" sz="1400" dirty="0">
                <a:solidFill>
                  <a:schemeClr val="bg2"/>
                </a:solidFill>
              </a:rPr>
              <a:t>In general, you </a:t>
            </a:r>
            <a:r>
              <a:rPr lang="en-US" altLang="zh-CN" sz="1400" dirty="0">
                <a:solidFill>
                  <a:schemeClr val="tx1"/>
                </a:solidFill>
              </a:rPr>
              <a:t>shouldn’t use assertions for data processing or data validation</a:t>
            </a:r>
            <a:r>
              <a:rPr lang="en-US" altLang="zh-CN" sz="1400" dirty="0">
                <a:solidFill>
                  <a:schemeClr val="bg2"/>
                </a:solidFill>
              </a:rPr>
              <a:t>, because you can disable assertions in your production code, which ends up removing all your assertion-based processing and validation code </a:t>
            </a:r>
            <a:endParaRPr lang="en-US" altLang="zh-CN" sz="1400" dirty="0">
              <a:solidFill>
                <a:schemeClr val="bg2"/>
              </a:solidFill>
            </a:endParaRPr>
          </a:p>
          <a:p>
            <a:pPr lvl="1"/>
            <a:r>
              <a:rPr lang="en-US" altLang="zh-CN" sz="1200" dirty="0">
                <a:solidFill>
                  <a:schemeClr val="bg2"/>
                </a:solidFill>
              </a:rPr>
              <a:t>Using assertions for data processing and validation is a common pitfall</a:t>
            </a:r>
            <a:endParaRPr lang="en-US" altLang="zh-CN" sz="1200" dirty="0">
              <a:solidFill>
                <a:schemeClr val="bg2"/>
              </a:solidFill>
            </a:endParaRPr>
          </a:p>
          <a:p>
            <a:r>
              <a:rPr lang="en-US" altLang="zh-CN" sz="1400" dirty="0">
                <a:solidFill>
                  <a:schemeClr val="bg2"/>
                </a:solidFill>
              </a:rPr>
              <a:t>Additionally, </a:t>
            </a:r>
            <a:r>
              <a:rPr lang="en-US" altLang="zh-CN" sz="1400" dirty="0">
                <a:solidFill>
                  <a:schemeClr val="tx1"/>
                </a:solidFill>
              </a:rPr>
              <a:t>assertions aren’t an error-handling tool</a:t>
            </a:r>
            <a:endParaRPr lang="en-US" altLang="zh-CN" sz="1400" dirty="0">
              <a:solidFill>
                <a:schemeClr val="tx1"/>
              </a:solidFill>
            </a:endParaRPr>
          </a:p>
          <a:p>
            <a:pPr lvl="1"/>
            <a:r>
              <a:rPr lang="en-US" altLang="zh-CN" sz="1200" dirty="0">
                <a:solidFill>
                  <a:schemeClr val="bg2"/>
                </a:solidFill>
              </a:rPr>
              <a:t>The ultimate purpose of assertions isn’t to handle errors in production but to notify you during development so that you can fix them</a:t>
            </a:r>
            <a:endParaRPr lang="en-US" altLang="zh-CN" sz="1200" dirty="0">
              <a:solidFill>
                <a:schemeClr val="bg2"/>
              </a:solidFill>
            </a:endParaRPr>
          </a:p>
          <a:p>
            <a:pPr lvl="1"/>
            <a:r>
              <a:rPr lang="zh-CN" altLang="en-US" sz="1200" dirty="0">
                <a:solidFill>
                  <a:schemeClr val="bg2"/>
                </a:solidFill>
              </a:rPr>
              <a:t>断言条件应始终为 true，除非程序中存在 bug通常，不应使用断言进行数据处理或数据验证，因为可以在生产代码中禁用断言，这最终会删除所有基于断言的处理和验证代码使用断言进行数据处理和验证是一个常见的陷阱此外，断言不是错误处理工具断言的最终目的不是处理生产中的错误，而是在开发过程中通知您，以便您可以修复它们</a:t>
            </a:r>
            <a:endParaRPr lang="zh-CN" altLang="en-US" sz="1200" dirty="0">
              <a:solidFill>
                <a:schemeClr val="bg2"/>
              </a:solidFill>
            </a:endParaRPr>
          </a:p>
        </p:txBody>
      </p:sp>
      <p:sp>
        <p:nvSpPr>
          <p:cNvPr id="5" name="文本框 4"/>
          <p:cNvSpPr txBox="1"/>
          <p:nvPr/>
        </p:nvSpPr>
        <p:spPr>
          <a:xfrm>
            <a:off x="30280" y="4932654"/>
            <a:ext cx="3027813" cy="246221"/>
          </a:xfrm>
          <a:prstGeom prst="rect">
            <a:avLst/>
          </a:prstGeom>
          <a:noFill/>
        </p:spPr>
        <p:txBody>
          <a:bodyPr wrap="square">
            <a:spAutoFit/>
          </a:bodyPr>
          <a:lstStyle/>
          <a:p>
            <a:r>
              <a:rPr lang="zh-CN" altLang="en-US" sz="1000" dirty="0"/>
              <a:t>https://realpython.com/python-assert-statement/</a:t>
            </a:r>
            <a:endParaRPr lang="zh-CN" altLang="en-US" sz="1000" dirty="0"/>
          </a:p>
        </p:txBody>
      </p:sp>
      <p:sp>
        <p:nvSpPr>
          <p:cNvPr id="4" name="Rectangle 4"/>
          <p:cNvSpPr/>
          <p:nvPr/>
        </p:nvSpPr>
        <p:spPr>
          <a:xfrm>
            <a:off x="6883844" y="4814589"/>
            <a:ext cx="2141620" cy="329194"/>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500" b="1" dirty="0">
                <a:solidFill>
                  <a:schemeClr val="bg2"/>
                </a:solidFill>
                <a:latin typeface="Source Sans Pro" panose="020B0503030403020204" pitchFamily="34" charset="0"/>
                <a:ea typeface="黑体" panose="02010609060101010101" pitchFamily="49" charset="-122"/>
              </a:rPr>
              <a:t>隔离正常的</a:t>
            </a:r>
            <a:r>
              <a:rPr lang="zh-CN" altLang="en-US" sz="1500" b="1" dirty="0">
                <a:solidFill>
                  <a:schemeClr val="tx1"/>
                </a:solidFill>
                <a:latin typeface="Source Sans Pro" panose="020B0503030403020204" pitchFamily="34" charset="0"/>
                <a:ea typeface="黑体" panose="02010609060101010101" pitchFamily="49" charset="-122"/>
              </a:rPr>
              <a:t>业务逻辑</a:t>
            </a:r>
            <a:endParaRPr lang="zh-CN" altLang="en-US" sz="1500" b="1" dirty="0">
              <a:solidFill>
                <a:schemeClr val="tx1"/>
              </a:solidFill>
              <a:latin typeface="Source Sans Pro" panose="020B0503030403020204" pitchFamily="34" charset="0"/>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Documenting Your Code With Assertions</a:t>
            </a:r>
            <a:endParaRPr lang="zh-CN" altLang="en-US" dirty="0"/>
          </a:p>
        </p:txBody>
      </p:sp>
      <p:sp>
        <p:nvSpPr>
          <p:cNvPr id="3" name="文本占位符 2"/>
          <p:cNvSpPr>
            <a:spLocks noGrp="1"/>
          </p:cNvSpPr>
          <p:nvPr>
            <p:ph type="body" idx="1"/>
          </p:nvPr>
        </p:nvSpPr>
        <p:spPr>
          <a:xfrm>
            <a:off x="311700" y="940652"/>
            <a:ext cx="4645310" cy="3332899"/>
          </a:xfrm>
        </p:spPr>
        <p:txBody>
          <a:bodyPr>
            <a:noAutofit/>
          </a:bodyPr>
          <a:lstStyle/>
          <a:p>
            <a:r>
              <a:rPr lang="en-US" altLang="zh-CN" sz="1400" dirty="0">
                <a:solidFill>
                  <a:schemeClr val="bg2"/>
                </a:solidFill>
              </a:rPr>
              <a:t>To alert programmers to this buggy call, you can use a comment</a:t>
            </a:r>
            <a:endParaRPr lang="en-US" altLang="zh-CN" sz="1400" dirty="0">
              <a:solidFill>
                <a:schemeClr val="bg2"/>
              </a:solidFill>
            </a:endParaRPr>
          </a:p>
          <a:p>
            <a:r>
              <a:rPr lang="en-US" altLang="zh-CN" sz="1400" dirty="0">
                <a:solidFill>
                  <a:schemeClr val="bg2"/>
                </a:solidFill>
              </a:rPr>
              <a:t>However, using an assert statement can be more effective:</a:t>
            </a:r>
            <a:endParaRPr lang="en-US" altLang="zh-CN" sz="1400" dirty="0">
              <a:solidFill>
                <a:schemeClr val="bg2"/>
              </a:solidFill>
            </a:endParaRPr>
          </a:p>
          <a:p>
            <a:pPr lvl="1"/>
            <a:r>
              <a:rPr lang="en-US" altLang="zh-CN" sz="1200" dirty="0">
                <a:solidFill>
                  <a:schemeClr val="bg2"/>
                </a:solidFill>
              </a:rPr>
              <a:t> After the condition test, your code stops running, so it avoids abnormal behaviors and points you directly to the specific problem</a:t>
            </a:r>
            <a:endParaRPr lang="en-US" altLang="zh-CN" sz="1200" dirty="0">
              <a:solidFill>
                <a:schemeClr val="bg2"/>
              </a:solidFill>
            </a:endParaRPr>
          </a:p>
          <a:p>
            <a:r>
              <a:rPr lang="en-US" altLang="zh-CN" sz="1400" dirty="0">
                <a:solidFill>
                  <a:schemeClr val="bg2"/>
                </a:solidFill>
              </a:rPr>
              <a:t>Using assertions is an effective and powerful way to document your intentions and avoid hard-to-find bugs due to accidental errors or malicious actors</a:t>
            </a:r>
            <a:endParaRPr lang="en-US" altLang="zh-CN" sz="1400" dirty="0">
              <a:solidFill>
                <a:schemeClr val="bg2"/>
              </a:solidFill>
            </a:endParaRPr>
          </a:p>
          <a:p>
            <a:r>
              <a:rPr lang="zh-CN" altLang="en-US" sz="1400" dirty="0">
                <a:solidFill>
                  <a:schemeClr val="bg2"/>
                </a:solidFill>
              </a:rPr>
              <a:t>要提醒程序员注意这个错误调用，您可以使用注释</a:t>
            </a:r>
            <a:endParaRPr lang="zh-CN" altLang="en-US" sz="1400" dirty="0">
              <a:solidFill>
                <a:schemeClr val="bg2"/>
              </a:solidFill>
            </a:endParaRPr>
          </a:p>
          <a:p>
            <a:r>
              <a:rPr lang="zh-CN" altLang="en-US" sz="1400" dirty="0">
                <a:solidFill>
                  <a:schemeClr val="bg2"/>
                </a:solidFill>
              </a:rPr>
              <a:t>但是，使用 assert 语句可能更有效：</a:t>
            </a:r>
            <a:endParaRPr lang="zh-CN" altLang="en-US" sz="1400" dirty="0">
              <a:solidFill>
                <a:schemeClr val="bg2"/>
              </a:solidFill>
            </a:endParaRPr>
          </a:p>
          <a:p>
            <a:r>
              <a:rPr lang="zh-CN" altLang="en-US" sz="1400" dirty="0">
                <a:solidFill>
                  <a:schemeClr val="bg2"/>
                </a:solidFill>
              </a:rPr>
              <a:t> 条件测试后，您的代码将停止运行，因此它避免了异常行为，并直接指向特定问题</a:t>
            </a:r>
            <a:endParaRPr lang="zh-CN" altLang="en-US" sz="1400" dirty="0">
              <a:solidFill>
                <a:schemeClr val="bg2"/>
              </a:solidFill>
            </a:endParaRPr>
          </a:p>
          <a:p>
            <a:r>
              <a:rPr lang="zh-CN" altLang="en-US" sz="1400" dirty="0">
                <a:solidFill>
                  <a:schemeClr val="bg2"/>
                </a:solidFill>
              </a:rPr>
              <a:t>使用断言是一种有效而强大的方法，可以记录您的意图并避免由于意外错误或恶意行为者而难以发现的错误</a:t>
            </a:r>
            <a:endParaRPr lang="zh-CN" altLang="en-US" sz="1400" dirty="0">
              <a:solidFill>
                <a:schemeClr val="bg2"/>
              </a:solidFill>
            </a:endParaRPr>
          </a:p>
        </p:txBody>
      </p:sp>
      <p:pic>
        <p:nvPicPr>
          <p:cNvPr id="4" name="Picture 3"/>
          <p:cNvPicPr>
            <a:picLocks noChangeAspect="1"/>
          </p:cNvPicPr>
          <p:nvPr/>
        </p:nvPicPr>
        <p:blipFill>
          <a:blip r:embed="rId1"/>
          <a:stretch>
            <a:fillRect/>
          </a:stretch>
        </p:blipFill>
        <p:spPr>
          <a:xfrm>
            <a:off x="5043637" y="1449881"/>
            <a:ext cx="4035856" cy="1348407"/>
          </a:xfrm>
          <a:prstGeom prst="rect">
            <a:avLst/>
          </a:prstGeom>
        </p:spPr>
      </p:pic>
      <p:pic>
        <p:nvPicPr>
          <p:cNvPr id="6" name="Picture 5"/>
          <p:cNvPicPr>
            <a:picLocks noChangeAspect="1"/>
          </p:cNvPicPr>
          <p:nvPr/>
        </p:nvPicPr>
        <p:blipFill>
          <a:blip r:embed="rId2"/>
          <a:stretch>
            <a:fillRect/>
          </a:stretch>
        </p:blipFill>
        <p:spPr>
          <a:xfrm>
            <a:off x="5043637" y="3104672"/>
            <a:ext cx="4035856" cy="1376439"/>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Bug is not Exception</a:t>
            </a:r>
            <a:endParaRPr lang="zh-CN" altLang="en-US" dirty="0"/>
          </a:p>
        </p:txBody>
      </p:sp>
      <p:sp>
        <p:nvSpPr>
          <p:cNvPr id="3" name="文本占位符 2"/>
          <p:cNvSpPr>
            <a:spLocks noGrp="1"/>
          </p:cNvSpPr>
          <p:nvPr>
            <p:ph type="body" idx="1"/>
          </p:nvPr>
        </p:nvSpPr>
        <p:spPr/>
        <p:txBody>
          <a:bodyPr numCol="2">
            <a:normAutofit/>
          </a:bodyPr>
          <a:lstStyle/>
          <a:p>
            <a:r>
              <a:rPr lang="en-US" altLang="zh-CN" sz="1400" dirty="0">
                <a:solidFill>
                  <a:schemeClr val="bg2"/>
                </a:solidFill>
              </a:rPr>
              <a:t>To properly use assertions as a </a:t>
            </a:r>
            <a:r>
              <a:rPr lang="en-US" altLang="zh-CN" sz="1400" dirty="0">
                <a:solidFill>
                  <a:schemeClr val="tx1"/>
                </a:solidFill>
              </a:rPr>
              <a:t>debugging tool</a:t>
            </a:r>
            <a:r>
              <a:rPr lang="en-US" altLang="zh-CN" sz="1400" dirty="0">
                <a:solidFill>
                  <a:schemeClr val="bg2"/>
                </a:solidFill>
              </a:rPr>
              <a:t>, you shouldn’t use try … except blocks that catch and handle </a:t>
            </a:r>
            <a:r>
              <a:rPr lang="en-US" altLang="zh-CN" sz="1400" dirty="0" err="1">
                <a:solidFill>
                  <a:schemeClr val="tx1"/>
                </a:solidFill>
              </a:rPr>
              <a:t>AssertionError</a:t>
            </a:r>
            <a:r>
              <a:rPr lang="en-US" altLang="zh-CN" sz="1400" dirty="0">
                <a:solidFill>
                  <a:schemeClr val="bg2"/>
                </a:solidFill>
              </a:rPr>
              <a:t> exceptions. </a:t>
            </a:r>
            <a:endParaRPr lang="en-US" altLang="zh-CN" sz="1400" dirty="0">
              <a:solidFill>
                <a:schemeClr val="bg2"/>
              </a:solidFill>
            </a:endParaRPr>
          </a:p>
          <a:p>
            <a:pPr lvl="1"/>
            <a:r>
              <a:rPr lang="en-US" altLang="zh-CN" sz="1200" dirty="0">
                <a:solidFill>
                  <a:schemeClr val="bg2"/>
                </a:solidFill>
              </a:rPr>
              <a:t>If an assertion fails, then your program should crash because a condition that was supposed to be true became false. </a:t>
            </a:r>
            <a:endParaRPr lang="en-US" altLang="zh-CN" sz="1200" dirty="0">
              <a:solidFill>
                <a:schemeClr val="bg2"/>
              </a:solidFill>
            </a:endParaRPr>
          </a:p>
          <a:p>
            <a:pPr lvl="1"/>
            <a:r>
              <a:rPr lang="en-US" altLang="zh-CN" sz="1200" dirty="0">
                <a:solidFill>
                  <a:schemeClr val="bg2"/>
                </a:solidFill>
              </a:rPr>
              <a:t>You shouldn’t change this intended behavior by catching the exception with a try … except block.</a:t>
            </a:r>
            <a:endParaRPr lang="en-US" altLang="zh-CN" sz="1200" dirty="0">
              <a:solidFill>
                <a:schemeClr val="bg2"/>
              </a:solidFill>
            </a:endParaRPr>
          </a:p>
          <a:p>
            <a:r>
              <a:rPr lang="en-US" altLang="zh-CN" sz="1400" dirty="0">
                <a:solidFill>
                  <a:schemeClr val="bg2"/>
                </a:solidFill>
              </a:rPr>
              <a:t>A proper use of assertions is to inform developers about unrecoverable errors in a program.</a:t>
            </a:r>
            <a:endParaRPr lang="en-US" altLang="zh-CN" sz="1400" dirty="0">
              <a:solidFill>
                <a:schemeClr val="bg2"/>
              </a:solidFill>
            </a:endParaRPr>
          </a:p>
          <a:p>
            <a:pPr lvl="1"/>
            <a:r>
              <a:rPr lang="en-US" altLang="zh-CN" sz="1200" dirty="0">
                <a:solidFill>
                  <a:schemeClr val="bg2"/>
                </a:solidFill>
              </a:rPr>
              <a:t>Assertions shouldn’t signal an expected error, like a </a:t>
            </a:r>
            <a:r>
              <a:rPr lang="en-US" altLang="zh-CN" sz="1200" dirty="0" err="1">
                <a:solidFill>
                  <a:schemeClr val="bg2"/>
                </a:solidFill>
              </a:rPr>
              <a:t>FileNotFoundError</a:t>
            </a:r>
            <a:r>
              <a:rPr lang="en-US" altLang="zh-CN" sz="1200" dirty="0">
                <a:solidFill>
                  <a:schemeClr val="bg2"/>
                </a:solidFill>
              </a:rPr>
              <a:t>, where a user can take a corrective action and try again.</a:t>
            </a:r>
            <a:endParaRPr lang="en-US" altLang="zh-CN" sz="1200" dirty="0">
              <a:solidFill>
                <a:schemeClr val="bg2"/>
              </a:solidFill>
            </a:endParaRPr>
          </a:p>
          <a:p>
            <a:r>
              <a:rPr lang="en-US" altLang="zh-CN" sz="1400" dirty="0">
                <a:solidFill>
                  <a:schemeClr val="bg2"/>
                </a:solidFill>
              </a:rPr>
              <a:t>The goal of assertion should be to uncover </a:t>
            </a:r>
            <a:r>
              <a:rPr lang="en-US" altLang="zh-CN" sz="1400" dirty="0">
                <a:solidFill>
                  <a:schemeClr val="tx1"/>
                </a:solidFill>
              </a:rPr>
              <a:t>programmers’ errors rather than users’ errors. </a:t>
            </a:r>
            <a:endParaRPr lang="en-US" altLang="zh-CN" sz="1400" dirty="0">
              <a:solidFill>
                <a:schemeClr val="tx1"/>
              </a:solidFill>
            </a:endParaRPr>
          </a:p>
          <a:p>
            <a:pPr lvl="1"/>
            <a:r>
              <a:rPr lang="en-US" altLang="zh-CN" sz="1200" dirty="0">
                <a:solidFill>
                  <a:schemeClr val="bg2"/>
                </a:solidFill>
              </a:rPr>
              <a:t>Assertions are useful during the development process, not during production.</a:t>
            </a:r>
            <a:endParaRPr lang="en-US" altLang="zh-CN" sz="1200" dirty="0">
              <a:solidFill>
                <a:schemeClr val="bg2"/>
              </a:solidFill>
            </a:endParaRPr>
          </a:p>
          <a:p>
            <a:pPr lvl="1"/>
            <a:r>
              <a:rPr lang="en-US" altLang="zh-CN" sz="1200" dirty="0">
                <a:solidFill>
                  <a:schemeClr val="bg2"/>
                </a:solidFill>
              </a:rPr>
              <a:t>By the time you release your code, it should be (mostly) free of bugs and shouldn’t require the assertions to work correctly.</a:t>
            </a:r>
            <a:endParaRPr lang="en-US" altLang="zh-CN" sz="1200" dirty="0">
              <a:solidFill>
                <a:schemeClr val="bg2"/>
              </a:solidFill>
            </a:endParaRPr>
          </a:p>
          <a:p>
            <a:pPr lvl="1"/>
            <a:r>
              <a:rPr lang="zh-CN" altLang="en-US" sz="1200" dirty="0">
                <a:solidFill>
                  <a:schemeClr val="bg2"/>
                </a:solidFill>
              </a:rPr>
              <a:t>断言的目标应该是发现程序员的错误，而不是用户的错误。</a:t>
            </a:r>
            <a:endParaRPr lang="zh-CN" altLang="en-US" sz="1200" dirty="0">
              <a:solidFill>
                <a:schemeClr val="bg2"/>
              </a:solidFill>
            </a:endParaRPr>
          </a:p>
          <a:p>
            <a:pPr lvl="1"/>
            <a:r>
              <a:rPr lang="zh-CN" altLang="en-US" sz="1200" dirty="0">
                <a:solidFill>
                  <a:schemeClr val="bg2"/>
                </a:solidFill>
              </a:rPr>
              <a:t>断言在开发过程中很有用，而不是在生产过程中有用。</a:t>
            </a:r>
            <a:endParaRPr lang="zh-CN" altLang="en-US" sz="1200" dirty="0">
              <a:solidFill>
                <a:schemeClr val="bg2"/>
              </a:solidFill>
            </a:endParaRPr>
          </a:p>
          <a:p>
            <a:pPr lvl="1"/>
            <a:r>
              <a:rPr lang="zh-CN" altLang="en-US" sz="1200" dirty="0">
                <a:solidFill>
                  <a:schemeClr val="bg2"/>
                </a:solidFill>
              </a:rPr>
              <a:t>当你发布代码时，它应该（大部分）没有错误，并且不应该要求断言正常工作。</a:t>
            </a:r>
            <a:endParaRPr lang="zh-CN" altLang="en-US" sz="1200" dirty="0">
              <a:solidFill>
                <a:schemeClr val="bg2"/>
              </a:solidFill>
            </a:endParaRPr>
          </a:p>
        </p:txBody>
      </p:sp>
      <p:sp>
        <p:nvSpPr>
          <p:cNvPr id="4" name="Rectangle 4"/>
          <p:cNvSpPr/>
          <p:nvPr/>
        </p:nvSpPr>
        <p:spPr>
          <a:xfrm>
            <a:off x="6733310" y="3991025"/>
            <a:ext cx="1757138" cy="498763"/>
          </a:xfrm>
          <a:prstGeom prst="rect">
            <a:avLst/>
          </a:prstGeom>
          <a:solidFill>
            <a:schemeClr val="accent6">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chemeClr val="tx1"/>
                </a:solidFill>
                <a:latin typeface="Source Sans Pro" panose="020B0503030403020204" pitchFamily="34" charset="0"/>
                <a:ea typeface="Source Sans Pro" panose="020B0503030403020204" pitchFamily="34" charset="0"/>
              </a:rPr>
              <a:t>Except</a:t>
            </a:r>
            <a:r>
              <a:rPr lang="zh-CN" altLang="en-US" dirty="0">
                <a:solidFill>
                  <a:schemeClr val="tx1"/>
                </a:solidFill>
                <a:latin typeface="Source Sans Pro" panose="020B0503030403020204" pitchFamily="34" charset="0"/>
                <a:ea typeface="黑体" panose="02010609060101010101" pitchFamily="49" charset="-122"/>
              </a:rPr>
              <a:t>： 用户错误</a:t>
            </a:r>
            <a:endParaRPr lang="en-US" altLang="zh-CN" dirty="0">
              <a:solidFill>
                <a:schemeClr val="tx1"/>
              </a:solidFill>
              <a:latin typeface="Source Sans Pro" panose="020B0503030403020204" pitchFamily="34" charset="0"/>
              <a:ea typeface="Source Sans Pro" panose="020B0503030403020204" pitchFamily="34" charset="0"/>
            </a:endParaRPr>
          </a:p>
          <a:p>
            <a:r>
              <a:rPr lang="en-US" altLang="zh-CN" dirty="0">
                <a:solidFill>
                  <a:schemeClr val="tx1"/>
                </a:solidFill>
                <a:latin typeface="Source Sans Pro" panose="020B0503030403020204" pitchFamily="34" charset="0"/>
                <a:ea typeface="Source Sans Pro" panose="020B0503030403020204" pitchFamily="34" charset="0"/>
              </a:rPr>
              <a:t>Assert</a:t>
            </a:r>
            <a:r>
              <a:rPr lang="zh-CN" altLang="en-US" dirty="0">
                <a:solidFill>
                  <a:schemeClr val="tx1"/>
                </a:solidFill>
                <a:latin typeface="Source Sans Pro" panose="020B0503030403020204" pitchFamily="34" charset="0"/>
                <a:ea typeface="黑体" panose="02010609060101010101" pitchFamily="49" charset="-122"/>
              </a:rPr>
              <a:t>：程序员错误</a:t>
            </a:r>
            <a:endParaRPr lang="zh-CN" altLang="en-US" dirty="0">
              <a:solidFill>
                <a:schemeClr val="tx1"/>
              </a:solidFill>
              <a:latin typeface="Source Sans Pro" panose="020B0503030403020204" pitchFamily="34" charset="0"/>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Disabling Assertions in Production for Performance</a:t>
            </a:r>
            <a:endParaRPr lang="zh-CN" altLang="en-US" dirty="0"/>
          </a:p>
        </p:txBody>
      </p:sp>
      <p:sp>
        <p:nvSpPr>
          <p:cNvPr id="3" name="文本占位符 2"/>
          <p:cNvSpPr>
            <a:spLocks noGrp="1"/>
          </p:cNvSpPr>
          <p:nvPr>
            <p:ph type="body" idx="1"/>
          </p:nvPr>
        </p:nvSpPr>
        <p:spPr>
          <a:xfrm>
            <a:off x="-102235" y="1628775"/>
            <a:ext cx="8587105" cy="3922395"/>
          </a:xfrm>
        </p:spPr>
        <p:txBody>
          <a:bodyPr numCol="2">
            <a:normAutofit fontScale="80000"/>
          </a:bodyPr>
          <a:lstStyle/>
          <a:p>
            <a:r>
              <a:rPr lang="en-US" altLang="zh-CN" sz="1400" dirty="0">
                <a:solidFill>
                  <a:schemeClr val="bg2"/>
                </a:solidFill>
              </a:rPr>
              <a:t>Now say that you’ve come to the end of your development cycle. Your code has been extensively reviewed and tested. All your assertions pass, and your code is ready for a new release. At this point, you can optimize the code for production by disabling the assertions that you added during development</a:t>
            </a:r>
            <a:endParaRPr lang="en-US" altLang="zh-CN" sz="1400" dirty="0">
              <a:solidFill>
                <a:schemeClr val="bg2"/>
              </a:solidFill>
            </a:endParaRPr>
          </a:p>
          <a:p>
            <a:r>
              <a:rPr lang="en-US" altLang="zh-CN" sz="1400" dirty="0">
                <a:solidFill>
                  <a:schemeClr val="bg2"/>
                </a:solidFill>
              </a:rPr>
              <a:t>two options:</a:t>
            </a:r>
            <a:endParaRPr lang="en-US" altLang="zh-CN" sz="1400" dirty="0">
              <a:solidFill>
                <a:schemeClr val="bg2"/>
              </a:solidFill>
            </a:endParaRPr>
          </a:p>
          <a:p>
            <a:r>
              <a:rPr lang="en-US" altLang="zh-CN" sz="1400" dirty="0">
                <a:solidFill>
                  <a:schemeClr val="bg2"/>
                </a:solidFill>
              </a:rPr>
              <a:t>Run Python with the -O or -OO options.</a:t>
            </a:r>
            <a:endParaRPr lang="en-US" altLang="zh-CN" sz="1400" dirty="0">
              <a:solidFill>
                <a:schemeClr val="bg2"/>
              </a:solidFill>
            </a:endParaRPr>
          </a:p>
          <a:p>
            <a:pPr lvl="1"/>
            <a:r>
              <a:rPr lang="en-US" altLang="zh-CN" sz="1200" dirty="0">
                <a:solidFill>
                  <a:schemeClr val="bg2"/>
                </a:solidFill>
              </a:rPr>
              <a:t>Set the PYTHONOPTIMIZE environment variable to an appropriate value.</a:t>
            </a:r>
            <a:endParaRPr lang="en-US" altLang="zh-CN" sz="1200" dirty="0">
              <a:solidFill>
                <a:schemeClr val="bg2"/>
              </a:solidFill>
            </a:endParaRPr>
          </a:p>
          <a:p>
            <a:r>
              <a:rPr lang="en-US" altLang="zh-CN" sz="1400" dirty="0">
                <a:solidFill>
                  <a:schemeClr val="bg2"/>
                </a:solidFill>
              </a:rPr>
              <a:t>Python has a </a:t>
            </a:r>
            <a:r>
              <a:rPr lang="en-US" altLang="zh-CN" sz="1400" dirty="0">
                <a:solidFill>
                  <a:schemeClr val="tx1"/>
                </a:solidFill>
              </a:rPr>
              <a:t>built-in constant </a:t>
            </a:r>
            <a:r>
              <a:rPr lang="en-US" altLang="zh-CN" sz="1400" dirty="0">
                <a:solidFill>
                  <a:schemeClr val="bg2"/>
                </a:solidFill>
              </a:rPr>
              <a:t>called </a:t>
            </a:r>
            <a:r>
              <a:rPr lang="en-US" altLang="zh-CN" sz="1400" dirty="0">
                <a:solidFill>
                  <a:schemeClr val="tx1"/>
                </a:solidFill>
              </a:rPr>
              <a:t>__debug__. </a:t>
            </a:r>
            <a:endParaRPr lang="en-US" altLang="zh-CN" sz="1400" dirty="0">
              <a:solidFill>
                <a:schemeClr val="tx1"/>
              </a:solidFill>
            </a:endParaRPr>
          </a:p>
          <a:p>
            <a:pPr lvl="1"/>
            <a:r>
              <a:rPr lang="en-US" altLang="zh-CN" sz="1000" dirty="0">
                <a:solidFill>
                  <a:schemeClr val="bg2"/>
                </a:solidFill>
              </a:rPr>
              <a:t>This constant is closely related to the assert statement.</a:t>
            </a:r>
            <a:endParaRPr lang="en-US" altLang="zh-CN" sz="1000" dirty="0">
              <a:solidFill>
                <a:schemeClr val="bg2"/>
              </a:solidFill>
            </a:endParaRPr>
          </a:p>
          <a:p>
            <a:pPr lvl="1"/>
            <a:r>
              <a:rPr lang="en-US" altLang="zh-CN" sz="1200" dirty="0">
                <a:solidFill>
                  <a:schemeClr val="bg2"/>
                </a:solidFill>
              </a:rPr>
              <a:t> Python’s __debug__ is a Boolean constant, which defaults to True. </a:t>
            </a:r>
            <a:endParaRPr lang="en-US" altLang="zh-CN" sz="1200" dirty="0">
              <a:solidFill>
                <a:schemeClr val="bg2"/>
              </a:solidFill>
            </a:endParaRPr>
          </a:p>
          <a:p>
            <a:pPr lvl="1"/>
            <a:r>
              <a:rPr lang="en-US" altLang="zh-CN" sz="1200" dirty="0">
                <a:solidFill>
                  <a:schemeClr val="bg2"/>
                </a:solidFill>
              </a:rPr>
              <a:t>It’s a constant because you can’t change its value once your Python interpreter is running:</a:t>
            </a:r>
            <a:endParaRPr lang="en-US" altLang="zh-CN" sz="1200" dirty="0">
              <a:solidFill>
                <a:schemeClr val="bg2"/>
              </a:solidFill>
            </a:endParaRPr>
          </a:p>
          <a:p>
            <a:pPr lvl="1"/>
            <a:r>
              <a:rPr lang="zh-CN" altLang="en-US" sz="1200" dirty="0">
                <a:solidFill>
                  <a:schemeClr val="bg2"/>
                </a:solidFill>
              </a:rPr>
              <a:t>现在假设你已经到了开发周期的尽头。您的代码已经过广泛的审查和测试。您的所有断言都通过，您的代码已准备好发布新版本。此时，可以通过禁用在开发过程中添加的断言来优化生产代码</a:t>
            </a:r>
            <a:endParaRPr lang="zh-CN" altLang="en-US" sz="1200" dirty="0">
              <a:solidFill>
                <a:schemeClr val="bg2"/>
              </a:solidFill>
            </a:endParaRPr>
          </a:p>
          <a:p>
            <a:pPr lvl="1"/>
            <a:r>
              <a:rPr lang="zh-CN" altLang="en-US" sz="1200" dirty="0">
                <a:solidFill>
                  <a:schemeClr val="bg2"/>
                </a:solidFill>
              </a:rPr>
              <a:t>两个选项：</a:t>
            </a:r>
            <a:endParaRPr lang="zh-CN" altLang="en-US" sz="1200" dirty="0">
              <a:solidFill>
                <a:schemeClr val="bg2"/>
              </a:solidFill>
            </a:endParaRPr>
          </a:p>
          <a:p>
            <a:pPr lvl="1"/>
            <a:r>
              <a:rPr lang="zh-CN" altLang="en-US" sz="1200" dirty="0">
                <a:solidFill>
                  <a:schemeClr val="bg2"/>
                </a:solidFill>
              </a:rPr>
              <a:t>使用 -O 或 -OO 选项运行 Python。</a:t>
            </a:r>
            <a:endParaRPr lang="zh-CN" altLang="en-US" sz="1200" dirty="0">
              <a:solidFill>
                <a:schemeClr val="bg2"/>
              </a:solidFill>
            </a:endParaRPr>
          </a:p>
          <a:p>
            <a:pPr lvl="1"/>
            <a:r>
              <a:rPr lang="zh-CN" altLang="en-US" sz="1200" dirty="0">
                <a:solidFill>
                  <a:schemeClr val="bg2"/>
                </a:solidFill>
              </a:rPr>
              <a:t>将 PYTHONOPTIMIZE 环境变量设置为适当的值。</a:t>
            </a:r>
            <a:endParaRPr lang="zh-CN" altLang="en-US" sz="1200" dirty="0">
              <a:solidFill>
                <a:schemeClr val="bg2"/>
              </a:solidFill>
            </a:endParaRPr>
          </a:p>
          <a:p>
            <a:pPr lvl="1"/>
            <a:r>
              <a:rPr lang="zh-CN" altLang="en-US" sz="1200" dirty="0">
                <a:solidFill>
                  <a:schemeClr val="bg2"/>
                </a:solidFill>
              </a:rPr>
              <a:t>Python 有一个内置的常量，称为 __debug__。</a:t>
            </a:r>
            <a:endParaRPr lang="zh-CN" altLang="en-US" sz="1200" dirty="0">
              <a:solidFill>
                <a:schemeClr val="bg2"/>
              </a:solidFill>
            </a:endParaRPr>
          </a:p>
          <a:p>
            <a:pPr lvl="1"/>
            <a:r>
              <a:rPr lang="zh-CN" altLang="en-US" sz="1200" dirty="0">
                <a:solidFill>
                  <a:schemeClr val="bg2"/>
                </a:solidFill>
              </a:rPr>
              <a:t>此常量与 assert 语句密切相关。</a:t>
            </a:r>
            <a:endParaRPr lang="zh-CN" altLang="en-US" sz="1200" dirty="0">
              <a:solidFill>
                <a:schemeClr val="bg2"/>
              </a:solidFill>
            </a:endParaRPr>
          </a:p>
          <a:p>
            <a:pPr lvl="1"/>
            <a:r>
              <a:rPr lang="zh-CN" altLang="en-US" sz="1200" dirty="0">
                <a:solidFill>
                  <a:schemeClr val="bg2"/>
                </a:solidFill>
              </a:rPr>
              <a:t> Python 的 __debug__ 是一个布尔常量，默认为 True。</a:t>
            </a:r>
            <a:endParaRPr lang="zh-CN" altLang="en-US" sz="1200" dirty="0">
              <a:solidFill>
                <a:schemeClr val="bg2"/>
              </a:solidFill>
            </a:endParaRPr>
          </a:p>
          <a:p>
            <a:pPr lvl="1"/>
            <a:r>
              <a:rPr lang="zh-CN" altLang="en-US" sz="1200" dirty="0">
                <a:solidFill>
                  <a:schemeClr val="bg2"/>
                </a:solidFill>
              </a:rPr>
              <a:t>它是一个常量，因为一旦 Python 解释器运行，就无法更改其值：</a:t>
            </a:r>
            <a:endParaRPr lang="zh-CN" altLang="en-US" sz="1200" dirty="0">
              <a:solidFill>
                <a:schemeClr val="bg2"/>
              </a:solidFill>
            </a:endParaRPr>
          </a:p>
        </p:txBody>
      </p:sp>
      <p:pic>
        <p:nvPicPr>
          <p:cNvPr id="4" name="Picture 3"/>
          <p:cNvPicPr>
            <a:picLocks noChangeAspect="1"/>
          </p:cNvPicPr>
          <p:nvPr/>
        </p:nvPicPr>
        <p:blipFill>
          <a:blip r:embed="rId1"/>
          <a:stretch>
            <a:fillRect/>
          </a:stretch>
        </p:blipFill>
        <p:spPr>
          <a:xfrm>
            <a:off x="5252085" y="3983990"/>
            <a:ext cx="3627120" cy="1212850"/>
          </a:xfrm>
          <a:prstGeom prst="rect">
            <a:avLst/>
          </a:prstGeom>
        </p:spPr>
      </p:pic>
      <p:sp>
        <p:nvSpPr>
          <p:cNvPr id="5" name="文本框 4"/>
          <p:cNvSpPr txBox="1"/>
          <p:nvPr/>
        </p:nvSpPr>
        <p:spPr>
          <a:xfrm>
            <a:off x="527626" y="1208214"/>
            <a:ext cx="8088747" cy="307777"/>
          </a:xfrm>
          <a:prstGeom prst="rect">
            <a:avLst/>
          </a:prstGeom>
          <a:solidFill>
            <a:srgbClr val="7030A0"/>
          </a:solidFill>
        </p:spPr>
        <p:txBody>
          <a:bodyPr wrap="square" rtlCol="0">
            <a:spAutoFit/>
          </a:bodyPr>
          <a:lstStyle/>
          <a:p>
            <a:r>
              <a:rPr lang="en-US" altLang="zh-CN" dirty="0">
                <a:solidFill>
                  <a:schemeClr val="bg1"/>
                </a:solidFill>
                <a:latin typeface="Source Sans Pro" panose="020B0503030403020204" pitchFamily="34" charset="0"/>
                <a:ea typeface="Source Sans Pro" panose="020B0503030403020204" pitchFamily="34" charset="0"/>
              </a:rPr>
              <a:t>Assertions are great during development, but in production, they can affect the code’s performance.</a:t>
            </a:r>
            <a:endParaRPr lang="en-US" altLang="zh-CN" dirty="0">
              <a:solidFill>
                <a:schemeClr val="bg1"/>
              </a:solidFill>
              <a:latin typeface="Source Sans Pro" panose="020B0503030403020204" pitchFamily="34" charset="0"/>
              <a:ea typeface="Source Sans Pro" panose="020B0503030403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__debug__</a:t>
            </a:r>
            <a:endParaRPr lang="zh-CN" altLang="en-US" dirty="0"/>
          </a:p>
        </p:txBody>
      </p:sp>
      <p:sp>
        <p:nvSpPr>
          <p:cNvPr id="3" name="文本占位符 2"/>
          <p:cNvSpPr>
            <a:spLocks noGrp="1"/>
          </p:cNvSpPr>
          <p:nvPr>
            <p:ph type="body" idx="1"/>
          </p:nvPr>
        </p:nvSpPr>
        <p:spPr>
          <a:xfrm>
            <a:off x="378202" y="1202835"/>
            <a:ext cx="8520600" cy="3416400"/>
          </a:xfrm>
        </p:spPr>
        <p:txBody>
          <a:bodyPr numCol="2">
            <a:noAutofit/>
          </a:bodyPr>
          <a:lstStyle/>
          <a:p>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endParaRPr lang="en-US" altLang="zh-CN" sz="1400" dirty="0">
              <a:solidFill>
                <a:schemeClr val="bg2"/>
              </a:solidFill>
            </a:endParaRPr>
          </a:p>
          <a:p>
            <a:r>
              <a:rPr lang="en-US" altLang="zh-CN" sz="1400" dirty="0">
                <a:solidFill>
                  <a:schemeClr val="bg2"/>
                </a:solidFill>
              </a:rPr>
              <a:t>True is the default value of __debug__, and there’s no way to change this value once your Python interpreter is running</a:t>
            </a:r>
            <a:endParaRPr lang="en-US" altLang="zh-CN" sz="1400" dirty="0">
              <a:solidFill>
                <a:schemeClr val="bg2"/>
              </a:solidFill>
            </a:endParaRPr>
          </a:p>
          <a:p>
            <a:r>
              <a:rPr lang="en-US" altLang="zh-CN" sz="1400" dirty="0">
                <a:solidFill>
                  <a:schemeClr val="bg2"/>
                </a:solidFill>
              </a:rPr>
              <a:t>The value of __debug__ depends on which mode Python runs in, normal or optimized:</a:t>
            </a:r>
            <a:endParaRPr lang="en-US" altLang="zh-CN" sz="1400" dirty="0">
              <a:solidFill>
                <a:schemeClr val="bg2"/>
              </a:solidFill>
            </a:endParaRPr>
          </a:p>
          <a:p>
            <a:pPr lvl="1"/>
            <a:r>
              <a:rPr lang="en-US" altLang="zh-CN" sz="1200" dirty="0">
                <a:solidFill>
                  <a:schemeClr val="bg2"/>
                </a:solidFill>
              </a:rPr>
              <a:t>Normal mode is typically the mode that you use during development, while optimized mode is what you should use in production</a:t>
            </a:r>
            <a:endParaRPr lang="en-US" altLang="zh-CN" sz="1200" dirty="0">
              <a:solidFill>
                <a:schemeClr val="bg2"/>
              </a:solidFill>
            </a:endParaRPr>
          </a:p>
          <a:p>
            <a:r>
              <a:rPr lang="en-US" altLang="zh-CN" sz="1400" dirty="0">
                <a:solidFill>
                  <a:schemeClr val="bg2"/>
                </a:solidFill>
              </a:rPr>
              <a:t> Now, what does __debug__ have to do with assertions? In Python, the assert statement is equivalent to the following conditional:</a:t>
            </a:r>
            <a:endParaRPr lang="en-US" altLang="zh-CN" sz="1400" dirty="0">
              <a:solidFill>
                <a:schemeClr val="bg2"/>
              </a:solidFill>
            </a:endParaRPr>
          </a:p>
          <a:p>
            <a:pPr lvl="1"/>
            <a:r>
              <a:rPr lang="en-US" altLang="zh-CN" sz="1200" dirty="0">
                <a:solidFill>
                  <a:schemeClr val="tx1"/>
                </a:solidFill>
              </a:rPr>
              <a:t>If __debug__ is true</a:t>
            </a:r>
            <a:r>
              <a:rPr lang="en-US" altLang="zh-CN" sz="1200" dirty="0">
                <a:solidFill>
                  <a:schemeClr val="bg2"/>
                </a:solidFill>
              </a:rPr>
              <a:t>, then the code under the outer if statement runs. </a:t>
            </a:r>
            <a:endParaRPr lang="en-US" altLang="zh-CN" sz="1200" dirty="0">
              <a:solidFill>
                <a:schemeClr val="bg2"/>
              </a:solidFill>
            </a:endParaRPr>
          </a:p>
          <a:p>
            <a:pPr lvl="1"/>
            <a:r>
              <a:rPr lang="en-US" altLang="zh-CN" sz="1200" dirty="0">
                <a:solidFill>
                  <a:schemeClr val="bg2"/>
                </a:solidFill>
              </a:rPr>
              <a:t>The inner if statement checks expression for truthiness and raises an </a:t>
            </a:r>
            <a:r>
              <a:rPr lang="en-US" altLang="zh-CN" sz="1200" dirty="0" err="1">
                <a:solidFill>
                  <a:schemeClr val="bg2"/>
                </a:solidFill>
              </a:rPr>
              <a:t>AssertionError</a:t>
            </a:r>
            <a:r>
              <a:rPr lang="en-US" altLang="zh-CN" sz="1200" dirty="0">
                <a:solidFill>
                  <a:schemeClr val="bg2"/>
                </a:solidFill>
              </a:rPr>
              <a:t> only if the expression is not true. T</a:t>
            </a:r>
            <a:endParaRPr lang="en-US" altLang="zh-CN" sz="1200" dirty="0">
              <a:solidFill>
                <a:schemeClr val="bg2"/>
              </a:solidFill>
            </a:endParaRPr>
          </a:p>
          <a:p>
            <a:pPr lvl="1"/>
            <a:r>
              <a:rPr lang="en-US" altLang="zh-CN" sz="1200" dirty="0">
                <a:solidFill>
                  <a:schemeClr val="bg2"/>
                </a:solidFill>
              </a:rPr>
              <a:t>his is the default or normal Python mode, in which all your assertions are enabled because __debug__ is True</a:t>
            </a:r>
            <a:endParaRPr lang="en-US" altLang="zh-CN" sz="1200" dirty="0">
              <a:solidFill>
                <a:schemeClr val="bg2"/>
              </a:solidFill>
            </a:endParaRPr>
          </a:p>
        </p:txBody>
      </p:sp>
      <p:pic>
        <p:nvPicPr>
          <p:cNvPr id="6" name="图片 5"/>
          <p:cNvPicPr>
            <a:picLocks noChangeAspect="1"/>
          </p:cNvPicPr>
          <p:nvPr/>
        </p:nvPicPr>
        <p:blipFill>
          <a:blip r:embed="rId1"/>
          <a:stretch>
            <a:fillRect/>
          </a:stretch>
        </p:blipFill>
        <p:spPr>
          <a:xfrm>
            <a:off x="596515" y="1202835"/>
            <a:ext cx="3290131" cy="900285"/>
          </a:xfrm>
          <a:prstGeom prst="rect">
            <a:avLst/>
          </a:prstGeom>
        </p:spPr>
      </p:pic>
      <p:pic>
        <p:nvPicPr>
          <p:cNvPr id="8" name="图片 7"/>
          <p:cNvPicPr>
            <a:picLocks noChangeAspect="1"/>
          </p:cNvPicPr>
          <p:nvPr/>
        </p:nvPicPr>
        <p:blipFill>
          <a:blip r:embed="rId2"/>
          <a:stretch>
            <a:fillRect/>
          </a:stretch>
        </p:blipFill>
        <p:spPr>
          <a:xfrm>
            <a:off x="4403737" y="378566"/>
            <a:ext cx="4579839" cy="1590222"/>
          </a:xfrm>
          <a:prstGeom prst="rect">
            <a:avLst/>
          </a:prstGeom>
        </p:spPr>
      </p:pic>
      <p:sp>
        <p:nvSpPr>
          <p:cNvPr id="4" name="文本框 3"/>
          <p:cNvSpPr txBox="1"/>
          <p:nvPr/>
        </p:nvSpPr>
        <p:spPr>
          <a:xfrm>
            <a:off x="2376170" y="248285"/>
            <a:ext cx="4456430" cy="2891790"/>
          </a:xfrm>
          <a:prstGeom prst="rect">
            <a:avLst/>
          </a:prstGeom>
          <a:noFill/>
        </p:spPr>
        <p:txBody>
          <a:bodyPr wrap="square" rtlCol="0">
            <a:spAutoFit/>
          </a:bodyPr>
          <a:p>
            <a:r>
              <a:rPr lang="zh-CN" altLang="en-US">
                <a:highlight>
                  <a:srgbClr val="FFFF00"/>
                </a:highlight>
              </a:rPr>
              <a:t>True 是 __debug__ 的默认值，一旦 Python 解释器运行，就无法更改此值</a:t>
            </a:r>
            <a:endParaRPr lang="zh-CN" altLang="en-US">
              <a:highlight>
                <a:srgbClr val="FFFF00"/>
              </a:highlight>
            </a:endParaRPr>
          </a:p>
          <a:p>
            <a:r>
              <a:rPr lang="zh-CN" altLang="en-US">
                <a:highlight>
                  <a:srgbClr val="FFFF00"/>
                </a:highlight>
              </a:rPr>
              <a:t>__debug__ 的值取决于 Python 运行的模式，是正常的还是优化的：</a:t>
            </a:r>
            <a:endParaRPr lang="zh-CN" altLang="en-US">
              <a:highlight>
                <a:srgbClr val="FFFF00"/>
              </a:highlight>
            </a:endParaRPr>
          </a:p>
          <a:p>
            <a:r>
              <a:rPr lang="zh-CN" altLang="en-US">
                <a:highlight>
                  <a:srgbClr val="FFFF00"/>
                </a:highlight>
              </a:rPr>
              <a:t>正常模式通常是在开发过程中使用的模式，而优化模式是应在生产中使用的模式</a:t>
            </a:r>
            <a:endParaRPr lang="zh-CN" altLang="en-US">
              <a:highlight>
                <a:srgbClr val="FFFF00"/>
              </a:highlight>
            </a:endParaRPr>
          </a:p>
          <a:p>
            <a:r>
              <a:rPr lang="zh-CN" altLang="en-US">
                <a:highlight>
                  <a:srgbClr val="FFFF00"/>
                </a:highlight>
              </a:rPr>
              <a:t> 现在，__debug__与断言有什么关系？在 Python 中，assert 语句等效于以下条件：</a:t>
            </a:r>
            <a:endParaRPr lang="zh-CN" altLang="en-US">
              <a:highlight>
                <a:srgbClr val="FFFF00"/>
              </a:highlight>
            </a:endParaRPr>
          </a:p>
          <a:p>
            <a:r>
              <a:rPr lang="zh-CN" altLang="en-US">
                <a:highlight>
                  <a:srgbClr val="FFFF00"/>
                </a:highlight>
              </a:rPr>
              <a:t>如果 __debug__ 为 true，则运行外部 if 语句下的代码。</a:t>
            </a:r>
            <a:endParaRPr lang="zh-CN" altLang="en-US">
              <a:highlight>
                <a:srgbClr val="FFFF00"/>
              </a:highlight>
            </a:endParaRPr>
          </a:p>
          <a:p>
            <a:r>
              <a:rPr lang="zh-CN" altLang="en-US">
                <a:highlight>
                  <a:srgbClr val="FFFF00"/>
                </a:highlight>
              </a:rPr>
              <a:t>内部 if 语句检查表达式的真实性，并仅在表达式不为 true 时引发 AssertionError。T</a:t>
            </a:r>
            <a:endParaRPr lang="zh-CN" altLang="en-US">
              <a:highlight>
                <a:srgbClr val="FFFF00"/>
              </a:highlight>
            </a:endParaRPr>
          </a:p>
          <a:p>
            <a:r>
              <a:rPr lang="zh-CN" altLang="en-US">
                <a:highlight>
                  <a:srgbClr val="FFFF00"/>
                </a:highlight>
              </a:rPr>
              <a:t>his 是默认或普通的 Python 模式，在这种模式下，您的所有断言都会启用，因为 __debug__ 是 True</a:t>
            </a:r>
            <a:endParaRPr lang="zh-CN" altLang="en-US">
              <a:highlight>
                <a:srgbClr val="FFFF00"/>
              </a:highlight>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11700" y="130065"/>
            <a:ext cx="8520600" cy="623400"/>
          </a:xfrm>
        </p:spPr>
        <p:txBody>
          <a:bodyPr>
            <a:normAutofit fontScale="90000"/>
          </a:bodyPr>
          <a:lstStyle/>
          <a:p>
            <a:r>
              <a:rPr lang="en-US" altLang="zh-CN" dirty="0"/>
              <a:t>__debug__ (cont’d)</a:t>
            </a:r>
            <a:endParaRPr lang="zh-CN" altLang="en-US" dirty="0"/>
          </a:p>
        </p:txBody>
      </p:sp>
      <p:sp>
        <p:nvSpPr>
          <p:cNvPr id="3" name="文本占位符 2"/>
          <p:cNvSpPr>
            <a:spLocks noGrp="1"/>
          </p:cNvSpPr>
          <p:nvPr>
            <p:ph type="body" idx="1"/>
          </p:nvPr>
        </p:nvSpPr>
        <p:spPr>
          <a:xfrm>
            <a:off x="311785" y="721360"/>
            <a:ext cx="8520430" cy="4190365"/>
          </a:xfrm>
        </p:spPr>
        <p:txBody>
          <a:bodyPr numCol="2">
            <a:noAutofit/>
          </a:bodyPr>
          <a:lstStyle/>
          <a:p>
            <a:r>
              <a:rPr lang="en-US" altLang="zh-CN" sz="1400" dirty="0">
                <a:solidFill>
                  <a:schemeClr val="bg2"/>
                </a:solidFill>
              </a:rPr>
              <a:t>On the other hand, if __debug__ is False, then the code under the outer if statement doesn’t run, meaning that your assertions will be disabled. </a:t>
            </a:r>
            <a:endParaRPr lang="en-US" altLang="zh-CN" sz="1400" dirty="0">
              <a:solidFill>
                <a:schemeClr val="bg2"/>
              </a:solidFill>
            </a:endParaRPr>
          </a:p>
          <a:p>
            <a:pPr lvl="1"/>
            <a:r>
              <a:rPr lang="en-US" altLang="zh-CN" sz="1200" dirty="0">
                <a:solidFill>
                  <a:schemeClr val="bg2"/>
                </a:solidFill>
              </a:rPr>
              <a:t>In this case, Python is running in optimized mode</a:t>
            </a:r>
            <a:endParaRPr lang="en-US" altLang="zh-CN" sz="1200" dirty="0">
              <a:solidFill>
                <a:schemeClr val="bg2"/>
              </a:solidFill>
            </a:endParaRPr>
          </a:p>
          <a:p>
            <a:r>
              <a:rPr lang="en-US" altLang="zh-CN" sz="1400" dirty="0">
                <a:solidFill>
                  <a:schemeClr val="bg2"/>
                </a:solidFill>
              </a:rPr>
              <a:t>Normal or debug mode allows you to have assertions in place as you develop and test the code. </a:t>
            </a:r>
            <a:endParaRPr lang="en-US" altLang="zh-CN" sz="1400" dirty="0">
              <a:solidFill>
                <a:schemeClr val="bg2"/>
              </a:solidFill>
            </a:endParaRPr>
          </a:p>
          <a:p>
            <a:pPr lvl="1"/>
            <a:r>
              <a:rPr lang="en-US" altLang="zh-CN" sz="1200" dirty="0">
                <a:solidFill>
                  <a:schemeClr val="bg2"/>
                </a:solidFill>
              </a:rPr>
              <a:t>Once your current development cycle is complete, then you can switch to optimized mode and disable the assertions to get your code ready for production</a:t>
            </a:r>
            <a:endParaRPr lang="en-US" altLang="zh-CN" sz="1200" dirty="0">
              <a:solidFill>
                <a:schemeClr val="bg2"/>
              </a:solidFill>
            </a:endParaRPr>
          </a:p>
          <a:p>
            <a:r>
              <a:rPr lang="en-US" altLang="zh-CN" sz="1400" dirty="0">
                <a:solidFill>
                  <a:schemeClr val="bg2"/>
                </a:solidFill>
              </a:rPr>
              <a:t>另一方面，如果 __debug__ 为 False，则外部 if 语句下的代码不会运行，这意味着您的断言将被禁用。</a:t>
            </a:r>
            <a:endParaRPr lang="en-US" altLang="zh-CN" sz="1400" dirty="0">
              <a:solidFill>
                <a:schemeClr val="bg2"/>
              </a:solidFill>
            </a:endParaRPr>
          </a:p>
          <a:p>
            <a:pPr marL="114300" indent="0">
              <a:buNone/>
            </a:pPr>
            <a:r>
              <a:rPr lang="en-US" altLang="zh-CN" sz="1400" dirty="0">
                <a:solidFill>
                  <a:schemeClr val="bg2"/>
                </a:solidFill>
              </a:rPr>
              <a:t>在这种情况下，Python 在优化模式下运行</a:t>
            </a:r>
            <a:r>
              <a:rPr lang="zh-CN" altLang="en-US" sz="1400" dirty="0">
                <a:solidFill>
                  <a:schemeClr val="bg2"/>
                </a:solidFill>
                <a:ea typeface="宋体" panose="02010600030101010101" pitchFamily="2" charset="-122"/>
              </a:rPr>
              <a:t>。</a:t>
            </a:r>
            <a:r>
              <a:rPr lang="en-US" altLang="zh-CN" sz="1400" dirty="0">
                <a:solidFill>
                  <a:schemeClr val="bg2"/>
                </a:solidFill>
              </a:rPr>
              <a:t>正常模式或调试模式允许您在开发和测试代码时进行断言。当前开发周期完成后，可以切换到优化模式并禁用断言，以便为生产做好准备</a:t>
            </a:r>
            <a:r>
              <a:rPr lang="zh-CN" altLang="en-US" sz="1400" dirty="0">
                <a:solidFill>
                  <a:schemeClr val="bg2"/>
                </a:solidFill>
                <a:ea typeface="宋体" panose="02010600030101010101" pitchFamily="2" charset="-122"/>
              </a:rPr>
              <a:t>。</a:t>
            </a:r>
            <a:r>
              <a:rPr lang="en-US" altLang="zh-CN" sz="1400" dirty="0">
                <a:solidFill>
                  <a:schemeClr val="bg2"/>
                </a:solidFill>
              </a:rPr>
              <a:t>要激活优化模式并禁用断言，可以使用 –O 或 -OO 选项启动 Python 解释器，或者将系统变量 PYTHONOPTIMIZE 设置为适当的值</a:t>
            </a:r>
            <a:r>
              <a:rPr lang="zh-CN" altLang="en-US" sz="1400" dirty="0">
                <a:solidFill>
                  <a:schemeClr val="bg2"/>
                </a:solidFill>
                <a:ea typeface="宋体" panose="02010600030101010101" pitchFamily="2" charset="-122"/>
              </a:rPr>
              <a:t>。</a:t>
            </a:r>
            <a:r>
              <a:rPr lang="en-US" altLang="zh-CN" sz="1400" dirty="0">
                <a:solidFill>
                  <a:schemeClr val="bg2"/>
                </a:solidFill>
              </a:rPr>
              <a:t>-O 选项在内部将 __debug__ 设置为 False。此更改将删除在条件定位__debug__下显式引入的 assert 语句和任何代码。-OO 选项的作用与 -O 相同，并且还会丢弃文档字符串。</a:t>
            </a:r>
            <a:endParaRPr lang="en-US" altLang="zh-CN" sz="1400" dirty="0">
              <a:solidFill>
                <a:schemeClr val="bg2"/>
              </a:solidFill>
            </a:endParaRPr>
          </a:p>
          <a:p>
            <a:r>
              <a:rPr lang="en-US" altLang="zh-CN" sz="1400" dirty="0">
                <a:solidFill>
                  <a:schemeClr val="bg2"/>
                </a:solidFill>
              </a:rPr>
              <a:t>To activate optimized mode and disable your assertions, you can either start up the Python interpreter with the –O or -OO option, or set the system variable PYTHONOPTIMIZE to an appropriate value</a:t>
            </a:r>
            <a:endParaRPr lang="en-US" altLang="zh-CN" sz="1400" dirty="0">
              <a:solidFill>
                <a:schemeClr val="bg2"/>
              </a:solidFill>
            </a:endParaRPr>
          </a:p>
          <a:p>
            <a:pPr lvl="1"/>
            <a:r>
              <a:rPr lang="en-US" altLang="zh-CN" sz="1200" dirty="0">
                <a:solidFill>
                  <a:schemeClr val="bg2"/>
                </a:solidFill>
              </a:rPr>
              <a:t>The -O option internally sets __debug__ to False. </a:t>
            </a:r>
            <a:endParaRPr lang="en-US" altLang="zh-CN" sz="1200" dirty="0">
              <a:solidFill>
                <a:schemeClr val="bg2"/>
              </a:solidFill>
            </a:endParaRPr>
          </a:p>
          <a:p>
            <a:pPr lvl="1"/>
            <a:r>
              <a:rPr lang="en-US" altLang="zh-CN" sz="1200" dirty="0">
                <a:solidFill>
                  <a:schemeClr val="bg2"/>
                </a:solidFill>
              </a:rPr>
              <a:t>This change removes the assert statements and any code that you’ve explicitly introduced under a conditional targeting __debug__. </a:t>
            </a:r>
            <a:endParaRPr lang="en-US" altLang="zh-CN" sz="1200" dirty="0">
              <a:solidFill>
                <a:schemeClr val="bg2"/>
              </a:solidFill>
            </a:endParaRPr>
          </a:p>
          <a:p>
            <a:pPr lvl="1"/>
            <a:r>
              <a:rPr lang="en-US" altLang="zh-CN" sz="1200" dirty="0">
                <a:solidFill>
                  <a:schemeClr val="bg2"/>
                </a:solidFill>
              </a:rPr>
              <a:t>The -OO option does the same as -O and also discards docstrings.</a:t>
            </a:r>
            <a:endParaRPr lang="zh-CN" altLang="en-US" sz="1200" dirty="0">
              <a:solidFill>
                <a:schemeClr val="bg2"/>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Optimized Mode</a:t>
            </a:r>
            <a:endParaRPr lang="zh-CN" altLang="en-US" dirty="0"/>
          </a:p>
        </p:txBody>
      </p:sp>
      <p:sp>
        <p:nvSpPr>
          <p:cNvPr id="3" name="文本占位符 2"/>
          <p:cNvSpPr>
            <a:spLocks noGrp="1"/>
          </p:cNvSpPr>
          <p:nvPr>
            <p:ph type="body" idx="1"/>
          </p:nvPr>
        </p:nvSpPr>
        <p:spPr/>
        <p:txBody>
          <a:bodyPr>
            <a:normAutofit/>
          </a:bodyPr>
          <a:lstStyle/>
          <a:p>
            <a:r>
              <a:rPr lang="en-US" altLang="zh-CN" sz="1400" dirty="0">
                <a:solidFill>
                  <a:schemeClr val="bg2"/>
                </a:solidFill>
              </a:rPr>
              <a:t>When you run Python, the interpreter compiles any imported module to bytecode </a:t>
            </a:r>
            <a:r>
              <a:rPr lang="en-US" altLang="zh-CN" sz="1400" dirty="0">
                <a:solidFill>
                  <a:schemeClr val="tx1"/>
                </a:solidFill>
              </a:rPr>
              <a:t>on the fly </a:t>
            </a:r>
            <a:endParaRPr lang="en-US" altLang="zh-CN" sz="1400" dirty="0">
              <a:solidFill>
                <a:schemeClr val="tx1"/>
              </a:solidFill>
            </a:endParaRPr>
          </a:p>
          <a:p>
            <a:r>
              <a:rPr lang="en-US" altLang="zh-CN" sz="1400" dirty="0">
                <a:solidFill>
                  <a:schemeClr val="bg2"/>
                </a:solidFill>
              </a:rPr>
              <a:t>The compiled bytecode will live in a directory called __</a:t>
            </a:r>
            <a:r>
              <a:rPr lang="en-US" altLang="zh-CN" sz="1400" dirty="0" err="1">
                <a:solidFill>
                  <a:schemeClr val="bg2"/>
                </a:solidFill>
              </a:rPr>
              <a:t>pycache</a:t>
            </a:r>
            <a:r>
              <a:rPr lang="en-US" altLang="zh-CN" sz="1400" dirty="0">
                <a:solidFill>
                  <a:schemeClr val="bg2"/>
                </a:solidFill>
              </a:rPr>
              <a:t>__/, which is placed in the directory containing the module that provided the imported code</a:t>
            </a:r>
            <a:endParaRPr lang="en-US" altLang="zh-CN" sz="1400" dirty="0">
              <a:solidFill>
                <a:schemeClr val="bg2"/>
              </a:solidFill>
            </a:endParaRPr>
          </a:p>
          <a:p>
            <a:r>
              <a:rPr lang="en-US" altLang="zh-CN" sz="1400" dirty="0">
                <a:solidFill>
                  <a:schemeClr val="bg2"/>
                </a:solidFill>
              </a:rPr>
              <a:t>Inside __</a:t>
            </a:r>
            <a:r>
              <a:rPr lang="en-US" altLang="zh-CN" sz="1400" dirty="0" err="1">
                <a:solidFill>
                  <a:schemeClr val="bg2"/>
                </a:solidFill>
              </a:rPr>
              <a:t>pycache</a:t>
            </a:r>
            <a:r>
              <a:rPr lang="en-US" altLang="zh-CN" sz="1400" dirty="0">
                <a:solidFill>
                  <a:schemeClr val="bg2"/>
                </a:solidFill>
              </a:rPr>
              <a:t>__/, you’ll find a .</a:t>
            </a:r>
            <a:r>
              <a:rPr lang="en-US" altLang="zh-CN" sz="1400" dirty="0" err="1">
                <a:solidFill>
                  <a:schemeClr val="bg2"/>
                </a:solidFill>
              </a:rPr>
              <a:t>pyc</a:t>
            </a:r>
            <a:r>
              <a:rPr lang="en-US" altLang="zh-CN" sz="1400" dirty="0">
                <a:solidFill>
                  <a:schemeClr val="bg2"/>
                </a:solidFill>
              </a:rPr>
              <a:t> file named after your original module plus the interpreter’s name and version</a:t>
            </a:r>
            <a:endParaRPr lang="en-US" altLang="zh-CN" sz="1400" dirty="0">
              <a:solidFill>
                <a:schemeClr val="bg2"/>
              </a:solidFill>
            </a:endParaRPr>
          </a:p>
          <a:p>
            <a:r>
              <a:rPr lang="en-US" altLang="zh-CN" sz="1400" dirty="0">
                <a:solidFill>
                  <a:schemeClr val="bg2"/>
                </a:solidFill>
              </a:rPr>
              <a:t>The name of the .</a:t>
            </a:r>
            <a:r>
              <a:rPr lang="en-US" altLang="zh-CN" sz="1400" dirty="0" err="1">
                <a:solidFill>
                  <a:schemeClr val="bg2"/>
                </a:solidFill>
              </a:rPr>
              <a:t>pyc</a:t>
            </a:r>
            <a:r>
              <a:rPr lang="en-US" altLang="zh-CN" sz="1400" dirty="0">
                <a:solidFill>
                  <a:schemeClr val="bg2"/>
                </a:solidFill>
              </a:rPr>
              <a:t> file will also include the optimization level used to compile the code</a:t>
            </a:r>
            <a:endParaRPr lang="en-US" altLang="zh-CN" sz="1400" dirty="0">
              <a:solidFill>
                <a:schemeClr val="bg2"/>
              </a:solidFill>
            </a:endParaRPr>
          </a:p>
          <a:p>
            <a:r>
              <a:rPr lang="zh-CN" altLang="en-US" sz="1400" dirty="0">
                <a:solidFill>
                  <a:schemeClr val="bg2"/>
                </a:solidFill>
              </a:rPr>
              <a:t>运行 Python 时，解释器会动态将任何导入的模块编译为字节码</a:t>
            </a:r>
            <a:endParaRPr lang="zh-CN" altLang="en-US" sz="1400" dirty="0">
              <a:solidFill>
                <a:schemeClr val="bg2"/>
              </a:solidFill>
            </a:endParaRPr>
          </a:p>
          <a:p>
            <a:r>
              <a:rPr lang="zh-CN" altLang="en-US" sz="1400" dirty="0">
                <a:solidFill>
                  <a:schemeClr val="bg2"/>
                </a:solidFill>
              </a:rPr>
              <a:t>编译后的字节码将位于名为 __pycache__/ 的目录中，该目录位于包含提供导入代码的模块的目录中</a:t>
            </a:r>
            <a:endParaRPr lang="zh-CN" altLang="en-US" sz="1400" dirty="0">
              <a:solidFill>
                <a:schemeClr val="bg2"/>
              </a:solidFill>
            </a:endParaRPr>
          </a:p>
          <a:p>
            <a:r>
              <a:rPr lang="zh-CN" altLang="en-US" sz="1400" dirty="0">
                <a:solidFill>
                  <a:schemeClr val="bg2"/>
                </a:solidFill>
              </a:rPr>
              <a:t>在 __pycache__/ 中，您会找到一个以原始模块以及解释器的名称和版本命名的 .pyc 文件</a:t>
            </a:r>
            <a:endParaRPr lang="zh-CN" altLang="en-US" sz="1400" dirty="0">
              <a:solidFill>
                <a:schemeClr val="bg2"/>
              </a:solidFill>
            </a:endParaRPr>
          </a:p>
          <a:p>
            <a:r>
              <a:rPr lang="zh-CN" altLang="en-US" sz="1400" dirty="0">
                <a:solidFill>
                  <a:schemeClr val="bg2"/>
                </a:solidFill>
              </a:rPr>
              <a:t>.pyc 文件的名称还将包括用于编译代码的优化级别</a:t>
            </a:r>
            <a:endParaRPr lang="zh-CN" altLang="en-US" sz="1400" dirty="0">
              <a:solidFill>
                <a:schemeClr val="bg2"/>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Testing Your Code With Assertions</a:t>
            </a:r>
            <a:endParaRPr lang="zh-CN" altLang="en-US" dirty="0"/>
          </a:p>
        </p:txBody>
      </p:sp>
      <p:sp>
        <p:nvSpPr>
          <p:cNvPr id="3" name="文本占位符 2"/>
          <p:cNvSpPr>
            <a:spLocks noGrp="1"/>
          </p:cNvSpPr>
          <p:nvPr>
            <p:ph type="body" idx="1"/>
          </p:nvPr>
        </p:nvSpPr>
        <p:spPr>
          <a:xfrm>
            <a:off x="311700" y="1068426"/>
            <a:ext cx="8520600" cy="3819458"/>
          </a:xfrm>
        </p:spPr>
        <p:txBody>
          <a:bodyPr numCol="2">
            <a:noAutofit/>
          </a:bodyPr>
          <a:lstStyle/>
          <a:p>
            <a:r>
              <a:rPr lang="en-US" altLang="zh-CN" sz="1400" dirty="0">
                <a:solidFill>
                  <a:schemeClr val="bg2"/>
                </a:solidFill>
              </a:rPr>
              <a:t>Testing is another field in the development process where assertions are useful</a:t>
            </a:r>
            <a:endParaRPr lang="en-US" altLang="zh-CN" sz="1400" dirty="0">
              <a:solidFill>
                <a:schemeClr val="bg2"/>
              </a:solidFill>
            </a:endParaRPr>
          </a:p>
          <a:p>
            <a:pPr lvl="1"/>
            <a:r>
              <a:rPr lang="en-US" altLang="zh-CN" sz="1100" dirty="0">
                <a:solidFill>
                  <a:schemeClr val="bg2"/>
                </a:solidFill>
              </a:rPr>
              <a:t>Testing boils down to comparing an observed value with an expected one to check if they’re equal or not</a:t>
            </a:r>
            <a:endParaRPr lang="en-US" altLang="zh-CN" sz="1100" dirty="0">
              <a:solidFill>
                <a:schemeClr val="bg2"/>
              </a:solidFill>
            </a:endParaRPr>
          </a:p>
          <a:p>
            <a:pPr lvl="1"/>
            <a:r>
              <a:rPr lang="en-US" altLang="zh-CN" sz="1100" dirty="0">
                <a:solidFill>
                  <a:schemeClr val="bg2"/>
                </a:solidFill>
              </a:rPr>
              <a:t>This kind of check perfectly fits into assertions</a:t>
            </a:r>
            <a:endParaRPr lang="en-US" altLang="zh-CN" sz="1100" dirty="0">
              <a:solidFill>
                <a:schemeClr val="bg2"/>
              </a:solidFill>
            </a:endParaRPr>
          </a:p>
          <a:p>
            <a:r>
              <a:rPr lang="en-US" altLang="zh-CN" sz="1400" dirty="0">
                <a:solidFill>
                  <a:schemeClr val="bg2"/>
                </a:solidFill>
              </a:rPr>
              <a:t>Assertions must check for conditions that should typically be true, unless you have a bug in your code</a:t>
            </a:r>
            <a:endParaRPr lang="en-US" altLang="zh-CN" sz="1400" dirty="0">
              <a:solidFill>
                <a:schemeClr val="bg2"/>
              </a:solidFill>
            </a:endParaRPr>
          </a:p>
          <a:p>
            <a:pPr lvl="1"/>
            <a:r>
              <a:rPr lang="en-US" altLang="zh-CN" sz="1100" dirty="0">
                <a:solidFill>
                  <a:schemeClr val="bg2"/>
                </a:solidFill>
              </a:rPr>
              <a:t>This idea is another important concept behind testing</a:t>
            </a:r>
            <a:endParaRPr lang="en-US" altLang="zh-CN" sz="1100" dirty="0">
              <a:solidFill>
                <a:schemeClr val="bg2"/>
              </a:solidFill>
            </a:endParaRPr>
          </a:p>
          <a:p>
            <a:r>
              <a:rPr lang="en-US" altLang="zh-CN" sz="1400" dirty="0">
                <a:solidFill>
                  <a:schemeClr val="bg2"/>
                </a:solidFill>
              </a:rPr>
              <a:t>The </a:t>
            </a:r>
            <a:r>
              <a:rPr lang="en-US" altLang="zh-CN" sz="1400" dirty="0" err="1">
                <a:solidFill>
                  <a:schemeClr val="bg2"/>
                </a:solidFill>
              </a:rPr>
              <a:t>pytest</a:t>
            </a:r>
            <a:r>
              <a:rPr lang="en-US" altLang="zh-CN" sz="1400" dirty="0">
                <a:solidFill>
                  <a:schemeClr val="bg2"/>
                </a:solidFill>
              </a:rPr>
              <a:t> third-party library is a popular testing framework in Python </a:t>
            </a:r>
            <a:endParaRPr lang="en-US" altLang="zh-CN" sz="1400" dirty="0">
              <a:solidFill>
                <a:schemeClr val="bg2"/>
              </a:solidFill>
            </a:endParaRPr>
          </a:p>
          <a:p>
            <a:pPr lvl="1"/>
            <a:r>
              <a:rPr lang="en-US" altLang="zh-CN" sz="1100" dirty="0">
                <a:solidFill>
                  <a:schemeClr val="bg2"/>
                </a:solidFill>
              </a:rPr>
              <a:t>At its core, you’ll find the assert statement, which you can use to write most of your test cases in </a:t>
            </a:r>
            <a:r>
              <a:rPr lang="en-US" altLang="zh-CN" sz="1100" dirty="0" err="1">
                <a:solidFill>
                  <a:schemeClr val="bg2"/>
                </a:solidFill>
              </a:rPr>
              <a:t>pytest</a:t>
            </a:r>
            <a:endParaRPr lang="en-US" altLang="zh-CN" sz="1100" dirty="0">
              <a:solidFill>
                <a:schemeClr val="bg2"/>
              </a:solidFill>
            </a:endParaRPr>
          </a:p>
          <a:p>
            <a:r>
              <a:rPr lang="en-US" altLang="zh-CN" sz="1400" dirty="0">
                <a:solidFill>
                  <a:schemeClr val="bg2"/>
                </a:solidFill>
              </a:rPr>
              <a:t>There are a couple of remarkable advantages behind this choice:</a:t>
            </a:r>
            <a:endParaRPr lang="en-US" altLang="zh-CN" sz="1400" dirty="0">
              <a:solidFill>
                <a:schemeClr val="bg2"/>
              </a:solidFill>
            </a:endParaRPr>
          </a:p>
          <a:p>
            <a:pPr lvl="1"/>
            <a:r>
              <a:rPr lang="en-US" altLang="zh-CN" sz="1100" dirty="0">
                <a:solidFill>
                  <a:schemeClr val="bg2"/>
                </a:solidFill>
              </a:rPr>
              <a:t>The assert statement allows </a:t>
            </a:r>
            <a:r>
              <a:rPr lang="en-US" altLang="zh-CN" sz="1100" dirty="0" err="1">
                <a:solidFill>
                  <a:schemeClr val="bg2"/>
                </a:solidFill>
              </a:rPr>
              <a:t>pytest</a:t>
            </a:r>
            <a:r>
              <a:rPr lang="en-US" altLang="zh-CN" sz="1100" dirty="0">
                <a:solidFill>
                  <a:schemeClr val="bg2"/>
                </a:solidFill>
              </a:rPr>
              <a:t> to lower the entry barrier and somewhat flatten the learning curve because its users can take advantage of Python syntax that they already know</a:t>
            </a:r>
            <a:endParaRPr lang="en-US" altLang="zh-CN" sz="1100" dirty="0">
              <a:solidFill>
                <a:schemeClr val="bg2"/>
              </a:solidFill>
            </a:endParaRPr>
          </a:p>
          <a:p>
            <a:pPr lvl="1"/>
            <a:r>
              <a:rPr lang="en-US" altLang="zh-CN" sz="1100" dirty="0">
                <a:solidFill>
                  <a:schemeClr val="bg2"/>
                </a:solidFill>
              </a:rPr>
              <a:t>The users of </a:t>
            </a:r>
            <a:r>
              <a:rPr lang="en-US" altLang="zh-CN" sz="1100" dirty="0" err="1">
                <a:solidFill>
                  <a:schemeClr val="bg2"/>
                </a:solidFill>
              </a:rPr>
              <a:t>pytest</a:t>
            </a:r>
            <a:r>
              <a:rPr lang="en-US" altLang="zh-CN" sz="1100" dirty="0">
                <a:solidFill>
                  <a:schemeClr val="bg2"/>
                </a:solidFill>
              </a:rPr>
              <a:t> don’t need to import anything from the library to start writing test cases. They only need to start importing things if their test cases get complicated, demanding more advanced features</a:t>
            </a:r>
            <a:endParaRPr lang="en-US" altLang="zh-CN" sz="1100" dirty="0">
              <a:solidFill>
                <a:schemeClr val="bg2"/>
              </a:solidFill>
            </a:endParaRPr>
          </a:p>
          <a:p>
            <a:pPr lvl="1"/>
            <a:r>
              <a:rPr lang="en-US" altLang="zh-CN" sz="1100" dirty="0">
                <a:solidFill>
                  <a:schemeClr val="bg2"/>
                </a:solidFill>
              </a:rPr>
              <a:t>These advantages make working with </a:t>
            </a:r>
            <a:r>
              <a:rPr lang="en-US" altLang="zh-CN" sz="1100" dirty="0" err="1">
                <a:solidFill>
                  <a:schemeClr val="bg2"/>
                </a:solidFill>
              </a:rPr>
              <a:t>pytest</a:t>
            </a:r>
            <a:r>
              <a:rPr lang="en-US" altLang="zh-CN" sz="1100" dirty="0">
                <a:solidFill>
                  <a:schemeClr val="bg2"/>
                </a:solidFill>
              </a:rPr>
              <a:t> a pleasant experience for beginners and people coming from other testing frameworks with custom APIs</a:t>
            </a:r>
            <a:endParaRPr lang="en-US" altLang="zh-CN" sz="1100" dirty="0">
              <a:solidFill>
                <a:schemeClr val="bg2"/>
              </a:solidFill>
            </a:endParaRPr>
          </a:p>
          <a:p>
            <a:r>
              <a:rPr lang="en-US" altLang="zh-CN" sz="1400" dirty="0">
                <a:solidFill>
                  <a:schemeClr val="bg2"/>
                </a:solidFill>
              </a:rPr>
              <a:t>For example, the standard-library </a:t>
            </a:r>
            <a:r>
              <a:rPr lang="en-US" altLang="zh-CN" sz="1400" dirty="0" err="1">
                <a:solidFill>
                  <a:schemeClr val="bg2"/>
                </a:solidFill>
              </a:rPr>
              <a:t>unittest</a:t>
            </a:r>
            <a:r>
              <a:rPr lang="en-US" altLang="zh-CN" sz="1400" dirty="0">
                <a:solidFill>
                  <a:schemeClr val="bg2"/>
                </a:solidFill>
              </a:rPr>
              <a:t> module provides an API consisting of a list of .assert*() methods that work pretty much like assert statements</a:t>
            </a:r>
            <a:endParaRPr lang="en-US" altLang="zh-CN" sz="1400" dirty="0">
              <a:solidFill>
                <a:schemeClr val="bg2"/>
              </a:solidFill>
            </a:endParaRPr>
          </a:p>
          <a:p>
            <a:pPr lvl="1"/>
            <a:r>
              <a:rPr lang="en-US" altLang="zh-CN" sz="1100" dirty="0">
                <a:solidFill>
                  <a:schemeClr val="bg2"/>
                </a:solidFill>
              </a:rPr>
              <a:t>This kind of API can be difficult to learn and memorize for developers starting with the framework</a:t>
            </a:r>
            <a:endParaRPr lang="en-US" altLang="zh-CN" sz="1100" dirty="0">
              <a:solidFill>
                <a:schemeClr val="bg2"/>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248660" y="169650"/>
            <a:ext cx="4270400" cy="4804200"/>
          </a:xfrm>
          <a:prstGeom prst="rect">
            <a:avLst/>
          </a:prstGeom>
        </p:spPr>
      </p:pic>
      <p:pic>
        <p:nvPicPr>
          <p:cNvPr id="5" name="Picture 4"/>
          <p:cNvPicPr>
            <a:picLocks noChangeAspect="1"/>
          </p:cNvPicPr>
          <p:nvPr/>
        </p:nvPicPr>
        <p:blipFill>
          <a:blip r:embed="rId2"/>
          <a:stretch>
            <a:fillRect/>
          </a:stretch>
        </p:blipFill>
        <p:spPr>
          <a:xfrm>
            <a:off x="4734509" y="2238963"/>
            <a:ext cx="4160831" cy="2734887"/>
          </a:xfrm>
          <a:prstGeom prst="rect">
            <a:avLst/>
          </a:prstGeom>
        </p:spPr>
      </p:pic>
      <p:sp>
        <p:nvSpPr>
          <p:cNvPr id="3" name="TextBox 2"/>
          <p:cNvSpPr txBox="1"/>
          <p:nvPr/>
        </p:nvSpPr>
        <p:spPr>
          <a:xfrm>
            <a:off x="4734509" y="355926"/>
            <a:ext cx="4409491" cy="1015663"/>
          </a:xfrm>
          <a:prstGeom prst="rect">
            <a:avLst/>
          </a:prstGeom>
          <a:noFill/>
        </p:spPr>
        <p:txBody>
          <a:bodyPr wrap="square">
            <a:spAutoFit/>
          </a:bodyPr>
          <a:lstStyle/>
          <a:p>
            <a:r>
              <a:rPr lang="en-US" altLang="zh-CN" sz="1200" dirty="0">
                <a:solidFill>
                  <a:schemeClr val="bg2"/>
                </a:solidFill>
                <a:latin typeface="Source Sans Pro" panose="020B0503030403020204" pitchFamily="34" charset="0"/>
                <a:ea typeface="Source Sans Pro" panose="020B0503030403020204" pitchFamily="34" charset="0"/>
              </a:rPr>
              <a:t>You can use </a:t>
            </a:r>
            <a:r>
              <a:rPr lang="en-US" altLang="zh-CN" sz="1200" dirty="0" err="1">
                <a:solidFill>
                  <a:schemeClr val="bg2"/>
                </a:solidFill>
                <a:latin typeface="Source Sans Pro" panose="020B0503030403020204" pitchFamily="34" charset="0"/>
                <a:ea typeface="Source Sans Pro" panose="020B0503030403020204" pitchFamily="34" charset="0"/>
              </a:rPr>
              <a:t>pytest</a:t>
            </a:r>
            <a:r>
              <a:rPr lang="en-US" altLang="zh-CN" sz="1200" dirty="0">
                <a:solidFill>
                  <a:schemeClr val="bg2"/>
                </a:solidFill>
                <a:latin typeface="Source Sans Pro" panose="020B0503030403020204" pitchFamily="34" charset="0"/>
                <a:ea typeface="Source Sans Pro" panose="020B0503030403020204" pitchFamily="34" charset="0"/>
              </a:rPr>
              <a:t> to run all the test case examples above. </a:t>
            </a:r>
            <a:endParaRPr lang="en-US" altLang="zh-CN" sz="1200" dirty="0">
              <a:solidFill>
                <a:schemeClr val="bg2"/>
              </a:solidFill>
              <a:latin typeface="Source Sans Pro" panose="020B0503030403020204" pitchFamily="34" charset="0"/>
              <a:ea typeface="Source Sans Pro" panose="020B0503030403020204" pitchFamily="34" charset="0"/>
            </a:endParaRPr>
          </a:p>
          <a:p>
            <a:r>
              <a:rPr lang="en-US" altLang="zh-CN" sz="1200" dirty="0">
                <a:solidFill>
                  <a:schemeClr val="bg2"/>
                </a:solidFill>
                <a:latin typeface="Source Sans Pro" panose="020B0503030403020204" pitchFamily="34" charset="0"/>
                <a:ea typeface="Source Sans Pro" panose="020B0503030403020204" pitchFamily="34" charset="0"/>
              </a:rPr>
              <a:t>First, you need to install the library by issuing the python -m pip install </a:t>
            </a:r>
            <a:r>
              <a:rPr lang="en-US" altLang="zh-CN" sz="1200" dirty="0" err="1">
                <a:solidFill>
                  <a:schemeClr val="bg2"/>
                </a:solidFill>
                <a:latin typeface="Source Sans Pro" panose="020B0503030403020204" pitchFamily="34" charset="0"/>
                <a:ea typeface="Source Sans Pro" panose="020B0503030403020204" pitchFamily="34" charset="0"/>
              </a:rPr>
              <a:t>pytest</a:t>
            </a:r>
            <a:r>
              <a:rPr lang="en-US" altLang="zh-CN" sz="1200" dirty="0">
                <a:solidFill>
                  <a:schemeClr val="bg2"/>
                </a:solidFill>
                <a:latin typeface="Source Sans Pro" panose="020B0503030403020204" pitchFamily="34" charset="0"/>
                <a:ea typeface="Source Sans Pro" panose="020B0503030403020204" pitchFamily="34" charset="0"/>
              </a:rPr>
              <a:t> command. </a:t>
            </a:r>
            <a:endParaRPr lang="en-US" altLang="zh-CN" sz="1200" dirty="0">
              <a:solidFill>
                <a:schemeClr val="bg2"/>
              </a:solidFill>
              <a:latin typeface="Source Sans Pro" panose="020B0503030403020204" pitchFamily="34" charset="0"/>
              <a:ea typeface="Source Sans Pro" panose="020B0503030403020204" pitchFamily="34" charset="0"/>
            </a:endParaRPr>
          </a:p>
          <a:p>
            <a:r>
              <a:rPr lang="en-US" altLang="zh-CN" sz="1200" dirty="0">
                <a:solidFill>
                  <a:schemeClr val="bg2"/>
                </a:solidFill>
                <a:latin typeface="Source Sans Pro" panose="020B0503030403020204" pitchFamily="34" charset="0"/>
                <a:ea typeface="Source Sans Pro" panose="020B0503030403020204" pitchFamily="34" charset="0"/>
              </a:rPr>
              <a:t>Then you can execute </a:t>
            </a:r>
            <a:r>
              <a:rPr lang="en-US" altLang="zh-CN" sz="1200" dirty="0" err="1">
                <a:solidFill>
                  <a:schemeClr val="bg2"/>
                </a:solidFill>
                <a:latin typeface="Source Sans Pro" panose="020B0503030403020204" pitchFamily="34" charset="0"/>
                <a:ea typeface="Source Sans Pro" panose="020B0503030403020204" pitchFamily="34" charset="0"/>
              </a:rPr>
              <a:t>pytest</a:t>
            </a:r>
            <a:r>
              <a:rPr lang="en-US" altLang="zh-CN" sz="1200" dirty="0">
                <a:solidFill>
                  <a:schemeClr val="bg2"/>
                </a:solidFill>
                <a:latin typeface="Source Sans Pro" panose="020B0503030403020204" pitchFamily="34" charset="0"/>
                <a:ea typeface="Source Sans Pro" panose="020B0503030403020204" pitchFamily="34" charset="0"/>
              </a:rPr>
              <a:t> </a:t>
            </a:r>
            <a:r>
              <a:rPr lang="en-US" altLang="zh-CN" sz="1200" dirty="0" err="1">
                <a:solidFill>
                  <a:schemeClr val="bg2"/>
                </a:solidFill>
                <a:latin typeface="Source Sans Pro" panose="020B0503030403020204" pitchFamily="34" charset="0"/>
                <a:ea typeface="Source Sans Pro" panose="020B0503030403020204" pitchFamily="34" charset="0"/>
              </a:rPr>
              <a:t>test_samples.py</a:t>
            </a:r>
            <a:r>
              <a:rPr lang="en-US" altLang="zh-CN" sz="1200" dirty="0">
                <a:solidFill>
                  <a:schemeClr val="bg2"/>
                </a:solidFill>
                <a:latin typeface="Source Sans Pro" panose="020B0503030403020204" pitchFamily="34" charset="0"/>
                <a:ea typeface="Source Sans Pro" panose="020B0503030403020204" pitchFamily="34" charset="0"/>
              </a:rPr>
              <a:t> from the command-line. </a:t>
            </a:r>
            <a:endParaRPr lang="zh-CN" altLang="en-US" sz="1200" dirty="0">
              <a:solidFill>
                <a:schemeClr val="bg2"/>
              </a:solidFill>
              <a:latin typeface="Source Sans Pro" panose="020B0503030403020204" pitchFamily="34" charset="0"/>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Understanding Common Pitfalls of assert</a:t>
            </a:r>
            <a:endParaRPr lang="zh-CN" altLang="en-US" dirty="0"/>
          </a:p>
        </p:txBody>
      </p:sp>
      <p:sp>
        <p:nvSpPr>
          <p:cNvPr id="3" name="文本占位符 2"/>
          <p:cNvSpPr>
            <a:spLocks noGrp="1"/>
          </p:cNvSpPr>
          <p:nvPr>
            <p:ph type="body" idx="1"/>
          </p:nvPr>
        </p:nvSpPr>
        <p:spPr>
          <a:xfrm>
            <a:off x="311785" y="916305"/>
            <a:ext cx="8520430" cy="4486910"/>
          </a:xfrm>
        </p:spPr>
        <p:txBody>
          <a:bodyPr numCol="2">
            <a:normAutofit fontScale="80000"/>
          </a:bodyPr>
          <a:lstStyle/>
          <a:p>
            <a:r>
              <a:rPr lang="en-US" altLang="zh-CN" sz="1400" dirty="0">
                <a:solidFill>
                  <a:schemeClr val="bg2"/>
                </a:solidFill>
              </a:rPr>
              <a:t>Even though assertions are such a great and useful tool, they have some downsides </a:t>
            </a:r>
            <a:endParaRPr lang="en-US" altLang="zh-CN" sz="1400" dirty="0">
              <a:solidFill>
                <a:schemeClr val="bg2"/>
              </a:solidFill>
            </a:endParaRPr>
          </a:p>
          <a:p>
            <a:pPr lvl="1"/>
            <a:r>
              <a:rPr lang="en-US" altLang="zh-CN" sz="1200" dirty="0">
                <a:solidFill>
                  <a:schemeClr val="bg2"/>
                </a:solidFill>
              </a:rPr>
              <a:t>Like any other tool, assertions can be misused. </a:t>
            </a:r>
            <a:endParaRPr lang="en-US" altLang="zh-CN" sz="1200" dirty="0">
              <a:solidFill>
                <a:schemeClr val="bg2"/>
              </a:solidFill>
            </a:endParaRPr>
          </a:p>
          <a:p>
            <a:pPr lvl="1"/>
            <a:r>
              <a:rPr lang="en-US" altLang="zh-CN" sz="1200" dirty="0">
                <a:solidFill>
                  <a:schemeClr val="bg2"/>
                </a:solidFill>
              </a:rPr>
              <a:t>You’ve learned that you should use assertions mainly for debugging and testing code </a:t>
            </a:r>
            <a:r>
              <a:rPr lang="en-US" altLang="zh-CN" sz="1200">
                <a:solidFill>
                  <a:schemeClr val="bg2"/>
                </a:solidFill>
              </a:rPr>
              <a:t>during development </a:t>
            </a:r>
            <a:endParaRPr lang="en-US" altLang="zh-CN" sz="1200" dirty="0">
              <a:solidFill>
                <a:schemeClr val="bg2"/>
              </a:solidFill>
            </a:endParaRPr>
          </a:p>
          <a:p>
            <a:pPr lvl="1"/>
            <a:r>
              <a:rPr lang="en-US" altLang="zh-CN" sz="1200" dirty="0">
                <a:solidFill>
                  <a:schemeClr val="bg2"/>
                </a:solidFill>
              </a:rPr>
              <a:t>In contrast, you shouldn’t rely on assertions to provide functionality in production code, which is one of the main drivers of pitfalls with assertions</a:t>
            </a:r>
            <a:endParaRPr lang="en-US" altLang="zh-CN" sz="1200" dirty="0">
              <a:solidFill>
                <a:schemeClr val="bg2"/>
              </a:solidFill>
            </a:endParaRPr>
          </a:p>
          <a:p>
            <a:r>
              <a:rPr lang="en-US" altLang="zh-CN" sz="1400" dirty="0">
                <a:solidFill>
                  <a:schemeClr val="bg2"/>
                </a:solidFill>
              </a:rPr>
              <a:t>In particular, you may run into pitfalls if you use assertions for:</a:t>
            </a:r>
            <a:endParaRPr lang="en-US" altLang="zh-CN" sz="1400" dirty="0">
              <a:solidFill>
                <a:schemeClr val="bg2"/>
              </a:solidFill>
            </a:endParaRPr>
          </a:p>
          <a:p>
            <a:pPr lvl="1"/>
            <a:r>
              <a:rPr lang="en-US" altLang="zh-CN" sz="1200" dirty="0">
                <a:solidFill>
                  <a:schemeClr val="bg2"/>
                </a:solidFill>
              </a:rPr>
              <a:t>Processing and validating data</a:t>
            </a:r>
            <a:endParaRPr lang="en-US" altLang="zh-CN" sz="1200" dirty="0">
              <a:solidFill>
                <a:schemeClr val="bg2"/>
              </a:solidFill>
            </a:endParaRPr>
          </a:p>
          <a:p>
            <a:pPr lvl="1"/>
            <a:r>
              <a:rPr lang="en-US" altLang="zh-CN" sz="1200" dirty="0">
                <a:solidFill>
                  <a:schemeClr val="bg2"/>
                </a:solidFill>
              </a:rPr>
              <a:t>Handling errors</a:t>
            </a:r>
            <a:endParaRPr lang="en-US" altLang="zh-CN" sz="1200" dirty="0">
              <a:solidFill>
                <a:schemeClr val="bg2"/>
              </a:solidFill>
            </a:endParaRPr>
          </a:p>
          <a:p>
            <a:pPr lvl="1"/>
            <a:r>
              <a:rPr lang="en-US" altLang="zh-CN" sz="1200" dirty="0">
                <a:solidFill>
                  <a:schemeClr val="bg2"/>
                </a:solidFill>
              </a:rPr>
              <a:t>Running operations with side effects</a:t>
            </a:r>
            <a:endParaRPr lang="en-US" altLang="zh-CN" sz="1200" dirty="0">
              <a:solidFill>
                <a:schemeClr val="bg2"/>
              </a:solidFill>
            </a:endParaRPr>
          </a:p>
          <a:p>
            <a:r>
              <a:rPr lang="en-US" altLang="zh-CN" sz="1400" dirty="0">
                <a:solidFill>
                  <a:schemeClr val="bg2"/>
                </a:solidFill>
              </a:rPr>
              <a:t>Another common source of issues with assertions is that keeping them enabled in production can negatively impact your code’s performance</a:t>
            </a:r>
            <a:endParaRPr lang="en-US" altLang="zh-CN" sz="1400" dirty="0">
              <a:solidFill>
                <a:schemeClr val="bg2"/>
              </a:solidFill>
            </a:endParaRPr>
          </a:p>
          <a:p>
            <a:r>
              <a:rPr lang="en-US" altLang="zh-CN" sz="1400" dirty="0">
                <a:solidFill>
                  <a:schemeClr val="bg2"/>
                </a:solidFill>
              </a:rPr>
              <a:t>Finally, Python has assertions enabled by default, which can confuse developers coming from other languages</a:t>
            </a:r>
            <a:endParaRPr lang="en-US" altLang="zh-CN" sz="1400" dirty="0">
              <a:solidFill>
                <a:schemeClr val="bg2"/>
              </a:solidFill>
            </a:endParaRPr>
          </a:p>
          <a:p>
            <a:r>
              <a:rPr lang="zh-CN" altLang="en-US" sz="1400" dirty="0">
                <a:solidFill>
                  <a:schemeClr val="bg2"/>
                </a:solidFill>
              </a:rPr>
              <a:t>尽管断言是一个如此伟大和有用的工具，但它们也有一些缺点</a:t>
            </a:r>
            <a:endParaRPr lang="zh-CN" altLang="en-US" sz="1400" dirty="0">
              <a:solidFill>
                <a:schemeClr val="bg2"/>
              </a:solidFill>
            </a:endParaRPr>
          </a:p>
          <a:p>
            <a:r>
              <a:rPr lang="zh-CN" altLang="en-US" sz="1400" dirty="0">
                <a:solidFill>
                  <a:schemeClr val="bg2"/>
                </a:solidFill>
              </a:rPr>
              <a:t>与任何其他工具一样，断言可能会被滥用。</a:t>
            </a:r>
            <a:endParaRPr lang="zh-CN" altLang="en-US" sz="1400" dirty="0">
              <a:solidFill>
                <a:schemeClr val="bg2"/>
              </a:solidFill>
            </a:endParaRPr>
          </a:p>
          <a:p>
            <a:r>
              <a:rPr lang="zh-CN" altLang="en-US" sz="1400" dirty="0">
                <a:solidFill>
                  <a:schemeClr val="bg2"/>
                </a:solidFill>
              </a:rPr>
              <a:t>您已经了解到，在开发过程中，应主要使用断言来调试和测试代码</a:t>
            </a:r>
            <a:endParaRPr lang="zh-CN" altLang="en-US" sz="1400" dirty="0">
              <a:solidFill>
                <a:schemeClr val="bg2"/>
              </a:solidFill>
            </a:endParaRPr>
          </a:p>
          <a:p>
            <a:r>
              <a:rPr lang="zh-CN" altLang="en-US" sz="1400" dirty="0">
                <a:solidFill>
                  <a:schemeClr val="bg2"/>
                </a:solidFill>
              </a:rPr>
              <a:t>相反，不应依赖断言在生产代码中提供功能，这是断言陷阱的主要驱动因素之一</a:t>
            </a:r>
            <a:endParaRPr lang="zh-CN" altLang="en-US" sz="1400" dirty="0">
              <a:solidFill>
                <a:schemeClr val="bg2"/>
              </a:solidFill>
            </a:endParaRPr>
          </a:p>
          <a:p>
            <a:r>
              <a:rPr lang="zh-CN" altLang="en-US" sz="1400" dirty="0">
                <a:solidFill>
                  <a:schemeClr val="bg2"/>
                </a:solidFill>
              </a:rPr>
              <a:t>特别是，如果对以下方面使用断言，则可能会遇到陷阱：</a:t>
            </a:r>
            <a:endParaRPr lang="zh-CN" altLang="en-US" sz="1400" dirty="0">
              <a:solidFill>
                <a:schemeClr val="bg2"/>
              </a:solidFill>
            </a:endParaRPr>
          </a:p>
          <a:p>
            <a:r>
              <a:rPr lang="zh-CN" altLang="en-US" sz="1400" dirty="0">
                <a:solidFill>
                  <a:schemeClr val="bg2"/>
                </a:solidFill>
              </a:rPr>
              <a:t>处理和验证数据</a:t>
            </a:r>
            <a:endParaRPr lang="zh-CN" altLang="en-US" sz="1400" dirty="0">
              <a:solidFill>
                <a:schemeClr val="bg2"/>
              </a:solidFill>
            </a:endParaRPr>
          </a:p>
          <a:p>
            <a:r>
              <a:rPr lang="zh-CN" altLang="en-US" sz="1400" dirty="0">
                <a:solidFill>
                  <a:schemeClr val="bg2"/>
                </a:solidFill>
              </a:rPr>
              <a:t>处理错误</a:t>
            </a:r>
            <a:endParaRPr lang="zh-CN" altLang="en-US" sz="1400" dirty="0">
              <a:solidFill>
                <a:schemeClr val="bg2"/>
              </a:solidFill>
            </a:endParaRPr>
          </a:p>
          <a:p>
            <a:r>
              <a:rPr lang="zh-CN" altLang="en-US" sz="1400" dirty="0">
                <a:solidFill>
                  <a:schemeClr val="bg2"/>
                </a:solidFill>
              </a:rPr>
              <a:t>运行有副作用的操作</a:t>
            </a:r>
            <a:endParaRPr lang="zh-CN" altLang="en-US" sz="1400" dirty="0">
              <a:solidFill>
                <a:schemeClr val="bg2"/>
              </a:solidFill>
            </a:endParaRPr>
          </a:p>
          <a:p>
            <a:r>
              <a:rPr lang="zh-CN" altLang="en-US" sz="1400" dirty="0">
                <a:solidFill>
                  <a:schemeClr val="bg2"/>
                </a:solidFill>
              </a:rPr>
              <a:t>断言问题的另一个常见来源是，在生产环境中启用断言可能会对代码的性能产生负面影响</a:t>
            </a:r>
            <a:endParaRPr lang="zh-CN" altLang="en-US" sz="1400" dirty="0">
              <a:solidFill>
                <a:schemeClr val="bg2"/>
              </a:solidFill>
            </a:endParaRPr>
          </a:p>
          <a:p>
            <a:r>
              <a:rPr lang="zh-CN" altLang="en-US" sz="1400" dirty="0">
                <a:solidFill>
                  <a:schemeClr val="bg2"/>
                </a:solidFill>
              </a:rPr>
              <a:t>最后，Python 默认启用断言，这可能会让来自其他语言的开发人员感到困惑</a:t>
            </a:r>
            <a:endParaRPr lang="zh-CN" altLang="en-US" sz="1400" dirty="0">
              <a:solidFill>
                <a:schemeClr val="bg2"/>
              </a:solidFill>
            </a:endParaRPr>
          </a:p>
        </p:txBody>
      </p:sp>
    </p:spTree>
  </p:cSld>
  <p:clrMapOvr>
    <a:masterClrMapping/>
  </p:clrMapOvr>
</p:sld>
</file>

<file path=ppt/tags/tag1.xml><?xml version="1.0" encoding="utf-8"?>
<p:tagLst xmlns:p="http://schemas.openxmlformats.org/presentationml/2006/main">
  <p:tag name="commondata" val="eyJoZGlkIjoiNzY3Mjg3YTY0M2FkYzQ0ZWU2NjE0NDY1YWY1MmI1YWEifQ=="/>
</p:tagLst>
</file>

<file path=ppt/theme/theme1.xml><?xml version="1.0" encoding="utf-8"?>
<a:theme xmlns:a="http://schemas.openxmlformats.org/drawingml/2006/main"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26739</Words>
  <Application>WPS 演示</Application>
  <PresentationFormat>On-screen Show (16:9)</PresentationFormat>
  <Paragraphs>698</Paragraphs>
  <Slides>59</Slides>
  <Notes>8</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59</vt:i4>
      </vt:variant>
    </vt:vector>
  </HeadingPairs>
  <TitlesOfParts>
    <vt:vector size="76" baseType="lpstr">
      <vt:lpstr>Arial</vt:lpstr>
      <vt:lpstr>宋体</vt:lpstr>
      <vt:lpstr>Wingdings</vt:lpstr>
      <vt:lpstr>Arial</vt:lpstr>
      <vt:lpstr>Raleway</vt:lpstr>
      <vt:lpstr>Source Sans Pro</vt:lpstr>
      <vt:lpstr>Source Serif Pro</vt:lpstr>
      <vt:lpstr>Source Sans Pro</vt:lpstr>
      <vt:lpstr>Raleway</vt:lpstr>
      <vt:lpstr>黑体</vt:lpstr>
      <vt:lpstr>Cambria Math</vt:lpstr>
      <vt:lpstr>微软雅黑</vt:lpstr>
      <vt:lpstr>Arial Unicode MS</vt:lpstr>
      <vt:lpstr>Times New Roman</vt:lpstr>
      <vt:lpstr>BatangChe</vt:lpstr>
      <vt:lpstr>ksdb</vt:lpstr>
      <vt:lpstr>Plum</vt:lpstr>
      <vt:lpstr>Introduction to Computation</vt:lpstr>
      <vt:lpstr>Outline</vt:lpstr>
      <vt:lpstr>Algorithm complexity</vt:lpstr>
      <vt:lpstr>Correctness and Performance</vt:lpstr>
      <vt:lpstr>Time: measure performance</vt:lpstr>
      <vt:lpstr>How to measure performance</vt:lpstr>
      <vt:lpstr>Worst-case Running Time</vt:lpstr>
      <vt:lpstr>Asymptotic Notation</vt:lpstr>
      <vt:lpstr>“Big O” notation</vt:lpstr>
      <vt:lpstr>Asymptotic Notation: Summary</vt:lpstr>
      <vt:lpstr>Complexity in Python statement</vt:lpstr>
      <vt:lpstr>High Precision (高精度)</vt:lpstr>
      <vt:lpstr>PowerPoint 演示文稿</vt:lpstr>
      <vt:lpstr>pow(), **</vt:lpstr>
      <vt:lpstr>Evaluate a Polynomial</vt:lpstr>
      <vt:lpstr>列表的复杂度</vt:lpstr>
      <vt:lpstr>列表的复杂度		</vt:lpstr>
      <vt:lpstr>列表的复杂度		</vt:lpstr>
      <vt:lpstr>复合数据结构list, tuple, str, dict, set</vt:lpstr>
      <vt:lpstr>Hash (哈希) Table</vt:lpstr>
      <vt:lpstr>Hash (哈希) Table</vt:lpstr>
      <vt:lpstr>PowerPoint 演示文稿</vt:lpstr>
      <vt:lpstr>hash()</vt:lpstr>
      <vt:lpstr>Example I</vt:lpstr>
      <vt:lpstr>Example II</vt:lpstr>
      <vt:lpstr>Example III</vt:lpstr>
      <vt:lpstr>Example IV</vt:lpstr>
      <vt:lpstr>Binary Search</vt:lpstr>
      <vt:lpstr>Example VI: Fibonacci sequence</vt:lpstr>
      <vt:lpstr>Example VI: Speed Up Fibo.</vt:lpstr>
      <vt:lpstr>Python cache mechanism</vt:lpstr>
      <vt:lpstr>Exercise</vt:lpstr>
      <vt:lpstr>Exception</vt:lpstr>
      <vt:lpstr>Even grammar is correct</vt:lpstr>
      <vt:lpstr>Exception: solution</vt:lpstr>
      <vt:lpstr>Exception</vt:lpstr>
      <vt:lpstr>Handling Exception: Try except</vt:lpstr>
      <vt:lpstr>Exercise</vt:lpstr>
      <vt:lpstr>Raise</vt:lpstr>
      <vt:lpstr>Clean up: try … finally(终极)</vt:lpstr>
      <vt:lpstr>Exception: else</vt:lpstr>
      <vt:lpstr>Predefined Clean-up Actions</vt:lpstr>
      <vt:lpstr>More on try and except</vt:lpstr>
      <vt:lpstr>User Defined Exception</vt:lpstr>
      <vt:lpstr>Error checks vs exception handling</vt:lpstr>
      <vt:lpstr>Exercise</vt:lpstr>
      <vt:lpstr>Application</vt:lpstr>
      <vt:lpstr>Assertion</vt:lpstr>
      <vt:lpstr>assert</vt:lpstr>
      <vt:lpstr>Assertion Use Cases</vt:lpstr>
      <vt:lpstr>Documenting Your Code With Assertions</vt:lpstr>
      <vt:lpstr>Bug is not Exception</vt:lpstr>
      <vt:lpstr>Disabling Assertions in Production for Performance</vt:lpstr>
      <vt:lpstr>__debug__</vt:lpstr>
      <vt:lpstr>__debug__ (cont’d)</vt:lpstr>
      <vt:lpstr>Optimized Mode</vt:lpstr>
      <vt:lpstr>Testing Your Code With Assertions</vt:lpstr>
      <vt:lpstr>PowerPoint 演示文稿</vt:lpstr>
      <vt:lpstr>Understanding Common Pitfalls of assert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Computation</dc:title>
  <dc:creator>Fan Cheng</dc:creator>
  <cp:lastModifiedBy>陈卓妍</cp:lastModifiedBy>
  <cp:revision>9</cp:revision>
  <dcterms:created xsi:type="dcterms:W3CDTF">2023-12-18T13:23:18Z</dcterms:created>
  <dcterms:modified xsi:type="dcterms:W3CDTF">2023-12-19T03:14:19Z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D72C6EED41034AA8B8F83FC24871DAB6_12</vt:lpwstr>
  </property>
  <property fmtid="{D5CDD505-2E9C-101B-9397-08002B2CF9AE}" pid="3" name="KSOProductBuildVer">
    <vt:lpwstr>2052-12.1.0.15712</vt:lpwstr>
  </property>
</Properties>
</file>