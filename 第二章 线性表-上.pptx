
<file path=[Content_Types].xml><?xml version="1.0" encoding="utf-8"?>
<Types xmlns="http://schemas.openxmlformats.org/package/2006/content-types">
  <Default Extension="png" ContentType="image/png"/>
  <Default Extension="jpeg" ContentType="image/jpeg"/>
  <Default Extension="JPG" ContentType="image/.jpg"/>
  <Default Extension="wdp" ContentType="image/vnd.ms-photo"/>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06"/>
  </p:handoutMasterIdLst>
  <p:sldIdLst>
    <p:sldId id="259" r:id="rId3"/>
    <p:sldId id="438" r:id="rId5"/>
    <p:sldId id="437" r:id="rId6"/>
    <p:sldId id="422" r:id="rId7"/>
    <p:sldId id="408" r:id="rId8"/>
    <p:sldId id="287" r:id="rId9"/>
    <p:sldId id="286" r:id="rId10"/>
    <p:sldId id="288" r:id="rId11"/>
    <p:sldId id="289" r:id="rId12"/>
    <p:sldId id="290" r:id="rId13"/>
    <p:sldId id="291" r:id="rId14"/>
    <p:sldId id="410" r:id="rId15"/>
    <p:sldId id="293" r:id="rId16"/>
    <p:sldId id="294" r:id="rId17"/>
    <p:sldId id="295" r:id="rId18"/>
    <p:sldId id="296" r:id="rId19"/>
    <p:sldId id="297" r:id="rId20"/>
    <p:sldId id="298" r:id="rId21"/>
    <p:sldId id="299" r:id="rId22"/>
    <p:sldId id="300" r:id="rId23"/>
    <p:sldId id="301" r:id="rId24"/>
    <p:sldId id="302" r:id="rId25"/>
    <p:sldId id="303" r:id="rId26"/>
    <p:sldId id="304" r:id="rId27"/>
    <p:sldId id="305" r:id="rId28"/>
    <p:sldId id="306" r:id="rId29"/>
    <p:sldId id="307" r:id="rId30"/>
    <p:sldId id="423" r:id="rId31"/>
    <p:sldId id="308" r:id="rId32"/>
    <p:sldId id="309" r:id="rId33"/>
    <p:sldId id="310" r:id="rId34"/>
    <p:sldId id="311" r:id="rId35"/>
    <p:sldId id="312" r:id="rId36"/>
    <p:sldId id="313" r:id="rId37"/>
    <p:sldId id="314" r:id="rId38"/>
    <p:sldId id="315" r:id="rId39"/>
    <p:sldId id="430" r:id="rId40"/>
    <p:sldId id="411" r:id="rId41"/>
    <p:sldId id="316" r:id="rId42"/>
    <p:sldId id="317" r:id="rId43"/>
    <p:sldId id="318" r:id="rId44"/>
    <p:sldId id="319" r:id="rId45"/>
    <p:sldId id="320" r:id="rId46"/>
    <p:sldId id="431" r:id="rId47"/>
    <p:sldId id="322" r:id="rId48"/>
    <p:sldId id="323" r:id="rId49"/>
    <p:sldId id="324" r:id="rId50"/>
    <p:sldId id="325" r:id="rId51"/>
    <p:sldId id="326" r:id="rId52"/>
    <p:sldId id="327" r:id="rId53"/>
    <p:sldId id="328" r:id="rId54"/>
    <p:sldId id="329" r:id="rId55"/>
    <p:sldId id="330" r:id="rId56"/>
    <p:sldId id="331" r:id="rId57"/>
    <p:sldId id="332" r:id="rId58"/>
    <p:sldId id="333" r:id="rId59"/>
    <p:sldId id="427" r:id="rId60"/>
    <p:sldId id="334" r:id="rId61"/>
    <p:sldId id="335" r:id="rId62"/>
    <p:sldId id="336" r:id="rId63"/>
    <p:sldId id="337" r:id="rId64"/>
    <p:sldId id="434" r:id="rId65"/>
    <p:sldId id="432" r:id="rId66"/>
    <p:sldId id="338" r:id="rId67"/>
    <p:sldId id="339" r:id="rId68"/>
    <p:sldId id="340" r:id="rId69"/>
    <p:sldId id="341" r:id="rId70"/>
    <p:sldId id="435" r:id="rId71"/>
    <p:sldId id="436" r:id="rId72"/>
    <p:sldId id="424" r:id="rId73"/>
    <p:sldId id="426" r:id="rId74"/>
    <p:sldId id="344" r:id="rId75"/>
    <p:sldId id="345" r:id="rId76"/>
    <p:sldId id="346" r:id="rId77"/>
    <p:sldId id="347" r:id="rId78"/>
    <p:sldId id="439" r:id="rId79"/>
    <p:sldId id="348" r:id="rId80"/>
    <p:sldId id="412" r:id="rId81"/>
    <p:sldId id="349" r:id="rId82"/>
    <p:sldId id="350" r:id="rId83"/>
    <p:sldId id="351" r:id="rId84"/>
    <p:sldId id="352" r:id="rId85"/>
    <p:sldId id="440" r:id="rId86"/>
    <p:sldId id="353" r:id="rId87"/>
    <p:sldId id="354" r:id="rId88"/>
    <p:sldId id="355" r:id="rId89"/>
    <p:sldId id="356" r:id="rId90"/>
    <p:sldId id="357" r:id="rId91"/>
    <p:sldId id="358" r:id="rId92"/>
    <p:sldId id="359" r:id="rId93"/>
    <p:sldId id="360" r:id="rId94"/>
    <p:sldId id="361" r:id="rId95"/>
    <p:sldId id="362" r:id="rId96"/>
    <p:sldId id="363" r:id="rId97"/>
    <p:sldId id="364" r:id="rId98"/>
    <p:sldId id="413" r:id="rId99"/>
    <p:sldId id="365" r:id="rId100"/>
    <p:sldId id="366" r:id="rId101"/>
    <p:sldId id="419" r:id="rId102"/>
    <p:sldId id="416" r:id="rId103"/>
    <p:sldId id="420" r:id="rId104"/>
    <p:sldId id="421" r:id="rId105"/>
  </p:sldIdLst>
  <p:sldSz cx="12192000" cy="6858000"/>
  <p:notesSz cx="6858000" cy="9144000"/>
  <p:custDataLst>
    <p:tags r:id="rId11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F6EAA"/>
    <a:srgbClr val="7FB1D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07" autoAdjust="0"/>
    <p:restoredTop sz="71115" autoAdjust="0"/>
  </p:normalViewPr>
  <p:slideViewPr>
    <p:cSldViewPr snapToGrid="0">
      <p:cViewPr varScale="1">
        <p:scale>
          <a:sx n="61" d="100"/>
          <a:sy n="61" d="100"/>
        </p:scale>
        <p:origin x="1531" y="53"/>
      </p:cViewPr>
      <p:guideLst/>
    </p:cSldViewPr>
  </p:slideViewPr>
  <p:outlineViewPr>
    <p:cViewPr>
      <p:scale>
        <a:sx n="33" d="100"/>
        <a:sy n="33" d="100"/>
      </p:scale>
      <p:origin x="0" y="-23198"/>
    </p:cViewPr>
  </p:outlineViewPr>
  <p:notesTextViewPr>
    <p:cViewPr>
      <p:scale>
        <a:sx n="1" d="1"/>
        <a:sy n="1" d="1"/>
      </p:scale>
      <p:origin x="0" y="0"/>
    </p:cViewPr>
  </p:notesTextViewPr>
  <p:sorterViewPr>
    <p:cViewPr>
      <p:scale>
        <a:sx n="100" d="100"/>
        <a:sy n="100" d="100"/>
      </p:scale>
      <p:origin x="0" y="-10157"/>
    </p:cViewPr>
  </p:sorterViewPr>
  <p:notesViewPr>
    <p:cSldViewPr snapToGrid="0">
      <p:cViewPr varScale="1">
        <p:scale>
          <a:sx n="65" d="100"/>
          <a:sy n="65" d="100"/>
        </p:scale>
        <p:origin x="3154" y="67"/>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0" Type="http://schemas.openxmlformats.org/officeDocument/2006/relationships/tags" Target="tags/tag1.xml"/><Relationship Id="rId11" Type="http://schemas.openxmlformats.org/officeDocument/2006/relationships/slide" Target="slides/slide8.xml"/><Relationship Id="rId109" Type="http://schemas.openxmlformats.org/officeDocument/2006/relationships/tableStyles" Target="tableStyles.xml"/><Relationship Id="rId108" Type="http://schemas.openxmlformats.org/officeDocument/2006/relationships/viewProps" Target="viewProps.xml"/><Relationship Id="rId107" Type="http://schemas.openxmlformats.org/officeDocument/2006/relationships/presProps" Target="presProps.xml"/><Relationship Id="rId106" Type="http://schemas.openxmlformats.org/officeDocument/2006/relationships/handoutMaster" Target="handoutMasters/handoutMaster1.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02C1FBA-CF23-45CA-A289-03E32D160964}" type="datetimeFigureOut">
              <a:rPr lang="zh-CN" altLang="en-US" smtClean="0"/>
            </a:fld>
            <a:endParaRPr lang="zh-CN" altLang="en-US"/>
          </a:p>
        </p:txBody>
      </p:sp>
      <p:sp>
        <p:nvSpPr>
          <p:cNvPr id="6" name="页脚占位符 5"/>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966BD8-0FC1-456F-BDC6-7D0CA8E3656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CFC841-E2E1-4802-8701-94EA307E94B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r>
              <a:rPr lang="en-US" altLang="zh-CN" dirty="0">
                <a:latin typeface="Arial" panose="020B0604020202020204" pitchFamily="34" charset="0"/>
              </a:rPr>
              <a:t>1.</a:t>
            </a:r>
            <a:r>
              <a:rPr lang="zh-CN" altLang="zh-CN" sz="1200" kern="1200" dirty="0">
                <a:solidFill>
                  <a:schemeClr val="tx1"/>
                </a:solidFill>
                <a:effectLst/>
                <a:latin typeface="+mn-lt"/>
                <a:ea typeface="+mn-ea"/>
                <a:cs typeface="+mn-cs"/>
              </a:rPr>
              <a:t>如元素序列</a:t>
            </a:r>
            <a:r>
              <a:rPr lang="en-US" altLang="zh-CN" sz="1200" kern="1200" dirty="0">
                <a:solidFill>
                  <a:schemeClr val="tx1"/>
                </a:solidFill>
                <a:effectLst/>
                <a:latin typeface="+mn-lt"/>
                <a:ea typeface="+mn-ea"/>
                <a:cs typeface="+mn-cs"/>
              </a:rPr>
              <a:t>a</a:t>
            </a:r>
            <a:r>
              <a:rPr lang="en-US" altLang="zh-CN" sz="1200" kern="1200" baseline="-25000" dirty="0">
                <a:solidFill>
                  <a:schemeClr val="tx1"/>
                </a:solidFill>
                <a:effectLst/>
                <a:latin typeface="+mn-lt"/>
                <a:ea typeface="+mn-ea"/>
                <a:cs typeface="+mn-cs"/>
              </a:rPr>
              <a:t>1</a:t>
            </a:r>
            <a:r>
              <a:rPr lang="en-US" altLang="zh-CN" sz="1200" kern="1200" dirty="0">
                <a:solidFill>
                  <a:schemeClr val="tx1"/>
                </a:solidFill>
                <a:effectLst/>
                <a:latin typeface="+mn-lt"/>
                <a:ea typeface="+mn-ea"/>
                <a:cs typeface="+mn-cs"/>
              </a:rPr>
              <a:t>,a</a:t>
            </a:r>
            <a:r>
              <a:rPr lang="en-US" altLang="zh-CN" sz="1200" kern="1200" baseline="-25000" dirty="0">
                <a:solidFill>
                  <a:schemeClr val="tx1"/>
                </a:solidFill>
                <a:effectLst/>
                <a:latin typeface="+mn-lt"/>
                <a:ea typeface="+mn-ea"/>
                <a:cs typeface="+mn-cs"/>
              </a:rPr>
              <a:t>2</a:t>
            </a:r>
            <a:r>
              <a:rPr lang="en-US" altLang="zh-CN" sz="1200" kern="1200" dirty="0">
                <a:solidFill>
                  <a:schemeClr val="tx1"/>
                </a:solidFill>
                <a:effectLst/>
                <a:latin typeface="+mn-lt"/>
                <a:ea typeface="+mn-ea"/>
                <a:cs typeface="+mn-cs"/>
              </a:rPr>
              <a:t>,a</a:t>
            </a:r>
            <a:r>
              <a:rPr lang="en-US" altLang="zh-CN" sz="1200" kern="1200" baseline="-25000" dirty="0">
                <a:solidFill>
                  <a:schemeClr val="tx1"/>
                </a:solidFill>
                <a:effectLst/>
                <a:latin typeface="+mn-lt"/>
                <a:ea typeface="+mn-ea"/>
                <a:cs typeface="+mn-cs"/>
              </a:rPr>
              <a:t>3</a:t>
            </a:r>
            <a:r>
              <a:rPr lang="en-US" altLang="zh-CN" sz="1200" kern="1200" dirty="0">
                <a:solidFill>
                  <a:schemeClr val="tx1"/>
                </a:solidFill>
                <a:effectLst/>
                <a:latin typeface="+mn-lt"/>
                <a:ea typeface="+mn-ea"/>
                <a:cs typeface="+mn-cs"/>
              </a:rPr>
              <a:t>,…,a</a:t>
            </a:r>
            <a:r>
              <a:rPr lang="en-US" altLang="zh-CN" sz="1200" kern="1200" baseline="-25000" dirty="0">
                <a:solidFill>
                  <a:schemeClr val="tx1"/>
                </a:solidFill>
                <a:effectLst/>
                <a:latin typeface="+mn-lt"/>
                <a:ea typeface="+mn-ea"/>
                <a:cs typeface="+mn-cs"/>
              </a:rPr>
              <a:t>n-1</a:t>
            </a:r>
            <a:r>
              <a:rPr lang="en-US" altLang="zh-CN" sz="1200" kern="1200" dirty="0">
                <a:solidFill>
                  <a:schemeClr val="tx1"/>
                </a:solidFill>
                <a:effectLst/>
                <a:latin typeface="+mn-lt"/>
                <a:ea typeface="+mn-ea"/>
                <a:cs typeface="+mn-cs"/>
              </a:rPr>
              <a:t>,a</a:t>
            </a:r>
            <a:r>
              <a:rPr lang="en-US" altLang="zh-CN" sz="1200" kern="1200" baseline="-250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，其中</a:t>
            </a:r>
            <a:r>
              <a:rPr lang="en-US" altLang="zh-CN" sz="1200" kern="1200" dirty="0">
                <a:solidFill>
                  <a:schemeClr val="tx1"/>
                </a:solidFill>
                <a:effectLst/>
                <a:latin typeface="+mn-lt"/>
                <a:ea typeface="+mn-ea"/>
                <a:cs typeface="+mn-cs"/>
              </a:rPr>
              <a:t>1 </a:t>
            </a:r>
            <a:r>
              <a:rPr lang="zh-CN" altLang="en-US" sz="1200" b="1" i="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 </a:t>
            </a:r>
            <a:r>
              <a:rPr lang="zh-CN" altLang="en-US" sz="1200" b="1" i="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为元素的个数，且</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indent="0" eaLnBrk="1" hangingPunct="1">
              <a:buNone/>
            </a:pP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在红灯前停下的一长串汽车，这些汽车构成了一个队列。其中最先到达的为首元素，最后到达的为尾元素；在离开时最先到达的汽车最先离开、最后到达的最后离开。</a:t>
            </a:r>
            <a:endParaRPr lang="en-US" altLang="zh-CN" sz="1200" kern="1200" dirty="0">
              <a:solidFill>
                <a:schemeClr val="tx1"/>
              </a:solidFill>
              <a:effectLst/>
              <a:latin typeface="+mn-lt"/>
              <a:ea typeface="+mn-ea"/>
              <a:cs typeface="+mn-cs"/>
            </a:endParaRPr>
          </a:p>
          <a:p>
            <a:pPr marL="0" indent="0" eaLnBrk="1" hangingPunct="1">
              <a:buNone/>
            </a:pP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如元素按值从小到大排成的序列。</a:t>
            </a:r>
            <a:endParaRPr lang="en-US" altLang="zh-CN" sz="1200" kern="1200" dirty="0">
              <a:solidFill>
                <a:schemeClr val="tx1"/>
              </a:solidFill>
              <a:effectLst/>
              <a:latin typeface="+mn-lt"/>
              <a:ea typeface="+mn-ea"/>
              <a:cs typeface="+mn-cs"/>
            </a:endParaRPr>
          </a:p>
          <a:p>
            <a:pPr marL="0" indent="0" eaLnBrk="1" hangingPunct="1">
              <a:buNone/>
            </a:pPr>
            <a:r>
              <a:rPr lang="en-US" altLang="zh-CN" sz="1200" kern="1200" dirty="0">
                <a:solidFill>
                  <a:schemeClr val="tx1"/>
                </a:solidFill>
                <a:effectLst/>
                <a:latin typeface="+mn-lt"/>
                <a:ea typeface="+mn-ea"/>
                <a:cs typeface="+mn-cs"/>
              </a:rPr>
              <a:t>4.</a:t>
            </a:r>
            <a:r>
              <a:rPr lang="zh-CN" altLang="en-US" sz="1200" kern="1200" dirty="0">
                <a:solidFill>
                  <a:schemeClr val="tx1"/>
                </a:solidFill>
                <a:effectLst/>
                <a:latin typeface="+mn-lt"/>
                <a:ea typeface="+mn-ea"/>
                <a:cs typeface="+mn-cs"/>
              </a:rPr>
              <a:t>按照元素的访问频率由大到小排成的序列。</a:t>
            </a:r>
            <a:endParaRPr lang="en-US" altLang="zh-CN" dirty="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3CFC841-E2E1-4802-8701-94EA307E94B0}"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microsoft.com/office/2007/relationships/hdphoto" Target="../media/image6.wdp"/><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microsoft.com/office/2007/relationships/hdphoto" Target="../media/image6.wdp"/><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标题幻灯片">
    <p:bg>
      <p:bgPr>
        <a:solidFill>
          <a:schemeClr val="accent1"/>
        </a:solid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77014" y="5815086"/>
            <a:ext cx="3278293" cy="650876"/>
          </a:xfrm>
          <a:prstGeom prst="rect">
            <a:avLst/>
          </a:prstGeom>
        </p:spPr>
      </p:pic>
      <p:sp>
        <p:nvSpPr>
          <p:cNvPr id="2" name="标题 1"/>
          <p:cNvSpPr>
            <a:spLocks noGrp="1"/>
          </p:cNvSpPr>
          <p:nvPr>
            <p:ph type="title"/>
          </p:nvPr>
        </p:nvSpPr>
        <p:spPr>
          <a:xfrm>
            <a:off x="838200" y="4149566"/>
            <a:ext cx="10515600" cy="899510"/>
          </a:xfrm>
          <a:prstGeom prst="rect">
            <a:avLst/>
          </a:prstGeom>
        </p:spPr>
        <p:txBody>
          <a:bodyPr anchor="ctr">
            <a:noAutofit/>
          </a:bodyPr>
          <a:lstStyle>
            <a:lvl1pPr algn="ctr">
              <a:defRPr sz="4800" b="1">
                <a:solidFill>
                  <a:schemeClr val="bg1"/>
                </a:solidFill>
                <a:latin typeface="+mj-ea"/>
                <a:ea typeface="+mj-ea"/>
              </a:defRPr>
            </a:lvl1pPr>
          </a:lstStyle>
          <a:p>
            <a:r>
              <a:rPr lang="zh-CN" altLang="en-US"/>
              <a:t>单击此处编辑母版标题样式</a:t>
            </a:r>
            <a:endParaRPr lang="zh-CN" altLang="en-US" dirty="0"/>
          </a:p>
        </p:txBody>
      </p:sp>
      <p:sp>
        <p:nvSpPr>
          <p:cNvPr id="6" name="副标题 2"/>
          <p:cNvSpPr>
            <a:spLocks noGrp="1"/>
          </p:cNvSpPr>
          <p:nvPr>
            <p:ph type="subTitle" idx="1" hasCustomPrompt="1"/>
          </p:nvPr>
        </p:nvSpPr>
        <p:spPr>
          <a:xfrm>
            <a:off x="838200" y="5114030"/>
            <a:ext cx="10515600" cy="604299"/>
          </a:xfrm>
        </p:spPr>
        <p:txBody>
          <a:bodyPr anchor="ctr">
            <a:noAutofit/>
          </a:bodyPr>
          <a:lstStyle>
            <a:lvl1pPr algn="ctr">
              <a:defRPr lang="zh-CN" altLang="en-US" sz="2400" b="0">
                <a:solidFill>
                  <a:schemeClr val="bg1"/>
                </a:solidFill>
                <a:latin typeface="+mn-ea"/>
                <a:cs typeface="+mj-cs"/>
              </a:defRPr>
            </a:lvl1pPr>
          </a:lstStyle>
          <a:p>
            <a:pPr lvl="0" algn="ctr">
              <a:lnSpc>
                <a:spcPct val="90000"/>
              </a:lnSpc>
              <a:spcBef>
                <a:spcPct val="0"/>
              </a:spcBef>
              <a:buNone/>
            </a:pPr>
            <a:r>
              <a:rPr lang="zh-CN" altLang="en-US"/>
              <a:t>单击以编辑母版副标题样式</a:t>
            </a:r>
            <a:endParaRPr lang="zh-CN" altLang="en-US"/>
          </a:p>
        </p:txBody>
      </p:sp>
      <p:pic>
        <p:nvPicPr>
          <p:cNvPr id="7" name="图片 6"/>
          <p:cNvPicPr>
            <a:picLocks noChangeAspect="1"/>
          </p:cNvPicPr>
          <p:nvPr/>
        </p:nvPicPr>
        <p:blipFill rotWithShape="1">
          <a:blip r:embed="rId3">
            <a:extLst>
              <a:ext uri="{28A0092B-C50C-407E-A947-70E740481C1C}">
                <a14:useLocalDpi xmlns:a14="http://schemas.microsoft.com/office/drawing/2010/main" val="0"/>
              </a:ext>
            </a:extLst>
          </a:blip>
          <a:srcRect l="78" t="172" r="40" b="-12"/>
          <a:stretch>
            <a:fillRect/>
          </a:stretch>
        </p:blipFill>
        <p:spPr>
          <a:xfrm>
            <a:off x="0" y="1"/>
            <a:ext cx="12192000" cy="3899805"/>
          </a:xfrm>
          <a:prstGeom prst="rect">
            <a:avLst/>
          </a:prstGeom>
          <a:ln>
            <a:noFill/>
          </a:ln>
        </p:spPr>
      </p:pic>
      <p:cxnSp>
        <p:nvCxnSpPr>
          <p:cNvPr id="9" name="直接连接符 8"/>
          <p:cNvCxnSpPr/>
          <p:nvPr/>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内页">
    <p:spTree>
      <p:nvGrpSpPr>
        <p:cNvPr id="1" name=""/>
        <p:cNvGrpSpPr/>
        <p:nvPr/>
      </p:nvGrpSpPr>
      <p:grpSpPr>
        <a:xfrm>
          <a:off x="0" y="0"/>
          <a:ext cx="0" cy="0"/>
          <a:chOff x="0" y="0"/>
          <a:chExt cx="0" cy="0"/>
        </a:xfrm>
      </p:grpSpPr>
      <p:sp>
        <p:nvSpPr>
          <p:cNvPr id="3" name="内容占位符 2"/>
          <p:cNvSpPr>
            <a:spLocks noGrp="1"/>
          </p:cNvSpPr>
          <p:nvPr>
            <p:ph sz="quarter" idx="10" hasCustomPrompt="1"/>
          </p:nvPr>
        </p:nvSpPr>
        <p:spPr>
          <a:xfrm>
            <a:off x="658701" y="1546578"/>
            <a:ext cx="11162884" cy="5060598"/>
          </a:xfrm>
        </p:spPr>
        <p:txBody>
          <a:bodyPr>
            <a:normAutofit/>
          </a:bodyPr>
          <a:lstStyle>
            <a:lvl1pPr>
              <a:buClr>
                <a:schemeClr val="accent1"/>
              </a:buClr>
              <a:defRPr sz="2400" b="1" baseline="0">
                <a:latin typeface="Times New Roman" panose="02020603050405020304" pitchFamily="18" charset="0"/>
              </a:defRPr>
            </a:lvl1pPr>
            <a:lvl2pPr>
              <a:buClr>
                <a:schemeClr val="accent1"/>
              </a:buClr>
              <a:defRPr sz="2000" b="1" baseline="0">
                <a:latin typeface="Times New Roman" panose="02020603050405020304" pitchFamily="18" charset="0"/>
              </a:defRPr>
            </a:lvl2pPr>
            <a:lvl3pPr>
              <a:buClr>
                <a:schemeClr val="accent1"/>
              </a:buClr>
              <a:defRPr sz="1800" b="1" baseline="0">
                <a:latin typeface="Times New Roman" panose="02020603050405020304" pitchFamily="18" charset="0"/>
              </a:defRPr>
            </a:lvl3pPr>
            <a:lvl4pPr>
              <a:buClr>
                <a:schemeClr val="accent1"/>
              </a:buClr>
              <a:defRPr sz="1600" b="1" baseline="0">
                <a:latin typeface="Times New Roman" panose="02020603050405020304" pitchFamily="18" charset="0"/>
              </a:defRPr>
            </a:lvl4pPr>
            <a:lvl5pPr>
              <a:buClr>
                <a:schemeClr val="accent1"/>
              </a:buClr>
              <a:defRPr sz="1600" b="1" baseline="0">
                <a:latin typeface="Times New Roman" panose="02020603050405020304" pitchFamily="18" charset="0"/>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标题 4"/>
          <p:cNvSpPr>
            <a:spLocks noGrp="1"/>
          </p:cNvSpPr>
          <p:nvPr>
            <p:ph type="title"/>
          </p:nvPr>
        </p:nvSpPr>
        <p:spPr>
          <a:xfrm>
            <a:off x="658699" y="754146"/>
            <a:ext cx="11162884" cy="574183"/>
          </a:xfrm>
          <a:prstGeom prst="rect">
            <a:avLst/>
          </a:prstGeom>
        </p:spPr>
        <p:txBody>
          <a:bodyPr/>
          <a:lstStyle>
            <a:lvl1pPr>
              <a:defRPr sz="3200" b="1">
                <a:solidFill>
                  <a:schemeClr val="accent1"/>
                </a:solidFill>
              </a:defRPr>
            </a:lvl1pPr>
          </a:lstStyle>
          <a:p>
            <a:r>
              <a:rPr lang="zh-CN" altLang="en-US" dirty="0"/>
              <a:t>单击此处编辑母版标题样式</a:t>
            </a:r>
            <a:endParaRPr lang="zh-CN" altLang="en-US" dirty="0"/>
          </a:p>
        </p:txBody>
      </p:sp>
    </p:spTree>
  </p:cSld>
  <p:clrMapOvr>
    <a:masterClrMapping/>
  </p:clrMapOvr>
  <p:transition spd="med">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内页-有页码">
    <p:spTree>
      <p:nvGrpSpPr>
        <p:cNvPr id="1" name=""/>
        <p:cNvGrpSpPr/>
        <p:nvPr/>
      </p:nvGrpSpPr>
      <p:grpSpPr>
        <a:xfrm>
          <a:off x="0" y="0"/>
          <a:ext cx="0" cy="0"/>
          <a:chOff x="0" y="0"/>
          <a:chExt cx="0" cy="0"/>
        </a:xfrm>
      </p:grpSpPr>
      <p:sp>
        <p:nvSpPr>
          <p:cNvPr id="3" name="内容占位符 2"/>
          <p:cNvSpPr>
            <a:spLocks noGrp="1"/>
          </p:cNvSpPr>
          <p:nvPr>
            <p:ph sz="quarter" idx="10" hasCustomPrompt="1"/>
          </p:nvPr>
        </p:nvSpPr>
        <p:spPr>
          <a:xfrm>
            <a:off x="658701" y="1532050"/>
            <a:ext cx="11162884" cy="5075126"/>
          </a:xfrm>
        </p:spPr>
        <p:txBody>
          <a:bodyPr>
            <a:normAutofit/>
          </a:bodyPr>
          <a:lstStyle>
            <a:lvl1pPr>
              <a:buClr>
                <a:schemeClr val="accent1"/>
              </a:buClr>
              <a:defRPr sz="2400" b="1" baseline="0">
                <a:latin typeface="Times New Roman" panose="02020603050405020304" pitchFamily="18" charset="0"/>
              </a:defRPr>
            </a:lvl1pPr>
            <a:lvl2pPr>
              <a:buClr>
                <a:schemeClr val="accent1"/>
              </a:buClr>
              <a:defRPr sz="2000" b="1" baseline="0">
                <a:latin typeface="Times New Roman" panose="02020603050405020304" pitchFamily="18" charset="0"/>
              </a:defRPr>
            </a:lvl2pPr>
            <a:lvl3pPr>
              <a:buClr>
                <a:schemeClr val="accent1"/>
              </a:buClr>
              <a:defRPr sz="1800" b="1" baseline="0">
                <a:latin typeface="Times New Roman" panose="02020603050405020304" pitchFamily="18" charset="0"/>
              </a:defRPr>
            </a:lvl3pPr>
            <a:lvl4pPr>
              <a:buClr>
                <a:schemeClr val="accent1"/>
              </a:buClr>
              <a:defRPr sz="1600" b="1" baseline="0">
                <a:latin typeface="Times New Roman" panose="02020603050405020304" pitchFamily="18" charset="0"/>
              </a:defRPr>
            </a:lvl4pPr>
            <a:lvl5pPr>
              <a:buClr>
                <a:schemeClr val="accent1"/>
              </a:buClr>
              <a:defRPr sz="1600" b="1" baseline="0">
                <a:latin typeface="Times New Roman" panose="02020603050405020304" pitchFamily="18" charset="0"/>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标题 4"/>
          <p:cNvSpPr>
            <a:spLocks noGrp="1"/>
          </p:cNvSpPr>
          <p:nvPr>
            <p:ph type="title"/>
          </p:nvPr>
        </p:nvSpPr>
        <p:spPr>
          <a:xfrm>
            <a:off x="658701" y="772402"/>
            <a:ext cx="11162884" cy="576000"/>
          </a:xfrm>
          <a:prstGeom prst="rect">
            <a:avLst/>
          </a:prstGeom>
        </p:spPr>
        <p:txBody>
          <a:bodyPr/>
          <a:lstStyle>
            <a:lvl1pPr>
              <a:defRPr sz="3200" b="1">
                <a:solidFill>
                  <a:schemeClr val="accent1"/>
                </a:solidFill>
              </a:defRPr>
            </a:lvl1pPr>
          </a:lstStyle>
          <a:p>
            <a:r>
              <a:rPr lang="zh-CN" altLang="en-US"/>
              <a:t>单击此处编辑母版标题样式</a:t>
            </a:r>
            <a:endParaRPr lang="zh-CN" altLang="en-US"/>
          </a:p>
        </p:txBody>
      </p:sp>
      <p:sp>
        <p:nvSpPr>
          <p:cNvPr id="10" name="灯片编号占位符 5"/>
          <p:cNvSpPr txBox="1"/>
          <p:nvPr/>
        </p:nvSpPr>
        <p:spPr>
          <a:xfrm>
            <a:off x="11596801" y="311755"/>
            <a:ext cx="365165" cy="276999"/>
          </a:xfrm>
          <a:prstGeom prst="rect">
            <a:avLst/>
          </a:prstGeom>
          <a:noFill/>
        </p:spPr>
        <p:txBody>
          <a:bodyPr wrap="none" rtlCol="0">
            <a:spAutoFit/>
          </a:bodyPr>
          <a:lstStyle>
            <a:defPPr>
              <a:defRPr lang="zh-CN"/>
            </a:defPPr>
            <a:lvl1pPr>
              <a:defRPr sz="1200" spc="-60" baseline="0">
                <a:solidFill>
                  <a:schemeClr val="bg1"/>
                </a:solidFill>
                <a:latin typeface="微软雅黑" panose="020B0503020204020204" pitchFamily="34" charset="-122"/>
                <a:ea typeface="微软雅黑" panose="020B0503020204020204" pitchFamily="34" charset="-122"/>
              </a:defRPr>
            </a:lvl1pPr>
          </a:lstStyle>
          <a:p>
            <a:pPr lvl="0"/>
            <a:fld id="{E1703B59-C883-4B8B-974E-AFB30A6C43A7}" type="slidenum">
              <a:rPr lang="zh-CN" altLang="en-US" sz="1200" smtClean="0"/>
            </a:fld>
            <a:endParaRPr lang="zh-CN" altLang="en-US" sz="1200" dirty="0"/>
          </a:p>
        </p:txBody>
      </p:sp>
      <p:sp>
        <p:nvSpPr>
          <p:cNvPr id="9" name="文本框 8"/>
          <p:cNvSpPr txBox="1"/>
          <p:nvPr/>
        </p:nvSpPr>
        <p:spPr>
          <a:xfrm>
            <a:off x="11000035" y="311755"/>
            <a:ext cx="578813" cy="276999"/>
          </a:xfrm>
          <a:prstGeom prst="rect">
            <a:avLst/>
          </a:prstGeom>
          <a:noFill/>
        </p:spPr>
        <p:txBody>
          <a:bodyPr wrap="none" rtlCol="0">
            <a:spAutoFit/>
          </a:bodyPr>
          <a:lstStyle/>
          <a:p>
            <a:r>
              <a:rPr lang="en-US" altLang="zh-CN" sz="1200" spc="-60" baseline="0" dirty="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med">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p:cSld name="目录">
    <p:spTree>
      <p:nvGrpSpPr>
        <p:cNvPr id="1" name=""/>
        <p:cNvGrpSpPr/>
        <p:nvPr/>
      </p:nvGrpSpPr>
      <p:grpSpPr>
        <a:xfrm>
          <a:off x="0" y="0"/>
          <a:ext cx="0" cy="0"/>
          <a:chOff x="0" y="0"/>
          <a:chExt cx="0" cy="0"/>
        </a:xfrm>
      </p:grpSpPr>
      <p:pic>
        <p:nvPicPr>
          <p:cNvPr id="10" name="图片 9"/>
          <p:cNvPicPr>
            <a:picLocks noChangeAspect="1"/>
          </p:cNvPicPr>
          <p:nvPr/>
        </p:nvPicPr>
        <p:blipFill>
          <a:blip r:embed="rId2"/>
          <a:stretch>
            <a:fillRect/>
          </a:stretch>
        </p:blipFill>
        <p:spPr>
          <a:xfrm>
            <a:off x="1" y="0"/>
            <a:ext cx="12193057" cy="664522"/>
          </a:xfrm>
          <a:prstGeom prst="rect">
            <a:avLst/>
          </a:prstGeom>
        </p:spPr>
      </p:pic>
      <p:sp>
        <p:nvSpPr>
          <p:cNvPr id="7" name="矩形 6"/>
          <p:cNvSpPr/>
          <p:nvPr/>
        </p:nvSpPr>
        <p:spPr>
          <a:xfrm>
            <a:off x="0" y="5821680"/>
            <a:ext cx="12192000" cy="10363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89725" y="6100772"/>
            <a:ext cx="2611396" cy="518469"/>
          </a:xfrm>
          <a:prstGeom prst="rect">
            <a:avLst/>
          </a:prstGeom>
        </p:spPr>
      </p:pic>
      <p:sp>
        <p:nvSpPr>
          <p:cNvPr id="2" name="标题 1"/>
          <p:cNvSpPr>
            <a:spLocks noGrp="1"/>
          </p:cNvSpPr>
          <p:nvPr>
            <p:ph type="title"/>
          </p:nvPr>
        </p:nvSpPr>
        <p:spPr>
          <a:xfrm>
            <a:off x="431801" y="235137"/>
            <a:ext cx="8632687" cy="337358"/>
          </a:xfrm>
          <a:prstGeom prst="rect">
            <a:avLst/>
          </a:prstGeom>
        </p:spPr>
        <p:txBody>
          <a:bodyPr anchor="ctr"/>
          <a:lstStyle>
            <a:lvl1pPr>
              <a:defRPr sz="2000">
                <a:solidFill>
                  <a:schemeClr val="bg1"/>
                </a:solidFill>
                <a:effectLst/>
              </a:defRPr>
            </a:lvl1pPr>
          </a:lstStyle>
          <a:p>
            <a:r>
              <a:rPr lang="zh-CN" altLang="en-US"/>
              <a:t>单击此处编辑母版标题样式</a:t>
            </a:r>
            <a:endParaRPr lang="zh-CN" altLang="en-US" dirty="0"/>
          </a:p>
        </p:txBody>
      </p:sp>
      <p:sp>
        <p:nvSpPr>
          <p:cNvPr id="13" name="矩形 12"/>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51240"/>
            <a:ext cx="12192000" cy="5185064"/>
          </a:xfrm>
          <a:prstGeom prst="rect">
            <a:avLst/>
          </a:prstGeom>
        </p:spPr>
      </p:pic>
      <p:pic>
        <p:nvPicPr>
          <p:cNvPr id="9" name="图片 8"/>
          <p:cNvPicPr>
            <a:picLocks noChangeAspect="1"/>
          </p:cNvPicPr>
          <p:nvPr userDrawn="1"/>
        </p:nvPicPr>
        <p:blipFill>
          <a:blip r:embed="rId2"/>
          <a:stretch>
            <a:fillRect/>
          </a:stretch>
        </p:blipFill>
        <p:spPr>
          <a:xfrm>
            <a:off x="1" y="0"/>
            <a:ext cx="12193057" cy="664522"/>
          </a:xfrm>
          <a:prstGeom prst="rect">
            <a:avLst/>
          </a:prstGeom>
        </p:spPr>
      </p:pic>
      <p:sp>
        <p:nvSpPr>
          <p:cNvPr id="11" name="矩形 10"/>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2" name="图片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651240"/>
            <a:ext cx="12192000" cy="5185064"/>
          </a:xfrm>
          <a:prstGeom prst="rect">
            <a:avLst/>
          </a:prstGeom>
        </p:spPr>
      </p:pic>
    </p:spTree>
  </p:cSld>
  <p:clrMapOvr>
    <a:masterClrMapping/>
  </p:clrMapOvr>
  <p:transition spd="med">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p:cSld name="空白-有页码">
    <p:spTree>
      <p:nvGrpSpPr>
        <p:cNvPr id="1" name=""/>
        <p:cNvGrpSpPr/>
        <p:nvPr/>
      </p:nvGrpSpPr>
      <p:grpSpPr>
        <a:xfrm>
          <a:off x="0" y="0"/>
          <a:ext cx="0" cy="0"/>
          <a:chOff x="0" y="0"/>
          <a:chExt cx="0" cy="0"/>
        </a:xfrm>
      </p:grpSpPr>
      <p:pic>
        <p:nvPicPr>
          <p:cNvPr id="14" name="图片 13"/>
          <p:cNvPicPr>
            <a:picLocks noChangeAspect="1"/>
          </p:cNvPicPr>
          <p:nvPr/>
        </p:nvPicPr>
        <p:blipFill>
          <a:blip r:embed="rId2"/>
          <a:stretch>
            <a:fillRect/>
          </a:stretch>
        </p:blipFill>
        <p:spPr>
          <a:xfrm>
            <a:off x="1" y="0"/>
            <a:ext cx="12193057" cy="664522"/>
          </a:xfrm>
          <a:prstGeom prst="rect">
            <a:avLst/>
          </a:prstGeom>
        </p:spPr>
      </p:pic>
      <p:sp>
        <p:nvSpPr>
          <p:cNvPr id="15" name="矩形 14"/>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6" name="图片 15"/>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7" name="矩形 16"/>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文本框 4"/>
          <p:cNvSpPr txBox="1"/>
          <p:nvPr/>
        </p:nvSpPr>
        <p:spPr>
          <a:xfrm>
            <a:off x="11000035" y="311755"/>
            <a:ext cx="578813" cy="276999"/>
          </a:xfrm>
          <a:prstGeom prst="rect">
            <a:avLst/>
          </a:prstGeom>
          <a:noFill/>
        </p:spPr>
        <p:txBody>
          <a:bodyPr wrap="none" rtlCol="0">
            <a:spAutoFit/>
          </a:bodyPr>
          <a:lstStyle/>
          <a:p>
            <a:r>
              <a:rPr lang="en-US" altLang="zh-CN" sz="1200" spc="-60" baseline="0" dirty="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
        <p:nvSpPr>
          <p:cNvPr id="7" name="灯片编号占位符 5"/>
          <p:cNvSpPr>
            <a:spLocks noGrp="1"/>
          </p:cNvSpPr>
          <p:nvPr>
            <p:ph type="sldNum" sz="quarter" idx="12"/>
          </p:nvPr>
        </p:nvSpPr>
        <p:spPr>
          <a:xfrm>
            <a:off x="11596801" y="313201"/>
            <a:ext cx="365165" cy="276999"/>
          </a:xfrm>
          <a:prstGeom prst="rect">
            <a:avLst/>
          </a:prstGeom>
          <a:noFill/>
        </p:spPr>
        <p:txBody>
          <a:bodyPr wrap="none" rtlCol="0">
            <a:spAutoFit/>
          </a:bodyPr>
          <a:lstStyle>
            <a:lvl1pPr>
              <a:defRPr lang="zh-CN" altLang="en-US" sz="1200" spc="-60" baseline="0" smtClean="0">
                <a:solidFill>
                  <a:schemeClr val="bg1"/>
                </a:solidFill>
                <a:latin typeface="微软雅黑" panose="020B0503020204020204" pitchFamily="34" charset="-122"/>
                <a:ea typeface="微软雅黑" panose="020B0503020204020204" pitchFamily="34" charset="-122"/>
              </a:defRPr>
            </a:lvl1pPr>
          </a:lstStyle>
          <a:p>
            <a:fld id="{E1703B59-C883-4B8B-974E-AFB30A6C43A7}" type="slidenum">
              <a:rPr lang="en-US" altLang="zh-CN" smtClean="0"/>
            </a:fld>
            <a:endParaRPr lang="en-US" altLang="zh-CN"/>
          </a:p>
        </p:txBody>
      </p:sp>
      <p:pic>
        <p:nvPicPr>
          <p:cNvPr id="8" name="图片 7"/>
          <p:cNvPicPr>
            <a:picLocks noChangeAspect="1"/>
          </p:cNvPicPr>
          <p:nvPr userDrawn="1"/>
        </p:nvPicPr>
        <p:blipFill>
          <a:blip r:embed="rId2"/>
          <a:stretch>
            <a:fillRect/>
          </a:stretch>
        </p:blipFill>
        <p:spPr>
          <a:xfrm>
            <a:off x="1" y="0"/>
            <a:ext cx="12193057" cy="664522"/>
          </a:xfrm>
          <a:prstGeom prst="rect">
            <a:avLst/>
          </a:prstGeom>
        </p:spPr>
      </p:pic>
      <p:sp>
        <p:nvSpPr>
          <p:cNvPr id="9" name="矩形 8"/>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0" name="图片 9"/>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1" name="矩形 10"/>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cSld>
  <p:clrMapOvr>
    <a:masterClrMapping/>
  </p:clrMapOvr>
  <p:transition spd="med">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两栏">
    <p:spTree>
      <p:nvGrpSpPr>
        <p:cNvPr id="1" name=""/>
        <p:cNvGrpSpPr/>
        <p:nvPr/>
      </p:nvGrpSpPr>
      <p:grpSpPr>
        <a:xfrm>
          <a:off x="0" y="0"/>
          <a:ext cx="0" cy="0"/>
          <a:chOff x="0" y="0"/>
          <a:chExt cx="0" cy="0"/>
        </a:xfrm>
      </p:grpSpPr>
      <p:sp>
        <p:nvSpPr>
          <p:cNvPr id="12" name="内容占位符 11"/>
          <p:cNvSpPr>
            <a:spLocks noGrp="1"/>
          </p:cNvSpPr>
          <p:nvPr>
            <p:ph sz="quarter" idx="10" hasCustomPrompt="1"/>
          </p:nvPr>
        </p:nvSpPr>
        <p:spPr>
          <a:xfrm>
            <a:off x="349859" y="1717675"/>
            <a:ext cx="5376000" cy="4826248"/>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6" name="内容占位符 15"/>
          <p:cNvSpPr>
            <a:spLocks noGrp="1"/>
          </p:cNvSpPr>
          <p:nvPr>
            <p:ph sz="quarter" idx="11" hasCustomPrompt="1"/>
          </p:nvPr>
        </p:nvSpPr>
        <p:spPr>
          <a:xfrm>
            <a:off x="6381751" y="1717675"/>
            <a:ext cx="5376333" cy="4826248"/>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 name="标题 1"/>
          <p:cNvSpPr>
            <a:spLocks noGrp="1"/>
          </p:cNvSpPr>
          <p:nvPr>
            <p:ph type="title"/>
          </p:nvPr>
        </p:nvSpPr>
        <p:spPr>
          <a:xfrm>
            <a:off x="349858" y="732889"/>
            <a:ext cx="11408225" cy="576000"/>
          </a:xfrm>
          <a:prstGeom prst="rect">
            <a:avLst/>
          </a:prstGeom>
        </p:spPr>
        <p:txBody>
          <a:bodyPr/>
          <a:lstStyle>
            <a:lvl1pPr>
              <a:defRPr lang="zh-CN" altLang="en-US" sz="3200" b="1">
                <a:solidFill>
                  <a:schemeClr val="accent1"/>
                </a:solidFill>
              </a:defRPr>
            </a:lvl1pPr>
          </a:lstStyle>
          <a:p>
            <a:pPr lvl="0"/>
            <a:r>
              <a:rPr lang="zh-CN" altLang="en-US" dirty="0"/>
              <a:t>单击此处编辑母版标题样式</a:t>
            </a:r>
            <a:endParaRPr lang="zh-CN" altLang="en-US" dirty="0"/>
          </a:p>
        </p:txBody>
      </p:sp>
    </p:spTree>
  </p:cSld>
  <p:clrMapOvr>
    <a:masterClrMapping/>
  </p:clrMapOvr>
  <p:transition spd="med">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p:cSld name="对比">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349859" y="745630"/>
            <a:ext cx="5376000" cy="574183"/>
          </a:xfrm>
          <a:prstGeom prst="rect">
            <a:avLst/>
          </a:prstGeom>
        </p:spPr>
        <p:txBody>
          <a:bodyPr anchor="b">
            <a:normAutofit/>
          </a:bodyPr>
          <a:lstStyle>
            <a:lvl1pPr algn="ctr">
              <a:defRPr sz="2800" b="1">
                <a:solidFill>
                  <a:schemeClr val="accent1"/>
                </a:solidFill>
              </a:defRPr>
            </a:lvl1pPr>
          </a:lstStyle>
          <a:p>
            <a:r>
              <a:rPr lang="zh-CN" altLang="en-US" dirty="0"/>
              <a:t>单击此处编辑标题</a:t>
            </a:r>
            <a:endParaRPr lang="zh-CN" altLang="en-US" dirty="0"/>
          </a:p>
        </p:txBody>
      </p:sp>
      <p:cxnSp>
        <p:nvCxnSpPr>
          <p:cNvPr id="3" name="直接连接符 2"/>
          <p:cNvCxnSpPr/>
          <p:nvPr/>
        </p:nvCxnSpPr>
        <p:spPr>
          <a:xfrm flipV="1">
            <a:off x="0" y="1398107"/>
            <a:ext cx="12192000" cy="7952"/>
          </a:xfrm>
          <a:prstGeom prst="line">
            <a:avLst/>
          </a:prstGeom>
        </p:spPr>
        <p:style>
          <a:lnRef idx="1">
            <a:schemeClr val="accent1"/>
          </a:lnRef>
          <a:fillRef idx="0">
            <a:schemeClr val="accent1"/>
          </a:fillRef>
          <a:effectRef idx="0">
            <a:schemeClr val="accent1"/>
          </a:effectRef>
          <a:fontRef idx="minor">
            <a:schemeClr val="tx1"/>
          </a:fontRef>
        </p:style>
      </p:cxnSp>
      <p:sp>
        <p:nvSpPr>
          <p:cNvPr id="12" name="内容占位符 11"/>
          <p:cNvSpPr>
            <a:spLocks noGrp="1"/>
          </p:cNvSpPr>
          <p:nvPr>
            <p:ph sz="quarter" idx="10" hasCustomPrompt="1"/>
          </p:nvPr>
        </p:nvSpPr>
        <p:spPr>
          <a:xfrm>
            <a:off x="349859" y="1574801"/>
            <a:ext cx="5376000" cy="4969123"/>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6" name="内容占位符 15"/>
          <p:cNvSpPr>
            <a:spLocks noGrp="1"/>
          </p:cNvSpPr>
          <p:nvPr>
            <p:ph sz="quarter" idx="11" hasCustomPrompt="1"/>
          </p:nvPr>
        </p:nvSpPr>
        <p:spPr>
          <a:xfrm>
            <a:off x="6381751" y="1574801"/>
            <a:ext cx="5376333" cy="4969123"/>
          </a:xfrm>
        </p:spPr>
        <p:txBody>
          <a:bodyPr>
            <a:normAutofit/>
          </a:bodyPr>
          <a:lstStyle>
            <a:lvl1pPr marL="342900" indent="-3429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8" name="文本占位符 4"/>
          <p:cNvSpPr>
            <a:spLocks noGrp="1"/>
          </p:cNvSpPr>
          <p:nvPr>
            <p:ph type="body" sz="quarter" idx="3" hasCustomPrompt="1"/>
          </p:nvPr>
        </p:nvSpPr>
        <p:spPr>
          <a:xfrm>
            <a:off x="6381751" y="743812"/>
            <a:ext cx="5376000" cy="576000"/>
          </a:xfrm>
        </p:spPr>
        <p:txBody>
          <a:bodyPr anchor="b">
            <a:normAutofit/>
          </a:bodyPr>
          <a:lstStyle>
            <a:lvl1pPr marL="0" indent="0" algn="ctr">
              <a:buNone/>
              <a:defRPr lang="zh-CN" altLang="en-US" sz="2800" b="1" dirty="0" smtClean="0">
                <a:solidFill>
                  <a:schemeClr val="accent1"/>
                </a:solidFill>
                <a:latin typeface="+mj-lt"/>
                <a:ea typeface="+mj-ea"/>
                <a:cs typeface="+mj-cs"/>
              </a:defRPr>
            </a:lvl1pPr>
          </a:lstStyle>
          <a:p>
            <a:pPr marL="228600" lvl="0" indent="-228600" algn="ctr">
              <a:lnSpc>
                <a:spcPct val="90000"/>
              </a:lnSpc>
              <a:spcBef>
                <a:spcPct val="0"/>
              </a:spcBef>
            </a:pPr>
            <a:r>
              <a:rPr lang="zh-CN" altLang="en-US" dirty="0"/>
              <a:t>单击此处编辑标题</a:t>
            </a:r>
            <a:endParaRPr lang="zh-CN" altLang="en-US" dirty="0"/>
          </a:p>
        </p:txBody>
      </p:sp>
      <p:pic>
        <p:nvPicPr>
          <p:cNvPr id="19" name="图片 18"/>
          <p:cNvPicPr>
            <a:picLocks noChangeAspect="1"/>
          </p:cNvPicPr>
          <p:nvPr/>
        </p:nvPicPr>
        <p:blipFill>
          <a:blip r:embed="rId2"/>
          <a:stretch>
            <a:fillRect/>
          </a:stretch>
        </p:blipFill>
        <p:spPr>
          <a:xfrm>
            <a:off x="1" y="0"/>
            <a:ext cx="12193057" cy="664522"/>
          </a:xfrm>
          <a:prstGeom prst="rect">
            <a:avLst/>
          </a:prstGeom>
        </p:spPr>
      </p:pic>
      <p:sp>
        <p:nvSpPr>
          <p:cNvPr id="20" name="矩形 19"/>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21" name="图片 20"/>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22" name="矩形 21"/>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2"/>
          <a:stretch>
            <a:fillRect/>
          </a:stretch>
        </p:blipFill>
        <p:spPr>
          <a:xfrm>
            <a:off x="1" y="0"/>
            <a:ext cx="12193057" cy="664522"/>
          </a:xfrm>
          <a:prstGeom prst="rect">
            <a:avLst/>
          </a:prstGeom>
        </p:spPr>
      </p:pic>
      <p:sp>
        <p:nvSpPr>
          <p:cNvPr id="13" name="矩形 12"/>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4" name="图片 13"/>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5" name="矩形 14"/>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cSld>
  <p:clrMapOvr>
    <a:masterClrMapping/>
  </p:clrMapOvr>
  <p:transition spd="med">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p:cSld name="1_封面">
    <p:bg>
      <p:bgPr>
        <a:solidFill>
          <a:schemeClr val="accent1"/>
        </a:solid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77014" y="5815086"/>
            <a:ext cx="3278293" cy="650876"/>
          </a:xfrm>
          <a:prstGeom prst="rect">
            <a:avLst/>
          </a:prstGeom>
        </p:spPr>
      </p:pic>
      <p:sp>
        <p:nvSpPr>
          <p:cNvPr id="2" name="标题 1"/>
          <p:cNvSpPr>
            <a:spLocks noGrp="1"/>
          </p:cNvSpPr>
          <p:nvPr>
            <p:ph type="title"/>
          </p:nvPr>
        </p:nvSpPr>
        <p:spPr>
          <a:xfrm>
            <a:off x="625498" y="4006448"/>
            <a:ext cx="11100025" cy="1114192"/>
          </a:xfrm>
          <a:prstGeom prst="rect">
            <a:avLst/>
          </a:prstGeom>
        </p:spPr>
        <p:txBody>
          <a:bodyPr anchor="ctr">
            <a:noAutofit/>
          </a:bodyPr>
          <a:lstStyle>
            <a:lvl1pPr algn="l">
              <a:lnSpc>
                <a:spcPct val="100000"/>
              </a:lnSpc>
              <a:defRPr sz="4000" b="1">
                <a:solidFill>
                  <a:schemeClr val="bg1"/>
                </a:solidFill>
                <a:latin typeface="+mj-ea"/>
                <a:ea typeface="+mj-ea"/>
              </a:defRPr>
            </a:lvl1pPr>
          </a:lstStyle>
          <a:p>
            <a:r>
              <a:rPr lang="zh-CN" altLang="en-US" dirty="0"/>
              <a:t>单击此处编辑母版标题样式</a:t>
            </a:r>
            <a:endParaRPr lang="zh-CN" altLang="en-US" dirty="0"/>
          </a:p>
        </p:txBody>
      </p:sp>
      <p:sp>
        <p:nvSpPr>
          <p:cNvPr id="6" name="副标题 2"/>
          <p:cNvSpPr>
            <a:spLocks noGrp="1"/>
          </p:cNvSpPr>
          <p:nvPr>
            <p:ph type="subTitle" idx="1" hasCustomPrompt="1"/>
          </p:nvPr>
        </p:nvSpPr>
        <p:spPr>
          <a:xfrm>
            <a:off x="625499" y="5245247"/>
            <a:ext cx="7760477" cy="468179"/>
          </a:xfrm>
        </p:spPr>
        <p:txBody>
          <a:bodyPr anchor="ctr">
            <a:noAutofit/>
          </a:bodyPr>
          <a:lstStyle>
            <a:lvl1pPr marL="0" indent="0" algn="l">
              <a:lnSpc>
                <a:spcPct val="100000"/>
              </a:lnSpc>
              <a:buNone/>
              <a:defRPr lang="zh-CN" altLang="en-US" sz="2400" b="0">
                <a:solidFill>
                  <a:schemeClr val="bg1"/>
                </a:solidFill>
                <a:latin typeface="+mn-ea"/>
                <a:cs typeface="+mj-cs"/>
              </a:defRPr>
            </a:lvl1pPr>
          </a:lstStyle>
          <a:p>
            <a:pPr marL="228600" lvl="0" indent="-228600" algn="ctr">
              <a:lnSpc>
                <a:spcPct val="90000"/>
              </a:lnSpc>
              <a:spcBef>
                <a:spcPct val="0"/>
              </a:spcBef>
            </a:pPr>
            <a:r>
              <a:rPr lang="zh-CN" altLang="en-US"/>
              <a:t>单击以编辑母版副标题样式</a:t>
            </a:r>
            <a:endParaRPr lang="zh-CN" altLang="en-US" dirty="0"/>
          </a:p>
        </p:txBody>
      </p:sp>
      <p:sp>
        <p:nvSpPr>
          <p:cNvPr id="7" name="文本占位符 6"/>
          <p:cNvSpPr>
            <a:spLocks noGrp="1"/>
          </p:cNvSpPr>
          <p:nvPr>
            <p:ph type="body" sz="quarter" idx="10" hasCustomPrompt="1"/>
          </p:nvPr>
        </p:nvSpPr>
        <p:spPr>
          <a:xfrm>
            <a:off x="625499" y="5815087"/>
            <a:ext cx="5545667" cy="499004"/>
          </a:xfrm>
        </p:spPr>
        <p:txBody>
          <a:bodyPr>
            <a:noAutofit/>
          </a:bodyPr>
          <a:lstStyle>
            <a:lvl1pPr marL="0" indent="0">
              <a:lnSpc>
                <a:spcPct val="100000"/>
              </a:lnSpc>
              <a:buNone/>
              <a:defRPr sz="2400">
                <a:solidFill>
                  <a:schemeClr val="bg1"/>
                </a:solidFill>
              </a:defRPr>
            </a:lvl1pPr>
          </a:lstStyle>
          <a:p>
            <a:pPr lvl="0"/>
            <a:r>
              <a:rPr lang="zh-CN" altLang="en-US" dirty="0"/>
              <a:t>单击此处添加日期</a:t>
            </a:r>
            <a:endParaRPr lang="zh-CN" altLang="en-US" dirty="0"/>
          </a:p>
        </p:txBody>
      </p:sp>
      <p:pic>
        <p:nvPicPr>
          <p:cNvPr id="10" name="图片 9"/>
          <p:cNvPicPr>
            <a:picLocks noChangeAspect="1"/>
          </p:cNvPicPr>
          <p:nvPr/>
        </p:nvPicPr>
        <p:blipFill rotWithShape="1">
          <a:blip r:embed="rId3">
            <a:extLst>
              <a:ext uri="{28A0092B-C50C-407E-A947-70E740481C1C}">
                <a14:useLocalDpi xmlns:a14="http://schemas.microsoft.com/office/drawing/2010/main" val="0"/>
              </a:ext>
            </a:extLst>
          </a:blip>
          <a:srcRect l="78" t="172" r="40" b="-12"/>
          <a:stretch>
            <a:fillRect/>
          </a:stretch>
        </p:blipFill>
        <p:spPr>
          <a:xfrm>
            <a:off x="0" y="1"/>
            <a:ext cx="12192000" cy="3899805"/>
          </a:xfrm>
          <a:prstGeom prst="rect">
            <a:avLst/>
          </a:prstGeom>
          <a:ln>
            <a:noFill/>
          </a:ln>
        </p:spPr>
      </p:pic>
      <p:cxnSp>
        <p:nvCxnSpPr>
          <p:cNvPr id="11" name="直接连接符 10"/>
          <p:cNvCxnSpPr/>
          <p:nvPr/>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userDrawn="1"/>
        </p:nvPicPr>
        <p:blipFill rotWithShape="1">
          <a:blip r:embed="rId3">
            <a:extLst>
              <a:ext uri="{28A0092B-C50C-407E-A947-70E740481C1C}">
                <a14:useLocalDpi xmlns:a14="http://schemas.microsoft.com/office/drawing/2010/main" val="0"/>
              </a:ext>
            </a:extLst>
          </a:blip>
          <a:srcRect l="78" t="172" r="40" b="-12"/>
          <a:stretch>
            <a:fillRect/>
          </a:stretch>
        </p:blipFill>
        <p:spPr>
          <a:xfrm>
            <a:off x="0" y="1"/>
            <a:ext cx="12192000" cy="3899805"/>
          </a:xfrm>
          <a:prstGeom prst="rect">
            <a:avLst/>
          </a:prstGeom>
          <a:ln>
            <a:noFill/>
          </a:ln>
        </p:spPr>
      </p:pic>
      <p:cxnSp>
        <p:nvCxnSpPr>
          <p:cNvPr id="9" name="直接连接符 8"/>
          <p:cNvCxnSpPr/>
          <p:nvPr userDrawn="1"/>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封底">
    <p:bg>
      <p:bgPr>
        <a:solidFill>
          <a:schemeClr val="accent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03073"/>
            <a:ext cx="12192000" cy="2811780"/>
          </a:xfrm>
          <a:prstGeom prst="rect">
            <a:avLst/>
          </a:prstGeom>
        </p:spPr>
      </p:pic>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1966" y="3608990"/>
            <a:ext cx="4029124" cy="799946"/>
          </a:xfrm>
          <a:prstGeom prst="rect">
            <a:avLst/>
          </a:prstGeom>
        </p:spPr>
      </p:pic>
      <p:sp>
        <p:nvSpPr>
          <p:cNvPr id="3" name="标题 2"/>
          <p:cNvSpPr>
            <a:spLocks noGrp="1"/>
          </p:cNvSpPr>
          <p:nvPr>
            <p:ph type="title"/>
          </p:nvPr>
        </p:nvSpPr>
        <p:spPr>
          <a:xfrm>
            <a:off x="650528" y="1371600"/>
            <a:ext cx="11213989" cy="926932"/>
          </a:xfrm>
        </p:spPr>
        <p:txBody>
          <a:bodyPr>
            <a:noAutofit/>
          </a:bodyPr>
          <a:lstStyle>
            <a:lvl1pPr algn="ctr">
              <a:defRPr sz="6600" b="1">
                <a:solidFill>
                  <a:schemeClr val="bg1"/>
                </a:solidFill>
              </a:defRPr>
            </a:lvl1pPr>
          </a:lstStyle>
          <a:p>
            <a:r>
              <a:rPr lang="zh-CN" altLang="en-US"/>
              <a:t>单击此处编辑母版标题样式</a:t>
            </a:r>
            <a:endParaRPr lang="zh-CN" altLang="en-US"/>
          </a:p>
        </p:txBody>
      </p:sp>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603073"/>
            <a:ext cx="12192000" cy="2811780"/>
          </a:xfrm>
          <a:prstGeom prst="rect">
            <a:avLst/>
          </a:prstGeom>
        </p:spPr>
      </p:pic>
    </p:spTree>
  </p:cSld>
  <p:clrMapOvr>
    <a:masterClrMapping/>
  </p:clrMapOvr>
  <p:transition spd="med">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2"/>
          <p:cNvSpPr>
            <a:spLocks noGrp="1" noChangeArrowheads="1"/>
          </p:cNvSpPr>
          <p:nvPr>
            <p:ph type="dt" sz="half"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133BA7C0-CFC8-468E-BF58-86F8DBBA5B7D}" type="slidenum">
              <a:rPr lang="en-US" altLang="zh-CN"/>
            </a:fld>
            <a:endParaRPr lang="en-US" altLang="zh-CN"/>
          </a:p>
        </p:txBody>
      </p:sp>
      <p:sp>
        <p:nvSpPr>
          <p:cNvPr id="6"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transition spd="med">
    <p:push/>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09600" y="1600201"/>
            <a:ext cx="53848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600201"/>
            <a:ext cx="53848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2"/>
          <p:cNvSpPr>
            <a:spLocks noGrp="1" noChangeArrowheads="1"/>
          </p:cNvSpPr>
          <p:nvPr>
            <p:ph type="dt" sz="half"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4946ABC9-62A5-42D5-BF9F-E7A801511394}" type="slidenum">
              <a:rPr lang="en-US" altLang="zh-CN"/>
            </a:fld>
            <a:endParaRPr lang="en-US" altLang="zh-CN"/>
          </a:p>
        </p:txBody>
      </p:sp>
      <p:sp>
        <p:nvSpPr>
          <p:cNvPr id="7"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transition spd="med">
    <p:push/>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2"/>
          <p:cNvSpPr>
            <a:spLocks noGrp="1" noChangeArrowheads="1"/>
          </p:cNvSpPr>
          <p:nvPr>
            <p:ph type="dt" sz="half"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C8BDC3BA-0B7C-4A75-9E33-45CB920E7758}" type="slidenum">
              <a:rPr lang="en-US" altLang="zh-CN"/>
            </a:fld>
            <a:endParaRPr lang="en-US" altLang="zh-CN"/>
          </a:p>
        </p:txBody>
      </p:sp>
      <p:sp>
        <p:nvSpPr>
          <p:cNvPr id="7"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transition spd="med">
    <p:push/>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2"/>
          <p:cNvSpPr>
            <a:spLocks noGrp="1" noChangeArrowheads="1"/>
          </p:cNvSpPr>
          <p:nvPr>
            <p:ph type="dt" sz="half" idx="10"/>
          </p:nvPr>
        </p:nvSpPr>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p:txBody>
          <a:bodyPr/>
          <a:lstStyle>
            <a:lvl1pPr>
              <a:defRPr/>
            </a:lvl1pPr>
          </a:lstStyle>
          <a:p>
            <a:pPr>
              <a:defRPr/>
            </a:pPr>
            <a:fld id="{75821406-8699-46F7-BC43-9A0383F1DDB8}" type="slidenum">
              <a:rPr lang="en-US" altLang="zh-CN"/>
            </a:fld>
            <a:endParaRPr lang="en-US" altLang="zh-CN"/>
          </a:p>
        </p:txBody>
      </p:sp>
      <p:sp>
        <p:nvSpPr>
          <p:cNvPr id="4"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transition spd="med">
    <p:push/>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image" Target="../media/image8.emf"/><Relationship Id="rId16" Type="http://schemas.microsoft.com/office/2007/relationships/hdphoto" Target="../media/image6.wdp"/><Relationship Id="rId15" Type="http://schemas.openxmlformats.org/officeDocument/2006/relationships/image" Target="../media/image5.png"/><Relationship Id="rId14" Type="http://schemas.openxmlformats.org/officeDocument/2006/relationships/image" Target="../media/image3.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p:nvPicPr>
        <p:blipFill>
          <a:blip r:embed="rId14"/>
          <a:stretch>
            <a:fillRect/>
          </a:stretch>
        </p:blipFill>
        <p:spPr>
          <a:xfrm>
            <a:off x="1" y="0"/>
            <a:ext cx="12193057" cy="664522"/>
          </a:xfrm>
          <a:prstGeom prst="rect">
            <a:avLst/>
          </a:prstGeom>
        </p:spPr>
      </p:pic>
      <p:sp>
        <p:nvSpPr>
          <p:cNvPr id="6" name="文本占位符 5"/>
          <p:cNvSpPr>
            <a:spLocks noGrp="1"/>
          </p:cNvSpPr>
          <p:nvPr>
            <p:ph type="body" idx="1"/>
          </p:nvPr>
        </p:nvSpPr>
        <p:spPr>
          <a:xfrm>
            <a:off x="551292" y="1546578"/>
            <a:ext cx="11120561" cy="5126614"/>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 name="矩形 9"/>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2" name="图片 11"/>
          <p:cNvPicPr>
            <a:picLocks noChangeAspect="1"/>
          </p:cNvPicPr>
          <p:nvPr/>
        </p:nvPicPr>
        <p:blipFill>
          <a:blip r:embed="rId15" cstate="print">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3" name="矩形 12"/>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4" name="图片 13"/>
          <p:cNvPicPr>
            <a:picLocks noChangeAspect="1"/>
          </p:cNvPicPr>
          <p:nvPr/>
        </p:nvPicPr>
        <p:blipFill>
          <a:blip r:embed="rId17"/>
          <a:stretch>
            <a:fillRect/>
          </a:stretch>
        </p:blipFill>
        <p:spPr>
          <a:xfrm>
            <a:off x="0" y="1079287"/>
            <a:ext cx="12192000" cy="332713"/>
          </a:xfrm>
          <a:prstGeom prst="rect">
            <a:avLst/>
          </a:prstGeom>
        </p:spPr>
      </p:pic>
      <p:sp>
        <p:nvSpPr>
          <p:cNvPr id="4" name="标题占位符 3"/>
          <p:cNvSpPr>
            <a:spLocks noGrp="1"/>
          </p:cNvSpPr>
          <p:nvPr>
            <p:ph type="title"/>
          </p:nvPr>
        </p:nvSpPr>
        <p:spPr>
          <a:xfrm>
            <a:off x="551291" y="682405"/>
            <a:ext cx="11213989" cy="701375"/>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pic>
        <p:nvPicPr>
          <p:cNvPr id="9" name="图片 8"/>
          <p:cNvPicPr>
            <a:picLocks noChangeAspect="1"/>
          </p:cNvPicPr>
          <p:nvPr userDrawn="1"/>
        </p:nvPicPr>
        <p:blipFill>
          <a:blip r:embed="rId14"/>
          <a:stretch>
            <a:fillRect/>
          </a:stretch>
        </p:blipFill>
        <p:spPr>
          <a:xfrm>
            <a:off x="1" y="0"/>
            <a:ext cx="12193057" cy="664522"/>
          </a:xfrm>
          <a:prstGeom prst="rect">
            <a:avLst/>
          </a:prstGeom>
        </p:spPr>
      </p:pic>
      <p:sp>
        <p:nvSpPr>
          <p:cNvPr id="11" name="矩形 10"/>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5" name="图片 14"/>
          <p:cNvPicPr>
            <a:picLocks noChangeAspect="1"/>
          </p:cNvPicPr>
          <p:nvPr userDrawn="1"/>
        </p:nvPicPr>
        <p:blipFill>
          <a:blip r:embed="rId15" cstate="print">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6" name="矩形 15"/>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7" name="图片 16"/>
          <p:cNvPicPr>
            <a:picLocks noChangeAspect="1"/>
          </p:cNvPicPr>
          <p:nvPr userDrawn="1"/>
        </p:nvPicPr>
        <p:blipFill>
          <a:blip r:embed="rId17"/>
          <a:stretch>
            <a:fillRect/>
          </a:stretch>
        </p:blipFill>
        <p:spPr>
          <a:xfrm>
            <a:off x="0" y="1079287"/>
            <a:ext cx="12192000" cy="33271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spd="med">
    <p:push/>
  </p:transition>
  <p:txStyles>
    <p:titleStyle>
      <a:lvl1pPr algn="l" defTabSz="914400" rtl="0" eaLnBrk="1" latinLnBrk="0" hangingPunct="1">
        <a:lnSpc>
          <a:spcPct val="90000"/>
        </a:lnSpc>
        <a:spcBef>
          <a:spcPct val="0"/>
        </a:spcBef>
        <a:buNone/>
        <a:defRPr lang="zh-CN" altLang="en-US" sz="3200" b="1" kern="1200" dirty="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en.cppreference.com/w/cpp" TargetMode="Externa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51.xml.rels><?xml version="1.0" encoding="UTF-8" standalone="yes"?>
<Relationships xmlns="http://schemas.openxmlformats.org/package/2006/relationships"><Relationship Id="rId5" Type="http://schemas.openxmlformats.org/officeDocument/2006/relationships/notesSlide" Target="../notesSlides/notesSlide49.xml"/><Relationship Id="rId4" Type="http://schemas.openxmlformats.org/officeDocument/2006/relationships/slideLayout" Target="../slideLayouts/slideLayout2.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5" Type="http://schemas.openxmlformats.org/officeDocument/2006/relationships/notesSlide" Target="../notesSlides/notesSlide53.xml"/><Relationship Id="rId4" Type="http://schemas.openxmlformats.org/officeDocument/2006/relationships/slideLayout" Target="../slideLayouts/slideLayout2.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4" Type="http://schemas.openxmlformats.org/officeDocument/2006/relationships/notesSlide" Target="../notesSlides/notesSlide66.xml"/><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25.png"/></Relationships>
</file>

<file path=ppt/slides/_rels/slide73.xml.rels><?xml version="1.0" encoding="UTF-8" standalone="yes"?>
<Relationships xmlns="http://schemas.openxmlformats.org/package/2006/relationships"><Relationship Id="rId4" Type="http://schemas.openxmlformats.org/officeDocument/2006/relationships/notesSlide" Target="../notesSlides/notesSlide67.xml"/><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27.png"/></Relationships>
</file>

<file path=ppt/slides/_rels/slide74.xml.rels><?xml version="1.0" encoding="UTF-8" standalone="yes"?>
<Relationships xmlns="http://schemas.openxmlformats.org/package/2006/relationships"><Relationship Id="rId4" Type="http://schemas.openxmlformats.org/officeDocument/2006/relationships/notesSlide" Target="../notesSlides/notesSlide68.xml"/><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9.png"/></Relationships>
</file>

<file path=ppt/slides/_rels/slide75.xml.rels><?xml version="1.0" encoding="UTF-8" standalone="yes"?>
<Relationships xmlns="http://schemas.openxmlformats.org/package/2006/relationships"><Relationship Id="rId4" Type="http://schemas.openxmlformats.org/officeDocument/2006/relationships/notesSlide" Target="../notesSlides/notesSlide69.xml"/><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31.pn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4" Type="http://schemas.openxmlformats.org/officeDocument/2006/relationships/notesSlide" Target="../notesSlides/notesSlide76.xml"/><Relationship Id="rId3" Type="http://schemas.openxmlformats.org/officeDocument/2006/relationships/slideLayout" Target="../slideLayouts/slideLayout2.xml"/><Relationship Id="rId2" Type="http://schemas.openxmlformats.org/officeDocument/2006/relationships/image" Target="../media/image34.png"/><Relationship Id="rId1" Type="http://schemas.openxmlformats.org/officeDocument/2006/relationships/image" Target="../media/image33.png"/></Relationships>
</file>

<file path=ppt/slides/_rels/slide83.xml.rels><?xml version="1.0" encoding="UTF-8" standalone="yes"?>
<Relationships xmlns="http://schemas.openxmlformats.org/package/2006/relationships"><Relationship Id="rId4" Type="http://schemas.openxmlformats.org/officeDocument/2006/relationships/notesSlide" Target="../notesSlides/notesSlide77.xml"/><Relationship Id="rId3" Type="http://schemas.openxmlformats.org/officeDocument/2006/relationships/slideLayout" Target="../slideLayouts/slideLayout2.xml"/><Relationship Id="rId2" Type="http://schemas.openxmlformats.org/officeDocument/2006/relationships/image" Target="../media/image35.png"/><Relationship Id="rId1" Type="http://schemas.openxmlformats.org/officeDocument/2006/relationships/image" Target="../media/image34.png"/></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第二章 线性表</a:t>
            </a:r>
            <a:r>
              <a:rPr lang="en-US" altLang="zh-CN" dirty="0">
                <a:latin typeface="华文楷体" panose="02010600040101010101" pitchFamily="2" charset="-122"/>
                <a:ea typeface="华文楷体" panose="02010600040101010101" pitchFamily="2" charset="-122"/>
              </a:rPr>
              <a:t>-</a:t>
            </a:r>
            <a:r>
              <a:rPr lang="zh-CN" altLang="en-US">
                <a:latin typeface="华文楷体" panose="02010600040101010101" pitchFamily="2" charset="-122"/>
                <a:ea typeface="华文楷体" panose="02010600040101010101" pitchFamily="2" charset="-122"/>
              </a:rPr>
              <a:t>上</a:t>
            </a:r>
            <a:endParaRPr lang="zh-CN" altLang="en-US" sz="2400" dirty="0">
              <a:latin typeface="华文楷体" panose="02010600040101010101" pitchFamily="2" charset="-122"/>
              <a:ea typeface="华文楷体" panose="02010600040101010101" pitchFamily="2" charset="-122"/>
            </a:endParaRPr>
          </a:p>
        </p:txBody>
      </p:sp>
      <p:sp>
        <p:nvSpPr>
          <p:cNvPr id="3" name="副标题 2"/>
          <p:cNvSpPr>
            <a:spLocks noGrp="1"/>
          </p:cNvSpPr>
          <p:nvPr>
            <p:ph type="subTitle" idx="1"/>
          </p:nvPr>
        </p:nvSpPr>
        <p:spPr/>
        <p:txBody>
          <a:bodyPr/>
          <a:lstStyle/>
          <a:p>
            <a:endParaRPr lang="zh-CN" altLang="en-US"/>
          </a:p>
        </p:txBody>
      </p:sp>
    </p:spTree>
  </p:cSld>
  <p:clrMapOvr>
    <a:masterClrMapping/>
  </p:clrMapOvr>
  <p:transition spd="med">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b="0" dirty="0"/>
              <a:t>C++ Containers library</a:t>
            </a:r>
            <a:endParaRPr lang="zh-CN" altLang="en-US" dirty="0"/>
          </a:p>
        </p:txBody>
      </p:sp>
      <p:sp>
        <p:nvSpPr>
          <p:cNvPr id="4" name="矩形 3"/>
          <p:cNvSpPr/>
          <p:nvPr/>
        </p:nvSpPr>
        <p:spPr>
          <a:xfrm>
            <a:off x="4300476" y="3244334"/>
            <a:ext cx="3591048" cy="369332"/>
          </a:xfrm>
          <a:prstGeom prst="rect">
            <a:avLst/>
          </a:prstGeom>
        </p:spPr>
        <p:txBody>
          <a:bodyPr wrap="none">
            <a:spAutoFit/>
          </a:bodyPr>
          <a:lstStyle/>
          <a:p>
            <a:r>
              <a:rPr lang="en-US" altLang="zh-CN" dirty="0">
                <a:hlinkClick r:id="rId1"/>
              </a:rPr>
              <a:t>C++ reference - cppreference.com</a:t>
            </a:r>
            <a:endParaRPr lang="zh-CN" altLang="en-US" dirty="0"/>
          </a:p>
        </p:txBody>
      </p:sp>
    </p:spTree>
  </p:cSld>
  <p:clrMapOvr>
    <a:masterClrMapping/>
  </p:clrMapOvr>
  <p:transition spd="med">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 STL 十六大容器 —— 底层原理与特性分析"/>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600" y="0"/>
            <a:ext cx="10972800" cy="6858000"/>
          </a:xfrm>
          <a:prstGeom prst="rect">
            <a:avLst/>
          </a:prstGeom>
          <a:solidFill>
            <a:schemeClr val="bg1">
              <a:lumMod val="95000"/>
            </a:schemeClr>
          </a:solidFill>
        </p:spPr>
      </p:pic>
    </p:spTree>
  </p:cSld>
  <p:clrMapOvr>
    <a:masterClrMapping/>
  </p:clrMapOvr>
  <p:transition spd="med">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705604"/>
            <a:ext cx="11903716" cy="3405015"/>
          </a:xfrm>
        </p:spPr>
        <p:txBody>
          <a:bodyPr>
            <a:noAutofit/>
          </a:bodyPr>
          <a:lstStyle/>
          <a:p>
            <a:pPr marL="457200" indent="-457200">
              <a:buFont typeface="Arial" panose="020B0604020202020204" pitchFamily="34" charset="0"/>
              <a:buChar char="•"/>
            </a:pPr>
            <a:r>
              <a:rPr lang="zh-CN" altLang="en-US" sz="2800" dirty="0">
                <a:latin typeface="华文楷体" panose="02010600040101010101" pitchFamily="2" charset="-122"/>
                <a:ea typeface="华文楷体" panose="02010600040101010101" pitchFamily="2" charset="-122"/>
              </a:rPr>
              <a:t>熟练</a:t>
            </a:r>
            <a:r>
              <a:rPr lang="en-US" altLang="zh-CN" sz="2800" dirty="0">
                <a:latin typeface="华文楷体" panose="02010600040101010101" pitchFamily="2" charset="-122"/>
                <a:ea typeface="华文楷体" panose="02010600040101010101" pitchFamily="2" charset="-122"/>
              </a:rPr>
              <a:t>C++</a:t>
            </a:r>
            <a:r>
              <a:rPr lang="zh-CN" altLang="en-US" sz="2800" dirty="0">
                <a:latin typeface="华文楷体" panose="02010600040101010101" pitchFamily="2" charset="-122"/>
                <a:ea typeface="华文楷体" panose="02010600040101010101" pitchFamily="2" charset="-122"/>
              </a:rPr>
              <a:t>面向对象的编程方法、</a:t>
            </a:r>
            <a:r>
              <a:rPr lang="en-US" altLang="zh-CN" sz="2800" dirty="0">
                <a:latin typeface="华文楷体" panose="02010600040101010101" pitchFamily="2" charset="-122"/>
                <a:ea typeface="华文楷体" panose="02010600040101010101" pitchFamily="2" charset="-122"/>
              </a:rPr>
              <a:t>C++</a:t>
            </a:r>
            <a:r>
              <a:rPr lang="zh-CN" altLang="en-US" sz="2800" dirty="0">
                <a:latin typeface="华文楷体" panose="02010600040101010101" pitchFamily="2" charset="-122"/>
                <a:ea typeface="华文楷体" panose="02010600040101010101" pitchFamily="2" charset="-122"/>
              </a:rPr>
              <a:t>语法、</a:t>
            </a:r>
            <a:r>
              <a:rPr lang="zh-CN" altLang="en-US" sz="2800" dirty="0">
                <a:solidFill>
                  <a:srgbClr val="FF0000"/>
                </a:solidFill>
                <a:latin typeface="华文楷体" panose="02010600040101010101" pitchFamily="2" charset="-122"/>
                <a:ea typeface="华文楷体" panose="02010600040101010101" pitchFamily="2" charset="-122"/>
              </a:rPr>
              <a:t>书写完整程序的技巧</a:t>
            </a:r>
            <a:r>
              <a:rPr lang="zh-CN" altLang="en-US"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marL="457200" indent="-457200">
              <a:buFont typeface="Arial" panose="020B0604020202020204" pitchFamily="34" charset="0"/>
              <a:buChar char="•"/>
            </a:pPr>
            <a:r>
              <a:rPr lang="zh-CN" altLang="en-US" sz="2800" dirty="0">
                <a:latin typeface="华文楷体" panose="02010600040101010101" pitchFamily="2" charset="-122"/>
                <a:ea typeface="华文楷体" panose="02010600040101010101" pitchFamily="2" charset="-122"/>
              </a:rPr>
              <a:t>接触并逐步熟悉研究一种数据结构的角度和方法。</a:t>
            </a:r>
            <a:endParaRPr lang="en-US" altLang="zh-CN" sz="2800" dirty="0">
              <a:latin typeface="华文楷体" panose="02010600040101010101" pitchFamily="2" charset="-122"/>
              <a:ea typeface="华文楷体" panose="02010600040101010101" pitchFamily="2" charset="-122"/>
            </a:endParaRPr>
          </a:p>
          <a:p>
            <a:pPr marL="457200" indent="-457200">
              <a:buFont typeface="Arial" panose="020B0604020202020204" pitchFamily="34" charset="0"/>
              <a:buChar char="•"/>
            </a:pPr>
            <a:r>
              <a:rPr lang="zh-CN" altLang="en-US" sz="2800" dirty="0">
                <a:latin typeface="华文楷体" panose="02010600040101010101" pitchFamily="2" charset="-122"/>
                <a:ea typeface="华文楷体" panose="02010600040101010101" pitchFamily="2" charset="-122"/>
              </a:rPr>
              <a:t>掌握顺序结构的基本功。</a:t>
            </a:r>
            <a:endParaRPr lang="en-US" altLang="zh-CN" sz="2800" dirty="0">
              <a:latin typeface="华文楷体" panose="02010600040101010101" pitchFamily="2" charset="-122"/>
              <a:ea typeface="华文楷体" panose="02010600040101010101" pitchFamily="2" charset="-122"/>
            </a:endParaRPr>
          </a:p>
          <a:p>
            <a:pPr marL="457200" indent="-457200">
              <a:buFont typeface="Arial" panose="020B0604020202020204" pitchFamily="34" charset="0"/>
              <a:buChar char="•"/>
            </a:pPr>
            <a:r>
              <a:rPr lang="zh-CN" altLang="en-US" sz="2800" dirty="0">
                <a:latin typeface="华文楷体" panose="02010600040101010101" pitchFamily="2" charset="-122"/>
                <a:ea typeface="华文楷体" panose="02010600040101010101" pitchFamily="2" charset="-122"/>
              </a:rPr>
              <a:t>掌握链式操作的基本功。</a:t>
            </a:r>
            <a:endParaRPr lang="en-US" altLang="zh-CN" sz="2800" dirty="0">
              <a:latin typeface="华文楷体" panose="02010600040101010101" pitchFamily="2" charset="-122"/>
              <a:ea typeface="华文楷体" panose="02010600040101010101" pitchFamily="2" charset="-122"/>
            </a:endParaRPr>
          </a:p>
          <a:p>
            <a:pPr marL="457200" indent="-457200">
              <a:buFont typeface="Arial" panose="020B0604020202020204" pitchFamily="34" charset="0"/>
              <a:buChar char="•"/>
            </a:pPr>
            <a:r>
              <a:rPr lang="zh-CN" altLang="en-US" sz="2800" dirty="0">
                <a:latin typeface="华文楷体" panose="02010600040101010101" pitchFamily="2" charset="-122"/>
                <a:ea typeface="华文楷体" panose="02010600040101010101" pitchFamily="2" charset="-122"/>
              </a:rPr>
              <a:t>掌握数据结构工具的建造和工具使用的不同。</a:t>
            </a:r>
            <a:endParaRPr lang="en-US" altLang="zh-CN" sz="280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线性表</a:t>
            </a:r>
            <a:r>
              <a:rPr lang="zh-CN" altLang="en-US" dirty="0">
                <a:latin typeface="华文楷体" panose="02010600040101010101" pitchFamily="2" charset="-122"/>
                <a:ea typeface="华文楷体" panose="02010600040101010101" pitchFamily="2" charset="-122"/>
              </a:rPr>
              <a:t>这章的任务和目标：</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44837" y="1692386"/>
            <a:ext cx="3941876" cy="4422664"/>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 线性表</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顺序表及实现</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链表及实现</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一元多项式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稀疏矩阵</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字符串</a:t>
            </a:r>
            <a:r>
              <a:rPr lang="en-US"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4205833"/>
          </a:xfrm>
        </p:spPr>
        <p:txBody>
          <a:bodyPr>
            <a:normAutofit/>
          </a:bodyPr>
          <a:lstStyle/>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一组特征相同且数量有限的元素构成的集合。该集合可以为空，也可以不为空。</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当不为空时，有唯一一个元素被称为</a:t>
            </a:r>
            <a:r>
              <a:rPr lang="zh-CN" altLang="zh-CN" sz="2800" b="0" dirty="0">
                <a:solidFill>
                  <a:srgbClr val="3F6EAA"/>
                </a:solidFill>
                <a:latin typeface="华文楷体" panose="02010600040101010101" pitchFamily="2" charset="-122"/>
                <a:ea typeface="华文楷体" panose="02010600040101010101" pitchFamily="2" charset="-122"/>
              </a:rPr>
              <a:t>首</a:t>
            </a:r>
            <a:r>
              <a:rPr lang="zh-CN" altLang="zh-CN" sz="2800" b="0" dirty="0">
                <a:latin typeface="华文楷体" panose="02010600040101010101" pitchFamily="2" charset="-122"/>
                <a:ea typeface="华文楷体" panose="02010600040101010101" pitchFamily="2" charset="-122"/>
              </a:rPr>
              <a:t>元素，有唯一一个元素被称为</a:t>
            </a:r>
            <a:r>
              <a:rPr lang="zh-CN" altLang="zh-CN" sz="2800" b="0" dirty="0">
                <a:solidFill>
                  <a:srgbClr val="3F6EAA"/>
                </a:solidFill>
                <a:latin typeface="华文楷体" panose="02010600040101010101" pitchFamily="2" charset="-122"/>
                <a:ea typeface="华文楷体" panose="02010600040101010101" pitchFamily="2" charset="-122"/>
              </a:rPr>
              <a:t>尾</a:t>
            </a:r>
            <a:r>
              <a:rPr lang="zh-CN" altLang="zh-CN" sz="2800" b="0" dirty="0">
                <a:latin typeface="华文楷体" panose="02010600040101010101" pitchFamily="2" charset="-122"/>
                <a:ea typeface="华文楷体" panose="02010600040101010101" pitchFamily="2" charset="-122"/>
              </a:rPr>
              <a:t>元素。</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除了尾元素，每个元素有且仅有一个直接</a:t>
            </a:r>
            <a:r>
              <a:rPr lang="zh-CN" altLang="zh-CN" sz="2800" b="0" dirty="0">
                <a:solidFill>
                  <a:srgbClr val="3F6EAA"/>
                </a:solidFill>
                <a:latin typeface="华文楷体" panose="02010600040101010101" pitchFamily="2" charset="-122"/>
                <a:ea typeface="华文楷体" panose="02010600040101010101" pitchFamily="2" charset="-122"/>
              </a:rPr>
              <a:t>后继</a:t>
            </a:r>
            <a:r>
              <a:rPr lang="zh-CN" altLang="zh-CN" sz="2800" b="0" dirty="0">
                <a:latin typeface="华文楷体" panose="02010600040101010101" pitchFamily="2" charset="-122"/>
                <a:ea typeface="华文楷体" panose="02010600040101010101" pitchFamily="2" charset="-122"/>
              </a:rPr>
              <a:t>元素；除了首元素，每个元素有且仅有一个直接</a:t>
            </a:r>
            <a:r>
              <a:rPr lang="zh-CN" altLang="zh-CN" sz="2800" b="0" dirty="0">
                <a:solidFill>
                  <a:srgbClr val="3F6EAA"/>
                </a:solidFill>
                <a:latin typeface="华文楷体" panose="02010600040101010101" pitchFamily="2" charset="-122"/>
                <a:ea typeface="华文楷体" panose="02010600040101010101" pitchFamily="2" charset="-122"/>
              </a:rPr>
              <a:t>前驱</a:t>
            </a:r>
            <a:r>
              <a:rPr lang="zh-CN" altLang="zh-CN" sz="2800" b="0" dirty="0">
                <a:latin typeface="华文楷体" panose="02010600040101010101" pitchFamily="2" charset="-122"/>
                <a:ea typeface="华文楷体" panose="02010600040101010101" pitchFamily="2" charset="-122"/>
              </a:rPr>
              <a:t>元素。</a:t>
            </a:r>
            <a:endParaRPr lang="zh-CN"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p:txBody>
          <a:bodyPr/>
          <a:lstStyle/>
          <a:p>
            <a:pPr marL="838200" indent="-838200">
              <a:defRPr/>
            </a:pPr>
            <a:r>
              <a:rPr lang="en-US" altLang="zh-CN" dirty="0"/>
              <a:t> </a:t>
            </a:r>
            <a:r>
              <a:rPr lang="zh-CN" altLang="en-US" dirty="0">
                <a:latin typeface="华文楷体" panose="02010600040101010101" pitchFamily="2" charset="-122"/>
                <a:ea typeface="华文楷体" panose="02010600040101010101" pitchFamily="2" charset="-122"/>
              </a:rPr>
              <a:t>线性结构定义：</a:t>
            </a:r>
            <a:endParaRPr lang="zh-CN" altLang="en-US" dirty="0">
              <a:latin typeface="华文楷体" panose="02010600040101010101" pitchFamily="2" charset="-122"/>
              <a:ea typeface="华文楷体" panose="02010600040101010101" pitchFamily="2" charset="-122"/>
            </a:endParaRPr>
          </a:p>
        </p:txBody>
      </p:sp>
      <p:pic>
        <p:nvPicPr>
          <p:cNvPr id="4" name="图片 3"/>
          <p:cNvPicPr>
            <a:picLocks noChangeAspect="1"/>
          </p:cNvPicPr>
          <p:nvPr/>
        </p:nvPicPr>
        <p:blipFill>
          <a:blip r:embed="rId1"/>
          <a:stretch>
            <a:fillRect/>
          </a:stretch>
        </p:blipFill>
        <p:spPr>
          <a:xfrm>
            <a:off x="4994620" y="5294588"/>
            <a:ext cx="2996441" cy="998814"/>
          </a:xfrm>
          <a:prstGeom prst="rect">
            <a:avLst/>
          </a:prstGeom>
        </p:spPr>
      </p:pic>
    </p:spTree>
  </p:cSld>
  <p:clrMapOvr>
    <a:masterClrMapping/>
  </p:clrMapOvr>
  <p:transition spd="med">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566455"/>
            <a:ext cx="11903716" cy="4595805"/>
          </a:xfrm>
        </p:spPr>
        <p:txBody>
          <a:bodyPr>
            <a:normAutofit/>
          </a:bodyPr>
          <a:lstStyle/>
          <a:p>
            <a:pPr marL="0" indent="0">
              <a:lnSpc>
                <a:spcPct val="115000"/>
              </a:lnSpc>
              <a:buNone/>
              <a:defRPr/>
            </a:pPr>
            <a:r>
              <a:rPr lang="zh-CN" altLang="zh-CN" sz="2800" b="0" dirty="0">
                <a:latin typeface="华文楷体" panose="02010600040101010101" pitchFamily="2" charset="-122"/>
                <a:ea typeface="华文楷体" panose="02010600040101010101" pitchFamily="2" charset="-122"/>
              </a:rPr>
              <a:t>线性表</a:t>
            </a:r>
            <a:r>
              <a:rPr lang="en-US" altLang="zh-CN" sz="2800" b="0" dirty="0">
                <a:latin typeface="华文楷体" panose="02010600040101010101" pitchFamily="2" charset="-122"/>
                <a:ea typeface="华文楷体" panose="02010600040101010101" pitchFamily="2" charset="-122"/>
              </a:rPr>
              <a:t>(List)</a:t>
            </a:r>
            <a:r>
              <a:rPr lang="zh-CN" altLang="zh-CN" sz="2800" b="0" dirty="0">
                <a:latin typeface="华文楷体" panose="02010600040101010101" pitchFamily="2" charset="-122"/>
                <a:ea typeface="华文楷体" panose="02010600040101010101" pitchFamily="2" charset="-122"/>
              </a:rPr>
              <a:t>、时间有序表</a:t>
            </a:r>
            <a:r>
              <a:rPr lang="en-US" altLang="zh-CN" sz="2800" b="0" dirty="0">
                <a:latin typeface="华文楷体" panose="02010600040101010101" pitchFamily="2" charset="-122"/>
                <a:ea typeface="华文楷体" panose="02010600040101010101" pitchFamily="2" charset="-122"/>
              </a:rPr>
              <a:t>(Chronological Ordered List)</a:t>
            </a:r>
            <a:r>
              <a:rPr lang="zh-CN" altLang="zh-CN" sz="2800" b="0" dirty="0">
                <a:latin typeface="华文楷体" panose="02010600040101010101" pitchFamily="2" charset="-122"/>
                <a:ea typeface="华文楷体" panose="02010600040101010101" pitchFamily="2" charset="-122"/>
              </a:rPr>
              <a:t>、排序表</a:t>
            </a:r>
            <a:r>
              <a:rPr lang="en-US" altLang="zh-CN" sz="2800" b="0" dirty="0">
                <a:latin typeface="华文楷体" panose="02010600040101010101" pitchFamily="2" charset="-122"/>
                <a:ea typeface="华文楷体" panose="02010600040101010101" pitchFamily="2" charset="-122"/>
              </a:rPr>
              <a:t>(Sorted List)</a:t>
            </a:r>
            <a:r>
              <a:rPr lang="zh-CN" altLang="zh-CN" sz="2800" b="0" dirty="0">
                <a:latin typeface="华文楷体" panose="02010600040101010101" pitchFamily="2" charset="-122"/>
                <a:ea typeface="华文楷体" panose="02010600040101010101" pitchFamily="2" charset="-122"/>
              </a:rPr>
              <a:t>、频率有序表</a:t>
            </a:r>
            <a:r>
              <a:rPr lang="en-US" altLang="zh-CN" sz="2800" b="0" dirty="0">
                <a:latin typeface="华文楷体" panose="02010600040101010101" pitchFamily="2" charset="-122"/>
                <a:ea typeface="华文楷体" panose="02010600040101010101" pitchFamily="2" charset="-122"/>
              </a:rPr>
              <a:t>(Frequency Ordered List)</a:t>
            </a:r>
            <a:r>
              <a:rPr lang="zh-CN" altLang="zh-CN" sz="2800" b="0" dirty="0">
                <a:latin typeface="华文楷体" panose="02010600040101010101" pitchFamily="2" charset="-122"/>
                <a:ea typeface="华文楷体" panose="02010600040101010101" pitchFamily="2" charset="-122"/>
              </a:rPr>
              <a:t>等。</a:t>
            </a:r>
            <a:endParaRPr lang="en-US" altLang="zh-CN" sz="2800" b="0" dirty="0">
              <a:latin typeface="华文楷体" panose="02010600040101010101" pitchFamily="2" charset="-122"/>
              <a:ea typeface="华文楷体" panose="02010600040101010101" pitchFamily="2" charset="-122"/>
            </a:endParaRPr>
          </a:p>
          <a:p>
            <a:pPr marL="0" indent="0">
              <a:lnSpc>
                <a:spcPct val="115000"/>
              </a:lnSpc>
              <a:buNone/>
              <a:defRPr/>
            </a:pPr>
            <a:endParaRPr lang="en-US" altLang="zh-CN" sz="2800" b="0" dirty="0">
              <a:latin typeface="华文楷体" panose="02010600040101010101" pitchFamily="2" charset="-122"/>
              <a:ea typeface="华文楷体" panose="02010600040101010101" pitchFamily="2" charset="-122"/>
            </a:endParaRPr>
          </a:p>
          <a:p>
            <a:pPr marL="0" indent="0">
              <a:lnSpc>
                <a:spcPct val="115000"/>
              </a:lnSpc>
              <a:buNone/>
              <a:defRPr/>
            </a:pPr>
            <a:r>
              <a:rPr lang="zh-CN" altLang="en-US" sz="2800" dirty="0">
                <a:latin typeface="华文楷体" panose="02010600040101010101" pitchFamily="2" charset="-122"/>
                <a:ea typeface="华文楷体" panose="02010600040101010101" pitchFamily="2" charset="-122"/>
              </a:rPr>
              <a:t>线性表：</a:t>
            </a:r>
            <a:r>
              <a:rPr lang="zh-CN" altLang="zh-CN" sz="2800" b="0" dirty="0">
                <a:latin typeface="华文楷体" panose="02010600040101010101" pitchFamily="2" charset="-122"/>
                <a:ea typeface="华文楷体" panose="02010600040101010101" pitchFamily="2" charset="-122"/>
              </a:rPr>
              <a:t>通过元素之间的相对位置来确定它们之间相互关系。 </a:t>
            </a:r>
            <a:endParaRPr lang="en-US" altLang="zh-CN" sz="2800" b="0" dirty="0">
              <a:latin typeface="华文楷体" panose="02010600040101010101" pitchFamily="2" charset="-122"/>
              <a:ea typeface="华文楷体" panose="02010600040101010101" pitchFamily="2" charset="-122"/>
            </a:endParaRPr>
          </a:p>
          <a:p>
            <a:pPr marL="0" indent="0">
              <a:lnSpc>
                <a:spcPct val="115000"/>
              </a:lnSpc>
              <a:buNone/>
              <a:defRPr/>
            </a:pPr>
            <a:r>
              <a:rPr lang="zh-CN" altLang="zh-CN" sz="2800" dirty="0">
                <a:latin typeface="华文楷体" panose="02010600040101010101" pitchFamily="2" charset="-122"/>
                <a:ea typeface="华文楷体" panose="02010600040101010101" pitchFamily="2" charset="-122"/>
              </a:rPr>
              <a:t>时间有序表</a:t>
            </a:r>
            <a:r>
              <a:rPr lang="zh-CN" altLang="en-US" sz="2800" dirty="0">
                <a:latin typeface="华文楷体" panose="02010600040101010101" pitchFamily="2" charset="-122"/>
                <a:ea typeface="华文楷体" panose="02010600040101010101" pitchFamily="2" charset="-122"/>
              </a:rPr>
              <a:t>：</a:t>
            </a:r>
            <a:r>
              <a:rPr lang="zh-CN" altLang="zh-CN" sz="2800" b="0" dirty="0">
                <a:latin typeface="华文楷体" panose="02010600040101010101" pitchFamily="2" charset="-122"/>
                <a:ea typeface="华文楷体" panose="02010600040101010101" pitchFamily="2" charset="-122"/>
              </a:rPr>
              <a:t>按元素到达结构的时间先后，确定元素之间</a:t>
            </a:r>
            <a:r>
              <a:rPr lang="zh-CN" altLang="en-US" sz="2800" b="0" dirty="0">
                <a:latin typeface="华文楷体" panose="02010600040101010101" pitchFamily="2" charset="-122"/>
                <a:ea typeface="华文楷体" panose="02010600040101010101" pitchFamily="2" charset="-122"/>
              </a:rPr>
              <a:t>的</a:t>
            </a:r>
            <a:r>
              <a:rPr lang="zh-CN" altLang="zh-CN" sz="2800" b="0" dirty="0">
                <a:latin typeface="华文楷体" panose="02010600040101010101" pitchFamily="2" charset="-122"/>
                <a:ea typeface="华文楷体" panose="02010600040101010101" pitchFamily="2" charset="-122"/>
              </a:rPr>
              <a:t>关系</a:t>
            </a:r>
            <a:r>
              <a:rPr lang="zh-CN" altLang="en-US" sz="2800" b="0" dirty="0">
                <a:latin typeface="华文楷体" panose="02010600040101010101" pitchFamily="2" charset="-122"/>
                <a:ea typeface="华文楷体" panose="02010600040101010101" pitchFamily="2" charset="-122"/>
              </a:rPr>
              <a:t>。栈</a:t>
            </a:r>
            <a:r>
              <a:rPr lang="en-US" altLang="zh-CN" sz="2800" b="0" dirty="0">
                <a:latin typeface="华文楷体" panose="02010600040101010101" pitchFamily="2" charset="-122"/>
                <a:ea typeface="华文楷体" panose="02010600040101010101" pitchFamily="2" charset="-122"/>
              </a:rPr>
              <a:t>/</a:t>
            </a:r>
            <a:r>
              <a:rPr lang="zh-CN" altLang="en-US" sz="2800" b="0" dirty="0">
                <a:latin typeface="华文楷体" panose="02010600040101010101" pitchFamily="2" charset="-122"/>
                <a:ea typeface="华文楷体" panose="02010600040101010101" pitchFamily="2" charset="-122"/>
              </a:rPr>
              <a:t>队列</a:t>
            </a:r>
            <a:endParaRPr lang="en-US" altLang="zh-CN" sz="2800" b="0" dirty="0">
              <a:latin typeface="华文楷体" panose="02010600040101010101" pitchFamily="2" charset="-122"/>
              <a:ea typeface="华文楷体" panose="02010600040101010101" pitchFamily="2" charset="-122"/>
            </a:endParaRPr>
          </a:p>
          <a:p>
            <a:pPr marL="0" indent="0">
              <a:lnSpc>
                <a:spcPct val="115000"/>
              </a:lnSpc>
              <a:buNone/>
              <a:defRPr/>
            </a:pPr>
            <a:r>
              <a:rPr lang="zh-CN" altLang="zh-CN" sz="2800" dirty="0">
                <a:latin typeface="华文楷体" panose="02010600040101010101" pitchFamily="2" charset="-122"/>
                <a:ea typeface="华文楷体" panose="02010600040101010101" pitchFamily="2" charset="-122"/>
              </a:rPr>
              <a:t>排序表</a:t>
            </a:r>
            <a:r>
              <a:rPr lang="zh-CN" altLang="en-US" sz="2800" dirty="0">
                <a:latin typeface="华文楷体" panose="02010600040101010101" pitchFamily="2" charset="-122"/>
                <a:ea typeface="华文楷体" panose="02010600040101010101" pitchFamily="2" charset="-122"/>
              </a:rPr>
              <a:t>：</a:t>
            </a:r>
            <a:r>
              <a:rPr lang="zh-CN" altLang="zh-CN" sz="2800" b="0" dirty="0">
                <a:latin typeface="华文楷体" panose="02010600040101010101" pitchFamily="2" charset="-122"/>
                <a:ea typeface="华文楷体" panose="02010600040101010101" pitchFamily="2" charset="-122"/>
              </a:rPr>
              <a:t>据元素的关键字值来确定其间的关系</a:t>
            </a:r>
            <a:r>
              <a:rPr lang="zh-CN" altLang="en-US"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marL="0" indent="0">
              <a:lnSpc>
                <a:spcPct val="115000"/>
              </a:lnSpc>
              <a:buNone/>
              <a:defRPr/>
            </a:pPr>
            <a:r>
              <a:rPr lang="zh-CN" altLang="zh-CN" sz="2800" dirty="0">
                <a:latin typeface="华文楷体" panose="02010600040101010101" pitchFamily="2" charset="-122"/>
                <a:ea typeface="华文楷体" panose="02010600040101010101" pitchFamily="2" charset="-122"/>
              </a:rPr>
              <a:t>频率有序表</a:t>
            </a:r>
            <a:r>
              <a:rPr lang="zh-CN" altLang="en-US" sz="2800" dirty="0">
                <a:latin typeface="华文楷体" panose="02010600040101010101" pitchFamily="2" charset="-122"/>
                <a:ea typeface="华文楷体" panose="02010600040101010101" pitchFamily="2" charset="-122"/>
              </a:rPr>
              <a:t>：</a:t>
            </a:r>
            <a:r>
              <a:rPr lang="zh-CN" altLang="zh-CN" sz="2800" b="0" dirty="0">
                <a:latin typeface="华文楷体" panose="02010600040101010101" pitchFamily="2" charset="-122"/>
                <a:ea typeface="华文楷体" panose="02010600040101010101" pitchFamily="2" charset="-122"/>
              </a:rPr>
              <a:t>按元素的使用频率确定它们之间的相互关系</a:t>
            </a:r>
            <a:r>
              <a:rPr lang="zh-CN" altLang="en-US"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marL="0" indent="0">
              <a:lnSpc>
                <a:spcPct val="115000"/>
              </a:lnSpc>
              <a:buNone/>
              <a:defRPr/>
            </a:pPr>
            <a:endParaRPr lang="en-US" altLang="zh-CN" sz="2800" b="0" dirty="0">
              <a:latin typeface="华文楷体" panose="02010600040101010101" pitchFamily="2" charset="-122"/>
              <a:ea typeface="华文楷体" panose="02010600040101010101" pitchFamily="2" charset="-122"/>
            </a:endParaRPr>
          </a:p>
          <a:p>
            <a:pPr marL="0" indent="0">
              <a:lnSpc>
                <a:spcPct val="115000"/>
              </a:lnSpc>
              <a:buNone/>
              <a:defRPr/>
            </a:pPr>
            <a:endParaRPr lang="en-US" altLang="zh-CN" sz="2800" dirty="0">
              <a:latin typeface="华文楷体" panose="02010600040101010101" pitchFamily="2" charset="-122"/>
              <a:ea typeface="华文楷体" panose="02010600040101010101" pitchFamily="2" charset="-122"/>
            </a:endParaRPr>
          </a:p>
          <a:p>
            <a:pPr marL="1789430" indent="0">
              <a:lnSpc>
                <a:spcPct val="115000"/>
              </a:lnSpc>
              <a:buNone/>
              <a:defRPr/>
            </a:pP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常见的几种线性结构</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665847"/>
            <a:ext cx="11903716" cy="3919944"/>
          </a:xfrm>
        </p:spPr>
        <p:txBody>
          <a:bodyPr>
            <a:normAutofit/>
          </a:bodyPr>
          <a:lstStyle/>
          <a:p>
            <a:pPr marL="0" indent="0">
              <a:lnSpc>
                <a:spcPct val="115000"/>
              </a:lnSpc>
              <a:buNone/>
              <a:defRPr/>
            </a:pPr>
            <a:r>
              <a:rPr lang="zh-CN" altLang="zh-CN" sz="2800" b="0" dirty="0">
                <a:latin typeface="华文楷体" panose="02010600040101010101" pitchFamily="2" charset="-122"/>
                <a:ea typeface="华文楷体" panose="02010600040101010101" pitchFamily="2" charset="-122"/>
              </a:rPr>
              <a:t>一种仅由元素的相互位置确定它们之间相互关系的线性结构，</a:t>
            </a:r>
            <a:endParaRPr lang="en-US" altLang="zh-CN" sz="2800" b="0" dirty="0">
              <a:latin typeface="华文楷体" panose="02010600040101010101" pitchFamily="2" charset="-122"/>
              <a:ea typeface="华文楷体" panose="02010600040101010101" pitchFamily="2" charset="-122"/>
            </a:endParaRPr>
          </a:p>
          <a:p>
            <a:pPr marL="0" indent="0">
              <a:lnSpc>
                <a:spcPct val="115000"/>
              </a:lnSpc>
              <a:buNone/>
              <a:defRPr/>
            </a:pPr>
            <a:r>
              <a:rPr lang="zh-CN" altLang="zh-CN" sz="2800" b="0" dirty="0">
                <a:latin typeface="华文楷体" panose="02010600040101010101" pitchFamily="2" charset="-122"/>
                <a:ea typeface="华文楷体" panose="02010600040101010101" pitchFamily="2" charset="-122"/>
              </a:rPr>
              <a:t>元素之间呈现出</a:t>
            </a:r>
            <a:r>
              <a:rPr lang="zh-CN" altLang="zh-CN" sz="2800" b="0" dirty="0">
                <a:solidFill>
                  <a:srgbClr val="3F6EAA"/>
                </a:solidFill>
                <a:latin typeface="华文楷体" panose="02010600040101010101" pitchFamily="2" charset="-122"/>
                <a:ea typeface="华文楷体" panose="02010600040101010101" pitchFamily="2" charset="-122"/>
              </a:rPr>
              <a:t>你先我后</a:t>
            </a:r>
            <a:r>
              <a:rPr lang="zh-CN" altLang="zh-CN" sz="2800" b="0" dirty="0">
                <a:latin typeface="华文楷体" panose="02010600040101010101" pitchFamily="2" charset="-122"/>
                <a:ea typeface="华文楷体" panose="02010600040101010101" pitchFamily="2" charset="-122"/>
              </a:rPr>
              <a:t>的关系。</a:t>
            </a:r>
            <a:endParaRPr lang="en-US" altLang="zh-CN" sz="2800" b="0" dirty="0">
              <a:latin typeface="华文楷体" panose="02010600040101010101" pitchFamily="2" charset="-122"/>
              <a:ea typeface="华文楷体" panose="02010600040101010101" pitchFamily="2" charset="-122"/>
            </a:endParaRPr>
          </a:p>
          <a:p>
            <a:pPr marL="0" indent="0">
              <a:lnSpc>
                <a:spcPct val="115000"/>
              </a:lnSpc>
              <a:buNone/>
              <a:defRPr/>
            </a:pPr>
            <a:r>
              <a:rPr lang="zh-CN" altLang="en-US" sz="2800" dirty="0">
                <a:latin typeface="华文楷体" panose="02010600040101010101" pitchFamily="2" charset="-122"/>
                <a:ea typeface="华文楷体" panose="02010600040101010101" pitchFamily="2" charset="-122"/>
              </a:rPr>
              <a:t>  </a:t>
            </a:r>
            <a:endParaRPr lang="en-US" altLang="zh-CN" sz="2800" dirty="0">
              <a:latin typeface="华文楷体" panose="02010600040101010101" pitchFamily="2" charset="-122"/>
              <a:ea typeface="华文楷体" panose="02010600040101010101" pitchFamily="2" charset="-122"/>
            </a:endParaRPr>
          </a:p>
          <a:p>
            <a:pPr marL="0" indent="0">
              <a:lnSpc>
                <a:spcPct val="115000"/>
              </a:lnSpc>
              <a:buNone/>
              <a:defRPr/>
            </a:pPr>
            <a:r>
              <a:rPr lang="zh-CN" altLang="zh-CN" sz="2800" b="0" dirty="0">
                <a:latin typeface="华文楷体" panose="02010600040101010101" pitchFamily="2" charset="-122"/>
                <a:ea typeface="华文楷体" panose="02010600040101010101" pitchFamily="2" charset="-122"/>
              </a:rPr>
              <a:t>线性表的</a:t>
            </a:r>
            <a:r>
              <a:rPr lang="zh-CN" altLang="zh-CN" sz="2800" dirty="0">
                <a:latin typeface="华文楷体" panose="02010600040101010101" pitchFamily="2" charset="-122"/>
                <a:ea typeface="华文楷体" panose="02010600040101010101" pitchFamily="2" charset="-122"/>
              </a:rPr>
              <a:t>规模或长度</a:t>
            </a:r>
            <a:r>
              <a:rPr lang="zh-CN" altLang="zh-CN" sz="2800" b="0" dirty="0">
                <a:latin typeface="华文楷体" panose="02010600040101010101" pitchFamily="2" charset="-122"/>
                <a:ea typeface="华文楷体" panose="02010600040101010101" pitchFamily="2" charset="-122"/>
              </a:rPr>
              <a:t>是指线性表中元素的个数。</a:t>
            </a:r>
            <a:endParaRPr lang="en-US" altLang="zh-CN" sz="2800" b="0" dirty="0">
              <a:latin typeface="华文楷体" panose="02010600040101010101" pitchFamily="2" charset="-122"/>
              <a:ea typeface="华文楷体" panose="02010600040101010101" pitchFamily="2" charset="-122"/>
            </a:endParaRPr>
          </a:p>
          <a:p>
            <a:pPr marL="0" indent="0">
              <a:lnSpc>
                <a:spcPct val="115000"/>
              </a:lnSpc>
              <a:buNone/>
              <a:defRPr/>
            </a:pPr>
            <a:r>
              <a:rPr lang="zh-CN" altLang="zh-CN" sz="2800" b="0" dirty="0">
                <a:latin typeface="华文楷体" panose="02010600040101010101" pitchFamily="2" charset="-122"/>
                <a:ea typeface="华文楷体" panose="02010600040101010101" pitchFamily="2" charset="-122"/>
              </a:rPr>
              <a:t>特别地：当元素的个数为零时，该线性表称为</a:t>
            </a:r>
            <a:r>
              <a:rPr lang="zh-CN" altLang="zh-CN" sz="2800" dirty="0">
                <a:latin typeface="华文楷体" panose="02010600040101010101" pitchFamily="2" charset="-122"/>
                <a:ea typeface="华文楷体" panose="02010600040101010101" pitchFamily="2" charset="-122"/>
              </a:rPr>
              <a:t>空表</a:t>
            </a:r>
            <a:r>
              <a:rPr lang="zh-CN" altLang="zh-CN" sz="2800" b="0" dirty="0">
                <a:latin typeface="华文楷体" panose="02010600040101010101" pitchFamily="2" charset="-122"/>
                <a:ea typeface="华文楷体" panose="02010600040101010101" pitchFamily="2" charset="-122"/>
              </a:rPr>
              <a:t>。 </a:t>
            </a:r>
            <a:endParaRPr lang="en-US" altLang="zh-CN" sz="2800" b="0" dirty="0">
              <a:latin typeface="华文楷体" panose="02010600040101010101" pitchFamily="2" charset="-122"/>
              <a:ea typeface="华文楷体" panose="02010600040101010101" pitchFamily="2" charset="-122"/>
            </a:endParaRPr>
          </a:p>
          <a:p>
            <a:pPr marL="0" indent="0">
              <a:lnSpc>
                <a:spcPct val="115000"/>
              </a:lnSpc>
              <a:buNone/>
              <a:defRPr/>
            </a:pPr>
            <a:endParaRPr lang="en-US" altLang="zh-CN" sz="2800" b="0" dirty="0">
              <a:latin typeface="华文楷体" panose="02010600040101010101" pitchFamily="2" charset="-122"/>
              <a:ea typeface="华文楷体" panose="02010600040101010101" pitchFamily="2" charset="-122"/>
            </a:endParaRPr>
          </a:p>
        </p:txBody>
      </p:sp>
      <p:sp>
        <p:nvSpPr>
          <p:cNvPr id="2" name="标题 1"/>
          <p:cNvSpPr>
            <a:spLocks noGrp="1"/>
          </p:cNvSpPr>
          <p:nvPr>
            <p:ph type="title"/>
          </p:nvPr>
        </p:nvSpPr>
        <p:spPr>
          <a:xfrm>
            <a:off x="288284" y="832523"/>
            <a:ext cx="11162884" cy="574183"/>
          </a:xfrm>
        </p:spPr>
        <p:txBody>
          <a:bodyPr/>
          <a:lstStyle/>
          <a:p>
            <a:r>
              <a:rPr lang="zh-CN" altLang="en-US" dirty="0"/>
              <a:t>线性表</a:t>
            </a:r>
            <a:endParaRPr lang="zh-CN" altLang="en-US" dirty="0"/>
          </a:p>
        </p:txBody>
      </p:sp>
    </p:spTree>
  </p:cSld>
  <p:clrMapOvr>
    <a:masterClrMapping/>
  </p:clrMapOvr>
  <p:transition spd="med">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705604"/>
            <a:ext cx="11903716" cy="4556049"/>
          </a:xfrm>
        </p:spPr>
        <p:txBody>
          <a:bodyPr>
            <a:normAutofit/>
          </a:bodyPr>
          <a:lstStyle/>
          <a:p>
            <a:pPr marL="0" indent="0">
              <a:buNone/>
            </a:pPr>
            <a:r>
              <a:rPr lang="en-US" altLang="zh-CN" sz="2800" b="0" dirty="0">
                <a:ea typeface="华文楷体" panose="02010600040101010101" pitchFamily="2" charset="-122"/>
                <a:cs typeface="Times New Roman" panose="02020603050405020304" pitchFamily="18" charset="0"/>
              </a:rPr>
              <a:t>Data: { x</a:t>
            </a:r>
            <a:r>
              <a:rPr lang="en-US" altLang="zh-CN" sz="2800" b="0" baseline="-25000" dirty="0">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 | x</a:t>
            </a:r>
            <a:r>
              <a:rPr lang="en-US" altLang="zh-CN" sz="2800" b="0" baseline="-25000" dirty="0">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sym typeface="Symbol" panose="05050102010706020507" pitchFamily="18" charset="2"/>
              </a:rPr>
              <a:t></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ElemSet</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=1,2,3,……n, n &gt; 0} </a:t>
            </a:r>
            <a:r>
              <a:rPr lang="zh-CN" altLang="zh-CN" sz="2800" b="0" dirty="0">
                <a:ea typeface="华文楷体" panose="02010600040101010101" pitchFamily="2" charset="-122"/>
                <a:cs typeface="Times New Roman" panose="02020603050405020304" pitchFamily="18" charset="0"/>
              </a:rPr>
              <a:t>或</a:t>
            </a:r>
            <a:r>
              <a:rPr lang="en-US" altLang="zh-CN" sz="2800" b="0" dirty="0">
                <a:ea typeface="华文楷体" panose="02010600040101010101" pitchFamily="2" charset="-122"/>
                <a:cs typeface="Times New Roman" panose="02020603050405020304" pitchFamily="18" charset="0"/>
              </a:rPr>
              <a:t> Φ; </a:t>
            </a:r>
            <a:r>
              <a:rPr lang="en-US" altLang="zh-CN" sz="2800" b="0" dirty="0" err="1">
                <a:ea typeface="华文楷体" panose="02010600040101010101" pitchFamily="2" charset="-122"/>
                <a:cs typeface="Times New Roman" panose="02020603050405020304" pitchFamily="18" charset="0"/>
              </a:rPr>
              <a:t>ElemSet</a:t>
            </a:r>
            <a:r>
              <a:rPr lang="zh-CN" altLang="zh-CN" sz="2800" b="0" dirty="0">
                <a:ea typeface="华文楷体" panose="02010600040101010101" pitchFamily="2" charset="-122"/>
                <a:cs typeface="Times New Roman" panose="02020603050405020304" pitchFamily="18" charset="0"/>
              </a:rPr>
              <a:t>为元素集合。</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Relation: {&lt;x</a:t>
            </a:r>
            <a:r>
              <a:rPr lang="en-US" altLang="zh-CN" sz="2800" b="0" baseline="-25000" dirty="0">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,x</a:t>
            </a:r>
            <a:r>
              <a:rPr lang="en-US" altLang="zh-CN" sz="2800" b="0" baseline="-25000" dirty="0">
                <a:ea typeface="华文楷体" panose="02010600040101010101" pitchFamily="2" charset="-122"/>
                <a:cs typeface="Times New Roman" panose="02020603050405020304" pitchFamily="18" charset="0"/>
              </a:rPr>
              <a:t>i+1</a:t>
            </a:r>
            <a:r>
              <a:rPr lang="en-US" altLang="zh-CN" sz="2800" b="0" dirty="0">
                <a:ea typeface="华文楷体" panose="02010600040101010101" pitchFamily="2" charset="-122"/>
                <a:cs typeface="Times New Roman" panose="02020603050405020304" pitchFamily="18" charset="0"/>
              </a:rPr>
              <a:t>&gt;|x</a:t>
            </a:r>
            <a:r>
              <a:rPr lang="en-US" altLang="zh-CN" sz="2800" b="0" baseline="-25000" dirty="0">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,x</a:t>
            </a:r>
            <a:r>
              <a:rPr lang="en-US" altLang="zh-CN" sz="2800" b="0" baseline="-25000" dirty="0">
                <a:ea typeface="华文楷体" panose="02010600040101010101" pitchFamily="2" charset="-122"/>
                <a:cs typeface="Times New Roman" panose="02020603050405020304" pitchFamily="18" charset="0"/>
              </a:rPr>
              <a:t>i+1</a:t>
            </a:r>
            <a:r>
              <a:rPr lang="en-US" altLang="zh-CN" sz="2800" b="0" dirty="0">
                <a:ea typeface="华文楷体" panose="02010600040101010101" pitchFamily="2" charset="-122"/>
                <a:cs typeface="Times New Roman" panose="02020603050405020304" pitchFamily="18" charset="0"/>
                <a:sym typeface="Symbol" panose="05050102010706020507" pitchFamily="18" charset="2"/>
              </a:rPr>
              <a:t></a:t>
            </a:r>
            <a:r>
              <a:rPr lang="en-US" altLang="zh-CN" sz="2800" b="0" dirty="0">
                <a:ea typeface="华文楷体" panose="02010600040101010101" pitchFamily="2" charset="-122"/>
                <a:cs typeface="Times New Roman" panose="02020603050405020304" pitchFamily="18" charset="0"/>
              </a:rPr>
              <a:t>ElemSet, </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=1,2,3,</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n-1}, </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x</a:t>
            </a:r>
            <a:r>
              <a:rPr lang="en-US" altLang="zh-CN" sz="2800" b="0" baseline="-2500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为首元素，</a:t>
            </a:r>
            <a:r>
              <a:rPr lang="en-US" altLang="zh-CN" sz="2800" b="0" dirty="0" err="1">
                <a:ea typeface="华文楷体" panose="02010600040101010101" pitchFamily="2" charset="-122"/>
                <a:cs typeface="Times New Roman" panose="02020603050405020304" pitchFamily="18" charset="0"/>
              </a:rPr>
              <a:t>x</a:t>
            </a:r>
            <a:r>
              <a:rPr lang="en-US" altLang="zh-CN" sz="2800" b="0" baseline="-25000" dirty="0" err="1">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为尾元素。</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Operations:</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initialize	</a:t>
            </a:r>
            <a:r>
              <a:rPr lang="zh-CN" altLang="zh-CN" sz="2800" b="0" dirty="0">
                <a:ea typeface="华文楷体" panose="02010600040101010101" pitchFamily="2" charset="-122"/>
                <a:cs typeface="Times New Roman" panose="02020603050405020304" pitchFamily="18" charset="0"/>
              </a:rPr>
              <a:t>前提</a:t>
            </a: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无或指定</a:t>
            </a:r>
            <a:r>
              <a:rPr lang="en-US" altLang="zh-CN" sz="2800" b="0" dirty="0">
                <a:ea typeface="华文楷体" panose="02010600040101010101" pitchFamily="2" charset="-122"/>
                <a:cs typeface="Times New Roman" panose="02020603050405020304" pitchFamily="18" charset="0"/>
              </a:rPr>
              <a:t>List </a:t>
            </a:r>
            <a:r>
              <a:rPr lang="zh-CN" altLang="zh-CN" sz="2800" b="0" dirty="0">
                <a:ea typeface="华文楷体" panose="02010600040101010101" pitchFamily="2" charset="-122"/>
                <a:cs typeface="Times New Roman" panose="02020603050405020304" pitchFamily="18" charset="0"/>
              </a:rPr>
              <a:t>的规模。结果</a:t>
            </a: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分配相应空间及初始化。</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isEmpty</a:t>
            </a: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前提：无</a:t>
            </a: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结果：表</a:t>
            </a:r>
            <a:r>
              <a:rPr lang="en-US" altLang="zh-CN" sz="2800" b="0" dirty="0">
                <a:ea typeface="华文楷体" panose="02010600040101010101" pitchFamily="2" charset="-122"/>
                <a:cs typeface="Times New Roman" panose="02020603050405020304" pitchFamily="18" charset="0"/>
              </a:rPr>
              <a:t>List </a:t>
            </a:r>
            <a:r>
              <a:rPr lang="zh-CN" altLang="zh-CN" sz="2800" b="0" dirty="0">
                <a:ea typeface="华文楷体" panose="02010600040101010101" pitchFamily="2" charset="-122"/>
                <a:cs typeface="Times New Roman" panose="02020603050405020304" pitchFamily="18" charset="0"/>
              </a:rPr>
              <a:t>为空返回</a:t>
            </a:r>
            <a:r>
              <a:rPr lang="en-US" altLang="zh-CN" sz="2800" b="0" dirty="0">
                <a:ea typeface="华文楷体" panose="02010600040101010101" pitchFamily="2" charset="-122"/>
                <a:cs typeface="Times New Roman" panose="02020603050405020304" pitchFamily="18" charset="0"/>
              </a:rPr>
              <a:t>true</a:t>
            </a:r>
            <a:r>
              <a:rPr lang="zh-CN" altLang="zh-CN" sz="2800" b="0" dirty="0">
                <a:ea typeface="华文楷体" panose="02010600040101010101" pitchFamily="2" charset="-122"/>
                <a:cs typeface="Times New Roman" panose="02020603050405020304" pitchFamily="18" charset="0"/>
              </a:rPr>
              <a:t>，否则返回</a:t>
            </a:r>
            <a:r>
              <a:rPr lang="en-US" altLang="zh-CN" sz="2800" b="0" dirty="0">
                <a:ea typeface="华文楷体" panose="02010600040101010101" pitchFamily="2" charset="-122"/>
                <a:cs typeface="Times New Roman" panose="02020603050405020304" pitchFamily="18" charset="0"/>
              </a:rPr>
              <a:t>false</a:t>
            </a:r>
            <a:r>
              <a:rPr lang="zh-CN"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isFull</a:t>
            </a: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前提：无</a:t>
            </a: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结果：表</a:t>
            </a:r>
            <a:r>
              <a:rPr lang="en-US" altLang="zh-CN" sz="2800" b="0" dirty="0">
                <a:ea typeface="华文楷体" panose="02010600040101010101" pitchFamily="2" charset="-122"/>
                <a:cs typeface="Times New Roman" panose="02020603050405020304" pitchFamily="18" charset="0"/>
              </a:rPr>
              <a:t>List </a:t>
            </a:r>
            <a:r>
              <a:rPr lang="zh-CN" altLang="zh-CN" sz="2800" b="0" dirty="0">
                <a:ea typeface="华文楷体" panose="02010600040101010101" pitchFamily="2" charset="-122"/>
                <a:cs typeface="Times New Roman" panose="02020603050405020304" pitchFamily="18" charset="0"/>
              </a:rPr>
              <a:t>为满返回</a:t>
            </a:r>
            <a:r>
              <a:rPr lang="en-US" altLang="zh-CN" sz="2800" b="0" dirty="0">
                <a:ea typeface="华文楷体" panose="02010600040101010101" pitchFamily="2" charset="-122"/>
                <a:cs typeface="Times New Roman" panose="02020603050405020304" pitchFamily="18" charset="0"/>
              </a:rPr>
              <a:t>true</a:t>
            </a:r>
            <a:r>
              <a:rPr lang="zh-CN" altLang="zh-CN" sz="2800" b="0" dirty="0">
                <a:ea typeface="华文楷体" panose="02010600040101010101" pitchFamily="2" charset="-122"/>
                <a:cs typeface="Times New Roman" panose="02020603050405020304" pitchFamily="18" charset="0"/>
              </a:rPr>
              <a:t>，否则返回</a:t>
            </a:r>
            <a:r>
              <a:rPr lang="en-US" altLang="zh-CN" sz="2800" b="0" dirty="0">
                <a:ea typeface="华文楷体" panose="02010600040101010101" pitchFamily="2" charset="-122"/>
                <a:cs typeface="Times New Roman" panose="02020603050405020304" pitchFamily="18" charset="0"/>
              </a:rPr>
              <a:t>false</a:t>
            </a:r>
            <a:r>
              <a:rPr lang="zh-CN"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线性表</a:t>
            </a:r>
            <a:r>
              <a:rPr lang="en-US" altLang="zh-CN" dirty="0">
                <a:latin typeface="华文楷体" panose="02010600040101010101" pitchFamily="2" charset="-122"/>
                <a:ea typeface="华文楷体" panose="02010600040101010101" pitchFamily="2" charset="-122"/>
              </a:rPr>
              <a:t>List</a:t>
            </a:r>
            <a:r>
              <a:rPr lang="zh-CN" altLang="zh-CN" dirty="0">
                <a:latin typeface="华文楷体" panose="02010600040101010101" pitchFamily="2" charset="-122"/>
                <a:ea typeface="华文楷体" panose="02010600040101010101" pitchFamily="2" charset="-122"/>
              </a:rPr>
              <a:t>的</a:t>
            </a:r>
            <a:r>
              <a:rPr lang="en-US" altLang="zh-CN" dirty="0">
                <a:latin typeface="华文楷体" panose="02010600040101010101" pitchFamily="2" charset="-122"/>
                <a:ea typeface="华文楷体" panose="02010600040101010101" pitchFamily="2" charset="-122"/>
              </a:rPr>
              <a:t>ADT </a:t>
            </a:r>
            <a:r>
              <a:rPr lang="zh-CN" altLang="en-US" dirty="0">
                <a:latin typeface="华文楷体" panose="02010600040101010101" pitchFamily="2" charset="-122"/>
                <a:ea typeface="华文楷体" panose="02010600040101010101" pitchFamily="2" charset="-122"/>
              </a:rPr>
              <a:t>：描述关系和关系操作</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7432" y="1526699"/>
            <a:ext cx="11903716" cy="4973491"/>
          </a:xfrm>
        </p:spPr>
        <p:txBody>
          <a:bodyPr>
            <a:noAutofit/>
          </a:bodyPr>
          <a:lstStyle/>
          <a:p>
            <a:pPr marL="0" indent="0">
              <a:buNone/>
            </a:pPr>
            <a:r>
              <a:rPr lang="en-US" altLang="zh-CN" sz="2800" b="0" dirty="0">
                <a:ea typeface="华文楷体" panose="02010600040101010101" pitchFamily="2" charset="-122"/>
                <a:cs typeface="Times New Roman" panose="02020603050405020304" pitchFamily="18" charset="0"/>
              </a:rPr>
              <a:t>length	  </a:t>
            </a:r>
            <a:r>
              <a:rPr lang="zh-CN" altLang="zh-CN" sz="2800" b="0" dirty="0">
                <a:ea typeface="华文楷体" panose="02010600040101010101" pitchFamily="2" charset="-122"/>
                <a:cs typeface="Times New Roman" panose="02020603050405020304" pitchFamily="18" charset="0"/>
              </a:rPr>
              <a:t>前提：无</a:t>
            </a: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结果：返回表</a:t>
            </a:r>
            <a:r>
              <a:rPr lang="en-US" altLang="zh-CN" sz="2800" b="0" dirty="0">
                <a:ea typeface="华文楷体" panose="02010600040101010101" pitchFamily="2" charset="-122"/>
                <a:cs typeface="Times New Roman" panose="02020603050405020304" pitchFamily="18" charset="0"/>
              </a:rPr>
              <a:t>List </a:t>
            </a:r>
            <a:r>
              <a:rPr lang="zh-CN" altLang="zh-CN" sz="2800" b="0" dirty="0">
                <a:ea typeface="华文楷体" panose="02010600040101010101" pitchFamily="2" charset="-122"/>
                <a:cs typeface="Times New Roman" panose="02020603050405020304" pitchFamily="18" charset="0"/>
              </a:rPr>
              <a:t>中的元素个数。</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get        </a:t>
            </a:r>
            <a:r>
              <a:rPr lang="zh-CN" altLang="zh-CN" sz="2800" b="0" dirty="0">
                <a:ea typeface="华文楷体" panose="02010600040101010101" pitchFamily="2" charset="-122"/>
                <a:cs typeface="Times New Roman" panose="02020603050405020304" pitchFamily="18" charset="0"/>
              </a:rPr>
              <a:t>前提：已知元素序号。</a:t>
            </a:r>
            <a:r>
              <a:rPr lang="en-US" altLang="zh-CN" sz="2800" b="0" dirty="0">
                <a:ea typeface="华文楷体" panose="02010600040101010101" pitchFamily="2" charset="-122"/>
                <a:cs typeface="Times New Roman" panose="02020603050405020304" pitchFamily="18" charset="0"/>
              </a:rPr>
              <a:t> </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结果：</a:t>
            </a: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如果该序号元素存在，则返回相应元素的数据值。</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find       </a:t>
            </a:r>
            <a:r>
              <a:rPr lang="zh-CN" altLang="zh-CN" sz="2800" b="0" dirty="0">
                <a:ea typeface="华文楷体" panose="02010600040101010101" pitchFamily="2" charset="-122"/>
                <a:cs typeface="Times New Roman" panose="02020603050405020304" pitchFamily="18" charset="0"/>
              </a:rPr>
              <a:t>前提：已知元素的数据值。</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结果：</a:t>
            </a: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查找成功，返回元素的序号，否则返回查找失败标志。</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insert     </a:t>
            </a:r>
            <a:r>
              <a:rPr lang="zh-CN" altLang="zh-CN" sz="2800" b="0" dirty="0">
                <a:ea typeface="华文楷体" panose="02010600040101010101" pitchFamily="2" charset="-122"/>
                <a:cs typeface="Times New Roman" panose="02020603050405020304" pitchFamily="18" charset="0"/>
              </a:rPr>
              <a:t>前提：已知待插入的元素及插入位置。</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结果：如果插入位置合</a:t>
            </a:r>
            <a:r>
              <a:rPr lang="zh-CN" altLang="en-US" sz="2800" b="0" dirty="0">
                <a:ea typeface="华文楷体" panose="02010600040101010101" pitchFamily="2" charset="-122"/>
                <a:cs typeface="Times New Roman" panose="02020603050405020304" pitchFamily="18" charset="0"/>
              </a:rPr>
              <a:t>理</a:t>
            </a:r>
            <a:r>
              <a:rPr lang="zh-CN" altLang="zh-CN" sz="2800" b="0" dirty="0">
                <a:ea typeface="华文楷体" panose="02010600040101010101" pitchFamily="2" charset="-122"/>
                <a:cs typeface="Times New Roman" panose="02020603050405020304" pitchFamily="18" charset="0"/>
              </a:rPr>
              <a:t>，在指定位置插入该元素。</a:t>
            </a:r>
            <a:endParaRPr lang="en-US" altLang="zh-CN" sz="2800" b="0" dirty="0">
              <a:ea typeface="华文楷体" panose="02010600040101010101" pitchFamily="2" charset="-122"/>
              <a:cs typeface="Times New Roman" panose="02020603050405020304" pitchFamily="18" charset="0"/>
            </a:endParaRPr>
          </a:p>
          <a:p>
            <a:pPr marL="0" indent="0">
              <a:buNone/>
            </a:pPr>
            <a:endParaRPr lang="zh-CN"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线性表</a:t>
            </a:r>
            <a:r>
              <a:rPr lang="en-US" altLang="zh-CN" dirty="0">
                <a:latin typeface="华文楷体" panose="02010600040101010101" pitchFamily="2" charset="-122"/>
                <a:ea typeface="华文楷体" panose="02010600040101010101" pitchFamily="2" charset="-122"/>
              </a:rPr>
              <a:t>List</a:t>
            </a:r>
            <a:r>
              <a:rPr lang="zh-CN" altLang="zh-CN" dirty="0">
                <a:latin typeface="华文楷体" panose="02010600040101010101" pitchFamily="2" charset="-122"/>
                <a:ea typeface="华文楷体" panose="02010600040101010101" pitchFamily="2" charset="-122"/>
              </a:rPr>
              <a:t>的</a:t>
            </a:r>
            <a:r>
              <a:rPr lang="en-US" altLang="zh-CN" dirty="0">
                <a:latin typeface="华文楷体" panose="02010600040101010101" pitchFamily="2" charset="-122"/>
                <a:ea typeface="华文楷体" panose="02010600040101010101" pitchFamily="2" charset="-122"/>
              </a:rPr>
              <a:t>ADT </a:t>
            </a:r>
            <a:r>
              <a:rPr lang="zh-CN" altLang="en-US" dirty="0">
                <a:latin typeface="华文楷体" panose="02010600040101010101" pitchFamily="2" charset="-122"/>
                <a:ea typeface="华文楷体" panose="02010600040101010101" pitchFamily="2" charset="-122"/>
              </a:rPr>
              <a:t>：描述关系和关系操作</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705604"/>
            <a:ext cx="11903716" cy="4556049"/>
          </a:xfrm>
        </p:spPr>
        <p:txBody>
          <a:bodyPr>
            <a:normAutofit/>
          </a:bodyPr>
          <a:lstStyle/>
          <a:p>
            <a:pPr marL="0" indent="0">
              <a:buNone/>
            </a:pPr>
            <a:r>
              <a:rPr lang="en-US" altLang="zh-CN" sz="2800" b="0" dirty="0">
                <a:ea typeface="华文楷体" panose="02010600040101010101" pitchFamily="2" charset="-122"/>
                <a:cs typeface="Times New Roman" panose="02020603050405020304" pitchFamily="18" charset="0"/>
              </a:rPr>
              <a:t>remove       </a:t>
            </a:r>
            <a:r>
              <a:rPr lang="zh-CN" altLang="zh-CN" sz="2800" b="0" dirty="0">
                <a:ea typeface="华文楷体" panose="02010600040101010101" pitchFamily="2" charset="-122"/>
                <a:cs typeface="Times New Roman" panose="02020603050405020304" pitchFamily="18" charset="0"/>
              </a:rPr>
              <a:t>前提：已知被删元素的值。</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结果：首先按值查找相应元素，查找成功则删除该元素。</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clear	         </a:t>
            </a:r>
            <a:r>
              <a:rPr lang="zh-CN" altLang="zh-CN" sz="2800" b="0" dirty="0">
                <a:ea typeface="华文楷体" panose="02010600040101010101" pitchFamily="2" charset="-122"/>
                <a:cs typeface="Times New Roman" panose="02020603050405020304" pitchFamily="18" charset="0"/>
              </a:rPr>
              <a:t>前提</a:t>
            </a: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无</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结果：删除表</a:t>
            </a:r>
            <a:r>
              <a:rPr lang="en-US" altLang="zh-CN" sz="2800" b="0" dirty="0">
                <a:ea typeface="华文楷体" panose="02010600040101010101" pitchFamily="2" charset="-122"/>
                <a:cs typeface="Times New Roman" panose="02020603050405020304" pitchFamily="18" charset="0"/>
              </a:rPr>
              <a:t>List </a:t>
            </a:r>
            <a:r>
              <a:rPr lang="zh-CN" altLang="zh-CN" sz="2800" b="0" dirty="0">
                <a:ea typeface="华文楷体" panose="02010600040101010101" pitchFamily="2" charset="-122"/>
                <a:cs typeface="Times New Roman" panose="02020603050405020304" pitchFamily="18" charset="0"/>
              </a:rPr>
              <a:t>中的所有元素。</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常见的基本操作来源于生活中对这种结构的了解。</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基本操作可以分为几大类型：</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zh-CN" altLang="zh-CN" sz="2800" dirty="0">
                <a:ea typeface="华文楷体" panose="02010600040101010101" pitchFamily="2" charset="-122"/>
                <a:cs typeface="Times New Roman" panose="02020603050405020304" pitchFamily="18" charset="0"/>
              </a:rPr>
              <a:t>结构类、属性类、数据操纵类、遍历类和典型应用类</a:t>
            </a: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线性表</a:t>
            </a:r>
            <a:r>
              <a:rPr lang="en-US" altLang="zh-CN" dirty="0">
                <a:latin typeface="华文楷体" panose="02010600040101010101" pitchFamily="2" charset="-122"/>
                <a:ea typeface="华文楷体" panose="02010600040101010101" pitchFamily="2" charset="-122"/>
              </a:rPr>
              <a:t>List</a:t>
            </a:r>
            <a:r>
              <a:rPr lang="zh-CN" altLang="zh-CN" dirty="0">
                <a:latin typeface="华文楷体" panose="02010600040101010101" pitchFamily="2" charset="-122"/>
                <a:ea typeface="华文楷体" panose="02010600040101010101" pitchFamily="2" charset="-122"/>
              </a:rPr>
              <a:t>的</a:t>
            </a:r>
            <a:r>
              <a:rPr lang="en-US" altLang="zh-CN" dirty="0">
                <a:latin typeface="华文楷体" panose="02010600040101010101" pitchFamily="2" charset="-122"/>
                <a:ea typeface="华文楷体" panose="02010600040101010101" pitchFamily="2" charset="-122"/>
              </a:rPr>
              <a:t>ADT </a:t>
            </a:r>
            <a:r>
              <a:rPr lang="zh-CN" altLang="en-US" dirty="0">
                <a:latin typeface="华文楷体" panose="02010600040101010101" pitchFamily="2" charset="-122"/>
                <a:ea typeface="华文楷体" panose="02010600040101010101" pitchFamily="2" charset="-122"/>
              </a:rPr>
              <a:t>：描述关系和关系操作</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44837" y="1692386"/>
            <a:ext cx="3941876" cy="4422664"/>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线性表</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en-US" altLang="zh-CN"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顺序表及实现</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链表及实现</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一元多项式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稀疏矩阵</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字符串</a:t>
            </a:r>
            <a:r>
              <a:rPr lang="en-US"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marL="0" indent="0">
              <a:lnSpc>
                <a:spcPct val="115000"/>
              </a:lnSpc>
              <a:buNone/>
              <a:defRPr/>
            </a:pP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4205833"/>
          </a:xfrm>
        </p:spPr>
        <p:txBody>
          <a:bodyPr>
            <a:normAutofit/>
          </a:bodyPr>
          <a:lstStyle/>
          <a:p>
            <a:pPr>
              <a:lnSpc>
                <a:spcPct val="115000"/>
              </a:lnSpc>
              <a:buFont typeface="Wingdings" panose="05000000000000000000" pitchFamily="2" charset="2"/>
              <a:buChar char="Ø"/>
              <a:defRPr/>
            </a:pPr>
            <a:r>
              <a:rPr lang="zh-CN" altLang="zh-CN" sz="2800" b="0" dirty="0">
                <a:latin typeface="华文楷体" panose="02010600040101010101" pitchFamily="2" charset="-122"/>
                <a:ea typeface="华文楷体" panose="02010600040101010101" pitchFamily="2" charset="-122"/>
              </a:rPr>
              <a:t>元素存放在内存中一块连续的空间里。</a:t>
            </a:r>
            <a:endParaRPr lang="en-US" altLang="zh-CN" sz="2800" b="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zh-CN" sz="2800" b="0" dirty="0">
                <a:latin typeface="华文楷体" panose="02010600040101010101" pitchFamily="2" charset="-122"/>
                <a:ea typeface="华文楷体" panose="02010600040101010101" pitchFamily="2" charset="-122"/>
              </a:rPr>
              <a:t>借助存储空间物理上的连续性，元素可以按照其逻辑顺序依次存放，即元素存放的物理顺序和它的逻辑顺序是一致的。</a:t>
            </a:r>
            <a:endParaRPr lang="en-US" altLang="zh-CN" sz="2800" b="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zh-CN" sz="2800" b="0" dirty="0">
                <a:latin typeface="华文楷体" panose="02010600040101010101" pitchFamily="2" charset="-122"/>
                <a:ea typeface="华文楷体" panose="02010600040101010101" pitchFamily="2" charset="-122"/>
              </a:rPr>
              <a:t>顺序存储的线性表称</a:t>
            </a:r>
            <a:r>
              <a:rPr lang="zh-CN" altLang="zh-CN" sz="2800" dirty="0">
                <a:latin typeface="华文楷体" panose="02010600040101010101" pitchFamily="2" charset="-122"/>
                <a:ea typeface="华文楷体" panose="02010600040101010101" pitchFamily="2" charset="-122"/>
              </a:rPr>
              <a:t>顺序表</a:t>
            </a:r>
            <a:r>
              <a:rPr lang="zh-CN" altLang="zh-CN"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zh-CN" sz="2800" b="0" dirty="0">
                <a:latin typeface="华文楷体" panose="02010600040101010101" pitchFamily="2" charset="-122"/>
                <a:ea typeface="华文楷体" panose="02010600040101010101" pitchFamily="2" charset="-122"/>
              </a:rPr>
              <a:t>在高级语言的固有数据类型中，数组在存储器中就表现为一块连续的空间，因此用数组实现顺序表非常合适。</a:t>
            </a:r>
            <a:endParaRPr lang="en-US" altLang="zh-CN" sz="2800" b="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zh-CN" sz="2800" b="0" dirty="0">
                <a:latin typeface="华文楷体" panose="02010600040101010101" pitchFamily="2" charset="-122"/>
                <a:ea typeface="华文楷体" panose="02010600040101010101" pitchFamily="2" charset="-122"/>
              </a:rPr>
              <a:t>数组中各元素位置由其下标来表示，它同时也是相应元素的位置序号。</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顺序结构</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顺序表的</a:t>
            </a:r>
            <a:r>
              <a:rPr lang="zh-CN" altLang="zh-CN" dirty="0">
                <a:solidFill>
                  <a:srgbClr val="FF0000"/>
                </a:solidFill>
                <a:latin typeface="华文楷体" panose="02010600040101010101" pitchFamily="2" charset="-122"/>
                <a:ea typeface="华文楷体" panose="02010600040101010101" pitchFamily="2" charset="-122"/>
              </a:rPr>
              <a:t>存储映像图</a:t>
            </a:r>
            <a:endParaRPr lang="zh-CN" altLang="en-US" dirty="0">
              <a:solidFill>
                <a:srgbClr val="FF0000"/>
              </a:solidFill>
              <a:latin typeface="华文楷体" panose="02010600040101010101" pitchFamily="2" charset="-122"/>
              <a:ea typeface="华文楷体" panose="02010600040101010101" pitchFamily="2" charset="-122"/>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1820044" y="1495319"/>
            <a:ext cx="8637055" cy="3093140"/>
          </a:xfrm>
          <a:prstGeom prst="rect">
            <a:avLst/>
          </a:prstGeom>
          <a:noFill/>
          <a:ln>
            <a:noFill/>
          </a:ln>
        </p:spPr>
      </p:pic>
      <p:sp>
        <p:nvSpPr>
          <p:cNvPr id="3" name="文本框 2"/>
          <p:cNvSpPr txBox="1"/>
          <p:nvPr/>
        </p:nvSpPr>
        <p:spPr>
          <a:xfrm>
            <a:off x="392787" y="4588459"/>
            <a:ext cx="11162884" cy="1815882"/>
          </a:xfrm>
          <a:prstGeom prst="rect">
            <a:avLst/>
          </a:prstGeom>
          <a:noFill/>
        </p:spPr>
        <p:txBody>
          <a:bodyPr wrap="square" rtlCol="0">
            <a:spAutoFit/>
          </a:bodyPr>
          <a:lstStyle/>
          <a:p>
            <a:r>
              <a:rPr lang="en-US" altLang="zh-CN" sz="2800" b="1" dirty="0">
                <a:latin typeface="华文楷体" panose="02010600040101010101" pitchFamily="2" charset="-122"/>
                <a:ea typeface="华文楷体" panose="02010600040101010101" pitchFamily="2" charset="-122"/>
              </a:rPr>
              <a:t>e</a:t>
            </a:r>
            <a:r>
              <a:rPr lang="en-GB" altLang="zh-CN" sz="2800" b="1" dirty="0" err="1">
                <a:latin typeface="华文楷体" panose="02010600040101010101" pitchFamily="2" charset="-122"/>
                <a:ea typeface="华文楷体" panose="02010600040101010101" pitchFamily="2" charset="-122"/>
              </a:rPr>
              <a:t>lem</a:t>
            </a:r>
            <a:r>
              <a:rPr lang="zh-CN" altLang="en-US" sz="2800" dirty="0">
                <a:latin typeface="华文楷体" panose="02010600040101010101" pitchFamily="2" charset="-122"/>
                <a:ea typeface="华文楷体" panose="02010600040101010101" pitchFamily="2" charset="-122"/>
              </a:rPr>
              <a:t>为数组名字，数组</a:t>
            </a:r>
            <a:r>
              <a:rPr lang="zh-CN" altLang="zh-CN" sz="2800" dirty="0">
                <a:latin typeface="华文楷体" panose="02010600040101010101" pitchFamily="2" charset="-122"/>
                <a:ea typeface="华文楷体" panose="02010600040101010101" pitchFamily="2" charset="-122"/>
              </a:rPr>
              <a:t>存储线性表</a:t>
            </a:r>
            <a:r>
              <a:rPr lang="zh-CN" altLang="en-US"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r>
              <a:rPr lang="en-GB" altLang="zh-CN" sz="2800" b="1" dirty="0" err="1">
                <a:latin typeface="华文楷体" panose="02010600040101010101" pitchFamily="2" charset="-122"/>
                <a:ea typeface="华文楷体" panose="02010600040101010101" pitchFamily="2" charset="-122"/>
              </a:rPr>
              <a:t>maxSize</a:t>
            </a:r>
            <a:r>
              <a:rPr lang="zh-CN" altLang="zh-CN" sz="2800" dirty="0">
                <a:latin typeface="华文楷体" panose="02010600040101010101" pitchFamily="2" charset="-122"/>
                <a:ea typeface="华文楷体" panose="02010600040101010101" pitchFamily="2" charset="-122"/>
              </a:rPr>
              <a:t>为</a:t>
            </a:r>
            <a:r>
              <a:rPr lang="en-GB" altLang="zh-CN" sz="2800" dirty="0" err="1">
                <a:latin typeface="华文楷体" panose="02010600040101010101" pitchFamily="2" charset="-122"/>
                <a:ea typeface="华文楷体" panose="02010600040101010101" pitchFamily="2" charset="-122"/>
              </a:rPr>
              <a:t>len</a:t>
            </a:r>
            <a:r>
              <a:rPr lang="zh-CN" altLang="zh-CN" sz="2800" dirty="0">
                <a:latin typeface="华文楷体" panose="02010600040101010101" pitchFamily="2" charset="-122"/>
                <a:ea typeface="华文楷体" panose="02010600040101010101" pitchFamily="2" charset="-122"/>
              </a:rPr>
              <a:t>的上界；</a:t>
            </a:r>
            <a:r>
              <a:rPr lang="en-GB" altLang="zh-CN" sz="2800" b="1" dirty="0" err="1">
                <a:latin typeface="华文楷体" panose="02010600040101010101" pitchFamily="2" charset="-122"/>
                <a:ea typeface="华文楷体" panose="02010600040101010101" pitchFamily="2" charset="-122"/>
              </a:rPr>
              <a:t>initSize</a:t>
            </a:r>
            <a:r>
              <a:rPr lang="zh-CN" altLang="zh-CN" sz="2800" dirty="0">
                <a:latin typeface="华文楷体" panose="02010600040101010101" pitchFamily="2" charset="-122"/>
                <a:ea typeface="华文楷体" panose="02010600040101010101" pitchFamily="2" charset="-122"/>
              </a:rPr>
              <a:t>为最大的存储空间数，</a:t>
            </a:r>
            <a:r>
              <a:rPr lang="en-GB" altLang="zh-CN" sz="2800" dirty="0" err="1">
                <a:latin typeface="华文楷体" panose="02010600040101010101" pitchFamily="2" charset="-122"/>
                <a:ea typeface="华文楷体" panose="02010600040101010101" pitchFamily="2" charset="-122"/>
              </a:rPr>
              <a:t>maxSize</a:t>
            </a:r>
            <a:r>
              <a:rPr lang="en-GB" altLang="zh-CN" sz="2800" dirty="0">
                <a:latin typeface="华文楷体" panose="02010600040101010101" pitchFamily="2" charset="-122"/>
                <a:ea typeface="华文楷体" panose="02010600040101010101" pitchFamily="2" charset="-122"/>
              </a:rPr>
              <a:t>=initSize-1</a:t>
            </a:r>
            <a:endParaRPr lang="en-GB" altLang="zh-CN" sz="2800" dirty="0">
              <a:latin typeface="华文楷体" panose="02010600040101010101" pitchFamily="2" charset="-122"/>
              <a:ea typeface="华文楷体" panose="02010600040101010101" pitchFamily="2" charset="-122"/>
            </a:endParaRPr>
          </a:p>
          <a:p>
            <a:r>
              <a:rPr lang="en-GB" altLang="zh-CN" sz="2800" b="1" dirty="0" err="1">
                <a:latin typeface="华文楷体" panose="02010600040101010101" pitchFamily="2" charset="-122"/>
                <a:ea typeface="华文楷体" panose="02010600040101010101" pitchFamily="2" charset="-122"/>
              </a:rPr>
              <a:t>elem</a:t>
            </a:r>
            <a:r>
              <a:rPr lang="en-GB" altLang="zh-CN" sz="2800" b="1" dirty="0">
                <a:latin typeface="华文楷体" panose="02010600040101010101" pitchFamily="2" charset="-122"/>
                <a:ea typeface="华文楷体" panose="02010600040101010101" pitchFamily="2" charset="-122"/>
              </a:rPr>
              <a:t>[0]</a:t>
            </a:r>
            <a:r>
              <a:rPr lang="zh-CN" altLang="zh-CN" sz="2800" dirty="0">
                <a:latin typeface="华文楷体" panose="02010600040101010101" pitchFamily="2" charset="-122"/>
                <a:ea typeface="华文楷体" panose="02010600040101010101" pitchFamily="2" charset="-122"/>
              </a:rPr>
              <a:t>用于其它特殊用途，</a:t>
            </a:r>
            <a:r>
              <a:rPr lang="zh-CN" altLang="en-US" sz="2800" dirty="0">
                <a:latin typeface="华文楷体" panose="02010600040101010101" pitchFamily="2" charset="-122"/>
                <a:ea typeface="华文楷体" panose="02010600040101010101" pitchFamily="2" charset="-122"/>
              </a:rPr>
              <a:t>如果不用于特殊用途</a:t>
            </a:r>
            <a:r>
              <a:rPr lang="en-US" altLang="zh-CN" sz="2800" dirty="0" err="1">
                <a:latin typeface="华文楷体" panose="02010600040101010101" pitchFamily="2" charset="-122"/>
                <a:ea typeface="华文楷体" panose="02010600040101010101" pitchFamily="2" charset="-122"/>
              </a:rPr>
              <a:t>maxSize</a:t>
            </a:r>
            <a:r>
              <a:rPr lang="en-US" altLang="zh-CN" sz="2800" dirty="0">
                <a:latin typeface="华文楷体" panose="02010600040101010101" pitchFamily="2" charset="-122"/>
                <a:ea typeface="华文楷体" panose="02010600040101010101" pitchFamily="2" charset="-122"/>
              </a:rPr>
              <a:t>=</a:t>
            </a:r>
            <a:r>
              <a:rPr lang="en-US" altLang="zh-CN" sz="2800" dirty="0" err="1">
                <a:latin typeface="华文楷体" panose="02010600040101010101" pitchFamily="2" charset="-122"/>
                <a:ea typeface="华文楷体" panose="02010600040101010101" pitchFamily="2" charset="-122"/>
              </a:rPr>
              <a:t>initSize</a:t>
            </a:r>
            <a:endParaRPr lang="en-US" altLang="zh-CN" sz="2800" dirty="0">
              <a:latin typeface="华文楷体" panose="02010600040101010101" pitchFamily="2" charset="-122"/>
              <a:ea typeface="华文楷体" panose="02010600040101010101" pitchFamily="2" charset="-122"/>
            </a:endParaRPr>
          </a:p>
          <a:p>
            <a:r>
              <a:rPr lang="en-US" altLang="zh-CN" sz="2800" b="1" dirty="0">
                <a:latin typeface="华文楷体" panose="02010600040101010101" pitchFamily="2" charset="-122"/>
                <a:ea typeface="华文楷体" panose="02010600040101010101" pitchFamily="2" charset="-122"/>
              </a:rPr>
              <a:t>l</a:t>
            </a:r>
            <a:r>
              <a:rPr lang="en-GB" altLang="zh-CN" sz="2800" b="1" dirty="0" err="1">
                <a:latin typeface="华文楷体" panose="02010600040101010101" pitchFamily="2" charset="-122"/>
                <a:ea typeface="华文楷体" panose="02010600040101010101" pitchFamily="2" charset="-122"/>
              </a:rPr>
              <a:t>en</a:t>
            </a:r>
            <a:r>
              <a:rPr lang="en-GB" altLang="zh-CN" sz="2800" b="1" dirty="0">
                <a:latin typeface="华文楷体" panose="02010600040101010101" pitchFamily="2" charset="-122"/>
                <a:ea typeface="华文楷体" panose="02010600040101010101" pitchFamily="2" charset="-122"/>
              </a:rPr>
              <a:t> </a:t>
            </a:r>
            <a:r>
              <a:rPr lang="zh-CN" altLang="zh-CN" sz="2800" dirty="0">
                <a:latin typeface="华文楷体" panose="02010600040101010101" pitchFamily="2" charset="-122"/>
                <a:ea typeface="华文楷体" panose="02010600040101010101" pitchFamily="2" charset="-122"/>
              </a:rPr>
              <a:t>为元素个数，即顺序表长度；</a:t>
            </a:r>
            <a:endParaRPr lang="en-US" altLang="zh-CN" sz="28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7432" y="1526699"/>
            <a:ext cx="7722655" cy="5060598"/>
          </a:xfrm>
        </p:spPr>
        <p:txBody>
          <a:bodyPr>
            <a:normAutofit/>
          </a:bodyPr>
          <a:lstStyle/>
          <a:p>
            <a:pPr marL="0" indent="0">
              <a:buNone/>
            </a:pPr>
            <a:r>
              <a:rPr lang="en-US" altLang="zh-CN" sz="3200" b="0" dirty="0"/>
              <a:t>#include &lt;</a:t>
            </a:r>
            <a:r>
              <a:rPr lang="en-US" altLang="zh-CN" sz="3200" b="0" dirty="0" err="1"/>
              <a:t>iostream</a:t>
            </a:r>
            <a:r>
              <a:rPr lang="en-US" altLang="zh-CN" sz="3200" b="0" dirty="0"/>
              <a:t>&gt;</a:t>
            </a:r>
            <a:endParaRPr lang="zh-CN" altLang="zh-CN" sz="3200" b="0" dirty="0"/>
          </a:p>
          <a:p>
            <a:pPr marL="0" indent="0">
              <a:buNone/>
            </a:pPr>
            <a:r>
              <a:rPr lang="en-US" altLang="zh-CN" sz="3200" b="0" dirty="0"/>
              <a:t>#define INITSIZE 100</a:t>
            </a:r>
            <a:endParaRPr lang="zh-CN" altLang="zh-CN" sz="3200" b="0" dirty="0"/>
          </a:p>
          <a:p>
            <a:pPr marL="0" indent="0">
              <a:buNone/>
            </a:pPr>
            <a:r>
              <a:rPr lang="en-US" altLang="zh-CN" sz="3200" b="0" dirty="0"/>
              <a:t>using namespace </a:t>
            </a:r>
            <a:r>
              <a:rPr lang="en-US" altLang="zh-CN" sz="3200" b="0" dirty="0" err="1"/>
              <a:t>std</a:t>
            </a:r>
            <a:r>
              <a:rPr lang="en-US" altLang="zh-CN" sz="3200" b="0" dirty="0"/>
              <a:t>;</a:t>
            </a:r>
            <a:endParaRPr lang="zh-CN" altLang="zh-CN" sz="3200" b="0" dirty="0"/>
          </a:p>
          <a:p>
            <a:pPr marL="0" indent="0">
              <a:buNone/>
            </a:pPr>
            <a:r>
              <a:rPr lang="en-US" altLang="zh-CN" sz="3200" b="0" dirty="0"/>
              <a:t> </a:t>
            </a:r>
            <a:endParaRPr lang="en-US" altLang="zh-CN" sz="3200" b="0" dirty="0"/>
          </a:p>
          <a:p>
            <a:pPr marL="0" indent="0">
              <a:buNone/>
            </a:pPr>
            <a:r>
              <a:rPr lang="en-US" altLang="zh-CN" sz="3200" b="0" dirty="0"/>
              <a:t>//</a:t>
            </a:r>
            <a:r>
              <a:rPr lang="zh-CN" altLang="en-US" sz="3200" b="0" dirty="0"/>
              <a:t>用于异常处理中识别错误类别</a:t>
            </a:r>
            <a:endParaRPr lang="zh-CN" altLang="zh-CN" sz="3200" b="0" dirty="0"/>
          </a:p>
          <a:p>
            <a:pPr marL="0" indent="0">
              <a:buNone/>
            </a:pPr>
            <a:r>
              <a:rPr lang="en-US" altLang="zh-CN" sz="3200" b="0" dirty="0"/>
              <a:t>class </a:t>
            </a:r>
            <a:r>
              <a:rPr lang="en-US" altLang="zh-CN" sz="3200" b="0" dirty="0" err="1"/>
              <a:t>illegalSize</a:t>
            </a:r>
            <a:r>
              <a:rPr lang="en-US" altLang="zh-CN" sz="3200" b="0" dirty="0"/>
              <a:t>{};</a:t>
            </a:r>
            <a:endParaRPr lang="zh-CN" altLang="zh-CN" sz="3200" b="0" dirty="0"/>
          </a:p>
          <a:p>
            <a:pPr marL="0" indent="0">
              <a:buNone/>
            </a:pPr>
            <a:r>
              <a:rPr lang="en-US" altLang="zh-CN" sz="3200" b="0" dirty="0"/>
              <a:t>class </a:t>
            </a:r>
            <a:r>
              <a:rPr lang="en-US" altLang="zh-CN" sz="3200" b="0" dirty="0" err="1"/>
              <a:t>outOfBound</a:t>
            </a:r>
            <a:r>
              <a:rPr lang="en-US" altLang="zh-CN" sz="3200" b="0" dirty="0"/>
              <a:t>{};</a:t>
            </a:r>
            <a:endParaRPr lang="zh-CN" altLang="zh-CN" sz="3200" b="0" dirty="0"/>
          </a:p>
          <a:p>
            <a:pPr marL="457200" lvl="1" indent="0">
              <a:lnSpc>
                <a:spcPct val="115000"/>
              </a:lnSpc>
              <a:buNone/>
              <a:defRPr/>
            </a:pP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en-GB" altLang="zh-CN" dirty="0" err="1">
                <a:latin typeface="华文楷体" panose="02010600040101010101" pitchFamily="2" charset="-122"/>
                <a:ea typeface="华文楷体" panose="02010600040101010101" pitchFamily="2" charset="-122"/>
              </a:rPr>
              <a:t>seqList</a:t>
            </a:r>
            <a:r>
              <a:rPr lang="zh-CN" altLang="zh-CN" dirty="0">
                <a:latin typeface="华文楷体" panose="02010600040101010101" pitchFamily="2" charset="-122"/>
                <a:ea typeface="华文楷体" panose="02010600040101010101" pitchFamily="2" charset="-122"/>
              </a:rPr>
              <a:t>及操作的定义（</a:t>
            </a:r>
            <a:r>
              <a:rPr lang="en-GB" altLang="zh-CN" dirty="0" err="1">
                <a:latin typeface="华文楷体" panose="02010600040101010101" pitchFamily="2" charset="-122"/>
                <a:ea typeface="华文楷体" panose="02010600040101010101" pitchFamily="2" charset="-122"/>
              </a:rPr>
              <a:t>seqList.h</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3" y="1526699"/>
            <a:ext cx="11638673" cy="5060598"/>
          </a:xfrm>
        </p:spPr>
        <p:txBody>
          <a:bodyPr>
            <a:noAutofit/>
          </a:bodyPr>
          <a:lstStyle/>
          <a:p>
            <a:pPr marL="0" indent="0">
              <a:buNone/>
            </a:pPr>
            <a:r>
              <a:rPr lang="en-US" altLang="zh-CN" sz="3200" b="0" dirty="0"/>
              <a:t>template &lt;class </a:t>
            </a:r>
            <a:r>
              <a:rPr lang="en-US" altLang="zh-CN" sz="3200" b="0" dirty="0" err="1"/>
              <a:t>elemType</a:t>
            </a:r>
            <a:r>
              <a:rPr lang="en-US" altLang="zh-CN" sz="3200" b="0" dirty="0"/>
              <a:t>&gt;</a:t>
            </a:r>
            <a:endParaRPr lang="zh-CN" altLang="zh-CN" sz="3200" b="0" dirty="0"/>
          </a:p>
          <a:p>
            <a:pPr marL="0" indent="0">
              <a:buNone/>
            </a:pPr>
            <a:r>
              <a:rPr lang="en-US" altLang="zh-CN" sz="3200" b="0" dirty="0"/>
              <a:t>class </a:t>
            </a:r>
            <a:r>
              <a:rPr lang="en-US" altLang="zh-CN" sz="3200" b="0" dirty="0" err="1"/>
              <a:t>seqList</a:t>
            </a:r>
            <a:endParaRPr lang="zh-CN" altLang="zh-CN" sz="3200" b="0" dirty="0"/>
          </a:p>
          <a:p>
            <a:pPr marL="0" indent="0">
              <a:buNone/>
            </a:pPr>
            <a:r>
              <a:rPr lang="en-US" altLang="zh-CN" sz="3200" b="0" dirty="0"/>
              <a:t>{    private:</a:t>
            </a:r>
            <a:endParaRPr lang="zh-CN" altLang="zh-CN" sz="3200" b="0" dirty="0"/>
          </a:p>
          <a:p>
            <a:pPr marL="0" indent="0">
              <a:buNone/>
            </a:pPr>
            <a:r>
              <a:rPr lang="en-US" altLang="zh-CN" sz="3200" b="0" dirty="0"/>
              <a:t>        </a:t>
            </a:r>
            <a:r>
              <a:rPr lang="en-US" altLang="zh-CN" sz="3200" b="0" dirty="0" err="1"/>
              <a:t>elemType</a:t>
            </a:r>
            <a:r>
              <a:rPr lang="en-US" altLang="zh-CN" sz="3200" b="0" dirty="0"/>
              <a:t> *</a:t>
            </a:r>
            <a:r>
              <a:rPr lang="en-US" altLang="zh-CN" sz="3200" b="0" dirty="0" err="1"/>
              <a:t>elem</a:t>
            </a:r>
            <a:r>
              <a:rPr lang="en-US" altLang="zh-CN" sz="3200" b="0" dirty="0"/>
              <a:t>; </a:t>
            </a:r>
            <a:r>
              <a:rPr lang="en-US" altLang="zh-CN" sz="3200" b="0" dirty="0">
                <a:latin typeface="华文楷体" panose="02010600040101010101" pitchFamily="2" charset="-122"/>
                <a:ea typeface="华文楷体" panose="02010600040101010101" pitchFamily="2" charset="-122"/>
              </a:rPr>
              <a:t>// </a:t>
            </a:r>
            <a:r>
              <a:rPr lang="zh-CN" altLang="zh-CN" sz="3200" b="0" dirty="0">
                <a:latin typeface="华文楷体" panose="02010600040101010101" pitchFamily="2" charset="-122"/>
                <a:ea typeface="华文楷体" panose="02010600040101010101" pitchFamily="2" charset="-122"/>
              </a:rPr>
              <a:t>顺序表存储数组，存放实际的数据元素。</a:t>
            </a:r>
            <a:endParaRPr lang="zh-CN" altLang="zh-CN" sz="3200" b="0" dirty="0">
              <a:latin typeface="华文楷体" panose="02010600040101010101" pitchFamily="2" charset="-122"/>
              <a:ea typeface="华文楷体" panose="02010600040101010101" pitchFamily="2" charset="-122"/>
            </a:endParaRPr>
          </a:p>
          <a:p>
            <a:pPr marL="0" indent="0">
              <a:buNone/>
            </a:pPr>
            <a:r>
              <a:rPr lang="en-US" altLang="zh-CN" sz="3200" b="0" dirty="0"/>
              <a:t>        </a:t>
            </a:r>
            <a:r>
              <a:rPr lang="en-US" altLang="zh-CN" sz="3200" b="0" dirty="0" err="1"/>
              <a:t>int</a:t>
            </a:r>
            <a:r>
              <a:rPr lang="en-US" altLang="zh-CN" sz="3200" b="0" dirty="0"/>
              <a:t> </a:t>
            </a:r>
            <a:r>
              <a:rPr lang="en-US" altLang="zh-CN" sz="3200" b="0" dirty="0" err="1"/>
              <a:t>len</a:t>
            </a:r>
            <a:r>
              <a:rPr lang="en-US" altLang="zh-CN" sz="3200" b="0" dirty="0">
                <a:latin typeface="华文楷体" panose="02010600040101010101" pitchFamily="2" charset="-122"/>
                <a:ea typeface="华文楷体" panose="02010600040101010101" pitchFamily="2" charset="-122"/>
              </a:rPr>
              <a:t>;        // </a:t>
            </a:r>
            <a:r>
              <a:rPr lang="zh-CN" altLang="zh-CN" sz="3200" b="0" dirty="0">
                <a:latin typeface="华文楷体" panose="02010600040101010101" pitchFamily="2" charset="-122"/>
                <a:ea typeface="华文楷体" panose="02010600040101010101" pitchFamily="2" charset="-122"/>
              </a:rPr>
              <a:t>顺序表中的元素个数，亦称表的长度。</a:t>
            </a:r>
            <a:endParaRPr lang="zh-CN" altLang="zh-CN" sz="3200" b="0" dirty="0">
              <a:latin typeface="华文楷体" panose="02010600040101010101" pitchFamily="2" charset="-122"/>
              <a:ea typeface="华文楷体" panose="02010600040101010101" pitchFamily="2" charset="-122"/>
            </a:endParaRPr>
          </a:p>
          <a:p>
            <a:pPr marL="0" indent="0">
              <a:buNone/>
            </a:pPr>
            <a:r>
              <a:rPr lang="en-US" altLang="zh-CN" sz="3200" b="0" dirty="0"/>
              <a:t>        </a:t>
            </a:r>
            <a:r>
              <a:rPr lang="en-US" altLang="zh-CN" sz="3200" b="0" dirty="0" err="1"/>
              <a:t>int</a:t>
            </a:r>
            <a:r>
              <a:rPr lang="en-US" altLang="zh-CN" sz="3200" b="0" dirty="0"/>
              <a:t> </a:t>
            </a:r>
            <a:r>
              <a:rPr lang="en-US" altLang="zh-CN" sz="3200" b="0" dirty="0" err="1"/>
              <a:t>maxSize</a:t>
            </a:r>
            <a:r>
              <a:rPr lang="en-US" altLang="zh-CN" sz="3200" b="0" dirty="0"/>
              <a:t>;    </a:t>
            </a:r>
            <a:r>
              <a:rPr lang="en-US" altLang="zh-CN" sz="3200" b="0" dirty="0">
                <a:latin typeface="华文楷体" panose="02010600040101010101" pitchFamily="2" charset="-122"/>
                <a:ea typeface="华文楷体" panose="02010600040101010101" pitchFamily="2" charset="-122"/>
              </a:rPr>
              <a:t>// </a:t>
            </a:r>
            <a:r>
              <a:rPr lang="zh-CN" altLang="zh-CN" sz="3200" b="0" dirty="0">
                <a:latin typeface="华文楷体" panose="02010600040101010101" pitchFamily="2" charset="-122"/>
                <a:ea typeface="华文楷体" panose="02010600040101010101" pitchFamily="2" charset="-122"/>
              </a:rPr>
              <a:t>顺序表的的最大可能的长度。</a:t>
            </a:r>
            <a:endParaRPr lang="zh-CN" altLang="zh-CN" sz="3200" b="0" dirty="0">
              <a:latin typeface="华文楷体" panose="02010600040101010101" pitchFamily="2" charset="-122"/>
              <a:ea typeface="华文楷体" panose="02010600040101010101" pitchFamily="2" charset="-122"/>
            </a:endParaRPr>
          </a:p>
          <a:p>
            <a:pPr marL="0" indent="0">
              <a:buNone/>
            </a:pPr>
            <a:r>
              <a:rPr lang="en-US" altLang="zh-CN" sz="3200" b="0" dirty="0"/>
              <a:t>        void </a:t>
            </a:r>
            <a:r>
              <a:rPr lang="en-US" altLang="zh-CN" sz="3200" b="0" dirty="0" err="1"/>
              <a:t>doubleSpace</a:t>
            </a:r>
            <a:r>
              <a:rPr lang="en-US" altLang="zh-CN" sz="3200" b="0" dirty="0">
                <a:latin typeface="华文楷体" panose="02010600040101010101" pitchFamily="2" charset="-122"/>
                <a:ea typeface="华文楷体" panose="02010600040101010101" pitchFamily="2" charset="-122"/>
              </a:rPr>
              <a:t>(); //</a:t>
            </a:r>
            <a:r>
              <a:rPr lang="zh-CN" altLang="en-US" sz="3200" b="0" dirty="0">
                <a:latin typeface="华文楷体" panose="02010600040101010101" pitchFamily="2" charset="-122"/>
                <a:ea typeface="华文楷体" panose="02010600040101010101" pitchFamily="2" charset="-122"/>
              </a:rPr>
              <a:t>私有函数，做内部工具</a:t>
            </a:r>
            <a:endParaRPr lang="zh-CN" altLang="zh-CN" sz="32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en-GB" altLang="zh-CN" dirty="0" err="1">
                <a:latin typeface="华文楷体" panose="02010600040101010101" pitchFamily="2" charset="-122"/>
                <a:ea typeface="华文楷体" panose="02010600040101010101" pitchFamily="2" charset="-122"/>
              </a:rPr>
              <a:t>seqList</a:t>
            </a:r>
            <a:r>
              <a:rPr lang="zh-CN" altLang="zh-CN" dirty="0">
                <a:latin typeface="华文楷体" panose="02010600040101010101" pitchFamily="2" charset="-122"/>
                <a:ea typeface="华文楷体" panose="02010600040101010101" pitchFamily="2" charset="-122"/>
              </a:rPr>
              <a:t>及操作的定义（</a:t>
            </a:r>
            <a:r>
              <a:rPr lang="en-GB" altLang="zh-CN" dirty="0" err="1">
                <a:latin typeface="华文楷体" panose="02010600040101010101" pitchFamily="2" charset="-122"/>
                <a:ea typeface="华文楷体" panose="02010600040101010101" pitchFamily="2" charset="-122"/>
              </a:rPr>
              <a:t>seqList.h</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3" y="1526699"/>
            <a:ext cx="13010274" cy="5060598"/>
          </a:xfrm>
        </p:spPr>
        <p:txBody>
          <a:bodyPr>
            <a:noAutofit/>
          </a:bodyPr>
          <a:lstStyle/>
          <a:p>
            <a:pPr marL="0" indent="0">
              <a:buNone/>
            </a:pPr>
            <a:r>
              <a:rPr lang="en-US" altLang="zh-CN" dirty="0"/>
              <a:t> </a:t>
            </a:r>
            <a:r>
              <a:rPr lang="en-US" altLang="zh-CN" sz="2800" b="0" dirty="0"/>
              <a:t>public:</a:t>
            </a:r>
            <a:endParaRPr lang="zh-CN" altLang="zh-CN" sz="2800" b="0" dirty="0"/>
          </a:p>
          <a:p>
            <a:pPr marL="0" indent="0">
              <a:buNone/>
            </a:pPr>
            <a:r>
              <a:rPr lang="en-US" altLang="zh-CN" sz="2800" b="0" dirty="0"/>
              <a:t>        </a:t>
            </a:r>
            <a:r>
              <a:rPr lang="en-US" altLang="zh-CN" sz="2800" b="0" dirty="0" err="1"/>
              <a:t>seqList</a:t>
            </a:r>
            <a:r>
              <a:rPr lang="en-US" altLang="zh-CN" sz="2800" b="0" dirty="0"/>
              <a:t>(</a:t>
            </a:r>
            <a:r>
              <a:rPr lang="en-US" altLang="zh-CN" sz="2800" b="0" dirty="0" err="1"/>
              <a:t>int</a:t>
            </a:r>
            <a:r>
              <a:rPr lang="en-US" altLang="zh-CN" sz="2800" b="0" dirty="0"/>
              <a:t> size=INITSIZE); </a:t>
            </a:r>
            <a:r>
              <a:rPr lang="en-US" altLang="zh-CN" sz="2800" b="0" dirty="0">
                <a:latin typeface="华文楷体" panose="02010600040101010101" pitchFamily="2" charset="-122"/>
                <a:ea typeface="华文楷体" panose="02010600040101010101" pitchFamily="2" charset="-122"/>
              </a:rPr>
              <a:t>//</a:t>
            </a:r>
            <a:r>
              <a:rPr lang="zh-CN" altLang="zh-CN" sz="2800" b="0" dirty="0">
                <a:latin typeface="华文楷体" panose="02010600040101010101" pitchFamily="2" charset="-122"/>
                <a:ea typeface="华文楷体" panose="02010600040101010101" pitchFamily="2" charset="-122"/>
              </a:rPr>
              <a:t>初始化顺序表</a:t>
            </a:r>
            <a:endParaRPr lang="zh-CN" altLang="zh-CN" sz="2800" b="0" dirty="0">
              <a:latin typeface="华文楷体" panose="02010600040101010101" pitchFamily="2" charset="-122"/>
              <a:ea typeface="华文楷体" panose="02010600040101010101" pitchFamily="2" charset="-122"/>
            </a:endParaRPr>
          </a:p>
          <a:p>
            <a:pPr marL="0" indent="0">
              <a:buNone/>
            </a:pPr>
            <a:r>
              <a:rPr lang="en-US" altLang="zh-CN" sz="2800" b="0" dirty="0"/>
              <a:t>        </a:t>
            </a:r>
            <a:r>
              <a:rPr lang="en-US" altLang="zh-CN" sz="2800" b="0" dirty="0">
                <a:latin typeface="华文楷体" panose="02010600040101010101" pitchFamily="2" charset="-122"/>
                <a:ea typeface="华文楷体" panose="02010600040101010101" pitchFamily="2" charset="-122"/>
              </a:rPr>
              <a:t>//</a:t>
            </a:r>
            <a:r>
              <a:rPr lang="zh-CN" altLang="zh-CN" sz="2800" b="0" dirty="0">
                <a:latin typeface="华文楷体" panose="02010600040101010101" pitchFamily="2" charset="-122"/>
                <a:ea typeface="华文楷体" panose="02010600040101010101" pitchFamily="2" charset="-122"/>
              </a:rPr>
              <a:t>表为空返回</a:t>
            </a:r>
            <a:r>
              <a:rPr lang="en-US" altLang="zh-CN" sz="2800" b="0" dirty="0">
                <a:latin typeface="华文楷体" panose="02010600040101010101" pitchFamily="2" charset="-122"/>
                <a:ea typeface="华文楷体" panose="02010600040101010101" pitchFamily="2" charset="-122"/>
              </a:rPr>
              <a:t>true,</a:t>
            </a:r>
            <a:r>
              <a:rPr lang="zh-CN" altLang="zh-CN" sz="2800" b="0" dirty="0">
                <a:latin typeface="华文楷体" panose="02010600040101010101" pitchFamily="2" charset="-122"/>
                <a:ea typeface="华文楷体" panose="02010600040101010101" pitchFamily="2" charset="-122"/>
              </a:rPr>
              <a:t>否则返回</a:t>
            </a:r>
            <a:r>
              <a:rPr lang="en-US" altLang="zh-CN" sz="2800" b="0" dirty="0">
                <a:latin typeface="华文楷体" panose="02010600040101010101" pitchFamily="2" charset="-122"/>
                <a:ea typeface="华文楷体" panose="02010600040101010101" pitchFamily="2" charset="-122"/>
              </a:rPr>
              <a:t>false</a:t>
            </a:r>
            <a:r>
              <a:rPr lang="zh-CN" altLang="zh-CN" sz="2800" b="0" dirty="0">
                <a:latin typeface="华文楷体" panose="02010600040101010101" pitchFamily="2" charset="-122"/>
                <a:ea typeface="华文楷体" panose="02010600040101010101" pitchFamily="2" charset="-122"/>
              </a:rPr>
              <a:t>。</a:t>
            </a:r>
            <a:endParaRPr lang="zh-CN" altLang="zh-CN" sz="2800" b="0" dirty="0">
              <a:latin typeface="华文楷体" panose="02010600040101010101" pitchFamily="2" charset="-122"/>
              <a:ea typeface="华文楷体" panose="02010600040101010101" pitchFamily="2" charset="-122"/>
            </a:endParaRPr>
          </a:p>
          <a:p>
            <a:pPr marL="0" indent="0">
              <a:buNone/>
            </a:pPr>
            <a:r>
              <a:rPr lang="en-US" altLang="zh-CN" sz="2800" b="0" dirty="0"/>
              <a:t>        bool </a:t>
            </a:r>
            <a:r>
              <a:rPr lang="en-US" altLang="zh-CN" sz="2800" b="0" dirty="0" err="1"/>
              <a:t>isEmpty</a:t>
            </a:r>
            <a:r>
              <a:rPr lang="en-US" altLang="zh-CN" sz="2800" b="0" dirty="0"/>
              <a:t>()</a:t>
            </a:r>
            <a:r>
              <a:rPr lang="en-US" altLang="zh-CN" sz="2800" b="0" dirty="0" err="1"/>
              <a:t>const</a:t>
            </a:r>
            <a:r>
              <a:rPr lang="en-US" altLang="zh-CN" sz="2800" b="0" dirty="0"/>
              <a:t> { return ( </a:t>
            </a:r>
            <a:r>
              <a:rPr lang="en-US" altLang="zh-CN" sz="2800" b="0" dirty="0" err="1"/>
              <a:t>len</a:t>
            </a:r>
            <a:r>
              <a:rPr lang="en-US" altLang="zh-CN" sz="2800" b="0" dirty="0"/>
              <a:t> == 0 ); }</a:t>
            </a:r>
            <a:endParaRPr lang="zh-CN" altLang="zh-CN" sz="2800" b="0" dirty="0"/>
          </a:p>
          <a:p>
            <a:pPr marL="0" indent="0">
              <a:buNone/>
            </a:pPr>
            <a:r>
              <a:rPr lang="en-US" altLang="zh-CN" sz="2800" b="0" dirty="0"/>
              <a:t>        </a:t>
            </a:r>
            <a:r>
              <a:rPr lang="en-US" altLang="zh-CN" sz="2800" b="0" dirty="0">
                <a:latin typeface="华文楷体" panose="02010600040101010101" pitchFamily="2" charset="-122"/>
                <a:ea typeface="华文楷体" panose="02010600040101010101" pitchFamily="2" charset="-122"/>
              </a:rPr>
              <a:t>//</a:t>
            </a:r>
            <a:r>
              <a:rPr lang="zh-CN" altLang="zh-CN" sz="2800" b="0" dirty="0">
                <a:latin typeface="华文楷体" panose="02010600040101010101" pitchFamily="2" charset="-122"/>
                <a:ea typeface="华文楷体" panose="02010600040101010101" pitchFamily="2" charset="-122"/>
              </a:rPr>
              <a:t>表为满返回</a:t>
            </a:r>
            <a:r>
              <a:rPr lang="en-US" altLang="zh-CN" sz="2800" b="0" dirty="0">
                <a:latin typeface="华文楷体" panose="02010600040101010101" pitchFamily="2" charset="-122"/>
                <a:ea typeface="华文楷体" panose="02010600040101010101" pitchFamily="2" charset="-122"/>
              </a:rPr>
              <a:t>true</a:t>
            </a:r>
            <a:r>
              <a:rPr lang="zh-CN" altLang="zh-CN" sz="2800" b="0" dirty="0">
                <a:latin typeface="华文楷体" panose="02010600040101010101" pitchFamily="2" charset="-122"/>
                <a:ea typeface="华文楷体" panose="02010600040101010101" pitchFamily="2" charset="-122"/>
              </a:rPr>
              <a:t>，否则返回</a:t>
            </a:r>
            <a:r>
              <a:rPr lang="en-US" altLang="zh-CN" sz="2800" b="0" dirty="0">
                <a:latin typeface="华文楷体" panose="02010600040101010101" pitchFamily="2" charset="-122"/>
                <a:ea typeface="华文楷体" panose="02010600040101010101" pitchFamily="2" charset="-122"/>
              </a:rPr>
              <a:t>false</a:t>
            </a:r>
            <a:r>
              <a:rPr lang="zh-CN" altLang="zh-CN" sz="2800" b="0" dirty="0">
                <a:latin typeface="华文楷体" panose="02010600040101010101" pitchFamily="2" charset="-122"/>
                <a:ea typeface="华文楷体" panose="02010600040101010101" pitchFamily="2" charset="-122"/>
              </a:rPr>
              <a:t>。</a:t>
            </a:r>
            <a:endParaRPr lang="zh-CN" altLang="zh-CN" sz="2800" b="0" dirty="0">
              <a:latin typeface="华文楷体" panose="02010600040101010101" pitchFamily="2" charset="-122"/>
              <a:ea typeface="华文楷体" panose="02010600040101010101" pitchFamily="2" charset="-122"/>
            </a:endParaRPr>
          </a:p>
          <a:p>
            <a:pPr marL="0" indent="0">
              <a:buNone/>
            </a:pPr>
            <a:r>
              <a:rPr lang="en-US" altLang="zh-CN" sz="2800" b="0" dirty="0"/>
              <a:t>        bool </a:t>
            </a:r>
            <a:r>
              <a:rPr lang="en-US" altLang="zh-CN" sz="2800" b="0" dirty="0" err="1"/>
              <a:t>isFull</a:t>
            </a:r>
            <a:r>
              <a:rPr lang="en-US" altLang="zh-CN" sz="2800" b="0" dirty="0"/>
              <a:t>()</a:t>
            </a:r>
            <a:r>
              <a:rPr lang="en-US" altLang="zh-CN" sz="2800" b="0" dirty="0" err="1"/>
              <a:t>const</a:t>
            </a:r>
            <a:r>
              <a:rPr lang="en-US" altLang="zh-CN" sz="2800" b="0" dirty="0"/>
              <a:t> { return (</a:t>
            </a:r>
            <a:r>
              <a:rPr lang="en-US" altLang="zh-CN" sz="2800" b="0" dirty="0" err="1"/>
              <a:t>len</a:t>
            </a:r>
            <a:r>
              <a:rPr lang="en-US" altLang="zh-CN" sz="2800" b="0" dirty="0"/>
              <a:t> == </a:t>
            </a:r>
            <a:r>
              <a:rPr lang="en-US" altLang="zh-CN" sz="2800" b="0" dirty="0" err="1"/>
              <a:t>maxSize</a:t>
            </a:r>
            <a:r>
              <a:rPr lang="en-US" altLang="zh-CN" sz="2800" b="0" dirty="0"/>
              <a:t>); }</a:t>
            </a:r>
            <a:endParaRPr lang="zh-CN" altLang="zh-CN" sz="2800" b="0" dirty="0"/>
          </a:p>
          <a:p>
            <a:pPr marL="0" indent="0">
              <a:buNone/>
            </a:pPr>
            <a:r>
              <a:rPr lang="en-US" altLang="zh-CN" sz="2800" b="0" dirty="0"/>
              <a:t>        </a:t>
            </a:r>
            <a:r>
              <a:rPr lang="en-US" altLang="zh-CN" sz="2800" b="0" dirty="0" err="1"/>
              <a:t>int</a:t>
            </a:r>
            <a:r>
              <a:rPr lang="en-US" altLang="zh-CN" sz="2800" b="0" dirty="0"/>
              <a:t> length()</a:t>
            </a:r>
            <a:r>
              <a:rPr lang="en-US" altLang="zh-CN" sz="2800" b="0" dirty="0" err="1"/>
              <a:t>const</a:t>
            </a:r>
            <a:r>
              <a:rPr lang="en-US" altLang="zh-CN" sz="2800" b="0" dirty="0"/>
              <a:t> {return </a:t>
            </a:r>
            <a:r>
              <a:rPr lang="en-US" altLang="zh-CN" sz="2800" b="0" dirty="0" err="1"/>
              <a:t>len</a:t>
            </a:r>
            <a:r>
              <a:rPr lang="en-US" altLang="zh-CN" sz="2800" b="0" dirty="0"/>
              <a:t>;}  </a:t>
            </a:r>
            <a:r>
              <a:rPr lang="en-US" altLang="zh-CN" sz="2800" b="0" dirty="0">
                <a:latin typeface="华文楷体" panose="02010600040101010101" pitchFamily="2" charset="-122"/>
                <a:ea typeface="华文楷体" panose="02010600040101010101" pitchFamily="2" charset="-122"/>
              </a:rPr>
              <a:t>//</a:t>
            </a:r>
            <a:r>
              <a:rPr lang="zh-CN" altLang="zh-CN" sz="2800" b="0" dirty="0">
                <a:latin typeface="华文楷体" panose="02010600040101010101" pitchFamily="2" charset="-122"/>
                <a:ea typeface="华文楷体" panose="02010600040101010101" pitchFamily="2" charset="-122"/>
              </a:rPr>
              <a:t>表的长度，即实际存储元素的个数。</a:t>
            </a:r>
            <a:endParaRPr lang="zh-CN" altLang="zh-CN" sz="2000" b="0" dirty="0">
              <a:latin typeface="华文楷体" panose="02010600040101010101" pitchFamily="2" charset="-122"/>
              <a:ea typeface="华文楷体" panose="02010600040101010101" pitchFamily="2" charset="-122"/>
            </a:endParaRPr>
          </a:p>
          <a:p>
            <a:pPr marL="0" indent="0">
              <a:buNone/>
            </a:pPr>
            <a:r>
              <a:rPr lang="en-US" altLang="zh-CN" sz="2000" b="0" dirty="0"/>
              <a:t>        </a:t>
            </a:r>
            <a:endParaRPr lang="zh-CN" altLang="zh-CN" sz="2800" b="0" dirty="0"/>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en-GB" altLang="zh-CN" dirty="0" err="1">
                <a:latin typeface="华文楷体" panose="02010600040101010101" pitchFamily="2" charset="-122"/>
                <a:ea typeface="华文楷体" panose="02010600040101010101" pitchFamily="2" charset="-122"/>
              </a:rPr>
              <a:t>seqList</a:t>
            </a:r>
            <a:r>
              <a:rPr lang="zh-CN" altLang="zh-CN" dirty="0">
                <a:latin typeface="华文楷体" panose="02010600040101010101" pitchFamily="2" charset="-122"/>
                <a:ea typeface="华文楷体" panose="02010600040101010101" pitchFamily="2" charset="-122"/>
              </a:rPr>
              <a:t>及操作的定义（</a:t>
            </a:r>
            <a:r>
              <a:rPr lang="en-GB" altLang="zh-CN" dirty="0" err="1">
                <a:latin typeface="华文楷体" panose="02010600040101010101" pitchFamily="2" charset="-122"/>
                <a:ea typeface="华文楷体" panose="02010600040101010101" pitchFamily="2" charset="-122"/>
              </a:rPr>
              <a:t>seqList.h</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7837715" y="3099505"/>
            <a:ext cx="4354285" cy="1077218"/>
          </a:xfrm>
          <a:prstGeom prst="rect">
            <a:avLst/>
          </a:prstGeom>
          <a:noFill/>
        </p:spPr>
        <p:txBody>
          <a:bodyPr wrap="square" rtlCol="0">
            <a:spAutoFit/>
          </a:bodyPr>
          <a:lstStyle/>
          <a:p>
            <a:r>
              <a:rPr lang="zh-CN" altLang="en-US" sz="3200" dirty="0">
                <a:solidFill>
                  <a:srgbClr val="FF0000"/>
                </a:solidFill>
                <a:latin typeface="华文楷体" panose="02010600040101010101" pitchFamily="2" charset="-122"/>
                <a:ea typeface="华文楷体" panose="02010600040101010101" pitchFamily="2" charset="-122"/>
              </a:rPr>
              <a:t>注意各处：</a:t>
            </a:r>
            <a:endParaRPr lang="en-US" altLang="zh-CN" sz="3200" dirty="0">
              <a:solidFill>
                <a:srgbClr val="FF0000"/>
              </a:solidFill>
              <a:latin typeface="华文楷体" panose="02010600040101010101" pitchFamily="2" charset="-122"/>
              <a:ea typeface="华文楷体" panose="02010600040101010101" pitchFamily="2" charset="-122"/>
            </a:endParaRPr>
          </a:p>
          <a:p>
            <a:r>
              <a:rPr lang="en-US" altLang="zh-CN" sz="3200" dirty="0" err="1">
                <a:solidFill>
                  <a:srgbClr val="FF0000"/>
                </a:solidFill>
                <a:latin typeface="华文楷体" panose="02010600040101010101" pitchFamily="2" charset="-122"/>
                <a:ea typeface="华文楷体" panose="02010600040101010101" pitchFamily="2" charset="-122"/>
              </a:rPr>
              <a:t>const</a:t>
            </a:r>
            <a:r>
              <a:rPr lang="zh-CN" altLang="en-US" sz="3200" dirty="0">
                <a:solidFill>
                  <a:srgbClr val="FF0000"/>
                </a:solidFill>
                <a:latin typeface="华文楷体" panose="02010600040101010101" pitchFamily="2" charset="-122"/>
                <a:ea typeface="华文楷体" panose="02010600040101010101" pitchFamily="2" charset="-122"/>
              </a:rPr>
              <a:t>和</a:t>
            </a:r>
            <a:r>
              <a:rPr lang="en-US" altLang="zh-CN" sz="3200" dirty="0" err="1">
                <a:solidFill>
                  <a:srgbClr val="FF0000"/>
                </a:solidFill>
                <a:latin typeface="华文楷体" panose="02010600040101010101" pitchFamily="2" charset="-122"/>
                <a:ea typeface="华文楷体" panose="02010600040101010101" pitchFamily="2" charset="-122"/>
              </a:rPr>
              <a:t>const</a:t>
            </a:r>
            <a:r>
              <a:rPr lang="en-US" altLang="zh-CN" sz="3200" dirty="0">
                <a:solidFill>
                  <a:srgbClr val="FF0000"/>
                </a:solidFill>
                <a:latin typeface="华文楷体" panose="02010600040101010101" pitchFamily="2" charset="-122"/>
                <a:ea typeface="华文楷体" panose="02010600040101010101" pitchFamily="2" charset="-122"/>
              </a:rPr>
              <a:t> &amp;</a:t>
            </a:r>
            <a:r>
              <a:rPr lang="zh-CN" altLang="en-US" sz="3200" dirty="0">
                <a:solidFill>
                  <a:srgbClr val="FF0000"/>
                </a:solidFill>
                <a:latin typeface="华文楷体" panose="02010600040101010101" pitchFamily="2" charset="-122"/>
                <a:ea typeface="华文楷体" panose="02010600040101010101" pitchFamily="2" charset="-122"/>
              </a:rPr>
              <a:t>的用法</a:t>
            </a:r>
            <a:endParaRPr lang="zh-CN" altLang="en-US" sz="3200"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3" y="1526699"/>
            <a:ext cx="11638673" cy="5060598"/>
          </a:xfrm>
        </p:spPr>
        <p:txBody>
          <a:bodyPr>
            <a:noAutofit/>
          </a:bodyPr>
          <a:lstStyle/>
          <a:p>
            <a:pPr marL="0" indent="0">
              <a:buNone/>
            </a:pPr>
            <a:r>
              <a:rPr lang="en-US" altLang="zh-CN" sz="280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 get(</a:t>
            </a:r>
            <a:r>
              <a:rPr lang="en-US" altLang="zh-CN" sz="2800" b="0" dirty="0" err="1">
                <a:ea typeface="华文楷体" panose="02010600040101010101" pitchFamily="2" charset="-122"/>
                <a:cs typeface="Times New Roman" panose="02020603050405020304" pitchFamily="18" charset="0"/>
              </a:rPr>
              <a:t>int</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const</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返回第</a:t>
            </a:r>
            <a:r>
              <a:rPr lang="en-US" altLang="zh-CN" sz="2800" b="0" dirty="0" err="1">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个元素的值</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返回值等于</a:t>
            </a:r>
            <a:r>
              <a:rPr lang="en-US" altLang="zh-CN" sz="2800" b="0" dirty="0">
                <a:ea typeface="华文楷体" panose="02010600040101010101" pitchFamily="2" charset="-122"/>
                <a:cs typeface="Times New Roman" panose="02020603050405020304" pitchFamily="18" charset="0"/>
              </a:rPr>
              <a:t>e</a:t>
            </a:r>
            <a:r>
              <a:rPr lang="zh-CN" altLang="zh-CN" sz="2800" b="0" dirty="0">
                <a:ea typeface="华文楷体" panose="02010600040101010101" pitchFamily="2" charset="-122"/>
                <a:cs typeface="Times New Roman" panose="02020603050405020304" pitchFamily="18" charset="0"/>
              </a:rPr>
              <a:t>的元素的序号，无则返回</a:t>
            </a:r>
            <a:r>
              <a:rPr lang="en-US" altLang="zh-CN" sz="2800" b="0" dirty="0">
                <a:ea typeface="华文楷体" panose="02010600040101010101" pitchFamily="2" charset="-122"/>
                <a:cs typeface="Times New Roman" panose="02020603050405020304" pitchFamily="18" charset="0"/>
              </a:rPr>
              <a:t>0.</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int</a:t>
            </a:r>
            <a:r>
              <a:rPr lang="en-US" altLang="zh-CN" sz="2800" b="0" dirty="0">
                <a:ea typeface="华文楷体" panose="02010600040101010101" pitchFamily="2" charset="-122"/>
                <a:cs typeface="Times New Roman" panose="02020603050405020304" pitchFamily="18" charset="0"/>
              </a:rPr>
              <a:t> find (</a:t>
            </a:r>
            <a:r>
              <a:rPr lang="en-US" altLang="zh-CN" sz="2800" b="0" dirty="0" err="1">
                <a:ea typeface="华文楷体" panose="02010600040101010101" pitchFamily="2" charset="-122"/>
                <a:cs typeface="Times New Roman" panose="02020603050405020304" pitchFamily="18" charset="0"/>
              </a:rPr>
              <a:t>const</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 &amp;e )</a:t>
            </a:r>
            <a:r>
              <a:rPr lang="en-US" altLang="zh-CN" sz="2800" b="0" dirty="0" err="1">
                <a:ea typeface="华文楷体" panose="02010600040101010101" pitchFamily="2" charset="-122"/>
                <a:cs typeface="Times New Roman" panose="02020603050405020304" pitchFamily="18" charset="0"/>
              </a:rPr>
              <a:t>const</a:t>
            </a:r>
            <a:r>
              <a:rPr lang="en-US"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在第</a:t>
            </a:r>
            <a:r>
              <a:rPr lang="en-US" altLang="zh-CN" sz="2800" b="0" dirty="0" err="1">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个位置上插入新的元素（值为</a:t>
            </a:r>
            <a:r>
              <a:rPr lang="en-US" altLang="zh-CN" sz="2800" b="0" dirty="0">
                <a:ea typeface="华文楷体" panose="02010600040101010101" pitchFamily="2" charset="-122"/>
                <a:cs typeface="Times New Roman" panose="02020603050405020304" pitchFamily="18" charset="0"/>
              </a:rPr>
              <a:t>e</a:t>
            </a:r>
            <a:r>
              <a:rPr lang="zh-CN"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使原来的第</a:t>
            </a:r>
            <a:r>
              <a:rPr lang="en-US" altLang="zh-CN" sz="2800" b="0" dirty="0" err="1">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个元素成为第</a:t>
            </a:r>
            <a:r>
              <a:rPr lang="en-US" altLang="zh-CN" sz="2800" b="0" dirty="0">
                <a:ea typeface="华文楷体" panose="02010600040101010101" pitchFamily="2" charset="-122"/>
                <a:cs typeface="Times New Roman" panose="02020603050405020304" pitchFamily="18" charset="0"/>
              </a:rPr>
              <a:t>i+1</a:t>
            </a:r>
            <a:r>
              <a:rPr lang="zh-CN" altLang="zh-CN" sz="2800" b="0" dirty="0">
                <a:ea typeface="华文楷体" panose="02010600040101010101" pitchFamily="2" charset="-122"/>
                <a:cs typeface="Times New Roman" panose="02020603050405020304" pitchFamily="18" charset="0"/>
              </a:rPr>
              <a:t>个元素。</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void insert(</a:t>
            </a:r>
            <a:r>
              <a:rPr lang="en-US" altLang="zh-CN" sz="2800" b="0" dirty="0" err="1">
                <a:ea typeface="华文楷体" panose="02010600040101010101" pitchFamily="2" charset="-122"/>
                <a:cs typeface="Times New Roman" panose="02020603050405020304" pitchFamily="18" charset="0"/>
              </a:rPr>
              <a:t>int</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const</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 &amp;e );</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 </a:t>
            </a:r>
            <a:r>
              <a:rPr lang="zh-CN" altLang="zh-CN" sz="2800" b="0" dirty="0">
                <a:ea typeface="华文楷体" panose="02010600040101010101" pitchFamily="2" charset="-122"/>
                <a:cs typeface="Times New Roman" panose="02020603050405020304" pitchFamily="18" charset="0"/>
              </a:rPr>
              <a:t>若第</a:t>
            </a:r>
            <a:r>
              <a:rPr lang="en-US" altLang="zh-CN" sz="2800" b="0" dirty="0" err="1">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个元素存在，删除并将其值放入</a:t>
            </a:r>
            <a:r>
              <a:rPr lang="en-US" altLang="zh-CN" sz="2800" b="0" dirty="0">
                <a:ea typeface="华文楷体" panose="02010600040101010101" pitchFamily="2" charset="-122"/>
                <a:cs typeface="Times New Roman" panose="02020603050405020304" pitchFamily="18" charset="0"/>
              </a:rPr>
              <a:t>e</a:t>
            </a:r>
            <a:r>
              <a:rPr lang="zh-CN" altLang="zh-CN" sz="2800" b="0" dirty="0">
                <a:ea typeface="华文楷体" panose="02010600040101010101" pitchFamily="2" charset="-122"/>
                <a:cs typeface="Times New Roman" panose="02020603050405020304" pitchFamily="18" charset="0"/>
              </a:rPr>
              <a:t>指向的空间。</a:t>
            </a: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en-GB" altLang="zh-CN" dirty="0" err="1">
                <a:latin typeface="华文楷体" panose="02010600040101010101" pitchFamily="2" charset="-122"/>
                <a:ea typeface="华文楷体" panose="02010600040101010101" pitchFamily="2" charset="-122"/>
              </a:rPr>
              <a:t>seqList</a:t>
            </a:r>
            <a:r>
              <a:rPr lang="zh-CN" altLang="zh-CN" dirty="0">
                <a:latin typeface="华文楷体" panose="02010600040101010101" pitchFamily="2" charset="-122"/>
                <a:ea typeface="华文楷体" panose="02010600040101010101" pitchFamily="2" charset="-122"/>
              </a:rPr>
              <a:t>及操作的定义（</a:t>
            </a:r>
            <a:r>
              <a:rPr lang="en-GB" altLang="zh-CN" dirty="0" err="1">
                <a:latin typeface="华文楷体" panose="02010600040101010101" pitchFamily="2" charset="-122"/>
                <a:ea typeface="华文楷体" panose="02010600040101010101" pitchFamily="2" charset="-122"/>
              </a:rPr>
              <a:t>seqList.h</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5" y="1804994"/>
            <a:ext cx="10366464" cy="3661527"/>
          </a:xfrm>
        </p:spPr>
        <p:txBody>
          <a:bodyPr>
            <a:noAutofit/>
          </a:bodyPr>
          <a:lstStyle/>
          <a:p>
            <a:pPr marL="0" indent="0">
              <a:buNone/>
            </a:pPr>
            <a:r>
              <a:rPr lang="en-US" altLang="zh-CN" sz="2800" b="0" dirty="0"/>
              <a:t>        </a:t>
            </a:r>
            <a:r>
              <a:rPr lang="en-US" altLang="zh-CN" sz="2800" b="0" dirty="0">
                <a:cs typeface="Times New Roman" panose="02020603050405020304" pitchFamily="18" charset="0"/>
              </a:rPr>
              <a:t>void remove(</a:t>
            </a:r>
            <a:r>
              <a:rPr lang="en-US" altLang="zh-CN" sz="2800" b="0" dirty="0" err="1">
                <a:cs typeface="Times New Roman" panose="02020603050405020304" pitchFamily="18" charset="0"/>
              </a:rPr>
              <a:t>int</a:t>
            </a:r>
            <a:r>
              <a:rPr lang="en-US" altLang="zh-CN" sz="2800" b="0" dirty="0">
                <a:cs typeface="Times New Roman" panose="02020603050405020304" pitchFamily="18" charset="0"/>
              </a:rPr>
              <a:t> </a:t>
            </a:r>
            <a:r>
              <a:rPr lang="en-US" altLang="zh-CN" sz="2800" b="0" dirty="0" err="1">
                <a:cs typeface="Times New Roman" panose="02020603050405020304" pitchFamily="18" charset="0"/>
              </a:rPr>
              <a:t>i</a:t>
            </a:r>
            <a:r>
              <a:rPr lang="en-US" altLang="zh-CN" sz="2800" b="0" dirty="0">
                <a:cs typeface="Times New Roman" panose="02020603050405020304" pitchFamily="18" charset="0"/>
              </a:rPr>
              <a:t>, </a:t>
            </a:r>
            <a:r>
              <a:rPr lang="en-US" altLang="zh-CN" sz="2800" b="0" dirty="0" err="1">
                <a:cs typeface="Times New Roman" panose="02020603050405020304" pitchFamily="18" charset="0"/>
              </a:rPr>
              <a:t>elemType</a:t>
            </a:r>
            <a:r>
              <a:rPr lang="en-US" altLang="zh-CN" sz="2800" b="0" dirty="0">
                <a:cs typeface="Times New Roman" panose="02020603050405020304" pitchFamily="18" charset="0"/>
              </a:rPr>
              <a:t> &amp;e );</a:t>
            </a:r>
            <a:endParaRPr lang="zh-CN" altLang="zh-CN" sz="2800" b="0" dirty="0">
              <a:cs typeface="Times New Roman" panose="02020603050405020304" pitchFamily="18" charset="0"/>
            </a:endParaRPr>
          </a:p>
          <a:p>
            <a:pPr marL="0" indent="0">
              <a:buNone/>
            </a:pPr>
            <a:r>
              <a:rPr lang="en-US" altLang="zh-CN" sz="2800" b="0" dirty="0">
                <a:cs typeface="Times New Roman" panose="02020603050405020304" pitchFamily="18" charset="0"/>
              </a:rPr>
              <a:t> </a:t>
            </a:r>
            <a:endParaRPr lang="zh-CN" altLang="zh-CN" sz="2800" b="0" dirty="0">
              <a:cs typeface="Times New Roman" panose="02020603050405020304" pitchFamily="18" charset="0"/>
            </a:endParaRPr>
          </a:p>
          <a:p>
            <a:pPr marL="0" indent="0">
              <a:buNone/>
            </a:pPr>
            <a:r>
              <a:rPr lang="en-US" altLang="zh-CN" sz="2800" b="0" dirty="0">
                <a:cs typeface="Times New Roman" panose="02020603050405020304" pitchFamily="18" charset="0"/>
              </a:rPr>
              <a:t>        void clear() { </a:t>
            </a:r>
            <a:r>
              <a:rPr lang="en-US" altLang="zh-CN" sz="2800" b="0" dirty="0" err="1">
                <a:cs typeface="Times New Roman" panose="02020603050405020304" pitchFamily="18" charset="0"/>
              </a:rPr>
              <a:t>len</a:t>
            </a:r>
            <a:r>
              <a:rPr lang="en-US" altLang="zh-CN" sz="2800" b="0" dirty="0">
                <a:cs typeface="Times New Roman" panose="02020603050405020304" pitchFamily="18" charset="0"/>
              </a:rPr>
              <a:t>=0; }; </a:t>
            </a:r>
            <a:r>
              <a:rPr lang="en-US" altLang="zh-CN" sz="2800" b="0" dirty="0">
                <a:latin typeface="华文楷体" panose="02010600040101010101" pitchFamily="2" charset="-122"/>
                <a:ea typeface="华文楷体" panose="02010600040101010101" pitchFamily="2" charset="-122"/>
                <a:cs typeface="Times New Roman" panose="02020603050405020304" pitchFamily="18" charset="0"/>
              </a:rPr>
              <a:t>//</a:t>
            </a:r>
            <a:r>
              <a:rPr lang="zh-CN" altLang="zh-CN" sz="2800" b="0" dirty="0">
                <a:latin typeface="华文楷体" panose="02010600040101010101" pitchFamily="2" charset="-122"/>
                <a:ea typeface="华文楷体" panose="02010600040101010101" pitchFamily="2" charset="-122"/>
                <a:cs typeface="Times New Roman" panose="02020603050405020304" pitchFamily="18" charset="0"/>
              </a:rPr>
              <a:t>清除顺序表，使得其成为空表</a:t>
            </a:r>
            <a:endParaRPr lang="zh-CN" altLang="zh-CN" sz="2800" b="0" dirty="0">
              <a:latin typeface="华文楷体" panose="02010600040101010101" pitchFamily="2" charset="-122"/>
              <a:ea typeface="华文楷体" panose="02010600040101010101" pitchFamily="2" charset="-122"/>
              <a:cs typeface="Times New Roman" panose="02020603050405020304" pitchFamily="18" charset="0"/>
            </a:endParaRPr>
          </a:p>
          <a:p>
            <a:pPr marL="0" indent="0">
              <a:buNone/>
            </a:pPr>
            <a:r>
              <a:rPr lang="en-US" altLang="zh-CN" sz="2800" b="0" dirty="0">
                <a:cs typeface="Times New Roman" panose="02020603050405020304" pitchFamily="18" charset="0"/>
              </a:rPr>
              <a:t>        ~</a:t>
            </a:r>
            <a:r>
              <a:rPr lang="en-US" altLang="zh-CN" sz="2800" b="0" dirty="0" err="1">
                <a:cs typeface="Times New Roman" panose="02020603050405020304" pitchFamily="18" charset="0"/>
              </a:rPr>
              <a:t>seqList</a:t>
            </a:r>
            <a:r>
              <a:rPr lang="en-US" altLang="zh-CN" sz="2800" b="0" dirty="0">
                <a:cs typeface="Times New Roman" panose="02020603050405020304" pitchFamily="18" charset="0"/>
              </a:rPr>
              <a:t>() { delete []</a:t>
            </a:r>
            <a:r>
              <a:rPr lang="en-US" altLang="zh-CN" sz="2800" b="0" dirty="0" err="1">
                <a:cs typeface="Times New Roman" panose="02020603050405020304" pitchFamily="18" charset="0"/>
              </a:rPr>
              <a:t>elem</a:t>
            </a:r>
            <a:r>
              <a:rPr lang="en-US" altLang="zh-CN" sz="2800" b="0" dirty="0">
                <a:cs typeface="Times New Roman" panose="02020603050405020304" pitchFamily="18" charset="0"/>
              </a:rPr>
              <a:t>; }; </a:t>
            </a:r>
            <a:r>
              <a:rPr lang="en-US" altLang="zh-CN" sz="2800" b="0" dirty="0">
                <a:latin typeface="华文楷体" panose="02010600040101010101" pitchFamily="2" charset="-122"/>
                <a:ea typeface="华文楷体" panose="02010600040101010101" pitchFamily="2" charset="-122"/>
                <a:cs typeface="Times New Roman" panose="02020603050405020304" pitchFamily="18" charset="0"/>
              </a:rPr>
              <a:t>//</a:t>
            </a:r>
            <a:r>
              <a:rPr lang="zh-CN" altLang="zh-CN" sz="2800" b="0" dirty="0">
                <a:latin typeface="华文楷体" panose="02010600040101010101" pitchFamily="2" charset="-122"/>
                <a:ea typeface="华文楷体" panose="02010600040101010101" pitchFamily="2" charset="-122"/>
                <a:cs typeface="Times New Roman" panose="02020603050405020304" pitchFamily="18" charset="0"/>
              </a:rPr>
              <a:t>释放表占用的动态数组</a:t>
            </a:r>
            <a:endParaRPr lang="zh-CN" altLang="zh-CN" sz="2800" b="0" dirty="0">
              <a:latin typeface="华文楷体" panose="02010600040101010101" pitchFamily="2" charset="-122"/>
              <a:ea typeface="华文楷体" panose="02010600040101010101" pitchFamily="2" charset="-122"/>
              <a:cs typeface="Times New Roman" panose="02020603050405020304" pitchFamily="18" charset="0"/>
            </a:endParaRPr>
          </a:p>
          <a:p>
            <a:pPr marL="0" indent="0">
              <a:buNone/>
            </a:pPr>
            <a:r>
              <a:rPr lang="en-US" altLang="zh-CN" sz="2800" b="0" dirty="0">
                <a:cs typeface="Times New Roman" panose="02020603050405020304" pitchFamily="18" charset="0"/>
              </a:rPr>
              <a:t>};</a:t>
            </a:r>
            <a:endParaRPr lang="zh-CN" altLang="zh-CN" sz="3600" b="0" dirty="0">
              <a:cs typeface="Times New Roman" panose="02020603050405020304" pitchFamily="18" charset="0"/>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en-GB" altLang="zh-CN" dirty="0" err="1">
                <a:latin typeface="华文楷体" panose="02010600040101010101" pitchFamily="2" charset="-122"/>
                <a:ea typeface="华文楷体" panose="02010600040101010101" pitchFamily="2" charset="-122"/>
              </a:rPr>
              <a:t>seqList</a:t>
            </a:r>
            <a:r>
              <a:rPr lang="zh-CN" altLang="zh-CN" dirty="0">
                <a:latin typeface="华文楷体" panose="02010600040101010101" pitchFamily="2" charset="-122"/>
                <a:ea typeface="华文楷体" panose="02010600040101010101" pitchFamily="2" charset="-122"/>
              </a:rPr>
              <a:t>及操作的定义（</a:t>
            </a:r>
            <a:r>
              <a:rPr lang="en-GB" altLang="zh-CN" dirty="0" err="1">
                <a:latin typeface="华文楷体" panose="02010600040101010101" pitchFamily="2" charset="-122"/>
                <a:ea typeface="华文楷体" panose="02010600040101010101" pitchFamily="2" charset="-122"/>
              </a:rPr>
              <a:t>seqList.h</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zh-CN" altLang="en-US" dirty="0">
                <a:latin typeface="华文楷体" panose="02010600040101010101" pitchFamily="2" charset="-122"/>
                <a:ea typeface="华文楷体" panose="02010600040101010101" pitchFamily="2" charset="-122"/>
              </a:rPr>
              <a:t>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实现代码 </a:t>
            </a:r>
            <a:r>
              <a:rPr lang="zh-CN" altLang="zh-CN" dirty="0">
                <a:latin typeface="华文楷体" panose="02010600040101010101" pitchFamily="2" charset="-122"/>
                <a:ea typeface="华文楷体" panose="02010600040101010101" pitchFamily="2" charset="-122"/>
              </a:rPr>
              <a:t>（</a:t>
            </a:r>
            <a:r>
              <a:rPr lang="en-GB" altLang="zh-CN" dirty="0" err="1">
                <a:latin typeface="华文楷体" panose="02010600040101010101" pitchFamily="2" charset="-122"/>
                <a:ea typeface="华文楷体" panose="02010600040101010101" pitchFamily="2" charset="-122"/>
              </a:rPr>
              <a:t>seqList.h</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6"/>
          <p:cNvSpPr>
            <a:spLocks noChangeArrowheads="1"/>
          </p:cNvSpPr>
          <p:nvPr/>
        </p:nvSpPr>
        <p:spPr bwMode="auto">
          <a:xfrm>
            <a:off x="357809" y="1304285"/>
            <a:ext cx="11834191"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32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a:t>
            </a:r>
            <a:r>
              <a:rPr lang="zh-CN" altLang="en-US" sz="32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构造函数任务是给属性赋初值</a:t>
            </a:r>
            <a:endParaRPr lang="en-US" altLang="zh-CN" sz="32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endParaRPr>
          </a:p>
          <a:p>
            <a:endParaRPr lang="en-US" altLang="zh-CN" sz="32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template &lt;class </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elemType</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&gt; </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seqList</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&lt;</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elemType</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&gt;::</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seqList</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int</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size)</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32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zh-CN" altLang="en-US" sz="32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初始化顺序表</a:t>
            </a:r>
            <a:endParaRPr kumimoji="0" lang="zh-CN" altLang="en-US" sz="4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elem</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new </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elemType</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[size</a:t>
            </a:r>
            <a:r>
              <a:rPr kumimoji="0" lang="en-US" altLang="zh-CN" sz="32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zh-CN" altLang="en-US" sz="32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申请动态数组</a:t>
            </a:r>
            <a:endParaRPr kumimoji="0" lang="zh-CN" altLang="en-US" sz="4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endParaRPr>
          </a:p>
          <a:p>
            <a:r>
              <a:rPr kumimoji="0" lang="zh-CN" altLang="en-US"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if (!</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elem</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throw </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illegalSize</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连续空间，判定申请是否成功</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maxSize</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size-1; </a:t>
            </a:r>
            <a:r>
              <a:rPr kumimoji="0" lang="en-US" altLang="zh-CN" sz="32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//0</a:t>
            </a:r>
            <a:r>
              <a:rPr kumimoji="0" lang="zh-CN" altLang="en-US" sz="32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下标位置用于查找时做哨兵位。</a:t>
            </a:r>
            <a:endParaRPr kumimoji="0" lang="zh-CN" altLang="en-US" sz="4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zh-CN" altLang="en-US"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len</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0;</a:t>
            </a:r>
            <a:endParaRPr kumimoji="0" lang="en-US" altLang="zh-CN"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6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transition spd="med">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zh-CN" altLang="en-US" dirty="0">
                <a:latin typeface="华文楷体" panose="02010600040101010101" pitchFamily="2" charset="-122"/>
                <a:ea typeface="华文楷体" panose="02010600040101010101" pitchFamily="2" charset="-122"/>
              </a:rPr>
              <a:t>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实现代码</a:t>
            </a:r>
            <a:endParaRPr lang="zh-CN" altLang="en-US" dirty="0">
              <a:latin typeface="华文楷体" panose="02010600040101010101" pitchFamily="2" charset="-122"/>
              <a:ea typeface="华文楷体" panose="02010600040101010101" pitchFamily="2" charset="-122"/>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6"/>
          <p:cNvSpPr>
            <a:spLocks noChangeArrowheads="1"/>
          </p:cNvSpPr>
          <p:nvPr/>
        </p:nvSpPr>
        <p:spPr bwMode="auto">
          <a:xfrm>
            <a:off x="178904" y="1328329"/>
            <a:ext cx="11834191"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template &lt;class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void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seqList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&lt;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doubleSpace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int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tmp</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 new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maxSize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if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tmp</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throw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illegalSize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for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=1;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&lt;=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len</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tmp</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delete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tmp</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maxSize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 2*</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maxSize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- 1;</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transition spd="med">
    <p:push/>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686894"/>
            <a:ext cx="10366464" cy="620154"/>
          </a:xfrm>
        </p:spPr>
        <p:txBody>
          <a:bodyPr>
            <a:noAutofit/>
          </a:bodyPr>
          <a:lstStyle/>
          <a:p>
            <a:pPr marL="0" indent="0">
              <a:buNone/>
            </a:pPr>
            <a:r>
              <a:rPr lang="zh-CN" altLang="zh-CN" sz="2800" dirty="0">
                <a:latin typeface="华文楷体" panose="02010600040101010101" pitchFamily="2" charset="-122"/>
                <a:ea typeface="华文楷体" panose="02010600040101010101" pitchFamily="2" charset="-122"/>
              </a:rPr>
              <a:t>查找操作</a:t>
            </a:r>
            <a:r>
              <a:rPr lang="zh-CN" altLang="en-US" sz="2800" dirty="0">
                <a:latin typeface="华文楷体" panose="02010600040101010101" pitchFamily="2" charset="-122"/>
                <a:ea typeface="华文楷体" panose="02010600040101010101" pitchFamily="2" charset="-122"/>
              </a:rPr>
              <a:t>： </a:t>
            </a:r>
            <a:r>
              <a:rPr lang="zh-CN" altLang="en-US" sz="2800" b="0" dirty="0">
                <a:solidFill>
                  <a:schemeClr val="accent1">
                    <a:lumMod val="60000"/>
                    <a:lumOff val="40000"/>
                  </a:schemeClr>
                </a:solidFill>
                <a:latin typeface="华文楷体" panose="02010600040101010101" pitchFamily="2" charset="-122"/>
                <a:ea typeface="华文楷体" panose="02010600040101010101" pitchFamily="2" charset="-122"/>
              </a:rPr>
              <a:t>先</a:t>
            </a:r>
            <a:r>
              <a:rPr lang="zh-CN" altLang="en-US" sz="2800" b="0" dirty="0">
                <a:latin typeface="华文楷体" panose="02010600040101010101" pitchFamily="2" charset="-122"/>
                <a:ea typeface="华文楷体" panose="02010600040101010101" pitchFamily="2" charset="-122"/>
              </a:rPr>
              <a:t>把</a:t>
            </a:r>
            <a:r>
              <a:rPr lang="zh-CN" altLang="en-US" sz="2800" b="0" dirty="0">
                <a:solidFill>
                  <a:schemeClr val="accent1">
                    <a:lumMod val="60000"/>
                    <a:lumOff val="40000"/>
                  </a:schemeClr>
                </a:solidFill>
                <a:latin typeface="华文楷体" panose="02010600040101010101" pitchFamily="2" charset="-122"/>
                <a:ea typeface="华文楷体" panose="02010600040101010101" pitchFamily="2" charset="-122"/>
              </a:rPr>
              <a:t>待查</a:t>
            </a:r>
            <a:r>
              <a:rPr lang="zh-CN" altLang="en-US" sz="2800" b="0" dirty="0">
                <a:latin typeface="华文楷体" panose="02010600040101010101" pitchFamily="2" charset="-122"/>
                <a:ea typeface="华文楷体" panose="02010600040101010101" pitchFamily="2" charset="-122"/>
              </a:rPr>
              <a:t>元素放</a:t>
            </a:r>
            <a:r>
              <a:rPr lang="zh-CN" altLang="en-US" sz="2800" b="0" dirty="0">
                <a:solidFill>
                  <a:schemeClr val="accent1">
                    <a:lumMod val="60000"/>
                    <a:lumOff val="40000"/>
                  </a:schemeClr>
                </a:solidFill>
                <a:latin typeface="华文楷体" panose="02010600040101010101" pitchFamily="2" charset="-122"/>
                <a:ea typeface="华文楷体" panose="02010600040101010101" pitchFamily="2" charset="-122"/>
              </a:rPr>
              <a:t>哨兵位</a:t>
            </a:r>
            <a:r>
              <a:rPr lang="zh-CN" altLang="en-US" sz="2800" b="0" dirty="0">
                <a:latin typeface="华文楷体" panose="02010600040101010101" pitchFamily="2" charset="-122"/>
                <a:ea typeface="华文楷体" panose="02010600040101010101" pitchFamily="2" charset="-122"/>
              </a:rPr>
              <a:t>，从</a:t>
            </a:r>
            <a:r>
              <a:rPr lang="zh-CN" altLang="en-US" sz="2800" b="0" dirty="0">
                <a:solidFill>
                  <a:schemeClr val="accent1">
                    <a:lumMod val="60000"/>
                    <a:lumOff val="40000"/>
                  </a:schemeClr>
                </a:solidFill>
                <a:latin typeface="华文楷体" panose="02010600040101010101" pitchFamily="2" charset="-122"/>
                <a:ea typeface="华文楷体" panose="02010600040101010101" pitchFamily="2" charset="-122"/>
              </a:rPr>
              <a:t>后</a:t>
            </a:r>
            <a:r>
              <a:rPr lang="zh-CN" altLang="en-US" sz="2800" b="0" dirty="0">
                <a:latin typeface="华文楷体" panose="02010600040101010101" pitchFamily="2" charset="-122"/>
                <a:ea typeface="华文楷体" panose="02010600040101010101" pitchFamily="2" charset="-122"/>
              </a:rPr>
              <a:t>往</a:t>
            </a:r>
            <a:r>
              <a:rPr lang="zh-CN" altLang="en-US" sz="2800" b="0" dirty="0">
                <a:solidFill>
                  <a:schemeClr val="accent1">
                    <a:lumMod val="60000"/>
                    <a:lumOff val="40000"/>
                  </a:schemeClr>
                </a:solidFill>
                <a:latin typeface="华文楷体" panose="02010600040101010101" pitchFamily="2" charset="-122"/>
                <a:ea typeface="华文楷体" panose="02010600040101010101" pitchFamily="2" charset="-122"/>
              </a:rPr>
              <a:t>前</a:t>
            </a:r>
            <a:r>
              <a:rPr lang="zh-CN" altLang="en-US" sz="2800" b="0" dirty="0">
                <a:latin typeface="华文楷体" panose="02010600040101010101" pitchFamily="2" charset="-122"/>
                <a:ea typeface="华文楷体" panose="02010600040101010101" pitchFamily="2" charset="-122"/>
              </a:rPr>
              <a:t>比较</a:t>
            </a:r>
            <a:r>
              <a:rPr lang="en-US" altLang="zh-CN" sz="2800" b="0" dirty="0">
                <a:latin typeface="华文楷体" panose="02010600040101010101" pitchFamily="2" charset="-122"/>
                <a:ea typeface="华文楷体" panose="02010600040101010101" pitchFamily="2" charset="-122"/>
              </a:rPr>
              <a:t> </a:t>
            </a:r>
            <a:endParaRPr lang="zh-CN" altLang="zh-CN" sz="36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zh-CN" altLang="en-US" dirty="0">
                <a:latin typeface="华文楷体" panose="02010600040101010101" pitchFamily="2" charset="-122"/>
                <a:ea typeface="华文楷体" panose="02010600040101010101" pitchFamily="2" charset="-122"/>
              </a:rPr>
              <a:t>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实现分析</a:t>
            </a:r>
            <a:endParaRPr lang="zh-CN" altLang="en-US" dirty="0">
              <a:latin typeface="华文楷体" panose="02010600040101010101" pitchFamily="2" charset="-122"/>
              <a:ea typeface="华文楷体" panose="02010600040101010101" pitchFamily="2" charset="-122"/>
            </a:endParaRPr>
          </a:p>
        </p:txBody>
      </p:sp>
      <p:pic>
        <p:nvPicPr>
          <p:cNvPr id="2" name="图片 1"/>
          <p:cNvPicPr>
            <a:picLocks noChangeAspect="1"/>
          </p:cNvPicPr>
          <p:nvPr/>
        </p:nvPicPr>
        <p:blipFill>
          <a:blip r:embed="rId1"/>
          <a:stretch>
            <a:fillRect/>
          </a:stretch>
        </p:blipFill>
        <p:spPr>
          <a:xfrm>
            <a:off x="288284" y="2983665"/>
            <a:ext cx="5093465" cy="2622004"/>
          </a:xfrm>
          <a:prstGeom prst="rect">
            <a:avLst/>
          </a:prstGeom>
        </p:spPr>
      </p:pic>
      <p:sp>
        <p:nvSpPr>
          <p:cNvPr id="3" name="文本框 2"/>
          <p:cNvSpPr txBox="1"/>
          <p:nvPr/>
        </p:nvSpPr>
        <p:spPr>
          <a:xfrm>
            <a:off x="5869726" y="2309508"/>
            <a:ext cx="6321288" cy="3970318"/>
          </a:xfrm>
          <a:prstGeom prst="rect">
            <a:avLst/>
          </a:prstGeom>
          <a:noFill/>
        </p:spPr>
        <p:txBody>
          <a:bodyPr wrap="square" rtlCol="0">
            <a:spAutoFit/>
          </a:bodyPr>
          <a:lstStyle/>
          <a:p>
            <a:r>
              <a:rPr lang="zh-CN" altLang="zh-CN" sz="2800" b="1" dirty="0">
                <a:latin typeface="华文楷体" panose="02010600040101010101" pitchFamily="2" charset="-122"/>
                <a:ea typeface="华文楷体" panose="02010600040101010101" pitchFamily="2" charset="-122"/>
              </a:rPr>
              <a:t>分析时间效率：</a:t>
            </a:r>
            <a:endParaRPr lang="en-US" altLang="zh-CN" sz="2800" b="1" dirty="0">
              <a:latin typeface="华文楷体" panose="02010600040101010101" pitchFamily="2" charset="-122"/>
              <a:ea typeface="华文楷体" panose="02010600040101010101" pitchFamily="2" charset="-122"/>
            </a:endParaRPr>
          </a:p>
          <a:p>
            <a:r>
              <a:rPr lang="zh-CN" altLang="zh-CN" sz="2800" b="1" dirty="0">
                <a:latin typeface="华文楷体" panose="02010600040101010101" pitchFamily="2" charset="-122"/>
                <a:ea typeface="华文楷体" panose="02010600040101010101" pitchFamily="2" charset="-122"/>
              </a:rPr>
              <a:t>查找成功情况</a:t>
            </a:r>
            <a:r>
              <a:rPr lang="zh-CN" altLang="en-US" sz="2800" b="1" dirty="0">
                <a:latin typeface="华文楷体" panose="02010600040101010101" pitchFamily="2" charset="-122"/>
                <a:ea typeface="华文楷体" panose="02010600040101010101" pitchFamily="2" charset="-122"/>
              </a:rPr>
              <a:t>：</a:t>
            </a:r>
            <a:endParaRPr lang="en-US" altLang="zh-CN" sz="2800" b="1"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查找每个位置元素等概率</a:t>
            </a:r>
            <a:r>
              <a:rPr lang="en-US" altLang="zh-CN" sz="2800" dirty="0">
                <a:latin typeface="华文楷体" panose="02010600040101010101" pitchFamily="2" charset="-122"/>
                <a:ea typeface="华文楷体" panose="02010600040101010101" pitchFamily="2" charset="-122"/>
              </a:rPr>
              <a:t>1/n</a:t>
            </a:r>
            <a:endParaRPr lang="en-US" altLang="zh-CN" sz="2800"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平均： </a:t>
            </a:r>
            <a:r>
              <a:rPr lang="en-US" altLang="zh-CN" sz="2800" dirty="0">
                <a:latin typeface="华文楷体" panose="02010600040101010101" pitchFamily="2" charset="-122"/>
                <a:ea typeface="华文楷体" panose="02010600040101010101" pitchFamily="2" charset="-122"/>
              </a:rPr>
              <a:t>(1+2+…+n)*(1/n)=</a:t>
            </a:r>
            <a:r>
              <a:rPr lang="zh-CN" altLang="en-US"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n+1)/2</a:t>
            </a:r>
            <a:endParaRPr lang="en-US" altLang="zh-CN" sz="2800"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时间复杂度：</a:t>
            </a:r>
            <a:r>
              <a:rPr lang="en-US" altLang="zh-CN" sz="2800" dirty="0">
                <a:latin typeface="华文楷体" panose="02010600040101010101" pitchFamily="2" charset="-122"/>
                <a:ea typeface="华文楷体" panose="02010600040101010101" pitchFamily="2" charset="-122"/>
              </a:rPr>
              <a:t>O(n)</a:t>
            </a:r>
            <a:endParaRPr lang="en-US" altLang="zh-CN" sz="2800" dirty="0">
              <a:latin typeface="华文楷体" panose="02010600040101010101" pitchFamily="2" charset="-122"/>
              <a:ea typeface="华文楷体" panose="02010600040101010101" pitchFamily="2" charset="-122"/>
            </a:endParaRPr>
          </a:p>
          <a:p>
            <a:endParaRPr lang="en-US" altLang="zh-CN" sz="2800" b="1" dirty="0">
              <a:latin typeface="华文楷体" panose="02010600040101010101" pitchFamily="2" charset="-122"/>
              <a:ea typeface="华文楷体" panose="02010600040101010101" pitchFamily="2" charset="-122"/>
            </a:endParaRPr>
          </a:p>
          <a:p>
            <a:r>
              <a:rPr lang="zh-CN" altLang="en-US" sz="2800" b="1" dirty="0">
                <a:latin typeface="华文楷体" panose="02010600040101010101" pitchFamily="2" charset="-122"/>
                <a:ea typeface="华文楷体" panose="02010600040101010101" pitchFamily="2" charset="-122"/>
              </a:rPr>
              <a:t>查找不成功情况：</a:t>
            </a:r>
            <a:endParaRPr lang="en-US" altLang="zh-CN" sz="2800" b="1"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每次查找从尾部到哨兵位，比较</a:t>
            </a:r>
            <a:r>
              <a:rPr lang="en-US" altLang="zh-CN" sz="2800" dirty="0">
                <a:latin typeface="华文楷体" panose="02010600040101010101" pitchFamily="2" charset="-122"/>
                <a:ea typeface="华文楷体" panose="02010600040101010101" pitchFamily="2" charset="-122"/>
              </a:rPr>
              <a:t>n+1</a:t>
            </a:r>
            <a:r>
              <a:rPr lang="zh-CN" altLang="en-US" sz="2800" dirty="0">
                <a:latin typeface="华文楷体" panose="02010600040101010101" pitchFamily="2" charset="-122"/>
                <a:ea typeface="华文楷体" panose="02010600040101010101" pitchFamily="2" charset="-122"/>
              </a:rPr>
              <a:t>次</a:t>
            </a:r>
            <a:endParaRPr lang="en-US" altLang="zh-CN" sz="2800"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时间复杂度：</a:t>
            </a:r>
            <a:r>
              <a:rPr lang="en-US" altLang="zh-CN" sz="2800" dirty="0">
                <a:latin typeface="华文楷体" panose="02010600040101010101" pitchFamily="2" charset="-122"/>
                <a:ea typeface="华文楷体" panose="02010600040101010101" pitchFamily="2" charset="-122"/>
              </a:rPr>
              <a:t>O(n)</a:t>
            </a:r>
            <a:endParaRPr lang="en-US" altLang="zh-CN" sz="2800" dirty="0">
              <a:latin typeface="华文楷体" panose="02010600040101010101" pitchFamily="2" charset="-122"/>
              <a:ea typeface="华文楷体" panose="02010600040101010101" pitchFamily="2" charset="-122"/>
            </a:endParaRPr>
          </a:p>
        </p:txBody>
      </p:sp>
      <p:sp>
        <p:nvSpPr>
          <p:cNvPr id="4" name="文本框 3"/>
          <p:cNvSpPr txBox="1"/>
          <p:nvPr/>
        </p:nvSpPr>
        <p:spPr>
          <a:xfrm>
            <a:off x="1493102" y="2282708"/>
            <a:ext cx="2242876" cy="584775"/>
          </a:xfrm>
          <a:prstGeom prst="rect">
            <a:avLst/>
          </a:prstGeom>
          <a:noFill/>
        </p:spPr>
        <p:txBody>
          <a:bodyPr wrap="square" rtlCol="0">
            <a:spAutoFit/>
          </a:bodyPr>
          <a:lstStyle/>
          <a:p>
            <a:r>
              <a:rPr lang="zh-CN" altLang="en-US" sz="3200" dirty="0">
                <a:solidFill>
                  <a:srgbClr val="FF0000"/>
                </a:solidFill>
                <a:latin typeface="华文楷体" panose="02010600040101010101" pitchFamily="2" charset="-122"/>
                <a:ea typeface="华文楷体" panose="02010600040101010101" pitchFamily="2" charset="-122"/>
              </a:rPr>
              <a:t>摆龙门阵：</a:t>
            </a:r>
            <a:endParaRPr lang="zh-CN" altLang="en-US"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zh-CN" altLang="en-US" dirty="0">
                <a:latin typeface="华文楷体" panose="02010600040101010101" pitchFamily="2" charset="-122"/>
                <a:ea typeface="华文楷体" panose="02010600040101010101" pitchFamily="2" charset="-122"/>
              </a:rPr>
              <a:t>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实现代码</a:t>
            </a:r>
            <a:endParaRPr lang="zh-CN" altLang="en-US" dirty="0">
              <a:latin typeface="华文楷体" panose="02010600040101010101" pitchFamily="2" charset="-122"/>
              <a:ea typeface="华文楷体" panose="02010600040101010101" pitchFamily="2" charset="-122"/>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6"/>
          <p:cNvSpPr>
            <a:spLocks noChangeArrowheads="1"/>
          </p:cNvSpPr>
          <p:nvPr/>
        </p:nvSpPr>
        <p:spPr bwMode="auto">
          <a:xfrm>
            <a:off x="178904" y="1041237"/>
            <a:ext cx="11834191"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template &lt;class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 //</a:t>
            </a:r>
            <a:r>
              <a:rPr lang="zh-CN" altLang="en-US" sz="3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注意各处</a:t>
            </a:r>
            <a:r>
              <a:rPr lang="en-US" altLang="zh-CN" sz="3200"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const</a:t>
            </a:r>
            <a:r>
              <a:rPr lang="en-US" altLang="zh-CN" sz="3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const</a:t>
            </a:r>
            <a:r>
              <a:rPr lang="en-US" altLang="zh-CN" sz="3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+&amp;</a:t>
            </a:r>
            <a:r>
              <a:rPr lang="zh-CN" altLang="en-US" sz="3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组合的用法</a:t>
            </a:r>
            <a:endParaRPr lang="zh-CN" altLang="zh-CN" sz="3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int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seqList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&lt;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&gt;::find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const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&amp;e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const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3200" dirty="0">
                <a:latin typeface="Times New Roman" panose="02020603050405020304" pitchFamily="18" charset="0"/>
                <a:ea typeface="宋体" panose="02010600030101010101" pitchFamily="2" charset="-122"/>
                <a:cs typeface="Times New Roman" panose="02020603050405020304" pitchFamily="18" charset="0"/>
              </a:rPr>
              <a:t>返回值等于</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e</a:t>
            </a:r>
            <a:r>
              <a:rPr lang="zh-CN" altLang="zh-CN" sz="3200" dirty="0">
                <a:latin typeface="Times New Roman" panose="02020603050405020304" pitchFamily="18" charset="0"/>
                <a:ea typeface="宋体" panose="02010600030101010101" pitchFamily="2" charset="-122"/>
                <a:cs typeface="Times New Roman" panose="02020603050405020304" pitchFamily="18" charset="0"/>
              </a:rPr>
              <a:t>的元素的序号，无则返回</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0.</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int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[0] = e;  //</a:t>
            </a:r>
            <a:r>
              <a:rPr lang="zh-CN" altLang="zh-CN" sz="3200" dirty="0">
                <a:latin typeface="Times New Roman" panose="02020603050405020304" pitchFamily="18" charset="0"/>
                <a:ea typeface="宋体" panose="02010600030101010101" pitchFamily="2" charset="-122"/>
                <a:cs typeface="Times New Roman" panose="02020603050405020304" pitchFamily="18" charset="0"/>
              </a:rPr>
              <a:t>哨兵位先置为待查元素</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i="1" strike="sngStrike" dirty="0">
                <a:latin typeface="Times New Roman" panose="02020603050405020304" pitchFamily="18" charset="0"/>
                <a:ea typeface="宋体" panose="02010600030101010101" pitchFamily="2" charset="-122"/>
                <a:cs typeface="Times New Roman" panose="02020603050405020304" pitchFamily="18" charset="0"/>
              </a:rPr>
              <a:t>    for (</a:t>
            </a:r>
            <a:r>
              <a:rPr lang="en-US" altLang="zh-CN" sz="3200" i="1" strike="sngStrike"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i="1" strike="sngStrike"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i="1" strike="sngStrike" dirty="0" err="1">
                <a:latin typeface="Times New Roman" panose="02020603050405020304" pitchFamily="18" charset="0"/>
                <a:ea typeface="宋体" panose="02010600030101010101" pitchFamily="2" charset="-122"/>
                <a:cs typeface="Times New Roman" panose="02020603050405020304" pitchFamily="18" charset="0"/>
              </a:rPr>
              <a:t>len</a:t>
            </a:r>
            <a:r>
              <a:rPr lang="en-US" altLang="zh-CN" sz="3200" i="1" strike="sngStrike"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i="1" strike="sngStrike"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i="1" strike="sngStrike" dirty="0">
                <a:latin typeface="Times New Roman" panose="02020603050405020304" pitchFamily="18" charset="0"/>
                <a:ea typeface="宋体" panose="02010600030101010101" pitchFamily="2" charset="-122"/>
                <a:cs typeface="Times New Roman" panose="02020603050405020304" pitchFamily="18" charset="0"/>
              </a:rPr>
              <a:t>&gt;=0; </a:t>
            </a:r>
            <a:r>
              <a:rPr lang="en-US" altLang="zh-CN" sz="3200" i="1" strike="sngStrike"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i="1" strike="sngStrike"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i="1" strike="sngStrike"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i="1" strike="sngStrike" dirty="0">
                <a:latin typeface="Times New Roman" panose="02020603050405020304" pitchFamily="18" charset="0"/>
                <a:ea typeface="宋体" panose="02010600030101010101" pitchFamily="2" charset="-122"/>
                <a:cs typeface="Times New Roman" panose="02020603050405020304" pitchFamily="18" charset="0"/>
              </a:rPr>
              <a:t>        if (</a:t>
            </a:r>
            <a:r>
              <a:rPr lang="en-US" altLang="zh-CN" sz="3200" i="1" strike="sngStrike" dirty="0" err="1">
                <a:latin typeface="Times New Roman" panose="02020603050405020304" pitchFamily="18" charset="0"/>
                <a:ea typeface="宋体" panose="02010600030101010101" pitchFamily="2" charset="-122"/>
                <a:cs typeface="Times New Roman" panose="02020603050405020304" pitchFamily="18" charset="0"/>
              </a:rPr>
              <a:t>elem</a:t>
            </a:r>
            <a:r>
              <a:rPr lang="en-US" altLang="zh-CN" sz="3200" i="1" strike="sngStrike"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i="1" strike="sngStrike"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i="1" strike="sngStrike" dirty="0">
                <a:latin typeface="Times New Roman" panose="02020603050405020304" pitchFamily="18" charset="0"/>
                <a:ea typeface="宋体" panose="02010600030101010101" pitchFamily="2" charset="-122"/>
                <a:cs typeface="Times New Roman" panose="02020603050405020304" pitchFamily="18" charset="0"/>
              </a:rPr>
              <a:t>]==e) break;</a:t>
            </a:r>
            <a:endParaRPr lang="zh-CN" altLang="zh-CN" sz="3200" i="1" strike="sngStrike"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return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矩形 1"/>
          <p:cNvSpPr/>
          <p:nvPr/>
        </p:nvSpPr>
        <p:spPr>
          <a:xfrm>
            <a:off x="5869726" y="4709879"/>
            <a:ext cx="4987263" cy="646331"/>
          </a:xfrm>
          <a:prstGeom prst="rect">
            <a:avLst/>
          </a:prstGeom>
        </p:spPr>
        <p:txBody>
          <a:bodyPr wrap="none">
            <a:spAutoFit/>
          </a:bodyPr>
          <a:lstStyle/>
          <a:p>
            <a:r>
              <a:rPr lang="en-US" altLang="zh-CN" sz="3600"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for (</a:t>
            </a:r>
            <a:r>
              <a:rPr lang="en-US" altLang="zh-CN" sz="3600" kern="1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600"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600" kern="1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len</a:t>
            </a:r>
            <a:r>
              <a:rPr lang="en-US" altLang="zh-CN" sz="3600"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600" kern="1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elem</a:t>
            </a:r>
            <a:r>
              <a:rPr lang="en-US" altLang="zh-CN" sz="3600"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600" kern="1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600"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600" kern="1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e;i</a:t>
            </a:r>
            <a:r>
              <a:rPr lang="en-US" altLang="zh-CN" sz="3600"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3600" dirty="0">
              <a:solidFill>
                <a:srgbClr val="FF0000"/>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686894"/>
            <a:ext cx="11902730" cy="620154"/>
          </a:xfrm>
        </p:spPr>
        <p:txBody>
          <a:bodyPr>
            <a:noAutofit/>
          </a:bodyPr>
          <a:lstStyle/>
          <a:p>
            <a:pPr marL="0" indent="0">
              <a:buNone/>
            </a:pPr>
            <a:r>
              <a:rPr lang="zh-CN" altLang="en-US" sz="2800" dirty="0">
                <a:latin typeface="华文楷体" panose="02010600040101010101" pitchFamily="2" charset="-122"/>
                <a:ea typeface="华文楷体" panose="02010600040101010101" pitchFamily="2" charset="-122"/>
              </a:rPr>
              <a:t>插入</a:t>
            </a:r>
            <a:r>
              <a:rPr lang="zh-CN" altLang="zh-CN" sz="2800" dirty="0">
                <a:latin typeface="华文楷体" panose="02010600040101010101" pitchFamily="2" charset="-122"/>
                <a:ea typeface="华文楷体" panose="02010600040101010101" pitchFamily="2" charset="-122"/>
              </a:rPr>
              <a:t>操作</a:t>
            </a:r>
            <a:r>
              <a:rPr lang="zh-CN" altLang="en-US" sz="2800" dirty="0">
                <a:latin typeface="华文楷体" panose="02010600040101010101" pitchFamily="2" charset="-122"/>
                <a:ea typeface="华文楷体" panose="02010600040101010101" pitchFamily="2" charset="-122"/>
              </a:rPr>
              <a:t>： 新元素欲插在下标为</a:t>
            </a:r>
            <a:r>
              <a:rPr lang="en-US" altLang="zh-CN" sz="2800" dirty="0" err="1">
                <a:latin typeface="华文楷体" panose="02010600040101010101" pitchFamily="2" charset="-122"/>
                <a:ea typeface="华文楷体" panose="02010600040101010101" pitchFamily="2" charset="-122"/>
              </a:rPr>
              <a:t>i</a:t>
            </a:r>
            <a:r>
              <a:rPr lang="zh-CN" altLang="en-US" sz="2800" dirty="0">
                <a:latin typeface="华文楷体" panose="02010600040101010101" pitchFamily="2" charset="-122"/>
                <a:ea typeface="华文楷体" panose="02010600040101010101" pitchFamily="2" charset="-122"/>
              </a:rPr>
              <a:t>的位置，</a:t>
            </a:r>
            <a:r>
              <a:rPr lang="en-US" altLang="zh-CN" sz="2800" dirty="0" err="1">
                <a:latin typeface="华文楷体" panose="02010600040101010101" pitchFamily="2" charset="-122"/>
                <a:ea typeface="华文楷体" panose="02010600040101010101" pitchFamily="2" charset="-122"/>
              </a:rPr>
              <a:t>i</a:t>
            </a:r>
            <a:r>
              <a:rPr lang="zh-CN" altLang="en-US" sz="2800" dirty="0">
                <a:latin typeface="华文楷体" panose="02010600040101010101" pitchFamily="2" charset="-122"/>
                <a:ea typeface="华文楷体" panose="02010600040101010101" pitchFamily="2" charset="-122"/>
              </a:rPr>
              <a:t>可能的取值为</a:t>
            </a:r>
            <a:r>
              <a:rPr lang="en-US" altLang="zh-CN" sz="2800" dirty="0">
                <a:latin typeface="华文楷体" panose="02010600040101010101" pitchFamily="2" charset="-122"/>
                <a:ea typeface="华文楷体" panose="02010600040101010101" pitchFamily="2" charset="-122"/>
              </a:rPr>
              <a:t>n+1, n, … ,  2, 1</a:t>
            </a:r>
            <a:r>
              <a:rPr lang="zh-CN" altLang="en-US" sz="2800" dirty="0">
                <a:latin typeface="华文楷体" panose="02010600040101010101" pitchFamily="2" charset="-122"/>
                <a:ea typeface="华文楷体" panose="02010600040101010101" pitchFamily="2" charset="-122"/>
              </a:rPr>
              <a:t>。</a:t>
            </a:r>
            <a:endParaRPr lang="zh-CN" altLang="zh-CN" sz="360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zh-CN" altLang="en-US" dirty="0">
                <a:latin typeface="华文楷体" panose="02010600040101010101" pitchFamily="2" charset="-122"/>
                <a:ea typeface="华文楷体" panose="02010600040101010101" pitchFamily="2" charset="-122"/>
              </a:rPr>
              <a:t>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实现分析</a:t>
            </a:r>
            <a:endParaRPr lang="zh-CN" altLang="en-US" dirty="0">
              <a:latin typeface="华文楷体" panose="02010600040101010101" pitchFamily="2" charset="-122"/>
              <a:ea typeface="华文楷体" panose="02010600040101010101" pitchFamily="2" charset="-122"/>
            </a:endParaRPr>
          </a:p>
        </p:txBody>
      </p:sp>
      <p:sp>
        <p:nvSpPr>
          <p:cNvPr id="3" name="文本框 2"/>
          <p:cNvSpPr txBox="1"/>
          <p:nvPr/>
        </p:nvSpPr>
        <p:spPr>
          <a:xfrm>
            <a:off x="6716728" y="2665613"/>
            <a:ext cx="5130716" cy="3970318"/>
          </a:xfrm>
          <a:prstGeom prst="rect">
            <a:avLst/>
          </a:prstGeom>
          <a:noFill/>
        </p:spPr>
        <p:txBody>
          <a:bodyPr wrap="square" rtlCol="0">
            <a:spAutoFit/>
          </a:bodyPr>
          <a:lstStyle/>
          <a:p>
            <a:r>
              <a:rPr lang="zh-CN" altLang="en-US" sz="2800" b="1" dirty="0">
                <a:latin typeface="华文楷体" panose="02010600040101010101" pitchFamily="2" charset="-122"/>
                <a:ea typeface="华文楷体" panose="02010600040101010101" pitchFamily="2" charset="-122"/>
              </a:rPr>
              <a:t>特别注意： </a:t>
            </a:r>
            <a:endParaRPr lang="en-US" altLang="zh-CN" sz="2800" b="1"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是从后往前至</a:t>
            </a:r>
            <a:r>
              <a:rPr lang="en-US" altLang="zh-CN" sz="2800" dirty="0" err="1">
                <a:latin typeface="华文楷体" panose="02010600040101010101" pitchFamily="2" charset="-122"/>
                <a:ea typeface="华文楷体" panose="02010600040101010101" pitchFamily="2" charset="-122"/>
              </a:rPr>
              <a:t>i</a:t>
            </a:r>
            <a:r>
              <a:rPr lang="zh-CN" altLang="en-US" sz="2800" dirty="0">
                <a:latin typeface="华文楷体" panose="02010600040101010101" pitchFamily="2" charset="-122"/>
                <a:ea typeface="华文楷体" panose="02010600040101010101" pitchFamily="2" charset="-122"/>
              </a:rPr>
              <a:t>位置逐个元素后移一位。</a:t>
            </a:r>
            <a:endParaRPr lang="en-US" altLang="zh-CN" sz="2800" dirty="0">
              <a:latin typeface="华文楷体" panose="02010600040101010101" pitchFamily="2" charset="-122"/>
              <a:ea typeface="华文楷体" panose="02010600040101010101" pitchFamily="2" charset="-122"/>
            </a:endParaRPr>
          </a:p>
          <a:p>
            <a:endParaRPr lang="en-US" altLang="zh-CN" sz="2800" b="1" dirty="0">
              <a:latin typeface="华文楷体" panose="02010600040101010101" pitchFamily="2" charset="-122"/>
              <a:ea typeface="华文楷体" panose="02010600040101010101" pitchFamily="2" charset="-122"/>
            </a:endParaRPr>
          </a:p>
          <a:p>
            <a:r>
              <a:rPr lang="zh-CN" altLang="zh-CN" sz="2800" b="1" dirty="0">
                <a:latin typeface="华文楷体" panose="02010600040101010101" pitchFamily="2" charset="-122"/>
                <a:ea typeface="华文楷体" panose="02010600040101010101" pitchFamily="2" charset="-122"/>
              </a:rPr>
              <a:t>分析时间效率：</a:t>
            </a:r>
            <a:endParaRPr lang="en-US" altLang="zh-CN" sz="2800" b="1"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插入每个位置等概率</a:t>
            </a:r>
            <a:r>
              <a:rPr lang="en-US" altLang="zh-CN" sz="2800" dirty="0">
                <a:latin typeface="华文楷体" panose="02010600040101010101" pitchFamily="2" charset="-122"/>
                <a:ea typeface="华文楷体" panose="02010600040101010101" pitchFamily="2" charset="-122"/>
              </a:rPr>
              <a:t>1/</a:t>
            </a:r>
            <a:r>
              <a:rPr lang="zh-CN" altLang="en-US"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n+1</a:t>
            </a:r>
            <a:r>
              <a:rPr lang="zh-CN" altLang="en-US"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移动的次数分别为</a:t>
            </a:r>
            <a:r>
              <a:rPr lang="en-US" altLang="zh-CN" sz="2800" dirty="0">
                <a:latin typeface="华文楷体" panose="02010600040101010101" pitchFamily="2" charset="-122"/>
                <a:ea typeface="华文楷体" panose="02010600040101010101" pitchFamily="2" charset="-122"/>
              </a:rPr>
              <a:t>0,1,2,…,n</a:t>
            </a:r>
            <a:endParaRPr lang="en-US" altLang="zh-CN" sz="2800"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平均： </a:t>
            </a:r>
            <a:r>
              <a:rPr lang="en-US" altLang="zh-CN" sz="2800" dirty="0">
                <a:latin typeface="华文楷体" panose="02010600040101010101" pitchFamily="2" charset="-122"/>
                <a:ea typeface="华文楷体" panose="02010600040101010101" pitchFamily="2" charset="-122"/>
              </a:rPr>
              <a:t>(1+2+…+n)/(n+1)=n/2</a:t>
            </a:r>
            <a:endParaRPr lang="en-US" altLang="zh-CN" sz="2800"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时间复杂度：</a:t>
            </a:r>
            <a:r>
              <a:rPr lang="en-US" altLang="zh-CN" sz="2800" dirty="0">
                <a:latin typeface="华文楷体" panose="02010600040101010101" pitchFamily="2" charset="-122"/>
                <a:ea typeface="华文楷体" panose="02010600040101010101" pitchFamily="2" charset="-122"/>
              </a:rPr>
              <a:t>O(n)</a:t>
            </a:r>
            <a:endParaRPr lang="en-US" altLang="zh-CN" sz="2800" dirty="0">
              <a:latin typeface="华文楷体" panose="02010600040101010101" pitchFamily="2" charset="-122"/>
              <a:ea typeface="华文楷体" panose="02010600040101010101" pitchFamily="2" charset="-122"/>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288283" y="2665613"/>
            <a:ext cx="5951365" cy="3357660"/>
          </a:xfrm>
          <a:prstGeom prst="rect">
            <a:avLst/>
          </a:prstGeom>
          <a:noFill/>
          <a:ln>
            <a:noFill/>
          </a:ln>
        </p:spPr>
      </p:pic>
      <p:sp>
        <p:nvSpPr>
          <p:cNvPr id="7" name="文本框 6"/>
          <p:cNvSpPr txBox="1"/>
          <p:nvPr/>
        </p:nvSpPr>
        <p:spPr>
          <a:xfrm>
            <a:off x="4748288" y="2193943"/>
            <a:ext cx="2242876" cy="584775"/>
          </a:xfrm>
          <a:prstGeom prst="rect">
            <a:avLst/>
          </a:prstGeom>
          <a:noFill/>
        </p:spPr>
        <p:txBody>
          <a:bodyPr wrap="square" rtlCol="0">
            <a:spAutoFit/>
          </a:bodyPr>
          <a:lstStyle/>
          <a:p>
            <a:r>
              <a:rPr lang="zh-CN" altLang="en-US" sz="3200" dirty="0">
                <a:solidFill>
                  <a:srgbClr val="FF0000"/>
                </a:solidFill>
                <a:latin typeface="华文楷体" panose="02010600040101010101" pitchFamily="2" charset="-122"/>
                <a:ea typeface="华文楷体" panose="02010600040101010101" pitchFamily="2" charset="-122"/>
              </a:rPr>
              <a:t>摆龙门阵：</a:t>
            </a:r>
            <a:endParaRPr lang="zh-CN" altLang="en-US"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zh-CN" altLang="en-US" dirty="0">
                <a:latin typeface="华文楷体" panose="02010600040101010101" pitchFamily="2" charset="-122"/>
                <a:ea typeface="华文楷体" panose="02010600040101010101" pitchFamily="2" charset="-122"/>
              </a:rPr>
              <a:t>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实现代码</a:t>
            </a:r>
            <a:endParaRPr lang="zh-CN" altLang="en-US" dirty="0">
              <a:latin typeface="华文楷体" panose="02010600040101010101" pitchFamily="2" charset="-122"/>
              <a:ea typeface="华文楷体" panose="02010600040101010101" pitchFamily="2" charset="-122"/>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6"/>
          <p:cNvSpPr>
            <a:spLocks noChangeArrowheads="1"/>
          </p:cNvSpPr>
          <p:nvPr/>
        </p:nvSpPr>
        <p:spPr bwMode="auto">
          <a:xfrm>
            <a:off x="3491948" y="1328329"/>
            <a:ext cx="712304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pPr indent="0"/>
            <a:r>
              <a:rPr lang="zh-CN" altLang="en-US" sz="3200" b="1" dirty="0">
                <a:latin typeface="华文楷体" panose="02010600040101010101" pitchFamily="2" charset="-122"/>
                <a:ea typeface="华文楷体" panose="02010600040101010101" pitchFamily="2" charset="-122"/>
                <a:cs typeface="Times New Roman" panose="02020603050405020304" pitchFamily="18" charset="0"/>
              </a:rPr>
              <a:t>如何写出一个完成的程序？</a:t>
            </a:r>
            <a:endParaRPr lang="en-US" altLang="zh-CN" sz="3200" b="1" dirty="0">
              <a:latin typeface="华文楷体" panose="02010600040101010101" pitchFamily="2" charset="-122"/>
              <a:ea typeface="华文楷体" panose="02010600040101010101" pitchFamily="2" charset="-122"/>
              <a:cs typeface="Times New Roman" panose="02020603050405020304" pitchFamily="18" charset="0"/>
            </a:endParaRPr>
          </a:p>
          <a:p>
            <a:pPr indent="0"/>
            <a:endParaRPr lang="en-US" altLang="zh-CN" sz="3200" b="1" dirty="0">
              <a:latin typeface="华文楷体" panose="02010600040101010101" pitchFamily="2" charset="-122"/>
              <a:ea typeface="华文楷体" panose="02010600040101010101" pitchFamily="2" charset="-122"/>
              <a:cs typeface="Times New Roman" panose="02020603050405020304" pitchFamily="18" charset="0"/>
            </a:endParaRPr>
          </a:p>
          <a:p>
            <a:pPr indent="0"/>
            <a:r>
              <a:rPr lang="zh-CN" altLang="en-US" sz="3200" b="1" dirty="0">
                <a:latin typeface="华文楷体" panose="02010600040101010101" pitchFamily="2" charset="-122"/>
                <a:ea typeface="华文楷体" panose="02010600040101010101" pitchFamily="2" charset="-122"/>
                <a:cs typeface="Times New Roman" panose="02020603050405020304" pitchFamily="18" charset="0"/>
              </a:rPr>
              <a:t>“五步口诀法”：</a:t>
            </a:r>
            <a:endParaRPr lang="en-US" altLang="zh-CN" sz="3200" b="1" dirty="0">
              <a:latin typeface="华文楷体" panose="02010600040101010101" pitchFamily="2" charset="-122"/>
              <a:ea typeface="华文楷体" panose="02010600040101010101" pitchFamily="2" charset="-122"/>
              <a:cs typeface="Times New Roman" panose="02020603050405020304" pitchFamily="18" charset="0"/>
            </a:endParaRPr>
          </a:p>
          <a:p>
            <a:pPr marL="514350" indent="-514350">
              <a:buAutoNum type="arabicPeriod"/>
            </a:pP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参数检查</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514350" indent="-514350">
              <a:buAutoNum type="arabicPeriod"/>
            </a:pP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空间是否支持</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514350" indent="-514350">
              <a:buAutoNum type="arabicPeriod"/>
            </a:pP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核心操作</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514350" indent="-514350">
              <a:buAutoNum type="arabicPeriod"/>
            </a:pP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对其他属性的影响</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514350" indent="-514350">
              <a:buAutoNum type="arabicPeriod"/>
            </a:pP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正确返回</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transition spd="med">
    <p:push/>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zh-CN" altLang="en-US" dirty="0">
                <a:latin typeface="华文楷体" panose="02010600040101010101" pitchFamily="2" charset="-122"/>
                <a:ea typeface="华文楷体" panose="02010600040101010101" pitchFamily="2" charset="-122"/>
              </a:rPr>
              <a:t>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实现代码</a:t>
            </a:r>
            <a:endParaRPr lang="zh-CN" altLang="en-US" dirty="0">
              <a:latin typeface="华文楷体" panose="02010600040101010101" pitchFamily="2" charset="-122"/>
              <a:ea typeface="华文楷体" panose="02010600040101010101" pitchFamily="2" charset="-122"/>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6"/>
          <p:cNvSpPr>
            <a:spLocks noChangeArrowheads="1"/>
          </p:cNvSpPr>
          <p:nvPr/>
        </p:nvSpPr>
        <p:spPr bwMode="auto">
          <a:xfrm>
            <a:off x="178904" y="795016"/>
            <a:ext cx="11834191"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template &lt;class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void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seqList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&lt;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&gt;::insert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int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const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&amp;e )</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int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k;</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if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&lt;1)||(</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&gt;len+1)) return; //</a:t>
            </a:r>
            <a:r>
              <a:rPr lang="zh-CN" altLang="zh-CN" sz="3200" dirty="0">
                <a:latin typeface="Times New Roman" panose="02020603050405020304" pitchFamily="18" charset="0"/>
                <a:ea typeface="宋体" panose="02010600030101010101" pitchFamily="2" charset="-122"/>
                <a:cs typeface="Times New Roman" panose="02020603050405020304" pitchFamily="18" charset="0"/>
              </a:rPr>
              <a:t>插入位置越界</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if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len</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maxSize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doubleSpace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3200" dirty="0">
                <a:latin typeface="Times New Roman" panose="02020603050405020304" pitchFamily="18" charset="0"/>
                <a:ea typeface="宋体" panose="02010600030101010101" pitchFamily="2" charset="-122"/>
                <a:cs typeface="Times New Roman" panose="02020603050405020304" pitchFamily="18" charset="0"/>
              </a:rPr>
              <a:t>空间满了，无法插入元素</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for (k=len+1; k&gt;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k--)</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[k]=</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[k-1];</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]=e;</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len</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5516550" y="4197120"/>
            <a:ext cx="6146363" cy="2062103"/>
          </a:xfrm>
          <a:prstGeom prst="rect">
            <a:avLst/>
          </a:prstGeom>
          <a:noFill/>
        </p:spPr>
        <p:txBody>
          <a:bodyPr wrap="square" rtlCol="0">
            <a:spAutoFit/>
          </a:bodyPr>
          <a:lstStyle/>
          <a:p>
            <a:r>
              <a:rPr lang="zh-CN" altLang="en-US" sz="3200" dirty="0">
                <a:solidFill>
                  <a:srgbClr val="FF0000"/>
                </a:solidFill>
                <a:latin typeface="华文楷体" panose="02010600040101010101" pitchFamily="2" charset="-122"/>
                <a:ea typeface="华文楷体" panose="02010600040101010101" pitchFamily="2" charset="-122"/>
              </a:rPr>
              <a:t>循环注意： </a:t>
            </a:r>
            <a:endParaRPr lang="en-US" altLang="zh-CN" sz="3200" dirty="0">
              <a:solidFill>
                <a:srgbClr val="FF0000"/>
              </a:solidFill>
              <a:latin typeface="华文楷体" panose="02010600040101010101" pitchFamily="2" charset="-122"/>
              <a:ea typeface="华文楷体" panose="02010600040101010101" pitchFamily="2" charset="-122"/>
            </a:endParaRPr>
          </a:p>
          <a:p>
            <a:r>
              <a:rPr lang="zh-CN" altLang="en-US" sz="3200" b="1" dirty="0">
                <a:latin typeface="华文楷体" panose="02010600040101010101" pitchFamily="2" charset="-122"/>
                <a:ea typeface="华文楷体" panose="02010600040101010101" pitchFamily="2" charset="-122"/>
              </a:rPr>
              <a:t>左右边界的检查</a:t>
            </a:r>
            <a:endParaRPr lang="en-US" altLang="zh-CN" sz="3200" b="1" dirty="0">
              <a:latin typeface="华文楷体" panose="02010600040101010101" pitchFamily="2" charset="-122"/>
              <a:ea typeface="华文楷体" panose="02010600040101010101" pitchFamily="2" charset="-122"/>
            </a:endParaRPr>
          </a:p>
          <a:p>
            <a:r>
              <a:rPr lang="zh-CN" altLang="en-US" sz="3200" b="1" dirty="0">
                <a:latin typeface="华文楷体" panose="02010600040101010101" pitchFamily="2" charset="-122"/>
                <a:ea typeface="华文楷体" panose="02010600040101010101" pitchFamily="2" charset="-122"/>
              </a:rPr>
              <a:t>即</a:t>
            </a:r>
            <a:r>
              <a:rPr lang="en-US" altLang="zh-CN" sz="3200" b="1" dirty="0">
                <a:latin typeface="华文楷体" panose="02010600040101010101" pitchFamily="2" charset="-122"/>
                <a:ea typeface="华文楷体" panose="02010600040101010101" pitchFamily="2" charset="-122"/>
              </a:rPr>
              <a:t>k</a:t>
            </a:r>
            <a:r>
              <a:rPr lang="zh-CN" altLang="en-US" sz="3200" b="1" dirty="0">
                <a:latin typeface="华文楷体" panose="02010600040101010101" pitchFamily="2" charset="-122"/>
                <a:ea typeface="华文楷体" panose="02010600040101010101" pitchFamily="2" charset="-122"/>
              </a:rPr>
              <a:t>的第一次和最后一次满足循环条件的取值</a:t>
            </a:r>
            <a:r>
              <a:rPr lang="zh-CN" altLang="en-US" sz="3200" dirty="0">
                <a:latin typeface="华文楷体" panose="02010600040101010101" pitchFamily="2" charset="-122"/>
                <a:ea typeface="华文楷体" panose="02010600040101010101" pitchFamily="2" charset="-122"/>
              </a:rPr>
              <a:t>。</a:t>
            </a:r>
            <a:endParaRPr lang="zh-CN" altLang="en-US" sz="3200" dirty="0">
              <a:latin typeface="华文楷体" panose="02010600040101010101" pitchFamily="2" charset="-122"/>
              <a:ea typeface="华文楷体" panose="02010600040101010101" pitchFamily="2" charset="-122"/>
            </a:endParaRPr>
          </a:p>
        </p:txBody>
      </p:sp>
      <p:sp>
        <p:nvSpPr>
          <p:cNvPr id="4" name="矩形 3"/>
          <p:cNvSpPr/>
          <p:nvPr/>
        </p:nvSpPr>
        <p:spPr>
          <a:xfrm>
            <a:off x="8301762" y="2822033"/>
            <a:ext cx="3048000" cy="369332"/>
          </a:xfrm>
          <a:prstGeom prst="rect">
            <a:avLst/>
          </a:prstGeom>
        </p:spPr>
        <p:txBody>
          <a:bodyPr wrap="square">
            <a:spAutoFit/>
          </a:bodyPr>
          <a:lstStyle/>
          <a:p>
            <a:r>
              <a:rPr lang="zh-CN" altLang="en-US" dirty="0">
                <a:solidFill>
                  <a:srgbClr val="FF0000"/>
                </a:solidFill>
              </a:rPr>
              <a:t>警惕：合法而不合理的情况</a:t>
            </a:r>
            <a:endParaRPr lang="zh-CN" altLang="en-US" dirty="0">
              <a:solidFill>
                <a:srgbClr val="FF0000"/>
              </a:solidFill>
            </a:endParaRPr>
          </a:p>
        </p:txBody>
      </p:sp>
    </p:spTree>
  </p:cSld>
  <p:clrMapOvr>
    <a:masterClrMapping/>
  </p:clrMapOvr>
  <p:transition spd="med">
    <p:push/>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3" y="1686894"/>
            <a:ext cx="11902731" cy="620154"/>
          </a:xfrm>
        </p:spPr>
        <p:txBody>
          <a:bodyPr>
            <a:noAutofit/>
          </a:bodyPr>
          <a:lstStyle/>
          <a:p>
            <a:pPr marL="0" indent="0">
              <a:buNone/>
            </a:pPr>
            <a:r>
              <a:rPr lang="zh-CN" altLang="zh-CN" sz="2800" dirty="0">
                <a:latin typeface="华文楷体" panose="02010600040101010101" pitchFamily="2" charset="-122"/>
                <a:ea typeface="华文楷体" panose="02010600040101010101" pitchFamily="2" charset="-122"/>
              </a:rPr>
              <a:t>删除操作</a:t>
            </a:r>
            <a:r>
              <a:rPr lang="zh-CN" altLang="en-US" sz="2800" dirty="0">
                <a:latin typeface="华文楷体" panose="02010600040101010101" pitchFamily="2" charset="-122"/>
                <a:ea typeface="华文楷体" panose="02010600040101010101" pitchFamily="2" charset="-122"/>
              </a:rPr>
              <a:t>： 待删元素在下标为</a:t>
            </a:r>
            <a:r>
              <a:rPr lang="en-US" altLang="zh-CN" sz="2800" dirty="0" err="1">
                <a:latin typeface="华文楷体" panose="02010600040101010101" pitchFamily="2" charset="-122"/>
                <a:ea typeface="华文楷体" panose="02010600040101010101" pitchFamily="2" charset="-122"/>
              </a:rPr>
              <a:t>i</a:t>
            </a:r>
            <a:r>
              <a:rPr lang="zh-CN" altLang="en-US" sz="2800" dirty="0">
                <a:latin typeface="华文楷体" panose="02010600040101010101" pitchFamily="2" charset="-122"/>
                <a:ea typeface="华文楷体" panose="02010600040101010101" pitchFamily="2" charset="-122"/>
              </a:rPr>
              <a:t>的位置，</a:t>
            </a:r>
            <a:r>
              <a:rPr lang="en-US" altLang="zh-CN" sz="2800" dirty="0" err="1">
                <a:latin typeface="华文楷体" panose="02010600040101010101" pitchFamily="2" charset="-122"/>
                <a:ea typeface="华文楷体" panose="02010600040101010101" pitchFamily="2" charset="-122"/>
              </a:rPr>
              <a:t>i</a:t>
            </a:r>
            <a:r>
              <a:rPr lang="zh-CN" altLang="en-US" sz="2800" dirty="0">
                <a:latin typeface="华文楷体" panose="02010600040101010101" pitchFamily="2" charset="-122"/>
                <a:ea typeface="华文楷体" panose="02010600040101010101" pitchFamily="2" charset="-122"/>
              </a:rPr>
              <a:t>可能的取值为</a:t>
            </a:r>
            <a:r>
              <a:rPr lang="en-US" altLang="zh-CN" sz="2800" dirty="0">
                <a:latin typeface="华文楷体" panose="02010600040101010101" pitchFamily="2" charset="-122"/>
                <a:ea typeface="华文楷体" panose="02010600040101010101" pitchFamily="2" charset="-122"/>
              </a:rPr>
              <a:t>n, … ,  2, 1</a:t>
            </a:r>
            <a:r>
              <a:rPr lang="zh-CN" altLang="en-US" sz="2800" dirty="0">
                <a:latin typeface="华文楷体" panose="02010600040101010101" pitchFamily="2" charset="-122"/>
                <a:ea typeface="华文楷体" panose="02010600040101010101" pitchFamily="2" charset="-122"/>
              </a:rPr>
              <a:t>。</a:t>
            </a:r>
            <a:endParaRPr lang="zh-CN" altLang="zh-CN" sz="360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zh-CN" altLang="en-US" dirty="0">
                <a:latin typeface="华文楷体" panose="02010600040101010101" pitchFamily="2" charset="-122"/>
                <a:ea typeface="华文楷体" panose="02010600040101010101" pitchFamily="2" charset="-122"/>
              </a:rPr>
              <a:t>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实现分析</a:t>
            </a:r>
            <a:endParaRPr lang="zh-CN" altLang="en-US" dirty="0">
              <a:latin typeface="华文楷体" panose="02010600040101010101" pitchFamily="2" charset="-122"/>
              <a:ea typeface="华文楷体" panose="02010600040101010101" pitchFamily="2" charset="-122"/>
            </a:endParaRPr>
          </a:p>
        </p:txBody>
      </p:sp>
      <p:sp>
        <p:nvSpPr>
          <p:cNvPr id="3" name="文本框 2"/>
          <p:cNvSpPr txBox="1"/>
          <p:nvPr/>
        </p:nvSpPr>
        <p:spPr>
          <a:xfrm>
            <a:off x="5869726" y="2665613"/>
            <a:ext cx="5886090" cy="3970318"/>
          </a:xfrm>
          <a:prstGeom prst="rect">
            <a:avLst/>
          </a:prstGeom>
          <a:noFill/>
        </p:spPr>
        <p:txBody>
          <a:bodyPr wrap="square" rtlCol="0">
            <a:spAutoFit/>
          </a:bodyPr>
          <a:lstStyle/>
          <a:p>
            <a:r>
              <a:rPr lang="zh-CN" altLang="en-US" sz="2800" b="1" dirty="0">
                <a:latin typeface="华文楷体" panose="02010600040101010101" pitchFamily="2" charset="-122"/>
                <a:ea typeface="华文楷体" panose="02010600040101010101" pitchFamily="2" charset="-122"/>
              </a:rPr>
              <a:t>特别注意： </a:t>
            </a:r>
            <a:endParaRPr lang="en-US" altLang="zh-CN" sz="2800" b="1"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是自</a:t>
            </a:r>
            <a:r>
              <a:rPr lang="en-US" altLang="zh-CN" sz="2800" dirty="0">
                <a:latin typeface="华文楷体" panose="02010600040101010101" pitchFamily="2" charset="-122"/>
                <a:ea typeface="华文楷体" panose="02010600040101010101" pitchFamily="2" charset="-122"/>
              </a:rPr>
              <a:t>i+1</a:t>
            </a:r>
            <a:r>
              <a:rPr lang="zh-CN" altLang="en-US" sz="2800" dirty="0">
                <a:latin typeface="华文楷体" panose="02010600040101010101" pitchFamily="2" charset="-122"/>
                <a:ea typeface="华文楷体" panose="02010600040101010101" pitchFamily="2" charset="-122"/>
              </a:rPr>
              <a:t>位置开始，从前往后逐个元素前移一位。</a:t>
            </a:r>
            <a:endParaRPr lang="en-US" altLang="zh-CN" sz="2800" dirty="0">
              <a:latin typeface="华文楷体" panose="02010600040101010101" pitchFamily="2" charset="-122"/>
              <a:ea typeface="华文楷体" panose="02010600040101010101" pitchFamily="2" charset="-122"/>
            </a:endParaRPr>
          </a:p>
          <a:p>
            <a:endParaRPr lang="en-US" altLang="zh-CN" sz="2800" b="1" dirty="0">
              <a:latin typeface="华文楷体" panose="02010600040101010101" pitchFamily="2" charset="-122"/>
              <a:ea typeface="华文楷体" panose="02010600040101010101" pitchFamily="2" charset="-122"/>
            </a:endParaRPr>
          </a:p>
          <a:p>
            <a:r>
              <a:rPr lang="zh-CN" altLang="zh-CN" sz="2800" b="1" dirty="0">
                <a:latin typeface="华文楷体" panose="02010600040101010101" pitchFamily="2" charset="-122"/>
                <a:ea typeface="华文楷体" panose="02010600040101010101" pitchFamily="2" charset="-122"/>
              </a:rPr>
              <a:t>分析时间效率：</a:t>
            </a:r>
            <a:endParaRPr lang="en-US" altLang="zh-CN" sz="2800" b="1"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删除每个位置等概率</a:t>
            </a:r>
            <a:r>
              <a:rPr lang="en-US" altLang="zh-CN" sz="2800" dirty="0">
                <a:latin typeface="华文楷体" panose="02010600040101010101" pitchFamily="2" charset="-122"/>
                <a:ea typeface="华文楷体" panose="02010600040101010101" pitchFamily="2" charset="-122"/>
              </a:rPr>
              <a:t>1/n</a:t>
            </a:r>
            <a:endParaRPr lang="en-US" altLang="zh-CN" sz="2800"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移动的次数分别为</a:t>
            </a:r>
            <a:r>
              <a:rPr lang="en-US" altLang="zh-CN" sz="2800" dirty="0">
                <a:latin typeface="华文楷体" panose="02010600040101010101" pitchFamily="2" charset="-122"/>
                <a:ea typeface="华文楷体" panose="02010600040101010101" pitchFamily="2" charset="-122"/>
              </a:rPr>
              <a:t>0,1,2,…,n-1</a:t>
            </a:r>
            <a:endParaRPr lang="en-US" altLang="zh-CN" sz="2800"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平均： </a:t>
            </a:r>
            <a:r>
              <a:rPr lang="en-US" altLang="zh-CN" sz="2800" dirty="0">
                <a:latin typeface="华文楷体" panose="02010600040101010101" pitchFamily="2" charset="-122"/>
                <a:ea typeface="华文楷体" panose="02010600040101010101" pitchFamily="2" charset="-122"/>
              </a:rPr>
              <a:t>(1+2+…+n-1)/n=</a:t>
            </a:r>
            <a:r>
              <a:rPr lang="zh-CN" altLang="en-US"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n-1</a:t>
            </a:r>
            <a:r>
              <a:rPr lang="zh-CN" altLang="en-US"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/2</a:t>
            </a:r>
            <a:endParaRPr lang="en-US" altLang="zh-CN" sz="2800"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时间复杂度：</a:t>
            </a:r>
            <a:r>
              <a:rPr lang="en-US" altLang="zh-CN" sz="2800" dirty="0">
                <a:latin typeface="华文楷体" panose="02010600040101010101" pitchFamily="2" charset="-122"/>
                <a:ea typeface="华文楷体" panose="02010600040101010101" pitchFamily="2" charset="-122"/>
              </a:rPr>
              <a:t>O(n)</a:t>
            </a:r>
            <a:endParaRPr lang="en-US" altLang="zh-CN" sz="2800" dirty="0">
              <a:latin typeface="华文楷体" panose="02010600040101010101" pitchFamily="2" charset="-122"/>
              <a:ea typeface="华文楷体" panose="02010600040101010101" pitchFamily="2" charset="-122"/>
            </a:endParaRPr>
          </a:p>
        </p:txBody>
      </p:sp>
      <p:pic>
        <p:nvPicPr>
          <p:cNvPr id="7" name="图片 6"/>
          <p:cNvPicPr/>
          <p:nvPr/>
        </p:nvPicPr>
        <p:blipFill>
          <a:blip r:embed="rId1">
            <a:extLst>
              <a:ext uri="{28A0092B-C50C-407E-A947-70E740481C1C}">
                <a14:useLocalDpi xmlns:a14="http://schemas.microsoft.com/office/drawing/2010/main" val="0"/>
              </a:ext>
            </a:extLst>
          </a:blip>
          <a:srcRect/>
          <a:stretch>
            <a:fillRect/>
          </a:stretch>
        </p:blipFill>
        <p:spPr bwMode="auto">
          <a:xfrm>
            <a:off x="288283" y="2625856"/>
            <a:ext cx="5078848" cy="3615917"/>
          </a:xfrm>
          <a:prstGeom prst="rect">
            <a:avLst/>
          </a:prstGeom>
          <a:noFill/>
          <a:ln>
            <a:noFill/>
          </a:ln>
        </p:spPr>
      </p:pic>
      <p:sp>
        <p:nvSpPr>
          <p:cNvPr id="6" name="文本框 5"/>
          <p:cNvSpPr txBox="1"/>
          <p:nvPr/>
        </p:nvSpPr>
        <p:spPr>
          <a:xfrm>
            <a:off x="3996772" y="2214991"/>
            <a:ext cx="2242876" cy="584775"/>
          </a:xfrm>
          <a:prstGeom prst="rect">
            <a:avLst/>
          </a:prstGeom>
          <a:noFill/>
        </p:spPr>
        <p:txBody>
          <a:bodyPr wrap="square" rtlCol="0">
            <a:spAutoFit/>
          </a:bodyPr>
          <a:lstStyle/>
          <a:p>
            <a:r>
              <a:rPr lang="zh-CN" altLang="en-US" sz="3200" dirty="0">
                <a:solidFill>
                  <a:srgbClr val="FF0000"/>
                </a:solidFill>
                <a:latin typeface="华文楷体" panose="02010600040101010101" pitchFamily="2" charset="-122"/>
                <a:ea typeface="华文楷体" panose="02010600040101010101" pitchFamily="2" charset="-122"/>
              </a:rPr>
              <a:t>摆龙门阵：</a:t>
            </a:r>
            <a:endParaRPr lang="zh-CN" altLang="en-US" dirty="0">
              <a:solidFill>
                <a:srgbClr val="FF0000"/>
              </a:solidFill>
              <a:latin typeface="华文楷体" panose="02010600040101010101" pitchFamily="2" charset="-122"/>
              <a:ea typeface="华文楷体" panose="02010600040101010101" pitchFamily="2" charset="-122"/>
            </a:endParaRPr>
          </a:p>
        </p:txBody>
      </p:sp>
      <p:sp>
        <p:nvSpPr>
          <p:cNvPr id="8" name="文本框 7"/>
          <p:cNvSpPr txBox="1"/>
          <p:nvPr/>
        </p:nvSpPr>
        <p:spPr>
          <a:xfrm>
            <a:off x="7712765" y="2307048"/>
            <a:ext cx="4043051" cy="584775"/>
          </a:xfrm>
          <a:prstGeom prst="rect">
            <a:avLst/>
          </a:prstGeom>
          <a:noFill/>
        </p:spPr>
        <p:txBody>
          <a:bodyPr wrap="square" rtlCol="0">
            <a:spAutoFit/>
          </a:bodyPr>
          <a:lstStyle/>
          <a:p>
            <a:r>
              <a:rPr lang="zh-CN" altLang="en-US" sz="3200" dirty="0">
                <a:solidFill>
                  <a:schemeClr val="accent2"/>
                </a:solidFill>
              </a:rPr>
              <a:t>自行书写程序 </a:t>
            </a:r>
            <a:r>
              <a:rPr lang="en-US" altLang="zh-CN" sz="3200" dirty="0">
                <a:solidFill>
                  <a:schemeClr val="accent2"/>
                </a:solidFill>
              </a:rPr>
              <a:t>5</a:t>
            </a:r>
            <a:r>
              <a:rPr lang="zh-CN" altLang="en-US" sz="3200" dirty="0">
                <a:solidFill>
                  <a:schemeClr val="accent2"/>
                </a:solidFill>
              </a:rPr>
              <a:t>分钟</a:t>
            </a:r>
            <a:endParaRPr lang="zh-CN" altLang="en-US" sz="3200" dirty="0">
              <a:solidFill>
                <a:schemeClr val="accent2"/>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zh-CN" altLang="en-US" dirty="0">
                <a:latin typeface="华文楷体" panose="02010600040101010101" pitchFamily="2" charset="-122"/>
                <a:ea typeface="华文楷体" panose="02010600040101010101" pitchFamily="2" charset="-122"/>
              </a:rPr>
              <a:t>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实现代码</a:t>
            </a:r>
            <a:endParaRPr lang="zh-CN" altLang="en-US" dirty="0">
              <a:latin typeface="华文楷体" panose="02010600040101010101" pitchFamily="2" charset="-122"/>
              <a:ea typeface="华文楷体" panose="02010600040101010101" pitchFamily="2" charset="-122"/>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6"/>
          <p:cNvSpPr>
            <a:spLocks noChangeArrowheads="1"/>
          </p:cNvSpPr>
          <p:nvPr/>
        </p:nvSpPr>
        <p:spPr bwMode="auto">
          <a:xfrm>
            <a:off x="152400" y="1549650"/>
            <a:ext cx="11834191"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template &lt;class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 </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a:t>
            </a:r>
            <a:r>
              <a:rPr lang="zh-CN" altLang="en-US" sz="320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注意五步口诀法</a:t>
            </a:r>
            <a:endParaRPr lang="zh-CN" altLang="zh-CN" sz="320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void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seqList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&lt;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&gt;::remove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int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&amp;e )</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3200"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3200"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3200"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3200"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3200"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3200"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transition spd="med">
    <p:push/>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zh-CN" altLang="en-US" dirty="0">
                <a:latin typeface="华文楷体" panose="02010600040101010101" pitchFamily="2" charset="-122"/>
                <a:ea typeface="华文楷体" panose="02010600040101010101" pitchFamily="2" charset="-122"/>
              </a:rPr>
              <a:t>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实现代码</a:t>
            </a:r>
            <a:endParaRPr lang="zh-CN" altLang="en-US" dirty="0">
              <a:latin typeface="华文楷体" panose="02010600040101010101" pitchFamily="2" charset="-122"/>
              <a:ea typeface="华文楷体" panose="02010600040101010101" pitchFamily="2" charset="-122"/>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6"/>
          <p:cNvSpPr>
            <a:spLocks noChangeArrowheads="1"/>
          </p:cNvSpPr>
          <p:nvPr/>
        </p:nvSpPr>
        <p:spPr bwMode="auto">
          <a:xfrm>
            <a:off x="152400" y="1549648"/>
            <a:ext cx="11834191"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template &lt;class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 </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a:t>
            </a:r>
            <a:r>
              <a:rPr lang="zh-CN" altLang="en-US" sz="320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注意五步口诀法</a:t>
            </a:r>
            <a:endParaRPr lang="zh-CN" altLang="zh-CN" sz="320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void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seqList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&lt;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&gt;::remove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int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&amp;e )</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int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k;</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if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&lt;1)||(</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len</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return;</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e=</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for (k=</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k&lt;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len</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k++)</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[k]=</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[k+1];</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len</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transition spd="med">
    <p:push/>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zh-CN" altLang="en-US" dirty="0">
                <a:latin typeface="华文楷体" panose="02010600040101010101" pitchFamily="2" charset="-122"/>
                <a:ea typeface="华文楷体" panose="02010600040101010101" pitchFamily="2" charset="-122"/>
              </a:rPr>
              <a:t>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实现代码</a:t>
            </a:r>
            <a:endParaRPr lang="zh-CN" altLang="en-US" dirty="0">
              <a:latin typeface="华文楷体" panose="02010600040101010101" pitchFamily="2" charset="-122"/>
              <a:ea typeface="华文楷体" panose="02010600040101010101" pitchFamily="2" charset="-122"/>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6"/>
          <p:cNvSpPr>
            <a:spLocks noChangeArrowheads="1"/>
          </p:cNvSpPr>
          <p:nvPr/>
        </p:nvSpPr>
        <p:spPr bwMode="auto">
          <a:xfrm>
            <a:off x="152400" y="1706437"/>
            <a:ext cx="11834191"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template &lt;class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 </a:t>
            </a:r>
            <a:endParaRPr lang="en-US"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seqList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&lt;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&gt;::get(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int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const</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 </a:t>
            </a:r>
            <a:r>
              <a:rPr lang="zh-CN" altLang="zh-CN" sz="3200" dirty="0">
                <a:latin typeface="华文楷体" panose="02010600040101010101" pitchFamily="2" charset="-122"/>
                <a:ea typeface="华文楷体" panose="02010600040101010101" pitchFamily="2" charset="-122"/>
                <a:cs typeface="Times New Roman" panose="02020603050405020304" pitchFamily="18" charset="0"/>
              </a:rPr>
              <a:t>返回第</a:t>
            </a:r>
            <a:r>
              <a:rPr lang="en-US" altLang="zh-CN" sz="3200" dirty="0" err="1">
                <a:latin typeface="华文楷体" panose="02010600040101010101" pitchFamily="2" charset="-122"/>
                <a:ea typeface="华文楷体" panose="02010600040101010101" pitchFamily="2" charset="-122"/>
                <a:cs typeface="Times New Roman" panose="02020603050405020304" pitchFamily="18" charset="0"/>
              </a:rPr>
              <a:t>i</a:t>
            </a:r>
            <a:r>
              <a:rPr lang="zh-CN" altLang="zh-CN" sz="3200" dirty="0">
                <a:latin typeface="华文楷体" panose="02010600040101010101" pitchFamily="2" charset="-122"/>
                <a:ea typeface="华文楷体" panose="02010600040101010101" pitchFamily="2" charset="-122"/>
                <a:cs typeface="Times New Roman" panose="02020603050405020304" pitchFamily="18" charset="0"/>
              </a:rPr>
              <a:t>个元素的值</a:t>
            </a:r>
            <a:endParaRPr lang="zh-CN" altLang="zh-CN" sz="3200" dirty="0">
              <a:latin typeface="华文楷体" panose="02010600040101010101" pitchFamily="2" charset="-122"/>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if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&lt;1)||(</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len</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throw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outOfBound</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return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dirty="0"/>
              <a:t> </a:t>
            </a:r>
            <a:endParaRPr lang="zh-CN" altLang="zh-CN" dirty="0"/>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transition spd="med">
    <p:push/>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zh-CN" altLang="en-US" dirty="0">
                <a:latin typeface="华文楷体" panose="02010600040101010101" pitchFamily="2" charset="-122"/>
                <a:ea typeface="华文楷体" panose="02010600040101010101" pitchFamily="2" charset="-122"/>
              </a:rPr>
              <a:t>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实现代码</a:t>
            </a:r>
            <a:endParaRPr lang="zh-CN" altLang="en-US" dirty="0">
              <a:latin typeface="华文楷体" panose="02010600040101010101" pitchFamily="2" charset="-122"/>
              <a:ea typeface="华文楷体" panose="02010600040101010101" pitchFamily="2" charset="-122"/>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6"/>
          <p:cNvSpPr>
            <a:spLocks noChangeArrowheads="1"/>
          </p:cNvSpPr>
          <p:nvPr/>
        </p:nvSpPr>
        <p:spPr bwMode="auto">
          <a:xfrm>
            <a:off x="152400" y="1303428"/>
            <a:ext cx="11834191"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200" b="1" dirty="0">
                <a:latin typeface="华文楷体" panose="02010600040101010101" pitchFamily="2" charset="-122"/>
                <a:ea typeface="华文楷体" panose="02010600040101010101" pitchFamily="2" charset="-122"/>
                <a:cs typeface="Times New Roman" panose="02020603050405020304" pitchFamily="18" charset="0"/>
              </a:rPr>
              <a:t>常见错误：</a:t>
            </a:r>
            <a:endParaRPr lang="zh-CN" altLang="zh-CN" sz="3200" b="1" dirty="0">
              <a:latin typeface="华文楷体" panose="02010600040101010101" pitchFamily="2" charset="-122"/>
              <a:ea typeface="华文楷体" panose="02010600040101010101" pitchFamily="2" charset="-122"/>
              <a:cs typeface="Times New Roman" panose="02020603050405020304" pitchFamily="18" charset="0"/>
            </a:endParaRPr>
          </a:p>
          <a:p>
            <a:pPr marL="814705" indent="-635000">
              <a:buFont typeface="+mj-lt"/>
              <a:buAutoNum type="arabicPeriod"/>
            </a:pPr>
            <a:r>
              <a:rPr lang="zh-CN" altLang="zh-CN" sz="3200" dirty="0">
                <a:latin typeface="华文楷体" panose="02010600040101010101" pitchFamily="2" charset="-122"/>
                <a:ea typeface="华文楷体" panose="02010600040101010101" pitchFamily="2" charset="-122"/>
                <a:cs typeface="Times New Roman" panose="02020603050405020304" pitchFamily="18" charset="0"/>
              </a:rPr>
              <a:t>混淆</a:t>
            </a:r>
            <a:r>
              <a:rPr lang="en-US" altLang="zh-CN" sz="3200" dirty="0" err="1">
                <a:latin typeface="华文楷体" panose="02010600040101010101" pitchFamily="2" charset="-122"/>
                <a:ea typeface="华文楷体" panose="02010600040101010101" pitchFamily="2" charset="-122"/>
                <a:cs typeface="Times New Roman" panose="02020603050405020304" pitchFamily="18" charset="0"/>
              </a:rPr>
              <a:t>len</a:t>
            </a:r>
            <a:r>
              <a:rPr lang="zh-CN" altLang="zh-CN" sz="3200" dirty="0">
                <a:latin typeface="华文楷体" panose="02010600040101010101" pitchFamily="2" charset="-122"/>
                <a:ea typeface="华文楷体" panose="02010600040101010101" pitchFamily="2" charset="-122"/>
                <a:cs typeface="Times New Roman" panose="02020603050405020304" pitchFamily="18" charset="0"/>
              </a:rPr>
              <a:t>和</a:t>
            </a:r>
            <a:r>
              <a:rPr lang="en-US" altLang="zh-CN" sz="3200" dirty="0" err="1">
                <a:latin typeface="华文楷体" panose="02010600040101010101" pitchFamily="2" charset="-122"/>
                <a:ea typeface="华文楷体" panose="02010600040101010101" pitchFamily="2" charset="-122"/>
                <a:cs typeface="Times New Roman" panose="02020603050405020304" pitchFamily="18" charset="0"/>
              </a:rPr>
              <a:t>maxSize</a:t>
            </a:r>
            <a:r>
              <a:rPr lang="zh-CN" altLang="zh-CN" sz="3200" dirty="0">
                <a:latin typeface="华文楷体" panose="02010600040101010101" pitchFamily="2" charset="-122"/>
                <a:ea typeface="华文楷体" panose="02010600040101010101" pitchFamily="2" charset="-122"/>
                <a:cs typeface="Times New Roman" panose="02020603050405020304" pitchFamily="18" charset="0"/>
              </a:rPr>
              <a:t>的含义，前者是实际元素的个数，后者是存储空间的大小，也是最多能存多少元素的限制。 </a:t>
            </a:r>
            <a:endParaRPr lang="zh-CN"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814705" indent="-635000">
              <a:buFont typeface="+mj-lt"/>
              <a:buAutoNum type="arabicPeriod"/>
            </a:pPr>
            <a:r>
              <a:rPr lang="en-US" altLang="zh-CN" sz="3200" dirty="0" err="1">
                <a:latin typeface="华文楷体" panose="02010600040101010101" pitchFamily="2" charset="-122"/>
                <a:ea typeface="华文楷体" panose="02010600040101010101" pitchFamily="2" charset="-122"/>
                <a:cs typeface="Times New Roman" panose="02020603050405020304" pitchFamily="18" charset="0"/>
              </a:rPr>
              <a:t>seqList</a:t>
            </a:r>
            <a:r>
              <a:rPr lang="zh-CN" altLang="zh-CN" sz="3200" dirty="0">
                <a:latin typeface="华文楷体" panose="02010600040101010101" pitchFamily="2" charset="-122"/>
                <a:ea typeface="华文楷体" panose="02010600040101010101" pitchFamily="2" charset="-122"/>
                <a:cs typeface="Times New Roman" panose="02020603050405020304" pitchFamily="18" charset="0"/>
              </a:rPr>
              <a:t>对象作为函数形参，直接用对象形式而不用引用形式</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 </a:t>
            </a:r>
            <a:r>
              <a:rPr lang="zh-CN" altLang="zh-CN" sz="3200" dirty="0">
                <a:latin typeface="华文楷体" panose="02010600040101010101" pitchFamily="2" charset="-122"/>
                <a:ea typeface="华文楷体" panose="02010600040101010101" pitchFamily="2" charset="-122"/>
                <a:cs typeface="Times New Roman" panose="02020603050405020304" pitchFamily="18" charset="0"/>
              </a:rPr>
              <a:t>这样即浪费空间又引起</a:t>
            </a:r>
            <a:r>
              <a:rPr lang="en-US" altLang="zh-CN" sz="3200" dirty="0" err="1">
                <a:latin typeface="华文楷体" panose="02010600040101010101" pitchFamily="2" charset="-122"/>
                <a:ea typeface="华文楷体" panose="02010600040101010101" pitchFamily="2" charset="-122"/>
                <a:cs typeface="Times New Roman" panose="02020603050405020304" pitchFamily="18" charset="0"/>
              </a:rPr>
              <a:t>seqList</a:t>
            </a:r>
            <a:r>
              <a:rPr lang="zh-CN" altLang="zh-CN" sz="3200" dirty="0">
                <a:latin typeface="华文楷体" panose="02010600040101010101" pitchFamily="2" charset="-122"/>
                <a:ea typeface="华文楷体" panose="02010600040101010101" pitchFamily="2" charset="-122"/>
                <a:cs typeface="Times New Roman" panose="02020603050405020304" pitchFamily="18" charset="0"/>
              </a:rPr>
              <a:t>类的复制构造函数的执行，降低</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运行</a:t>
            </a:r>
            <a:r>
              <a:rPr lang="zh-CN" altLang="zh-CN" sz="3200" dirty="0">
                <a:latin typeface="华文楷体" panose="02010600040101010101" pitchFamily="2" charset="-122"/>
                <a:ea typeface="华文楷体" panose="02010600040101010101" pitchFamily="2" charset="-122"/>
                <a:cs typeface="Times New Roman" panose="02020603050405020304" pitchFamily="18" charset="0"/>
              </a:rPr>
              <a:t>效率。</a:t>
            </a:r>
            <a:endParaRPr lang="zh-CN"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814705" indent="-635000">
              <a:buFont typeface="+mj-lt"/>
              <a:buAutoNum type="arabicPeriod"/>
            </a:pP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insert</a:t>
            </a:r>
            <a:r>
              <a:rPr lang="zh-CN" altLang="zh-CN" sz="3200" dirty="0">
                <a:latin typeface="华文楷体" panose="02010600040101010101" pitchFamily="2" charset="-122"/>
                <a:ea typeface="华文楷体" panose="02010600040101010101" pitchFamily="2" charset="-122"/>
                <a:cs typeface="Times New Roman" panose="02020603050405020304" pitchFamily="18" charset="0"/>
              </a:rPr>
              <a:t>函数实现中忘记检查位置</a:t>
            </a:r>
            <a:r>
              <a:rPr lang="en-US" altLang="zh-CN" sz="3200" dirty="0" err="1">
                <a:latin typeface="华文楷体" panose="02010600040101010101" pitchFamily="2" charset="-122"/>
                <a:ea typeface="华文楷体" panose="02010600040101010101" pitchFamily="2" charset="-122"/>
                <a:cs typeface="Times New Roman" panose="02020603050405020304" pitchFamily="18" charset="0"/>
              </a:rPr>
              <a:t>i</a:t>
            </a:r>
            <a:r>
              <a:rPr lang="zh-CN" altLang="zh-CN" sz="3200" dirty="0">
                <a:latin typeface="华文楷体" panose="02010600040101010101" pitchFamily="2" charset="-122"/>
                <a:ea typeface="华文楷体" panose="02010600040101010101" pitchFamily="2" charset="-122"/>
                <a:cs typeface="Times New Roman" panose="02020603050405020304" pitchFamily="18" charset="0"/>
              </a:rPr>
              <a:t>的</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合理</a:t>
            </a:r>
            <a:r>
              <a:rPr lang="zh-CN" altLang="zh-CN" sz="3200" dirty="0">
                <a:latin typeface="华文楷体" panose="02010600040101010101" pitchFamily="2" charset="-122"/>
                <a:ea typeface="华文楷体" panose="02010600040101010101" pitchFamily="2" charset="-122"/>
                <a:cs typeface="Times New Roman" panose="02020603050405020304" pitchFamily="18" charset="0"/>
              </a:rPr>
              <a:t>性、忘了检查表中是否有空间可以支持插入一个新的元素等，造成算法不完整。可以试着使用分析参数、空间检查、核心操作、对其他属性的影响、正确返回的“五步口诀法”，就可以设计出一个相对完整的程序。</a:t>
            </a:r>
            <a:endParaRPr lang="zh-CN" altLang="zh-CN" sz="3200" dirty="0">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transition spd="med">
    <p:push/>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zh-CN" altLang="en-US" dirty="0">
                <a:latin typeface="华文楷体" panose="02010600040101010101" pitchFamily="2" charset="-122"/>
                <a:ea typeface="华文楷体" panose="02010600040101010101" pitchFamily="2" charset="-122"/>
              </a:rPr>
              <a:t>应用</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测试    </a:t>
            </a:r>
            <a:r>
              <a:rPr lang="en-US" altLang="zh-CN" dirty="0">
                <a:latin typeface="华文楷体" panose="02010600040101010101" pitchFamily="2" charset="-122"/>
                <a:ea typeface="华文楷体" panose="02010600040101010101" pitchFamily="2" charset="-122"/>
              </a:rPr>
              <a:t>main.cpp</a:t>
            </a:r>
            <a:endParaRPr lang="zh-CN" altLang="en-US" dirty="0">
              <a:latin typeface="华文楷体" panose="02010600040101010101" pitchFamily="2" charset="-122"/>
              <a:ea typeface="华文楷体" panose="02010600040101010101" pitchFamily="2" charset="-122"/>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6"/>
          <p:cNvSpPr>
            <a:spLocks noChangeArrowheads="1"/>
          </p:cNvSpPr>
          <p:nvPr/>
        </p:nvSpPr>
        <p:spPr bwMode="auto">
          <a:xfrm>
            <a:off x="152400" y="1549652"/>
            <a:ext cx="11834191"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3200" dirty="0">
                <a:latin typeface="Times New Roman" panose="02020603050405020304" pitchFamily="18" charset="0"/>
                <a:cs typeface="Times New Roman" panose="02020603050405020304" pitchFamily="18" charset="0"/>
              </a:rPr>
              <a:t>#include &lt;</a:t>
            </a:r>
            <a:r>
              <a:rPr lang="en-US" altLang="zh-CN" sz="3200" dirty="0" err="1">
                <a:latin typeface="Times New Roman" panose="02020603050405020304" pitchFamily="18" charset="0"/>
                <a:cs typeface="Times New Roman" panose="02020603050405020304" pitchFamily="18" charset="0"/>
              </a:rPr>
              <a:t>iostream</a:t>
            </a:r>
            <a:r>
              <a:rPr lang="en-US" altLang="zh-CN" sz="3200" dirty="0">
                <a:latin typeface="Times New Roman" panose="02020603050405020304" pitchFamily="18" charset="0"/>
                <a:cs typeface="Times New Roman" panose="02020603050405020304" pitchFamily="18" charset="0"/>
              </a:rPr>
              <a:t>&gt;</a:t>
            </a:r>
            <a:endParaRPr lang="zh-CN" altLang="zh-CN" sz="3200" dirty="0">
              <a:latin typeface="Times New Roman" panose="02020603050405020304" pitchFamily="18" charset="0"/>
              <a:cs typeface="Times New Roman" panose="02020603050405020304" pitchFamily="18" charset="0"/>
            </a:endParaRPr>
          </a:p>
          <a:p>
            <a:r>
              <a:rPr lang="en-US" altLang="zh-CN" sz="3200" dirty="0">
                <a:latin typeface="Times New Roman" panose="02020603050405020304" pitchFamily="18" charset="0"/>
                <a:cs typeface="Times New Roman" panose="02020603050405020304" pitchFamily="18" charset="0"/>
              </a:rPr>
              <a:t>#include "</a:t>
            </a:r>
            <a:r>
              <a:rPr lang="en-US" altLang="zh-CN" sz="3200" dirty="0" err="1">
                <a:latin typeface="Times New Roman" panose="02020603050405020304" pitchFamily="18" charset="0"/>
                <a:cs typeface="Times New Roman" panose="02020603050405020304" pitchFamily="18" charset="0"/>
              </a:rPr>
              <a:t>seqlist.h</a:t>
            </a:r>
            <a:r>
              <a:rPr lang="en-US" altLang="zh-CN" sz="3200" dirty="0">
                <a:latin typeface="Times New Roman" panose="02020603050405020304" pitchFamily="18" charset="0"/>
                <a:cs typeface="Times New Roman" panose="02020603050405020304" pitchFamily="18" charset="0"/>
              </a:rPr>
              <a:t>"</a:t>
            </a:r>
            <a:endParaRPr lang="zh-CN" altLang="zh-CN" sz="3200" dirty="0">
              <a:latin typeface="Times New Roman" panose="02020603050405020304" pitchFamily="18" charset="0"/>
              <a:cs typeface="Times New Roman" panose="02020603050405020304" pitchFamily="18" charset="0"/>
            </a:endParaRPr>
          </a:p>
          <a:p>
            <a:r>
              <a:rPr lang="en-US" altLang="zh-CN" sz="3200" dirty="0">
                <a:latin typeface="Times New Roman" panose="02020603050405020304" pitchFamily="18" charset="0"/>
                <a:cs typeface="Times New Roman" panose="02020603050405020304" pitchFamily="18" charset="0"/>
              </a:rPr>
              <a:t>using namespace </a:t>
            </a:r>
            <a:r>
              <a:rPr lang="en-US" altLang="zh-CN" sz="3200" dirty="0" err="1">
                <a:latin typeface="Times New Roman" panose="02020603050405020304" pitchFamily="18" charset="0"/>
                <a:cs typeface="Times New Roman" panose="02020603050405020304" pitchFamily="18" charset="0"/>
              </a:rPr>
              <a:t>std</a:t>
            </a:r>
            <a:r>
              <a:rPr lang="en-US" altLang="zh-CN" sz="3200" dirty="0">
                <a:latin typeface="Times New Roman" panose="02020603050405020304" pitchFamily="18" charset="0"/>
                <a:cs typeface="Times New Roman" panose="02020603050405020304" pitchFamily="18" charset="0"/>
              </a:rPr>
              <a:t>;</a:t>
            </a:r>
            <a:endParaRPr lang="zh-CN" altLang="zh-CN" sz="3200" dirty="0">
              <a:latin typeface="Times New Roman" panose="02020603050405020304" pitchFamily="18" charset="0"/>
              <a:cs typeface="Times New Roman" panose="02020603050405020304" pitchFamily="18" charset="0"/>
            </a:endParaRPr>
          </a:p>
          <a:p>
            <a:r>
              <a:rPr lang="en-US" altLang="zh-CN" sz="3200" dirty="0">
                <a:latin typeface="Times New Roman" panose="02020603050405020304" pitchFamily="18" charset="0"/>
                <a:cs typeface="Times New Roman" panose="02020603050405020304" pitchFamily="18" charset="0"/>
              </a:rPr>
              <a:t> </a:t>
            </a:r>
            <a:endParaRPr lang="zh-CN" altLang="zh-CN" sz="3200" dirty="0">
              <a:latin typeface="Times New Roman" panose="02020603050405020304" pitchFamily="18" charset="0"/>
              <a:cs typeface="Times New Roman" panose="02020603050405020304" pitchFamily="18" charset="0"/>
            </a:endParaRPr>
          </a:p>
          <a:p>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a:t>
            </a:r>
            <a:r>
              <a:rPr lang="zh-CN" altLang="zh-CN" sz="3200" dirty="0">
                <a:latin typeface="华文楷体" panose="02010600040101010101" pitchFamily="2" charset="-122"/>
                <a:ea typeface="华文楷体" panose="02010600040101010101" pitchFamily="2" charset="-122"/>
                <a:cs typeface="Times New Roman" panose="02020603050405020304" pitchFamily="18" charset="0"/>
              </a:rPr>
              <a:t>求两个正整数集合的交集</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，用线性表处理集合问题。</a:t>
            </a:r>
            <a:endParaRPr lang="zh-CN" altLang="zh-CN" sz="3200" dirty="0">
              <a:latin typeface="华文楷体" panose="02010600040101010101" pitchFamily="2" charset="-122"/>
              <a:ea typeface="华文楷体" panose="02010600040101010101" pitchFamily="2" charset="-122"/>
              <a:cs typeface="Times New Roman" panose="02020603050405020304" pitchFamily="18" charset="0"/>
            </a:endParaRPr>
          </a:p>
          <a:p>
            <a:r>
              <a:rPr lang="en-US" altLang="zh-CN" sz="3200" dirty="0" err="1">
                <a:latin typeface="Times New Roman" panose="02020603050405020304" pitchFamily="18" charset="0"/>
                <a:cs typeface="Times New Roman" panose="02020603050405020304" pitchFamily="18" charset="0"/>
              </a:rPr>
              <a:t>int</a:t>
            </a:r>
            <a:r>
              <a:rPr lang="en-US" altLang="zh-CN" sz="3200" dirty="0">
                <a:latin typeface="Times New Roman" panose="02020603050405020304" pitchFamily="18" charset="0"/>
                <a:cs typeface="Times New Roman" panose="02020603050405020304" pitchFamily="18" charset="0"/>
              </a:rPr>
              <a:t> main()</a:t>
            </a:r>
            <a:endParaRPr lang="zh-CN" altLang="zh-CN" sz="3200" dirty="0">
              <a:latin typeface="Times New Roman" panose="02020603050405020304" pitchFamily="18" charset="0"/>
              <a:cs typeface="Times New Roman" panose="02020603050405020304" pitchFamily="18" charset="0"/>
            </a:endParaRPr>
          </a:p>
          <a:p>
            <a:r>
              <a:rPr lang="en-US" altLang="zh-CN" sz="3200" dirty="0">
                <a:latin typeface="Times New Roman" panose="02020603050405020304" pitchFamily="18" charset="0"/>
                <a:cs typeface="Times New Roman" panose="02020603050405020304" pitchFamily="18" charset="0"/>
              </a:rPr>
              <a:t>{</a:t>
            </a:r>
            <a:endParaRPr lang="zh-CN" altLang="zh-CN" sz="3200" dirty="0">
              <a:latin typeface="Times New Roman" panose="02020603050405020304" pitchFamily="18" charset="0"/>
              <a:cs typeface="Times New Roman" panose="02020603050405020304" pitchFamily="18" charset="0"/>
            </a:endParaRPr>
          </a:p>
          <a:p>
            <a:r>
              <a:rPr lang="en-US" altLang="zh-CN" sz="3200" dirty="0">
                <a:latin typeface="Times New Roman" panose="02020603050405020304" pitchFamily="18" charset="0"/>
                <a:cs typeface="Times New Roman" panose="02020603050405020304" pitchFamily="18" charset="0"/>
              </a:rPr>
              <a:t>    </a:t>
            </a:r>
            <a:r>
              <a:rPr lang="en-US" altLang="zh-CN" sz="3200" dirty="0" err="1">
                <a:latin typeface="Times New Roman" panose="02020603050405020304" pitchFamily="18" charset="0"/>
                <a:cs typeface="Times New Roman" panose="02020603050405020304" pitchFamily="18" charset="0"/>
              </a:rPr>
              <a:t>seqList</a:t>
            </a:r>
            <a:r>
              <a:rPr lang="en-US" altLang="zh-CN" sz="3200" dirty="0">
                <a:latin typeface="Times New Roman" panose="02020603050405020304" pitchFamily="18" charset="0"/>
                <a:cs typeface="Times New Roman" panose="02020603050405020304" pitchFamily="18" charset="0"/>
              </a:rPr>
              <a:t>&lt;</a:t>
            </a:r>
            <a:r>
              <a:rPr lang="en-US" altLang="zh-CN" sz="3200" dirty="0" err="1">
                <a:latin typeface="Times New Roman" panose="02020603050405020304" pitchFamily="18" charset="0"/>
                <a:cs typeface="Times New Roman" panose="02020603050405020304" pitchFamily="18" charset="0"/>
              </a:rPr>
              <a:t>int</a:t>
            </a:r>
            <a:r>
              <a:rPr lang="en-US" altLang="zh-CN" sz="3200" dirty="0">
                <a:latin typeface="Times New Roman" panose="02020603050405020304" pitchFamily="18" charset="0"/>
                <a:cs typeface="Times New Roman" panose="02020603050405020304" pitchFamily="18" charset="0"/>
              </a:rPr>
              <a:t>&gt; list1(20), list2(20), list3(20); </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实例化对象</a:t>
            </a:r>
            <a:endParaRPr lang="zh-CN" altLang="zh-CN" sz="3200" dirty="0">
              <a:latin typeface="华文楷体" panose="02010600040101010101" pitchFamily="2" charset="-122"/>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cs typeface="Times New Roman" panose="02020603050405020304" pitchFamily="18" charset="0"/>
              </a:rPr>
              <a:t>    </a:t>
            </a:r>
            <a:r>
              <a:rPr lang="en-US" altLang="zh-CN" sz="3200" dirty="0" err="1">
                <a:latin typeface="Times New Roman" panose="02020603050405020304" pitchFamily="18" charset="0"/>
                <a:cs typeface="Times New Roman" panose="02020603050405020304" pitchFamily="18" charset="0"/>
              </a:rPr>
              <a:t>int</a:t>
            </a:r>
            <a:r>
              <a:rPr lang="en-US" altLang="zh-CN" sz="3200" dirty="0">
                <a:latin typeface="Times New Roman" panose="02020603050405020304" pitchFamily="18" charset="0"/>
                <a:cs typeface="Times New Roman" panose="02020603050405020304" pitchFamily="18" charset="0"/>
              </a:rPr>
              <a:t> </a:t>
            </a:r>
            <a:r>
              <a:rPr lang="en-US" altLang="zh-CN" sz="3200" dirty="0" err="1">
                <a:latin typeface="Times New Roman" panose="02020603050405020304" pitchFamily="18" charset="0"/>
                <a:cs typeface="Times New Roman" panose="02020603050405020304" pitchFamily="18" charset="0"/>
              </a:rPr>
              <a:t>i</a:t>
            </a:r>
            <a:r>
              <a:rPr lang="en-US" altLang="zh-CN" sz="3200" dirty="0">
                <a:latin typeface="Times New Roman" panose="02020603050405020304" pitchFamily="18" charset="0"/>
                <a:cs typeface="Times New Roman" panose="02020603050405020304" pitchFamily="18" charset="0"/>
              </a:rPr>
              <a:t>, j, x;</a:t>
            </a:r>
            <a:endParaRPr lang="zh-CN" altLang="zh-CN" sz="3200" dirty="0">
              <a:latin typeface="Times New Roman" panose="02020603050405020304" pitchFamily="18" charset="0"/>
              <a:cs typeface="Times New Roman" panose="02020603050405020304" pitchFamily="18" charset="0"/>
            </a:endParaRPr>
          </a:p>
          <a:p>
            <a:r>
              <a:rPr lang="en-US" altLang="zh-CN" sz="3200" dirty="0">
                <a:latin typeface="Times New Roman" panose="02020603050405020304" pitchFamily="18" charset="0"/>
                <a:cs typeface="Times New Roman" panose="02020603050405020304" pitchFamily="18" charset="0"/>
              </a:rPr>
              <a:t>    </a:t>
            </a:r>
            <a:r>
              <a:rPr lang="en-US" altLang="zh-CN" sz="3200" dirty="0" err="1">
                <a:latin typeface="Times New Roman" panose="02020603050405020304" pitchFamily="18" charset="0"/>
                <a:cs typeface="Times New Roman" panose="02020603050405020304" pitchFamily="18" charset="0"/>
              </a:rPr>
              <a:t>int</a:t>
            </a:r>
            <a:r>
              <a:rPr lang="en-US" altLang="zh-CN" sz="3200" dirty="0">
                <a:latin typeface="Times New Roman" panose="02020603050405020304" pitchFamily="18" charset="0"/>
                <a:cs typeface="Times New Roman" panose="02020603050405020304" pitchFamily="18" charset="0"/>
              </a:rPr>
              <a:t> len1,len3;</a:t>
            </a:r>
            <a:endParaRPr lang="zh-CN" altLang="zh-CN" sz="3200" dirty="0">
              <a:latin typeface="Times New Roman" panose="02020603050405020304" pitchFamily="18" charset="0"/>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transition spd="med">
    <p:push/>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6"/>
          <p:cNvSpPr>
            <a:spLocks noChangeArrowheads="1"/>
          </p:cNvSpPr>
          <p:nvPr/>
        </p:nvSpPr>
        <p:spPr bwMode="auto">
          <a:xfrm>
            <a:off x="152400" y="1423326"/>
            <a:ext cx="11834191"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latin typeface="华文楷体" panose="02010600040101010101" pitchFamily="2" charset="-122"/>
                <a:ea typeface="华文楷体" panose="02010600040101010101" pitchFamily="2" charset="-122"/>
                <a:cs typeface="Times New Roman" panose="02020603050405020304" pitchFamily="18" charset="0"/>
              </a:rPr>
              <a:t>    //</a:t>
            </a:r>
            <a:r>
              <a:rPr lang="zh-CN" altLang="zh-CN" sz="2800" dirty="0">
                <a:latin typeface="华文楷体" panose="02010600040101010101" pitchFamily="2" charset="-122"/>
                <a:ea typeface="华文楷体" panose="02010600040101010101" pitchFamily="2" charset="-122"/>
                <a:cs typeface="Times New Roman" panose="02020603050405020304" pitchFamily="18" charset="0"/>
              </a:rPr>
              <a:t>输入第一个整数集合中的元素，输入零结束：</a:t>
            </a:r>
            <a:endParaRPr lang="zh-CN" altLang="zh-CN" sz="2800" dirty="0">
              <a:latin typeface="华文楷体" panose="02010600040101010101" pitchFamily="2" charset="-122"/>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i</a:t>
            </a:r>
            <a:r>
              <a:rPr lang="en-US" altLang="zh-CN" sz="2800" dirty="0">
                <a:latin typeface="Times New Roman" panose="02020603050405020304" pitchFamily="18" charset="0"/>
                <a:cs typeface="Times New Roman" panose="02020603050405020304" pitchFamily="18" charset="0"/>
              </a:rPr>
              <a:t>=1;</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cout</a:t>
            </a:r>
            <a:r>
              <a:rPr lang="en-US" altLang="zh-CN" sz="2800" dirty="0">
                <a:latin typeface="华文楷体" panose="02010600040101010101" pitchFamily="2" charset="-122"/>
                <a:ea typeface="华文楷体" panose="02010600040101010101" pitchFamily="2" charset="-122"/>
                <a:cs typeface="Times New Roman" panose="02020603050405020304" pitchFamily="18" charset="0"/>
              </a:rPr>
              <a:t>&lt;&lt;"</a:t>
            </a:r>
            <a:r>
              <a:rPr lang="zh-CN" altLang="zh-CN" sz="2800" dirty="0">
                <a:latin typeface="华文楷体" panose="02010600040101010101" pitchFamily="2" charset="-122"/>
                <a:ea typeface="华文楷体" panose="02010600040101010101" pitchFamily="2" charset="-122"/>
                <a:cs typeface="Times New Roman" panose="02020603050405020304" pitchFamily="18" charset="0"/>
              </a:rPr>
              <a:t>输入第一个正整数集合，以零为结束标志：</a:t>
            </a:r>
            <a:r>
              <a:rPr lang="en-US" altLang="zh-CN" sz="2800" dirty="0">
                <a:latin typeface="华文楷体" panose="02010600040101010101" pitchFamily="2" charset="-122"/>
                <a:ea typeface="华文楷体" panose="02010600040101010101" pitchFamily="2" charset="-122"/>
                <a:cs typeface="Times New Roman" panose="02020603050405020304" pitchFamily="18" charset="0"/>
              </a:rPr>
              <a:t>";</a:t>
            </a:r>
            <a:endParaRPr lang="zh-CN" altLang="zh-CN" sz="2800" dirty="0">
              <a:latin typeface="华文楷体" panose="02010600040101010101" pitchFamily="2" charset="-122"/>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cin</a:t>
            </a:r>
            <a:r>
              <a:rPr lang="en-US" altLang="zh-CN" sz="2800" dirty="0">
                <a:latin typeface="Times New Roman" panose="02020603050405020304" pitchFamily="18" charset="0"/>
                <a:cs typeface="Times New Roman" panose="02020603050405020304" pitchFamily="18" charset="0"/>
              </a:rPr>
              <a:t>&gt;&gt;x;</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while (x!=0)</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list1.insert(</a:t>
            </a:r>
            <a:r>
              <a:rPr lang="en-US" altLang="zh-CN" sz="2800" dirty="0" err="1">
                <a:latin typeface="Times New Roman" panose="02020603050405020304" pitchFamily="18" charset="0"/>
                <a:cs typeface="Times New Roman" panose="02020603050405020304" pitchFamily="18" charset="0"/>
              </a:rPr>
              <a:t>i,x</a:t>
            </a:r>
            <a:r>
              <a:rPr lang="en-US" altLang="zh-CN" sz="2800" dirty="0">
                <a:latin typeface="Times New Roman" panose="02020603050405020304" pitchFamily="18" charset="0"/>
                <a:cs typeface="Times New Roman" panose="02020603050405020304" pitchFamily="18" charset="0"/>
              </a:rPr>
              <a:t>);</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i</a:t>
            </a:r>
            <a:r>
              <a:rPr lang="en-US" altLang="zh-CN" sz="2800" dirty="0">
                <a:latin typeface="Times New Roman" panose="02020603050405020304" pitchFamily="18" charset="0"/>
                <a:cs typeface="Times New Roman" panose="02020603050405020304" pitchFamily="18" charset="0"/>
              </a:rPr>
              <a:t>++;</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cin</a:t>
            </a:r>
            <a:r>
              <a:rPr lang="en-US" altLang="zh-CN" sz="2800" dirty="0">
                <a:latin typeface="Times New Roman" panose="02020603050405020304" pitchFamily="18" charset="0"/>
                <a:cs typeface="Times New Roman" panose="02020603050405020304" pitchFamily="18" charset="0"/>
              </a:rPr>
              <a:t>&gt;&gt;x;</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endParaRPr lang="zh-CN" altLang="zh-CN" sz="4400" dirty="0">
              <a:latin typeface="Times New Roman" panose="02020603050405020304" pitchFamily="18" charset="0"/>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transition spd="med">
    <p:push/>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6"/>
          <p:cNvSpPr>
            <a:spLocks noChangeArrowheads="1"/>
          </p:cNvSpPr>
          <p:nvPr/>
        </p:nvSpPr>
        <p:spPr bwMode="auto">
          <a:xfrm>
            <a:off x="304800" y="1466490"/>
            <a:ext cx="10833652"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输入第二个整数集合中的元素，输入零结束：</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&lt;&lt;"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输入第一个正整数集合，以零为结束标志：</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cin</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&gt;&gt;x;</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while (x!=0)</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list2.insert(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i,x</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cin</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&gt;&gt;x;</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transition spd="med">
    <p:push/>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6"/>
          <p:cNvSpPr>
            <a:spLocks noChangeArrowheads="1"/>
          </p:cNvSpPr>
          <p:nvPr/>
        </p:nvSpPr>
        <p:spPr bwMode="auto">
          <a:xfrm>
            <a:off x="152400" y="1120957"/>
            <a:ext cx="10833652"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4000" dirty="0"/>
              <a:t>   </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求</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list1,list2</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的交集，结果存入</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list3</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len1 = list1.length();</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j=1;</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&lt;=len1;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x=list1.get(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(list2.find(x)!=0)</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list3.insert(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j,x</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transition spd="med">
    <p:push/>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6"/>
          <p:cNvSpPr>
            <a:spLocks noChangeArrowheads="1"/>
          </p:cNvSpPr>
          <p:nvPr/>
        </p:nvSpPr>
        <p:spPr bwMode="auto">
          <a:xfrm>
            <a:off x="304800" y="1262367"/>
            <a:ext cx="10833652"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40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显示</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list3</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中的元素</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&lt;&lt;"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两个集合的交集元素为：</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len3 = list3.length();</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&lt;=len3;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x=list3.get(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&lt;&lt;x&lt;&lt;"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endl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return 0;</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40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椭圆 1"/>
          <p:cNvSpPr/>
          <p:nvPr/>
        </p:nvSpPr>
        <p:spPr>
          <a:xfrm>
            <a:off x="11534503" y="6387737"/>
            <a:ext cx="391886" cy="36576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小结：</a:t>
            </a:r>
            <a:endParaRPr lang="zh-CN" altLang="en-US" dirty="0">
              <a:latin typeface="华文楷体" panose="02010600040101010101" pitchFamily="2" charset="-122"/>
              <a:ea typeface="华文楷体" panose="02010600040101010101" pitchFamily="2" charset="-122"/>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6"/>
          <p:cNvSpPr>
            <a:spLocks noChangeArrowheads="1"/>
          </p:cNvSpPr>
          <p:nvPr/>
        </p:nvSpPr>
        <p:spPr bwMode="auto">
          <a:xfrm>
            <a:off x="152400" y="1735913"/>
            <a:ext cx="11834191"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814705" indent="-635000">
              <a:buFont typeface="+mj-lt"/>
              <a:buAutoNum type="arabicPeriod"/>
            </a:pP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线性表的顺序存储</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连续的空间、</a:t>
            </a:r>
            <a:r>
              <a:rPr lang="zh-CN" altLang="en-US" sz="3200" u="sng" dirty="0">
                <a:latin typeface="华文楷体" panose="02010600040101010101" pitchFamily="2" charset="-122"/>
                <a:ea typeface="华文楷体" panose="02010600040101010101" pitchFamily="2" charset="-122"/>
                <a:cs typeface="Times New Roman" panose="02020603050405020304" pitchFamily="18" charset="0"/>
              </a:rPr>
              <a:t>空间</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先后表达</a:t>
            </a:r>
            <a:r>
              <a:rPr lang="zh-CN" altLang="en-US" sz="3200" u="sng" dirty="0">
                <a:latin typeface="华文楷体" panose="02010600040101010101" pitchFamily="2" charset="-122"/>
                <a:ea typeface="华文楷体" panose="02010600040101010101" pitchFamily="2" charset="-122"/>
                <a:cs typeface="Times New Roman" panose="02020603050405020304" pitchFamily="18" charset="0"/>
              </a:rPr>
              <a:t>元素</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先后</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179705" indent="0"/>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2.   </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基本操作实现效率：查找、插入、删除为</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O(n), </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其余</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O(1)</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179705" indent="0"/>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                                         </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插入和删除引起大量数据移动</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694055" indent="-514350">
              <a:buAutoNum type="arabicPeriod" startAt="3"/>
            </a:pP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五步口诀法写完整程序</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971550" lvl="1" indent="-514350">
              <a:buFont typeface="+mj-ea"/>
              <a:buAutoNum type="circleNumDbPlain"/>
            </a:pP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参数检查</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971550" lvl="1" indent="-514350">
              <a:buAutoNum type="circleNumDbPlain"/>
            </a:pP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空间是否支持</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971550" lvl="1" indent="-514350">
              <a:buFont typeface="+mj-ea"/>
              <a:buAutoNum type="circleNumDbPlain"/>
            </a:pP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核心操作</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971550" lvl="1" indent="-514350">
              <a:buAutoNum type="circleNumDbPlain"/>
            </a:pP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对其他属性的影响</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971550" lvl="1" indent="-514350">
              <a:buAutoNum type="circleNumDbPlain"/>
            </a:pP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正确返回</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transition spd="med">
    <p:push/>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44837" y="1692386"/>
            <a:ext cx="3941876" cy="4422664"/>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线性表</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顺序表及实现</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链表及实现</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一元多项式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稀疏矩阵</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字符串*</a:t>
            </a:r>
            <a:endParaRPr lang="en-US" altLang="zh-CN" sz="28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558862"/>
            <a:ext cx="11162883" cy="4894189"/>
          </a:xfrm>
        </p:spPr>
        <p:txBody>
          <a:bodyPr>
            <a:normAutofit/>
          </a:bodyPr>
          <a:lstStyle/>
          <a:p>
            <a:pPr marL="0" indent="0">
              <a:lnSpc>
                <a:spcPct val="115000"/>
              </a:lnSpc>
              <a:buNone/>
              <a:defRPr/>
            </a:pPr>
            <a:r>
              <a:rPr lang="zh-CN" altLang="zh-CN" sz="2800" b="0" dirty="0">
                <a:latin typeface="华文楷体" panose="02010600040101010101" pitchFamily="2" charset="-122"/>
                <a:ea typeface="华文楷体" panose="02010600040101010101" pitchFamily="2" charset="-122"/>
              </a:rPr>
              <a:t>顺序表插入、删除时间代价的分析，可以看出其时间复杂度是线性阶的，而且会引起大量已存储元素的位置移动。</a:t>
            </a:r>
            <a:endParaRPr lang="en-US" altLang="zh-CN" sz="2800" b="0" dirty="0">
              <a:latin typeface="华文楷体" panose="02010600040101010101" pitchFamily="2" charset="-122"/>
              <a:ea typeface="华文楷体" panose="02010600040101010101" pitchFamily="2" charset="-122"/>
            </a:endParaRPr>
          </a:p>
          <a:p>
            <a:pPr marL="0" indent="0">
              <a:lnSpc>
                <a:spcPct val="115000"/>
              </a:lnSpc>
              <a:buNone/>
              <a:defRPr/>
            </a:pPr>
            <a:r>
              <a:rPr lang="zh-CN" altLang="en-US" sz="2800" dirty="0">
                <a:latin typeface="华文楷体" panose="02010600040101010101" pitchFamily="2" charset="-122"/>
                <a:ea typeface="华文楷体" panose="02010600040101010101" pitchFamily="2" charset="-122"/>
              </a:rPr>
              <a:t>改进方法：链式结构</a:t>
            </a:r>
            <a:endParaRPr lang="en-US" altLang="zh-CN" sz="2800" dirty="0">
              <a:latin typeface="华文楷体" panose="02010600040101010101" pitchFamily="2" charset="-122"/>
              <a:ea typeface="华文楷体" panose="02010600040101010101" pitchFamily="2" charset="-122"/>
            </a:endParaRPr>
          </a:p>
          <a:p>
            <a:pPr marL="0" indent="0">
              <a:lnSpc>
                <a:spcPct val="115000"/>
              </a:lnSpc>
              <a:buNone/>
              <a:defRPr/>
            </a:pPr>
            <a:endParaRPr lang="en-US" altLang="zh-CN" sz="2800" b="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zh-CN" sz="2800" b="0" dirty="0">
                <a:latin typeface="华文楷体" panose="02010600040101010101" pitchFamily="2" charset="-122"/>
                <a:ea typeface="华文楷体" panose="02010600040101010101" pitchFamily="2" charset="-122"/>
              </a:rPr>
              <a:t>各个元素的物理存放位置在存储器中是任意的，不一定连续。</a:t>
            </a:r>
            <a:endParaRPr lang="en-US" altLang="zh-CN" sz="2800" b="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zh-CN" sz="2800" b="0" dirty="0">
                <a:latin typeface="华文楷体" panose="02010600040101010101" pitchFamily="2" charset="-122"/>
                <a:ea typeface="华文楷体" panose="02010600040101010101" pitchFamily="2" charset="-122"/>
              </a:rPr>
              <a:t>每个元素放在一个独立的存储单元中，元素间的逻辑关系依靠存储单元中附加指针来</a:t>
            </a:r>
            <a:r>
              <a:rPr lang="zh-CN" altLang="en-US" sz="2800" b="0" dirty="0">
                <a:latin typeface="华文楷体" panose="02010600040101010101" pitchFamily="2" charset="-122"/>
                <a:ea typeface="华文楷体" panose="02010600040101010101" pitchFamily="2" charset="-122"/>
              </a:rPr>
              <a:t>完成</a:t>
            </a:r>
            <a:r>
              <a:rPr lang="zh-CN" altLang="zh-CN"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zh-CN" sz="2800" b="0" dirty="0">
                <a:latin typeface="华文楷体" panose="02010600040101010101" pitchFamily="2" charset="-122"/>
                <a:ea typeface="华文楷体" panose="02010600040101010101" pitchFamily="2" charset="-122"/>
              </a:rPr>
              <a:t>采用链式存储结构存储的线性表，称为</a:t>
            </a:r>
            <a:r>
              <a:rPr lang="zh-CN" altLang="zh-CN" sz="2800" dirty="0">
                <a:latin typeface="华文楷体" panose="02010600040101010101" pitchFamily="2" charset="-122"/>
                <a:ea typeface="华文楷体" panose="02010600040101010101" pitchFamily="2" charset="-122"/>
              </a:rPr>
              <a:t>链表</a:t>
            </a:r>
            <a:r>
              <a:rPr lang="zh-CN" altLang="en-US"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链式结构</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链表</a:t>
            </a:r>
            <a:r>
              <a:rPr lang="zh-CN" altLang="zh-CN" dirty="0">
                <a:latin typeface="华文楷体" panose="02010600040101010101" pitchFamily="2" charset="-122"/>
                <a:ea typeface="华文楷体" panose="02010600040101010101" pitchFamily="2" charset="-122"/>
              </a:rPr>
              <a:t>的存储映像图</a:t>
            </a:r>
            <a:endParaRPr lang="zh-CN" altLang="en-US" dirty="0">
              <a:latin typeface="华文楷体" panose="02010600040101010101" pitchFamily="2" charset="-122"/>
              <a:ea typeface="华文楷体" panose="02010600040101010101" pitchFamily="2" charset="-122"/>
            </a:endParaRPr>
          </a:p>
        </p:txBody>
      </p:sp>
      <p:sp>
        <p:nvSpPr>
          <p:cNvPr id="3" name="文本框 2"/>
          <p:cNvSpPr txBox="1"/>
          <p:nvPr/>
        </p:nvSpPr>
        <p:spPr>
          <a:xfrm>
            <a:off x="516836" y="5701162"/>
            <a:ext cx="8130207" cy="523220"/>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为了清晰看出逻辑关系，以后链表用图</a:t>
            </a:r>
            <a:r>
              <a:rPr lang="en-US" altLang="zh-CN" sz="2800" dirty="0">
                <a:latin typeface="华文楷体" panose="02010600040101010101" pitchFamily="2" charset="-122"/>
                <a:ea typeface="华文楷体" panose="02010600040101010101" pitchFamily="2" charset="-122"/>
              </a:rPr>
              <a:t>(b)</a:t>
            </a:r>
            <a:r>
              <a:rPr lang="zh-CN" altLang="en-US" sz="2800" dirty="0">
                <a:latin typeface="华文楷体" panose="02010600040101010101" pitchFamily="2" charset="-122"/>
                <a:ea typeface="华文楷体" panose="02010600040101010101" pitchFamily="2" charset="-122"/>
              </a:rPr>
              <a:t>来表示。</a:t>
            </a:r>
            <a:endParaRPr lang="zh-CN" altLang="en-US" sz="2800"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1675434" y="1534324"/>
            <a:ext cx="7945644" cy="1805223"/>
          </a:xfrm>
          <a:prstGeom prst="rect">
            <a:avLst/>
          </a:prstGeom>
          <a:noFill/>
          <a:ln>
            <a:noFill/>
          </a:ln>
        </p:spPr>
      </p:pic>
      <p:sp>
        <p:nvSpPr>
          <p:cNvPr id="2" name="文本框 1"/>
          <p:cNvSpPr txBox="1"/>
          <p:nvPr/>
        </p:nvSpPr>
        <p:spPr>
          <a:xfrm>
            <a:off x="516836" y="2175325"/>
            <a:ext cx="690218" cy="523220"/>
          </a:xfrm>
          <a:prstGeom prst="rect">
            <a:avLst/>
          </a:prstGeom>
          <a:noFill/>
        </p:spPr>
        <p:txBody>
          <a:bodyPr wrap="square" rtlCol="0">
            <a:spAutoFit/>
          </a:bodyPr>
          <a:lstStyle/>
          <a:p>
            <a:r>
              <a:rPr lang="en-US" altLang="zh-CN" sz="2800" dirty="0"/>
              <a:t>(a) </a:t>
            </a:r>
            <a:endParaRPr lang="zh-CN" altLang="en-US" dirty="0"/>
          </a:p>
        </p:txBody>
      </p:sp>
      <p:sp>
        <p:nvSpPr>
          <p:cNvPr id="8" name="文本框 7"/>
          <p:cNvSpPr txBox="1"/>
          <p:nvPr/>
        </p:nvSpPr>
        <p:spPr>
          <a:xfrm>
            <a:off x="516836" y="3841301"/>
            <a:ext cx="662609" cy="523220"/>
          </a:xfrm>
          <a:prstGeom prst="rect">
            <a:avLst/>
          </a:prstGeom>
          <a:noFill/>
        </p:spPr>
        <p:txBody>
          <a:bodyPr wrap="square" rtlCol="0">
            <a:spAutoFit/>
          </a:bodyPr>
          <a:lstStyle/>
          <a:p>
            <a:r>
              <a:rPr lang="en-US" altLang="zh-CN" sz="2800" dirty="0"/>
              <a:t>(b)</a:t>
            </a:r>
            <a:endParaRPr lang="zh-CN" altLang="en-US" dirty="0"/>
          </a:p>
        </p:txBody>
      </p:sp>
      <p:pic>
        <p:nvPicPr>
          <p:cNvPr id="4" name="图片 3"/>
          <p:cNvPicPr>
            <a:picLocks noChangeAspect="1"/>
          </p:cNvPicPr>
          <p:nvPr/>
        </p:nvPicPr>
        <p:blipFill>
          <a:blip r:embed="rId2"/>
          <a:stretch>
            <a:fillRect/>
          </a:stretch>
        </p:blipFill>
        <p:spPr>
          <a:xfrm>
            <a:off x="1675434" y="3841301"/>
            <a:ext cx="7257278" cy="1319505"/>
          </a:xfrm>
          <a:prstGeom prst="rect">
            <a:avLst/>
          </a:prstGeom>
        </p:spPr>
      </p:pic>
      <p:sp>
        <p:nvSpPr>
          <p:cNvPr id="11" name="文本框 10"/>
          <p:cNvSpPr txBox="1"/>
          <p:nvPr/>
        </p:nvSpPr>
        <p:spPr>
          <a:xfrm>
            <a:off x="5508267" y="5139340"/>
            <a:ext cx="5257499" cy="523220"/>
          </a:xfrm>
          <a:prstGeom prst="rect">
            <a:avLst/>
          </a:prstGeom>
          <a:noFill/>
        </p:spPr>
        <p:txBody>
          <a:bodyPr wrap="square" rtlCol="0">
            <a:spAutoFit/>
          </a:bodyPr>
          <a:lstStyle/>
          <a:p>
            <a:r>
              <a:rPr lang="zh-CN" altLang="en-US" sz="2800" dirty="0">
                <a:solidFill>
                  <a:srgbClr val="FF0000"/>
                </a:solidFill>
                <a:latin typeface="华文楷体" panose="02010600040101010101" pitchFamily="2" charset="-122"/>
                <a:ea typeface="华文楷体" panose="02010600040101010101" pitchFamily="2" charset="-122"/>
              </a:rPr>
              <a:t>面临：结构体和指针的挑战！</a:t>
            </a:r>
            <a:endParaRPr lang="zh-CN" altLang="en-US" sz="2800"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Rot="1" noChangeArrowheads="1"/>
          </p:cNvSpPr>
          <p:nvPr>
            <p:ph type="title"/>
          </p:nvPr>
        </p:nvSpPr>
        <p:spPr>
          <a:xfrm>
            <a:off x="216543" y="664958"/>
            <a:ext cx="9331281" cy="779691"/>
          </a:xfrm>
        </p:spPr>
        <p:txBody>
          <a:bodyPr>
            <a:normAutofit/>
          </a:bodyPr>
          <a:lstStyle/>
          <a:p>
            <a:r>
              <a:rPr lang="zh-CN" altLang="en-US" dirty="0">
                <a:latin typeface="华文楷体" panose="02010600040101010101" pitchFamily="2" charset="-122"/>
                <a:ea typeface="华文楷体" panose="02010600040101010101" pitchFamily="2" charset="-122"/>
              </a:rPr>
              <a:t>结构类型，结构变量，结构指针</a:t>
            </a:r>
            <a:endParaRPr lang="zh-CN" altLang="en-US" b="1" dirty="0">
              <a:solidFill>
                <a:srgbClr val="FF0000"/>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836023" y="3672615"/>
            <a:ext cx="2743200" cy="2677656"/>
          </a:xfrm>
          <a:prstGeom prst="rect">
            <a:avLst/>
          </a:prstGeom>
          <a:noFill/>
        </p:spPr>
        <p:txBody>
          <a:bodyPr wrap="square" rtlCol="0">
            <a:spAutoFit/>
          </a:bodyPr>
          <a:lstStyle/>
          <a:p>
            <a:r>
              <a:rPr lang="en-US" altLang="zh-CN" sz="2800" dirty="0">
                <a:latin typeface="Times New Roman" panose="02020603050405020304" pitchFamily="18" charset="0"/>
                <a:cs typeface="Times New Roman" panose="02020603050405020304" pitchFamily="18" charset="0"/>
              </a:rPr>
              <a:t>class </a:t>
            </a:r>
            <a:r>
              <a:rPr lang="en-US" altLang="zh-CN" sz="2800" dirty="0" err="1">
                <a:latin typeface="Times New Roman" panose="02020603050405020304" pitchFamily="18" charset="0"/>
                <a:cs typeface="Times New Roman" panose="02020603050405020304" pitchFamily="18" charset="0"/>
              </a:rPr>
              <a:t>dateT</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public:</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int</a:t>
            </a:r>
            <a:r>
              <a:rPr lang="en-US" altLang="zh-CN" sz="2800" dirty="0">
                <a:latin typeface="Times New Roman" panose="02020603050405020304" pitchFamily="18" charset="0"/>
                <a:cs typeface="Times New Roman" panose="02020603050405020304" pitchFamily="18" charset="0"/>
              </a:rPr>
              <a:t> year;</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int</a:t>
            </a:r>
            <a:r>
              <a:rPr lang="en-US" altLang="zh-CN" sz="2800" dirty="0">
                <a:latin typeface="Times New Roman" panose="02020603050405020304" pitchFamily="18" charset="0"/>
                <a:cs typeface="Times New Roman" panose="02020603050405020304" pitchFamily="18" charset="0"/>
              </a:rPr>
              <a:t> month;</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int</a:t>
            </a:r>
            <a:r>
              <a:rPr lang="en-US" altLang="zh-CN" sz="2800" dirty="0">
                <a:latin typeface="Times New Roman" panose="02020603050405020304" pitchFamily="18" charset="0"/>
                <a:cs typeface="Times New Roman" panose="02020603050405020304" pitchFamily="18" charset="0"/>
              </a:rPr>
              <a:t> day;</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a:t>
            </a:r>
            <a:endParaRPr lang="zh-CN" altLang="en-US" sz="2800" dirty="0" err="1">
              <a:latin typeface="Times New Roman" panose="02020603050405020304" pitchFamily="18" charset="0"/>
              <a:cs typeface="Times New Roman" panose="02020603050405020304" pitchFamily="18" charset="0"/>
            </a:endParaRPr>
          </a:p>
        </p:txBody>
      </p:sp>
      <p:sp>
        <p:nvSpPr>
          <p:cNvPr id="3" name="文本框 2"/>
          <p:cNvSpPr txBox="1"/>
          <p:nvPr/>
        </p:nvSpPr>
        <p:spPr>
          <a:xfrm>
            <a:off x="3686396" y="1382020"/>
            <a:ext cx="4131111" cy="5262979"/>
          </a:xfrm>
          <a:prstGeom prst="rect">
            <a:avLst/>
          </a:prstGeom>
          <a:noFill/>
        </p:spPr>
        <p:txBody>
          <a:bodyPr wrap="square" rtlCol="0">
            <a:spAutoFit/>
          </a:bodyPr>
          <a:lstStyle/>
          <a:p>
            <a:r>
              <a:rPr lang="en-US" altLang="zh-CN" sz="2800" dirty="0"/>
              <a:t> {</a:t>
            </a:r>
            <a:endParaRPr lang="en-US" altLang="zh-CN" sz="2800" dirty="0"/>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dateT</a:t>
            </a:r>
            <a:r>
              <a:rPr lang="en-US" altLang="zh-CN" sz="2800" dirty="0">
                <a:latin typeface="Times New Roman" panose="02020603050405020304" pitchFamily="18" charset="0"/>
                <a:cs typeface="Times New Roman" panose="02020603050405020304" pitchFamily="18" charset="0"/>
              </a:rPr>
              <a:t>  d, *p;</a:t>
            </a:r>
            <a:endParaRPr lang="en-US" altLang="zh-CN" sz="2800" dirty="0">
              <a:latin typeface="Times New Roman" panose="02020603050405020304" pitchFamily="18" charset="0"/>
              <a:cs typeface="Times New Roman" panose="02020603050405020304" pitchFamily="18" charset="0"/>
            </a:endParaRPr>
          </a:p>
          <a:p>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d.year</a:t>
            </a:r>
            <a:r>
              <a:rPr lang="en-US" altLang="zh-CN" sz="2800" dirty="0">
                <a:latin typeface="Times New Roman" panose="02020603050405020304" pitchFamily="18" charset="0"/>
                <a:cs typeface="Times New Roman" panose="02020603050405020304" pitchFamily="18" charset="0"/>
              </a:rPr>
              <a:t> = 2020;</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d.month</a:t>
            </a:r>
            <a:r>
              <a:rPr lang="en-US" altLang="zh-CN" sz="2800" dirty="0">
                <a:latin typeface="Times New Roman" panose="02020603050405020304" pitchFamily="18" charset="0"/>
                <a:cs typeface="Times New Roman" panose="02020603050405020304" pitchFamily="18" charset="0"/>
              </a:rPr>
              <a:t> = 3;</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d.day</a:t>
            </a:r>
            <a:r>
              <a:rPr lang="en-US" altLang="zh-CN" sz="2800" dirty="0">
                <a:latin typeface="Times New Roman" panose="02020603050405020304" pitchFamily="18" charset="0"/>
                <a:cs typeface="Times New Roman" panose="02020603050405020304" pitchFamily="18" charset="0"/>
              </a:rPr>
              <a:t> = 11;</a:t>
            </a:r>
            <a:endParaRPr lang="en-US" altLang="zh-CN" sz="2800" dirty="0">
              <a:latin typeface="Times New Roman" panose="02020603050405020304" pitchFamily="18" charset="0"/>
              <a:cs typeface="Times New Roman" panose="02020603050405020304" pitchFamily="18" charset="0"/>
            </a:endParaRPr>
          </a:p>
          <a:p>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p = &amp;d;</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cout</a:t>
            </a:r>
            <a:r>
              <a:rPr lang="en-US" altLang="zh-CN" sz="2800" dirty="0">
                <a:latin typeface="Times New Roman" panose="02020603050405020304" pitchFamily="18" charset="0"/>
                <a:cs typeface="Times New Roman" panose="02020603050405020304" pitchFamily="18" charset="0"/>
              </a:rPr>
              <a:t>&lt;&lt;p-&gt;year&lt;&lt;</a:t>
            </a:r>
            <a:r>
              <a:rPr lang="en-US" altLang="zh-CN" sz="2800" dirty="0" err="1">
                <a:latin typeface="Times New Roman" panose="02020603050405020304" pitchFamily="18" charset="0"/>
                <a:cs typeface="Times New Roman" panose="02020603050405020304" pitchFamily="18" charset="0"/>
              </a:rPr>
              <a:t>endl</a:t>
            </a:r>
            <a:r>
              <a:rPr lang="en-US" altLang="zh-CN" sz="2800" dirty="0">
                <a:latin typeface="Times New Roman" panose="02020603050405020304" pitchFamily="18" charset="0"/>
                <a:cs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cout</a:t>
            </a:r>
            <a:r>
              <a:rPr lang="en-US" altLang="zh-CN" sz="2800" dirty="0">
                <a:latin typeface="Times New Roman" panose="02020603050405020304" pitchFamily="18" charset="0"/>
                <a:cs typeface="Times New Roman" panose="02020603050405020304" pitchFamily="18" charset="0"/>
              </a:rPr>
              <a:t>&lt;&lt;p-&gt;month&lt;&lt;</a:t>
            </a:r>
            <a:r>
              <a:rPr lang="en-US" altLang="zh-CN" sz="2800" dirty="0" err="1">
                <a:latin typeface="Times New Roman" panose="02020603050405020304" pitchFamily="18" charset="0"/>
                <a:cs typeface="Times New Roman" panose="02020603050405020304" pitchFamily="18" charset="0"/>
              </a:rPr>
              <a:t>endl</a:t>
            </a:r>
            <a:r>
              <a:rPr lang="en-US" altLang="zh-CN" sz="2800" dirty="0">
                <a:latin typeface="Times New Roman" panose="02020603050405020304" pitchFamily="18" charset="0"/>
                <a:cs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cout</a:t>
            </a:r>
            <a:r>
              <a:rPr lang="en-US" altLang="zh-CN" sz="2800" dirty="0">
                <a:latin typeface="Times New Roman" panose="02020603050405020304" pitchFamily="18" charset="0"/>
                <a:cs typeface="Times New Roman" panose="02020603050405020304" pitchFamily="18" charset="0"/>
              </a:rPr>
              <a:t>&lt;&lt;p-&gt;day&lt;&lt;</a:t>
            </a:r>
            <a:r>
              <a:rPr lang="en-US" altLang="zh-CN" sz="2800" dirty="0" err="1">
                <a:latin typeface="Times New Roman" panose="02020603050405020304" pitchFamily="18" charset="0"/>
                <a:cs typeface="Times New Roman" panose="02020603050405020304" pitchFamily="18" charset="0"/>
              </a:rPr>
              <a:t>endl</a:t>
            </a:r>
            <a:r>
              <a:rPr lang="en-US" altLang="zh-CN" sz="2800" dirty="0">
                <a:latin typeface="Times New Roman" panose="02020603050405020304" pitchFamily="18" charset="0"/>
                <a:cs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a:t>
            </a:r>
            <a:endParaRPr lang="zh-CN" altLang="en-US" sz="2800" dirty="0" err="1">
              <a:latin typeface="Times New Roman" panose="02020603050405020304" pitchFamily="18" charset="0"/>
              <a:cs typeface="Times New Roman" panose="02020603050405020304" pitchFamily="18" charset="0"/>
            </a:endParaRPr>
          </a:p>
        </p:txBody>
      </p:sp>
      <p:cxnSp>
        <p:nvCxnSpPr>
          <p:cNvPr id="10" name="直接连接符 9"/>
          <p:cNvCxnSpPr/>
          <p:nvPr/>
        </p:nvCxnSpPr>
        <p:spPr>
          <a:xfrm>
            <a:off x="3444191" y="1593669"/>
            <a:ext cx="17466" cy="4402181"/>
          </a:xfrm>
          <a:prstGeom prst="line">
            <a:avLst/>
          </a:prstGeom>
          <a:ln w="38100"/>
        </p:spPr>
        <p:style>
          <a:lnRef idx="1">
            <a:schemeClr val="dk1"/>
          </a:lnRef>
          <a:fillRef idx="0">
            <a:schemeClr val="dk1"/>
          </a:fillRef>
          <a:effectRef idx="0">
            <a:schemeClr val="dk1"/>
          </a:effectRef>
          <a:fontRef idx="minor">
            <a:schemeClr val="tx1"/>
          </a:fontRef>
        </p:style>
      </p:cxnSp>
      <p:sp>
        <p:nvSpPr>
          <p:cNvPr id="11" name="矩形 10"/>
          <p:cNvSpPr/>
          <p:nvPr/>
        </p:nvSpPr>
        <p:spPr>
          <a:xfrm>
            <a:off x="8138160" y="1619794"/>
            <a:ext cx="901337" cy="1724297"/>
          </a:xfrm>
          <a:prstGeom prst="rect">
            <a:avLst/>
          </a:prstGeom>
          <a:no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3" name="直接连接符 12"/>
          <p:cNvCxnSpPr/>
          <p:nvPr/>
        </p:nvCxnSpPr>
        <p:spPr>
          <a:xfrm>
            <a:off x="8138160" y="2181497"/>
            <a:ext cx="901337" cy="0"/>
          </a:xfrm>
          <a:prstGeom prst="line">
            <a:avLst/>
          </a:prstGeom>
        </p:spPr>
        <p:style>
          <a:lnRef idx="2">
            <a:schemeClr val="dk1"/>
          </a:lnRef>
          <a:fillRef idx="0">
            <a:schemeClr val="dk1"/>
          </a:fillRef>
          <a:effectRef idx="1">
            <a:schemeClr val="dk1"/>
          </a:effectRef>
          <a:fontRef idx="minor">
            <a:schemeClr val="tx1"/>
          </a:fontRef>
        </p:style>
      </p:cxnSp>
      <p:cxnSp>
        <p:nvCxnSpPr>
          <p:cNvPr id="15" name="直接连接符 14"/>
          <p:cNvCxnSpPr/>
          <p:nvPr/>
        </p:nvCxnSpPr>
        <p:spPr>
          <a:xfrm>
            <a:off x="8138160" y="2756263"/>
            <a:ext cx="914400" cy="0"/>
          </a:xfrm>
          <a:prstGeom prst="line">
            <a:avLst/>
          </a:prstGeom>
        </p:spPr>
        <p:style>
          <a:lnRef idx="2">
            <a:schemeClr val="dk1"/>
          </a:lnRef>
          <a:fillRef idx="0">
            <a:schemeClr val="dk1"/>
          </a:fillRef>
          <a:effectRef idx="1">
            <a:schemeClr val="dk1"/>
          </a:effectRef>
          <a:fontRef idx="minor">
            <a:schemeClr val="tx1"/>
          </a:fontRef>
        </p:style>
      </p:cxnSp>
      <p:sp>
        <p:nvSpPr>
          <p:cNvPr id="20" name="文本框 19"/>
          <p:cNvSpPr txBox="1"/>
          <p:nvPr/>
        </p:nvSpPr>
        <p:spPr>
          <a:xfrm>
            <a:off x="7511144" y="1319349"/>
            <a:ext cx="522514" cy="523220"/>
          </a:xfrm>
          <a:prstGeom prst="rect">
            <a:avLst/>
          </a:prstGeom>
          <a:noFill/>
        </p:spPr>
        <p:txBody>
          <a:bodyPr wrap="square" rtlCol="0">
            <a:spAutoFit/>
          </a:bodyPr>
          <a:lstStyle/>
          <a:p>
            <a:r>
              <a:rPr lang="en-US" altLang="zh-CN" sz="2800" dirty="0"/>
              <a:t>d</a:t>
            </a:r>
            <a:endParaRPr lang="zh-CN" altLang="en-US" sz="2800" dirty="0" err="1"/>
          </a:p>
        </p:txBody>
      </p:sp>
      <p:sp>
        <p:nvSpPr>
          <p:cNvPr id="21" name="矩形 20"/>
          <p:cNvSpPr/>
          <p:nvPr/>
        </p:nvSpPr>
        <p:spPr>
          <a:xfrm>
            <a:off x="9744891" y="1627392"/>
            <a:ext cx="875212" cy="561703"/>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10698480" y="1254034"/>
            <a:ext cx="653143" cy="540580"/>
          </a:xfrm>
          <a:prstGeom prst="rect">
            <a:avLst/>
          </a:prstGeom>
          <a:noFill/>
        </p:spPr>
        <p:txBody>
          <a:bodyPr wrap="square" rtlCol="0">
            <a:spAutoFit/>
          </a:bodyPr>
          <a:lstStyle/>
          <a:p>
            <a:r>
              <a:rPr lang="en-US" altLang="zh-CN" sz="2800" dirty="0"/>
              <a:t>p</a:t>
            </a:r>
            <a:endParaRPr lang="zh-CN" altLang="en-US" sz="2800" dirty="0" err="1"/>
          </a:p>
        </p:txBody>
      </p:sp>
      <p:cxnSp>
        <p:nvCxnSpPr>
          <p:cNvPr id="14" name="直接连接符 13"/>
          <p:cNvCxnSpPr/>
          <p:nvPr/>
        </p:nvCxnSpPr>
        <p:spPr>
          <a:xfrm>
            <a:off x="783771" y="3622393"/>
            <a:ext cx="2677886" cy="8808"/>
          </a:xfrm>
          <a:prstGeom prst="line">
            <a:avLst/>
          </a:prstGeom>
          <a:ln w="38100"/>
        </p:spPr>
        <p:style>
          <a:lnRef idx="1">
            <a:schemeClr val="dk1"/>
          </a:lnRef>
          <a:fillRef idx="0">
            <a:schemeClr val="dk1"/>
          </a:fillRef>
          <a:effectRef idx="0">
            <a:schemeClr val="dk1"/>
          </a:effectRef>
          <a:fontRef idx="minor">
            <a:schemeClr val="tx1"/>
          </a:fontRef>
        </p:style>
      </p:cxnSp>
      <p:sp>
        <p:nvSpPr>
          <p:cNvPr id="16" name="文本框 15"/>
          <p:cNvSpPr txBox="1"/>
          <p:nvPr/>
        </p:nvSpPr>
        <p:spPr>
          <a:xfrm>
            <a:off x="808210" y="1434037"/>
            <a:ext cx="2743200" cy="2246769"/>
          </a:xfrm>
          <a:prstGeom prst="rect">
            <a:avLst/>
          </a:prstGeom>
          <a:noFill/>
        </p:spPr>
        <p:txBody>
          <a:bodyPr wrap="square" rtlCol="0">
            <a:spAutoFit/>
          </a:bodyPr>
          <a:lstStyle/>
          <a:p>
            <a:r>
              <a:rPr lang="en-US" altLang="zh-CN" sz="2800" dirty="0" err="1">
                <a:latin typeface="Times New Roman" panose="02020603050405020304" pitchFamily="18" charset="0"/>
                <a:cs typeface="Times New Roman" panose="02020603050405020304" pitchFamily="18" charset="0"/>
              </a:rPr>
              <a:t>struct</a:t>
            </a:r>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dateT</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int</a:t>
            </a:r>
            <a:r>
              <a:rPr lang="en-US" altLang="zh-CN" sz="2800" dirty="0">
                <a:latin typeface="Times New Roman" panose="02020603050405020304" pitchFamily="18" charset="0"/>
                <a:cs typeface="Times New Roman" panose="02020603050405020304" pitchFamily="18" charset="0"/>
              </a:rPr>
              <a:t> year;</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int</a:t>
            </a:r>
            <a:r>
              <a:rPr lang="en-US" altLang="zh-CN" sz="2800" dirty="0">
                <a:latin typeface="Times New Roman" panose="02020603050405020304" pitchFamily="18" charset="0"/>
                <a:cs typeface="Times New Roman" panose="02020603050405020304" pitchFamily="18" charset="0"/>
              </a:rPr>
              <a:t> month;</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int</a:t>
            </a:r>
            <a:r>
              <a:rPr lang="en-US" altLang="zh-CN" sz="2800" dirty="0">
                <a:latin typeface="Times New Roman" panose="02020603050405020304" pitchFamily="18" charset="0"/>
                <a:cs typeface="Times New Roman" panose="02020603050405020304" pitchFamily="18" charset="0"/>
              </a:rPr>
              <a:t> day;</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a:t>
            </a:r>
            <a:endParaRPr lang="zh-CN" altLang="en-US" sz="2800" dirty="0" err="1">
              <a:latin typeface="Times New Roman" panose="02020603050405020304" pitchFamily="18" charset="0"/>
              <a:cs typeface="Times New Roman" panose="02020603050405020304" pitchFamily="18" charset="0"/>
            </a:endParaRPr>
          </a:p>
        </p:txBody>
      </p:sp>
      <p:sp>
        <p:nvSpPr>
          <p:cNvPr id="17" name="矩形 16"/>
          <p:cNvSpPr/>
          <p:nvPr/>
        </p:nvSpPr>
        <p:spPr>
          <a:xfrm>
            <a:off x="8290560" y="4619905"/>
            <a:ext cx="901337" cy="1724297"/>
          </a:xfrm>
          <a:prstGeom prst="rect">
            <a:avLst/>
          </a:prstGeom>
          <a:no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9" name="文本框 18"/>
          <p:cNvSpPr txBox="1"/>
          <p:nvPr/>
        </p:nvSpPr>
        <p:spPr>
          <a:xfrm>
            <a:off x="7663544" y="4228018"/>
            <a:ext cx="522514" cy="523220"/>
          </a:xfrm>
          <a:prstGeom prst="rect">
            <a:avLst/>
          </a:prstGeom>
          <a:noFill/>
        </p:spPr>
        <p:txBody>
          <a:bodyPr wrap="square" rtlCol="0">
            <a:spAutoFit/>
          </a:bodyPr>
          <a:lstStyle/>
          <a:p>
            <a:r>
              <a:rPr lang="en-US" altLang="zh-CN" sz="2800" dirty="0"/>
              <a:t>d</a:t>
            </a:r>
            <a:endParaRPr lang="zh-CN" altLang="en-US" sz="2800" dirty="0" err="1"/>
          </a:p>
        </p:txBody>
      </p:sp>
      <p:sp>
        <p:nvSpPr>
          <p:cNvPr id="23" name="文本框 22"/>
          <p:cNvSpPr txBox="1"/>
          <p:nvPr/>
        </p:nvSpPr>
        <p:spPr>
          <a:xfrm>
            <a:off x="10393679" y="4522160"/>
            <a:ext cx="653143" cy="540580"/>
          </a:xfrm>
          <a:prstGeom prst="rect">
            <a:avLst/>
          </a:prstGeom>
          <a:noFill/>
        </p:spPr>
        <p:txBody>
          <a:bodyPr wrap="square" rtlCol="0">
            <a:spAutoFit/>
          </a:bodyPr>
          <a:lstStyle/>
          <a:p>
            <a:r>
              <a:rPr lang="en-US" altLang="zh-CN" sz="2800" dirty="0"/>
              <a:t>p</a:t>
            </a:r>
            <a:endParaRPr lang="zh-CN" altLang="en-US" sz="2800" dirty="0" err="1"/>
          </a:p>
        </p:txBody>
      </p:sp>
      <p:cxnSp>
        <p:nvCxnSpPr>
          <p:cNvPr id="7" name="直接箭头连接符 6"/>
          <p:cNvCxnSpPr/>
          <p:nvPr/>
        </p:nvCxnSpPr>
        <p:spPr>
          <a:xfrm flipH="1">
            <a:off x="9191897" y="4921055"/>
            <a:ext cx="119307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8290560" y="5215330"/>
            <a:ext cx="9013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8290560" y="5839097"/>
            <a:ext cx="901337" cy="0"/>
          </a:xfrm>
          <a:prstGeom prst="line">
            <a:avLst/>
          </a:prstGeom>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9437394" y="5665310"/>
            <a:ext cx="2754606" cy="830997"/>
          </a:xfrm>
          <a:prstGeom prst="rect">
            <a:avLst/>
          </a:prstGeom>
          <a:noFill/>
        </p:spPr>
        <p:txBody>
          <a:bodyPr wrap="square" rtlCol="0">
            <a:spAutoFit/>
          </a:bodyPr>
          <a:lstStyle/>
          <a:p>
            <a:r>
              <a:rPr lang="zh-CN" altLang="en-US" sz="2400" b="1" dirty="0">
                <a:solidFill>
                  <a:schemeClr val="accent1"/>
                </a:solidFill>
              </a:rPr>
              <a:t>考虑：</a:t>
            </a:r>
            <a:endParaRPr lang="en-US" altLang="zh-CN" sz="2400" b="1" dirty="0">
              <a:solidFill>
                <a:schemeClr val="accent1"/>
              </a:solidFill>
            </a:endParaRPr>
          </a:p>
          <a:p>
            <a:r>
              <a:rPr lang="en-US" altLang="zh-CN" sz="2400" b="1" dirty="0">
                <a:solidFill>
                  <a:schemeClr val="accent1"/>
                </a:solidFill>
              </a:rPr>
              <a:t>d</a:t>
            </a:r>
            <a:r>
              <a:rPr lang="zh-CN" altLang="en-US" sz="2400" b="1" dirty="0">
                <a:solidFill>
                  <a:schemeClr val="accent1"/>
                </a:solidFill>
              </a:rPr>
              <a:t>、</a:t>
            </a:r>
            <a:r>
              <a:rPr lang="en-US" altLang="zh-CN" sz="2400" b="1" dirty="0">
                <a:solidFill>
                  <a:schemeClr val="accent1"/>
                </a:solidFill>
              </a:rPr>
              <a:t>p</a:t>
            </a:r>
            <a:r>
              <a:rPr lang="zh-CN" altLang="en-US" sz="2400" b="1" dirty="0">
                <a:solidFill>
                  <a:schemeClr val="accent1"/>
                </a:solidFill>
              </a:rPr>
              <a:t>空间如何释放</a:t>
            </a:r>
            <a:endParaRPr lang="zh-CN" altLang="en-US" sz="2400" b="1" dirty="0">
              <a:solidFill>
                <a:schemeClr val="accent1"/>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49188" y="3570744"/>
            <a:ext cx="2743200" cy="2677656"/>
          </a:xfrm>
          <a:prstGeom prst="rect">
            <a:avLst/>
          </a:prstGeom>
          <a:noFill/>
        </p:spPr>
        <p:txBody>
          <a:bodyPr wrap="square" rtlCol="0">
            <a:spAutoFit/>
          </a:bodyPr>
          <a:lstStyle/>
          <a:p>
            <a:r>
              <a:rPr lang="en-US" altLang="zh-CN" sz="2800" dirty="0">
                <a:latin typeface="Times New Roman" panose="02020603050405020304" pitchFamily="18" charset="0"/>
                <a:cs typeface="Times New Roman" panose="02020603050405020304" pitchFamily="18" charset="0"/>
              </a:rPr>
              <a:t>class </a:t>
            </a:r>
            <a:r>
              <a:rPr lang="en-US" altLang="zh-CN" sz="2800" dirty="0" err="1">
                <a:latin typeface="Times New Roman" panose="02020603050405020304" pitchFamily="18" charset="0"/>
                <a:cs typeface="Times New Roman" panose="02020603050405020304" pitchFamily="18" charset="0"/>
              </a:rPr>
              <a:t>dateT</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public:</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int</a:t>
            </a:r>
            <a:r>
              <a:rPr lang="en-US" altLang="zh-CN" sz="2800" dirty="0">
                <a:latin typeface="Times New Roman" panose="02020603050405020304" pitchFamily="18" charset="0"/>
                <a:cs typeface="Times New Roman" panose="02020603050405020304" pitchFamily="18" charset="0"/>
              </a:rPr>
              <a:t> year;</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int</a:t>
            </a:r>
            <a:r>
              <a:rPr lang="en-US" altLang="zh-CN" sz="2800" dirty="0">
                <a:latin typeface="Times New Roman" panose="02020603050405020304" pitchFamily="18" charset="0"/>
                <a:cs typeface="Times New Roman" panose="02020603050405020304" pitchFamily="18" charset="0"/>
              </a:rPr>
              <a:t> month;</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int</a:t>
            </a:r>
            <a:r>
              <a:rPr lang="en-US" altLang="zh-CN" sz="2800" dirty="0">
                <a:latin typeface="Times New Roman" panose="02020603050405020304" pitchFamily="18" charset="0"/>
                <a:cs typeface="Times New Roman" panose="02020603050405020304" pitchFamily="18" charset="0"/>
              </a:rPr>
              <a:t> day;</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a:t>
            </a:r>
            <a:endParaRPr lang="zh-CN" altLang="en-US" sz="2800" dirty="0" err="1">
              <a:latin typeface="Times New Roman" panose="02020603050405020304" pitchFamily="18" charset="0"/>
              <a:cs typeface="Times New Roman" panose="02020603050405020304" pitchFamily="18" charset="0"/>
            </a:endParaRPr>
          </a:p>
        </p:txBody>
      </p:sp>
      <p:sp>
        <p:nvSpPr>
          <p:cNvPr id="3" name="文本框 2"/>
          <p:cNvSpPr txBox="1"/>
          <p:nvPr/>
        </p:nvSpPr>
        <p:spPr>
          <a:xfrm>
            <a:off x="3787128" y="1361333"/>
            <a:ext cx="4964986" cy="5262979"/>
          </a:xfrm>
          <a:prstGeom prst="rect">
            <a:avLst/>
          </a:prstGeom>
          <a:noFill/>
        </p:spPr>
        <p:txBody>
          <a:bodyPr wrap="square" rtlCol="0">
            <a:spAutoFit/>
          </a:bodyPr>
          <a:lstStyle/>
          <a:p>
            <a:r>
              <a:rPr lang="en-US" altLang="zh-CN" sz="2800" dirty="0">
                <a:latin typeface="Times New Roman" panose="02020603050405020304" pitchFamily="18" charset="0"/>
                <a:cs typeface="Times New Roman" panose="02020603050405020304" pitchFamily="18" charset="0"/>
              </a:rPr>
              <a:t>{    </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dateT</a:t>
            </a:r>
            <a:r>
              <a:rPr lang="en-US" altLang="zh-CN" sz="2800" dirty="0">
                <a:latin typeface="Times New Roman" panose="02020603050405020304" pitchFamily="18" charset="0"/>
                <a:cs typeface="Times New Roman" panose="02020603050405020304" pitchFamily="18" charset="0"/>
              </a:rPr>
              <a:t>  d, *p;</a:t>
            </a:r>
            <a:endParaRPr lang="en-US" altLang="zh-CN" sz="2800" dirty="0">
              <a:latin typeface="Times New Roman" panose="02020603050405020304" pitchFamily="18" charset="0"/>
              <a:cs typeface="Times New Roman" panose="02020603050405020304" pitchFamily="18" charset="0"/>
            </a:endParaRPr>
          </a:p>
          <a:p>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p = new </a:t>
            </a:r>
            <a:r>
              <a:rPr lang="en-US" altLang="zh-CN" sz="2800" dirty="0" err="1">
                <a:latin typeface="Times New Roman" panose="02020603050405020304" pitchFamily="18" charset="0"/>
                <a:cs typeface="Times New Roman" panose="02020603050405020304" pitchFamily="18" charset="0"/>
              </a:rPr>
              <a:t>dataT</a:t>
            </a:r>
            <a:r>
              <a:rPr lang="en-US" altLang="zh-CN" sz="2800" dirty="0">
                <a:latin typeface="Times New Roman" panose="02020603050405020304" pitchFamily="18" charset="0"/>
                <a:cs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p-&gt;year = 1010;</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p-&gt;month = 1;</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d-&gt;day = 1;</a:t>
            </a:r>
            <a:endParaRPr lang="en-US" altLang="zh-CN" sz="2800" dirty="0">
              <a:latin typeface="Times New Roman" panose="02020603050405020304" pitchFamily="18" charset="0"/>
              <a:cs typeface="Times New Roman" panose="02020603050405020304" pitchFamily="18" charset="0"/>
            </a:endParaRPr>
          </a:p>
          <a:p>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delete p; </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p-&gt;year = 2021; //</a:t>
            </a:r>
            <a:r>
              <a:rPr lang="zh-CN" altLang="en-US" sz="2800" dirty="0">
                <a:latin typeface="Times New Roman" panose="02020603050405020304" pitchFamily="18" charset="0"/>
                <a:cs typeface="Times New Roman" panose="02020603050405020304" pitchFamily="18" charset="0"/>
              </a:rPr>
              <a:t>非法</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p = &amp;d;  //</a:t>
            </a:r>
            <a:r>
              <a:rPr lang="zh-CN" altLang="en-US" sz="2800" dirty="0">
                <a:latin typeface="Times New Roman" panose="02020603050405020304" pitchFamily="18" charset="0"/>
                <a:cs typeface="Times New Roman" panose="02020603050405020304" pitchFamily="18" charset="0"/>
              </a:rPr>
              <a:t>合法</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p:txBody>
      </p:sp>
      <p:sp>
        <p:nvSpPr>
          <p:cNvPr id="7" name="文本框 6"/>
          <p:cNvSpPr txBox="1"/>
          <p:nvPr/>
        </p:nvSpPr>
        <p:spPr>
          <a:xfrm>
            <a:off x="949188" y="1271394"/>
            <a:ext cx="2743200" cy="2246769"/>
          </a:xfrm>
          <a:prstGeom prst="rect">
            <a:avLst/>
          </a:prstGeom>
          <a:noFill/>
        </p:spPr>
        <p:txBody>
          <a:bodyPr wrap="square" rtlCol="0">
            <a:spAutoFit/>
          </a:bodyPr>
          <a:lstStyle/>
          <a:p>
            <a:r>
              <a:rPr lang="en-US" altLang="zh-CN" sz="2800" dirty="0" err="1">
                <a:latin typeface="Times New Roman" panose="02020603050405020304" pitchFamily="18" charset="0"/>
                <a:cs typeface="Times New Roman" panose="02020603050405020304" pitchFamily="18" charset="0"/>
              </a:rPr>
              <a:t>struct</a:t>
            </a:r>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dateT</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int</a:t>
            </a:r>
            <a:r>
              <a:rPr lang="en-US" altLang="zh-CN" sz="2800" dirty="0">
                <a:latin typeface="Times New Roman" panose="02020603050405020304" pitchFamily="18" charset="0"/>
                <a:cs typeface="Times New Roman" panose="02020603050405020304" pitchFamily="18" charset="0"/>
              </a:rPr>
              <a:t> year;</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int</a:t>
            </a:r>
            <a:r>
              <a:rPr lang="en-US" altLang="zh-CN" sz="2800" dirty="0">
                <a:latin typeface="Times New Roman" panose="02020603050405020304" pitchFamily="18" charset="0"/>
                <a:cs typeface="Times New Roman" panose="02020603050405020304" pitchFamily="18" charset="0"/>
              </a:rPr>
              <a:t> month;</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int</a:t>
            </a:r>
            <a:r>
              <a:rPr lang="en-US" altLang="zh-CN" sz="2800" dirty="0">
                <a:latin typeface="Times New Roman" panose="02020603050405020304" pitchFamily="18" charset="0"/>
                <a:cs typeface="Times New Roman" panose="02020603050405020304" pitchFamily="18" charset="0"/>
              </a:rPr>
              <a:t> day;</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a:t>
            </a:r>
            <a:endParaRPr lang="zh-CN" altLang="en-US" sz="2800" dirty="0" err="1">
              <a:latin typeface="Times New Roman" panose="02020603050405020304" pitchFamily="18" charset="0"/>
              <a:cs typeface="Times New Roman" panose="02020603050405020304" pitchFamily="18" charset="0"/>
            </a:endParaRPr>
          </a:p>
        </p:txBody>
      </p:sp>
      <p:cxnSp>
        <p:nvCxnSpPr>
          <p:cNvPr id="6" name="直接连接符 5"/>
          <p:cNvCxnSpPr/>
          <p:nvPr/>
        </p:nvCxnSpPr>
        <p:spPr>
          <a:xfrm>
            <a:off x="783771" y="3561936"/>
            <a:ext cx="2677886" cy="8808"/>
          </a:xfrm>
          <a:prstGeom prst="line">
            <a:avLst/>
          </a:prstGeom>
          <a:ln w="38100"/>
        </p:spPr>
        <p:style>
          <a:lnRef idx="1">
            <a:schemeClr val="dk1"/>
          </a:lnRef>
          <a:fillRef idx="0">
            <a:schemeClr val="dk1"/>
          </a:fillRef>
          <a:effectRef idx="0">
            <a:schemeClr val="dk1"/>
          </a:effectRef>
          <a:fontRef idx="minor">
            <a:schemeClr val="tx1"/>
          </a:fontRef>
        </p:style>
      </p:cxnSp>
      <p:cxnSp>
        <p:nvCxnSpPr>
          <p:cNvPr id="10" name="直接连接符 9"/>
          <p:cNvCxnSpPr/>
          <p:nvPr/>
        </p:nvCxnSpPr>
        <p:spPr>
          <a:xfrm>
            <a:off x="3444191" y="1240973"/>
            <a:ext cx="0" cy="4820194"/>
          </a:xfrm>
          <a:prstGeom prst="line">
            <a:avLst/>
          </a:prstGeom>
          <a:ln w="38100"/>
        </p:spPr>
        <p:style>
          <a:lnRef idx="1">
            <a:schemeClr val="dk1"/>
          </a:lnRef>
          <a:fillRef idx="0">
            <a:schemeClr val="dk1"/>
          </a:fillRef>
          <a:effectRef idx="0">
            <a:schemeClr val="dk1"/>
          </a:effectRef>
          <a:fontRef idx="minor">
            <a:schemeClr val="tx1"/>
          </a:fontRef>
        </p:style>
      </p:cxnSp>
      <p:sp>
        <p:nvSpPr>
          <p:cNvPr id="11" name="矩形 10"/>
          <p:cNvSpPr/>
          <p:nvPr/>
        </p:nvSpPr>
        <p:spPr>
          <a:xfrm>
            <a:off x="8138160" y="1619794"/>
            <a:ext cx="901337" cy="1724297"/>
          </a:xfrm>
          <a:prstGeom prst="rect">
            <a:avLst/>
          </a:prstGeom>
          <a:no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3" name="直接连接符 12"/>
          <p:cNvCxnSpPr/>
          <p:nvPr/>
        </p:nvCxnSpPr>
        <p:spPr>
          <a:xfrm>
            <a:off x="8138160" y="2181497"/>
            <a:ext cx="901337" cy="0"/>
          </a:xfrm>
          <a:prstGeom prst="line">
            <a:avLst/>
          </a:prstGeom>
        </p:spPr>
        <p:style>
          <a:lnRef idx="2">
            <a:schemeClr val="dk1"/>
          </a:lnRef>
          <a:fillRef idx="0">
            <a:schemeClr val="dk1"/>
          </a:fillRef>
          <a:effectRef idx="1">
            <a:schemeClr val="dk1"/>
          </a:effectRef>
          <a:fontRef idx="minor">
            <a:schemeClr val="tx1"/>
          </a:fontRef>
        </p:style>
      </p:cxnSp>
      <p:cxnSp>
        <p:nvCxnSpPr>
          <p:cNvPr id="15" name="直接连接符 14"/>
          <p:cNvCxnSpPr/>
          <p:nvPr/>
        </p:nvCxnSpPr>
        <p:spPr>
          <a:xfrm>
            <a:off x="8138160" y="2756263"/>
            <a:ext cx="914400" cy="0"/>
          </a:xfrm>
          <a:prstGeom prst="line">
            <a:avLst/>
          </a:prstGeom>
        </p:spPr>
        <p:style>
          <a:lnRef idx="2">
            <a:schemeClr val="dk1"/>
          </a:lnRef>
          <a:fillRef idx="0">
            <a:schemeClr val="dk1"/>
          </a:fillRef>
          <a:effectRef idx="1">
            <a:schemeClr val="dk1"/>
          </a:effectRef>
          <a:fontRef idx="minor">
            <a:schemeClr val="tx1"/>
          </a:fontRef>
        </p:style>
      </p:cxnSp>
      <p:sp>
        <p:nvSpPr>
          <p:cNvPr id="20" name="文本框 19"/>
          <p:cNvSpPr txBox="1"/>
          <p:nvPr/>
        </p:nvSpPr>
        <p:spPr>
          <a:xfrm>
            <a:off x="7543800" y="1361333"/>
            <a:ext cx="489857" cy="523220"/>
          </a:xfrm>
          <a:prstGeom prst="rect">
            <a:avLst/>
          </a:prstGeom>
          <a:noFill/>
        </p:spPr>
        <p:txBody>
          <a:bodyPr wrap="square" rtlCol="0">
            <a:spAutoFit/>
          </a:bodyPr>
          <a:lstStyle/>
          <a:p>
            <a:r>
              <a:rPr lang="en-US" altLang="zh-CN" sz="2800" dirty="0"/>
              <a:t>d</a:t>
            </a:r>
            <a:endParaRPr lang="zh-CN" altLang="en-US" sz="2800" dirty="0" err="1"/>
          </a:p>
        </p:txBody>
      </p:sp>
      <p:sp>
        <p:nvSpPr>
          <p:cNvPr id="21" name="矩形 20"/>
          <p:cNvSpPr/>
          <p:nvPr/>
        </p:nvSpPr>
        <p:spPr>
          <a:xfrm>
            <a:off x="9744891" y="1627392"/>
            <a:ext cx="875212" cy="561703"/>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10737669" y="1271394"/>
            <a:ext cx="613954" cy="523220"/>
          </a:xfrm>
          <a:prstGeom prst="rect">
            <a:avLst/>
          </a:prstGeom>
          <a:noFill/>
        </p:spPr>
        <p:txBody>
          <a:bodyPr wrap="square" rtlCol="0">
            <a:spAutoFit/>
          </a:bodyPr>
          <a:lstStyle/>
          <a:p>
            <a:r>
              <a:rPr lang="en-US" altLang="zh-CN" sz="2800" dirty="0"/>
              <a:t>p</a:t>
            </a:r>
            <a:endParaRPr lang="zh-CN" altLang="en-US" sz="2800" dirty="0" err="1"/>
          </a:p>
        </p:txBody>
      </p:sp>
      <p:sp>
        <p:nvSpPr>
          <p:cNvPr id="16" name="矩形 15"/>
          <p:cNvSpPr/>
          <p:nvPr/>
        </p:nvSpPr>
        <p:spPr>
          <a:xfrm>
            <a:off x="9753601" y="3313612"/>
            <a:ext cx="901337" cy="1724297"/>
          </a:xfrm>
          <a:prstGeom prst="rect">
            <a:avLst/>
          </a:prstGeom>
          <a:no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7" name="直接连接符 16"/>
          <p:cNvCxnSpPr/>
          <p:nvPr/>
        </p:nvCxnSpPr>
        <p:spPr>
          <a:xfrm>
            <a:off x="9753601" y="3875315"/>
            <a:ext cx="901337" cy="0"/>
          </a:xfrm>
          <a:prstGeom prst="line">
            <a:avLst/>
          </a:prstGeom>
        </p:spPr>
        <p:style>
          <a:lnRef idx="2">
            <a:schemeClr val="dk1"/>
          </a:lnRef>
          <a:fillRef idx="0">
            <a:schemeClr val="dk1"/>
          </a:fillRef>
          <a:effectRef idx="1">
            <a:schemeClr val="dk1"/>
          </a:effectRef>
          <a:fontRef idx="minor">
            <a:schemeClr val="tx1"/>
          </a:fontRef>
        </p:style>
      </p:cxnSp>
      <p:cxnSp>
        <p:nvCxnSpPr>
          <p:cNvPr id="18" name="直接连接符 17"/>
          <p:cNvCxnSpPr/>
          <p:nvPr/>
        </p:nvCxnSpPr>
        <p:spPr>
          <a:xfrm>
            <a:off x="9753601" y="4450081"/>
            <a:ext cx="914400" cy="0"/>
          </a:xfrm>
          <a:prstGeom prst="line">
            <a:avLst/>
          </a:prstGeom>
        </p:spPr>
        <p:style>
          <a:lnRef idx="2">
            <a:schemeClr val="dk1"/>
          </a:lnRef>
          <a:fillRef idx="0">
            <a:schemeClr val="dk1"/>
          </a:fillRef>
          <a:effectRef idx="1">
            <a:schemeClr val="dk1"/>
          </a:effectRef>
          <a:fontRef idx="minor">
            <a:schemeClr val="tx1"/>
          </a:fontRef>
        </p:style>
      </p:cxnSp>
      <p:cxnSp>
        <p:nvCxnSpPr>
          <p:cNvPr id="5" name="直接箭头连接符 4"/>
          <p:cNvCxnSpPr/>
          <p:nvPr/>
        </p:nvCxnSpPr>
        <p:spPr>
          <a:xfrm>
            <a:off x="10162903" y="2050869"/>
            <a:ext cx="13063" cy="1136468"/>
          </a:xfrm>
          <a:prstGeom prst="straightConnector1">
            <a:avLst/>
          </a:prstGeom>
          <a:ln w="28575">
            <a:solidFill>
              <a:srgbClr val="0070C0"/>
            </a:solidFill>
            <a:tailEnd type="triangle"/>
          </a:ln>
        </p:spPr>
        <p:style>
          <a:lnRef idx="1">
            <a:schemeClr val="accent5"/>
          </a:lnRef>
          <a:fillRef idx="0">
            <a:schemeClr val="accent5"/>
          </a:fillRef>
          <a:effectRef idx="0">
            <a:schemeClr val="accent5"/>
          </a:effectRef>
          <a:fontRef idx="minor">
            <a:schemeClr val="tx1"/>
          </a:fontRef>
        </p:style>
      </p:cxnSp>
      <p:sp>
        <p:nvSpPr>
          <p:cNvPr id="12" name="文本框 11"/>
          <p:cNvSpPr txBox="1"/>
          <p:nvPr/>
        </p:nvSpPr>
        <p:spPr>
          <a:xfrm>
            <a:off x="9636034" y="5164184"/>
            <a:ext cx="1288870" cy="523220"/>
          </a:xfrm>
          <a:prstGeom prst="rect">
            <a:avLst/>
          </a:prstGeom>
          <a:noFill/>
        </p:spPr>
        <p:txBody>
          <a:bodyPr wrap="square" rtlCol="0">
            <a:spAutoFit/>
          </a:bodyPr>
          <a:lstStyle/>
          <a:p>
            <a:r>
              <a:rPr lang="zh-CN" altLang="en-US" sz="2800" dirty="0"/>
              <a:t>无名氏</a:t>
            </a:r>
            <a:endParaRPr lang="zh-CN" altLang="en-US" sz="2800" dirty="0"/>
          </a:p>
        </p:txBody>
      </p:sp>
      <p:sp>
        <p:nvSpPr>
          <p:cNvPr id="19" name="文本框 18"/>
          <p:cNvSpPr txBox="1"/>
          <p:nvPr/>
        </p:nvSpPr>
        <p:spPr>
          <a:xfrm>
            <a:off x="8069332" y="5701301"/>
            <a:ext cx="4017787" cy="830997"/>
          </a:xfrm>
          <a:prstGeom prst="rect">
            <a:avLst/>
          </a:prstGeom>
          <a:noFill/>
        </p:spPr>
        <p:txBody>
          <a:bodyPr wrap="square" rtlCol="0">
            <a:spAutoFit/>
          </a:bodyPr>
          <a:lstStyle/>
          <a:p>
            <a:r>
              <a:rPr lang="zh-CN" altLang="en-US" sz="2400" b="1" dirty="0">
                <a:solidFill>
                  <a:schemeClr val="accent1"/>
                </a:solidFill>
              </a:rPr>
              <a:t>考虑：</a:t>
            </a:r>
            <a:endParaRPr lang="en-US" altLang="zh-CN" sz="2400" b="1" dirty="0">
              <a:solidFill>
                <a:schemeClr val="accent1"/>
              </a:solidFill>
            </a:endParaRPr>
          </a:p>
          <a:p>
            <a:r>
              <a:rPr lang="en-US" altLang="zh-CN" sz="2400" b="1" dirty="0">
                <a:solidFill>
                  <a:schemeClr val="accent1"/>
                </a:solidFill>
              </a:rPr>
              <a:t>d</a:t>
            </a:r>
            <a:r>
              <a:rPr lang="zh-CN" altLang="en-US" sz="2400" b="1" dirty="0">
                <a:solidFill>
                  <a:schemeClr val="accent1"/>
                </a:solidFill>
              </a:rPr>
              <a:t>、</a:t>
            </a:r>
            <a:r>
              <a:rPr lang="en-US" altLang="zh-CN" sz="2400" b="1" dirty="0">
                <a:solidFill>
                  <a:schemeClr val="accent1"/>
                </a:solidFill>
              </a:rPr>
              <a:t>p</a:t>
            </a:r>
            <a:r>
              <a:rPr lang="zh-CN" altLang="en-US" sz="2400" b="1" dirty="0">
                <a:solidFill>
                  <a:schemeClr val="accent1"/>
                </a:solidFill>
              </a:rPr>
              <a:t>、无名氏空间如何释放</a:t>
            </a:r>
            <a:endParaRPr lang="zh-CN" altLang="en-US" sz="2400" b="1" dirty="0">
              <a:solidFill>
                <a:schemeClr val="accent1"/>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latin typeface="Times New Roman" panose="02020603050405020304" pitchFamily="18" charset="0"/>
                <a:cs typeface="Times New Roman" panose="02020603050405020304" pitchFamily="18" charset="0"/>
              </a:rPr>
              <a:t>结点和链表：</a:t>
            </a:r>
            <a:endParaRPr lang="zh-CN" altLang="en-US" dirty="0">
              <a:latin typeface="Times New Roman" panose="02020603050405020304" pitchFamily="18" charset="0"/>
              <a:cs typeface="Times New Roman" panose="02020603050405020304" pitchFamily="18" charset="0"/>
            </a:endParaRPr>
          </a:p>
        </p:txBody>
      </p:sp>
      <p:sp>
        <p:nvSpPr>
          <p:cNvPr id="6" name="矩形 5"/>
          <p:cNvSpPr/>
          <p:nvPr/>
        </p:nvSpPr>
        <p:spPr>
          <a:xfrm>
            <a:off x="4691698" y="2324071"/>
            <a:ext cx="2926080" cy="61600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6150475" y="2311010"/>
            <a:ext cx="0" cy="616008"/>
          </a:xfrm>
          <a:prstGeom prst="line">
            <a:avLst/>
          </a:prstGeom>
        </p:spPr>
        <p:style>
          <a:lnRef idx="1">
            <a:schemeClr val="dk1"/>
          </a:lnRef>
          <a:fillRef idx="0">
            <a:schemeClr val="dk1"/>
          </a:fillRef>
          <a:effectRef idx="0">
            <a:schemeClr val="dk1"/>
          </a:effectRef>
          <a:fontRef idx="minor">
            <a:schemeClr val="tx1"/>
          </a:fontRef>
        </p:style>
      </p:cxnSp>
      <p:sp>
        <p:nvSpPr>
          <p:cNvPr id="10" name="文本框 9"/>
          <p:cNvSpPr txBox="1"/>
          <p:nvPr/>
        </p:nvSpPr>
        <p:spPr>
          <a:xfrm>
            <a:off x="3394075" y="2489650"/>
            <a:ext cx="1136469" cy="523220"/>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结点：</a:t>
            </a:r>
            <a:endParaRPr lang="zh-CN" altLang="en-US" sz="2800" dirty="0">
              <a:latin typeface="华文楷体" panose="02010600040101010101" pitchFamily="2" charset="-122"/>
              <a:ea typeface="华文楷体" panose="02010600040101010101" pitchFamily="2" charset="-122"/>
            </a:endParaRPr>
          </a:p>
        </p:txBody>
      </p:sp>
      <p:sp>
        <p:nvSpPr>
          <p:cNvPr id="12" name="文本框 11"/>
          <p:cNvSpPr txBox="1"/>
          <p:nvPr/>
        </p:nvSpPr>
        <p:spPr>
          <a:xfrm>
            <a:off x="4896441" y="3012870"/>
            <a:ext cx="2508068" cy="523220"/>
          </a:xfrm>
          <a:prstGeom prst="rect">
            <a:avLst/>
          </a:prstGeom>
          <a:noFill/>
        </p:spPr>
        <p:txBody>
          <a:bodyPr wrap="square" rtlCol="0">
            <a:spAutoFit/>
          </a:bodyPr>
          <a:lstStyle/>
          <a:p>
            <a:r>
              <a:rPr lang="en-US" altLang="zh-CN" sz="2800" dirty="0"/>
              <a:t>data          next</a:t>
            </a:r>
            <a:endParaRPr lang="zh-CN" altLang="en-US" sz="2800" dirty="0"/>
          </a:p>
        </p:txBody>
      </p:sp>
      <p:pic>
        <p:nvPicPr>
          <p:cNvPr id="13" name="图片 12"/>
          <p:cNvPicPr>
            <a:picLocks noChangeAspect="1"/>
          </p:cNvPicPr>
          <p:nvPr/>
        </p:nvPicPr>
        <p:blipFill>
          <a:blip r:embed="rId1"/>
          <a:stretch>
            <a:fillRect/>
          </a:stretch>
        </p:blipFill>
        <p:spPr>
          <a:xfrm>
            <a:off x="2952259" y="4174191"/>
            <a:ext cx="7376350" cy="916714"/>
          </a:xfrm>
          <a:prstGeom prst="rect">
            <a:avLst/>
          </a:prstGeom>
        </p:spPr>
      </p:pic>
      <p:sp>
        <p:nvSpPr>
          <p:cNvPr id="14" name="文本框 13"/>
          <p:cNvSpPr txBox="1"/>
          <p:nvPr/>
        </p:nvSpPr>
        <p:spPr>
          <a:xfrm>
            <a:off x="1643652" y="4370938"/>
            <a:ext cx="1162594" cy="523220"/>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链表：</a:t>
            </a:r>
            <a:endParaRPr lang="zh-CN" altLang="en-US" sz="28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55568" y="1625275"/>
            <a:ext cx="11280864" cy="2866397"/>
          </a:xfrm>
        </p:spPr>
        <p:txBody>
          <a:bodyPr>
            <a:normAutofit lnSpcReduction="10000"/>
          </a:bodyPr>
          <a:lstStyle/>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头指针</a:t>
            </a:r>
            <a:r>
              <a:rPr lang="en-US" altLang="zh-CN" sz="2800" b="0" dirty="0">
                <a:latin typeface="华文楷体" panose="02010600040101010101" pitchFamily="2" charset="-122"/>
                <a:ea typeface="华文楷体" panose="02010600040101010101" pitchFamily="2" charset="-122"/>
              </a:rPr>
              <a:t>head</a:t>
            </a:r>
            <a:r>
              <a:rPr lang="zh-CN" altLang="zh-CN" sz="2800" b="0" dirty="0">
                <a:latin typeface="华文楷体" panose="02010600040101010101" pitchFamily="2" charset="-122"/>
                <a:ea typeface="华文楷体" panose="02010600040101010101" pitchFamily="2" charset="-122"/>
              </a:rPr>
              <a:t>指向了头结点。</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头结点并不是线性表中的一部分，它的指针字段</a:t>
            </a:r>
            <a:r>
              <a:rPr lang="en-US" altLang="zh-CN" sz="2800" b="0" dirty="0">
                <a:latin typeface="华文楷体" panose="02010600040101010101" pitchFamily="2" charset="-122"/>
                <a:ea typeface="华文楷体" panose="02010600040101010101" pitchFamily="2" charset="-122"/>
              </a:rPr>
              <a:t>next</a:t>
            </a:r>
            <a:r>
              <a:rPr lang="zh-CN" altLang="zh-CN" sz="2800" b="0" dirty="0">
                <a:latin typeface="华文楷体" panose="02010600040101010101" pitchFamily="2" charset="-122"/>
                <a:ea typeface="华文楷体" panose="02010600040101010101" pitchFamily="2" charset="-122"/>
              </a:rPr>
              <a:t>给出了首结点的地址。</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线性表中最后一个结点的指针字段</a:t>
            </a:r>
            <a:r>
              <a:rPr lang="en-US" altLang="zh-CN" sz="2800" b="0" dirty="0">
                <a:latin typeface="华文楷体" panose="02010600040101010101" pitchFamily="2" charset="-122"/>
                <a:ea typeface="华文楷体" panose="02010600040101010101" pitchFamily="2" charset="-122"/>
              </a:rPr>
              <a:t>next</a:t>
            </a:r>
            <a:r>
              <a:rPr lang="zh-CN" altLang="zh-CN" sz="2800" b="0" dirty="0">
                <a:latin typeface="华文楷体" panose="02010600040101010101" pitchFamily="2" charset="-122"/>
                <a:ea typeface="华文楷体" panose="02010600040101010101" pitchFamily="2" charset="-122"/>
              </a:rPr>
              <a:t>的值为</a:t>
            </a:r>
            <a:r>
              <a:rPr lang="en-US" altLang="zh-CN" sz="2800" b="0" dirty="0">
                <a:latin typeface="华文楷体" panose="02010600040101010101" pitchFamily="2" charset="-122"/>
                <a:ea typeface="华文楷体" panose="02010600040101010101" pitchFamily="2" charset="-122"/>
              </a:rPr>
              <a:t>NULL</a:t>
            </a:r>
            <a:r>
              <a:rPr lang="zh-CN" altLang="zh-CN"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顺着头指针</a:t>
            </a:r>
            <a:r>
              <a:rPr lang="en-US" altLang="zh-CN" sz="2800" b="0" dirty="0">
                <a:latin typeface="华文楷体" panose="02010600040101010101" pitchFamily="2" charset="-122"/>
                <a:ea typeface="华文楷体" panose="02010600040101010101" pitchFamily="2" charset="-122"/>
              </a:rPr>
              <a:t>head</a:t>
            </a:r>
            <a:r>
              <a:rPr lang="zh-CN" altLang="zh-CN" sz="2800" b="0" dirty="0">
                <a:latin typeface="华文楷体" panose="02010600040101010101" pitchFamily="2" charset="-122"/>
                <a:ea typeface="华文楷体" panose="02010600040101010101" pitchFamily="2" charset="-122"/>
              </a:rPr>
              <a:t>，可以很方便地逐个访问单链表中的所有结点</a:t>
            </a:r>
            <a:r>
              <a:rPr lang="zh-CN" altLang="en-US"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单链表特点：</a:t>
            </a:r>
            <a:endParaRPr lang="zh-CN" altLang="en-US" dirty="0">
              <a:latin typeface="华文楷体" panose="02010600040101010101" pitchFamily="2" charset="-122"/>
              <a:ea typeface="华文楷体" panose="02010600040101010101" pitchFamily="2" charset="-122"/>
            </a:endParaRPr>
          </a:p>
        </p:txBody>
      </p: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6" name="图片 5"/>
          <p:cNvPicPr>
            <a:picLocks noChangeAspect="1"/>
          </p:cNvPicPr>
          <p:nvPr/>
        </p:nvPicPr>
        <p:blipFill>
          <a:blip r:embed="rId1"/>
          <a:stretch>
            <a:fillRect/>
          </a:stretch>
        </p:blipFill>
        <p:spPr>
          <a:xfrm>
            <a:off x="809951" y="4788618"/>
            <a:ext cx="7376350" cy="916714"/>
          </a:xfrm>
          <a:prstGeom prst="rect">
            <a:avLst/>
          </a:prstGeom>
        </p:spPr>
      </p:pic>
      <p:sp>
        <p:nvSpPr>
          <p:cNvPr id="3" name="文本框 2"/>
          <p:cNvSpPr txBox="1"/>
          <p:nvPr/>
        </p:nvSpPr>
        <p:spPr>
          <a:xfrm>
            <a:off x="1967948" y="5771445"/>
            <a:ext cx="1152939" cy="461665"/>
          </a:xfrm>
          <a:prstGeom prst="rect">
            <a:avLst/>
          </a:prstGeom>
          <a:noFill/>
        </p:spPr>
        <p:txBody>
          <a:bodyPr wrap="square" rtlCol="0">
            <a:spAutoFit/>
          </a:bodyPr>
          <a:lstStyle/>
          <a:p>
            <a:r>
              <a:rPr lang="zh-CN" altLang="en-US" sz="2400" b="1" dirty="0">
                <a:solidFill>
                  <a:schemeClr val="accent1"/>
                </a:solidFill>
              </a:rPr>
              <a:t>头结点</a:t>
            </a:r>
            <a:endParaRPr lang="zh-CN" altLang="en-US" sz="2400" b="1" dirty="0">
              <a:solidFill>
                <a:schemeClr val="accent1"/>
              </a:solidFill>
            </a:endParaRPr>
          </a:p>
        </p:txBody>
      </p:sp>
      <p:sp>
        <p:nvSpPr>
          <p:cNvPr id="4" name="文本框 3"/>
          <p:cNvSpPr txBox="1"/>
          <p:nvPr/>
        </p:nvSpPr>
        <p:spPr>
          <a:xfrm>
            <a:off x="3399182" y="5771445"/>
            <a:ext cx="1451113" cy="461665"/>
          </a:xfrm>
          <a:prstGeom prst="rect">
            <a:avLst/>
          </a:prstGeom>
          <a:noFill/>
        </p:spPr>
        <p:txBody>
          <a:bodyPr wrap="square" rtlCol="0">
            <a:spAutoFit/>
          </a:bodyPr>
          <a:lstStyle/>
          <a:p>
            <a:r>
              <a:rPr lang="zh-CN" altLang="en-US" sz="2400" b="1" dirty="0">
                <a:solidFill>
                  <a:schemeClr val="accent1"/>
                </a:solidFill>
              </a:rPr>
              <a:t>首结点</a:t>
            </a:r>
            <a:endParaRPr lang="zh-CN" altLang="en-US" sz="2400" b="1" dirty="0">
              <a:solidFill>
                <a:schemeClr val="accent1"/>
              </a:solidFill>
            </a:endParaRPr>
          </a:p>
        </p:txBody>
      </p:sp>
      <p:sp>
        <p:nvSpPr>
          <p:cNvPr id="7" name="文本框 6"/>
          <p:cNvSpPr txBox="1"/>
          <p:nvPr/>
        </p:nvSpPr>
        <p:spPr>
          <a:xfrm>
            <a:off x="809951" y="5771444"/>
            <a:ext cx="1371600" cy="461665"/>
          </a:xfrm>
          <a:prstGeom prst="rect">
            <a:avLst/>
          </a:prstGeom>
          <a:noFill/>
        </p:spPr>
        <p:txBody>
          <a:bodyPr wrap="square" rtlCol="0">
            <a:spAutoFit/>
          </a:bodyPr>
          <a:lstStyle/>
          <a:p>
            <a:r>
              <a:rPr lang="zh-CN" altLang="en-US" sz="2400" b="1" dirty="0">
                <a:solidFill>
                  <a:schemeClr val="accent1"/>
                </a:solidFill>
              </a:rPr>
              <a:t>头指针</a:t>
            </a:r>
            <a:endParaRPr lang="zh-CN" altLang="en-US" sz="2400" b="1" dirty="0">
              <a:solidFill>
                <a:schemeClr val="accent1"/>
              </a:solidFill>
            </a:endParaRPr>
          </a:p>
        </p:txBody>
      </p:sp>
      <p:sp>
        <p:nvSpPr>
          <p:cNvPr id="8" name="文本框 7"/>
          <p:cNvSpPr txBox="1"/>
          <p:nvPr/>
        </p:nvSpPr>
        <p:spPr>
          <a:xfrm>
            <a:off x="8421296" y="5659747"/>
            <a:ext cx="3479115" cy="830997"/>
          </a:xfrm>
          <a:prstGeom prst="rect">
            <a:avLst/>
          </a:prstGeom>
          <a:noFill/>
        </p:spPr>
        <p:txBody>
          <a:bodyPr wrap="square" rtlCol="0">
            <a:spAutoFit/>
          </a:bodyPr>
          <a:lstStyle/>
          <a:p>
            <a:r>
              <a:rPr lang="en-US" altLang="zh-CN" sz="2400" b="1" dirty="0">
                <a:solidFill>
                  <a:schemeClr val="accent1"/>
                </a:solidFill>
              </a:rPr>
              <a:t>head</a:t>
            </a:r>
            <a:r>
              <a:rPr lang="zh-CN" altLang="en-US" sz="2400" b="1" dirty="0">
                <a:solidFill>
                  <a:schemeClr val="accent1"/>
                </a:solidFill>
              </a:rPr>
              <a:t>在无头结点的情况下仍叫头指针</a:t>
            </a:r>
            <a:endParaRPr lang="zh-CN" altLang="en-US" sz="2400" b="1" dirty="0">
              <a:solidFill>
                <a:schemeClr val="accent1"/>
              </a:solidFill>
            </a:endParaRPr>
          </a:p>
        </p:txBody>
      </p:sp>
    </p:spTree>
  </p:cSld>
  <p:clrMapOvr>
    <a:masterClrMapping/>
  </p:clrMapOvr>
  <p:transition spd="med">
    <p:push/>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645969"/>
            <a:ext cx="11280864" cy="2866397"/>
          </a:xfrm>
        </p:spPr>
        <p:txBody>
          <a:bodyPr>
            <a:normAutofit/>
          </a:bodyPr>
          <a:lstStyle/>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它的任何一个结点包含了一个存储元素</a:t>
            </a:r>
            <a:r>
              <a:rPr lang="zh-CN" altLang="zh-CN" sz="2800" dirty="0">
                <a:latin typeface="华文楷体" panose="02010600040101010101" pitchFamily="2" charset="-122"/>
                <a:ea typeface="华文楷体" panose="02010600040101010101" pitchFamily="2" charset="-122"/>
              </a:rPr>
              <a:t>数据值</a:t>
            </a:r>
            <a:r>
              <a:rPr lang="zh-CN" altLang="zh-CN" sz="2800" b="0" dirty="0">
                <a:latin typeface="华文楷体" panose="02010600040101010101" pitchFamily="2" charset="-122"/>
                <a:ea typeface="华文楷体" panose="02010600040101010101" pitchFamily="2" charset="-122"/>
              </a:rPr>
              <a:t>的字段和一个存储该结点的直接</a:t>
            </a:r>
            <a:r>
              <a:rPr lang="zh-CN" altLang="zh-CN" sz="2800" dirty="0">
                <a:latin typeface="华文楷体" panose="02010600040101010101" pitchFamily="2" charset="-122"/>
                <a:ea typeface="华文楷体" panose="02010600040101010101" pitchFamily="2" charset="-122"/>
              </a:rPr>
              <a:t>后继结点地址</a:t>
            </a:r>
            <a:r>
              <a:rPr lang="zh-CN" altLang="zh-CN" sz="2800" b="0" dirty="0">
                <a:latin typeface="华文楷体" panose="02010600040101010101" pitchFamily="2" charset="-122"/>
                <a:ea typeface="华文楷体" panose="02010600040101010101" pitchFamily="2" charset="-122"/>
              </a:rPr>
              <a:t>的指针字段。</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提供一个单链表只需要给出头结点的地址即头指针。</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单链表结点类定义、单链表类定义</a:t>
            </a:r>
            <a:endParaRPr lang="zh-CN" altLang="zh-CN" sz="2800" b="0" dirty="0">
              <a:latin typeface="华文楷体" panose="02010600040101010101" pitchFamily="2" charset="-122"/>
              <a:ea typeface="华文楷体" panose="02010600040101010101" pitchFamily="2" charset="-122"/>
            </a:endParaRPr>
          </a:p>
          <a:p>
            <a:pPr marL="457200" lvl="1" indent="0">
              <a:lnSpc>
                <a:spcPct val="115000"/>
              </a:lnSpc>
              <a:buNone/>
              <a:defRPr/>
            </a:pP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单链表类：</a:t>
            </a:r>
            <a:endParaRPr lang="zh-CN" altLang="en-US" dirty="0">
              <a:latin typeface="华文楷体" panose="02010600040101010101" pitchFamily="2" charset="-122"/>
              <a:ea typeface="华文楷体" panose="02010600040101010101" pitchFamily="2" charset="-122"/>
            </a:endParaRPr>
          </a:p>
        </p:txBody>
      </p:sp>
      <p:pic>
        <p:nvPicPr>
          <p:cNvPr id="4" name="图片 3"/>
          <p:cNvPicPr>
            <a:picLocks noChangeAspect="1"/>
          </p:cNvPicPr>
          <p:nvPr/>
        </p:nvPicPr>
        <p:blipFill>
          <a:blip r:embed="rId1"/>
          <a:stretch>
            <a:fillRect/>
          </a:stretch>
        </p:blipFill>
        <p:spPr>
          <a:xfrm>
            <a:off x="1450030" y="4957962"/>
            <a:ext cx="7376350" cy="916714"/>
          </a:xfrm>
          <a:prstGeom prst="rect">
            <a:avLst/>
          </a:prstGeom>
        </p:spPr>
      </p:pic>
      <p:sp>
        <p:nvSpPr>
          <p:cNvPr id="9" name="文本框 8"/>
          <p:cNvSpPr txBox="1"/>
          <p:nvPr/>
        </p:nvSpPr>
        <p:spPr>
          <a:xfrm>
            <a:off x="8023431" y="4306786"/>
            <a:ext cx="4000867" cy="523220"/>
          </a:xfrm>
          <a:prstGeom prst="rect">
            <a:avLst/>
          </a:prstGeom>
          <a:noFill/>
        </p:spPr>
        <p:txBody>
          <a:bodyPr wrap="square" rtlCol="0">
            <a:spAutoFit/>
          </a:bodyPr>
          <a:lstStyle/>
          <a:p>
            <a:r>
              <a:rPr lang="zh-CN" altLang="en-US" sz="2800" b="1" dirty="0">
                <a:solidFill>
                  <a:schemeClr val="accent1"/>
                </a:solidFill>
              </a:rPr>
              <a:t>链表：仅一个描述因子</a:t>
            </a:r>
            <a:endParaRPr lang="zh-CN" altLang="en-US" sz="2800" b="1" dirty="0">
              <a:solidFill>
                <a:schemeClr val="accent1"/>
              </a:solidFill>
            </a:endParaRPr>
          </a:p>
        </p:txBody>
      </p:sp>
    </p:spTree>
  </p:cSld>
  <p:clrMapOvr>
    <a:masterClrMapping/>
  </p:clrMapOvr>
  <p:transition spd="med">
    <p:push/>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685898" y="754146"/>
            <a:ext cx="6649180"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单链表结点类：</a:t>
            </a:r>
            <a:r>
              <a:rPr lang="zh-CN" altLang="zh-CN" dirty="0">
                <a:latin typeface="华文楷体" panose="02010600040101010101" pitchFamily="2" charset="-122"/>
                <a:ea typeface="华文楷体" panose="02010600040101010101" pitchFamily="2" charset="-122"/>
              </a:rPr>
              <a:t> （</a:t>
            </a:r>
            <a:r>
              <a:rPr lang="en-GB" altLang="zh-CN" dirty="0" err="1">
                <a:latin typeface="华文楷体" panose="02010600040101010101" pitchFamily="2" charset="-122"/>
                <a:ea typeface="华文楷体" panose="02010600040101010101" pitchFamily="2" charset="-122"/>
              </a:rPr>
              <a:t>linkList.h</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3"/>
          <p:cNvSpPr>
            <a:spLocks noChangeArrowheads="1"/>
          </p:cNvSpPr>
          <p:nvPr/>
        </p:nvSpPr>
        <p:spPr bwMode="auto">
          <a:xfrm>
            <a:off x="431976" y="1446764"/>
            <a:ext cx="765313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class </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outOfBound</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template &lt;class </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elemType</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&gt;</a:t>
            </a:r>
            <a:endParaRPr kumimoji="0" lang="en-US" altLang="zh-CN"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class </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linkList</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3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a:t>
            </a:r>
            <a:r>
              <a:rPr kumimoji="0" lang="zh-CN" altLang="en-US" sz="3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类的前向说明</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endPar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template &lt;class </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elemType</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&gt;</a:t>
            </a:r>
            <a:endParaRPr kumimoji="0" lang="en-US" altLang="zh-CN"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class node</a:t>
            </a:r>
            <a:endParaRPr kumimoji="0" lang="en-US" altLang="zh-CN"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friend class </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linkList</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&lt;</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elemType</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&gt;;</a:t>
            </a:r>
            <a:endParaRPr kumimoji="0" lang="en-US" altLang="zh-CN"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private:</a:t>
            </a:r>
            <a:endParaRPr kumimoji="0" lang="en-US" altLang="zh-CN"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elemType</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data;</a:t>
            </a:r>
            <a:endParaRPr kumimoji="0" lang="en-US" altLang="zh-CN"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node *next;</a:t>
            </a:r>
            <a:endParaRPr kumimoji="0" lang="en-US" altLang="zh-CN"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ransition spd="med">
    <p:push/>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685898" y="754146"/>
            <a:ext cx="3428951" cy="574183"/>
          </a:xfrm>
        </p:spPr>
        <p:txBody>
          <a:bodyPr/>
          <a:lstStyle/>
          <a:p>
            <a:pPr marL="838200" indent="-838200">
              <a:defRPr/>
            </a:pPr>
            <a:r>
              <a:rPr lang="zh-CN" altLang="en-US" dirty="0"/>
              <a:t>单链表结点类：</a:t>
            </a:r>
            <a:endParaRPr lang="zh-CN" altLang="en-US" dirty="0"/>
          </a:p>
        </p:txBody>
      </p: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3"/>
          <p:cNvSpPr>
            <a:spLocks noChangeArrowheads="1"/>
          </p:cNvSpPr>
          <p:nvPr/>
        </p:nvSpPr>
        <p:spPr bwMode="auto">
          <a:xfrm>
            <a:off x="447309" y="1708373"/>
            <a:ext cx="9869507"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public:</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node():next(NULL){};</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node(</a:t>
            </a:r>
            <a:r>
              <a:rPr lang="en-US" altLang="zh-CN" sz="2800" dirty="0" err="1">
                <a:latin typeface="Times New Roman" panose="02020603050405020304" pitchFamily="18" charset="0"/>
                <a:cs typeface="Times New Roman" panose="02020603050405020304" pitchFamily="18" charset="0"/>
              </a:rPr>
              <a:t>const</a:t>
            </a:r>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elemType</a:t>
            </a:r>
            <a:r>
              <a:rPr lang="en-US" altLang="zh-CN" sz="2800" dirty="0">
                <a:latin typeface="Times New Roman" panose="02020603050405020304" pitchFamily="18" charset="0"/>
                <a:cs typeface="Times New Roman" panose="02020603050405020304" pitchFamily="18" charset="0"/>
              </a:rPr>
              <a:t> &amp;e, node *N=NULL)</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  data = e; next = N; };</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a:t>
            </a:r>
            <a:endParaRPr kumimoji="0" lang="en-US" altLang="zh-CN" sz="5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ransition spd="med">
    <p:push/>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685898" y="754146"/>
            <a:ext cx="5600602"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单链表类：</a:t>
            </a:r>
            <a:r>
              <a:rPr lang="zh-CN" altLang="zh-CN" dirty="0">
                <a:latin typeface="华文楷体" panose="02010600040101010101" pitchFamily="2" charset="-122"/>
                <a:ea typeface="华文楷体" panose="02010600040101010101" pitchFamily="2" charset="-122"/>
              </a:rPr>
              <a:t> （</a:t>
            </a:r>
            <a:r>
              <a:rPr lang="en-GB" altLang="zh-CN" dirty="0" err="1">
                <a:latin typeface="华文楷体" panose="02010600040101010101" pitchFamily="2" charset="-122"/>
                <a:ea typeface="华文楷体" panose="02010600040101010101" pitchFamily="2" charset="-122"/>
              </a:rPr>
              <a:t>linkList.h</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3"/>
          <p:cNvSpPr>
            <a:spLocks noChangeArrowheads="1"/>
          </p:cNvSpPr>
          <p:nvPr/>
        </p:nvSpPr>
        <p:spPr bwMode="auto">
          <a:xfrm>
            <a:off x="467188" y="1533835"/>
            <a:ext cx="11724812"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linkList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private: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*head;</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public:</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linkList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构造函数，建立一个空表</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bool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isEmpty</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表为空返回</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true,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否则返回</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false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bool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isFull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{return false;};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表为满返回</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true,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否则返回</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false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length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表的长度</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685898" y="754146"/>
            <a:ext cx="3428951"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单链表类：</a:t>
            </a:r>
            <a:endParaRPr lang="zh-CN" altLang="en-US" dirty="0">
              <a:latin typeface="华文楷体" panose="02010600040101010101" pitchFamily="2" charset="-122"/>
              <a:ea typeface="华文楷体" panose="02010600040101010101" pitchFamily="2" charset="-122"/>
            </a:endParaRPr>
          </a:p>
        </p:txBody>
      </p: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3"/>
          <p:cNvSpPr>
            <a:spLocks noChangeArrowheads="1"/>
          </p:cNvSpPr>
          <p:nvPr/>
        </p:nvSpPr>
        <p:spPr bwMode="auto">
          <a:xfrm>
            <a:off x="467188" y="1409834"/>
            <a:ext cx="11724812"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get(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返回第</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个元素的值</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返回值等于</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的元素的序号，从第</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个开始，无则返回</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find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&amp;e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在第</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个位置上插入新的元素（值为</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void insert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&amp;e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若第</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个元素存在，删除并将其值放入</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指向的空间。</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void remove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void reverse()</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元素就地逆置</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void clear ();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清空表，使其为空表</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linkList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40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链表基本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实现代码</a:t>
            </a:r>
            <a:r>
              <a:rPr lang="zh-CN" altLang="zh-CN" dirty="0">
                <a:latin typeface="华文楷体" panose="02010600040101010101" pitchFamily="2" charset="-122"/>
                <a:ea typeface="华文楷体" panose="02010600040101010101" pitchFamily="2" charset="-122"/>
              </a:rPr>
              <a:t>（</a:t>
            </a:r>
            <a:r>
              <a:rPr lang="en-GB" altLang="zh-CN" dirty="0" err="1">
                <a:latin typeface="华文楷体" panose="02010600040101010101" pitchFamily="2" charset="-122"/>
                <a:ea typeface="华文楷体" panose="02010600040101010101" pitchFamily="2" charset="-122"/>
              </a:rPr>
              <a:t>linkList.h</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6"/>
          <p:cNvSpPr>
            <a:spLocks noChangeArrowheads="1"/>
          </p:cNvSpPr>
          <p:nvPr/>
        </p:nvSpPr>
        <p:spPr bwMode="auto">
          <a:xfrm>
            <a:off x="4350026" y="1293876"/>
            <a:ext cx="1183419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属性赋初值，模板函数用法</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3"/>
          <p:cNvSpPr>
            <a:spLocks noChangeArrowheads="1"/>
          </p:cNvSpPr>
          <p:nvPr/>
        </p:nvSpPr>
        <p:spPr bwMode="auto">
          <a:xfrm>
            <a:off x="0" y="1387542"/>
            <a:ext cx="11794191"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template &lt;class </a:t>
            </a:r>
            <a:r>
              <a:rPr kumimoji="0" lang="en-US" altLang="zh-CN" sz="2800" b="0" i="0"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elemType</a:t>
            </a: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en-US" altLang="zh-CN" sz="2800" dirty="0">
              <a:latin typeface="华文楷体" panose="02010600040101010101" pitchFamily="2" charset="-122"/>
              <a:ea typeface="华文楷体" panose="0201060004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linkList</a:t>
            </a: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&lt;</a:t>
            </a:r>
            <a:r>
              <a:rPr kumimoji="0" lang="en-US" altLang="zh-CN" sz="2800" b="0" i="0"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elemType</a:t>
            </a: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&gt;::</a:t>
            </a:r>
            <a:r>
              <a:rPr kumimoji="0" lang="en-US" altLang="zh-CN" sz="2800" b="0" i="0"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linkList</a:t>
            </a: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dirty="0">
                <a:latin typeface="华文楷体" panose="02010600040101010101" pitchFamily="2" charset="-122"/>
                <a:ea typeface="华文楷体" panose="02010600040101010101" pitchFamily="2" charset="-122"/>
              </a:rPr>
              <a:t>构造函数，建立一个空表</a:t>
            </a:r>
            <a:endParaRPr lang="zh-CN" altLang="en-US" sz="2800" dirty="0">
              <a:latin typeface="华文楷体" panose="02010600040101010101" pitchFamily="2" charset="-122"/>
              <a:ea typeface="华文楷体" panose="0201060004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head = new node&lt;</a:t>
            </a:r>
            <a:r>
              <a:rPr kumimoji="0" lang="en-US" altLang="zh-CN" sz="2800" b="0" i="0"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elemType</a:t>
            </a: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kumimoji="0" lang="en-US" altLang="zh-CN"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endParaRPr kumimoji="0" lang="en-US" altLang="zh-CN"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template &lt;class </a:t>
            </a:r>
            <a:r>
              <a:rPr kumimoji="0" lang="en-US" altLang="zh-CN" sz="2800" b="0" i="0"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elemType</a:t>
            </a: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kumimoji="0" lang="en-US" altLang="zh-CN"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bool </a:t>
            </a:r>
            <a:r>
              <a:rPr kumimoji="0" lang="en-US" altLang="zh-CN" sz="2800" b="0" i="0"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linkList</a:t>
            </a: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&lt;</a:t>
            </a:r>
            <a:r>
              <a:rPr kumimoji="0" lang="en-US" altLang="zh-CN" sz="2800" b="0" i="0"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elemType</a:t>
            </a: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&gt;::</a:t>
            </a:r>
            <a:r>
              <a:rPr kumimoji="0" lang="en-US" altLang="zh-CN" sz="2800" b="0" i="0"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isEmpty</a:t>
            </a: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0" i="0"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const</a:t>
            </a: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dirty="0">
                <a:latin typeface="华文楷体" panose="02010600040101010101" pitchFamily="2" charset="-122"/>
                <a:ea typeface="华文楷体" panose="02010600040101010101" pitchFamily="2" charset="-122"/>
              </a:rPr>
              <a:t>表为空返回</a:t>
            </a:r>
            <a:r>
              <a:rPr lang="en-US" altLang="zh-CN" sz="2800" dirty="0">
                <a:latin typeface="华文楷体" panose="02010600040101010101" pitchFamily="2" charset="-122"/>
                <a:ea typeface="华文楷体" panose="02010600040101010101" pitchFamily="2" charset="-122"/>
              </a:rPr>
              <a:t>true,</a:t>
            </a:r>
            <a:r>
              <a:rPr lang="zh-CN" altLang="en-US" sz="2800" dirty="0">
                <a:latin typeface="华文楷体" panose="02010600040101010101" pitchFamily="2" charset="-122"/>
                <a:ea typeface="华文楷体" panose="02010600040101010101" pitchFamily="2" charset="-122"/>
              </a:rPr>
              <a:t>否则返回</a:t>
            </a:r>
            <a:r>
              <a:rPr lang="en-US" altLang="zh-CN" sz="2800" dirty="0">
                <a:latin typeface="华文楷体" panose="02010600040101010101" pitchFamily="2" charset="-122"/>
                <a:ea typeface="华文楷体" panose="02010600040101010101" pitchFamily="2" charset="-122"/>
              </a:rPr>
              <a:t>false</a:t>
            </a:r>
            <a:r>
              <a:rPr lang="zh-CN" altLang="en-US" sz="2800" dirty="0">
                <a:latin typeface="华文楷体" panose="02010600040101010101" pitchFamily="2" charset="-122"/>
                <a:ea typeface="华文楷体" panose="02010600040101010101" pitchFamily="2" charset="-122"/>
              </a:rPr>
              <a:t>。</a:t>
            </a:r>
            <a:endParaRPr lang="zh-CN" altLang="en-US" sz="2800" dirty="0">
              <a:latin typeface="华文楷体" panose="02010600040101010101" pitchFamily="2" charset="-122"/>
              <a:ea typeface="华文楷体" panose="0201060004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if (head-&gt;next==NULL) return true;</a:t>
            </a:r>
            <a:endParaRPr kumimoji="0" lang="en-US" altLang="zh-CN"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return false;</a:t>
            </a:r>
            <a:endParaRPr kumimoji="0" lang="en-US" altLang="zh-CN"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5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0" name="图片 9"/>
          <p:cNvPicPr>
            <a:picLocks noChangeAspect="1"/>
          </p:cNvPicPr>
          <p:nvPr/>
        </p:nvPicPr>
        <p:blipFill>
          <a:blip r:embed="rId1"/>
          <a:stretch>
            <a:fillRect/>
          </a:stretch>
        </p:blipFill>
        <p:spPr>
          <a:xfrm>
            <a:off x="7699738" y="2283428"/>
            <a:ext cx="2790272" cy="1051130"/>
          </a:xfrm>
          <a:prstGeom prst="rect">
            <a:avLst/>
          </a:prstGeom>
        </p:spPr>
      </p:pic>
      <p:sp>
        <p:nvSpPr>
          <p:cNvPr id="14" name="文本框 13"/>
          <p:cNvSpPr txBox="1"/>
          <p:nvPr/>
        </p:nvSpPr>
        <p:spPr>
          <a:xfrm>
            <a:off x="6400800" y="5441381"/>
            <a:ext cx="4094453" cy="461665"/>
          </a:xfrm>
          <a:prstGeom prst="rect">
            <a:avLst/>
          </a:prstGeom>
          <a:noFill/>
        </p:spPr>
        <p:txBody>
          <a:bodyPr wrap="square" rtlCol="0">
            <a:spAutoFit/>
          </a:bodyPr>
          <a:lstStyle/>
          <a:p>
            <a:r>
              <a:rPr lang="en-US" altLang="zh-CN" sz="2400" b="1" dirty="0"/>
              <a:t>// if  (!head-&gt;next) return true;</a:t>
            </a:r>
            <a:endParaRPr lang="zh-CN" altLang="en-US" sz="2400" b="1" dirty="0"/>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686894"/>
            <a:ext cx="10366464" cy="620154"/>
          </a:xfrm>
        </p:spPr>
        <p:txBody>
          <a:bodyPr>
            <a:noAutofit/>
          </a:bodyPr>
          <a:lstStyle/>
          <a:p>
            <a:pPr marL="0" indent="0">
              <a:buNone/>
            </a:pPr>
            <a:r>
              <a:rPr lang="zh-CN" altLang="en-US" sz="2800" dirty="0">
                <a:latin typeface="华文楷体" panose="02010600040101010101" pitchFamily="2" charset="-122"/>
                <a:ea typeface="华文楷体" panose="02010600040101010101" pitchFamily="2" charset="-122"/>
              </a:rPr>
              <a:t>插入</a:t>
            </a:r>
            <a:r>
              <a:rPr lang="zh-CN" altLang="zh-CN" sz="2800" dirty="0">
                <a:latin typeface="华文楷体" panose="02010600040101010101" pitchFamily="2" charset="-122"/>
                <a:ea typeface="华文楷体" panose="02010600040101010101" pitchFamily="2" charset="-122"/>
              </a:rPr>
              <a:t>操作</a:t>
            </a:r>
            <a:r>
              <a:rPr lang="zh-CN" altLang="en-US" sz="2800" dirty="0">
                <a:latin typeface="华文楷体" panose="02010600040101010101" pitchFamily="2" charset="-122"/>
                <a:ea typeface="华文楷体" panose="02010600040101010101" pitchFamily="2" charset="-122"/>
              </a:rPr>
              <a:t>： </a:t>
            </a:r>
            <a:r>
              <a:rPr lang="zh-CN" altLang="en-US" sz="2800" b="0" dirty="0">
                <a:latin typeface="华文楷体" panose="02010600040101010101" pitchFamily="2" charset="-122"/>
                <a:ea typeface="华文楷体" panose="02010600040101010101" pitchFamily="2" charset="-122"/>
              </a:rPr>
              <a:t>将元素</a:t>
            </a:r>
            <a:r>
              <a:rPr lang="en-US" altLang="zh-CN" sz="2800" b="0" dirty="0">
                <a:latin typeface="华文楷体" panose="02010600040101010101" pitchFamily="2" charset="-122"/>
                <a:ea typeface="华文楷体" panose="02010600040101010101" pitchFamily="2" charset="-122"/>
              </a:rPr>
              <a:t>x</a:t>
            </a:r>
            <a:r>
              <a:rPr lang="zh-CN" altLang="en-US" sz="2800" b="0" dirty="0">
                <a:latin typeface="华文楷体" panose="02010600040101010101" pitchFamily="2" charset="-122"/>
                <a:ea typeface="华文楷体" panose="02010600040101010101" pitchFamily="2" charset="-122"/>
              </a:rPr>
              <a:t>插入在</a:t>
            </a:r>
            <a:r>
              <a:rPr lang="en-US" altLang="zh-CN" sz="2800" b="0" dirty="0">
                <a:latin typeface="华文楷体" panose="02010600040101010101" pitchFamily="2" charset="-122"/>
                <a:ea typeface="华文楷体" panose="02010600040101010101" pitchFamily="2" charset="-122"/>
              </a:rPr>
              <a:t>P</a:t>
            </a:r>
            <a:r>
              <a:rPr lang="zh-CN" altLang="en-US" sz="2800" b="0" dirty="0">
                <a:latin typeface="华文楷体" panose="02010600040101010101" pitchFamily="2" charset="-122"/>
                <a:ea typeface="华文楷体" panose="02010600040101010101" pitchFamily="2" charset="-122"/>
              </a:rPr>
              <a:t>指针所指结点之后</a:t>
            </a:r>
            <a:endParaRPr lang="zh-CN"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链表基本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实现分析</a:t>
            </a:r>
            <a:endParaRPr lang="zh-CN" altLang="en-US" dirty="0">
              <a:latin typeface="华文楷体" panose="02010600040101010101" pitchFamily="2" charset="-122"/>
              <a:ea typeface="华文楷体" panose="02010600040101010101" pitchFamily="2" charset="-122"/>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437323" y="2224569"/>
            <a:ext cx="5983356" cy="876440"/>
          </a:xfrm>
          <a:prstGeom prst="rect">
            <a:avLst/>
          </a:prstGeom>
          <a:noFill/>
          <a:ln>
            <a:noFill/>
          </a:ln>
        </p:spPr>
      </p:pic>
      <p:pic>
        <p:nvPicPr>
          <p:cNvPr id="7" name="图片 6"/>
          <p:cNvPicPr/>
          <p:nvPr/>
        </p:nvPicPr>
        <p:blipFill>
          <a:blip r:embed="rId2">
            <a:extLst>
              <a:ext uri="{28A0092B-C50C-407E-A947-70E740481C1C}">
                <a14:useLocalDpi xmlns:a14="http://schemas.microsoft.com/office/drawing/2010/main" val="0"/>
              </a:ext>
            </a:extLst>
          </a:blip>
          <a:srcRect/>
          <a:stretch>
            <a:fillRect/>
          </a:stretch>
        </p:blipFill>
        <p:spPr bwMode="auto">
          <a:xfrm>
            <a:off x="4593168" y="3264993"/>
            <a:ext cx="6638049" cy="1667154"/>
          </a:xfrm>
          <a:prstGeom prst="rect">
            <a:avLst/>
          </a:prstGeom>
          <a:noFill/>
          <a:ln>
            <a:noFill/>
          </a:ln>
        </p:spPr>
      </p:pic>
      <p:pic>
        <p:nvPicPr>
          <p:cNvPr id="8" name="图片 7"/>
          <p:cNvPicPr/>
          <p:nvPr/>
        </p:nvPicPr>
        <p:blipFill>
          <a:blip r:embed="rId3">
            <a:extLst>
              <a:ext uri="{28A0092B-C50C-407E-A947-70E740481C1C}">
                <a14:useLocalDpi xmlns:a14="http://schemas.microsoft.com/office/drawing/2010/main" val="0"/>
              </a:ext>
            </a:extLst>
          </a:blip>
          <a:srcRect/>
          <a:stretch>
            <a:fillRect/>
          </a:stretch>
        </p:blipFill>
        <p:spPr bwMode="auto">
          <a:xfrm>
            <a:off x="437323" y="4773121"/>
            <a:ext cx="6420677" cy="1667154"/>
          </a:xfrm>
          <a:prstGeom prst="rect">
            <a:avLst/>
          </a:prstGeom>
          <a:noFill/>
          <a:ln>
            <a:noFill/>
          </a:ln>
        </p:spPr>
      </p:pic>
      <p:sp>
        <p:nvSpPr>
          <p:cNvPr id="2" name="文本框 1"/>
          <p:cNvSpPr txBox="1"/>
          <p:nvPr/>
        </p:nvSpPr>
        <p:spPr>
          <a:xfrm>
            <a:off x="6858000" y="2537892"/>
            <a:ext cx="3879668" cy="523220"/>
          </a:xfrm>
          <a:prstGeom prst="rect">
            <a:avLst/>
          </a:prstGeom>
          <a:noFill/>
        </p:spPr>
        <p:txBody>
          <a:bodyPr wrap="square" rtlCol="0">
            <a:spAutoFit/>
          </a:bodyPr>
          <a:lstStyle/>
          <a:p>
            <a:r>
              <a:rPr lang="zh-CN" altLang="en-US" sz="2800" dirty="0">
                <a:solidFill>
                  <a:srgbClr val="FF0000"/>
                </a:solidFill>
                <a:latin typeface="华文楷体" panose="02010600040101010101" pitchFamily="2" charset="-122"/>
                <a:ea typeface="华文楷体" panose="02010600040101010101" pitchFamily="2" charset="-122"/>
              </a:rPr>
              <a:t>摆龙门阵！找核心操作</a:t>
            </a:r>
            <a:endParaRPr lang="zh-CN" altLang="en-US" sz="2800"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3" y="1667015"/>
            <a:ext cx="11340499" cy="4674149"/>
          </a:xfrm>
        </p:spPr>
        <p:txBody>
          <a:bodyPr>
            <a:noAutofit/>
          </a:bodyPr>
          <a:lstStyle/>
          <a:p>
            <a:pPr marL="0" indent="0">
              <a:buNone/>
            </a:pPr>
            <a:r>
              <a:rPr lang="zh-CN" altLang="en-US" sz="2800" dirty="0">
                <a:latin typeface="华文楷体" panose="02010600040101010101" pitchFamily="2" charset="-122"/>
                <a:ea typeface="华文楷体" panose="02010600040101010101" pitchFamily="2" charset="-122"/>
              </a:rPr>
              <a:t>插入总结：</a:t>
            </a:r>
            <a:r>
              <a:rPr lang="zh-CN" altLang="zh-CN" sz="3200" dirty="0">
                <a:latin typeface="华文楷体" panose="02010600040101010101" pitchFamily="2" charset="-122"/>
                <a:ea typeface="华文楷体" panose="02010600040101010101" pitchFamily="2" charset="-122"/>
              </a:rPr>
              <a:t>遵循“先武装自己，再融入队伍”</a:t>
            </a:r>
            <a:endParaRPr lang="en-US" altLang="zh-CN" sz="3200" dirty="0">
              <a:latin typeface="华文楷体" panose="02010600040101010101" pitchFamily="2" charset="-122"/>
              <a:ea typeface="华文楷体" panose="02010600040101010101" pitchFamily="2" charset="-122"/>
            </a:endParaRPr>
          </a:p>
          <a:p>
            <a:pPr marL="514350" indent="-514350">
              <a:buFont typeface="+mj-lt"/>
              <a:buAutoNum type="arabicPeriod"/>
            </a:pPr>
            <a:r>
              <a:rPr lang="zh-CN" altLang="zh-CN" sz="2800" b="0" dirty="0">
                <a:latin typeface="华文楷体" panose="02010600040101010101" pitchFamily="2" charset="-122"/>
                <a:ea typeface="华文楷体" panose="02010600040101010101" pitchFamily="2" charset="-122"/>
              </a:rPr>
              <a:t>在内存中创建新结点。</a:t>
            </a:r>
            <a:endParaRPr lang="en-US" altLang="zh-CN" sz="2800" b="0" dirty="0">
              <a:latin typeface="华文楷体" panose="02010600040101010101" pitchFamily="2" charset="-122"/>
              <a:ea typeface="华文楷体" panose="02010600040101010101" pitchFamily="2" charset="-122"/>
            </a:endParaRPr>
          </a:p>
          <a:p>
            <a:pPr marL="514350" indent="-514350">
              <a:buFont typeface="+mj-lt"/>
              <a:buAutoNum type="arabicPeriod"/>
            </a:pPr>
            <a:r>
              <a:rPr lang="zh-CN" altLang="en-US" sz="2800" b="0" dirty="0">
                <a:latin typeface="华文楷体" panose="02010600040101010101" pitchFamily="2" charset="-122"/>
                <a:ea typeface="华文楷体" panose="02010600040101010101" pitchFamily="2" charset="-122"/>
              </a:rPr>
              <a:t>武装新结点：</a:t>
            </a:r>
            <a:r>
              <a:rPr lang="zh-CN" altLang="zh-CN" sz="2800" b="0" dirty="0">
                <a:latin typeface="华文楷体" panose="02010600040101010101" pitchFamily="2" charset="-122"/>
                <a:ea typeface="华文楷体" panose="02010600040101010101" pitchFamily="2" charset="-122"/>
              </a:rPr>
              <a:t>将</a:t>
            </a:r>
            <a:r>
              <a:rPr lang="en-US" altLang="zh-CN" sz="2800" b="0" dirty="0">
                <a:latin typeface="华文楷体" panose="02010600040101010101" pitchFamily="2" charset="-122"/>
                <a:ea typeface="华文楷体" panose="02010600040101010101" pitchFamily="2" charset="-122"/>
              </a:rPr>
              <a:t>x</a:t>
            </a:r>
            <a:r>
              <a:rPr lang="zh-CN" altLang="zh-CN" sz="2800" b="0" dirty="0">
                <a:latin typeface="华文楷体" panose="02010600040101010101" pitchFamily="2" charset="-122"/>
                <a:ea typeface="华文楷体" panose="02010600040101010101" pitchFamily="2" charset="-122"/>
              </a:rPr>
              <a:t>写入新结点的</a:t>
            </a:r>
            <a:r>
              <a:rPr lang="en-US" altLang="zh-CN" sz="2800" b="0" dirty="0">
                <a:latin typeface="华文楷体" panose="02010600040101010101" pitchFamily="2" charset="-122"/>
                <a:ea typeface="华文楷体" panose="02010600040101010101" pitchFamily="2" charset="-122"/>
              </a:rPr>
              <a:t>data</a:t>
            </a:r>
            <a:r>
              <a:rPr lang="zh-CN" altLang="zh-CN" sz="2800" b="0" dirty="0">
                <a:latin typeface="华文楷体" panose="02010600040101010101" pitchFamily="2" charset="-122"/>
                <a:ea typeface="华文楷体" panose="02010600040101010101" pitchFamily="2" charset="-122"/>
              </a:rPr>
              <a:t>字段，</a:t>
            </a:r>
            <a:r>
              <a:rPr lang="en-US" altLang="zh-CN" sz="2800" b="0" dirty="0">
                <a:latin typeface="华文楷体" panose="02010600040101010101" pitchFamily="2" charset="-122"/>
                <a:ea typeface="华文楷体" panose="02010600040101010101" pitchFamily="2" charset="-122"/>
              </a:rPr>
              <a:t>p</a:t>
            </a:r>
            <a:r>
              <a:rPr lang="zh-CN" altLang="zh-CN" sz="2800" b="0" dirty="0">
                <a:latin typeface="华文楷体" panose="02010600040101010101" pitchFamily="2" charset="-122"/>
                <a:ea typeface="华文楷体" panose="02010600040101010101" pitchFamily="2" charset="-122"/>
              </a:rPr>
              <a:t>指针所指结点的下一结点地址写入新结点的 </a:t>
            </a:r>
            <a:r>
              <a:rPr lang="en-US" altLang="zh-CN" sz="2800" b="0" dirty="0">
                <a:latin typeface="华文楷体" panose="02010600040101010101" pitchFamily="2" charset="-122"/>
                <a:ea typeface="华文楷体" panose="02010600040101010101" pitchFamily="2" charset="-122"/>
              </a:rPr>
              <a:t>next</a:t>
            </a:r>
            <a:r>
              <a:rPr lang="zh-CN" altLang="zh-CN" sz="2800" b="0" dirty="0">
                <a:latin typeface="华文楷体" panose="02010600040101010101" pitchFamily="2" charset="-122"/>
                <a:ea typeface="华文楷体" panose="02010600040101010101" pitchFamily="2" charset="-122"/>
              </a:rPr>
              <a:t>字段，使</a:t>
            </a:r>
            <a:r>
              <a:rPr lang="en-US" altLang="zh-CN" sz="2800" b="0" dirty="0">
                <a:latin typeface="华文楷体" panose="02010600040101010101" pitchFamily="2" charset="-122"/>
                <a:ea typeface="华文楷体" panose="02010600040101010101" pitchFamily="2" charset="-122"/>
              </a:rPr>
              <a:t>p</a:t>
            </a:r>
            <a:r>
              <a:rPr lang="zh-CN" altLang="zh-CN" sz="2800" b="0" dirty="0">
                <a:latin typeface="华文楷体" panose="02010600040101010101" pitchFamily="2" charset="-122"/>
                <a:ea typeface="华文楷体" panose="02010600040101010101" pitchFamily="2" charset="-122"/>
              </a:rPr>
              <a:t>所指结点的下一结点成为新结点的直接后继结点。</a:t>
            </a:r>
            <a:endParaRPr lang="en-US" altLang="zh-CN" sz="2800" b="0" dirty="0">
              <a:latin typeface="华文楷体" panose="02010600040101010101" pitchFamily="2" charset="-122"/>
              <a:ea typeface="华文楷体" panose="02010600040101010101" pitchFamily="2" charset="-122"/>
            </a:endParaRPr>
          </a:p>
          <a:p>
            <a:pPr marL="514350" indent="-514350">
              <a:buFont typeface="+mj-lt"/>
              <a:buAutoNum type="arabicPeriod"/>
            </a:pPr>
            <a:r>
              <a:rPr lang="zh-CN" altLang="zh-CN" sz="2800" b="0" dirty="0">
                <a:latin typeface="华文楷体" panose="02010600040101010101" pitchFamily="2" charset="-122"/>
                <a:ea typeface="华文楷体" panose="02010600040101010101" pitchFamily="2" charset="-122"/>
              </a:rPr>
              <a:t>将新结点地址写入</a:t>
            </a:r>
            <a:r>
              <a:rPr lang="en-US" altLang="zh-CN" sz="2800" b="0" dirty="0">
                <a:latin typeface="华文楷体" panose="02010600040101010101" pitchFamily="2" charset="-122"/>
                <a:ea typeface="华文楷体" panose="02010600040101010101" pitchFamily="2" charset="-122"/>
              </a:rPr>
              <a:t>p</a:t>
            </a:r>
            <a:r>
              <a:rPr lang="zh-CN" altLang="zh-CN" sz="2800" b="0" dirty="0">
                <a:latin typeface="华文楷体" panose="02010600040101010101" pitchFamily="2" charset="-122"/>
                <a:ea typeface="华文楷体" panose="02010600040101010101" pitchFamily="2" charset="-122"/>
              </a:rPr>
              <a:t>的</a:t>
            </a:r>
            <a:r>
              <a:rPr lang="en-US" altLang="zh-CN" sz="2800" b="0" dirty="0">
                <a:latin typeface="华文楷体" panose="02010600040101010101" pitchFamily="2" charset="-122"/>
                <a:ea typeface="华文楷体" panose="02010600040101010101" pitchFamily="2" charset="-122"/>
              </a:rPr>
              <a:t>next</a:t>
            </a:r>
            <a:r>
              <a:rPr lang="zh-CN" altLang="zh-CN" sz="2800" b="0" dirty="0">
                <a:latin typeface="华文楷体" panose="02010600040101010101" pitchFamily="2" charset="-122"/>
                <a:ea typeface="华文楷体" panose="02010600040101010101" pitchFamily="2" charset="-122"/>
              </a:rPr>
              <a:t>字段，使新结点成为</a:t>
            </a:r>
            <a:r>
              <a:rPr lang="en-US" altLang="zh-CN" sz="2800" b="0" dirty="0">
                <a:latin typeface="华文楷体" panose="02010600040101010101" pitchFamily="2" charset="-122"/>
                <a:ea typeface="华文楷体" panose="02010600040101010101" pitchFamily="2" charset="-122"/>
              </a:rPr>
              <a:t>p</a:t>
            </a:r>
            <a:r>
              <a:rPr lang="zh-CN" altLang="zh-CN" sz="2800" b="0" dirty="0">
                <a:latin typeface="华文楷体" panose="02010600040101010101" pitchFamily="2" charset="-122"/>
                <a:ea typeface="华文楷体" panose="02010600040101010101" pitchFamily="2" charset="-122"/>
              </a:rPr>
              <a:t>所指结点的直接后继结点。</a:t>
            </a:r>
            <a:endParaRPr lang="zh-CN"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链表基本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实现分析</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507989"/>
            <a:ext cx="5214187" cy="5151228"/>
          </a:xfrm>
        </p:spPr>
        <p:txBody>
          <a:bodyPr>
            <a:noAutofit/>
          </a:bodyPr>
          <a:lstStyle/>
          <a:p>
            <a:pPr marL="0" indent="0">
              <a:buNone/>
            </a:pPr>
            <a:r>
              <a:rPr lang="zh-CN" altLang="en-US" sz="2800" dirty="0">
                <a:latin typeface="华文楷体" panose="02010600040101010101" pitchFamily="2" charset="-122"/>
                <a:ea typeface="华文楷体" panose="02010600040101010101" pitchFamily="2" charset="-122"/>
              </a:rPr>
              <a:t>插入具体语句： </a:t>
            </a:r>
            <a:endParaRPr lang="en-US" altLang="zh-CN" sz="2800" dirty="0">
              <a:latin typeface="华文楷体" panose="02010600040101010101" pitchFamily="2" charset="-122"/>
              <a:ea typeface="华文楷体" panose="02010600040101010101" pitchFamily="2" charset="-122"/>
            </a:endParaRPr>
          </a:p>
          <a:p>
            <a:pPr marL="0" indent="0">
              <a:buNone/>
            </a:pPr>
            <a:r>
              <a:rPr lang="en-US" altLang="zh-CN" b="0" dirty="0" err="1">
                <a:cs typeface="Times New Roman" panose="02020603050405020304" pitchFamily="18" charset="0"/>
              </a:rPr>
              <a:t>tmp</a:t>
            </a:r>
            <a:r>
              <a:rPr lang="en-US" altLang="zh-CN" b="0" dirty="0">
                <a:cs typeface="Times New Roman" panose="02020603050405020304" pitchFamily="18" charset="0"/>
              </a:rPr>
              <a:t> = new node&lt;</a:t>
            </a:r>
            <a:r>
              <a:rPr lang="en-US" altLang="zh-CN" b="0" dirty="0" err="1">
                <a:cs typeface="Times New Roman" panose="02020603050405020304" pitchFamily="18" charset="0"/>
              </a:rPr>
              <a:t>elemType</a:t>
            </a:r>
            <a:r>
              <a:rPr lang="en-US" altLang="zh-CN" b="0" dirty="0">
                <a:cs typeface="Times New Roman" panose="02020603050405020304" pitchFamily="18" charset="0"/>
              </a:rPr>
              <a:t>&gt;(); </a:t>
            </a:r>
            <a:endParaRPr lang="en-US" altLang="zh-CN" b="0" dirty="0">
              <a:cs typeface="Times New Roman" panose="02020603050405020304" pitchFamily="18" charset="0"/>
            </a:endParaRPr>
          </a:p>
          <a:p>
            <a:pPr marL="0" indent="0">
              <a:buNone/>
            </a:pPr>
            <a:r>
              <a:rPr lang="en-US" altLang="zh-CN" b="0" dirty="0" err="1">
                <a:cs typeface="Times New Roman" panose="02020603050405020304" pitchFamily="18" charset="0"/>
              </a:rPr>
              <a:t>tmp</a:t>
            </a:r>
            <a:r>
              <a:rPr lang="en-US" altLang="zh-CN" b="0" dirty="0">
                <a:cs typeface="Times New Roman" panose="02020603050405020304" pitchFamily="18" charset="0"/>
              </a:rPr>
              <a:t>-&gt;data = e;</a:t>
            </a:r>
            <a:endParaRPr lang="zh-CN" altLang="zh-CN" b="0" dirty="0">
              <a:cs typeface="Times New Roman" panose="02020603050405020304" pitchFamily="18" charset="0"/>
            </a:endParaRPr>
          </a:p>
          <a:p>
            <a:pPr marL="0" indent="0">
              <a:buNone/>
            </a:pPr>
            <a:r>
              <a:rPr lang="en-US" altLang="zh-CN" b="0" dirty="0" err="1">
                <a:cs typeface="Times New Roman" panose="02020603050405020304" pitchFamily="18" charset="0"/>
              </a:rPr>
              <a:t>tmp</a:t>
            </a:r>
            <a:r>
              <a:rPr lang="en-US" altLang="zh-CN" b="0" dirty="0">
                <a:cs typeface="Times New Roman" panose="02020603050405020304" pitchFamily="18" charset="0"/>
              </a:rPr>
              <a:t>-&gt;next = p-&gt;next;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p-&gt;next = </a:t>
            </a:r>
            <a:r>
              <a:rPr lang="en-US" altLang="zh-CN" b="0" dirty="0" err="1">
                <a:cs typeface="Times New Roman" panose="02020603050405020304" pitchFamily="18" charset="0"/>
              </a:rPr>
              <a:t>tmp</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endParaRPr lang="en-US" altLang="zh-CN" b="0" dirty="0">
              <a:cs typeface="Times New Roman" panose="02020603050405020304" pitchFamily="18" charset="0"/>
            </a:endParaRPr>
          </a:p>
          <a:p>
            <a:pPr marL="0" indent="0">
              <a:buNone/>
            </a:pPr>
            <a:r>
              <a:rPr lang="zh-CN" altLang="zh-CN" b="0" dirty="0">
                <a:cs typeface="Times New Roman" panose="02020603050405020304" pitchFamily="18" charset="0"/>
              </a:rPr>
              <a:t>或者：</a:t>
            </a:r>
            <a:endParaRPr lang="zh-CN" altLang="zh-CN" b="0" dirty="0">
              <a:cs typeface="Times New Roman" panose="02020603050405020304" pitchFamily="18" charset="0"/>
            </a:endParaRPr>
          </a:p>
          <a:p>
            <a:pPr marL="0" indent="0">
              <a:buNone/>
            </a:pPr>
            <a:r>
              <a:rPr lang="en-US" altLang="zh-CN" b="0" dirty="0" err="1">
                <a:cs typeface="Times New Roman" panose="02020603050405020304" pitchFamily="18" charset="0"/>
              </a:rPr>
              <a:t>tmp</a:t>
            </a:r>
            <a:r>
              <a:rPr lang="en-US" altLang="zh-CN" b="0" dirty="0">
                <a:cs typeface="Times New Roman" panose="02020603050405020304" pitchFamily="18" charset="0"/>
              </a:rPr>
              <a:t> = new node&lt;</a:t>
            </a:r>
            <a:r>
              <a:rPr lang="en-US" altLang="zh-CN" b="0" dirty="0" err="1">
                <a:cs typeface="Times New Roman" panose="02020603050405020304" pitchFamily="18" charset="0"/>
              </a:rPr>
              <a:t>elemType</a:t>
            </a:r>
            <a:r>
              <a:rPr lang="en-US" altLang="zh-CN" b="0" dirty="0">
                <a:cs typeface="Times New Roman" panose="02020603050405020304" pitchFamily="18" charset="0"/>
              </a:rPr>
              <a:t>&gt;(e, p-&gt;next);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p-&gt;next = </a:t>
            </a:r>
            <a:r>
              <a:rPr lang="en-US" altLang="zh-CN" b="0" dirty="0" err="1">
                <a:cs typeface="Times New Roman" panose="02020603050405020304" pitchFamily="18" charset="0"/>
              </a:rPr>
              <a:t>tmp</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链表基本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实现分析</a:t>
            </a:r>
            <a:endParaRPr lang="zh-CN" altLang="en-US" dirty="0">
              <a:latin typeface="华文楷体" panose="02010600040101010101" pitchFamily="2" charset="-122"/>
              <a:ea typeface="华文楷体" panose="02010600040101010101" pitchFamily="2" charset="-122"/>
            </a:endParaRPr>
          </a:p>
        </p:txBody>
      </p:sp>
      <p:cxnSp>
        <p:nvCxnSpPr>
          <p:cNvPr id="3" name="直接连接符 2"/>
          <p:cNvCxnSpPr/>
          <p:nvPr/>
        </p:nvCxnSpPr>
        <p:spPr>
          <a:xfrm flipH="1">
            <a:off x="5482993" y="1507989"/>
            <a:ext cx="19878" cy="5529671"/>
          </a:xfrm>
          <a:prstGeom prst="line">
            <a:avLst/>
          </a:prstGeom>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5502871" y="3149439"/>
            <a:ext cx="5952354" cy="2246769"/>
          </a:xfrm>
          <a:prstGeom prst="rect">
            <a:avLst/>
          </a:prstGeom>
          <a:noFill/>
        </p:spPr>
        <p:txBody>
          <a:bodyPr wrap="square" rtlCol="0">
            <a:spAutoFit/>
          </a:bodyPr>
          <a:lstStyle/>
          <a:p>
            <a:r>
              <a:rPr lang="zh-CN" altLang="en-US" sz="2800" b="1" dirty="0">
                <a:latin typeface="华文楷体" panose="02010600040101010101" pitchFamily="2" charset="-122"/>
                <a:ea typeface="华文楷体" panose="02010600040101010101" pitchFamily="2" charset="-122"/>
              </a:rPr>
              <a:t>时间复杂度分析：</a:t>
            </a:r>
            <a:endParaRPr lang="en-US" altLang="zh-CN" sz="2800" b="1" dirty="0">
              <a:latin typeface="华文楷体" panose="02010600040101010101" pitchFamily="2" charset="-122"/>
              <a:ea typeface="华文楷体" panose="02010600040101010101" pitchFamily="2" charset="-122"/>
            </a:endParaRPr>
          </a:p>
          <a:p>
            <a:endParaRPr lang="en-US" altLang="zh-CN" sz="2800" dirty="0">
              <a:latin typeface="华文楷体" panose="02010600040101010101" pitchFamily="2" charset="-122"/>
              <a:ea typeface="华文楷体" panose="02010600040101010101" pitchFamily="2" charset="-122"/>
            </a:endParaRPr>
          </a:p>
          <a:p>
            <a:r>
              <a:rPr lang="zh-CN" altLang="en-US" sz="2800" dirty="0">
                <a:solidFill>
                  <a:srgbClr val="3F6EAA"/>
                </a:solidFill>
                <a:latin typeface="华文楷体" panose="02010600040101010101" pitchFamily="2" charset="-122"/>
                <a:ea typeface="华文楷体" panose="02010600040101010101" pitchFamily="2" charset="-122"/>
              </a:rPr>
              <a:t>当</a:t>
            </a:r>
            <a:r>
              <a:rPr lang="en-US" altLang="zh-CN" sz="2800" dirty="0">
                <a:solidFill>
                  <a:srgbClr val="3F6EAA"/>
                </a:solidFill>
                <a:latin typeface="华文楷体" panose="02010600040101010101" pitchFamily="2" charset="-122"/>
                <a:ea typeface="华文楷体" panose="02010600040101010101" pitchFamily="2" charset="-122"/>
              </a:rPr>
              <a:t>p</a:t>
            </a:r>
            <a:r>
              <a:rPr lang="zh-CN" altLang="en-US" sz="2800" dirty="0">
                <a:solidFill>
                  <a:srgbClr val="3F6EAA"/>
                </a:solidFill>
                <a:latin typeface="华文楷体" panose="02010600040101010101" pitchFamily="2" charset="-122"/>
                <a:ea typeface="华文楷体" panose="02010600040101010101" pitchFamily="2" charset="-122"/>
              </a:rPr>
              <a:t>已经指向了插入位置的前一个结点时</a:t>
            </a:r>
            <a:r>
              <a:rPr lang="zh-CN" altLang="en-US" sz="2800" dirty="0">
                <a:latin typeface="华文楷体" panose="02010600040101010101" pitchFamily="2" charset="-122"/>
                <a:ea typeface="华文楷体" panose="02010600040101010101" pitchFamily="2" charset="-122"/>
              </a:rPr>
              <a:t>，插入操作和结点个数无关，时间复杂度为</a:t>
            </a:r>
            <a:r>
              <a:rPr lang="en-US" altLang="zh-CN" sz="2800" dirty="0">
                <a:latin typeface="华文楷体" panose="02010600040101010101" pitchFamily="2" charset="-122"/>
                <a:ea typeface="华文楷体" panose="02010600040101010101" pitchFamily="2" charset="-122"/>
              </a:rPr>
              <a:t>O(1)</a:t>
            </a:r>
            <a:r>
              <a:rPr lang="zh-CN" altLang="en-US" sz="2800" dirty="0">
                <a:latin typeface="华文楷体" panose="02010600040101010101" pitchFamily="2" charset="-122"/>
                <a:ea typeface="华文楷体" panose="02010600040101010101" pitchFamily="2" charset="-122"/>
              </a:rPr>
              <a:t>。</a:t>
            </a:r>
            <a:endParaRPr lang="zh-CN" altLang="en-US" sz="2800" dirty="0">
              <a:latin typeface="华文楷体" panose="02010600040101010101" pitchFamily="2" charset="-122"/>
              <a:ea typeface="华文楷体" panose="02010600040101010101" pitchFamily="2" charset="-122"/>
            </a:endParaRPr>
          </a:p>
        </p:txBody>
      </p:sp>
      <p:sp>
        <p:nvSpPr>
          <p:cNvPr id="2" name="文本框 1"/>
          <p:cNvSpPr txBox="1"/>
          <p:nvPr/>
        </p:nvSpPr>
        <p:spPr>
          <a:xfrm>
            <a:off x="5601861" y="1819659"/>
            <a:ext cx="6152274" cy="1200329"/>
          </a:xfrm>
          <a:prstGeom prst="rect">
            <a:avLst/>
          </a:prstGeom>
          <a:noFill/>
        </p:spPr>
        <p:txBody>
          <a:bodyPr wrap="square" rtlCol="0">
            <a:spAutoFit/>
          </a:bodyPr>
          <a:lstStyle/>
          <a:p>
            <a:r>
              <a:rPr lang="zh-CN" altLang="en-US" sz="2400" dirty="0">
                <a:latin typeface="Times New Roman" panose="02020603050405020304" pitchFamily="18" charset="0"/>
                <a:cs typeface="Times New Roman" panose="02020603050405020304" pitchFamily="18" charset="0"/>
              </a:rPr>
              <a:t>或者：一个四合一语句</a:t>
            </a:r>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p-&gt;next = new node&lt;</a:t>
            </a:r>
            <a:r>
              <a:rPr lang="en-US" altLang="zh-CN" sz="2400" dirty="0" err="1">
                <a:latin typeface="Times New Roman" panose="02020603050405020304" pitchFamily="18" charset="0"/>
                <a:cs typeface="Times New Roman" panose="02020603050405020304" pitchFamily="18" charset="0"/>
              </a:rPr>
              <a:t>elemType</a:t>
            </a:r>
            <a:r>
              <a:rPr lang="en-US" altLang="zh-CN" sz="2400" dirty="0">
                <a:latin typeface="Times New Roman" panose="02020603050405020304" pitchFamily="18" charset="0"/>
                <a:cs typeface="Times New Roman" panose="02020603050405020304" pitchFamily="18" charset="0"/>
              </a:rPr>
              <a:t>&gt;(e, p-&gt;next);</a:t>
            </a:r>
            <a:endParaRPr lang="en-US" altLang="zh-CN" sz="2400" dirty="0">
              <a:latin typeface="Times New Roman" panose="02020603050405020304" pitchFamily="18" charset="0"/>
              <a:cs typeface="Times New Roman" panose="02020603050405020304" pitchFamily="18" charset="0"/>
            </a:endParaRPr>
          </a:p>
          <a:p>
            <a:endParaRPr lang="zh-CN" altLang="en-US" sz="2400" dirty="0">
              <a:latin typeface="Times New Roman" panose="02020603050405020304" pitchFamily="18" charset="0"/>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5">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5">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195">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链表基本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实现代码</a:t>
            </a:r>
            <a:endParaRPr lang="zh-CN" altLang="en-US" dirty="0">
              <a:latin typeface="华文楷体" panose="02010600040101010101" pitchFamily="2" charset="-122"/>
              <a:ea typeface="华文楷体" panose="02010600040101010101" pitchFamily="2" charset="-122"/>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6"/>
          <p:cNvSpPr>
            <a:spLocks noChangeArrowheads="1"/>
          </p:cNvSpPr>
          <p:nvPr/>
        </p:nvSpPr>
        <p:spPr bwMode="auto">
          <a:xfrm>
            <a:off x="0" y="1361310"/>
            <a:ext cx="11834191"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void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linkList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&gt;::insert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&amp;e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在第</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个位置上插入新的元素（值为</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&lt;1) return;//</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参数</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越界</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j=0;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p=head;</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while (p&amp;&amp;j&lt;i-1)</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p=p-&gt;next;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(!p) return;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参数</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越界</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p-&gt;next = new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&gt;(e, p-&gt;next);  </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7680960" y="2978331"/>
            <a:ext cx="3135086" cy="523220"/>
          </a:xfrm>
          <a:prstGeom prst="rect">
            <a:avLst/>
          </a:prstGeom>
          <a:noFill/>
        </p:spPr>
        <p:txBody>
          <a:bodyPr wrap="square" rtlCol="0">
            <a:spAutoFit/>
          </a:bodyPr>
          <a:lstStyle/>
          <a:p>
            <a:r>
              <a:rPr lang="zh-CN" altLang="en-US" sz="2800" dirty="0">
                <a:solidFill>
                  <a:srgbClr val="FF0000"/>
                </a:solidFill>
                <a:latin typeface="华文楷体" panose="02010600040101010101" pitchFamily="2" charset="-122"/>
                <a:ea typeface="华文楷体" panose="02010600040101010101" pitchFamily="2" charset="-122"/>
              </a:rPr>
              <a:t>五步口诀法</a:t>
            </a:r>
            <a:r>
              <a:rPr lang="en-US" altLang="zh-CN" sz="2800" dirty="0">
                <a:solidFill>
                  <a:srgbClr val="FF0000"/>
                </a:solidFill>
                <a:latin typeface="华文楷体" panose="02010600040101010101" pitchFamily="2" charset="-122"/>
                <a:ea typeface="华文楷体" panose="02010600040101010101" pitchFamily="2" charset="-122"/>
              </a:rPr>
              <a:t>!</a:t>
            </a:r>
            <a:endParaRPr lang="zh-CN" altLang="en-US" sz="2800"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686894"/>
            <a:ext cx="10366464" cy="620154"/>
          </a:xfrm>
        </p:spPr>
        <p:txBody>
          <a:bodyPr>
            <a:noAutofit/>
          </a:bodyPr>
          <a:lstStyle/>
          <a:p>
            <a:pPr marL="0" indent="0">
              <a:buNone/>
            </a:pPr>
            <a:r>
              <a:rPr lang="zh-CN" altLang="en-US" sz="2800" dirty="0">
                <a:latin typeface="华文楷体" panose="02010600040101010101" pitchFamily="2" charset="-122"/>
                <a:ea typeface="华文楷体" panose="02010600040101010101" pitchFamily="2" charset="-122"/>
              </a:rPr>
              <a:t>删除</a:t>
            </a:r>
            <a:r>
              <a:rPr lang="zh-CN" altLang="zh-CN" sz="2800" dirty="0">
                <a:latin typeface="华文楷体" panose="02010600040101010101" pitchFamily="2" charset="-122"/>
                <a:ea typeface="华文楷体" panose="02010600040101010101" pitchFamily="2" charset="-122"/>
              </a:rPr>
              <a:t>操作</a:t>
            </a:r>
            <a:r>
              <a:rPr lang="zh-CN" altLang="en-US" sz="2800" dirty="0">
                <a:latin typeface="华文楷体" panose="02010600040101010101" pitchFamily="2" charset="-122"/>
                <a:ea typeface="华文楷体" panose="02010600040101010101" pitchFamily="2" charset="-122"/>
              </a:rPr>
              <a:t>： </a:t>
            </a:r>
            <a:r>
              <a:rPr lang="zh-CN" altLang="en-US" sz="2800" b="0" dirty="0">
                <a:latin typeface="华文楷体" panose="02010600040101010101" pitchFamily="2" charset="-122"/>
                <a:ea typeface="华文楷体" panose="02010600040101010101" pitchFamily="2" charset="-122"/>
              </a:rPr>
              <a:t>删除</a:t>
            </a:r>
            <a:r>
              <a:rPr lang="en-US" altLang="zh-CN" sz="2800" b="0" dirty="0">
                <a:latin typeface="华文楷体" panose="02010600040101010101" pitchFamily="2" charset="-122"/>
                <a:ea typeface="华文楷体" panose="02010600040101010101" pitchFamily="2" charset="-122"/>
              </a:rPr>
              <a:t>p</a:t>
            </a:r>
            <a:r>
              <a:rPr lang="zh-CN" altLang="en-US" sz="2800" b="0" dirty="0">
                <a:latin typeface="华文楷体" panose="02010600040101010101" pitchFamily="2" charset="-122"/>
                <a:ea typeface="华文楷体" panose="02010600040101010101" pitchFamily="2" charset="-122"/>
              </a:rPr>
              <a:t>指针所指结点之后的那个结点</a:t>
            </a:r>
            <a:endParaRPr lang="zh-CN"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链表基本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实现分析</a:t>
            </a:r>
            <a:endParaRPr lang="zh-CN" altLang="en-US" dirty="0">
              <a:latin typeface="华文楷体" panose="02010600040101010101" pitchFamily="2" charset="-122"/>
              <a:ea typeface="华文楷体" panose="02010600040101010101" pitchFamily="2" charset="-122"/>
            </a:endParaRPr>
          </a:p>
        </p:txBody>
      </p:sp>
      <p:pic>
        <p:nvPicPr>
          <p:cNvPr id="9" name="图片 8"/>
          <p:cNvPicPr/>
          <p:nvPr/>
        </p:nvPicPr>
        <p:blipFill>
          <a:blip r:embed="rId1">
            <a:extLst>
              <a:ext uri="{28A0092B-C50C-407E-A947-70E740481C1C}">
                <a14:useLocalDpi xmlns:a14="http://schemas.microsoft.com/office/drawing/2010/main" val="0"/>
              </a:ext>
            </a:extLst>
          </a:blip>
          <a:srcRect/>
          <a:stretch>
            <a:fillRect/>
          </a:stretch>
        </p:blipFill>
        <p:spPr bwMode="auto">
          <a:xfrm>
            <a:off x="2126975" y="2307048"/>
            <a:ext cx="6003234" cy="972002"/>
          </a:xfrm>
          <a:prstGeom prst="rect">
            <a:avLst/>
          </a:prstGeom>
          <a:noFill/>
          <a:ln>
            <a:noFill/>
          </a:ln>
        </p:spPr>
      </p:pic>
      <p:pic>
        <p:nvPicPr>
          <p:cNvPr id="10" name="图片 9"/>
          <p:cNvPicPr/>
          <p:nvPr/>
        </p:nvPicPr>
        <p:blipFill>
          <a:blip r:embed="rId2">
            <a:extLst>
              <a:ext uri="{28A0092B-C50C-407E-A947-70E740481C1C}">
                <a14:useLocalDpi xmlns:a14="http://schemas.microsoft.com/office/drawing/2010/main" val="0"/>
              </a:ext>
            </a:extLst>
          </a:blip>
          <a:srcRect/>
          <a:stretch>
            <a:fillRect/>
          </a:stretch>
        </p:blipFill>
        <p:spPr bwMode="auto">
          <a:xfrm>
            <a:off x="2126975" y="3495233"/>
            <a:ext cx="6003234" cy="1450701"/>
          </a:xfrm>
          <a:prstGeom prst="rect">
            <a:avLst/>
          </a:prstGeom>
          <a:noFill/>
          <a:ln>
            <a:noFill/>
          </a:ln>
        </p:spPr>
      </p:pic>
      <p:pic>
        <p:nvPicPr>
          <p:cNvPr id="11" name="图片 10"/>
          <p:cNvPicPr/>
          <p:nvPr/>
        </p:nvPicPr>
        <p:blipFill>
          <a:blip r:embed="rId3">
            <a:extLst>
              <a:ext uri="{28A0092B-C50C-407E-A947-70E740481C1C}">
                <a14:useLocalDpi xmlns:a14="http://schemas.microsoft.com/office/drawing/2010/main" val="0"/>
              </a:ext>
            </a:extLst>
          </a:blip>
          <a:srcRect/>
          <a:stretch>
            <a:fillRect/>
          </a:stretch>
        </p:blipFill>
        <p:spPr bwMode="auto">
          <a:xfrm>
            <a:off x="2126975" y="5162117"/>
            <a:ext cx="6003234" cy="1380728"/>
          </a:xfrm>
          <a:prstGeom prst="rect">
            <a:avLst/>
          </a:prstGeom>
          <a:noFill/>
          <a:ln>
            <a:noFill/>
          </a:ln>
        </p:spPr>
      </p:pic>
      <p:sp>
        <p:nvSpPr>
          <p:cNvPr id="7" name="文本框 6"/>
          <p:cNvSpPr txBox="1"/>
          <p:nvPr/>
        </p:nvSpPr>
        <p:spPr>
          <a:xfrm>
            <a:off x="7641771" y="3321670"/>
            <a:ext cx="3879668" cy="523220"/>
          </a:xfrm>
          <a:prstGeom prst="rect">
            <a:avLst/>
          </a:prstGeom>
          <a:noFill/>
        </p:spPr>
        <p:txBody>
          <a:bodyPr wrap="square" rtlCol="0">
            <a:spAutoFit/>
          </a:bodyPr>
          <a:lstStyle/>
          <a:p>
            <a:r>
              <a:rPr lang="zh-CN" altLang="en-US" sz="2800" dirty="0">
                <a:solidFill>
                  <a:srgbClr val="FF0000"/>
                </a:solidFill>
                <a:latin typeface="华文楷体" panose="02010600040101010101" pitchFamily="2" charset="-122"/>
                <a:ea typeface="华文楷体" panose="02010600040101010101" pitchFamily="2" charset="-122"/>
              </a:rPr>
              <a:t>摆龙门阵！找核心操作</a:t>
            </a:r>
            <a:endParaRPr lang="zh-CN" altLang="en-US" sz="2800"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328329"/>
            <a:ext cx="5893855" cy="5190037"/>
          </a:xfrm>
        </p:spPr>
        <p:txBody>
          <a:bodyPr>
            <a:noAutofit/>
          </a:bodyPr>
          <a:lstStyle/>
          <a:p>
            <a:pPr marL="0" indent="0">
              <a:buNone/>
            </a:pPr>
            <a:r>
              <a:rPr lang="zh-CN" altLang="en-US" sz="2800" dirty="0">
                <a:ea typeface="华文楷体" panose="02010600040101010101" pitchFamily="2" charset="-122"/>
                <a:cs typeface="Times New Roman" panose="02020603050405020304" pitchFamily="18" charset="0"/>
              </a:rPr>
              <a:t>删除总结： </a:t>
            </a:r>
            <a:endParaRPr lang="en-US" altLang="zh-CN" sz="2800" dirty="0">
              <a:ea typeface="华文楷体" panose="02010600040101010101" pitchFamily="2" charset="-122"/>
              <a:cs typeface="Times New Roman" panose="02020603050405020304" pitchFamily="18" charset="0"/>
            </a:endParaRPr>
          </a:p>
          <a:p>
            <a:pPr marL="514350" indent="-514350">
              <a:buFont typeface="+mj-lt"/>
              <a:buAutoNum type="arabicPeriod"/>
            </a:pPr>
            <a:r>
              <a:rPr lang="zh-CN" altLang="en-US" sz="2800" b="0" dirty="0">
                <a:ea typeface="华文楷体" panose="02010600040101010101" pitchFamily="2" charset="-122"/>
                <a:cs typeface="Times New Roman" panose="02020603050405020304" pitchFamily="18" charset="0"/>
              </a:rPr>
              <a:t>记住待删除结点地址。</a:t>
            </a:r>
            <a:endParaRPr lang="en-US" altLang="zh-CN" sz="2800" b="0" dirty="0">
              <a:ea typeface="华文楷体" panose="02010600040101010101" pitchFamily="2" charset="-122"/>
              <a:cs typeface="Times New Roman" panose="02020603050405020304" pitchFamily="18" charset="0"/>
            </a:endParaRPr>
          </a:p>
          <a:p>
            <a:pPr marL="514350" indent="-514350">
              <a:buFont typeface="+mj-lt"/>
              <a:buAutoNum type="arabicPeriod"/>
            </a:pPr>
            <a:r>
              <a:rPr lang="zh-CN" altLang="zh-CN" sz="2800" b="0" dirty="0">
                <a:ea typeface="华文楷体" panose="02010600040101010101" pitchFamily="2" charset="-122"/>
                <a:cs typeface="Times New Roman" panose="02020603050405020304" pitchFamily="18" charset="0"/>
              </a:rPr>
              <a:t>将值为</a:t>
            </a:r>
            <a:r>
              <a:rPr lang="en-US" altLang="zh-CN" sz="2800" b="0" dirty="0">
                <a:ea typeface="华文楷体" panose="02010600040101010101" pitchFamily="2" charset="-122"/>
                <a:cs typeface="Times New Roman" panose="02020603050405020304" pitchFamily="18" charset="0"/>
              </a:rPr>
              <a:t>x</a:t>
            </a:r>
            <a:r>
              <a:rPr lang="zh-CN" altLang="zh-CN" sz="2800" b="0" dirty="0">
                <a:ea typeface="华文楷体" panose="02010600040101010101" pitchFamily="2" charset="-122"/>
                <a:cs typeface="Times New Roman" panose="02020603050405020304" pitchFamily="18" charset="0"/>
              </a:rPr>
              <a:t>的结点旁路掉。</a:t>
            </a:r>
            <a:endParaRPr lang="en-US" altLang="zh-CN" sz="2800" b="0" dirty="0">
              <a:ea typeface="华文楷体" panose="02010600040101010101" pitchFamily="2" charset="-122"/>
              <a:cs typeface="Times New Roman" panose="02020603050405020304" pitchFamily="18" charset="0"/>
            </a:endParaRPr>
          </a:p>
          <a:p>
            <a:pPr marL="514350" indent="-514350">
              <a:buFont typeface="+mj-lt"/>
              <a:buAutoNum type="arabicPeriod"/>
            </a:pPr>
            <a:r>
              <a:rPr lang="zh-CN" altLang="zh-CN" sz="2800" b="0" dirty="0">
                <a:ea typeface="华文楷体" panose="02010600040101010101" pitchFamily="2" charset="-122"/>
                <a:cs typeface="Times New Roman" panose="02020603050405020304" pitchFamily="18" charset="0"/>
              </a:rPr>
              <a:t>回收原本存储</a:t>
            </a:r>
            <a:r>
              <a:rPr lang="en-US" altLang="zh-CN" sz="2800" b="0" dirty="0">
                <a:ea typeface="华文楷体" panose="02010600040101010101" pitchFamily="2" charset="-122"/>
                <a:cs typeface="Times New Roman" panose="02020603050405020304" pitchFamily="18" charset="0"/>
              </a:rPr>
              <a:t>x</a:t>
            </a:r>
            <a:r>
              <a:rPr lang="zh-CN" altLang="zh-CN" sz="2800" b="0" dirty="0">
                <a:ea typeface="华文楷体" panose="02010600040101010101" pitchFamily="2" charset="-122"/>
                <a:cs typeface="Times New Roman" panose="02020603050405020304" pitchFamily="18" charset="0"/>
              </a:rPr>
              <a:t>的结点占用的空间。</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en-US" sz="2800" dirty="0">
                <a:ea typeface="华文楷体" panose="02010600040101010101" pitchFamily="2" charset="-122"/>
                <a:cs typeface="Times New Roman" panose="02020603050405020304" pitchFamily="18" charset="0"/>
              </a:rPr>
              <a:t>具体语句：</a:t>
            </a:r>
            <a:endParaRPr lang="en-US" altLang="zh-CN" sz="2800" dirty="0">
              <a:ea typeface="华文楷体" panose="02010600040101010101" pitchFamily="2" charset="-122"/>
              <a:cs typeface="Times New Roman" panose="02020603050405020304" pitchFamily="18" charset="0"/>
            </a:endParaRPr>
          </a:p>
          <a:p>
            <a:pPr marL="536575" indent="0">
              <a:buNone/>
            </a:pPr>
            <a:r>
              <a:rPr lang="en-US" altLang="zh-CN" sz="2800" b="0" dirty="0">
                <a:ea typeface="华文楷体" panose="02010600040101010101" pitchFamily="2" charset="-122"/>
                <a:cs typeface="Times New Roman" panose="02020603050405020304" pitchFamily="18" charset="0"/>
              </a:rPr>
              <a:t>node *q=p-&gt;next;</a:t>
            </a:r>
            <a:endParaRPr lang="zh-CN" altLang="zh-CN" sz="2800" b="0" dirty="0">
              <a:ea typeface="华文楷体" panose="02010600040101010101" pitchFamily="2" charset="-122"/>
              <a:cs typeface="Times New Roman" panose="02020603050405020304" pitchFamily="18" charset="0"/>
            </a:endParaRPr>
          </a:p>
          <a:p>
            <a:pPr marL="536575" indent="0">
              <a:buNone/>
            </a:pPr>
            <a:r>
              <a:rPr lang="en-US" altLang="zh-CN" sz="2800" b="0" dirty="0">
                <a:ea typeface="华文楷体" panose="02010600040101010101" pitchFamily="2" charset="-122"/>
                <a:cs typeface="Times New Roman" panose="02020603050405020304" pitchFamily="18" charset="0"/>
              </a:rPr>
              <a:t>p-&gt;next = q-&gt;next;</a:t>
            </a:r>
            <a:endParaRPr lang="zh-CN" altLang="zh-CN" sz="2800" b="0" dirty="0">
              <a:ea typeface="华文楷体" panose="02010600040101010101" pitchFamily="2" charset="-122"/>
              <a:cs typeface="Times New Roman" panose="02020603050405020304" pitchFamily="18" charset="0"/>
            </a:endParaRPr>
          </a:p>
          <a:p>
            <a:pPr marL="536575" indent="0">
              <a:buNone/>
            </a:pPr>
            <a:r>
              <a:rPr lang="en-US" altLang="zh-CN" sz="2800" b="0" dirty="0">
                <a:ea typeface="华文楷体" panose="02010600040101010101" pitchFamily="2" charset="-122"/>
                <a:cs typeface="Times New Roman" panose="02020603050405020304" pitchFamily="18" charset="0"/>
              </a:rPr>
              <a:t>delete q;</a:t>
            </a:r>
            <a:endParaRPr lang="zh-CN"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链表基本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实现分析</a:t>
            </a:r>
            <a:endParaRPr lang="zh-CN" altLang="en-US" dirty="0">
              <a:latin typeface="华文楷体" panose="02010600040101010101" pitchFamily="2" charset="-122"/>
              <a:ea typeface="华文楷体" panose="02010600040101010101" pitchFamily="2" charset="-122"/>
            </a:endParaRPr>
          </a:p>
        </p:txBody>
      </p:sp>
      <p:cxnSp>
        <p:nvCxnSpPr>
          <p:cNvPr id="3" name="直接连接符 2"/>
          <p:cNvCxnSpPr/>
          <p:nvPr/>
        </p:nvCxnSpPr>
        <p:spPr>
          <a:xfrm flipH="1">
            <a:off x="6162261" y="1328329"/>
            <a:ext cx="19878" cy="5529671"/>
          </a:xfrm>
          <a:prstGeom prst="line">
            <a:avLst/>
          </a:prstGeom>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6460436" y="2700684"/>
            <a:ext cx="4591877" cy="2677656"/>
          </a:xfrm>
          <a:prstGeom prst="rect">
            <a:avLst/>
          </a:prstGeom>
          <a:noFill/>
        </p:spPr>
        <p:txBody>
          <a:bodyPr wrap="square" rtlCol="0">
            <a:spAutoFit/>
          </a:bodyPr>
          <a:lstStyle/>
          <a:p>
            <a:r>
              <a:rPr lang="zh-CN" altLang="en-US" sz="2800" b="1" dirty="0">
                <a:latin typeface="华文楷体" panose="02010600040101010101" pitchFamily="2" charset="-122"/>
                <a:ea typeface="华文楷体" panose="02010600040101010101" pitchFamily="2" charset="-122"/>
              </a:rPr>
              <a:t>时间复杂度分析：</a:t>
            </a:r>
            <a:endParaRPr lang="en-US" altLang="zh-CN" sz="2800" b="1" dirty="0">
              <a:latin typeface="华文楷体" panose="02010600040101010101" pitchFamily="2" charset="-122"/>
              <a:ea typeface="华文楷体" panose="02010600040101010101" pitchFamily="2" charset="-122"/>
            </a:endParaRPr>
          </a:p>
          <a:p>
            <a:endParaRPr lang="en-US" altLang="zh-CN" sz="2800"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当</a:t>
            </a:r>
            <a:r>
              <a:rPr lang="en-US" altLang="zh-CN" sz="2800" dirty="0">
                <a:latin typeface="华文楷体" panose="02010600040101010101" pitchFamily="2" charset="-122"/>
                <a:ea typeface="华文楷体" panose="02010600040101010101" pitchFamily="2" charset="-122"/>
              </a:rPr>
              <a:t>P</a:t>
            </a:r>
            <a:r>
              <a:rPr lang="zh-CN" altLang="en-US" sz="2800" dirty="0">
                <a:latin typeface="华文楷体" panose="02010600040101010101" pitchFamily="2" charset="-122"/>
                <a:ea typeface="华文楷体" panose="02010600040101010101" pitchFamily="2" charset="-122"/>
              </a:rPr>
              <a:t>已经指向了待删除结点的前一个结点时，删除操作和结点个数无关，时间复杂度为</a:t>
            </a:r>
            <a:r>
              <a:rPr lang="en-US" altLang="zh-CN" sz="2800" dirty="0">
                <a:latin typeface="华文楷体" panose="02010600040101010101" pitchFamily="2" charset="-122"/>
                <a:ea typeface="华文楷体" panose="02010600040101010101" pitchFamily="2" charset="-122"/>
              </a:rPr>
              <a:t>O(1)</a:t>
            </a:r>
            <a:r>
              <a:rPr lang="zh-CN" altLang="en-US" sz="2800" dirty="0">
                <a:latin typeface="华文楷体" panose="02010600040101010101" pitchFamily="2" charset="-122"/>
                <a:ea typeface="华文楷体" panose="02010600040101010101" pitchFamily="2" charset="-122"/>
              </a:rPr>
              <a:t>。</a:t>
            </a:r>
            <a:endParaRPr lang="zh-CN" altLang="en-US" sz="28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a:xfrm>
            <a:off x="0" y="1534052"/>
            <a:ext cx="8555277" cy="4854222"/>
          </a:xfrm>
        </p:spPr>
        <p:txBody>
          <a:bodyPr>
            <a:normAutofit/>
          </a:bodyPr>
          <a:lstStyle/>
          <a:p>
            <a:pPr marL="0" indent="266700" eaLnBrk="0" fontAlgn="base" hangingPunct="0">
              <a:spcBef>
                <a:spcPct val="0"/>
              </a:spcBef>
              <a:spcAft>
                <a:spcPct val="0"/>
              </a:spcAft>
              <a:buNone/>
            </a:pPr>
            <a:r>
              <a:rPr lang="en-US" altLang="zh-CN" sz="2800" b="0" dirty="0">
                <a:ea typeface="华文楷体" panose="02010600040101010101" pitchFamily="2" charset="-122"/>
                <a:cs typeface="Times New Roman" panose="02020603050405020304" pitchFamily="18" charset="0"/>
              </a:rPr>
              <a:t>template &lt;class </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&gt; </a:t>
            </a:r>
            <a:endParaRPr lang="en-US" altLang="zh-CN" sz="2800" b="0" dirty="0">
              <a:ea typeface="华文楷体" panose="02010600040101010101" pitchFamily="2" charset="-122"/>
              <a:cs typeface="Times New Roman" panose="02020603050405020304" pitchFamily="18" charset="0"/>
            </a:endParaRPr>
          </a:p>
          <a:p>
            <a:pPr marL="0" indent="266700" eaLnBrk="0" fontAlgn="base" hangingPunct="0">
              <a:spcBef>
                <a:spcPct val="0"/>
              </a:spcBef>
              <a:spcAft>
                <a:spcPct val="0"/>
              </a:spcAft>
              <a:buNone/>
            </a:pPr>
            <a:r>
              <a:rPr lang="en-US" altLang="zh-CN" sz="2800" b="0" dirty="0">
                <a:ea typeface="华文楷体" panose="02010600040101010101" pitchFamily="2" charset="-122"/>
                <a:cs typeface="Times New Roman" panose="02020603050405020304" pitchFamily="18" charset="0"/>
              </a:rPr>
              <a:t>void </a:t>
            </a:r>
            <a:r>
              <a:rPr lang="en-US" altLang="zh-CN" sz="2800" b="0" dirty="0" err="1">
                <a:ea typeface="华文楷体" panose="02010600040101010101" pitchFamily="2" charset="-122"/>
                <a:cs typeface="Times New Roman" panose="02020603050405020304" pitchFamily="18" charset="0"/>
              </a:rPr>
              <a:t>linkList</a:t>
            </a:r>
            <a:r>
              <a:rPr lang="en-US" altLang="zh-CN" sz="2800" b="0" dirty="0">
                <a:ea typeface="华文楷体" panose="02010600040101010101" pitchFamily="2" charset="-122"/>
                <a:cs typeface="Times New Roman" panose="02020603050405020304" pitchFamily="18" charset="0"/>
              </a:rPr>
              <a:t>&lt;</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&gt;::remove (</a:t>
            </a:r>
            <a:r>
              <a:rPr lang="en-US" altLang="zh-CN" sz="2800" b="0" dirty="0" err="1">
                <a:ea typeface="华文楷体" panose="02010600040101010101" pitchFamily="2" charset="-122"/>
                <a:cs typeface="Times New Roman" panose="02020603050405020304" pitchFamily="18" charset="0"/>
              </a:rPr>
              <a:t>int</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 &amp;e)</a:t>
            </a:r>
            <a:endParaRPr lang="en-US" altLang="zh-CN" sz="2800" b="0" dirty="0">
              <a:ea typeface="华文楷体" panose="02010600040101010101" pitchFamily="2" charset="-122"/>
              <a:cs typeface="Times New Roman" panose="02020603050405020304" pitchFamily="18" charset="0"/>
            </a:endParaRPr>
          </a:p>
          <a:p>
            <a:pPr marL="0" indent="266700" eaLnBrk="0" fontAlgn="base" hangingPunct="0">
              <a:spcBef>
                <a:spcPct val="0"/>
              </a:spcBef>
              <a:spcAft>
                <a:spcPct val="0"/>
              </a:spcAft>
              <a:buNone/>
            </a:pPr>
            <a:r>
              <a:rPr lang="en-US" altLang="zh-CN" sz="2800" b="0" dirty="0">
                <a:ea typeface="华文楷体" panose="02010600040101010101" pitchFamily="2" charset="-122"/>
                <a:cs typeface="Times New Roman" panose="02020603050405020304" pitchFamily="18" charset="0"/>
              </a:rPr>
              <a:t>{  if (</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&lt;1) return;</a:t>
            </a:r>
            <a:endParaRPr lang="en-US" altLang="zh-CN" sz="2800" b="0" dirty="0">
              <a:ea typeface="华文楷体" panose="02010600040101010101" pitchFamily="2" charset="-122"/>
              <a:cs typeface="Times New Roman" panose="02020603050405020304" pitchFamily="18" charset="0"/>
            </a:endParaRPr>
          </a:p>
          <a:p>
            <a:pPr marL="0" indent="266700" eaLnBrk="0" fontAlgn="base" hangingPunct="0">
              <a:spcBef>
                <a:spcPct val="0"/>
              </a:spcBef>
              <a:spcAft>
                <a:spcPct val="0"/>
              </a:spcAft>
              <a:buNone/>
            </a:pPr>
            <a:r>
              <a:rPr lang="en-US" altLang="zh-CN" sz="2800" b="0" dirty="0">
                <a:ea typeface="华文楷体" panose="02010600040101010101" pitchFamily="2" charset="-122"/>
                <a:cs typeface="Times New Roman" panose="02020603050405020304" pitchFamily="18" charset="0"/>
              </a:rPr>
              <a:t>    node&lt;</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&gt; *p ;  p=head;</a:t>
            </a:r>
            <a:endParaRPr lang="en-US" altLang="zh-CN" sz="2800" b="0" dirty="0">
              <a:ea typeface="华文楷体" panose="02010600040101010101" pitchFamily="2" charset="-122"/>
              <a:cs typeface="Times New Roman" panose="02020603050405020304" pitchFamily="18" charset="0"/>
            </a:endParaRPr>
          </a:p>
          <a:p>
            <a:pPr marL="0" indent="266700" eaLnBrk="0" fontAlgn="base" hangingPunct="0">
              <a:spcBef>
                <a:spcPct val="0"/>
              </a:spcBef>
              <a:spcAft>
                <a:spcPct val="0"/>
              </a:spcAft>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int</a:t>
            </a:r>
            <a:r>
              <a:rPr lang="en-US" altLang="zh-CN" sz="2800" b="0" dirty="0">
                <a:ea typeface="华文楷体" panose="02010600040101010101" pitchFamily="2" charset="-122"/>
                <a:cs typeface="Times New Roman" panose="02020603050405020304" pitchFamily="18" charset="0"/>
              </a:rPr>
              <a:t> j=0;</a:t>
            </a:r>
            <a:endParaRPr lang="en-US" altLang="zh-CN" sz="2800" b="0" dirty="0">
              <a:ea typeface="华文楷体" panose="02010600040101010101" pitchFamily="2" charset="-122"/>
              <a:cs typeface="Times New Roman" panose="02020603050405020304" pitchFamily="18" charset="0"/>
            </a:endParaRPr>
          </a:p>
          <a:p>
            <a:pPr marL="0" indent="266700" eaLnBrk="0" fontAlgn="base" hangingPunct="0">
              <a:spcBef>
                <a:spcPct val="0"/>
              </a:spcBef>
              <a:spcAft>
                <a:spcPct val="0"/>
              </a:spcAft>
              <a:buNone/>
            </a:pPr>
            <a:r>
              <a:rPr lang="en-US" altLang="zh-CN" sz="2800" b="0" dirty="0">
                <a:ea typeface="华文楷体" panose="02010600040101010101" pitchFamily="2" charset="-122"/>
                <a:cs typeface="Times New Roman" panose="02020603050405020304" pitchFamily="18" charset="0"/>
              </a:rPr>
              <a:t>    </a:t>
            </a:r>
            <a:endParaRPr lang="en-US" altLang="zh-CN" sz="2800" b="0" dirty="0">
              <a:ea typeface="华文楷体" panose="02010600040101010101" pitchFamily="2" charset="-122"/>
              <a:cs typeface="Times New Roman" panose="02020603050405020304" pitchFamily="18" charset="0"/>
            </a:endParaRPr>
          </a:p>
          <a:p>
            <a:pPr marL="0" indent="266700" eaLnBrk="0" fontAlgn="base" hangingPunct="0">
              <a:spcBef>
                <a:spcPct val="0"/>
              </a:spcBef>
              <a:spcAft>
                <a:spcPct val="0"/>
              </a:spcAft>
              <a:buNone/>
            </a:pPr>
            <a:r>
              <a:rPr lang="en-US" altLang="zh-CN" sz="2800" b="0" dirty="0">
                <a:ea typeface="华文楷体" panose="02010600040101010101" pitchFamily="2" charset="-122"/>
                <a:cs typeface="Times New Roman" panose="02020603050405020304" pitchFamily="18" charset="0"/>
              </a:rPr>
              <a:t>   while (p &amp;&amp; j&lt;</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-1){   p=p-&gt;next; </a:t>
            </a:r>
            <a:r>
              <a:rPr lang="en-US" altLang="zh-CN" sz="2800" b="0" dirty="0" err="1">
                <a:ea typeface="华文楷体" panose="02010600040101010101" pitchFamily="2" charset="-122"/>
                <a:cs typeface="Times New Roman" panose="02020603050405020304" pitchFamily="18" charset="0"/>
              </a:rPr>
              <a:t>j++</a:t>
            </a:r>
            <a:r>
              <a:rPr lang="en-US"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266700" eaLnBrk="0" fontAlgn="base" hangingPunct="0">
              <a:spcBef>
                <a:spcPct val="0"/>
              </a:spcBef>
              <a:spcAft>
                <a:spcPct val="0"/>
              </a:spcAft>
              <a:buNone/>
            </a:pPr>
            <a:r>
              <a:rPr lang="en-US" altLang="zh-CN" sz="2800" b="0" dirty="0">
                <a:ea typeface="华文楷体" panose="02010600040101010101" pitchFamily="2" charset="-122"/>
                <a:cs typeface="Times New Roman" panose="02020603050405020304" pitchFamily="18" charset="0"/>
              </a:rPr>
              <a:t>    if (!p) return;</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dirty="0">
                <a:ea typeface="华文楷体" panose="02010600040101010101" pitchFamily="2" charset="-122"/>
                <a:cs typeface="Times New Roman" panose="02020603050405020304" pitchFamily="18" charset="0"/>
              </a:rPr>
              <a:t>   </a:t>
            </a:r>
            <a:endParaRPr lang="zh-CN" altLang="zh-CN" dirty="0">
              <a:ea typeface="华文楷体" panose="02010600040101010101" pitchFamily="2" charset="-122"/>
              <a:cs typeface="Times New Roman" panose="02020603050405020304" pitchFamily="18" charset="0"/>
            </a:endParaRPr>
          </a:p>
          <a:p>
            <a:pPr marL="0" indent="0">
              <a:buNone/>
            </a:pPr>
            <a:endParaRPr lang="zh-CN" altLang="en-US" dirty="0"/>
          </a:p>
        </p:txBody>
      </p:sp>
      <p:sp>
        <p:nvSpPr>
          <p:cNvPr id="4" name="内容占位符 1"/>
          <p:cNvSpPr txBox="1"/>
          <p:nvPr/>
        </p:nvSpPr>
        <p:spPr>
          <a:xfrm>
            <a:off x="7760557" y="2974849"/>
            <a:ext cx="4339184" cy="3751628"/>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266700" eaLnBrk="0" fontAlgn="base" hangingPunct="0">
              <a:spcBef>
                <a:spcPct val="0"/>
              </a:spcBef>
              <a:spcAft>
                <a:spcPct val="0"/>
              </a:spcAft>
              <a:buFont typeface="Wingdings" panose="05000000000000000000" pitchFamily="2" charset="2"/>
              <a:buNone/>
            </a:pPr>
            <a:r>
              <a:rPr lang="en-US" altLang="zh-CN" dirty="0">
                <a:ea typeface="华文楷体" panose="02010600040101010101" pitchFamily="2" charset="-122"/>
                <a:cs typeface="Times New Roman" panose="02020603050405020304" pitchFamily="18" charset="0"/>
              </a:rPr>
              <a:t>	</a:t>
            </a:r>
            <a:r>
              <a:rPr lang="en-US" altLang="zh-CN" sz="2800" b="0" dirty="0">
                <a:ea typeface="华文楷体" panose="02010600040101010101" pitchFamily="2" charset="-122"/>
                <a:cs typeface="Times New Roman" panose="02020603050405020304" pitchFamily="18" charset="0"/>
              </a:rPr>
              <a:t>node&lt;</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&gt; *q ; </a:t>
            </a:r>
            <a:endParaRPr lang="en-US" altLang="zh-CN" sz="2800" b="0" dirty="0">
              <a:ea typeface="华文楷体" panose="02010600040101010101" pitchFamily="2" charset="-122"/>
              <a:cs typeface="Times New Roman" panose="02020603050405020304" pitchFamily="18" charset="0"/>
            </a:endParaRPr>
          </a:p>
          <a:p>
            <a:pPr marL="0" indent="266700" eaLnBrk="0" fontAlgn="base" hangingPunct="0">
              <a:spcBef>
                <a:spcPct val="0"/>
              </a:spcBef>
              <a:spcAft>
                <a:spcPct val="0"/>
              </a:spcAft>
              <a:buFont typeface="Wingdings" panose="05000000000000000000" pitchFamily="2" charset="2"/>
              <a:buNone/>
            </a:pPr>
            <a:r>
              <a:rPr lang="en-US" altLang="zh-CN" sz="2800" b="0" dirty="0">
                <a:ea typeface="华文楷体" panose="02010600040101010101" pitchFamily="2" charset="-122"/>
                <a:cs typeface="Times New Roman" panose="02020603050405020304" pitchFamily="18" charset="0"/>
              </a:rPr>
              <a:t>	q = p-&gt;next;</a:t>
            </a:r>
            <a:endParaRPr lang="en-US" altLang="zh-CN" sz="2800" b="0" dirty="0">
              <a:ea typeface="华文楷体" panose="02010600040101010101" pitchFamily="2" charset="-122"/>
              <a:cs typeface="Times New Roman" panose="02020603050405020304" pitchFamily="18" charset="0"/>
            </a:endParaRPr>
          </a:p>
          <a:p>
            <a:pPr marL="0" indent="266700" eaLnBrk="0" fontAlgn="base" hangingPunct="0">
              <a:spcBef>
                <a:spcPct val="0"/>
              </a:spcBef>
              <a:spcAft>
                <a:spcPct val="0"/>
              </a:spcAft>
              <a:buFont typeface="Wingdings" panose="05000000000000000000" pitchFamily="2" charset="2"/>
              <a:buNone/>
            </a:pPr>
            <a:r>
              <a:rPr lang="en-US" altLang="zh-CN" sz="2800" b="0" dirty="0">
                <a:ea typeface="华文楷体" panose="02010600040101010101" pitchFamily="2" charset="-122"/>
                <a:cs typeface="Times New Roman" panose="02020603050405020304" pitchFamily="18" charset="0"/>
              </a:rPr>
              <a:t>       </a:t>
            </a:r>
            <a:r>
              <a:rPr lang="en-US" altLang="zh-CN" sz="2800" b="0" dirty="0">
                <a:solidFill>
                  <a:schemeClr val="accent1"/>
                </a:solidFill>
                <a:ea typeface="华文楷体" panose="02010600040101010101" pitchFamily="2" charset="-122"/>
                <a:cs typeface="Times New Roman" panose="02020603050405020304" pitchFamily="18" charset="0"/>
              </a:rPr>
              <a:t>if (!q) return;</a:t>
            </a:r>
            <a:endParaRPr lang="en-US" altLang="zh-CN" sz="2800" b="0" dirty="0">
              <a:solidFill>
                <a:schemeClr val="accent1"/>
              </a:solidFill>
              <a:ea typeface="华文楷体" panose="02010600040101010101" pitchFamily="2" charset="-122"/>
              <a:cs typeface="Times New Roman" panose="02020603050405020304" pitchFamily="18" charset="0"/>
            </a:endParaRPr>
          </a:p>
          <a:p>
            <a:pPr marL="0" indent="266700" eaLnBrk="0" fontAlgn="base" hangingPunct="0">
              <a:spcBef>
                <a:spcPct val="0"/>
              </a:spcBef>
              <a:spcAft>
                <a:spcPct val="0"/>
              </a:spcAft>
              <a:buFont typeface="Wingdings" panose="05000000000000000000" pitchFamily="2" charset="2"/>
              <a:buNone/>
            </a:pPr>
            <a:r>
              <a:rPr lang="en-US" altLang="zh-CN" sz="2800" b="0" dirty="0">
                <a:solidFill>
                  <a:schemeClr val="accent1"/>
                </a:solidFill>
                <a:ea typeface="华文楷体" panose="02010600040101010101" pitchFamily="2" charset="-122"/>
                <a:cs typeface="Times New Roman" panose="02020603050405020304" pitchFamily="18" charset="0"/>
              </a:rPr>
              <a:t>       </a:t>
            </a:r>
            <a:r>
              <a:rPr lang="en-US" altLang="zh-CN" sz="2800" b="0" dirty="0">
                <a:ea typeface="华文楷体" panose="02010600040101010101" pitchFamily="2" charset="-122"/>
                <a:cs typeface="Times New Roman" panose="02020603050405020304" pitchFamily="18" charset="0"/>
              </a:rPr>
              <a:t>e = q-&gt;data;</a:t>
            </a:r>
            <a:endParaRPr lang="en-US" altLang="zh-CN" sz="2800" b="0" dirty="0">
              <a:ea typeface="华文楷体" panose="02010600040101010101" pitchFamily="2" charset="-122"/>
              <a:cs typeface="Times New Roman" panose="02020603050405020304" pitchFamily="18" charset="0"/>
            </a:endParaRPr>
          </a:p>
          <a:p>
            <a:pPr marL="0" indent="266700" eaLnBrk="0" fontAlgn="base" hangingPunct="0">
              <a:spcBef>
                <a:spcPct val="0"/>
              </a:spcBef>
              <a:spcAft>
                <a:spcPct val="0"/>
              </a:spcAft>
              <a:buFont typeface="Wingdings" panose="05000000000000000000" pitchFamily="2" charset="2"/>
              <a:buNone/>
            </a:pPr>
            <a:r>
              <a:rPr lang="en-US" altLang="zh-CN" sz="2800" b="0" dirty="0">
                <a:ea typeface="华文楷体" panose="02010600040101010101" pitchFamily="2" charset="-122"/>
                <a:cs typeface="Times New Roman" panose="02020603050405020304" pitchFamily="18" charset="0"/>
              </a:rPr>
              <a:t>	p-&gt;next = q-&gt;next;</a:t>
            </a:r>
            <a:endParaRPr lang="en-US" altLang="zh-CN" sz="2800" b="0" dirty="0">
              <a:ea typeface="华文楷体" panose="02010600040101010101" pitchFamily="2" charset="-122"/>
              <a:cs typeface="Times New Roman" panose="02020603050405020304" pitchFamily="18" charset="0"/>
            </a:endParaRPr>
          </a:p>
          <a:p>
            <a:pPr marL="0" indent="266700" eaLnBrk="0" fontAlgn="base" hangingPunct="0">
              <a:spcBef>
                <a:spcPct val="0"/>
              </a:spcBef>
              <a:spcAft>
                <a:spcPct val="0"/>
              </a:spcAft>
              <a:buFont typeface="Wingdings" panose="05000000000000000000" pitchFamily="2" charset="2"/>
              <a:buNone/>
            </a:pPr>
            <a:r>
              <a:rPr lang="en-US" altLang="zh-CN" sz="2800" b="0" dirty="0">
                <a:ea typeface="华文楷体" panose="02010600040101010101" pitchFamily="2" charset="-122"/>
                <a:cs typeface="Times New Roman" panose="02020603050405020304" pitchFamily="18" charset="0"/>
              </a:rPr>
              <a:t>	delete q;  </a:t>
            </a:r>
            <a:endParaRPr lang="zh-CN" altLang="zh-CN" sz="2800" b="0" dirty="0">
              <a:ea typeface="华文楷体" panose="02010600040101010101" pitchFamily="2" charset="-122"/>
              <a:cs typeface="Times New Roman" panose="02020603050405020304" pitchFamily="18" charset="0"/>
            </a:endParaRPr>
          </a:p>
          <a:p>
            <a:pPr marL="0" indent="266700" eaLnBrk="0" fontAlgn="base" hangingPunct="0">
              <a:spcBef>
                <a:spcPct val="0"/>
              </a:spcBef>
              <a:spcAft>
                <a:spcPct val="0"/>
              </a:spcAft>
              <a:buFont typeface="Wingdings" panose="05000000000000000000" pitchFamily="2" charset="2"/>
              <a:buNone/>
            </a:pPr>
            <a:r>
              <a:rPr lang="en-US" altLang="zh-CN" sz="2800" b="0" dirty="0">
                <a:ea typeface="华文楷体" panose="02010600040101010101" pitchFamily="2" charset="-122"/>
                <a:cs typeface="Times New Roman" panose="02020603050405020304" pitchFamily="18" charset="0"/>
              </a:rPr>
              <a:t>}</a:t>
            </a:r>
            <a:endParaRPr lang="zh-CN" altLang="en-US" sz="2800"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链表基本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实现分析</a:t>
            </a:r>
            <a:endParaRPr lang="zh-CN" altLang="en-US" dirty="0">
              <a:latin typeface="华文楷体" panose="02010600040101010101" pitchFamily="2" charset="-122"/>
              <a:ea typeface="华文楷体" panose="02010600040101010101" pitchFamily="2" charset="-122"/>
            </a:endParaRPr>
          </a:p>
        </p:txBody>
      </p:sp>
      <p:sp>
        <p:nvSpPr>
          <p:cNvPr id="3" name="文本框 2"/>
          <p:cNvSpPr txBox="1"/>
          <p:nvPr/>
        </p:nvSpPr>
        <p:spPr>
          <a:xfrm>
            <a:off x="288284" y="1552431"/>
            <a:ext cx="10187559" cy="3539430"/>
          </a:xfrm>
          <a:prstGeom prst="rect">
            <a:avLst/>
          </a:prstGeom>
          <a:noFill/>
        </p:spPr>
        <p:txBody>
          <a:bodyPr wrap="square" rtlCol="0">
            <a:spAutoFit/>
          </a:bodyPr>
          <a:lstStyle/>
          <a:p>
            <a:r>
              <a:rPr lang="zh-CN" altLang="zh-CN" sz="2800" b="1" dirty="0">
                <a:latin typeface="华文楷体" panose="02010600040101010101" pitchFamily="2" charset="-122"/>
                <a:ea typeface="华文楷体" panose="02010600040101010101" pitchFamily="2" charset="-122"/>
              </a:rPr>
              <a:t>查找操作：</a:t>
            </a:r>
            <a:r>
              <a:rPr lang="zh-CN" altLang="zh-CN" sz="2800" dirty="0">
                <a:latin typeface="华文楷体" panose="02010600040101010101" pitchFamily="2" charset="-122"/>
                <a:ea typeface="华文楷体" panose="02010600040101010101" pitchFamily="2" charset="-122"/>
              </a:rPr>
              <a:t>找值为</a:t>
            </a:r>
            <a:r>
              <a:rPr lang="en-US" altLang="zh-CN" sz="2800" dirty="0">
                <a:latin typeface="华文楷体" panose="02010600040101010101" pitchFamily="2" charset="-122"/>
                <a:ea typeface="华文楷体" panose="02010600040101010101" pitchFamily="2" charset="-122"/>
              </a:rPr>
              <a:t>x</a:t>
            </a:r>
            <a:r>
              <a:rPr lang="zh-CN" altLang="zh-CN" sz="2800" dirty="0">
                <a:latin typeface="华文楷体" panose="02010600040101010101" pitchFamily="2" charset="-122"/>
                <a:ea typeface="华文楷体" panose="02010600040101010101" pitchFamily="2" charset="-122"/>
              </a:rPr>
              <a:t>的结点，</a:t>
            </a:r>
            <a:r>
              <a:rPr lang="zh-CN" altLang="en-US" sz="2800" dirty="0">
                <a:latin typeface="华文楷体" panose="02010600040101010101" pitchFamily="2" charset="-122"/>
                <a:ea typeface="华文楷体" panose="02010600040101010101" pitchFamily="2" charset="-122"/>
              </a:rPr>
              <a:t>顺首结点逐个向后检查、匹配。</a:t>
            </a:r>
            <a:endParaRPr lang="en-US" altLang="zh-CN" sz="2800" dirty="0">
              <a:latin typeface="华文楷体" panose="02010600040101010101" pitchFamily="2" charset="-122"/>
              <a:ea typeface="华文楷体" panose="02010600040101010101" pitchFamily="2" charset="-122"/>
            </a:endParaRPr>
          </a:p>
          <a:p>
            <a:r>
              <a:rPr lang="en-US" altLang="zh-CN" sz="2800" dirty="0">
                <a:latin typeface="华文楷体" panose="02010600040101010101" pitchFamily="2" charset="-122"/>
                <a:ea typeface="华文楷体" panose="02010600040101010101" pitchFamily="2" charset="-122"/>
              </a:rPr>
              <a:t>                    </a:t>
            </a:r>
            <a:r>
              <a:rPr lang="zh-CN" altLang="zh-CN" sz="2800" dirty="0">
                <a:latin typeface="华文楷体" panose="02010600040101010101" pitchFamily="2" charset="-122"/>
                <a:ea typeface="华文楷体" panose="02010600040101010101" pitchFamily="2" charset="-122"/>
              </a:rPr>
              <a:t>单链表和顺序表</a:t>
            </a:r>
            <a:r>
              <a:rPr lang="zh-CN" altLang="en-US" sz="2800" dirty="0">
                <a:latin typeface="华文楷体" panose="02010600040101010101" pitchFamily="2" charset="-122"/>
                <a:ea typeface="华文楷体" panose="02010600040101010101" pitchFamily="2" charset="-122"/>
              </a:rPr>
              <a:t>中</a:t>
            </a:r>
            <a:r>
              <a:rPr lang="zh-CN" altLang="zh-CN" sz="2800" dirty="0">
                <a:latin typeface="华文楷体" panose="02010600040101010101" pitchFamily="2" charset="-122"/>
                <a:ea typeface="华文楷体" panose="02010600040101010101" pitchFamily="2" charset="-122"/>
              </a:rPr>
              <a:t>，时间复杂度</a:t>
            </a:r>
            <a:r>
              <a:rPr lang="zh-CN" altLang="en-US" sz="2800" dirty="0">
                <a:latin typeface="华文楷体" panose="02010600040101010101" pitchFamily="2" charset="-122"/>
                <a:ea typeface="华文楷体" panose="02010600040101010101" pitchFamily="2" charset="-122"/>
              </a:rPr>
              <a:t>都</a:t>
            </a:r>
            <a:r>
              <a:rPr lang="zh-CN" altLang="zh-CN" sz="2800" dirty="0">
                <a:latin typeface="华文楷体" panose="02010600040101010101" pitchFamily="2" charset="-122"/>
                <a:ea typeface="华文楷体" panose="02010600040101010101" pitchFamily="2" charset="-122"/>
              </a:rPr>
              <a:t>是</a:t>
            </a:r>
            <a:r>
              <a:rPr lang="en-US" altLang="zh-CN" sz="2800" dirty="0">
                <a:latin typeface="华文楷体" panose="02010600040101010101" pitchFamily="2" charset="-122"/>
                <a:ea typeface="华文楷体" panose="02010600040101010101" pitchFamily="2" charset="-122"/>
              </a:rPr>
              <a:t>O(n)</a:t>
            </a:r>
            <a:r>
              <a:rPr lang="zh-CN"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r>
              <a:rPr lang="en-US" altLang="zh-CN" sz="2800" dirty="0">
                <a:latin typeface="华文楷体" panose="02010600040101010101" pitchFamily="2" charset="-122"/>
                <a:ea typeface="华文楷体" panose="02010600040101010101" pitchFamily="2" charset="-122"/>
              </a:rPr>
              <a:t>                     </a:t>
            </a:r>
            <a:r>
              <a:rPr lang="zh-CN" altLang="en-US" sz="2800" dirty="0">
                <a:solidFill>
                  <a:schemeClr val="accent1">
                    <a:lumMod val="60000"/>
                    <a:lumOff val="40000"/>
                  </a:schemeClr>
                </a:solidFill>
                <a:latin typeface="华文楷体" panose="02010600040101010101" pitchFamily="2" charset="-122"/>
                <a:ea typeface="华文楷体" panose="02010600040101010101" pitchFamily="2" charset="-122"/>
              </a:rPr>
              <a:t>找</a:t>
            </a:r>
            <a:r>
              <a:rPr lang="zh-CN" altLang="zh-CN" sz="2800" dirty="0">
                <a:solidFill>
                  <a:schemeClr val="accent1">
                    <a:lumMod val="60000"/>
                    <a:lumOff val="40000"/>
                  </a:schemeClr>
                </a:solidFill>
                <a:latin typeface="华文楷体" panose="02010600040101010101" pitchFamily="2" charset="-122"/>
                <a:ea typeface="华文楷体" panose="02010600040101010101" pitchFamily="2" charset="-122"/>
              </a:rPr>
              <a:t>第</a:t>
            </a:r>
            <a:r>
              <a:rPr lang="en-US" altLang="zh-CN" sz="2800" dirty="0">
                <a:solidFill>
                  <a:schemeClr val="accent1">
                    <a:lumMod val="60000"/>
                    <a:lumOff val="40000"/>
                  </a:schemeClr>
                </a:solidFill>
                <a:latin typeface="华文楷体" panose="02010600040101010101" pitchFamily="2" charset="-122"/>
                <a:ea typeface="华文楷体" panose="02010600040101010101" pitchFamily="2" charset="-122"/>
              </a:rPr>
              <a:t>k</a:t>
            </a:r>
            <a:r>
              <a:rPr lang="zh-CN" altLang="zh-CN" sz="2800" dirty="0">
                <a:solidFill>
                  <a:schemeClr val="accent1">
                    <a:lumMod val="60000"/>
                    <a:lumOff val="40000"/>
                  </a:schemeClr>
                </a:solidFill>
                <a:latin typeface="华文楷体" panose="02010600040101010101" pitchFamily="2" charset="-122"/>
                <a:ea typeface="华文楷体" panose="02010600040101010101" pitchFamily="2" charset="-122"/>
              </a:rPr>
              <a:t>个结点，</a:t>
            </a:r>
            <a:r>
              <a:rPr lang="zh-CN" altLang="en-US" sz="2800" dirty="0">
                <a:solidFill>
                  <a:schemeClr val="accent1">
                    <a:lumMod val="60000"/>
                    <a:lumOff val="40000"/>
                  </a:schemeClr>
                </a:solidFill>
                <a:latin typeface="华文楷体" panose="02010600040101010101" pitchFamily="2" charset="-122"/>
                <a:ea typeface="华文楷体" panose="02010600040101010101" pitchFamily="2" charset="-122"/>
              </a:rPr>
              <a:t>顺序表</a:t>
            </a:r>
            <a:r>
              <a:rPr lang="en-US" altLang="zh-CN" sz="2800" dirty="0">
                <a:solidFill>
                  <a:schemeClr val="accent1">
                    <a:lumMod val="60000"/>
                    <a:lumOff val="40000"/>
                  </a:schemeClr>
                </a:solidFill>
                <a:latin typeface="华文楷体" panose="02010600040101010101" pitchFamily="2" charset="-122"/>
                <a:ea typeface="华文楷体" panose="02010600040101010101" pitchFamily="2" charset="-122"/>
              </a:rPr>
              <a:t>O(1</a:t>
            </a:r>
            <a:r>
              <a:rPr lang="zh-CN" altLang="en-US" sz="2800" dirty="0">
                <a:solidFill>
                  <a:schemeClr val="accent1">
                    <a:lumMod val="60000"/>
                    <a:lumOff val="40000"/>
                  </a:schemeClr>
                </a:solidFill>
                <a:latin typeface="华文楷体" panose="02010600040101010101" pitchFamily="2" charset="-122"/>
                <a:ea typeface="华文楷体" panose="02010600040101010101" pitchFamily="2" charset="-122"/>
              </a:rPr>
              <a:t>），链表</a:t>
            </a:r>
            <a:r>
              <a:rPr lang="en-US" altLang="zh-CN" sz="2800" dirty="0">
                <a:solidFill>
                  <a:schemeClr val="accent1">
                    <a:lumMod val="60000"/>
                    <a:lumOff val="40000"/>
                  </a:schemeClr>
                </a:solidFill>
                <a:latin typeface="华文楷体" panose="02010600040101010101" pitchFamily="2" charset="-122"/>
                <a:ea typeface="华文楷体" panose="02010600040101010101" pitchFamily="2" charset="-122"/>
              </a:rPr>
              <a:t>O(n)</a:t>
            </a:r>
            <a:r>
              <a:rPr lang="zh-CN" altLang="zh-CN" sz="2800" dirty="0">
                <a:solidFill>
                  <a:schemeClr val="accent1">
                    <a:lumMod val="60000"/>
                    <a:lumOff val="40000"/>
                  </a:schemeClr>
                </a:solidFill>
                <a:latin typeface="华文楷体" panose="02010600040101010101" pitchFamily="2" charset="-122"/>
                <a:ea typeface="华文楷体" panose="02010600040101010101" pitchFamily="2" charset="-122"/>
              </a:rPr>
              <a:t>。 </a:t>
            </a:r>
            <a:endParaRPr lang="en-US" altLang="zh-CN" sz="2800" dirty="0">
              <a:solidFill>
                <a:schemeClr val="accent1">
                  <a:lumMod val="60000"/>
                  <a:lumOff val="40000"/>
                </a:schemeClr>
              </a:solidFill>
              <a:latin typeface="华文楷体" panose="02010600040101010101" pitchFamily="2" charset="-122"/>
              <a:ea typeface="华文楷体" panose="02010600040101010101" pitchFamily="2" charset="-122"/>
            </a:endParaRPr>
          </a:p>
          <a:p>
            <a:endParaRPr lang="en-US" altLang="zh-CN" sz="2800" dirty="0">
              <a:latin typeface="华文楷体" panose="02010600040101010101" pitchFamily="2" charset="-122"/>
              <a:ea typeface="华文楷体" panose="02010600040101010101" pitchFamily="2" charset="-122"/>
            </a:endParaRPr>
          </a:p>
          <a:p>
            <a:r>
              <a:rPr lang="zh-CN" altLang="zh-CN" sz="2800" b="1" dirty="0">
                <a:latin typeface="华文楷体" panose="02010600040101010101" pitchFamily="2" charset="-122"/>
                <a:ea typeface="华文楷体" panose="02010600040101010101" pitchFamily="2" charset="-122"/>
              </a:rPr>
              <a:t>其他基本操作：</a:t>
            </a:r>
            <a:endParaRPr lang="en-US" altLang="zh-CN" sz="2800" b="1" dirty="0">
              <a:latin typeface="华文楷体" panose="02010600040101010101" pitchFamily="2" charset="-122"/>
              <a:ea typeface="华文楷体" panose="02010600040101010101" pitchFamily="2" charset="-122"/>
            </a:endParaRPr>
          </a:p>
          <a:p>
            <a:r>
              <a:rPr lang="en-US" altLang="zh-CN" sz="2800" b="1" dirty="0">
                <a:latin typeface="华文楷体" panose="02010600040101010101" pitchFamily="2" charset="-122"/>
                <a:ea typeface="华文楷体" panose="02010600040101010101" pitchFamily="2" charset="-122"/>
              </a:rPr>
              <a:t>                    </a:t>
            </a:r>
            <a:r>
              <a:rPr lang="en-US" altLang="zh-CN" sz="2800" dirty="0">
                <a:latin typeface="华文楷体" panose="02010600040101010101" pitchFamily="2" charset="-122"/>
                <a:ea typeface="华文楷体" panose="02010600040101010101" pitchFamily="2" charset="-122"/>
              </a:rPr>
              <a:t> </a:t>
            </a:r>
            <a:r>
              <a:rPr lang="en-US" altLang="zh-CN" sz="2800" dirty="0" err="1">
                <a:latin typeface="华文楷体" panose="02010600040101010101" pitchFamily="2" charset="-122"/>
                <a:ea typeface="华文楷体" panose="02010600040101010101" pitchFamily="2" charset="-122"/>
              </a:rPr>
              <a:t>isFull</a:t>
            </a:r>
            <a:r>
              <a:rPr lang="zh-CN" altLang="en-US" sz="2800" dirty="0">
                <a:latin typeface="华文楷体" panose="02010600040101010101" pitchFamily="2" charset="-122"/>
                <a:ea typeface="华文楷体" panose="02010600040101010101" pitchFamily="2" charset="-122"/>
              </a:rPr>
              <a:t>：</a:t>
            </a:r>
            <a:r>
              <a:rPr lang="zh-CN" altLang="zh-CN" sz="2800" dirty="0">
                <a:latin typeface="华文楷体" panose="02010600040101010101" pitchFamily="2" charset="-122"/>
                <a:ea typeface="华文楷体" panose="02010600040101010101" pitchFamily="2" charset="-122"/>
              </a:rPr>
              <a:t>因每次只申请一个结点空间，</a:t>
            </a:r>
            <a:r>
              <a:rPr lang="zh-CN" altLang="en-US" sz="2800" dirty="0">
                <a:latin typeface="华文楷体" panose="02010600040101010101" pitchFamily="2" charset="-122"/>
                <a:ea typeface="华文楷体" panose="02010600040101010101" pitchFamily="2" charset="-122"/>
              </a:rPr>
              <a:t>故总为</a:t>
            </a:r>
            <a:r>
              <a:rPr lang="en-US" altLang="zh-CN" sz="2800" dirty="0">
                <a:latin typeface="华文楷体" panose="02010600040101010101" pitchFamily="2" charset="-122"/>
                <a:ea typeface="华文楷体" panose="02010600040101010101" pitchFamily="2" charset="-122"/>
              </a:rPr>
              <a:t>false</a:t>
            </a:r>
            <a:r>
              <a:rPr lang="zh-CN"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r>
              <a:rPr lang="en-US" altLang="zh-CN" sz="2800" dirty="0">
                <a:latin typeface="华文楷体" panose="02010600040101010101" pitchFamily="2" charset="-122"/>
                <a:ea typeface="华文楷体" panose="02010600040101010101" pitchFamily="2" charset="-122"/>
              </a:rPr>
              <a:t>                     clear</a:t>
            </a:r>
            <a:r>
              <a:rPr lang="zh-CN" altLang="en-US" sz="2800" dirty="0">
                <a:latin typeface="华文楷体" panose="02010600040101010101" pitchFamily="2" charset="-122"/>
                <a:ea typeface="华文楷体" panose="02010600040101010101" pitchFamily="2" charset="-122"/>
              </a:rPr>
              <a:t>： 除了头结点</a:t>
            </a:r>
            <a:r>
              <a:rPr lang="zh-CN" altLang="zh-CN" sz="2800" dirty="0">
                <a:latin typeface="华文楷体" panose="02010600040101010101" pitchFamily="2" charset="-122"/>
                <a:ea typeface="华文楷体" panose="02010600040101010101" pitchFamily="2" charset="-122"/>
              </a:rPr>
              <a:t>删除并释放整个单链表</a:t>
            </a:r>
            <a:r>
              <a:rPr lang="zh-CN" altLang="en-US" sz="2800" dirty="0">
                <a:latin typeface="华文楷体" panose="02010600040101010101" pitchFamily="2" charset="-122"/>
                <a:ea typeface="华文楷体" panose="02010600040101010101" pitchFamily="2" charset="-122"/>
              </a:rPr>
              <a:t>中结点，</a:t>
            </a:r>
            <a:endParaRPr lang="en-US" altLang="zh-CN" sz="2800" dirty="0">
              <a:latin typeface="华文楷体" panose="02010600040101010101" pitchFamily="2" charset="-122"/>
              <a:ea typeface="华文楷体" panose="02010600040101010101" pitchFamily="2" charset="-122"/>
            </a:endParaRPr>
          </a:p>
          <a:p>
            <a:pPr marL="1789430"/>
            <a:r>
              <a:rPr lang="zh-CN" altLang="en-US" sz="2800" dirty="0">
                <a:latin typeface="华文楷体" panose="02010600040101010101" pitchFamily="2" charset="-122"/>
                <a:ea typeface="华文楷体" panose="02010600040101010101" pitchFamily="2" charset="-122"/>
              </a:rPr>
              <a:t>             回到初始化后的状态。</a:t>
            </a:r>
            <a:endParaRPr lang="en-US" altLang="zh-CN" sz="28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链表基本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实现代码</a:t>
            </a:r>
            <a:endParaRPr lang="zh-CN" altLang="en-US" dirty="0">
              <a:latin typeface="华文楷体" panose="02010600040101010101" pitchFamily="2" charset="-122"/>
              <a:ea typeface="华文楷体" panose="02010600040101010101" pitchFamily="2" charset="-122"/>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6"/>
          <p:cNvSpPr>
            <a:spLocks noChangeArrowheads="1"/>
          </p:cNvSpPr>
          <p:nvPr/>
        </p:nvSpPr>
        <p:spPr bwMode="auto">
          <a:xfrm>
            <a:off x="152400" y="1636728"/>
            <a:ext cx="11834191"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latin typeface="Times New Roman" panose="02020603050405020304" pitchFamily="18" charset="0"/>
                <a:cs typeface="Times New Roman" panose="02020603050405020304" pitchFamily="18" charset="0"/>
              </a:rPr>
              <a:t>template &lt;class </a:t>
            </a:r>
            <a:r>
              <a:rPr lang="en-US" altLang="zh-CN" sz="2800" dirty="0" err="1">
                <a:latin typeface="Times New Roman" panose="02020603050405020304" pitchFamily="18" charset="0"/>
                <a:cs typeface="Times New Roman" panose="02020603050405020304" pitchFamily="18" charset="0"/>
              </a:rPr>
              <a:t>elemType</a:t>
            </a:r>
            <a:r>
              <a:rPr lang="en-US" altLang="zh-CN" sz="2800" dirty="0">
                <a:latin typeface="Times New Roman" panose="02020603050405020304" pitchFamily="18" charset="0"/>
                <a:cs typeface="Times New Roman" panose="02020603050405020304" pitchFamily="18" charset="0"/>
              </a:rPr>
              <a:t>&gt;</a:t>
            </a:r>
            <a:endParaRPr lang="zh-CN" altLang="zh-CN" sz="2800" dirty="0">
              <a:latin typeface="Times New Roman" panose="02020603050405020304" pitchFamily="18" charset="0"/>
              <a:cs typeface="Times New Roman" panose="02020603050405020304" pitchFamily="18" charset="0"/>
            </a:endParaRPr>
          </a:p>
          <a:p>
            <a:r>
              <a:rPr lang="en-US" altLang="zh-CN" sz="2800" dirty="0" err="1">
                <a:latin typeface="Times New Roman" panose="02020603050405020304" pitchFamily="18" charset="0"/>
                <a:cs typeface="Times New Roman" panose="02020603050405020304" pitchFamily="18" charset="0"/>
              </a:rPr>
              <a:t>int</a:t>
            </a:r>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linkList</a:t>
            </a:r>
            <a:r>
              <a:rPr lang="en-US" altLang="zh-CN" sz="2800" dirty="0">
                <a:latin typeface="Times New Roman" panose="02020603050405020304" pitchFamily="18" charset="0"/>
                <a:cs typeface="Times New Roman" panose="02020603050405020304" pitchFamily="18" charset="0"/>
              </a:rPr>
              <a:t>&lt;</a:t>
            </a:r>
            <a:r>
              <a:rPr lang="en-US" altLang="zh-CN" sz="2800" dirty="0" err="1">
                <a:latin typeface="Times New Roman" panose="02020603050405020304" pitchFamily="18" charset="0"/>
                <a:cs typeface="Times New Roman" panose="02020603050405020304" pitchFamily="18" charset="0"/>
              </a:rPr>
              <a:t>elemType</a:t>
            </a:r>
            <a:r>
              <a:rPr lang="en-US" altLang="zh-CN" sz="2800" dirty="0">
                <a:latin typeface="Times New Roman" panose="02020603050405020304" pitchFamily="18" charset="0"/>
                <a:cs typeface="Times New Roman" panose="02020603050405020304" pitchFamily="18" charset="0"/>
              </a:rPr>
              <a:t>&gt;::length ()</a:t>
            </a:r>
            <a:r>
              <a:rPr lang="en-US" altLang="zh-CN" sz="2800" dirty="0" err="1">
                <a:latin typeface="Times New Roman" panose="02020603050405020304" pitchFamily="18" charset="0"/>
                <a:cs typeface="Times New Roman" panose="02020603050405020304" pitchFamily="18" charset="0"/>
              </a:rPr>
              <a:t>const</a:t>
            </a:r>
            <a:r>
              <a:rPr lang="en-US" altLang="zh-CN" sz="2800" dirty="0">
                <a:latin typeface="Times New Roman" panose="02020603050405020304" pitchFamily="18" charset="0"/>
                <a:cs typeface="Times New Roman" panose="02020603050405020304" pitchFamily="18" charset="0"/>
              </a:rPr>
              <a:t> //</a:t>
            </a:r>
            <a:r>
              <a:rPr lang="zh-CN" altLang="zh-CN" sz="2800" dirty="0">
                <a:latin typeface="Times New Roman" panose="02020603050405020304" pitchFamily="18" charset="0"/>
                <a:cs typeface="Times New Roman" panose="02020603050405020304" pitchFamily="18" charset="0"/>
              </a:rPr>
              <a:t>表的长度</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int</a:t>
            </a:r>
            <a:r>
              <a:rPr lang="en-US" altLang="zh-CN" sz="2800" dirty="0">
                <a:latin typeface="Times New Roman" panose="02020603050405020304" pitchFamily="18" charset="0"/>
                <a:cs typeface="Times New Roman" panose="02020603050405020304" pitchFamily="18" charset="0"/>
              </a:rPr>
              <a:t> count=0;</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node&lt;</a:t>
            </a:r>
            <a:r>
              <a:rPr lang="en-US" altLang="zh-CN" sz="2800" dirty="0" err="1">
                <a:latin typeface="Times New Roman" panose="02020603050405020304" pitchFamily="18" charset="0"/>
                <a:cs typeface="Times New Roman" panose="02020603050405020304" pitchFamily="18" charset="0"/>
              </a:rPr>
              <a:t>elemType</a:t>
            </a:r>
            <a:r>
              <a:rPr lang="en-US" altLang="zh-CN" sz="2800" dirty="0">
                <a:latin typeface="Times New Roman" panose="02020603050405020304" pitchFamily="18" charset="0"/>
                <a:cs typeface="Times New Roman" panose="02020603050405020304" pitchFamily="18" charset="0"/>
              </a:rPr>
              <a:t>&gt; *p;</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p=head-&gt;next;</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while(p)</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   count++;    p=p-&gt;next;  }</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return count;</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a:t>
            </a:r>
            <a:endParaRPr lang="zh-CN" altLang="zh-CN" sz="2800" dirty="0">
              <a:latin typeface="Times New Roman" panose="02020603050405020304" pitchFamily="18" charset="0"/>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transition spd="med">
    <p:push/>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链表基本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实现代码</a:t>
            </a:r>
            <a:endParaRPr lang="zh-CN" altLang="en-US" dirty="0">
              <a:latin typeface="华文楷体" panose="02010600040101010101" pitchFamily="2" charset="-122"/>
              <a:ea typeface="华文楷体" panose="02010600040101010101" pitchFamily="2" charset="-122"/>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6"/>
          <p:cNvSpPr>
            <a:spLocks noChangeArrowheads="1"/>
          </p:cNvSpPr>
          <p:nvPr/>
        </p:nvSpPr>
        <p:spPr bwMode="auto">
          <a:xfrm>
            <a:off x="152400" y="1436632"/>
            <a:ext cx="11834191" cy="5109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a:t>
            </a:r>
            <a:r>
              <a:rPr lang="zh-CN" altLang="en-US"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注意：五步口诀法</a:t>
            </a:r>
            <a:endParaRPr lang="zh-CN" altLang="zh-CN"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linkList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&gt;::get(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返回第</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个元素的值</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首元素为第</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个元素</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&lt;1) throw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outOfBound</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j=1;</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*p = head-&gt;next;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while (p&amp;&amp;j&lt;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{p=p-&gt;next;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(p) return p-&gt;data;</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throw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outOfBound</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transition spd="med">
    <p:push/>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链表基本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实现代码</a:t>
            </a:r>
            <a:endParaRPr lang="zh-CN" altLang="en-US" dirty="0">
              <a:latin typeface="华文楷体" panose="02010600040101010101" pitchFamily="2" charset="-122"/>
              <a:ea typeface="华文楷体" panose="02010600040101010101" pitchFamily="2" charset="-122"/>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6"/>
          <p:cNvSpPr>
            <a:spLocks noChangeArrowheads="1"/>
          </p:cNvSpPr>
          <p:nvPr/>
        </p:nvSpPr>
        <p:spPr bwMode="auto">
          <a:xfrm>
            <a:off x="152400" y="1480623"/>
            <a:ext cx="11834191"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linkList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&gt;::find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&amp;e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返回值等于</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的元素的序号，从第</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个开始，无则返回</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*p = head-&gt;next;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    while (p)</a:t>
            </a:r>
            <a:endPar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    {   if (p-&gt;data==e) break;</a:t>
            </a:r>
            <a:endPar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   p=p-&gt;next;</a:t>
            </a:r>
            <a:endPar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(p) return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return 0;   }</a:t>
            </a:r>
            <a:endParaRPr lang="zh-CN" altLang="zh-CN" sz="4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文本框 9"/>
          <p:cNvSpPr txBox="1"/>
          <p:nvPr/>
        </p:nvSpPr>
        <p:spPr>
          <a:xfrm>
            <a:off x="6248400" y="3926847"/>
            <a:ext cx="4398724" cy="2246769"/>
          </a:xfrm>
          <a:prstGeom prst="rect">
            <a:avLst/>
          </a:prstGeom>
          <a:solidFill>
            <a:schemeClr val="bg1"/>
          </a:solidFill>
          <a:ln>
            <a:solidFill>
              <a:schemeClr val="tx1"/>
            </a:solidFill>
          </a:ln>
        </p:spPr>
        <p:txBody>
          <a:bodyPr wrap="square" rtlCol="0">
            <a:spAutoFit/>
          </a:bodyPr>
          <a:lstStyle/>
          <a:p>
            <a:r>
              <a:rPr lang="zh-CN" altLang="en-US" sz="2800" b="1" dirty="0">
                <a:solidFill>
                  <a:srgbClr val="FF0000"/>
                </a:solidFill>
              </a:rPr>
              <a:t>是否可以改成</a:t>
            </a:r>
            <a:endParaRPr lang="en-US" altLang="zh-CN" sz="2800" b="1" dirty="0">
              <a:solidFill>
                <a:srgbClr val="FF0000"/>
              </a:solidFill>
            </a:endParaRPr>
          </a:p>
          <a:p>
            <a:r>
              <a:rPr lang="en-US" altLang="zh-CN" sz="2800" b="1" dirty="0">
                <a:solidFill>
                  <a:srgbClr val="FF0000"/>
                </a:solidFill>
              </a:rPr>
              <a:t>while (p-&gt;data !=e) </a:t>
            </a:r>
            <a:endParaRPr lang="en-US" altLang="zh-CN" sz="2800" b="1" dirty="0">
              <a:solidFill>
                <a:srgbClr val="FF0000"/>
              </a:solidFill>
            </a:endParaRPr>
          </a:p>
          <a:p>
            <a:r>
              <a:rPr lang="en-US" altLang="zh-CN" sz="2800" b="1" dirty="0">
                <a:solidFill>
                  <a:srgbClr val="FF0000"/>
                </a:solidFill>
              </a:rPr>
              <a:t>{ </a:t>
            </a:r>
            <a:r>
              <a:rPr lang="en-US" altLang="zh-CN" sz="2800" b="1" dirty="0" err="1">
                <a:solidFill>
                  <a:srgbClr val="FF0000"/>
                </a:solidFill>
              </a:rPr>
              <a:t>i</a:t>
            </a:r>
            <a:r>
              <a:rPr lang="en-US" altLang="zh-CN" sz="2800" b="1" dirty="0">
                <a:solidFill>
                  <a:srgbClr val="FF0000"/>
                </a:solidFill>
              </a:rPr>
              <a:t>++;</a:t>
            </a:r>
            <a:r>
              <a:rPr lang="zh-CN" altLang="en-US" sz="2800" b="1" dirty="0">
                <a:solidFill>
                  <a:srgbClr val="FF0000"/>
                </a:solidFill>
              </a:rPr>
              <a:t> </a:t>
            </a:r>
            <a:r>
              <a:rPr lang="en-US" altLang="zh-CN" sz="2800" b="1" dirty="0">
                <a:solidFill>
                  <a:srgbClr val="FF0000"/>
                </a:solidFill>
              </a:rPr>
              <a:t>p=p-&gt;next; }</a:t>
            </a:r>
            <a:endParaRPr lang="en-US" altLang="zh-CN" sz="2800" b="1" dirty="0">
              <a:solidFill>
                <a:srgbClr val="FF0000"/>
              </a:solidFill>
            </a:endParaRPr>
          </a:p>
          <a:p>
            <a:endParaRPr lang="en-US" altLang="zh-CN" sz="2800" b="1" dirty="0">
              <a:solidFill>
                <a:srgbClr val="FF0000"/>
              </a:solidFill>
            </a:endParaRPr>
          </a:p>
          <a:p>
            <a:r>
              <a:rPr lang="zh-CN" altLang="en-US" sz="2800" b="1" dirty="0">
                <a:solidFill>
                  <a:srgbClr val="FF0000"/>
                </a:solidFill>
              </a:rPr>
              <a:t>？？？</a:t>
            </a:r>
            <a:endParaRPr lang="zh-CN" altLang="en-US" sz="2800" b="1" dirty="0">
              <a:solidFill>
                <a:srgbClr val="FF0000"/>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链表基本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实现代码</a:t>
            </a:r>
            <a:endParaRPr lang="zh-CN" altLang="en-US" dirty="0">
              <a:latin typeface="华文楷体" panose="02010600040101010101" pitchFamily="2" charset="-122"/>
              <a:ea typeface="华文楷体" panose="02010600040101010101" pitchFamily="2" charset="-122"/>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6"/>
          <p:cNvSpPr>
            <a:spLocks noChangeArrowheads="1"/>
          </p:cNvSpPr>
          <p:nvPr/>
        </p:nvSpPr>
        <p:spPr bwMode="auto">
          <a:xfrm>
            <a:off x="152400" y="1480623"/>
            <a:ext cx="11834191"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linkList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&gt;::find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&amp;e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返回值等于</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的元素的序号，从第</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个开始，无则返回</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*p = head-&gt;next;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    while (p)</a:t>
            </a:r>
            <a:endPar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    {   if (p-&gt;data==e) break;</a:t>
            </a:r>
            <a:endPar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   p=p-&gt;next;</a:t>
            </a:r>
            <a:endPar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(p) return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return 0;   }</a:t>
            </a:r>
            <a:endParaRPr lang="zh-CN" altLang="zh-CN" sz="4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文本框 9"/>
          <p:cNvSpPr txBox="1"/>
          <p:nvPr/>
        </p:nvSpPr>
        <p:spPr>
          <a:xfrm>
            <a:off x="6248400" y="3926847"/>
            <a:ext cx="4398724" cy="2246769"/>
          </a:xfrm>
          <a:prstGeom prst="rect">
            <a:avLst/>
          </a:prstGeom>
          <a:solidFill>
            <a:schemeClr val="bg1"/>
          </a:solidFill>
          <a:ln>
            <a:solidFill>
              <a:schemeClr val="tx1"/>
            </a:solidFill>
          </a:ln>
        </p:spPr>
        <p:txBody>
          <a:bodyPr wrap="square" rtlCol="0">
            <a:spAutoFit/>
          </a:bodyPr>
          <a:lstStyle/>
          <a:p>
            <a:r>
              <a:rPr lang="zh-CN" altLang="en-US" sz="2800" b="1" dirty="0">
                <a:solidFill>
                  <a:srgbClr val="FF0000"/>
                </a:solidFill>
              </a:rPr>
              <a:t>是否可以改成</a:t>
            </a:r>
            <a:endParaRPr lang="en-US" altLang="zh-CN" sz="2800" b="1" dirty="0">
              <a:solidFill>
                <a:srgbClr val="FF0000"/>
              </a:solidFill>
            </a:endParaRPr>
          </a:p>
          <a:p>
            <a:r>
              <a:rPr lang="en-US" altLang="zh-CN" sz="2800" b="1" dirty="0">
                <a:solidFill>
                  <a:srgbClr val="FF0000"/>
                </a:solidFill>
              </a:rPr>
              <a:t>while (p-&gt;data !=e &amp;&amp;p) </a:t>
            </a:r>
            <a:endParaRPr lang="en-US" altLang="zh-CN" sz="2800" b="1" dirty="0">
              <a:solidFill>
                <a:srgbClr val="FF0000"/>
              </a:solidFill>
            </a:endParaRPr>
          </a:p>
          <a:p>
            <a:r>
              <a:rPr lang="en-US" altLang="zh-CN" sz="2800" b="1" dirty="0">
                <a:solidFill>
                  <a:srgbClr val="FF0000"/>
                </a:solidFill>
              </a:rPr>
              <a:t>{ </a:t>
            </a:r>
            <a:r>
              <a:rPr lang="en-US" altLang="zh-CN" sz="2800" b="1" dirty="0" err="1">
                <a:solidFill>
                  <a:srgbClr val="FF0000"/>
                </a:solidFill>
              </a:rPr>
              <a:t>i</a:t>
            </a:r>
            <a:r>
              <a:rPr lang="en-US" altLang="zh-CN" sz="2800" b="1" dirty="0">
                <a:solidFill>
                  <a:srgbClr val="FF0000"/>
                </a:solidFill>
              </a:rPr>
              <a:t>++;</a:t>
            </a:r>
            <a:r>
              <a:rPr lang="zh-CN" altLang="en-US" sz="2800" b="1" dirty="0">
                <a:solidFill>
                  <a:srgbClr val="FF0000"/>
                </a:solidFill>
              </a:rPr>
              <a:t> </a:t>
            </a:r>
            <a:r>
              <a:rPr lang="en-US" altLang="zh-CN" sz="2800" b="1" dirty="0">
                <a:solidFill>
                  <a:srgbClr val="FF0000"/>
                </a:solidFill>
              </a:rPr>
              <a:t>p=p-&gt;next; }</a:t>
            </a:r>
            <a:endParaRPr lang="en-US" altLang="zh-CN" sz="2800" b="1" dirty="0">
              <a:solidFill>
                <a:srgbClr val="FF0000"/>
              </a:solidFill>
            </a:endParaRPr>
          </a:p>
          <a:p>
            <a:endParaRPr lang="en-US" altLang="zh-CN" sz="2800" b="1" dirty="0">
              <a:solidFill>
                <a:srgbClr val="FF0000"/>
              </a:solidFill>
            </a:endParaRPr>
          </a:p>
          <a:p>
            <a:r>
              <a:rPr lang="zh-CN" altLang="en-US" sz="2800" b="1" dirty="0">
                <a:solidFill>
                  <a:srgbClr val="FF0000"/>
                </a:solidFill>
              </a:rPr>
              <a:t>？？？</a:t>
            </a:r>
            <a:endParaRPr lang="zh-CN" altLang="en-US" sz="2800" b="1" dirty="0">
              <a:solidFill>
                <a:srgbClr val="FF0000"/>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链表基本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实现代码</a:t>
            </a:r>
            <a:endParaRPr lang="zh-CN" altLang="en-US" dirty="0">
              <a:latin typeface="华文楷体" panose="02010600040101010101" pitchFamily="2" charset="-122"/>
              <a:ea typeface="华文楷体" panose="02010600040101010101" pitchFamily="2" charset="-122"/>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6"/>
          <p:cNvSpPr>
            <a:spLocks noChangeArrowheads="1"/>
          </p:cNvSpPr>
          <p:nvPr/>
        </p:nvSpPr>
        <p:spPr bwMode="auto">
          <a:xfrm>
            <a:off x="152400" y="1480623"/>
            <a:ext cx="11834191"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linkList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&gt;::find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&amp;e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返回值等于</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的元素的序号，从第</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个开始，无则返回</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*p = head-&gt;next;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while (p)</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if (p-&gt;data==e) break;</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p=p-&gt;next;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(p) return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return 0;   }</a:t>
            </a:r>
            <a:endParaRPr lang="zh-CN" altLang="zh-CN" sz="4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文本框 9"/>
          <p:cNvSpPr txBox="1"/>
          <p:nvPr/>
        </p:nvSpPr>
        <p:spPr>
          <a:xfrm>
            <a:off x="6248400" y="4353339"/>
            <a:ext cx="4398724" cy="1815882"/>
          </a:xfrm>
          <a:prstGeom prst="rect">
            <a:avLst/>
          </a:prstGeom>
          <a:solidFill>
            <a:schemeClr val="bg1"/>
          </a:solidFill>
          <a:ln>
            <a:solidFill>
              <a:schemeClr val="tx1"/>
            </a:solidFill>
          </a:ln>
        </p:spPr>
        <p:txBody>
          <a:bodyPr wrap="square" rtlCol="0">
            <a:spAutoFit/>
          </a:bodyPr>
          <a:lstStyle/>
          <a:p>
            <a:r>
              <a:rPr lang="en-US" altLang="zh-CN" sz="2800" b="1" dirty="0">
                <a:solidFill>
                  <a:schemeClr val="accent1"/>
                </a:solidFill>
              </a:rPr>
              <a:t>while (p &amp;&amp; p-&gt;data !=e) </a:t>
            </a:r>
            <a:endParaRPr lang="en-US" altLang="zh-CN" sz="2800" b="1" dirty="0">
              <a:solidFill>
                <a:schemeClr val="accent1"/>
              </a:solidFill>
            </a:endParaRPr>
          </a:p>
          <a:p>
            <a:r>
              <a:rPr lang="en-US" altLang="zh-CN" sz="2800" b="1" dirty="0">
                <a:solidFill>
                  <a:schemeClr val="accent1"/>
                </a:solidFill>
              </a:rPr>
              <a:t>{ </a:t>
            </a:r>
            <a:r>
              <a:rPr lang="en-US" altLang="zh-CN" sz="2800" b="1" dirty="0" err="1">
                <a:solidFill>
                  <a:schemeClr val="accent1"/>
                </a:solidFill>
              </a:rPr>
              <a:t>i</a:t>
            </a:r>
            <a:r>
              <a:rPr lang="en-US" altLang="zh-CN" sz="2800" b="1" dirty="0">
                <a:solidFill>
                  <a:schemeClr val="accent1"/>
                </a:solidFill>
              </a:rPr>
              <a:t>++; p=p-&gt;next; }</a:t>
            </a:r>
            <a:endParaRPr lang="en-US" altLang="zh-CN" sz="2800" b="1" dirty="0">
              <a:solidFill>
                <a:schemeClr val="accent1"/>
              </a:solidFill>
            </a:endParaRPr>
          </a:p>
          <a:p>
            <a:endParaRPr lang="en-US" altLang="zh-CN" sz="2800" b="1" dirty="0">
              <a:solidFill>
                <a:schemeClr val="accent1"/>
              </a:solidFill>
            </a:endParaRPr>
          </a:p>
          <a:p>
            <a:r>
              <a:rPr lang="zh-CN" altLang="en-US" sz="2800" b="1" dirty="0">
                <a:solidFill>
                  <a:schemeClr val="accent1"/>
                </a:solidFill>
              </a:rPr>
              <a:t>条件的顺序很重要</a:t>
            </a:r>
            <a:endParaRPr lang="zh-CN" altLang="en-US" sz="2800" b="1" dirty="0">
              <a:solidFill>
                <a:schemeClr val="accent1"/>
              </a:solidFill>
            </a:endParaRPr>
          </a:p>
        </p:txBody>
      </p:sp>
    </p:spTree>
  </p:cSld>
  <p:clrMapOvr>
    <a:masterClrMapping/>
  </p:clrMapOvr>
  <p:transition spd="med">
    <p:push/>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两种常用技巧：兄弟协同法、首席插入法</a:t>
            </a:r>
            <a:endParaRPr lang="zh-CN" altLang="en-US" dirty="0">
              <a:latin typeface="华文楷体" panose="02010600040101010101" pitchFamily="2" charset="-122"/>
              <a:ea typeface="华文楷体" panose="02010600040101010101" pitchFamily="2" charset="-122"/>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6"/>
          <p:cNvSpPr>
            <a:spLocks noChangeArrowheads="1"/>
          </p:cNvSpPr>
          <p:nvPr/>
        </p:nvSpPr>
        <p:spPr bwMode="auto">
          <a:xfrm>
            <a:off x="152400" y="1409726"/>
            <a:ext cx="10402957"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a:t>
            </a:r>
            <a:r>
              <a:rPr lang="en-US" altLang="zh-CN"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//p</a:t>
            </a:r>
            <a:r>
              <a:rPr lang="zh-CN" altLang="en-US"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q</a:t>
            </a:r>
            <a:r>
              <a:rPr lang="zh-CN" altLang="en-US"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兄弟协同法</a:t>
            </a:r>
            <a:endParaRPr lang="zh-CN" altLang="zh-CN"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void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linkList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&gt;::clear ()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清空表，使其为空表</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*p,*q;</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p=head-&gt;next;      head-&gt;next=NULL;</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while (p)</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q=p-&gt;next;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delete p;</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p=q;</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Rectangle 6"/>
          <p:cNvSpPr>
            <a:spLocks noChangeArrowheads="1"/>
          </p:cNvSpPr>
          <p:nvPr/>
        </p:nvSpPr>
        <p:spPr bwMode="auto">
          <a:xfrm>
            <a:off x="3989115" y="5139465"/>
            <a:ext cx="447675" cy="503237"/>
          </a:xfrm>
          <a:prstGeom prst="rect">
            <a:avLst/>
          </a:prstGeom>
          <a:solidFill>
            <a:srgbClr val="C0C0C0"/>
          </a:solidFill>
          <a:ln w="19050">
            <a:solidFill>
              <a:schemeClr val="tx1"/>
            </a:solidFill>
            <a:miter lim="800000"/>
          </a:ln>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b="1">
              <a:ea typeface="楷体_GB2312" pitchFamily="49" charset="-122"/>
            </a:endParaRPr>
          </a:p>
        </p:txBody>
      </p:sp>
      <p:sp>
        <p:nvSpPr>
          <p:cNvPr id="11" name="Rectangle 7"/>
          <p:cNvSpPr>
            <a:spLocks noChangeArrowheads="1"/>
          </p:cNvSpPr>
          <p:nvPr/>
        </p:nvSpPr>
        <p:spPr bwMode="auto">
          <a:xfrm>
            <a:off x="4436790" y="5139465"/>
            <a:ext cx="450850" cy="503237"/>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nvGrpSpPr>
          <p:cNvPr id="13" name="Group 8"/>
          <p:cNvGrpSpPr/>
          <p:nvPr/>
        </p:nvGrpSpPr>
        <p:grpSpPr bwMode="auto">
          <a:xfrm>
            <a:off x="5559152" y="5139465"/>
            <a:ext cx="896938" cy="503237"/>
            <a:chOff x="4680" y="5028"/>
            <a:chExt cx="720" cy="312"/>
          </a:xfrm>
        </p:grpSpPr>
        <p:sp>
          <p:nvSpPr>
            <p:cNvPr id="14" name="Rectangle 9"/>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5" name="Rectangle 10"/>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16" name="Group 11"/>
          <p:cNvGrpSpPr/>
          <p:nvPr/>
        </p:nvGrpSpPr>
        <p:grpSpPr bwMode="auto">
          <a:xfrm>
            <a:off x="8696052" y="5139465"/>
            <a:ext cx="898525" cy="503237"/>
            <a:chOff x="4680" y="5028"/>
            <a:chExt cx="720" cy="312"/>
          </a:xfrm>
        </p:grpSpPr>
        <p:sp>
          <p:nvSpPr>
            <p:cNvPr id="17" name="Rectangle 12"/>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8" name="Rectangle 13"/>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19" name="Group 14"/>
          <p:cNvGrpSpPr/>
          <p:nvPr/>
        </p:nvGrpSpPr>
        <p:grpSpPr bwMode="auto">
          <a:xfrm>
            <a:off x="10939190" y="5139465"/>
            <a:ext cx="896937" cy="503237"/>
            <a:chOff x="4680" y="5028"/>
            <a:chExt cx="720" cy="312"/>
          </a:xfrm>
        </p:grpSpPr>
        <p:sp>
          <p:nvSpPr>
            <p:cNvPr id="20" name="Rectangle 15"/>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solidFill>
                  <a:srgbClr val="C00000"/>
                </a:solidFill>
                <a:latin typeface="Garamond" panose="02020404030301010803" pitchFamily="18" charset="0"/>
              </a:endParaRPr>
            </a:p>
          </p:txBody>
        </p:sp>
        <p:sp>
          <p:nvSpPr>
            <p:cNvPr id="21" name="Rectangle 16"/>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lIns="0" tIns="28346" rIns="0" bIns="28346"/>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endParaRPr lang="zh-CN" altLang="zh-CN" sz="2800" b="1">
                <a:solidFill>
                  <a:srgbClr val="C00000"/>
                </a:solidFill>
                <a:ea typeface="楷体_GB2312" pitchFamily="49" charset="-122"/>
              </a:endParaRPr>
            </a:p>
          </p:txBody>
        </p:sp>
      </p:grpSp>
      <p:grpSp>
        <p:nvGrpSpPr>
          <p:cNvPr id="22" name="Group 17"/>
          <p:cNvGrpSpPr/>
          <p:nvPr/>
        </p:nvGrpSpPr>
        <p:grpSpPr bwMode="auto">
          <a:xfrm>
            <a:off x="7129190" y="5139465"/>
            <a:ext cx="893762" cy="503237"/>
            <a:chOff x="4680" y="5028"/>
            <a:chExt cx="720" cy="312"/>
          </a:xfrm>
        </p:grpSpPr>
        <p:sp>
          <p:nvSpPr>
            <p:cNvPr id="23" name="Rectangle 18"/>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24" name="Rectangle 19"/>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sp>
        <p:nvSpPr>
          <p:cNvPr id="25" name="Line 21"/>
          <p:cNvSpPr>
            <a:spLocks noChangeShapeType="1"/>
          </p:cNvSpPr>
          <p:nvPr/>
        </p:nvSpPr>
        <p:spPr bwMode="auto">
          <a:xfrm>
            <a:off x="6456090" y="5390290"/>
            <a:ext cx="673100"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Line 22"/>
          <p:cNvSpPr>
            <a:spLocks noChangeShapeType="1"/>
          </p:cNvSpPr>
          <p:nvPr/>
        </p:nvSpPr>
        <p:spPr bwMode="auto">
          <a:xfrm>
            <a:off x="7802290" y="5390290"/>
            <a:ext cx="893762"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Line 23"/>
          <p:cNvSpPr>
            <a:spLocks noChangeShapeType="1"/>
          </p:cNvSpPr>
          <p:nvPr/>
        </p:nvSpPr>
        <p:spPr bwMode="auto">
          <a:xfrm>
            <a:off x="9369152" y="5390290"/>
            <a:ext cx="449263"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Line 24"/>
          <p:cNvSpPr>
            <a:spLocks noChangeShapeType="1"/>
          </p:cNvSpPr>
          <p:nvPr/>
        </p:nvSpPr>
        <p:spPr bwMode="auto">
          <a:xfrm>
            <a:off x="10493102" y="5390290"/>
            <a:ext cx="446088"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Text Box 25"/>
          <p:cNvSpPr txBox="1">
            <a:spLocks noChangeArrowheads="1"/>
          </p:cNvSpPr>
          <p:nvPr/>
        </p:nvSpPr>
        <p:spPr bwMode="auto">
          <a:xfrm>
            <a:off x="5617890" y="5201377"/>
            <a:ext cx="341312"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h</a:t>
            </a:r>
            <a:endParaRPr lang="en-US" altLang="zh-CN" sz="2400" b="1" dirty="0">
              <a:ea typeface="楷体_GB2312" pitchFamily="49" charset="-122"/>
            </a:endParaRPr>
          </a:p>
        </p:txBody>
      </p:sp>
      <p:sp>
        <p:nvSpPr>
          <p:cNvPr id="30" name="Text Box 26"/>
          <p:cNvSpPr txBox="1">
            <a:spLocks noChangeArrowheads="1"/>
          </p:cNvSpPr>
          <p:nvPr/>
        </p:nvSpPr>
        <p:spPr bwMode="auto">
          <a:xfrm>
            <a:off x="7219677" y="5201377"/>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e</a:t>
            </a:r>
            <a:endParaRPr lang="en-US" altLang="zh-CN" sz="2400" b="1" dirty="0">
              <a:ea typeface="楷体_GB2312" pitchFamily="49" charset="-122"/>
            </a:endParaRPr>
          </a:p>
        </p:txBody>
      </p:sp>
      <p:sp>
        <p:nvSpPr>
          <p:cNvPr id="31" name="Text Box 27"/>
          <p:cNvSpPr txBox="1">
            <a:spLocks noChangeArrowheads="1"/>
          </p:cNvSpPr>
          <p:nvPr/>
        </p:nvSpPr>
        <p:spPr bwMode="auto">
          <a:xfrm>
            <a:off x="10956652" y="5180740"/>
            <a:ext cx="48260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o</a:t>
            </a:r>
            <a:endParaRPr lang="en-US" altLang="zh-CN" sz="2400" b="1" dirty="0">
              <a:ea typeface="楷体_GB2312" pitchFamily="49" charset="-122"/>
            </a:endParaRPr>
          </a:p>
        </p:txBody>
      </p:sp>
      <p:sp>
        <p:nvSpPr>
          <p:cNvPr id="32" name="Text Box 28"/>
          <p:cNvSpPr txBox="1">
            <a:spLocks noChangeArrowheads="1"/>
          </p:cNvSpPr>
          <p:nvPr/>
        </p:nvSpPr>
        <p:spPr bwMode="auto">
          <a:xfrm>
            <a:off x="8734152" y="5201377"/>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sp>
        <p:nvSpPr>
          <p:cNvPr id="33" name="Text Box 29"/>
          <p:cNvSpPr txBox="1">
            <a:spLocks noChangeArrowheads="1"/>
          </p:cNvSpPr>
          <p:nvPr/>
        </p:nvSpPr>
        <p:spPr bwMode="auto">
          <a:xfrm>
            <a:off x="11396390" y="5210902"/>
            <a:ext cx="3397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grpSp>
        <p:nvGrpSpPr>
          <p:cNvPr id="34" name="Group 30"/>
          <p:cNvGrpSpPr/>
          <p:nvPr/>
        </p:nvGrpSpPr>
        <p:grpSpPr bwMode="auto">
          <a:xfrm>
            <a:off x="3989115" y="4131402"/>
            <a:ext cx="952500" cy="998538"/>
            <a:chOff x="2157" y="2844"/>
            <a:chExt cx="900" cy="780"/>
          </a:xfrm>
        </p:grpSpPr>
        <p:sp>
          <p:nvSpPr>
            <p:cNvPr id="35" name="Text Box 31"/>
            <p:cNvSpPr txBox="1">
              <a:spLocks noChangeArrowheads="1"/>
            </p:cNvSpPr>
            <p:nvPr/>
          </p:nvSpPr>
          <p:spPr bwMode="auto">
            <a:xfrm>
              <a:off x="2157" y="2844"/>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head</a:t>
              </a:r>
              <a:endParaRPr lang="en-US" altLang="zh-CN" sz="2400" b="1">
                <a:ea typeface="楷体_GB2312" pitchFamily="49" charset="-122"/>
              </a:endParaRPr>
            </a:p>
          </p:txBody>
        </p:sp>
        <p:sp>
          <p:nvSpPr>
            <p:cNvPr id="36" name="Line 32"/>
            <p:cNvSpPr>
              <a:spLocks noChangeShapeType="1"/>
            </p:cNvSpPr>
            <p:nvPr/>
          </p:nvSpPr>
          <p:spPr bwMode="auto">
            <a:xfrm>
              <a:off x="2520" y="3312"/>
              <a:ext cx="0" cy="312"/>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7" name="Text Box 34"/>
          <p:cNvSpPr txBox="1">
            <a:spLocks noChangeArrowheads="1"/>
          </p:cNvSpPr>
          <p:nvPr/>
        </p:nvSpPr>
        <p:spPr bwMode="auto">
          <a:xfrm>
            <a:off x="3989115" y="5715727"/>
            <a:ext cx="935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1800" b="1">
                <a:latin typeface="Garamond" panose="02020404030301010803" pitchFamily="18" charset="0"/>
              </a:rPr>
              <a:t>头结点</a:t>
            </a:r>
            <a:endParaRPr kumimoji="0" lang="zh-CN" altLang="en-US" sz="1800" b="1">
              <a:latin typeface="Garamond" panose="02020404030301010803" pitchFamily="18" charset="0"/>
            </a:endParaRPr>
          </a:p>
        </p:txBody>
      </p:sp>
      <p:sp>
        <p:nvSpPr>
          <p:cNvPr id="38" name="文本框 37"/>
          <p:cNvSpPr txBox="1"/>
          <p:nvPr/>
        </p:nvSpPr>
        <p:spPr>
          <a:xfrm>
            <a:off x="5492098" y="4355340"/>
            <a:ext cx="641348" cy="523220"/>
          </a:xfrm>
          <a:prstGeom prst="rect">
            <a:avLst/>
          </a:prstGeom>
          <a:noFill/>
        </p:spPr>
        <p:txBody>
          <a:bodyPr wrap="square" rtlCol="0">
            <a:spAutoFit/>
          </a:bodyPr>
          <a:lstStyle/>
          <a:p>
            <a:r>
              <a:rPr lang="en-US" altLang="zh-CN" sz="2800" dirty="0"/>
              <a:t>p</a:t>
            </a:r>
            <a:endParaRPr lang="zh-CN" altLang="en-US" sz="2800" dirty="0" err="1"/>
          </a:p>
        </p:txBody>
      </p:sp>
      <p:sp>
        <p:nvSpPr>
          <p:cNvPr id="39" name="文本框 38"/>
          <p:cNvSpPr txBox="1"/>
          <p:nvPr/>
        </p:nvSpPr>
        <p:spPr>
          <a:xfrm>
            <a:off x="7220781" y="4349595"/>
            <a:ext cx="577153" cy="523220"/>
          </a:xfrm>
          <a:prstGeom prst="rect">
            <a:avLst/>
          </a:prstGeom>
          <a:noFill/>
        </p:spPr>
        <p:txBody>
          <a:bodyPr wrap="square" rtlCol="0">
            <a:spAutoFit/>
          </a:bodyPr>
          <a:lstStyle/>
          <a:p>
            <a:r>
              <a:rPr lang="en-US" altLang="zh-CN" sz="2800" dirty="0"/>
              <a:t>q</a:t>
            </a:r>
            <a:endParaRPr lang="zh-CN" altLang="en-US" sz="2800" dirty="0" err="1"/>
          </a:p>
        </p:txBody>
      </p:sp>
      <p:cxnSp>
        <p:nvCxnSpPr>
          <p:cNvPr id="40" name="直接连接符 39"/>
          <p:cNvCxnSpPr/>
          <p:nvPr/>
        </p:nvCxnSpPr>
        <p:spPr>
          <a:xfrm flipH="1">
            <a:off x="4544564" y="5316355"/>
            <a:ext cx="103228" cy="170523"/>
          </a:xfrm>
          <a:prstGeom prst="line">
            <a:avLst/>
          </a:prstGeom>
        </p:spPr>
        <p:style>
          <a:lnRef idx="1">
            <a:schemeClr val="dk1"/>
          </a:lnRef>
          <a:fillRef idx="0">
            <a:schemeClr val="dk1"/>
          </a:fillRef>
          <a:effectRef idx="0">
            <a:schemeClr val="dk1"/>
          </a:effectRef>
          <a:fontRef idx="minor">
            <a:schemeClr val="tx1"/>
          </a:fontRef>
        </p:style>
      </p:cxnSp>
      <p:cxnSp>
        <p:nvCxnSpPr>
          <p:cNvPr id="41" name="直接连接符 40"/>
          <p:cNvCxnSpPr/>
          <p:nvPr/>
        </p:nvCxnSpPr>
        <p:spPr>
          <a:xfrm>
            <a:off x="4623297" y="5313118"/>
            <a:ext cx="143336" cy="147634"/>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ransition spd="med">
    <p:push/>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627" name="Rectangle 3"/>
          <p:cNvSpPr>
            <a:spLocks noGrp="1" noChangeArrowheads="1"/>
          </p:cNvSpPr>
          <p:nvPr>
            <p:ph idx="1"/>
          </p:nvPr>
        </p:nvSpPr>
        <p:spPr>
          <a:xfrm>
            <a:off x="601982" y="978725"/>
            <a:ext cx="10540635" cy="4039141"/>
          </a:xfrm>
        </p:spPr>
        <p:txBody>
          <a:bodyPr>
            <a:normAutofit fontScale="25000" lnSpcReduction="20000"/>
          </a:bodyPr>
          <a:lstStyle/>
          <a:p>
            <a:pPr marL="0" indent="0">
              <a:buFontTx/>
              <a:buNone/>
            </a:pPr>
            <a:r>
              <a:rPr lang="zh-CN" altLang="en-US" sz="11200" dirty="0">
                <a:latin typeface="华文楷体" panose="02010600040101010101" pitchFamily="2" charset="-122"/>
                <a:ea typeface="华文楷体" panose="02010600040101010101" pitchFamily="2" charset="-122"/>
              </a:rPr>
              <a:t>最速插入位置</a:t>
            </a:r>
            <a:r>
              <a:rPr lang="en-US" altLang="zh-CN" sz="11200" dirty="0">
                <a:latin typeface="华文楷体" panose="02010600040101010101" pitchFamily="2" charset="-122"/>
                <a:ea typeface="华文楷体" panose="02010600040101010101" pitchFamily="2" charset="-122"/>
              </a:rPr>
              <a:t>—</a:t>
            </a:r>
            <a:r>
              <a:rPr lang="zh-CN" altLang="en-US" sz="11200" dirty="0">
                <a:latin typeface="华文楷体" panose="02010600040101010101" pitchFamily="2" charset="-122"/>
                <a:ea typeface="华文楷体" panose="02010600040101010101" pitchFamily="2" charset="-122"/>
              </a:rPr>
              <a:t>脖子</a:t>
            </a:r>
            <a:r>
              <a:rPr lang="en-US" altLang="zh-CN" sz="11200" dirty="0">
                <a:latin typeface="华文楷体" panose="02010600040101010101" pitchFamily="2" charset="-122"/>
                <a:ea typeface="华文楷体" panose="02010600040101010101" pitchFamily="2" charset="-122"/>
              </a:rPr>
              <a:t>//</a:t>
            </a:r>
            <a:r>
              <a:rPr lang="zh-CN" altLang="en-US" sz="11200" dirty="0">
                <a:solidFill>
                  <a:srgbClr val="FF0000"/>
                </a:solidFill>
                <a:latin typeface="华文楷体" panose="02010600040101010101" pitchFamily="2" charset="-122"/>
                <a:ea typeface="华文楷体" panose="02010600040101010101" pitchFamily="2" charset="-122"/>
              </a:rPr>
              <a:t>首席插入法</a:t>
            </a:r>
            <a:endParaRPr lang="en-US" altLang="zh-CN" sz="11200" dirty="0">
              <a:solidFill>
                <a:srgbClr val="FF0000"/>
              </a:solidFill>
              <a:latin typeface="华文楷体" panose="02010600040101010101" pitchFamily="2" charset="-122"/>
              <a:ea typeface="华文楷体" panose="02010600040101010101" pitchFamily="2" charset="-122"/>
            </a:endParaRPr>
          </a:p>
          <a:p>
            <a:pPr marL="0" indent="0">
              <a:buFontTx/>
              <a:buNone/>
            </a:pPr>
            <a:r>
              <a:rPr lang="en-US" altLang="zh-CN" sz="11200" b="0" dirty="0">
                <a:latin typeface="Times New Roman" panose="02020603050405020304" pitchFamily="18" charset="0"/>
                <a:cs typeface="Times New Roman" panose="02020603050405020304" pitchFamily="18" charset="0"/>
              </a:rPr>
              <a:t>template &lt;class </a:t>
            </a:r>
            <a:r>
              <a:rPr lang="en-US" altLang="zh-CN" sz="11200" b="0" dirty="0" err="1">
                <a:latin typeface="Times New Roman" panose="02020603050405020304" pitchFamily="18" charset="0"/>
                <a:cs typeface="Times New Roman" panose="02020603050405020304" pitchFamily="18" charset="0"/>
              </a:rPr>
              <a:t>elemType</a:t>
            </a:r>
            <a:r>
              <a:rPr lang="en-US" altLang="zh-CN" sz="11200" b="0" dirty="0">
                <a:latin typeface="Times New Roman" panose="02020603050405020304" pitchFamily="18" charset="0"/>
                <a:cs typeface="Times New Roman" panose="02020603050405020304" pitchFamily="18" charset="0"/>
              </a:rPr>
              <a:t>&gt;</a:t>
            </a:r>
            <a:endParaRPr lang="en-US" altLang="zh-CN" sz="11200" b="0" dirty="0">
              <a:latin typeface="Times New Roman" panose="02020603050405020304" pitchFamily="18" charset="0"/>
              <a:cs typeface="Times New Roman" panose="02020603050405020304" pitchFamily="18" charset="0"/>
            </a:endParaRPr>
          </a:p>
          <a:p>
            <a:pPr marL="0" indent="0">
              <a:buFontTx/>
              <a:buNone/>
            </a:pPr>
            <a:r>
              <a:rPr lang="en-US" altLang="zh-CN" sz="11200" b="0" dirty="0">
                <a:latin typeface="Times New Roman" panose="02020603050405020304" pitchFamily="18" charset="0"/>
                <a:cs typeface="Times New Roman" panose="02020603050405020304" pitchFamily="18" charset="0"/>
              </a:rPr>
              <a:t>void </a:t>
            </a:r>
            <a:r>
              <a:rPr lang="en-US" altLang="zh-CN" sz="11200" b="0" dirty="0" err="1">
                <a:latin typeface="Times New Roman" panose="02020603050405020304" pitchFamily="18" charset="0"/>
                <a:cs typeface="Times New Roman" panose="02020603050405020304" pitchFamily="18" charset="0"/>
              </a:rPr>
              <a:t>linkList</a:t>
            </a:r>
            <a:r>
              <a:rPr lang="en-US" altLang="zh-CN" sz="11200" b="0" dirty="0">
                <a:latin typeface="Times New Roman" panose="02020603050405020304" pitchFamily="18" charset="0"/>
                <a:cs typeface="Times New Roman" panose="02020603050405020304" pitchFamily="18" charset="0"/>
              </a:rPr>
              <a:t>&lt;</a:t>
            </a:r>
            <a:r>
              <a:rPr lang="en-US" altLang="zh-CN" sz="11200" b="0" dirty="0" err="1">
                <a:latin typeface="Times New Roman" panose="02020603050405020304" pitchFamily="18" charset="0"/>
                <a:cs typeface="Times New Roman" panose="02020603050405020304" pitchFamily="18" charset="0"/>
              </a:rPr>
              <a:t>elemType</a:t>
            </a:r>
            <a:r>
              <a:rPr lang="en-US" altLang="zh-CN" sz="11200" b="0" dirty="0">
                <a:latin typeface="Times New Roman" panose="02020603050405020304" pitchFamily="18" charset="0"/>
                <a:cs typeface="Times New Roman" panose="02020603050405020304" pitchFamily="18" charset="0"/>
              </a:rPr>
              <a:t>&gt;:: insert(</a:t>
            </a:r>
            <a:r>
              <a:rPr lang="en-US" altLang="zh-CN" sz="11200" b="0" dirty="0" err="1">
                <a:latin typeface="Times New Roman" panose="02020603050405020304" pitchFamily="18" charset="0"/>
                <a:cs typeface="Times New Roman" panose="02020603050405020304" pitchFamily="18" charset="0"/>
              </a:rPr>
              <a:t>const</a:t>
            </a:r>
            <a:r>
              <a:rPr lang="en-US" altLang="zh-CN" sz="11200" b="0" dirty="0">
                <a:latin typeface="Times New Roman" panose="02020603050405020304" pitchFamily="18" charset="0"/>
                <a:cs typeface="Times New Roman" panose="02020603050405020304" pitchFamily="18" charset="0"/>
              </a:rPr>
              <a:t> </a:t>
            </a:r>
            <a:r>
              <a:rPr lang="en-US" altLang="zh-CN" sz="11200" b="0" dirty="0" err="1">
                <a:latin typeface="Times New Roman" panose="02020603050405020304" pitchFamily="18" charset="0"/>
                <a:cs typeface="Times New Roman" panose="02020603050405020304" pitchFamily="18" charset="0"/>
              </a:rPr>
              <a:t>elemType</a:t>
            </a:r>
            <a:r>
              <a:rPr lang="en-US" altLang="zh-CN" sz="11200" b="0" dirty="0">
                <a:latin typeface="Times New Roman" panose="02020603050405020304" pitchFamily="18" charset="0"/>
                <a:cs typeface="Times New Roman" panose="02020603050405020304" pitchFamily="18" charset="0"/>
              </a:rPr>
              <a:t> a[], </a:t>
            </a:r>
            <a:r>
              <a:rPr lang="en-US" altLang="zh-CN" sz="11200" b="0" dirty="0" err="1">
                <a:latin typeface="Times New Roman" panose="02020603050405020304" pitchFamily="18" charset="0"/>
                <a:cs typeface="Times New Roman" panose="02020603050405020304" pitchFamily="18" charset="0"/>
              </a:rPr>
              <a:t>int</a:t>
            </a:r>
            <a:r>
              <a:rPr lang="en-US" altLang="zh-CN" sz="11200" b="0" dirty="0">
                <a:latin typeface="Times New Roman" panose="02020603050405020304" pitchFamily="18" charset="0"/>
                <a:cs typeface="Times New Roman" panose="02020603050405020304" pitchFamily="18" charset="0"/>
              </a:rPr>
              <a:t> n)</a:t>
            </a:r>
            <a:endParaRPr lang="en-US" altLang="zh-CN" sz="11200" b="0" dirty="0">
              <a:latin typeface="Times New Roman" panose="02020603050405020304" pitchFamily="18" charset="0"/>
              <a:cs typeface="Times New Roman" panose="02020603050405020304" pitchFamily="18" charset="0"/>
            </a:endParaRPr>
          </a:p>
          <a:p>
            <a:pPr marL="0" indent="0">
              <a:buFontTx/>
              <a:buNone/>
            </a:pPr>
            <a:r>
              <a:rPr lang="en-US" altLang="zh-CN" sz="11200" b="0" dirty="0">
                <a:latin typeface="Times New Roman" panose="02020603050405020304" pitchFamily="18" charset="0"/>
                <a:cs typeface="Times New Roman" panose="02020603050405020304" pitchFamily="18" charset="0"/>
              </a:rPr>
              <a:t>{ node *</a:t>
            </a:r>
            <a:r>
              <a:rPr lang="en-US" altLang="zh-CN" sz="11200" b="0" dirty="0" err="1">
                <a:latin typeface="Times New Roman" panose="02020603050405020304" pitchFamily="18" charset="0"/>
                <a:cs typeface="Times New Roman" panose="02020603050405020304" pitchFamily="18" charset="0"/>
              </a:rPr>
              <a:t>tmp</a:t>
            </a:r>
            <a:r>
              <a:rPr lang="en-US" altLang="zh-CN" sz="11200" b="0" dirty="0">
                <a:latin typeface="Times New Roman" panose="02020603050405020304" pitchFamily="18" charset="0"/>
                <a:cs typeface="Times New Roman" panose="02020603050405020304" pitchFamily="18" charset="0"/>
              </a:rPr>
              <a:t>, </a:t>
            </a:r>
            <a:endParaRPr lang="en-US" altLang="zh-CN" sz="11200" b="0" dirty="0">
              <a:latin typeface="Times New Roman" panose="02020603050405020304" pitchFamily="18" charset="0"/>
              <a:cs typeface="Times New Roman" panose="02020603050405020304" pitchFamily="18" charset="0"/>
            </a:endParaRPr>
          </a:p>
          <a:p>
            <a:pPr marL="0" indent="0">
              <a:buFontTx/>
              <a:buNone/>
            </a:pPr>
            <a:r>
              <a:rPr lang="en-US" altLang="zh-CN" sz="11200" b="0" dirty="0">
                <a:latin typeface="Times New Roman" panose="02020603050405020304" pitchFamily="18" charset="0"/>
                <a:cs typeface="Times New Roman" panose="02020603050405020304" pitchFamily="18" charset="0"/>
              </a:rPr>
              <a:t>   for (</a:t>
            </a:r>
            <a:r>
              <a:rPr lang="en-US" altLang="zh-CN" sz="11200" b="0" dirty="0" err="1">
                <a:latin typeface="Times New Roman" panose="02020603050405020304" pitchFamily="18" charset="0"/>
                <a:cs typeface="Times New Roman" panose="02020603050405020304" pitchFamily="18" charset="0"/>
              </a:rPr>
              <a:t>int</a:t>
            </a:r>
            <a:r>
              <a:rPr lang="en-US" altLang="zh-CN" sz="11200" b="0" dirty="0">
                <a:latin typeface="Times New Roman" panose="02020603050405020304" pitchFamily="18" charset="0"/>
                <a:cs typeface="Times New Roman" panose="02020603050405020304" pitchFamily="18" charset="0"/>
              </a:rPr>
              <a:t> </a:t>
            </a:r>
            <a:r>
              <a:rPr lang="en-US" altLang="zh-CN" sz="11200" b="0" dirty="0" err="1">
                <a:latin typeface="Times New Roman" panose="02020603050405020304" pitchFamily="18" charset="0"/>
                <a:cs typeface="Times New Roman" panose="02020603050405020304" pitchFamily="18" charset="0"/>
              </a:rPr>
              <a:t>i</a:t>
            </a:r>
            <a:r>
              <a:rPr lang="en-US" altLang="zh-CN" sz="11200" b="0" dirty="0">
                <a:latin typeface="Times New Roman" panose="02020603050405020304" pitchFamily="18" charset="0"/>
                <a:cs typeface="Times New Roman" panose="02020603050405020304" pitchFamily="18" charset="0"/>
              </a:rPr>
              <a:t>=0; </a:t>
            </a:r>
            <a:r>
              <a:rPr lang="en-US" altLang="zh-CN" sz="11200" b="0" dirty="0" err="1">
                <a:latin typeface="Times New Roman" panose="02020603050405020304" pitchFamily="18" charset="0"/>
                <a:cs typeface="Times New Roman" panose="02020603050405020304" pitchFamily="18" charset="0"/>
              </a:rPr>
              <a:t>i</a:t>
            </a:r>
            <a:r>
              <a:rPr lang="en-US" altLang="zh-CN" sz="11200" b="0" dirty="0">
                <a:latin typeface="Times New Roman" panose="02020603050405020304" pitchFamily="18" charset="0"/>
                <a:cs typeface="Times New Roman" panose="02020603050405020304" pitchFamily="18" charset="0"/>
              </a:rPr>
              <a:t>&lt;n; </a:t>
            </a:r>
            <a:r>
              <a:rPr lang="en-US" altLang="zh-CN" sz="11200" b="0" dirty="0" err="1">
                <a:latin typeface="Times New Roman" panose="02020603050405020304" pitchFamily="18" charset="0"/>
                <a:cs typeface="Times New Roman" panose="02020603050405020304" pitchFamily="18" charset="0"/>
              </a:rPr>
              <a:t>i</a:t>
            </a:r>
            <a:r>
              <a:rPr lang="en-US" altLang="zh-CN" sz="11200" b="0" dirty="0">
                <a:latin typeface="Times New Roman" panose="02020603050405020304" pitchFamily="18" charset="0"/>
                <a:cs typeface="Times New Roman" panose="02020603050405020304" pitchFamily="18" charset="0"/>
              </a:rPr>
              <a:t>++)</a:t>
            </a:r>
            <a:endParaRPr lang="en-US" altLang="zh-CN" sz="11200" b="0" dirty="0">
              <a:latin typeface="Times New Roman" panose="02020603050405020304" pitchFamily="18" charset="0"/>
              <a:cs typeface="Times New Roman" panose="02020603050405020304" pitchFamily="18" charset="0"/>
            </a:endParaRPr>
          </a:p>
          <a:p>
            <a:pPr marL="0" indent="0">
              <a:buFontTx/>
              <a:buNone/>
            </a:pPr>
            <a:r>
              <a:rPr lang="en-US" altLang="zh-CN" sz="11200" b="0" dirty="0">
                <a:latin typeface="Times New Roman" panose="02020603050405020304" pitchFamily="18" charset="0"/>
                <a:cs typeface="Times New Roman" panose="02020603050405020304" pitchFamily="18" charset="0"/>
              </a:rPr>
              <a:t>   {     </a:t>
            </a:r>
            <a:r>
              <a:rPr lang="en-US" altLang="zh-CN" sz="11200" b="0" dirty="0" err="1">
                <a:latin typeface="Times New Roman" panose="02020603050405020304" pitchFamily="18" charset="0"/>
                <a:cs typeface="Times New Roman" panose="02020603050405020304" pitchFamily="18" charset="0"/>
              </a:rPr>
              <a:t>tmp</a:t>
            </a:r>
            <a:r>
              <a:rPr lang="en-US" altLang="zh-CN" sz="11200" b="0" dirty="0">
                <a:latin typeface="Times New Roman" panose="02020603050405020304" pitchFamily="18" charset="0"/>
                <a:cs typeface="Times New Roman" panose="02020603050405020304" pitchFamily="18" charset="0"/>
              </a:rPr>
              <a:t> = new node(a[</a:t>
            </a:r>
            <a:r>
              <a:rPr lang="en-US" altLang="zh-CN" sz="11200" b="0" dirty="0" err="1">
                <a:latin typeface="Times New Roman" panose="02020603050405020304" pitchFamily="18" charset="0"/>
                <a:cs typeface="Times New Roman" panose="02020603050405020304" pitchFamily="18" charset="0"/>
              </a:rPr>
              <a:t>i</a:t>
            </a:r>
            <a:r>
              <a:rPr lang="en-US" altLang="zh-CN" sz="11200" b="0" dirty="0">
                <a:latin typeface="Times New Roman" panose="02020603050405020304" pitchFamily="18" charset="0"/>
                <a:cs typeface="Times New Roman" panose="02020603050405020304" pitchFamily="18" charset="0"/>
              </a:rPr>
              <a:t>], head-&gt;next);   head-&gt;next = </a:t>
            </a:r>
            <a:r>
              <a:rPr lang="en-US" altLang="zh-CN" sz="11200" b="0" dirty="0" err="1">
                <a:latin typeface="Times New Roman" panose="02020603050405020304" pitchFamily="18" charset="0"/>
                <a:cs typeface="Times New Roman" panose="02020603050405020304" pitchFamily="18" charset="0"/>
              </a:rPr>
              <a:t>tmp</a:t>
            </a:r>
            <a:r>
              <a:rPr lang="en-US" altLang="zh-CN" sz="11200" b="0" dirty="0">
                <a:latin typeface="Times New Roman" panose="02020603050405020304" pitchFamily="18" charset="0"/>
                <a:cs typeface="Times New Roman" panose="02020603050405020304" pitchFamily="18" charset="0"/>
              </a:rPr>
              <a:t>;    }</a:t>
            </a:r>
            <a:endParaRPr lang="en-US" altLang="zh-CN" sz="11200" b="0" dirty="0">
              <a:latin typeface="Times New Roman" panose="02020603050405020304" pitchFamily="18" charset="0"/>
              <a:cs typeface="Times New Roman" panose="02020603050405020304" pitchFamily="18" charset="0"/>
            </a:endParaRPr>
          </a:p>
          <a:p>
            <a:pPr marL="0" indent="0">
              <a:buFontTx/>
              <a:buNone/>
            </a:pPr>
            <a:r>
              <a:rPr lang="en-US" altLang="zh-CN" sz="11200" b="0" dirty="0">
                <a:latin typeface="Times New Roman" panose="02020603050405020304" pitchFamily="18" charset="0"/>
                <a:cs typeface="Times New Roman" panose="02020603050405020304" pitchFamily="18" charset="0"/>
              </a:rPr>
              <a:t>}</a:t>
            </a:r>
            <a:endParaRPr lang="en-US" altLang="zh-CN" sz="11200" b="0" dirty="0">
              <a:latin typeface="Times New Roman" panose="02020603050405020304" pitchFamily="18" charset="0"/>
              <a:cs typeface="Times New Roman" panose="02020603050405020304" pitchFamily="18" charset="0"/>
            </a:endParaRPr>
          </a:p>
          <a:p>
            <a:pPr marL="0" indent="0">
              <a:lnSpc>
                <a:spcPct val="110000"/>
              </a:lnSpc>
              <a:buNone/>
              <a:defRPr/>
            </a:pPr>
            <a:endParaRPr lang="zh-CN" altLang="en-US" sz="11200" dirty="0"/>
          </a:p>
          <a:p>
            <a:endParaRPr lang="en-US" altLang="zh-CN" sz="3200" dirty="0">
              <a:latin typeface="楷体_GB2312" pitchFamily="49" charset="-122"/>
              <a:ea typeface="楷体_GB2312" pitchFamily="49" charset="-122"/>
            </a:endParaRPr>
          </a:p>
        </p:txBody>
      </p:sp>
      <p:sp>
        <p:nvSpPr>
          <p:cNvPr id="2" name="文本框 1"/>
          <p:cNvSpPr txBox="1"/>
          <p:nvPr/>
        </p:nvSpPr>
        <p:spPr>
          <a:xfrm>
            <a:off x="221752" y="5645516"/>
            <a:ext cx="2939143" cy="523220"/>
          </a:xfrm>
          <a:prstGeom prst="rect">
            <a:avLst/>
          </a:prstGeom>
          <a:noFill/>
        </p:spPr>
        <p:txBody>
          <a:bodyPr wrap="square" rtlCol="0">
            <a:spAutoFit/>
          </a:bodyPr>
          <a:lstStyle/>
          <a:p>
            <a:r>
              <a:rPr lang="en-US" altLang="zh-CN" sz="2800" dirty="0"/>
              <a:t>a[5]={1,3,5,7,9}</a:t>
            </a:r>
            <a:endParaRPr lang="zh-CN" altLang="en-US" sz="2800" dirty="0" err="1"/>
          </a:p>
        </p:txBody>
      </p:sp>
      <p:sp>
        <p:nvSpPr>
          <p:cNvPr id="6" name="Rectangle 6"/>
          <p:cNvSpPr>
            <a:spLocks noChangeArrowheads="1"/>
          </p:cNvSpPr>
          <p:nvPr/>
        </p:nvSpPr>
        <p:spPr bwMode="auto">
          <a:xfrm>
            <a:off x="2748145" y="5583604"/>
            <a:ext cx="447675" cy="503237"/>
          </a:xfrm>
          <a:prstGeom prst="rect">
            <a:avLst/>
          </a:prstGeom>
          <a:solidFill>
            <a:srgbClr val="C0C0C0"/>
          </a:solidFill>
          <a:ln w="19050">
            <a:solidFill>
              <a:schemeClr val="tx1"/>
            </a:solidFill>
            <a:miter lim="800000"/>
          </a:ln>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b="1">
              <a:ea typeface="楷体_GB2312" pitchFamily="49" charset="-122"/>
            </a:endParaRPr>
          </a:p>
        </p:txBody>
      </p:sp>
      <p:sp>
        <p:nvSpPr>
          <p:cNvPr id="7" name="Rectangle 7"/>
          <p:cNvSpPr>
            <a:spLocks noChangeArrowheads="1"/>
          </p:cNvSpPr>
          <p:nvPr/>
        </p:nvSpPr>
        <p:spPr bwMode="auto">
          <a:xfrm>
            <a:off x="3195820" y="5583604"/>
            <a:ext cx="450850" cy="503237"/>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nvGrpSpPr>
          <p:cNvPr id="8" name="Group 8"/>
          <p:cNvGrpSpPr/>
          <p:nvPr/>
        </p:nvGrpSpPr>
        <p:grpSpPr bwMode="auto">
          <a:xfrm>
            <a:off x="4318182" y="5583604"/>
            <a:ext cx="896938" cy="503237"/>
            <a:chOff x="4680" y="5028"/>
            <a:chExt cx="720" cy="312"/>
          </a:xfrm>
        </p:grpSpPr>
        <p:sp>
          <p:nvSpPr>
            <p:cNvPr id="9" name="Rectangle 9"/>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0" name="Rectangle 10"/>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11" name="Group 11"/>
          <p:cNvGrpSpPr/>
          <p:nvPr/>
        </p:nvGrpSpPr>
        <p:grpSpPr bwMode="auto">
          <a:xfrm>
            <a:off x="7455082" y="5583604"/>
            <a:ext cx="898525" cy="503237"/>
            <a:chOff x="4680" y="5028"/>
            <a:chExt cx="720" cy="312"/>
          </a:xfrm>
        </p:grpSpPr>
        <p:sp>
          <p:nvSpPr>
            <p:cNvPr id="12" name="Rectangle 12"/>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3" name="Rectangle 13"/>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14" name="Group 14"/>
          <p:cNvGrpSpPr/>
          <p:nvPr/>
        </p:nvGrpSpPr>
        <p:grpSpPr bwMode="auto">
          <a:xfrm>
            <a:off x="9698220" y="5583604"/>
            <a:ext cx="896937" cy="503237"/>
            <a:chOff x="4680" y="5028"/>
            <a:chExt cx="720" cy="312"/>
          </a:xfrm>
        </p:grpSpPr>
        <p:sp>
          <p:nvSpPr>
            <p:cNvPr id="15" name="Rectangle 15"/>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6" name="Rectangle 16"/>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lIns="0" tIns="28346" rIns="0" bIns="28346"/>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endParaRPr lang="zh-CN" altLang="zh-CN" sz="2800" b="1">
                <a:ea typeface="楷体_GB2312" pitchFamily="49" charset="-122"/>
              </a:endParaRPr>
            </a:p>
          </p:txBody>
        </p:sp>
      </p:grpSp>
      <p:grpSp>
        <p:nvGrpSpPr>
          <p:cNvPr id="17" name="Group 17"/>
          <p:cNvGrpSpPr/>
          <p:nvPr/>
        </p:nvGrpSpPr>
        <p:grpSpPr bwMode="auto">
          <a:xfrm>
            <a:off x="5888220" y="5583604"/>
            <a:ext cx="893762" cy="503237"/>
            <a:chOff x="4680" y="5028"/>
            <a:chExt cx="720" cy="312"/>
          </a:xfrm>
        </p:grpSpPr>
        <p:sp>
          <p:nvSpPr>
            <p:cNvPr id="18" name="Rectangle 18"/>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9" name="Rectangle 19"/>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sp>
        <p:nvSpPr>
          <p:cNvPr id="20" name="Line 20"/>
          <p:cNvSpPr>
            <a:spLocks noChangeShapeType="1"/>
          </p:cNvSpPr>
          <p:nvPr/>
        </p:nvSpPr>
        <p:spPr bwMode="auto">
          <a:xfrm>
            <a:off x="3421245" y="5834429"/>
            <a:ext cx="896937"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21"/>
          <p:cNvSpPr>
            <a:spLocks noChangeShapeType="1"/>
          </p:cNvSpPr>
          <p:nvPr/>
        </p:nvSpPr>
        <p:spPr bwMode="auto">
          <a:xfrm>
            <a:off x="5215120" y="5834429"/>
            <a:ext cx="673100"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Line 22"/>
          <p:cNvSpPr>
            <a:spLocks noChangeShapeType="1"/>
          </p:cNvSpPr>
          <p:nvPr/>
        </p:nvSpPr>
        <p:spPr bwMode="auto">
          <a:xfrm>
            <a:off x="6561320" y="5834429"/>
            <a:ext cx="893762"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Line 23"/>
          <p:cNvSpPr>
            <a:spLocks noChangeShapeType="1"/>
          </p:cNvSpPr>
          <p:nvPr/>
        </p:nvSpPr>
        <p:spPr bwMode="auto">
          <a:xfrm>
            <a:off x="8128182" y="5834429"/>
            <a:ext cx="449263"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Line 24"/>
          <p:cNvSpPr>
            <a:spLocks noChangeShapeType="1"/>
          </p:cNvSpPr>
          <p:nvPr/>
        </p:nvSpPr>
        <p:spPr bwMode="auto">
          <a:xfrm>
            <a:off x="9252132" y="5834429"/>
            <a:ext cx="446088"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 name="Text Box 25"/>
          <p:cNvSpPr txBox="1">
            <a:spLocks noChangeArrowheads="1"/>
          </p:cNvSpPr>
          <p:nvPr/>
        </p:nvSpPr>
        <p:spPr bwMode="auto">
          <a:xfrm>
            <a:off x="4376920" y="5645516"/>
            <a:ext cx="341312"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9</a:t>
            </a:r>
            <a:endParaRPr lang="en-US" altLang="zh-CN" sz="2400" b="1" dirty="0">
              <a:ea typeface="楷体_GB2312" pitchFamily="49" charset="-122"/>
            </a:endParaRPr>
          </a:p>
        </p:txBody>
      </p:sp>
      <p:sp>
        <p:nvSpPr>
          <p:cNvPr id="26" name="Text Box 26"/>
          <p:cNvSpPr txBox="1">
            <a:spLocks noChangeArrowheads="1"/>
          </p:cNvSpPr>
          <p:nvPr/>
        </p:nvSpPr>
        <p:spPr bwMode="auto">
          <a:xfrm>
            <a:off x="5978707" y="5645516"/>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7</a:t>
            </a:r>
            <a:endParaRPr lang="en-US" altLang="zh-CN" sz="2400" b="1" dirty="0">
              <a:ea typeface="楷体_GB2312" pitchFamily="49" charset="-122"/>
            </a:endParaRPr>
          </a:p>
        </p:txBody>
      </p:sp>
      <p:sp>
        <p:nvSpPr>
          <p:cNvPr id="27" name="Text Box 27"/>
          <p:cNvSpPr txBox="1">
            <a:spLocks noChangeArrowheads="1"/>
          </p:cNvSpPr>
          <p:nvPr/>
        </p:nvSpPr>
        <p:spPr bwMode="auto">
          <a:xfrm>
            <a:off x="9715682" y="5624879"/>
            <a:ext cx="48260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1</a:t>
            </a:r>
            <a:endParaRPr lang="en-US" altLang="zh-CN" sz="2400" b="1" dirty="0">
              <a:ea typeface="楷体_GB2312" pitchFamily="49" charset="-122"/>
            </a:endParaRPr>
          </a:p>
        </p:txBody>
      </p:sp>
      <p:sp>
        <p:nvSpPr>
          <p:cNvPr id="28" name="Text Box 28"/>
          <p:cNvSpPr txBox="1">
            <a:spLocks noChangeArrowheads="1"/>
          </p:cNvSpPr>
          <p:nvPr/>
        </p:nvSpPr>
        <p:spPr bwMode="auto">
          <a:xfrm>
            <a:off x="7493182" y="5645516"/>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sp>
        <p:nvSpPr>
          <p:cNvPr id="29" name="Text Box 29"/>
          <p:cNvSpPr txBox="1">
            <a:spLocks noChangeArrowheads="1"/>
          </p:cNvSpPr>
          <p:nvPr/>
        </p:nvSpPr>
        <p:spPr bwMode="auto">
          <a:xfrm>
            <a:off x="10155420" y="5655041"/>
            <a:ext cx="3397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grpSp>
        <p:nvGrpSpPr>
          <p:cNvPr id="30" name="Group 30"/>
          <p:cNvGrpSpPr/>
          <p:nvPr/>
        </p:nvGrpSpPr>
        <p:grpSpPr bwMode="auto">
          <a:xfrm>
            <a:off x="2748145" y="4575540"/>
            <a:ext cx="896937" cy="1006477"/>
            <a:chOff x="2157" y="2844"/>
            <a:chExt cx="900" cy="780"/>
          </a:xfrm>
        </p:grpSpPr>
        <p:sp>
          <p:nvSpPr>
            <p:cNvPr id="31" name="Text Box 31"/>
            <p:cNvSpPr txBox="1">
              <a:spLocks noChangeArrowheads="1"/>
            </p:cNvSpPr>
            <p:nvPr/>
          </p:nvSpPr>
          <p:spPr bwMode="auto">
            <a:xfrm>
              <a:off x="2157" y="2844"/>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head</a:t>
              </a:r>
              <a:endParaRPr lang="en-US" altLang="zh-CN" sz="2400" b="1">
                <a:ea typeface="楷体_GB2312" pitchFamily="49" charset="-122"/>
              </a:endParaRPr>
            </a:p>
          </p:txBody>
        </p:sp>
        <p:sp>
          <p:nvSpPr>
            <p:cNvPr id="32" name="Line 32"/>
            <p:cNvSpPr>
              <a:spLocks noChangeShapeType="1"/>
            </p:cNvSpPr>
            <p:nvPr/>
          </p:nvSpPr>
          <p:spPr bwMode="auto">
            <a:xfrm>
              <a:off x="2520" y="3312"/>
              <a:ext cx="0" cy="312"/>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3" name="Text Box 34"/>
          <p:cNvSpPr txBox="1">
            <a:spLocks noChangeArrowheads="1"/>
          </p:cNvSpPr>
          <p:nvPr/>
        </p:nvSpPr>
        <p:spPr bwMode="auto">
          <a:xfrm>
            <a:off x="2748145" y="6159866"/>
            <a:ext cx="935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1800" b="1">
                <a:latin typeface="Garamond" panose="02020404030301010803" pitchFamily="18" charset="0"/>
              </a:rPr>
              <a:t>头结点</a:t>
            </a:r>
            <a:endParaRPr kumimoji="0" lang="zh-CN" altLang="en-US" sz="1800" b="1">
              <a:latin typeface="Garamond" panose="02020404030301010803" pitchFamily="18" charset="0"/>
            </a:endParaRPr>
          </a:p>
        </p:txBody>
      </p:sp>
      <p:sp>
        <p:nvSpPr>
          <p:cNvPr id="34" name="Text Box 35"/>
          <p:cNvSpPr txBox="1">
            <a:spLocks noChangeArrowheads="1"/>
          </p:cNvSpPr>
          <p:nvPr/>
        </p:nvSpPr>
        <p:spPr bwMode="auto">
          <a:xfrm>
            <a:off x="4259445" y="6159866"/>
            <a:ext cx="935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1800" b="1">
                <a:latin typeface="Garamond" panose="02020404030301010803" pitchFamily="18" charset="0"/>
              </a:rPr>
              <a:t>首结点</a:t>
            </a:r>
            <a:endParaRPr kumimoji="0" lang="zh-CN" altLang="en-US" sz="1800" b="1">
              <a:latin typeface="Garamond" panose="02020404030301010803" pitchFamily="18" charset="0"/>
            </a:endParaRPr>
          </a:p>
        </p:txBody>
      </p:sp>
      <p:sp>
        <p:nvSpPr>
          <p:cNvPr id="35" name="文本框 34"/>
          <p:cNvSpPr txBox="1"/>
          <p:nvPr/>
        </p:nvSpPr>
        <p:spPr>
          <a:xfrm>
            <a:off x="4006847" y="4389277"/>
            <a:ext cx="8039379" cy="584775"/>
          </a:xfrm>
          <a:prstGeom prst="rect">
            <a:avLst/>
          </a:prstGeom>
          <a:noFill/>
        </p:spPr>
        <p:txBody>
          <a:bodyPr wrap="square" rtlCol="0">
            <a:spAutoFit/>
          </a:bodyPr>
          <a:lstStyle/>
          <a:p>
            <a:r>
              <a:rPr lang="zh-CN" altLang="en-US" sz="3200" b="1" dirty="0">
                <a:solidFill>
                  <a:schemeClr val="accent1"/>
                </a:solidFill>
              </a:rPr>
              <a:t>或者</a:t>
            </a:r>
            <a:r>
              <a:rPr lang="en-US" altLang="zh-CN" sz="3200" b="1" dirty="0">
                <a:solidFill>
                  <a:schemeClr val="accent1"/>
                </a:solidFill>
              </a:rPr>
              <a:t>head-&gt;next = new node(x, head-&gt;next);</a:t>
            </a:r>
            <a:endParaRPr lang="zh-CN" altLang="en-US" sz="3200" b="1" dirty="0">
              <a:solidFill>
                <a:schemeClr val="accent1"/>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Rot="1" noChangeArrowheads="1"/>
          </p:cNvSpPr>
          <p:nvPr>
            <p:ph type="title"/>
          </p:nvPr>
        </p:nvSpPr>
        <p:spPr>
          <a:xfrm>
            <a:off x="1175410" y="458187"/>
            <a:ext cx="9841180" cy="1143000"/>
          </a:xfrm>
        </p:spPr>
        <p:txBody>
          <a:bodyPr>
            <a:normAutofit fontScale="90000"/>
          </a:bodyPr>
          <a:lstStyle/>
          <a:p>
            <a:r>
              <a:rPr lang="zh-CN" altLang="en-US" sz="4000" dirty="0">
                <a:solidFill>
                  <a:srgbClr val="FF0000"/>
                </a:solidFill>
                <a:latin typeface="华文楷体" panose="02010600040101010101" pitchFamily="2" charset="-122"/>
                <a:ea typeface="华文楷体" panose="02010600040101010101" pitchFamily="2" charset="-122"/>
              </a:rPr>
              <a:t>练习：</a:t>
            </a:r>
            <a:r>
              <a:rPr lang="zh-CN" altLang="en-US" sz="4000" dirty="0">
                <a:latin typeface="华文楷体" panose="02010600040101010101" pitchFamily="2" charset="-122"/>
                <a:ea typeface="华文楷体" panose="02010600040101010101" pitchFamily="2" charset="-122"/>
              </a:rPr>
              <a:t>对一个单链表进行就地逆置</a:t>
            </a:r>
            <a:r>
              <a:rPr lang="en-US" altLang="zh-CN" sz="4000" dirty="0">
                <a:latin typeface="华文楷体" panose="02010600040101010101" pitchFamily="2" charset="-122"/>
                <a:ea typeface="华文楷体" panose="02010600040101010101" pitchFamily="2" charset="-122"/>
              </a:rPr>
              <a:t>---</a:t>
            </a:r>
            <a:r>
              <a:rPr lang="zh-CN" altLang="en-US" sz="4000" dirty="0">
                <a:latin typeface="华文楷体" panose="02010600040101010101" pitchFamily="2" charset="-122"/>
                <a:ea typeface="华文楷体" panose="02010600040101010101" pitchFamily="2" charset="-122"/>
              </a:rPr>
              <a:t>摆龙门阵</a:t>
            </a:r>
            <a:endParaRPr lang="zh-CN" altLang="en-US" sz="4000" b="1" dirty="0">
              <a:solidFill>
                <a:srgbClr val="FF0000"/>
              </a:solidFill>
              <a:latin typeface="华文楷体" panose="02010600040101010101" pitchFamily="2" charset="-122"/>
              <a:ea typeface="华文楷体" panose="02010600040101010101" pitchFamily="2" charset="-122"/>
            </a:endParaRPr>
          </a:p>
        </p:txBody>
      </p:sp>
      <p:sp>
        <p:nvSpPr>
          <p:cNvPr id="6" name="Rectangle 6"/>
          <p:cNvSpPr>
            <a:spLocks noChangeArrowheads="1"/>
          </p:cNvSpPr>
          <p:nvPr/>
        </p:nvSpPr>
        <p:spPr bwMode="auto">
          <a:xfrm>
            <a:off x="1820678" y="3284538"/>
            <a:ext cx="447675" cy="503237"/>
          </a:xfrm>
          <a:prstGeom prst="rect">
            <a:avLst/>
          </a:prstGeom>
          <a:solidFill>
            <a:srgbClr val="C0C0C0"/>
          </a:solidFill>
          <a:ln w="19050">
            <a:solidFill>
              <a:schemeClr val="tx1"/>
            </a:solidFill>
            <a:miter lim="800000"/>
          </a:ln>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b="1">
              <a:ea typeface="楷体_GB2312" pitchFamily="49" charset="-122"/>
            </a:endParaRPr>
          </a:p>
        </p:txBody>
      </p:sp>
      <p:sp>
        <p:nvSpPr>
          <p:cNvPr id="7" name="Rectangle 7"/>
          <p:cNvSpPr>
            <a:spLocks noChangeArrowheads="1"/>
          </p:cNvSpPr>
          <p:nvPr/>
        </p:nvSpPr>
        <p:spPr bwMode="auto">
          <a:xfrm>
            <a:off x="2268353" y="3284538"/>
            <a:ext cx="450850" cy="503237"/>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nvGrpSpPr>
          <p:cNvPr id="8" name="Group 8"/>
          <p:cNvGrpSpPr/>
          <p:nvPr/>
        </p:nvGrpSpPr>
        <p:grpSpPr bwMode="auto">
          <a:xfrm>
            <a:off x="3390715" y="3284538"/>
            <a:ext cx="896938" cy="503237"/>
            <a:chOff x="4680" y="5028"/>
            <a:chExt cx="720" cy="312"/>
          </a:xfrm>
        </p:grpSpPr>
        <p:sp>
          <p:nvSpPr>
            <p:cNvPr id="9" name="Rectangle 9"/>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0" name="Rectangle 10"/>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11" name="Group 11"/>
          <p:cNvGrpSpPr/>
          <p:nvPr/>
        </p:nvGrpSpPr>
        <p:grpSpPr bwMode="auto">
          <a:xfrm>
            <a:off x="6527615" y="3284538"/>
            <a:ext cx="898525" cy="503237"/>
            <a:chOff x="4680" y="5028"/>
            <a:chExt cx="720" cy="312"/>
          </a:xfrm>
        </p:grpSpPr>
        <p:sp>
          <p:nvSpPr>
            <p:cNvPr id="12" name="Rectangle 12"/>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3" name="Rectangle 13"/>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14" name="Group 14"/>
          <p:cNvGrpSpPr/>
          <p:nvPr/>
        </p:nvGrpSpPr>
        <p:grpSpPr bwMode="auto">
          <a:xfrm>
            <a:off x="8770753" y="3284538"/>
            <a:ext cx="896937" cy="503237"/>
            <a:chOff x="4680" y="5028"/>
            <a:chExt cx="720" cy="312"/>
          </a:xfrm>
        </p:grpSpPr>
        <p:sp>
          <p:nvSpPr>
            <p:cNvPr id="15" name="Rectangle 15"/>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solidFill>
                  <a:srgbClr val="C00000"/>
                </a:solidFill>
                <a:latin typeface="Garamond" panose="02020404030301010803" pitchFamily="18" charset="0"/>
              </a:endParaRPr>
            </a:p>
          </p:txBody>
        </p:sp>
        <p:sp>
          <p:nvSpPr>
            <p:cNvPr id="16" name="Rectangle 16"/>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lIns="0" tIns="28346" rIns="0" bIns="28346"/>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endParaRPr lang="zh-CN" altLang="zh-CN" sz="2800" b="1">
                <a:solidFill>
                  <a:srgbClr val="C00000"/>
                </a:solidFill>
                <a:ea typeface="楷体_GB2312" pitchFamily="49" charset="-122"/>
              </a:endParaRPr>
            </a:p>
          </p:txBody>
        </p:sp>
      </p:grpSp>
      <p:grpSp>
        <p:nvGrpSpPr>
          <p:cNvPr id="17" name="Group 17"/>
          <p:cNvGrpSpPr/>
          <p:nvPr/>
        </p:nvGrpSpPr>
        <p:grpSpPr bwMode="auto">
          <a:xfrm>
            <a:off x="4960753" y="3284538"/>
            <a:ext cx="893762" cy="503237"/>
            <a:chOff x="4680" y="5028"/>
            <a:chExt cx="720" cy="312"/>
          </a:xfrm>
        </p:grpSpPr>
        <p:sp>
          <p:nvSpPr>
            <p:cNvPr id="18" name="Rectangle 18"/>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9" name="Rectangle 19"/>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sp>
        <p:nvSpPr>
          <p:cNvPr id="20" name="Line 20"/>
          <p:cNvSpPr>
            <a:spLocks noChangeShapeType="1"/>
          </p:cNvSpPr>
          <p:nvPr/>
        </p:nvSpPr>
        <p:spPr bwMode="auto">
          <a:xfrm>
            <a:off x="2493778" y="3535363"/>
            <a:ext cx="896937"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21"/>
          <p:cNvSpPr>
            <a:spLocks noChangeShapeType="1"/>
          </p:cNvSpPr>
          <p:nvPr/>
        </p:nvSpPr>
        <p:spPr bwMode="auto">
          <a:xfrm>
            <a:off x="4287653" y="3535363"/>
            <a:ext cx="673100"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Line 22"/>
          <p:cNvSpPr>
            <a:spLocks noChangeShapeType="1"/>
          </p:cNvSpPr>
          <p:nvPr/>
        </p:nvSpPr>
        <p:spPr bwMode="auto">
          <a:xfrm>
            <a:off x="5633853" y="3535363"/>
            <a:ext cx="893762"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Line 23"/>
          <p:cNvSpPr>
            <a:spLocks noChangeShapeType="1"/>
          </p:cNvSpPr>
          <p:nvPr/>
        </p:nvSpPr>
        <p:spPr bwMode="auto">
          <a:xfrm>
            <a:off x="7200715" y="3535363"/>
            <a:ext cx="449263"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Line 24"/>
          <p:cNvSpPr>
            <a:spLocks noChangeShapeType="1"/>
          </p:cNvSpPr>
          <p:nvPr/>
        </p:nvSpPr>
        <p:spPr bwMode="auto">
          <a:xfrm>
            <a:off x="8324665" y="3535363"/>
            <a:ext cx="446088"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 name="Text Box 25"/>
          <p:cNvSpPr txBox="1">
            <a:spLocks noChangeArrowheads="1"/>
          </p:cNvSpPr>
          <p:nvPr/>
        </p:nvSpPr>
        <p:spPr bwMode="auto">
          <a:xfrm>
            <a:off x="3449453" y="3346450"/>
            <a:ext cx="341312"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h</a:t>
            </a:r>
            <a:endParaRPr lang="en-US" altLang="zh-CN" sz="2400" b="1" dirty="0">
              <a:ea typeface="楷体_GB2312" pitchFamily="49" charset="-122"/>
            </a:endParaRPr>
          </a:p>
        </p:txBody>
      </p:sp>
      <p:sp>
        <p:nvSpPr>
          <p:cNvPr id="26" name="Text Box 26"/>
          <p:cNvSpPr txBox="1">
            <a:spLocks noChangeArrowheads="1"/>
          </p:cNvSpPr>
          <p:nvPr/>
        </p:nvSpPr>
        <p:spPr bwMode="auto">
          <a:xfrm>
            <a:off x="5051240" y="3346450"/>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e</a:t>
            </a:r>
            <a:endParaRPr lang="en-US" altLang="zh-CN" sz="2400" b="1" dirty="0">
              <a:ea typeface="楷体_GB2312" pitchFamily="49" charset="-122"/>
            </a:endParaRPr>
          </a:p>
        </p:txBody>
      </p:sp>
      <p:sp>
        <p:nvSpPr>
          <p:cNvPr id="27" name="Text Box 27"/>
          <p:cNvSpPr txBox="1">
            <a:spLocks noChangeArrowheads="1"/>
          </p:cNvSpPr>
          <p:nvPr/>
        </p:nvSpPr>
        <p:spPr bwMode="auto">
          <a:xfrm>
            <a:off x="8788215" y="3325813"/>
            <a:ext cx="48260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o</a:t>
            </a:r>
            <a:endParaRPr lang="en-US" altLang="zh-CN" sz="2400" b="1" dirty="0">
              <a:ea typeface="楷体_GB2312" pitchFamily="49" charset="-122"/>
            </a:endParaRPr>
          </a:p>
        </p:txBody>
      </p:sp>
      <p:sp>
        <p:nvSpPr>
          <p:cNvPr id="28" name="Text Box 28"/>
          <p:cNvSpPr txBox="1">
            <a:spLocks noChangeArrowheads="1"/>
          </p:cNvSpPr>
          <p:nvPr/>
        </p:nvSpPr>
        <p:spPr bwMode="auto">
          <a:xfrm>
            <a:off x="6565715" y="3346450"/>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sp>
        <p:nvSpPr>
          <p:cNvPr id="29" name="Text Box 29"/>
          <p:cNvSpPr txBox="1">
            <a:spLocks noChangeArrowheads="1"/>
          </p:cNvSpPr>
          <p:nvPr/>
        </p:nvSpPr>
        <p:spPr bwMode="auto">
          <a:xfrm>
            <a:off x="9227953" y="3355975"/>
            <a:ext cx="3397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grpSp>
        <p:nvGrpSpPr>
          <p:cNvPr id="30" name="Group 30"/>
          <p:cNvGrpSpPr/>
          <p:nvPr/>
        </p:nvGrpSpPr>
        <p:grpSpPr bwMode="auto">
          <a:xfrm>
            <a:off x="1820678" y="2276475"/>
            <a:ext cx="952500" cy="998538"/>
            <a:chOff x="2157" y="2844"/>
            <a:chExt cx="900" cy="780"/>
          </a:xfrm>
        </p:grpSpPr>
        <p:sp>
          <p:nvSpPr>
            <p:cNvPr id="31" name="Text Box 31"/>
            <p:cNvSpPr txBox="1">
              <a:spLocks noChangeArrowheads="1"/>
            </p:cNvSpPr>
            <p:nvPr/>
          </p:nvSpPr>
          <p:spPr bwMode="auto">
            <a:xfrm>
              <a:off x="2157" y="2844"/>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head</a:t>
              </a:r>
              <a:endParaRPr lang="en-US" altLang="zh-CN" sz="2400" b="1">
                <a:ea typeface="楷体_GB2312" pitchFamily="49" charset="-122"/>
              </a:endParaRPr>
            </a:p>
          </p:txBody>
        </p:sp>
        <p:sp>
          <p:nvSpPr>
            <p:cNvPr id="32" name="Line 32"/>
            <p:cNvSpPr>
              <a:spLocks noChangeShapeType="1"/>
            </p:cNvSpPr>
            <p:nvPr/>
          </p:nvSpPr>
          <p:spPr bwMode="auto">
            <a:xfrm>
              <a:off x="2520" y="3312"/>
              <a:ext cx="0" cy="312"/>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3" name="Text Box 34"/>
          <p:cNvSpPr txBox="1">
            <a:spLocks noChangeArrowheads="1"/>
          </p:cNvSpPr>
          <p:nvPr/>
        </p:nvSpPr>
        <p:spPr bwMode="auto">
          <a:xfrm>
            <a:off x="1820678" y="3860800"/>
            <a:ext cx="935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1800" b="1">
                <a:latin typeface="Garamond" panose="02020404030301010803" pitchFamily="18" charset="0"/>
              </a:rPr>
              <a:t>头结点</a:t>
            </a:r>
            <a:endParaRPr kumimoji="0" lang="zh-CN" altLang="en-US" sz="1800" b="1">
              <a:latin typeface="Garamond" panose="02020404030301010803" pitchFamily="18" charset="0"/>
            </a:endParaRPr>
          </a:p>
        </p:txBody>
      </p:sp>
      <p:sp>
        <p:nvSpPr>
          <p:cNvPr id="34" name="Text Box 35"/>
          <p:cNvSpPr txBox="1">
            <a:spLocks noChangeArrowheads="1"/>
          </p:cNvSpPr>
          <p:nvPr/>
        </p:nvSpPr>
        <p:spPr bwMode="auto">
          <a:xfrm>
            <a:off x="3331978" y="3860800"/>
            <a:ext cx="935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1800" b="1">
                <a:latin typeface="Garamond" panose="02020404030301010803" pitchFamily="18" charset="0"/>
              </a:rPr>
              <a:t>首结点</a:t>
            </a:r>
            <a:endParaRPr kumimoji="0" lang="zh-CN" altLang="en-US" sz="1800" b="1">
              <a:latin typeface="Garamond" panose="02020404030301010803" pitchFamily="18" charset="0"/>
            </a:endParaRPr>
          </a:p>
        </p:txBody>
      </p:sp>
      <p:sp>
        <p:nvSpPr>
          <p:cNvPr id="2" name="文本框 1"/>
          <p:cNvSpPr txBox="1"/>
          <p:nvPr/>
        </p:nvSpPr>
        <p:spPr>
          <a:xfrm>
            <a:off x="1820678" y="1541417"/>
            <a:ext cx="3140075" cy="523220"/>
          </a:xfrm>
          <a:prstGeom prst="rect">
            <a:avLst/>
          </a:prstGeom>
          <a:noFill/>
        </p:spPr>
        <p:txBody>
          <a:bodyPr wrap="square" rtlCol="0">
            <a:spAutoFit/>
          </a:bodyPr>
          <a:lstStyle/>
          <a:p>
            <a:r>
              <a:rPr lang="zh-CN" altLang="en-US" sz="2800" dirty="0">
                <a:solidFill>
                  <a:srgbClr val="FF0000"/>
                </a:solidFill>
                <a:latin typeface="华文楷体" panose="02010600040101010101" pitchFamily="2" charset="-122"/>
                <a:ea typeface="华文楷体" panose="02010600040101010101" pitchFamily="2" charset="-122"/>
              </a:rPr>
              <a:t>存储映像图：</a:t>
            </a:r>
            <a:endParaRPr lang="zh-CN" altLang="en-US" sz="2800" dirty="0">
              <a:solidFill>
                <a:srgbClr val="FF0000"/>
              </a:solidFill>
              <a:latin typeface="华文楷体" panose="02010600040101010101" pitchFamily="2" charset="-122"/>
              <a:ea typeface="华文楷体" panose="02010600040101010101" pitchFamily="2" charset="-122"/>
            </a:endParaRPr>
          </a:p>
        </p:txBody>
      </p:sp>
      <p:sp>
        <p:nvSpPr>
          <p:cNvPr id="35" name="Rectangle 6"/>
          <p:cNvSpPr>
            <a:spLocks noChangeArrowheads="1"/>
          </p:cNvSpPr>
          <p:nvPr/>
        </p:nvSpPr>
        <p:spPr bwMode="auto">
          <a:xfrm>
            <a:off x="1816322" y="5396368"/>
            <a:ext cx="447675" cy="503237"/>
          </a:xfrm>
          <a:prstGeom prst="rect">
            <a:avLst/>
          </a:prstGeom>
          <a:solidFill>
            <a:srgbClr val="C0C0C0"/>
          </a:solidFill>
          <a:ln w="19050">
            <a:solidFill>
              <a:schemeClr val="tx1"/>
            </a:solidFill>
            <a:miter lim="800000"/>
          </a:ln>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b="1">
              <a:ea typeface="楷体_GB2312" pitchFamily="49" charset="-122"/>
            </a:endParaRPr>
          </a:p>
        </p:txBody>
      </p:sp>
      <p:sp>
        <p:nvSpPr>
          <p:cNvPr id="36" name="Rectangle 7"/>
          <p:cNvSpPr>
            <a:spLocks noChangeArrowheads="1"/>
          </p:cNvSpPr>
          <p:nvPr/>
        </p:nvSpPr>
        <p:spPr bwMode="auto">
          <a:xfrm>
            <a:off x="2263997" y="5396368"/>
            <a:ext cx="450850" cy="503237"/>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nvGrpSpPr>
          <p:cNvPr id="37" name="Group 8"/>
          <p:cNvGrpSpPr/>
          <p:nvPr/>
        </p:nvGrpSpPr>
        <p:grpSpPr bwMode="auto">
          <a:xfrm>
            <a:off x="3386359" y="5396368"/>
            <a:ext cx="896938" cy="503237"/>
            <a:chOff x="4680" y="5028"/>
            <a:chExt cx="720" cy="312"/>
          </a:xfrm>
        </p:grpSpPr>
        <p:sp>
          <p:nvSpPr>
            <p:cNvPr id="38" name="Rectangle 9"/>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39" name="Rectangle 10"/>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40" name="Group 11"/>
          <p:cNvGrpSpPr/>
          <p:nvPr/>
        </p:nvGrpSpPr>
        <p:grpSpPr bwMode="auto">
          <a:xfrm>
            <a:off x="6523259" y="5396368"/>
            <a:ext cx="898525" cy="503237"/>
            <a:chOff x="4680" y="5028"/>
            <a:chExt cx="720" cy="312"/>
          </a:xfrm>
        </p:grpSpPr>
        <p:sp>
          <p:nvSpPr>
            <p:cNvPr id="41" name="Rectangle 12"/>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42" name="Rectangle 13"/>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43" name="Group 14"/>
          <p:cNvGrpSpPr/>
          <p:nvPr/>
        </p:nvGrpSpPr>
        <p:grpSpPr bwMode="auto">
          <a:xfrm>
            <a:off x="8766397" y="5396368"/>
            <a:ext cx="896937" cy="503237"/>
            <a:chOff x="4680" y="5028"/>
            <a:chExt cx="720" cy="312"/>
          </a:xfrm>
        </p:grpSpPr>
        <p:sp>
          <p:nvSpPr>
            <p:cNvPr id="44" name="Rectangle 15"/>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45" name="Rectangle 16"/>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lIns="0" tIns="28346" rIns="0" bIns="28346"/>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endParaRPr lang="zh-CN" altLang="zh-CN" sz="2800" b="1">
                <a:ea typeface="楷体_GB2312" pitchFamily="49" charset="-122"/>
              </a:endParaRPr>
            </a:p>
          </p:txBody>
        </p:sp>
      </p:grpSp>
      <p:grpSp>
        <p:nvGrpSpPr>
          <p:cNvPr id="46" name="Group 17"/>
          <p:cNvGrpSpPr/>
          <p:nvPr/>
        </p:nvGrpSpPr>
        <p:grpSpPr bwMode="auto">
          <a:xfrm>
            <a:off x="4956397" y="5396368"/>
            <a:ext cx="893762" cy="503237"/>
            <a:chOff x="4680" y="5028"/>
            <a:chExt cx="720" cy="312"/>
          </a:xfrm>
        </p:grpSpPr>
        <p:sp>
          <p:nvSpPr>
            <p:cNvPr id="47" name="Rectangle 18"/>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48" name="Rectangle 19"/>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sp>
        <p:nvSpPr>
          <p:cNvPr id="49" name="Line 20"/>
          <p:cNvSpPr>
            <a:spLocks noChangeShapeType="1"/>
          </p:cNvSpPr>
          <p:nvPr/>
        </p:nvSpPr>
        <p:spPr bwMode="auto">
          <a:xfrm>
            <a:off x="2489422" y="5647193"/>
            <a:ext cx="896937"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 name="Line 21"/>
          <p:cNvSpPr>
            <a:spLocks noChangeShapeType="1"/>
          </p:cNvSpPr>
          <p:nvPr/>
        </p:nvSpPr>
        <p:spPr bwMode="auto">
          <a:xfrm>
            <a:off x="4283297" y="5647193"/>
            <a:ext cx="673100"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 name="Line 22"/>
          <p:cNvSpPr>
            <a:spLocks noChangeShapeType="1"/>
          </p:cNvSpPr>
          <p:nvPr/>
        </p:nvSpPr>
        <p:spPr bwMode="auto">
          <a:xfrm>
            <a:off x="5629497" y="5647193"/>
            <a:ext cx="893762"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 name="Line 23"/>
          <p:cNvSpPr>
            <a:spLocks noChangeShapeType="1"/>
          </p:cNvSpPr>
          <p:nvPr/>
        </p:nvSpPr>
        <p:spPr bwMode="auto">
          <a:xfrm>
            <a:off x="7196359" y="5647193"/>
            <a:ext cx="449263"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 name="Line 24"/>
          <p:cNvSpPr>
            <a:spLocks noChangeShapeType="1"/>
          </p:cNvSpPr>
          <p:nvPr/>
        </p:nvSpPr>
        <p:spPr bwMode="auto">
          <a:xfrm>
            <a:off x="8320309" y="5647193"/>
            <a:ext cx="446088"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 name="Text Box 25"/>
          <p:cNvSpPr txBox="1">
            <a:spLocks noChangeArrowheads="1"/>
          </p:cNvSpPr>
          <p:nvPr/>
        </p:nvSpPr>
        <p:spPr bwMode="auto">
          <a:xfrm>
            <a:off x="3445097" y="5458280"/>
            <a:ext cx="341312"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o</a:t>
            </a:r>
            <a:endParaRPr lang="en-US" altLang="zh-CN" sz="2400" b="1" dirty="0">
              <a:ea typeface="楷体_GB2312" pitchFamily="49" charset="-122"/>
            </a:endParaRPr>
          </a:p>
        </p:txBody>
      </p:sp>
      <p:sp>
        <p:nvSpPr>
          <p:cNvPr id="55" name="Text Box 26"/>
          <p:cNvSpPr txBox="1">
            <a:spLocks noChangeArrowheads="1"/>
          </p:cNvSpPr>
          <p:nvPr/>
        </p:nvSpPr>
        <p:spPr bwMode="auto">
          <a:xfrm>
            <a:off x="5046884" y="5458280"/>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l</a:t>
            </a:r>
            <a:endParaRPr lang="en-US" altLang="zh-CN" sz="2400" b="1" dirty="0">
              <a:ea typeface="楷体_GB2312" pitchFamily="49" charset="-122"/>
            </a:endParaRPr>
          </a:p>
        </p:txBody>
      </p:sp>
      <p:sp>
        <p:nvSpPr>
          <p:cNvPr id="56" name="Text Box 27"/>
          <p:cNvSpPr txBox="1">
            <a:spLocks noChangeArrowheads="1"/>
          </p:cNvSpPr>
          <p:nvPr/>
        </p:nvSpPr>
        <p:spPr bwMode="auto">
          <a:xfrm>
            <a:off x="8783859" y="5437643"/>
            <a:ext cx="48260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h</a:t>
            </a:r>
            <a:endParaRPr lang="en-US" altLang="zh-CN" sz="2400" b="1" dirty="0">
              <a:ea typeface="楷体_GB2312" pitchFamily="49" charset="-122"/>
            </a:endParaRPr>
          </a:p>
        </p:txBody>
      </p:sp>
      <p:sp>
        <p:nvSpPr>
          <p:cNvPr id="57" name="Text Box 28"/>
          <p:cNvSpPr txBox="1">
            <a:spLocks noChangeArrowheads="1"/>
          </p:cNvSpPr>
          <p:nvPr/>
        </p:nvSpPr>
        <p:spPr bwMode="auto">
          <a:xfrm>
            <a:off x="6561359" y="5458280"/>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sp>
        <p:nvSpPr>
          <p:cNvPr id="58" name="Text Box 29"/>
          <p:cNvSpPr txBox="1">
            <a:spLocks noChangeArrowheads="1"/>
          </p:cNvSpPr>
          <p:nvPr/>
        </p:nvSpPr>
        <p:spPr bwMode="auto">
          <a:xfrm>
            <a:off x="9223597" y="5467805"/>
            <a:ext cx="3397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grpSp>
        <p:nvGrpSpPr>
          <p:cNvPr id="59" name="Group 30"/>
          <p:cNvGrpSpPr/>
          <p:nvPr/>
        </p:nvGrpSpPr>
        <p:grpSpPr bwMode="auto">
          <a:xfrm>
            <a:off x="1816322" y="4388305"/>
            <a:ext cx="952500" cy="998538"/>
            <a:chOff x="2157" y="2844"/>
            <a:chExt cx="900" cy="780"/>
          </a:xfrm>
        </p:grpSpPr>
        <p:sp>
          <p:nvSpPr>
            <p:cNvPr id="60" name="Text Box 31"/>
            <p:cNvSpPr txBox="1">
              <a:spLocks noChangeArrowheads="1"/>
            </p:cNvSpPr>
            <p:nvPr/>
          </p:nvSpPr>
          <p:spPr bwMode="auto">
            <a:xfrm>
              <a:off x="2157" y="2844"/>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head</a:t>
              </a:r>
              <a:endParaRPr lang="en-US" altLang="zh-CN" sz="2400" b="1">
                <a:ea typeface="楷体_GB2312" pitchFamily="49" charset="-122"/>
              </a:endParaRPr>
            </a:p>
          </p:txBody>
        </p:sp>
        <p:sp>
          <p:nvSpPr>
            <p:cNvPr id="61" name="Line 32"/>
            <p:cNvSpPr>
              <a:spLocks noChangeShapeType="1"/>
            </p:cNvSpPr>
            <p:nvPr/>
          </p:nvSpPr>
          <p:spPr bwMode="auto">
            <a:xfrm>
              <a:off x="2520" y="3312"/>
              <a:ext cx="0" cy="312"/>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2" name="Text Box 34"/>
          <p:cNvSpPr txBox="1">
            <a:spLocks noChangeArrowheads="1"/>
          </p:cNvSpPr>
          <p:nvPr/>
        </p:nvSpPr>
        <p:spPr bwMode="auto">
          <a:xfrm>
            <a:off x="1816322" y="5972630"/>
            <a:ext cx="935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1800" b="1">
                <a:latin typeface="Garamond" panose="02020404030301010803" pitchFamily="18" charset="0"/>
              </a:rPr>
              <a:t>头结点</a:t>
            </a:r>
            <a:endParaRPr kumimoji="0" lang="zh-CN" altLang="en-US" sz="1800" b="1">
              <a:latin typeface="Garamond" panose="02020404030301010803" pitchFamily="18" charset="0"/>
            </a:endParaRPr>
          </a:p>
        </p:txBody>
      </p:sp>
      <p:sp>
        <p:nvSpPr>
          <p:cNvPr id="63" name="Text Box 35"/>
          <p:cNvSpPr txBox="1">
            <a:spLocks noChangeArrowheads="1"/>
          </p:cNvSpPr>
          <p:nvPr/>
        </p:nvSpPr>
        <p:spPr bwMode="auto">
          <a:xfrm>
            <a:off x="3327622" y="5972630"/>
            <a:ext cx="935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1800" b="1">
                <a:latin typeface="Garamond" panose="02020404030301010803" pitchFamily="18" charset="0"/>
              </a:rPr>
              <a:t>首结点</a:t>
            </a:r>
            <a:endParaRPr kumimoji="0" lang="zh-CN" altLang="en-US" sz="1800" b="1">
              <a:latin typeface="Garamond" panose="02020404030301010803" pitchFamily="18" charset="0"/>
            </a:endParaRPr>
          </a:p>
        </p:txBody>
      </p:sp>
      <p:sp>
        <p:nvSpPr>
          <p:cNvPr id="3" name="文本框 2"/>
          <p:cNvSpPr txBox="1"/>
          <p:nvPr/>
        </p:nvSpPr>
        <p:spPr>
          <a:xfrm>
            <a:off x="3323661" y="2500413"/>
            <a:ext cx="2592372" cy="523220"/>
          </a:xfrm>
          <a:prstGeom prst="rect">
            <a:avLst/>
          </a:prstGeom>
          <a:noFill/>
        </p:spPr>
        <p:txBody>
          <a:bodyPr wrap="square" rtlCol="0">
            <a:spAutoFit/>
          </a:bodyPr>
          <a:lstStyle/>
          <a:p>
            <a:r>
              <a:rPr lang="en-US" altLang="zh-CN" sz="2800" dirty="0"/>
              <a:t>hello</a:t>
            </a:r>
            <a:endParaRPr lang="zh-CN" altLang="en-US" sz="2800" dirty="0" err="1"/>
          </a:p>
        </p:txBody>
      </p:sp>
      <p:sp>
        <p:nvSpPr>
          <p:cNvPr id="4" name="文本框 3"/>
          <p:cNvSpPr txBox="1"/>
          <p:nvPr/>
        </p:nvSpPr>
        <p:spPr>
          <a:xfrm>
            <a:off x="3367645" y="4414133"/>
            <a:ext cx="1280556" cy="523220"/>
          </a:xfrm>
          <a:prstGeom prst="rect">
            <a:avLst/>
          </a:prstGeom>
          <a:noFill/>
        </p:spPr>
        <p:txBody>
          <a:bodyPr wrap="square" rtlCol="0">
            <a:spAutoFit/>
          </a:bodyPr>
          <a:lstStyle/>
          <a:p>
            <a:r>
              <a:rPr lang="en-US" altLang="zh-CN" sz="2800" dirty="0" err="1"/>
              <a:t>olleh</a:t>
            </a:r>
            <a:endParaRPr lang="zh-CN" altLang="en-US" sz="2800" dirty="0" err="1"/>
          </a:p>
        </p:txBody>
      </p:sp>
    </p:spTree>
  </p:cSld>
  <p:clrMapOvr>
    <a:masterClrMapping/>
  </p:clrMapOvr>
  <p:transition spd="med">
    <p:push/>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4"/>
          <p:cNvSpPr>
            <a:spLocks noGrp="1"/>
          </p:cNvSpPr>
          <p:nvPr>
            <p:ph type="sldNum" sz="quarter" idx="12"/>
          </p:nvPr>
        </p:nvSpPr>
        <p:spPr>
          <a:xfrm>
            <a:off x="4648200" y="4667792"/>
            <a:ext cx="2895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fld id="{A79AFBCB-B9CF-4446-B09D-D2A2760E6828}" type="slidenum">
              <a:rPr kumimoji="0" lang="en-US" altLang="zh-CN" sz="1200">
                <a:latin typeface="Arial" panose="020B0604020202020204" pitchFamily="34" charset="0"/>
              </a:rPr>
            </a:fld>
            <a:endParaRPr kumimoji="0" lang="en-US" altLang="zh-CN" sz="1200">
              <a:latin typeface="Arial" panose="020B0604020202020204" pitchFamily="34" charset="0"/>
            </a:endParaRPr>
          </a:p>
        </p:txBody>
      </p:sp>
      <p:sp>
        <p:nvSpPr>
          <p:cNvPr id="6" name="Rectangle 6"/>
          <p:cNvSpPr>
            <a:spLocks noChangeArrowheads="1"/>
          </p:cNvSpPr>
          <p:nvPr/>
        </p:nvSpPr>
        <p:spPr bwMode="auto">
          <a:xfrm>
            <a:off x="1820678" y="1703930"/>
            <a:ext cx="447675" cy="503237"/>
          </a:xfrm>
          <a:prstGeom prst="rect">
            <a:avLst/>
          </a:prstGeom>
          <a:solidFill>
            <a:srgbClr val="C0C0C0"/>
          </a:solidFill>
          <a:ln w="19050">
            <a:solidFill>
              <a:schemeClr val="tx1"/>
            </a:solidFill>
            <a:miter lim="800000"/>
          </a:ln>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b="1">
              <a:ea typeface="楷体_GB2312" pitchFamily="49" charset="-122"/>
            </a:endParaRPr>
          </a:p>
        </p:txBody>
      </p:sp>
      <p:sp>
        <p:nvSpPr>
          <p:cNvPr id="7" name="Rectangle 7"/>
          <p:cNvSpPr>
            <a:spLocks noChangeArrowheads="1"/>
          </p:cNvSpPr>
          <p:nvPr/>
        </p:nvSpPr>
        <p:spPr bwMode="auto">
          <a:xfrm>
            <a:off x="2268353" y="1703930"/>
            <a:ext cx="450850" cy="503237"/>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nvGrpSpPr>
          <p:cNvPr id="8" name="Group 8"/>
          <p:cNvGrpSpPr/>
          <p:nvPr/>
        </p:nvGrpSpPr>
        <p:grpSpPr bwMode="auto">
          <a:xfrm>
            <a:off x="3390715" y="1703930"/>
            <a:ext cx="896938" cy="503237"/>
            <a:chOff x="4680" y="5028"/>
            <a:chExt cx="720" cy="312"/>
          </a:xfrm>
        </p:grpSpPr>
        <p:sp>
          <p:nvSpPr>
            <p:cNvPr id="9" name="Rectangle 9"/>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0" name="Rectangle 10"/>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11" name="Group 11"/>
          <p:cNvGrpSpPr/>
          <p:nvPr/>
        </p:nvGrpSpPr>
        <p:grpSpPr bwMode="auto">
          <a:xfrm>
            <a:off x="6527615" y="1703930"/>
            <a:ext cx="898525" cy="503237"/>
            <a:chOff x="4680" y="5028"/>
            <a:chExt cx="720" cy="312"/>
          </a:xfrm>
        </p:grpSpPr>
        <p:sp>
          <p:nvSpPr>
            <p:cNvPr id="12" name="Rectangle 12"/>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3" name="Rectangle 13"/>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14" name="Group 14"/>
          <p:cNvGrpSpPr/>
          <p:nvPr/>
        </p:nvGrpSpPr>
        <p:grpSpPr bwMode="auto">
          <a:xfrm>
            <a:off x="8770753" y="1703930"/>
            <a:ext cx="896937" cy="503237"/>
            <a:chOff x="4680" y="5028"/>
            <a:chExt cx="720" cy="312"/>
          </a:xfrm>
        </p:grpSpPr>
        <p:sp>
          <p:nvSpPr>
            <p:cNvPr id="15" name="Rectangle 15"/>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solidFill>
                  <a:srgbClr val="C00000"/>
                </a:solidFill>
                <a:latin typeface="Garamond" panose="02020404030301010803" pitchFamily="18" charset="0"/>
              </a:endParaRPr>
            </a:p>
          </p:txBody>
        </p:sp>
        <p:sp>
          <p:nvSpPr>
            <p:cNvPr id="16" name="Rectangle 16"/>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lIns="0" tIns="28346" rIns="0" bIns="28346"/>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endParaRPr lang="zh-CN" altLang="zh-CN" sz="2800" b="1">
                <a:solidFill>
                  <a:srgbClr val="C00000"/>
                </a:solidFill>
                <a:ea typeface="楷体_GB2312" pitchFamily="49" charset="-122"/>
              </a:endParaRPr>
            </a:p>
          </p:txBody>
        </p:sp>
      </p:grpSp>
      <p:grpSp>
        <p:nvGrpSpPr>
          <p:cNvPr id="17" name="Group 17"/>
          <p:cNvGrpSpPr/>
          <p:nvPr/>
        </p:nvGrpSpPr>
        <p:grpSpPr bwMode="auto">
          <a:xfrm>
            <a:off x="4960753" y="1703930"/>
            <a:ext cx="893762" cy="503237"/>
            <a:chOff x="4680" y="5028"/>
            <a:chExt cx="720" cy="312"/>
          </a:xfrm>
        </p:grpSpPr>
        <p:sp>
          <p:nvSpPr>
            <p:cNvPr id="18" name="Rectangle 18"/>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9" name="Rectangle 19"/>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sp>
        <p:nvSpPr>
          <p:cNvPr id="21" name="Line 21"/>
          <p:cNvSpPr>
            <a:spLocks noChangeShapeType="1"/>
          </p:cNvSpPr>
          <p:nvPr/>
        </p:nvSpPr>
        <p:spPr bwMode="auto">
          <a:xfrm>
            <a:off x="4287653" y="1954755"/>
            <a:ext cx="673100"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Line 22"/>
          <p:cNvSpPr>
            <a:spLocks noChangeShapeType="1"/>
          </p:cNvSpPr>
          <p:nvPr/>
        </p:nvSpPr>
        <p:spPr bwMode="auto">
          <a:xfrm>
            <a:off x="5633853" y="1954755"/>
            <a:ext cx="893762"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Line 23"/>
          <p:cNvSpPr>
            <a:spLocks noChangeShapeType="1"/>
          </p:cNvSpPr>
          <p:nvPr/>
        </p:nvSpPr>
        <p:spPr bwMode="auto">
          <a:xfrm>
            <a:off x="7200715" y="1954755"/>
            <a:ext cx="449263"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Line 24"/>
          <p:cNvSpPr>
            <a:spLocks noChangeShapeType="1"/>
          </p:cNvSpPr>
          <p:nvPr/>
        </p:nvSpPr>
        <p:spPr bwMode="auto">
          <a:xfrm>
            <a:off x="8324665" y="1954755"/>
            <a:ext cx="446088"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 name="Text Box 25"/>
          <p:cNvSpPr txBox="1">
            <a:spLocks noChangeArrowheads="1"/>
          </p:cNvSpPr>
          <p:nvPr/>
        </p:nvSpPr>
        <p:spPr bwMode="auto">
          <a:xfrm>
            <a:off x="3449453" y="1765842"/>
            <a:ext cx="341312"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h</a:t>
            </a:r>
            <a:endParaRPr lang="en-US" altLang="zh-CN" sz="2400" b="1" dirty="0">
              <a:ea typeface="楷体_GB2312" pitchFamily="49" charset="-122"/>
            </a:endParaRPr>
          </a:p>
        </p:txBody>
      </p:sp>
      <p:sp>
        <p:nvSpPr>
          <p:cNvPr id="26" name="Text Box 26"/>
          <p:cNvSpPr txBox="1">
            <a:spLocks noChangeArrowheads="1"/>
          </p:cNvSpPr>
          <p:nvPr/>
        </p:nvSpPr>
        <p:spPr bwMode="auto">
          <a:xfrm>
            <a:off x="5051240" y="1765842"/>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e</a:t>
            </a:r>
            <a:endParaRPr lang="en-US" altLang="zh-CN" sz="2400" b="1" dirty="0">
              <a:ea typeface="楷体_GB2312" pitchFamily="49" charset="-122"/>
            </a:endParaRPr>
          </a:p>
        </p:txBody>
      </p:sp>
      <p:sp>
        <p:nvSpPr>
          <p:cNvPr id="27" name="Text Box 27"/>
          <p:cNvSpPr txBox="1">
            <a:spLocks noChangeArrowheads="1"/>
          </p:cNvSpPr>
          <p:nvPr/>
        </p:nvSpPr>
        <p:spPr bwMode="auto">
          <a:xfrm>
            <a:off x="8788215" y="1745205"/>
            <a:ext cx="48260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o</a:t>
            </a:r>
            <a:endParaRPr lang="en-US" altLang="zh-CN" sz="2400" b="1" dirty="0">
              <a:ea typeface="楷体_GB2312" pitchFamily="49" charset="-122"/>
            </a:endParaRPr>
          </a:p>
        </p:txBody>
      </p:sp>
      <p:sp>
        <p:nvSpPr>
          <p:cNvPr id="28" name="Text Box 28"/>
          <p:cNvSpPr txBox="1">
            <a:spLocks noChangeArrowheads="1"/>
          </p:cNvSpPr>
          <p:nvPr/>
        </p:nvSpPr>
        <p:spPr bwMode="auto">
          <a:xfrm>
            <a:off x="6565715" y="1765842"/>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sp>
        <p:nvSpPr>
          <p:cNvPr id="29" name="Text Box 29"/>
          <p:cNvSpPr txBox="1">
            <a:spLocks noChangeArrowheads="1"/>
          </p:cNvSpPr>
          <p:nvPr/>
        </p:nvSpPr>
        <p:spPr bwMode="auto">
          <a:xfrm>
            <a:off x="9227953" y="1775367"/>
            <a:ext cx="3397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grpSp>
        <p:nvGrpSpPr>
          <p:cNvPr id="30" name="Group 30"/>
          <p:cNvGrpSpPr/>
          <p:nvPr/>
        </p:nvGrpSpPr>
        <p:grpSpPr bwMode="auto">
          <a:xfrm>
            <a:off x="1820678" y="695867"/>
            <a:ext cx="952500" cy="998538"/>
            <a:chOff x="2157" y="2844"/>
            <a:chExt cx="900" cy="780"/>
          </a:xfrm>
        </p:grpSpPr>
        <p:sp>
          <p:nvSpPr>
            <p:cNvPr id="31" name="Text Box 31"/>
            <p:cNvSpPr txBox="1">
              <a:spLocks noChangeArrowheads="1"/>
            </p:cNvSpPr>
            <p:nvPr/>
          </p:nvSpPr>
          <p:spPr bwMode="auto">
            <a:xfrm>
              <a:off x="2157" y="2844"/>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head</a:t>
              </a:r>
              <a:endParaRPr lang="en-US" altLang="zh-CN" sz="2400" b="1">
                <a:ea typeface="楷体_GB2312" pitchFamily="49" charset="-122"/>
              </a:endParaRPr>
            </a:p>
          </p:txBody>
        </p:sp>
        <p:sp>
          <p:nvSpPr>
            <p:cNvPr id="32" name="Line 32"/>
            <p:cNvSpPr>
              <a:spLocks noChangeShapeType="1"/>
            </p:cNvSpPr>
            <p:nvPr/>
          </p:nvSpPr>
          <p:spPr bwMode="auto">
            <a:xfrm>
              <a:off x="2520" y="3312"/>
              <a:ext cx="0" cy="312"/>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3" name="Text Box 34"/>
          <p:cNvSpPr txBox="1">
            <a:spLocks noChangeArrowheads="1"/>
          </p:cNvSpPr>
          <p:nvPr/>
        </p:nvSpPr>
        <p:spPr bwMode="auto">
          <a:xfrm>
            <a:off x="1820678" y="2280192"/>
            <a:ext cx="935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1800" b="1">
                <a:latin typeface="Garamond" panose="02020404030301010803" pitchFamily="18" charset="0"/>
              </a:rPr>
              <a:t>头结点</a:t>
            </a:r>
            <a:endParaRPr kumimoji="0" lang="zh-CN" altLang="en-US" sz="1800" b="1">
              <a:latin typeface="Garamond" panose="02020404030301010803" pitchFamily="18" charset="0"/>
            </a:endParaRPr>
          </a:p>
        </p:txBody>
      </p:sp>
      <p:sp>
        <p:nvSpPr>
          <p:cNvPr id="35" name="Rectangle 6"/>
          <p:cNvSpPr>
            <a:spLocks noChangeArrowheads="1"/>
          </p:cNvSpPr>
          <p:nvPr/>
        </p:nvSpPr>
        <p:spPr bwMode="auto">
          <a:xfrm>
            <a:off x="1816322" y="3815760"/>
            <a:ext cx="447675" cy="503237"/>
          </a:xfrm>
          <a:prstGeom prst="rect">
            <a:avLst/>
          </a:prstGeom>
          <a:solidFill>
            <a:srgbClr val="C0C0C0"/>
          </a:solidFill>
          <a:ln w="19050">
            <a:solidFill>
              <a:schemeClr val="tx1"/>
            </a:solidFill>
            <a:miter lim="800000"/>
          </a:ln>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b="1">
              <a:ea typeface="楷体_GB2312" pitchFamily="49" charset="-122"/>
            </a:endParaRPr>
          </a:p>
        </p:txBody>
      </p:sp>
      <p:sp>
        <p:nvSpPr>
          <p:cNvPr id="36" name="Rectangle 7"/>
          <p:cNvSpPr>
            <a:spLocks noChangeArrowheads="1"/>
          </p:cNvSpPr>
          <p:nvPr/>
        </p:nvSpPr>
        <p:spPr bwMode="auto">
          <a:xfrm>
            <a:off x="2263997" y="3815760"/>
            <a:ext cx="450850" cy="503237"/>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nvGrpSpPr>
          <p:cNvPr id="37" name="Group 8"/>
          <p:cNvGrpSpPr/>
          <p:nvPr/>
        </p:nvGrpSpPr>
        <p:grpSpPr bwMode="auto">
          <a:xfrm>
            <a:off x="3386359" y="3815760"/>
            <a:ext cx="896938" cy="503237"/>
            <a:chOff x="4680" y="5028"/>
            <a:chExt cx="720" cy="312"/>
          </a:xfrm>
        </p:grpSpPr>
        <p:sp>
          <p:nvSpPr>
            <p:cNvPr id="38" name="Rectangle 9"/>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39" name="Rectangle 10"/>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40" name="Group 11"/>
          <p:cNvGrpSpPr/>
          <p:nvPr/>
        </p:nvGrpSpPr>
        <p:grpSpPr bwMode="auto">
          <a:xfrm>
            <a:off x="6523259" y="3815760"/>
            <a:ext cx="898525" cy="503237"/>
            <a:chOff x="4680" y="5028"/>
            <a:chExt cx="720" cy="312"/>
          </a:xfrm>
        </p:grpSpPr>
        <p:sp>
          <p:nvSpPr>
            <p:cNvPr id="41" name="Rectangle 12"/>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42" name="Rectangle 13"/>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43" name="Group 14"/>
          <p:cNvGrpSpPr/>
          <p:nvPr/>
        </p:nvGrpSpPr>
        <p:grpSpPr bwMode="auto">
          <a:xfrm>
            <a:off x="8766397" y="3815760"/>
            <a:ext cx="896937" cy="503237"/>
            <a:chOff x="4680" y="5028"/>
            <a:chExt cx="720" cy="312"/>
          </a:xfrm>
        </p:grpSpPr>
        <p:sp>
          <p:nvSpPr>
            <p:cNvPr id="44" name="Rectangle 15"/>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45" name="Rectangle 16"/>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lIns="0" tIns="28346" rIns="0" bIns="28346"/>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endParaRPr lang="zh-CN" altLang="zh-CN" sz="2800" b="1">
                <a:ea typeface="楷体_GB2312" pitchFamily="49" charset="-122"/>
              </a:endParaRPr>
            </a:p>
          </p:txBody>
        </p:sp>
      </p:grpSp>
      <p:grpSp>
        <p:nvGrpSpPr>
          <p:cNvPr id="46" name="Group 17"/>
          <p:cNvGrpSpPr/>
          <p:nvPr/>
        </p:nvGrpSpPr>
        <p:grpSpPr bwMode="auto">
          <a:xfrm>
            <a:off x="4956397" y="3815760"/>
            <a:ext cx="893762" cy="503237"/>
            <a:chOff x="4680" y="5028"/>
            <a:chExt cx="720" cy="312"/>
          </a:xfrm>
        </p:grpSpPr>
        <p:sp>
          <p:nvSpPr>
            <p:cNvPr id="47" name="Rectangle 18"/>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48" name="Rectangle 19"/>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sp>
        <p:nvSpPr>
          <p:cNvPr id="49" name="Line 20"/>
          <p:cNvSpPr>
            <a:spLocks noChangeShapeType="1"/>
          </p:cNvSpPr>
          <p:nvPr/>
        </p:nvSpPr>
        <p:spPr bwMode="auto">
          <a:xfrm>
            <a:off x="2489422" y="4066585"/>
            <a:ext cx="896937"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 name="Line 22"/>
          <p:cNvSpPr>
            <a:spLocks noChangeShapeType="1"/>
          </p:cNvSpPr>
          <p:nvPr/>
        </p:nvSpPr>
        <p:spPr bwMode="auto">
          <a:xfrm>
            <a:off x="5629497" y="4066585"/>
            <a:ext cx="893762"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 name="Line 23"/>
          <p:cNvSpPr>
            <a:spLocks noChangeShapeType="1"/>
          </p:cNvSpPr>
          <p:nvPr/>
        </p:nvSpPr>
        <p:spPr bwMode="auto">
          <a:xfrm>
            <a:off x="7196359" y="4066585"/>
            <a:ext cx="449263"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 name="Line 24"/>
          <p:cNvSpPr>
            <a:spLocks noChangeShapeType="1"/>
          </p:cNvSpPr>
          <p:nvPr/>
        </p:nvSpPr>
        <p:spPr bwMode="auto">
          <a:xfrm>
            <a:off x="8320309" y="4066585"/>
            <a:ext cx="446088"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 name="Text Box 25"/>
          <p:cNvSpPr txBox="1">
            <a:spLocks noChangeArrowheads="1"/>
          </p:cNvSpPr>
          <p:nvPr/>
        </p:nvSpPr>
        <p:spPr bwMode="auto">
          <a:xfrm>
            <a:off x="3445097" y="3877672"/>
            <a:ext cx="341312"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h</a:t>
            </a:r>
            <a:endParaRPr lang="en-US" altLang="zh-CN" sz="2400" b="1" dirty="0">
              <a:ea typeface="楷体_GB2312" pitchFamily="49" charset="-122"/>
            </a:endParaRPr>
          </a:p>
        </p:txBody>
      </p:sp>
      <p:sp>
        <p:nvSpPr>
          <p:cNvPr id="55" name="Text Box 26"/>
          <p:cNvSpPr txBox="1">
            <a:spLocks noChangeArrowheads="1"/>
          </p:cNvSpPr>
          <p:nvPr/>
        </p:nvSpPr>
        <p:spPr bwMode="auto">
          <a:xfrm>
            <a:off x="5046884" y="3877672"/>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e</a:t>
            </a:r>
            <a:endParaRPr lang="en-US" altLang="zh-CN" sz="2400" b="1" dirty="0">
              <a:ea typeface="楷体_GB2312" pitchFamily="49" charset="-122"/>
            </a:endParaRPr>
          </a:p>
        </p:txBody>
      </p:sp>
      <p:sp>
        <p:nvSpPr>
          <p:cNvPr id="56" name="Text Box 27"/>
          <p:cNvSpPr txBox="1">
            <a:spLocks noChangeArrowheads="1"/>
          </p:cNvSpPr>
          <p:nvPr/>
        </p:nvSpPr>
        <p:spPr bwMode="auto">
          <a:xfrm>
            <a:off x="8783859" y="3857035"/>
            <a:ext cx="48260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o</a:t>
            </a:r>
            <a:endParaRPr lang="en-US" altLang="zh-CN" sz="2400" b="1" dirty="0">
              <a:ea typeface="楷体_GB2312" pitchFamily="49" charset="-122"/>
            </a:endParaRPr>
          </a:p>
        </p:txBody>
      </p:sp>
      <p:sp>
        <p:nvSpPr>
          <p:cNvPr id="57" name="Text Box 28"/>
          <p:cNvSpPr txBox="1">
            <a:spLocks noChangeArrowheads="1"/>
          </p:cNvSpPr>
          <p:nvPr/>
        </p:nvSpPr>
        <p:spPr bwMode="auto">
          <a:xfrm>
            <a:off x="6561359" y="3877672"/>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sp>
        <p:nvSpPr>
          <p:cNvPr id="58" name="Text Box 29"/>
          <p:cNvSpPr txBox="1">
            <a:spLocks noChangeArrowheads="1"/>
          </p:cNvSpPr>
          <p:nvPr/>
        </p:nvSpPr>
        <p:spPr bwMode="auto">
          <a:xfrm>
            <a:off x="9223597" y="3887197"/>
            <a:ext cx="3397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grpSp>
        <p:nvGrpSpPr>
          <p:cNvPr id="59" name="Group 30"/>
          <p:cNvGrpSpPr/>
          <p:nvPr/>
        </p:nvGrpSpPr>
        <p:grpSpPr bwMode="auto">
          <a:xfrm>
            <a:off x="1816322" y="2807697"/>
            <a:ext cx="952500" cy="998538"/>
            <a:chOff x="2157" y="2844"/>
            <a:chExt cx="900" cy="780"/>
          </a:xfrm>
        </p:grpSpPr>
        <p:sp>
          <p:nvSpPr>
            <p:cNvPr id="60" name="Text Box 31"/>
            <p:cNvSpPr txBox="1">
              <a:spLocks noChangeArrowheads="1"/>
            </p:cNvSpPr>
            <p:nvPr/>
          </p:nvSpPr>
          <p:spPr bwMode="auto">
            <a:xfrm>
              <a:off x="2157" y="2844"/>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head</a:t>
              </a:r>
              <a:endParaRPr lang="en-US" altLang="zh-CN" sz="2400" b="1">
                <a:ea typeface="楷体_GB2312" pitchFamily="49" charset="-122"/>
              </a:endParaRPr>
            </a:p>
          </p:txBody>
        </p:sp>
        <p:sp>
          <p:nvSpPr>
            <p:cNvPr id="61" name="Line 32"/>
            <p:cNvSpPr>
              <a:spLocks noChangeShapeType="1"/>
            </p:cNvSpPr>
            <p:nvPr/>
          </p:nvSpPr>
          <p:spPr bwMode="auto">
            <a:xfrm>
              <a:off x="2520" y="3312"/>
              <a:ext cx="0" cy="312"/>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2" name="Text Box 34"/>
          <p:cNvSpPr txBox="1">
            <a:spLocks noChangeArrowheads="1"/>
          </p:cNvSpPr>
          <p:nvPr/>
        </p:nvSpPr>
        <p:spPr bwMode="auto">
          <a:xfrm>
            <a:off x="1816322" y="4392022"/>
            <a:ext cx="935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1800" b="1">
                <a:latin typeface="Garamond" panose="02020404030301010803" pitchFamily="18" charset="0"/>
              </a:rPr>
              <a:t>头结点</a:t>
            </a:r>
            <a:endParaRPr kumimoji="0" lang="zh-CN" altLang="en-US" sz="1800" b="1">
              <a:latin typeface="Garamond" panose="02020404030301010803" pitchFamily="18" charset="0"/>
            </a:endParaRPr>
          </a:p>
        </p:txBody>
      </p:sp>
      <p:sp>
        <p:nvSpPr>
          <p:cNvPr id="3" name="文本框 2"/>
          <p:cNvSpPr txBox="1"/>
          <p:nvPr/>
        </p:nvSpPr>
        <p:spPr>
          <a:xfrm>
            <a:off x="3323661" y="919805"/>
            <a:ext cx="641348" cy="523220"/>
          </a:xfrm>
          <a:prstGeom prst="rect">
            <a:avLst/>
          </a:prstGeom>
          <a:noFill/>
        </p:spPr>
        <p:txBody>
          <a:bodyPr wrap="square" rtlCol="0">
            <a:spAutoFit/>
          </a:bodyPr>
          <a:lstStyle/>
          <a:p>
            <a:r>
              <a:rPr lang="en-US" altLang="zh-CN" sz="2800" dirty="0"/>
              <a:t>p</a:t>
            </a:r>
            <a:endParaRPr lang="zh-CN" altLang="en-US" sz="2800" dirty="0" err="1"/>
          </a:p>
        </p:txBody>
      </p:sp>
      <p:sp>
        <p:nvSpPr>
          <p:cNvPr id="4" name="文本框 3"/>
          <p:cNvSpPr txBox="1"/>
          <p:nvPr/>
        </p:nvSpPr>
        <p:spPr>
          <a:xfrm>
            <a:off x="5052344" y="914060"/>
            <a:ext cx="577153" cy="523220"/>
          </a:xfrm>
          <a:prstGeom prst="rect">
            <a:avLst/>
          </a:prstGeom>
          <a:noFill/>
        </p:spPr>
        <p:txBody>
          <a:bodyPr wrap="square" rtlCol="0">
            <a:spAutoFit/>
          </a:bodyPr>
          <a:lstStyle/>
          <a:p>
            <a:r>
              <a:rPr lang="en-US" altLang="zh-CN" sz="2800" dirty="0"/>
              <a:t>q</a:t>
            </a:r>
            <a:endParaRPr lang="zh-CN" altLang="en-US" sz="2800" dirty="0" err="1"/>
          </a:p>
        </p:txBody>
      </p:sp>
      <p:cxnSp>
        <p:nvCxnSpPr>
          <p:cNvPr id="12288" name="直接连接符 12287"/>
          <p:cNvCxnSpPr/>
          <p:nvPr/>
        </p:nvCxnSpPr>
        <p:spPr>
          <a:xfrm flipH="1">
            <a:off x="2376127" y="1880820"/>
            <a:ext cx="103228" cy="170523"/>
          </a:xfrm>
          <a:prstGeom prst="line">
            <a:avLst/>
          </a:prstGeom>
        </p:spPr>
        <p:style>
          <a:lnRef idx="1">
            <a:schemeClr val="dk1"/>
          </a:lnRef>
          <a:fillRef idx="0">
            <a:schemeClr val="dk1"/>
          </a:fillRef>
          <a:effectRef idx="0">
            <a:schemeClr val="dk1"/>
          </a:effectRef>
          <a:fontRef idx="minor">
            <a:schemeClr val="tx1"/>
          </a:fontRef>
        </p:style>
      </p:cxnSp>
      <p:cxnSp>
        <p:nvCxnSpPr>
          <p:cNvPr id="12292" name="直接连接符 12291"/>
          <p:cNvCxnSpPr/>
          <p:nvPr/>
        </p:nvCxnSpPr>
        <p:spPr>
          <a:xfrm>
            <a:off x="2454860" y="1877583"/>
            <a:ext cx="143336" cy="147634"/>
          </a:xfrm>
          <a:prstGeom prst="line">
            <a:avLst/>
          </a:prstGeom>
        </p:spPr>
        <p:style>
          <a:lnRef idx="1">
            <a:schemeClr val="dk1"/>
          </a:lnRef>
          <a:fillRef idx="0">
            <a:schemeClr val="dk1"/>
          </a:fillRef>
          <a:effectRef idx="0">
            <a:schemeClr val="dk1"/>
          </a:effectRef>
          <a:fontRef idx="minor">
            <a:schemeClr val="tx1"/>
          </a:fontRef>
        </p:style>
      </p:cxnSp>
      <p:cxnSp>
        <p:nvCxnSpPr>
          <p:cNvPr id="12295" name="直接连接符 12294"/>
          <p:cNvCxnSpPr/>
          <p:nvPr/>
        </p:nvCxnSpPr>
        <p:spPr>
          <a:xfrm flipH="1">
            <a:off x="7798526" y="65309"/>
            <a:ext cx="65314" cy="1182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97" name="直接连接符 12296"/>
          <p:cNvCxnSpPr/>
          <p:nvPr/>
        </p:nvCxnSpPr>
        <p:spPr>
          <a:xfrm flipH="1">
            <a:off x="3965009" y="3916451"/>
            <a:ext cx="111947" cy="270974"/>
          </a:xfrm>
          <a:prstGeom prst="line">
            <a:avLst/>
          </a:prstGeom>
        </p:spPr>
        <p:style>
          <a:lnRef idx="1">
            <a:schemeClr val="dk1"/>
          </a:lnRef>
          <a:fillRef idx="0">
            <a:schemeClr val="dk1"/>
          </a:fillRef>
          <a:effectRef idx="0">
            <a:schemeClr val="dk1"/>
          </a:effectRef>
          <a:fontRef idx="minor">
            <a:schemeClr val="tx1"/>
          </a:fontRef>
        </p:style>
      </p:cxnSp>
      <p:cxnSp>
        <p:nvCxnSpPr>
          <p:cNvPr id="12299" name="直接连接符 12298"/>
          <p:cNvCxnSpPr/>
          <p:nvPr/>
        </p:nvCxnSpPr>
        <p:spPr>
          <a:xfrm>
            <a:off x="4076956" y="3916451"/>
            <a:ext cx="129353" cy="270974"/>
          </a:xfrm>
          <a:prstGeom prst="line">
            <a:avLst/>
          </a:prstGeom>
        </p:spPr>
        <p:style>
          <a:lnRef idx="1">
            <a:schemeClr val="dk1"/>
          </a:lnRef>
          <a:fillRef idx="0">
            <a:schemeClr val="dk1"/>
          </a:fillRef>
          <a:effectRef idx="0">
            <a:schemeClr val="dk1"/>
          </a:effectRef>
          <a:fontRef idx="minor">
            <a:schemeClr val="tx1"/>
          </a:fontRef>
        </p:style>
      </p:cxnSp>
      <p:sp>
        <p:nvSpPr>
          <p:cNvPr id="84" name="文本框 83"/>
          <p:cNvSpPr txBox="1"/>
          <p:nvPr/>
        </p:nvSpPr>
        <p:spPr>
          <a:xfrm>
            <a:off x="5179837" y="3145210"/>
            <a:ext cx="670322" cy="523220"/>
          </a:xfrm>
          <a:prstGeom prst="rect">
            <a:avLst/>
          </a:prstGeom>
          <a:noFill/>
        </p:spPr>
        <p:txBody>
          <a:bodyPr wrap="square" rtlCol="0">
            <a:spAutoFit/>
          </a:bodyPr>
          <a:lstStyle/>
          <a:p>
            <a:r>
              <a:rPr lang="en-US" altLang="zh-CN" sz="2800" dirty="0"/>
              <a:t>p</a:t>
            </a:r>
            <a:endParaRPr lang="zh-CN" altLang="en-US" sz="2800" dirty="0" err="1"/>
          </a:p>
        </p:txBody>
      </p:sp>
      <p:sp>
        <p:nvSpPr>
          <p:cNvPr id="85" name="文本框 84"/>
          <p:cNvSpPr txBox="1"/>
          <p:nvPr/>
        </p:nvSpPr>
        <p:spPr>
          <a:xfrm>
            <a:off x="6747890" y="3156343"/>
            <a:ext cx="577153" cy="523220"/>
          </a:xfrm>
          <a:prstGeom prst="rect">
            <a:avLst/>
          </a:prstGeom>
          <a:noFill/>
        </p:spPr>
        <p:txBody>
          <a:bodyPr wrap="square" rtlCol="0">
            <a:spAutoFit/>
          </a:bodyPr>
          <a:lstStyle/>
          <a:p>
            <a:r>
              <a:rPr lang="en-US" altLang="zh-CN" sz="2800" dirty="0"/>
              <a:t>q</a:t>
            </a:r>
            <a:endParaRPr lang="zh-CN" altLang="en-US" sz="2800" dirty="0" err="1"/>
          </a:p>
        </p:txBody>
      </p:sp>
      <p:sp>
        <p:nvSpPr>
          <p:cNvPr id="87" name="Rectangle 6"/>
          <p:cNvSpPr>
            <a:spLocks noChangeArrowheads="1"/>
          </p:cNvSpPr>
          <p:nvPr/>
        </p:nvSpPr>
        <p:spPr bwMode="auto">
          <a:xfrm>
            <a:off x="1864219" y="5718586"/>
            <a:ext cx="447675" cy="503237"/>
          </a:xfrm>
          <a:prstGeom prst="rect">
            <a:avLst/>
          </a:prstGeom>
          <a:solidFill>
            <a:srgbClr val="C0C0C0"/>
          </a:solidFill>
          <a:ln w="19050">
            <a:solidFill>
              <a:schemeClr val="tx1"/>
            </a:solidFill>
            <a:miter lim="800000"/>
          </a:ln>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b="1">
              <a:ea typeface="楷体_GB2312" pitchFamily="49" charset="-122"/>
            </a:endParaRPr>
          </a:p>
        </p:txBody>
      </p:sp>
      <p:sp>
        <p:nvSpPr>
          <p:cNvPr id="88" name="Rectangle 7"/>
          <p:cNvSpPr>
            <a:spLocks noChangeArrowheads="1"/>
          </p:cNvSpPr>
          <p:nvPr/>
        </p:nvSpPr>
        <p:spPr bwMode="auto">
          <a:xfrm>
            <a:off x="2311894" y="5718586"/>
            <a:ext cx="450850" cy="503237"/>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nvGrpSpPr>
          <p:cNvPr id="89" name="Group 8"/>
          <p:cNvGrpSpPr/>
          <p:nvPr/>
        </p:nvGrpSpPr>
        <p:grpSpPr bwMode="auto">
          <a:xfrm>
            <a:off x="3434256" y="5718586"/>
            <a:ext cx="896938" cy="503237"/>
            <a:chOff x="4680" y="5028"/>
            <a:chExt cx="720" cy="312"/>
          </a:xfrm>
        </p:grpSpPr>
        <p:sp>
          <p:nvSpPr>
            <p:cNvPr id="90" name="Rectangle 9"/>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91" name="Rectangle 10"/>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92" name="Group 11"/>
          <p:cNvGrpSpPr/>
          <p:nvPr/>
        </p:nvGrpSpPr>
        <p:grpSpPr bwMode="auto">
          <a:xfrm>
            <a:off x="6571156" y="5718586"/>
            <a:ext cx="898525" cy="503237"/>
            <a:chOff x="4680" y="5028"/>
            <a:chExt cx="720" cy="312"/>
          </a:xfrm>
        </p:grpSpPr>
        <p:sp>
          <p:nvSpPr>
            <p:cNvPr id="93" name="Rectangle 12"/>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94" name="Rectangle 13"/>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95" name="Group 14"/>
          <p:cNvGrpSpPr/>
          <p:nvPr/>
        </p:nvGrpSpPr>
        <p:grpSpPr bwMode="auto">
          <a:xfrm>
            <a:off x="8814294" y="5718586"/>
            <a:ext cx="896937" cy="503237"/>
            <a:chOff x="4680" y="5028"/>
            <a:chExt cx="720" cy="312"/>
          </a:xfrm>
        </p:grpSpPr>
        <p:sp>
          <p:nvSpPr>
            <p:cNvPr id="96" name="Rectangle 15"/>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97" name="Rectangle 16"/>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lIns="0" tIns="28346" rIns="0" bIns="28346"/>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endParaRPr lang="zh-CN" altLang="zh-CN" sz="2800" b="1">
                <a:ea typeface="楷体_GB2312" pitchFamily="49" charset="-122"/>
              </a:endParaRPr>
            </a:p>
          </p:txBody>
        </p:sp>
      </p:grpSp>
      <p:grpSp>
        <p:nvGrpSpPr>
          <p:cNvPr id="98" name="Group 17"/>
          <p:cNvGrpSpPr/>
          <p:nvPr/>
        </p:nvGrpSpPr>
        <p:grpSpPr bwMode="auto">
          <a:xfrm>
            <a:off x="5004294" y="5718586"/>
            <a:ext cx="893762" cy="503237"/>
            <a:chOff x="4680" y="5028"/>
            <a:chExt cx="720" cy="312"/>
          </a:xfrm>
        </p:grpSpPr>
        <p:sp>
          <p:nvSpPr>
            <p:cNvPr id="99" name="Rectangle 18"/>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00" name="Rectangle 19"/>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sp>
        <p:nvSpPr>
          <p:cNvPr id="101" name="Line 20"/>
          <p:cNvSpPr>
            <a:spLocks noChangeShapeType="1"/>
          </p:cNvSpPr>
          <p:nvPr/>
        </p:nvSpPr>
        <p:spPr bwMode="auto">
          <a:xfrm>
            <a:off x="2537319" y="5969411"/>
            <a:ext cx="896937"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 name="Line 22"/>
          <p:cNvSpPr>
            <a:spLocks noChangeShapeType="1"/>
          </p:cNvSpPr>
          <p:nvPr/>
        </p:nvSpPr>
        <p:spPr bwMode="auto">
          <a:xfrm>
            <a:off x="4110532" y="5956030"/>
            <a:ext cx="893762"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 name="Line 23"/>
          <p:cNvSpPr>
            <a:spLocks noChangeShapeType="1"/>
          </p:cNvSpPr>
          <p:nvPr/>
        </p:nvSpPr>
        <p:spPr bwMode="auto">
          <a:xfrm>
            <a:off x="7244256" y="5969411"/>
            <a:ext cx="449263"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 name="Line 24"/>
          <p:cNvSpPr>
            <a:spLocks noChangeShapeType="1"/>
          </p:cNvSpPr>
          <p:nvPr/>
        </p:nvSpPr>
        <p:spPr bwMode="auto">
          <a:xfrm>
            <a:off x="8368206" y="5969411"/>
            <a:ext cx="446088"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5" name="Text Box 25"/>
          <p:cNvSpPr txBox="1">
            <a:spLocks noChangeArrowheads="1"/>
          </p:cNvSpPr>
          <p:nvPr/>
        </p:nvSpPr>
        <p:spPr bwMode="auto">
          <a:xfrm>
            <a:off x="3492994" y="5780498"/>
            <a:ext cx="341312"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e</a:t>
            </a:r>
            <a:endParaRPr lang="en-US" altLang="zh-CN" sz="2400" b="1" dirty="0">
              <a:ea typeface="楷体_GB2312" pitchFamily="49" charset="-122"/>
            </a:endParaRPr>
          </a:p>
        </p:txBody>
      </p:sp>
      <p:sp>
        <p:nvSpPr>
          <p:cNvPr id="106" name="Text Box 26"/>
          <p:cNvSpPr txBox="1">
            <a:spLocks noChangeArrowheads="1"/>
          </p:cNvSpPr>
          <p:nvPr/>
        </p:nvSpPr>
        <p:spPr bwMode="auto">
          <a:xfrm>
            <a:off x="5094781" y="5780498"/>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h</a:t>
            </a:r>
            <a:endParaRPr lang="en-US" altLang="zh-CN" sz="2400" b="1" dirty="0">
              <a:ea typeface="楷体_GB2312" pitchFamily="49" charset="-122"/>
            </a:endParaRPr>
          </a:p>
        </p:txBody>
      </p:sp>
      <p:sp>
        <p:nvSpPr>
          <p:cNvPr id="107" name="Text Box 27"/>
          <p:cNvSpPr txBox="1">
            <a:spLocks noChangeArrowheads="1"/>
          </p:cNvSpPr>
          <p:nvPr/>
        </p:nvSpPr>
        <p:spPr bwMode="auto">
          <a:xfrm>
            <a:off x="8831756" y="5759861"/>
            <a:ext cx="48260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o</a:t>
            </a:r>
            <a:endParaRPr lang="en-US" altLang="zh-CN" sz="2400" b="1" dirty="0">
              <a:ea typeface="楷体_GB2312" pitchFamily="49" charset="-122"/>
            </a:endParaRPr>
          </a:p>
        </p:txBody>
      </p:sp>
      <p:sp>
        <p:nvSpPr>
          <p:cNvPr id="108" name="Text Box 28"/>
          <p:cNvSpPr txBox="1">
            <a:spLocks noChangeArrowheads="1"/>
          </p:cNvSpPr>
          <p:nvPr/>
        </p:nvSpPr>
        <p:spPr bwMode="auto">
          <a:xfrm>
            <a:off x="6609256" y="5780498"/>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sp>
        <p:nvSpPr>
          <p:cNvPr id="109" name="Text Box 29"/>
          <p:cNvSpPr txBox="1">
            <a:spLocks noChangeArrowheads="1"/>
          </p:cNvSpPr>
          <p:nvPr/>
        </p:nvSpPr>
        <p:spPr bwMode="auto">
          <a:xfrm>
            <a:off x="9271494" y="5790023"/>
            <a:ext cx="3397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grpSp>
        <p:nvGrpSpPr>
          <p:cNvPr id="110" name="Group 30"/>
          <p:cNvGrpSpPr/>
          <p:nvPr/>
        </p:nvGrpSpPr>
        <p:grpSpPr bwMode="auto">
          <a:xfrm>
            <a:off x="1864219" y="4710523"/>
            <a:ext cx="952500" cy="998538"/>
            <a:chOff x="2157" y="2844"/>
            <a:chExt cx="900" cy="780"/>
          </a:xfrm>
        </p:grpSpPr>
        <p:sp>
          <p:nvSpPr>
            <p:cNvPr id="111" name="Text Box 31"/>
            <p:cNvSpPr txBox="1">
              <a:spLocks noChangeArrowheads="1"/>
            </p:cNvSpPr>
            <p:nvPr/>
          </p:nvSpPr>
          <p:spPr bwMode="auto">
            <a:xfrm>
              <a:off x="2157" y="2844"/>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head</a:t>
              </a:r>
              <a:endParaRPr lang="en-US" altLang="zh-CN" sz="2400" b="1">
                <a:ea typeface="楷体_GB2312" pitchFamily="49" charset="-122"/>
              </a:endParaRPr>
            </a:p>
          </p:txBody>
        </p:sp>
        <p:sp>
          <p:nvSpPr>
            <p:cNvPr id="112" name="Line 32"/>
            <p:cNvSpPr>
              <a:spLocks noChangeShapeType="1"/>
            </p:cNvSpPr>
            <p:nvPr/>
          </p:nvSpPr>
          <p:spPr bwMode="auto">
            <a:xfrm>
              <a:off x="2520" y="3312"/>
              <a:ext cx="0" cy="312"/>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13" name="Text Box 34"/>
          <p:cNvSpPr txBox="1">
            <a:spLocks noChangeArrowheads="1"/>
          </p:cNvSpPr>
          <p:nvPr/>
        </p:nvSpPr>
        <p:spPr bwMode="auto">
          <a:xfrm>
            <a:off x="1864219" y="6294848"/>
            <a:ext cx="935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1800" b="1">
                <a:latin typeface="Garamond" panose="02020404030301010803" pitchFamily="18" charset="0"/>
              </a:rPr>
              <a:t>头结点</a:t>
            </a:r>
            <a:endParaRPr kumimoji="0" lang="zh-CN" altLang="en-US" sz="1800" b="1">
              <a:latin typeface="Garamond" panose="02020404030301010803" pitchFamily="18" charset="0"/>
            </a:endParaRPr>
          </a:p>
        </p:txBody>
      </p:sp>
      <p:cxnSp>
        <p:nvCxnSpPr>
          <p:cNvPr id="114" name="直接连接符 113"/>
          <p:cNvCxnSpPr/>
          <p:nvPr/>
        </p:nvCxnSpPr>
        <p:spPr>
          <a:xfrm flipH="1">
            <a:off x="5593353" y="5896963"/>
            <a:ext cx="111947" cy="270974"/>
          </a:xfrm>
          <a:prstGeom prst="line">
            <a:avLst/>
          </a:prstGeom>
        </p:spPr>
        <p:style>
          <a:lnRef idx="1">
            <a:schemeClr val="dk1"/>
          </a:lnRef>
          <a:fillRef idx="0">
            <a:schemeClr val="dk1"/>
          </a:fillRef>
          <a:effectRef idx="0">
            <a:schemeClr val="dk1"/>
          </a:effectRef>
          <a:fontRef idx="minor">
            <a:schemeClr val="tx1"/>
          </a:fontRef>
        </p:style>
      </p:cxnSp>
      <p:cxnSp>
        <p:nvCxnSpPr>
          <p:cNvPr id="115" name="直接连接符 114"/>
          <p:cNvCxnSpPr/>
          <p:nvPr/>
        </p:nvCxnSpPr>
        <p:spPr>
          <a:xfrm>
            <a:off x="5681028" y="5896963"/>
            <a:ext cx="129353" cy="270974"/>
          </a:xfrm>
          <a:prstGeom prst="line">
            <a:avLst/>
          </a:prstGeom>
        </p:spPr>
        <p:style>
          <a:lnRef idx="1">
            <a:schemeClr val="dk1"/>
          </a:lnRef>
          <a:fillRef idx="0">
            <a:schemeClr val="dk1"/>
          </a:fillRef>
          <a:effectRef idx="0">
            <a:schemeClr val="dk1"/>
          </a:effectRef>
          <a:fontRef idx="minor">
            <a:schemeClr val="tx1"/>
          </a:fontRef>
        </p:style>
      </p:cxnSp>
      <p:sp>
        <p:nvSpPr>
          <p:cNvPr id="116" name="文本框 115"/>
          <p:cNvSpPr txBox="1"/>
          <p:nvPr/>
        </p:nvSpPr>
        <p:spPr>
          <a:xfrm>
            <a:off x="6518367" y="5146768"/>
            <a:ext cx="646787" cy="523220"/>
          </a:xfrm>
          <a:prstGeom prst="rect">
            <a:avLst/>
          </a:prstGeom>
          <a:noFill/>
        </p:spPr>
        <p:txBody>
          <a:bodyPr wrap="square" rtlCol="0">
            <a:spAutoFit/>
          </a:bodyPr>
          <a:lstStyle/>
          <a:p>
            <a:r>
              <a:rPr lang="en-US" altLang="zh-CN" sz="2800" dirty="0"/>
              <a:t>p</a:t>
            </a:r>
            <a:endParaRPr lang="zh-CN" altLang="en-US" sz="2800" dirty="0" err="1"/>
          </a:p>
        </p:txBody>
      </p:sp>
      <p:sp>
        <p:nvSpPr>
          <p:cNvPr id="117" name="文本框 116"/>
          <p:cNvSpPr txBox="1"/>
          <p:nvPr/>
        </p:nvSpPr>
        <p:spPr>
          <a:xfrm>
            <a:off x="7772400" y="5133704"/>
            <a:ext cx="619443" cy="523220"/>
          </a:xfrm>
          <a:prstGeom prst="rect">
            <a:avLst/>
          </a:prstGeom>
          <a:noFill/>
        </p:spPr>
        <p:txBody>
          <a:bodyPr wrap="square" rtlCol="0">
            <a:spAutoFit/>
          </a:bodyPr>
          <a:lstStyle/>
          <a:p>
            <a:r>
              <a:rPr lang="en-US" altLang="zh-CN" sz="2800" dirty="0"/>
              <a:t>q</a:t>
            </a:r>
            <a:endParaRPr lang="zh-CN" altLang="en-US" sz="2800" dirty="0" err="1"/>
          </a:p>
        </p:txBody>
      </p:sp>
    </p:spTree>
  </p:cSld>
  <p:clrMapOvr>
    <a:masterClrMapping/>
  </p:clrMapOvr>
  <p:transition spd="med">
    <p:push/>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178904" y="839327"/>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“兄弟协同法”</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“首席插入法”实现单链表的就地逆置</a:t>
            </a:r>
            <a:endParaRPr lang="zh-CN" altLang="en-US" dirty="0">
              <a:latin typeface="华文楷体" panose="02010600040101010101" pitchFamily="2" charset="-122"/>
              <a:ea typeface="华文楷体" panose="02010600040101010101" pitchFamily="2" charset="-122"/>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6"/>
          <p:cNvSpPr>
            <a:spLocks noChangeArrowheads="1"/>
          </p:cNvSpPr>
          <p:nvPr/>
        </p:nvSpPr>
        <p:spPr bwMode="auto">
          <a:xfrm>
            <a:off x="304800" y="1643237"/>
            <a:ext cx="10137913"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latin typeface="Times New Roman" panose="02020603050405020304" pitchFamily="18" charset="0"/>
                <a:cs typeface="Times New Roman" panose="02020603050405020304" pitchFamily="18" charset="0"/>
              </a:rPr>
              <a:t>template &lt;class </a:t>
            </a:r>
            <a:r>
              <a:rPr lang="en-US" altLang="zh-CN" sz="2800" dirty="0" err="1">
                <a:latin typeface="Times New Roman" panose="02020603050405020304" pitchFamily="18" charset="0"/>
                <a:cs typeface="Times New Roman" panose="02020603050405020304" pitchFamily="18" charset="0"/>
              </a:rPr>
              <a:t>elemType</a:t>
            </a:r>
            <a:r>
              <a:rPr lang="en-US" altLang="zh-CN" sz="2800" dirty="0">
                <a:latin typeface="Times New Roman" panose="02020603050405020304" pitchFamily="18" charset="0"/>
                <a:cs typeface="Times New Roman" panose="02020603050405020304" pitchFamily="18" charset="0"/>
              </a:rPr>
              <a:t>&gt;</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void </a:t>
            </a:r>
            <a:r>
              <a:rPr lang="en-US" altLang="zh-CN" sz="2800" dirty="0" err="1">
                <a:latin typeface="Times New Roman" panose="02020603050405020304" pitchFamily="18" charset="0"/>
                <a:cs typeface="Times New Roman" panose="02020603050405020304" pitchFamily="18" charset="0"/>
              </a:rPr>
              <a:t>linkList</a:t>
            </a:r>
            <a:r>
              <a:rPr lang="en-US" altLang="zh-CN" sz="2800" dirty="0">
                <a:latin typeface="Times New Roman" panose="02020603050405020304" pitchFamily="18" charset="0"/>
                <a:cs typeface="Times New Roman" panose="02020603050405020304" pitchFamily="18" charset="0"/>
              </a:rPr>
              <a:t>&lt;</a:t>
            </a:r>
            <a:r>
              <a:rPr lang="en-US" altLang="zh-CN" sz="2800" dirty="0" err="1">
                <a:latin typeface="Times New Roman" panose="02020603050405020304" pitchFamily="18" charset="0"/>
                <a:cs typeface="Times New Roman" panose="02020603050405020304" pitchFamily="18" charset="0"/>
              </a:rPr>
              <a:t>elemType</a:t>
            </a:r>
            <a:r>
              <a:rPr lang="en-US" altLang="zh-CN" sz="2800" dirty="0">
                <a:latin typeface="Times New Roman" panose="02020603050405020304" pitchFamily="18" charset="0"/>
                <a:cs typeface="Times New Roman" panose="02020603050405020304" pitchFamily="18" charset="0"/>
              </a:rPr>
              <a:t>&gt;::reverse()</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node&lt;</a:t>
            </a:r>
            <a:r>
              <a:rPr lang="en-US" altLang="zh-CN" sz="2800" dirty="0" err="1">
                <a:latin typeface="Times New Roman" panose="02020603050405020304" pitchFamily="18" charset="0"/>
                <a:cs typeface="Times New Roman" panose="02020603050405020304" pitchFamily="18" charset="0"/>
              </a:rPr>
              <a:t>elemType</a:t>
            </a:r>
            <a:r>
              <a:rPr lang="en-US" altLang="zh-CN" sz="2800" dirty="0">
                <a:latin typeface="Times New Roman" panose="02020603050405020304" pitchFamily="18" charset="0"/>
                <a:cs typeface="Times New Roman" panose="02020603050405020304" pitchFamily="18" charset="0"/>
              </a:rPr>
              <a:t>&gt; *p,*q;  </a:t>
            </a:r>
            <a:r>
              <a:rPr lang="en-US" altLang="zh-CN" sz="2800" dirty="0">
                <a:solidFill>
                  <a:schemeClr val="accent1"/>
                </a:solidFill>
                <a:latin typeface="Times New Roman" panose="02020603050405020304" pitchFamily="18" charset="0"/>
                <a:cs typeface="Times New Roman" panose="02020603050405020304" pitchFamily="18" charset="0"/>
              </a:rPr>
              <a:t>//</a:t>
            </a:r>
            <a:r>
              <a:rPr lang="zh-CN" altLang="zh-CN" sz="2800" dirty="0">
                <a:solidFill>
                  <a:schemeClr val="accent1"/>
                </a:solidFill>
                <a:latin typeface="Times New Roman" panose="02020603050405020304" pitchFamily="18" charset="0"/>
                <a:cs typeface="Times New Roman" panose="02020603050405020304" pitchFamily="18" charset="0"/>
              </a:rPr>
              <a:t>兄弟俩协同</a:t>
            </a:r>
            <a:endParaRPr lang="zh-CN" altLang="zh-CN" sz="2800" dirty="0">
              <a:solidFill>
                <a:schemeClr val="accent1"/>
              </a:solidFill>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p=head-&gt;next;   head-&gt;next = NULL;  </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while (p)</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  q = p-&gt;next;</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a:solidFill>
                  <a:schemeClr val="accent1"/>
                </a:solidFill>
                <a:latin typeface="Times New Roman" panose="02020603050405020304" pitchFamily="18" charset="0"/>
                <a:cs typeface="Times New Roman" panose="02020603050405020304" pitchFamily="18" charset="0"/>
              </a:rPr>
              <a:t>p-&gt;next = head-&gt;next; head-&gt;next = p; //</a:t>
            </a:r>
            <a:r>
              <a:rPr lang="zh-CN" altLang="zh-CN" sz="2800" dirty="0">
                <a:solidFill>
                  <a:schemeClr val="accent1"/>
                </a:solidFill>
                <a:latin typeface="Times New Roman" panose="02020603050405020304" pitchFamily="18" charset="0"/>
                <a:cs typeface="Times New Roman" panose="02020603050405020304" pitchFamily="18" charset="0"/>
              </a:rPr>
              <a:t>首席插入</a:t>
            </a:r>
            <a:endParaRPr lang="zh-CN" altLang="zh-CN" sz="2800" dirty="0">
              <a:solidFill>
                <a:schemeClr val="accent1"/>
              </a:solidFill>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p=q;</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a:t>
            </a:r>
            <a:endParaRPr lang="zh-CN" altLang="zh-CN" sz="2800" dirty="0">
              <a:latin typeface="Times New Roman" panose="02020603050405020304" pitchFamily="18" charset="0"/>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transition spd="med">
    <p:push/>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178904" y="839327"/>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常见错误：</a:t>
            </a:r>
            <a:endParaRPr lang="zh-CN" altLang="en-US" dirty="0">
              <a:latin typeface="华文楷体" panose="02010600040101010101" pitchFamily="2" charset="-122"/>
              <a:ea typeface="华文楷体" panose="02010600040101010101" pitchFamily="2" charset="-122"/>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6"/>
          <p:cNvSpPr>
            <a:spLocks noChangeArrowheads="1"/>
          </p:cNvSpPr>
          <p:nvPr/>
        </p:nvSpPr>
        <p:spPr bwMode="auto">
          <a:xfrm>
            <a:off x="178904" y="1312873"/>
            <a:ext cx="11734800"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593725" indent="-51435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指针</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未被初始化或者为空，读取其指向的字段如</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p-&gt;data</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636905" indent="0"/>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如循环检查</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所指的结点中值是否</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x</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636905" indent="0"/>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可用</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p=head-&gt;next;   while (</a:t>
            </a:r>
            <a:r>
              <a:rPr lang="en-US" altLang="zh-CN" sz="28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rPr>
              <a:t>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&amp;&amp; p-&gt;data!=x) p=p-&gt;next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593725" indent="-514350">
              <a:buFont typeface="Wingdings" panose="05000000000000000000" pitchFamily="2" charset="2"/>
              <a:buChar char="Ø"/>
            </a:pP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插入时，</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首先指向了首结点</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p=head-&gt;next </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，应该指向头结点</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p=head </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593725" indent="-514350">
              <a:buFont typeface="Wingdings" panose="05000000000000000000" pitchFamily="2" charset="2"/>
              <a:buChar char="Ø"/>
            </a:pP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593725" indent="-514350">
              <a:buFont typeface="Wingdings" panose="05000000000000000000" pitchFamily="2" charset="2"/>
              <a:buChar char="Ø"/>
            </a:pP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593725" indent="-514350">
              <a:buFont typeface="Wingdings" panose="05000000000000000000" pitchFamily="2" charset="2"/>
              <a:buChar char="Ø"/>
            </a:pP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593725" indent="-514350">
              <a:buFont typeface="Wingdings" panose="05000000000000000000" pitchFamily="2" charset="2"/>
              <a:buChar char="Ø"/>
            </a:pP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593725" indent="-514350">
              <a:buFont typeface="Wingdings" panose="05000000000000000000" pitchFamily="2" charset="2"/>
              <a:buChar char="Ø"/>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原本指向了一个结点，但其指向的结点空间已经释放，仍要读取其所指结点的字段。如</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p=head; delete p; p=</a:t>
            </a:r>
            <a:r>
              <a:rPr lang="en-US" altLang="zh-CN" sz="28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rPr>
              <a:t>p-&gt;next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536575" indent="0"/>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p-&gt;next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非法访问了不能访问的内存空间</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1600" dirty="0">
              <a:latin typeface="Times New Roman" panose="02020603050405020304" pitchFamily="18" charset="0"/>
              <a:ea typeface="华文楷体" panose="02010600040101010101" pitchFamily="2" charset="-122"/>
              <a:cs typeface="Times New Roman" panose="02020603050405020304" pitchFamily="18" charset="0"/>
            </a:endParaRPr>
          </a:p>
          <a:p>
            <a:pPr marL="536575" indent="0"/>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536575" indent="0"/>
            <a:endParaRPr lang="zh-CN" altLang="zh-CN"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1" name="图片 10"/>
          <p:cNvPicPr>
            <a:picLocks noChangeAspect="1"/>
          </p:cNvPicPr>
          <p:nvPr/>
        </p:nvPicPr>
        <p:blipFill>
          <a:blip r:embed="rId1"/>
          <a:stretch>
            <a:fillRect/>
          </a:stretch>
        </p:blipFill>
        <p:spPr>
          <a:xfrm>
            <a:off x="900181" y="3309693"/>
            <a:ext cx="7257278" cy="1319505"/>
          </a:xfrm>
          <a:prstGeom prst="rect">
            <a:avLst/>
          </a:prstGeom>
        </p:spPr>
      </p:pic>
    </p:spTree>
  </p:cSld>
  <p:clrMapOvr>
    <a:masterClrMapping/>
  </p:clrMapOvr>
  <p:transition spd="med">
    <p:push/>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627" name="Rectangle 3"/>
          <p:cNvSpPr>
            <a:spLocks noGrp="1" noChangeArrowheads="1"/>
          </p:cNvSpPr>
          <p:nvPr>
            <p:ph idx="1"/>
          </p:nvPr>
        </p:nvSpPr>
        <p:spPr>
          <a:xfrm>
            <a:off x="617902" y="1674465"/>
            <a:ext cx="10540635" cy="750684"/>
          </a:xfrm>
        </p:spPr>
        <p:txBody>
          <a:bodyPr>
            <a:normAutofit fontScale="32500" lnSpcReduction="20000"/>
          </a:bodyPr>
          <a:lstStyle/>
          <a:p>
            <a:pPr marL="0" indent="0">
              <a:buFontTx/>
              <a:buNone/>
            </a:pPr>
            <a:r>
              <a:rPr lang="zh-CN" altLang="en-US" sz="11200" dirty="0">
                <a:latin typeface="华文楷体" panose="02010600040101010101" pitchFamily="2" charset="-122"/>
                <a:ea typeface="华文楷体" panose="02010600040101010101" pitchFamily="2" charset="-122"/>
              </a:rPr>
              <a:t>练习：输出链表中倒数第</a:t>
            </a:r>
            <a:r>
              <a:rPr lang="en-US" altLang="zh-CN" sz="11200" dirty="0">
                <a:latin typeface="华文楷体" panose="02010600040101010101" pitchFamily="2" charset="-122"/>
                <a:ea typeface="华文楷体" panose="02010600040101010101" pitchFamily="2" charset="-122"/>
              </a:rPr>
              <a:t>K</a:t>
            </a:r>
            <a:r>
              <a:rPr lang="zh-CN" altLang="en-US" sz="11200" dirty="0">
                <a:latin typeface="华文楷体" panose="02010600040101010101" pitchFamily="2" charset="-122"/>
                <a:ea typeface="华文楷体" panose="02010600040101010101" pitchFamily="2" charset="-122"/>
              </a:rPr>
              <a:t>个元素的值   </a:t>
            </a:r>
            <a:r>
              <a:rPr lang="zh-CN" altLang="en-US" sz="11200" dirty="0">
                <a:solidFill>
                  <a:srgbClr val="FF0000"/>
                </a:solidFill>
                <a:latin typeface="华文楷体" panose="02010600040101010101" pitchFamily="2" charset="-122"/>
                <a:ea typeface="华文楷体" panose="02010600040101010101" pitchFamily="2" charset="-122"/>
              </a:rPr>
              <a:t>思考！</a:t>
            </a:r>
            <a:endParaRPr lang="en-US" altLang="zh-CN" sz="11200" dirty="0">
              <a:solidFill>
                <a:srgbClr val="FF0000"/>
              </a:solidFill>
              <a:latin typeface="华文楷体" panose="02010600040101010101" pitchFamily="2" charset="-122"/>
              <a:ea typeface="华文楷体" panose="02010600040101010101" pitchFamily="2" charset="-122"/>
            </a:endParaRPr>
          </a:p>
        </p:txBody>
      </p:sp>
      <p:sp>
        <p:nvSpPr>
          <p:cNvPr id="6" name="Rectangle 6"/>
          <p:cNvSpPr>
            <a:spLocks noChangeArrowheads="1"/>
          </p:cNvSpPr>
          <p:nvPr/>
        </p:nvSpPr>
        <p:spPr bwMode="auto">
          <a:xfrm>
            <a:off x="2112038" y="3536142"/>
            <a:ext cx="447675" cy="503237"/>
          </a:xfrm>
          <a:prstGeom prst="rect">
            <a:avLst/>
          </a:prstGeom>
          <a:solidFill>
            <a:srgbClr val="C0C0C0"/>
          </a:solidFill>
          <a:ln w="19050">
            <a:solidFill>
              <a:schemeClr val="tx1"/>
            </a:solidFill>
            <a:miter lim="800000"/>
          </a:ln>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b="1">
              <a:ea typeface="楷体_GB2312" pitchFamily="49" charset="-122"/>
            </a:endParaRPr>
          </a:p>
        </p:txBody>
      </p:sp>
      <p:sp>
        <p:nvSpPr>
          <p:cNvPr id="7" name="Rectangle 7"/>
          <p:cNvSpPr>
            <a:spLocks noChangeArrowheads="1"/>
          </p:cNvSpPr>
          <p:nvPr/>
        </p:nvSpPr>
        <p:spPr bwMode="auto">
          <a:xfrm>
            <a:off x="2559713" y="3536142"/>
            <a:ext cx="450850" cy="503237"/>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nvGrpSpPr>
          <p:cNvPr id="8" name="Group 8"/>
          <p:cNvGrpSpPr/>
          <p:nvPr/>
        </p:nvGrpSpPr>
        <p:grpSpPr bwMode="auto">
          <a:xfrm>
            <a:off x="3682075" y="3536142"/>
            <a:ext cx="896938" cy="503237"/>
            <a:chOff x="4680" y="5028"/>
            <a:chExt cx="720" cy="312"/>
          </a:xfrm>
        </p:grpSpPr>
        <p:sp>
          <p:nvSpPr>
            <p:cNvPr id="9" name="Rectangle 9"/>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0" name="Rectangle 10"/>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11" name="Group 11"/>
          <p:cNvGrpSpPr/>
          <p:nvPr/>
        </p:nvGrpSpPr>
        <p:grpSpPr bwMode="auto">
          <a:xfrm>
            <a:off x="6818975" y="3536142"/>
            <a:ext cx="898525" cy="503237"/>
            <a:chOff x="4680" y="5028"/>
            <a:chExt cx="720" cy="312"/>
          </a:xfrm>
        </p:grpSpPr>
        <p:sp>
          <p:nvSpPr>
            <p:cNvPr id="12" name="Rectangle 12"/>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3" name="Rectangle 13"/>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14" name="Group 14"/>
          <p:cNvGrpSpPr/>
          <p:nvPr/>
        </p:nvGrpSpPr>
        <p:grpSpPr bwMode="auto">
          <a:xfrm>
            <a:off x="9062113" y="3536142"/>
            <a:ext cx="896937" cy="503237"/>
            <a:chOff x="4680" y="5028"/>
            <a:chExt cx="720" cy="312"/>
          </a:xfrm>
        </p:grpSpPr>
        <p:sp>
          <p:nvSpPr>
            <p:cNvPr id="15" name="Rectangle 15"/>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6" name="Rectangle 16"/>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lIns="0" tIns="28346" rIns="0" bIns="28346"/>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endParaRPr lang="zh-CN" altLang="zh-CN" sz="2800" b="1">
                <a:ea typeface="楷体_GB2312" pitchFamily="49" charset="-122"/>
              </a:endParaRPr>
            </a:p>
          </p:txBody>
        </p:sp>
      </p:grpSp>
      <p:grpSp>
        <p:nvGrpSpPr>
          <p:cNvPr id="17" name="Group 17"/>
          <p:cNvGrpSpPr/>
          <p:nvPr/>
        </p:nvGrpSpPr>
        <p:grpSpPr bwMode="auto">
          <a:xfrm>
            <a:off x="5252113" y="3536142"/>
            <a:ext cx="893762" cy="503237"/>
            <a:chOff x="4680" y="5028"/>
            <a:chExt cx="720" cy="312"/>
          </a:xfrm>
        </p:grpSpPr>
        <p:sp>
          <p:nvSpPr>
            <p:cNvPr id="18" name="Rectangle 18"/>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9" name="Rectangle 19"/>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sp>
        <p:nvSpPr>
          <p:cNvPr id="20" name="Line 20"/>
          <p:cNvSpPr>
            <a:spLocks noChangeShapeType="1"/>
          </p:cNvSpPr>
          <p:nvPr/>
        </p:nvSpPr>
        <p:spPr bwMode="auto">
          <a:xfrm>
            <a:off x="2785138" y="3786967"/>
            <a:ext cx="896937"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21"/>
          <p:cNvSpPr>
            <a:spLocks noChangeShapeType="1"/>
          </p:cNvSpPr>
          <p:nvPr/>
        </p:nvSpPr>
        <p:spPr bwMode="auto">
          <a:xfrm>
            <a:off x="4579013" y="3786967"/>
            <a:ext cx="673100"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Line 22"/>
          <p:cNvSpPr>
            <a:spLocks noChangeShapeType="1"/>
          </p:cNvSpPr>
          <p:nvPr/>
        </p:nvSpPr>
        <p:spPr bwMode="auto">
          <a:xfrm>
            <a:off x="5925213" y="3786967"/>
            <a:ext cx="893762"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Line 23"/>
          <p:cNvSpPr>
            <a:spLocks noChangeShapeType="1"/>
          </p:cNvSpPr>
          <p:nvPr/>
        </p:nvSpPr>
        <p:spPr bwMode="auto">
          <a:xfrm>
            <a:off x="7492075" y="3786967"/>
            <a:ext cx="449263"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Line 24"/>
          <p:cNvSpPr>
            <a:spLocks noChangeShapeType="1"/>
          </p:cNvSpPr>
          <p:nvPr/>
        </p:nvSpPr>
        <p:spPr bwMode="auto">
          <a:xfrm>
            <a:off x="8616025" y="3786967"/>
            <a:ext cx="446088"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 name="Text Box 25"/>
          <p:cNvSpPr txBox="1">
            <a:spLocks noChangeArrowheads="1"/>
          </p:cNvSpPr>
          <p:nvPr/>
        </p:nvSpPr>
        <p:spPr bwMode="auto">
          <a:xfrm>
            <a:off x="3740813" y="3598054"/>
            <a:ext cx="341312"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19</a:t>
            </a:r>
            <a:endParaRPr lang="en-US" altLang="zh-CN" sz="2400" b="1" dirty="0">
              <a:ea typeface="楷体_GB2312" pitchFamily="49" charset="-122"/>
            </a:endParaRPr>
          </a:p>
        </p:txBody>
      </p:sp>
      <p:sp>
        <p:nvSpPr>
          <p:cNvPr id="26" name="Text Box 26"/>
          <p:cNvSpPr txBox="1">
            <a:spLocks noChangeArrowheads="1"/>
          </p:cNvSpPr>
          <p:nvPr/>
        </p:nvSpPr>
        <p:spPr bwMode="auto">
          <a:xfrm>
            <a:off x="5342600" y="3598054"/>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72</a:t>
            </a:r>
            <a:endParaRPr lang="en-US" altLang="zh-CN" sz="2400" b="1" dirty="0">
              <a:ea typeface="楷体_GB2312" pitchFamily="49" charset="-122"/>
            </a:endParaRPr>
          </a:p>
        </p:txBody>
      </p:sp>
      <p:sp>
        <p:nvSpPr>
          <p:cNvPr id="27" name="Text Box 27"/>
          <p:cNvSpPr txBox="1">
            <a:spLocks noChangeArrowheads="1"/>
          </p:cNvSpPr>
          <p:nvPr/>
        </p:nvSpPr>
        <p:spPr bwMode="auto">
          <a:xfrm>
            <a:off x="9079575" y="3577417"/>
            <a:ext cx="48260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1</a:t>
            </a:r>
            <a:endParaRPr lang="en-US" altLang="zh-CN" sz="2400" b="1" dirty="0">
              <a:ea typeface="楷体_GB2312" pitchFamily="49" charset="-122"/>
            </a:endParaRPr>
          </a:p>
        </p:txBody>
      </p:sp>
      <p:sp>
        <p:nvSpPr>
          <p:cNvPr id="28" name="Text Box 28"/>
          <p:cNvSpPr txBox="1">
            <a:spLocks noChangeArrowheads="1"/>
          </p:cNvSpPr>
          <p:nvPr/>
        </p:nvSpPr>
        <p:spPr bwMode="auto">
          <a:xfrm>
            <a:off x="6857075" y="3598054"/>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sp>
        <p:nvSpPr>
          <p:cNvPr id="29" name="Text Box 29"/>
          <p:cNvSpPr txBox="1">
            <a:spLocks noChangeArrowheads="1"/>
          </p:cNvSpPr>
          <p:nvPr/>
        </p:nvSpPr>
        <p:spPr bwMode="auto">
          <a:xfrm>
            <a:off x="9519313" y="3607579"/>
            <a:ext cx="3397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grpSp>
        <p:nvGrpSpPr>
          <p:cNvPr id="30" name="Group 30"/>
          <p:cNvGrpSpPr/>
          <p:nvPr/>
        </p:nvGrpSpPr>
        <p:grpSpPr bwMode="auto">
          <a:xfrm>
            <a:off x="2112038" y="2528078"/>
            <a:ext cx="896937" cy="1006477"/>
            <a:chOff x="2157" y="2844"/>
            <a:chExt cx="900" cy="780"/>
          </a:xfrm>
        </p:grpSpPr>
        <p:sp>
          <p:nvSpPr>
            <p:cNvPr id="31" name="Text Box 31"/>
            <p:cNvSpPr txBox="1">
              <a:spLocks noChangeArrowheads="1"/>
            </p:cNvSpPr>
            <p:nvPr/>
          </p:nvSpPr>
          <p:spPr bwMode="auto">
            <a:xfrm>
              <a:off x="2157" y="2844"/>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head</a:t>
              </a:r>
              <a:endParaRPr lang="en-US" altLang="zh-CN" sz="2400" b="1">
                <a:ea typeface="楷体_GB2312" pitchFamily="49" charset="-122"/>
              </a:endParaRPr>
            </a:p>
          </p:txBody>
        </p:sp>
        <p:sp>
          <p:nvSpPr>
            <p:cNvPr id="32" name="Line 32"/>
            <p:cNvSpPr>
              <a:spLocks noChangeShapeType="1"/>
            </p:cNvSpPr>
            <p:nvPr/>
          </p:nvSpPr>
          <p:spPr bwMode="auto">
            <a:xfrm>
              <a:off x="2520" y="3312"/>
              <a:ext cx="0" cy="312"/>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3" name="Text Box 34"/>
          <p:cNvSpPr txBox="1">
            <a:spLocks noChangeArrowheads="1"/>
          </p:cNvSpPr>
          <p:nvPr/>
        </p:nvSpPr>
        <p:spPr bwMode="auto">
          <a:xfrm>
            <a:off x="2112038" y="4112404"/>
            <a:ext cx="935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1800" b="1">
                <a:latin typeface="Garamond" panose="02020404030301010803" pitchFamily="18" charset="0"/>
              </a:rPr>
              <a:t>头结点</a:t>
            </a:r>
            <a:endParaRPr kumimoji="0" lang="zh-CN" altLang="en-US" sz="1800" b="1">
              <a:latin typeface="Garamond" panose="02020404030301010803" pitchFamily="18" charset="0"/>
            </a:endParaRPr>
          </a:p>
        </p:txBody>
      </p:sp>
      <p:sp>
        <p:nvSpPr>
          <p:cNvPr id="34" name="Text Box 35"/>
          <p:cNvSpPr txBox="1">
            <a:spLocks noChangeArrowheads="1"/>
          </p:cNvSpPr>
          <p:nvPr/>
        </p:nvSpPr>
        <p:spPr bwMode="auto">
          <a:xfrm>
            <a:off x="3623338" y="4112404"/>
            <a:ext cx="935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1800" b="1">
                <a:latin typeface="Garamond" panose="02020404030301010803" pitchFamily="18" charset="0"/>
              </a:rPr>
              <a:t>首结点</a:t>
            </a:r>
            <a:endParaRPr kumimoji="0" lang="zh-CN" altLang="en-US" sz="1800" b="1">
              <a:latin typeface="Garamond" panose="02020404030301010803" pitchFamily="18" charset="0"/>
            </a:endParaRPr>
          </a:p>
        </p:txBody>
      </p:sp>
    </p:spTree>
  </p:cSld>
  <p:clrMapOvr>
    <a:masterClrMapping/>
  </p:clrMapOvr>
  <p:transition spd="med">
    <p:push/>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627" name="Rectangle 3"/>
          <p:cNvSpPr>
            <a:spLocks noGrp="1" noChangeArrowheads="1"/>
          </p:cNvSpPr>
          <p:nvPr>
            <p:ph idx="1"/>
          </p:nvPr>
        </p:nvSpPr>
        <p:spPr>
          <a:xfrm>
            <a:off x="1004006" y="3512462"/>
            <a:ext cx="10540635" cy="688476"/>
          </a:xfrm>
        </p:spPr>
        <p:txBody>
          <a:bodyPr>
            <a:normAutofit fontScale="32500" lnSpcReduction="20000"/>
          </a:bodyPr>
          <a:lstStyle/>
          <a:p>
            <a:pPr marL="0" indent="0">
              <a:buFontTx/>
              <a:buNone/>
            </a:pPr>
            <a:r>
              <a:rPr lang="zh-CN" altLang="en-US" sz="11200" dirty="0">
                <a:solidFill>
                  <a:srgbClr val="FF0000"/>
                </a:solidFill>
                <a:latin typeface="华文楷体" panose="02010600040101010101" pitchFamily="2" charset="-122"/>
                <a:ea typeface="华文楷体" panose="02010600040101010101" pitchFamily="2" charset="-122"/>
              </a:rPr>
              <a:t>思路讨论？</a:t>
            </a:r>
            <a:endParaRPr lang="en-US" altLang="zh-CN" sz="11200" dirty="0">
              <a:solidFill>
                <a:srgbClr val="FF0000"/>
              </a:solidFill>
              <a:latin typeface="华文楷体" panose="02010600040101010101" pitchFamily="2" charset="-122"/>
              <a:ea typeface="华文楷体" panose="02010600040101010101" pitchFamily="2" charset="-122"/>
            </a:endParaRPr>
          </a:p>
          <a:p>
            <a:pPr marL="0" indent="0">
              <a:buFontTx/>
              <a:buNone/>
            </a:pPr>
            <a:endParaRPr lang="en-US" altLang="zh-CN" sz="11200" dirty="0">
              <a:solidFill>
                <a:srgbClr val="FF0000"/>
              </a:solidFill>
              <a:latin typeface="华文楷体" panose="02010600040101010101" pitchFamily="2" charset="-122"/>
              <a:ea typeface="华文楷体" panose="02010600040101010101" pitchFamily="2" charset="-122"/>
            </a:endParaRPr>
          </a:p>
        </p:txBody>
      </p:sp>
      <p:sp>
        <p:nvSpPr>
          <p:cNvPr id="6" name="Rectangle 6"/>
          <p:cNvSpPr>
            <a:spLocks noChangeArrowheads="1"/>
          </p:cNvSpPr>
          <p:nvPr/>
        </p:nvSpPr>
        <p:spPr bwMode="auto">
          <a:xfrm>
            <a:off x="1118124" y="2244051"/>
            <a:ext cx="447675" cy="503237"/>
          </a:xfrm>
          <a:prstGeom prst="rect">
            <a:avLst/>
          </a:prstGeom>
          <a:solidFill>
            <a:srgbClr val="C0C0C0"/>
          </a:solidFill>
          <a:ln w="19050">
            <a:solidFill>
              <a:schemeClr val="tx1"/>
            </a:solidFill>
            <a:miter lim="800000"/>
          </a:ln>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b="1">
              <a:ea typeface="楷体_GB2312" pitchFamily="49" charset="-122"/>
            </a:endParaRPr>
          </a:p>
        </p:txBody>
      </p:sp>
      <p:sp>
        <p:nvSpPr>
          <p:cNvPr id="7" name="Rectangle 7"/>
          <p:cNvSpPr>
            <a:spLocks noChangeArrowheads="1"/>
          </p:cNvSpPr>
          <p:nvPr/>
        </p:nvSpPr>
        <p:spPr bwMode="auto">
          <a:xfrm>
            <a:off x="1565799" y="2244051"/>
            <a:ext cx="450850" cy="503237"/>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nvGrpSpPr>
          <p:cNvPr id="8" name="Group 8"/>
          <p:cNvGrpSpPr/>
          <p:nvPr/>
        </p:nvGrpSpPr>
        <p:grpSpPr bwMode="auto">
          <a:xfrm>
            <a:off x="2688161" y="2244051"/>
            <a:ext cx="896938" cy="503237"/>
            <a:chOff x="4680" y="5028"/>
            <a:chExt cx="720" cy="312"/>
          </a:xfrm>
        </p:grpSpPr>
        <p:sp>
          <p:nvSpPr>
            <p:cNvPr id="9" name="Rectangle 9"/>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0" name="Rectangle 10"/>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11" name="Group 11"/>
          <p:cNvGrpSpPr/>
          <p:nvPr/>
        </p:nvGrpSpPr>
        <p:grpSpPr bwMode="auto">
          <a:xfrm>
            <a:off x="5825061" y="2244051"/>
            <a:ext cx="898525" cy="503237"/>
            <a:chOff x="4680" y="5028"/>
            <a:chExt cx="720" cy="312"/>
          </a:xfrm>
        </p:grpSpPr>
        <p:sp>
          <p:nvSpPr>
            <p:cNvPr id="12" name="Rectangle 12"/>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3" name="Rectangle 13"/>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14" name="Group 14"/>
          <p:cNvGrpSpPr/>
          <p:nvPr/>
        </p:nvGrpSpPr>
        <p:grpSpPr bwMode="auto">
          <a:xfrm>
            <a:off x="8068199" y="2244051"/>
            <a:ext cx="896937" cy="503237"/>
            <a:chOff x="4680" y="5028"/>
            <a:chExt cx="720" cy="312"/>
          </a:xfrm>
        </p:grpSpPr>
        <p:sp>
          <p:nvSpPr>
            <p:cNvPr id="15" name="Rectangle 15"/>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6" name="Rectangle 16"/>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lIns="0" tIns="28346" rIns="0" bIns="28346"/>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endParaRPr lang="zh-CN" altLang="zh-CN" sz="2800" b="1">
                <a:ea typeface="楷体_GB2312" pitchFamily="49" charset="-122"/>
              </a:endParaRPr>
            </a:p>
          </p:txBody>
        </p:sp>
      </p:grpSp>
      <p:grpSp>
        <p:nvGrpSpPr>
          <p:cNvPr id="17" name="Group 17"/>
          <p:cNvGrpSpPr/>
          <p:nvPr/>
        </p:nvGrpSpPr>
        <p:grpSpPr bwMode="auto">
          <a:xfrm>
            <a:off x="4258199" y="2244051"/>
            <a:ext cx="893762" cy="503237"/>
            <a:chOff x="4680" y="5028"/>
            <a:chExt cx="720" cy="312"/>
          </a:xfrm>
        </p:grpSpPr>
        <p:sp>
          <p:nvSpPr>
            <p:cNvPr id="18" name="Rectangle 18"/>
            <p:cNvSpPr>
              <a:spLocks noChangeArrowheads="1"/>
            </p:cNvSpPr>
            <p:nvPr/>
          </p:nvSpPr>
          <p:spPr bwMode="auto">
            <a:xfrm>
              <a:off x="468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9" name="Rectangle 19"/>
            <p:cNvSpPr>
              <a:spLocks noChangeArrowheads="1"/>
            </p:cNvSpPr>
            <p:nvPr/>
          </p:nvSpPr>
          <p:spPr bwMode="auto">
            <a:xfrm>
              <a:off x="5040" y="5028"/>
              <a:ext cx="360" cy="31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sp>
        <p:nvSpPr>
          <p:cNvPr id="20" name="Line 20"/>
          <p:cNvSpPr>
            <a:spLocks noChangeShapeType="1"/>
          </p:cNvSpPr>
          <p:nvPr/>
        </p:nvSpPr>
        <p:spPr bwMode="auto">
          <a:xfrm>
            <a:off x="1791224" y="2494876"/>
            <a:ext cx="896937"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21"/>
          <p:cNvSpPr>
            <a:spLocks noChangeShapeType="1"/>
          </p:cNvSpPr>
          <p:nvPr/>
        </p:nvSpPr>
        <p:spPr bwMode="auto">
          <a:xfrm>
            <a:off x="3585099" y="2494876"/>
            <a:ext cx="673100"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Line 22"/>
          <p:cNvSpPr>
            <a:spLocks noChangeShapeType="1"/>
          </p:cNvSpPr>
          <p:nvPr/>
        </p:nvSpPr>
        <p:spPr bwMode="auto">
          <a:xfrm>
            <a:off x="4931299" y="2494876"/>
            <a:ext cx="893762"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Line 23"/>
          <p:cNvSpPr>
            <a:spLocks noChangeShapeType="1"/>
          </p:cNvSpPr>
          <p:nvPr/>
        </p:nvSpPr>
        <p:spPr bwMode="auto">
          <a:xfrm>
            <a:off x="6498161" y="2494876"/>
            <a:ext cx="449263"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Line 24"/>
          <p:cNvSpPr>
            <a:spLocks noChangeShapeType="1"/>
          </p:cNvSpPr>
          <p:nvPr/>
        </p:nvSpPr>
        <p:spPr bwMode="auto">
          <a:xfrm>
            <a:off x="7622111" y="2494876"/>
            <a:ext cx="446088"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 name="Text Box 25"/>
          <p:cNvSpPr txBox="1">
            <a:spLocks noChangeArrowheads="1"/>
          </p:cNvSpPr>
          <p:nvPr/>
        </p:nvSpPr>
        <p:spPr bwMode="auto">
          <a:xfrm>
            <a:off x="2746899" y="2305963"/>
            <a:ext cx="341312"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19</a:t>
            </a:r>
            <a:endParaRPr lang="en-US" altLang="zh-CN" sz="2400" b="1" dirty="0">
              <a:ea typeface="楷体_GB2312" pitchFamily="49" charset="-122"/>
            </a:endParaRPr>
          </a:p>
        </p:txBody>
      </p:sp>
      <p:sp>
        <p:nvSpPr>
          <p:cNvPr id="26" name="Text Box 26"/>
          <p:cNvSpPr txBox="1">
            <a:spLocks noChangeArrowheads="1"/>
          </p:cNvSpPr>
          <p:nvPr/>
        </p:nvSpPr>
        <p:spPr bwMode="auto">
          <a:xfrm>
            <a:off x="4348686" y="2305963"/>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72</a:t>
            </a:r>
            <a:endParaRPr lang="en-US" altLang="zh-CN" sz="2400" b="1" dirty="0">
              <a:ea typeface="楷体_GB2312" pitchFamily="49" charset="-122"/>
            </a:endParaRPr>
          </a:p>
        </p:txBody>
      </p:sp>
      <p:sp>
        <p:nvSpPr>
          <p:cNvPr id="27" name="Text Box 27"/>
          <p:cNvSpPr txBox="1">
            <a:spLocks noChangeArrowheads="1"/>
          </p:cNvSpPr>
          <p:nvPr/>
        </p:nvSpPr>
        <p:spPr bwMode="auto">
          <a:xfrm>
            <a:off x="8085661" y="2285326"/>
            <a:ext cx="48260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1</a:t>
            </a:r>
            <a:endParaRPr lang="en-US" altLang="zh-CN" sz="2400" b="1" dirty="0">
              <a:ea typeface="楷体_GB2312" pitchFamily="49" charset="-122"/>
            </a:endParaRPr>
          </a:p>
        </p:txBody>
      </p:sp>
      <p:sp>
        <p:nvSpPr>
          <p:cNvPr id="28" name="Text Box 28"/>
          <p:cNvSpPr txBox="1">
            <a:spLocks noChangeArrowheads="1"/>
          </p:cNvSpPr>
          <p:nvPr/>
        </p:nvSpPr>
        <p:spPr bwMode="auto">
          <a:xfrm>
            <a:off x="5863161" y="2305963"/>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sp>
        <p:nvSpPr>
          <p:cNvPr id="29" name="Text Box 29"/>
          <p:cNvSpPr txBox="1">
            <a:spLocks noChangeArrowheads="1"/>
          </p:cNvSpPr>
          <p:nvPr/>
        </p:nvSpPr>
        <p:spPr bwMode="auto">
          <a:xfrm>
            <a:off x="8525399" y="2315488"/>
            <a:ext cx="3397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grpSp>
        <p:nvGrpSpPr>
          <p:cNvPr id="30" name="Group 30"/>
          <p:cNvGrpSpPr/>
          <p:nvPr/>
        </p:nvGrpSpPr>
        <p:grpSpPr bwMode="auto">
          <a:xfrm>
            <a:off x="1118124" y="1235987"/>
            <a:ext cx="896937" cy="1006477"/>
            <a:chOff x="2157" y="2844"/>
            <a:chExt cx="900" cy="780"/>
          </a:xfrm>
        </p:grpSpPr>
        <p:sp>
          <p:nvSpPr>
            <p:cNvPr id="31" name="Text Box 31"/>
            <p:cNvSpPr txBox="1">
              <a:spLocks noChangeArrowheads="1"/>
            </p:cNvSpPr>
            <p:nvPr/>
          </p:nvSpPr>
          <p:spPr bwMode="auto">
            <a:xfrm>
              <a:off x="2157" y="2844"/>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head</a:t>
              </a:r>
              <a:endParaRPr lang="en-US" altLang="zh-CN" sz="2400" b="1">
                <a:ea typeface="楷体_GB2312" pitchFamily="49" charset="-122"/>
              </a:endParaRPr>
            </a:p>
          </p:txBody>
        </p:sp>
        <p:sp>
          <p:nvSpPr>
            <p:cNvPr id="32" name="Line 32"/>
            <p:cNvSpPr>
              <a:spLocks noChangeShapeType="1"/>
            </p:cNvSpPr>
            <p:nvPr/>
          </p:nvSpPr>
          <p:spPr bwMode="auto">
            <a:xfrm>
              <a:off x="2520" y="3312"/>
              <a:ext cx="0" cy="312"/>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3" name="Text Box 34"/>
          <p:cNvSpPr txBox="1">
            <a:spLocks noChangeArrowheads="1"/>
          </p:cNvSpPr>
          <p:nvPr/>
        </p:nvSpPr>
        <p:spPr bwMode="auto">
          <a:xfrm>
            <a:off x="1118124" y="2820313"/>
            <a:ext cx="935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1800" b="1">
                <a:latin typeface="Garamond" panose="02020404030301010803" pitchFamily="18" charset="0"/>
              </a:rPr>
              <a:t>头结点</a:t>
            </a:r>
            <a:endParaRPr kumimoji="0" lang="zh-CN" altLang="en-US" sz="1800" b="1">
              <a:latin typeface="Garamond" panose="02020404030301010803" pitchFamily="18" charset="0"/>
            </a:endParaRPr>
          </a:p>
        </p:txBody>
      </p:sp>
      <p:sp>
        <p:nvSpPr>
          <p:cNvPr id="34" name="Text Box 35"/>
          <p:cNvSpPr txBox="1">
            <a:spLocks noChangeArrowheads="1"/>
          </p:cNvSpPr>
          <p:nvPr/>
        </p:nvSpPr>
        <p:spPr bwMode="auto">
          <a:xfrm>
            <a:off x="2629424" y="2820313"/>
            <a:ext cx="935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1800" b="1">
                <a:latin typeface="Garamond" panose="02020404030301010803" pitchFamily="18" charset="0"/>
              </a:rPr>
              <a:t>首结点</a:t>
            </a:r>
            <a:endParaRPr kumimoji="0" lang="zh-CN" altLang="en-US" sz="1800" b="1">
              <a:latin typeface="Garamond" panose="02020404030301010803" pitchFamily="18" charset="0"/>
            </a:endParaRPr>
          </a:p>
        </p:txBody>
      </p:sp>
      <p:sp>
        <p:nvSpPr>
          <p:cNvPr id="3" name="文本框 2"/>
          <p:cNvSpPr txBox="1"/>
          <p:nvPr/>
        </p:nvSpPr>
        <p:spPr>
          <a:xfrm>
            <a:off x="7622111" y="4200938"/>
            <a:ext cx="3922530" cy="1384995"/>
          </a:xfrm>
          <a:prstGeom prst="rect">
            <a:avLst/>
          </a:prstGeom>
          <a:noFill/>
        </p:spPr>
        <p:txBody>
          <a:bodyPr wrap="square" rtlCol="0">
            <a:spAutoFit/>
          </a:bodyPr>
          <a:lstStyle/>
          <a:p>
            <a:r>
              <a:rPr lang="zh-CN" altLang="en-US" sz="2800" dirty="0">
                <a:solidFill>
                  <a:schemeClr val="accent1"/>
                </a:solidFill>
              </a:rPr>
              <a:t>两种解决方案：</a:t>
            </a:r>
            <a:endParaRPr lang="en-US" altLang="zh-CN" sz="2800" dirty="0">
              <a:solidFill>
                <a:schemeClr val="accent1"/>
              </a:solidFill>
            </a:endParaRPr>
          </a:p>
          <a:p>
            <a:r>
              <a:rPr lang="en-US" altLang="zh-CN" sz="2800" dirty="0">
                <a:solidFill>
                  <a:schemeClr val="accent1"/>
                </a:solidFill>
              </a:rPr>
              <a:t>1</a:t>
            </a:r>
            <a:r>
              <a:rPr lang="zh-CN" altLang="en-US" sz="2800" dirty="0">
                <a:solidFill>
                  <a:schemeClr val="accent1"/>
                </a:solidFill>
              </a:rPr>
              <a:t>、数完，算</a:t>
            </a:r>
            <a:r>
              <a:rPr lang="en-US" altLang="zh-CN" sz="2800" dirty="0">
                <a:solidFill>
                  <a:schemeClr val="accent1"/>
                </a:solidFill>
              </a:rPr>
              <a:t>n-k</a:t>
            </a:r>
            <a:endParaRPr lang="en-US" altLang="zh-CN" sz="2800" dirty="0">
              <a:solidFill>
                <a:schemeClr val="accent1"/>
              </a:solidFill>
            </a:endParaRPr>
          </a:p>
          <a:p>
            <a:r>
              <a:rPr lang="en-US" altLang="zh-CN" sz="2800" dirty="0">
                <a:solidFill>
                  <a:schemeClr val="accent1"/>
                </a:solidFill>
              </a:rPr>
              <a:t>2</a:t>
            </a:r>
            <a:r>
              <a:rPr lang="zh-CN" altLang="en-US" sz="2800" dirty="0">
                <a:solidFill>
                  <a:schemeClr val="accent1"/>
                </a:solidFill>
              </a:rPr>
              <a:t>、两个指针一前一后</a:t>
            </a:r>
            <a:endParaRPr lang="zh-CN" altLang="en-US" sz="2800" dirty="0">
              <a:solidFill>
                <a:schemeClr val="accent1"/>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558862"/>
            <a:ext cx="11162883" cy="667503"/>
          </a:xfrm>
        </p:spPr>
        <p:txBody>
          <a:bodyPr>
            <a:normAutofit/>
          </a:bodyPr>
          <a:lstStyle/>
          <a:p>
            <a:pPr marL="0" indent="0">
              <a:lnSpc>
                <a:spcPct val="115000"/>
              </a:lnSpc>
              <a:buNone/>
              <a:defRPr/>
            </a:pPr>
            <a:r>
              <a:rPr lang="zh-CN" altLang="en-US" sz="2800" b="0" dirty="0">
                <a:latin typeface="华文楷体" panose="02010600040101010101" pitchFamily="2" charset="-122"/>
                <a:ea typeface="华文楷体" panose="02010600040101010101" pitchFamily="2" charset="-122"/>
              </a:rPr>
              <a:t>末结点的</a:t>
            </a:r>
            <a:r>
              <a:rPr lang="en-US" altLang="zh-CN" sz="2800" b="0" dirty="0">
                <a:latin typeface="华文楷体" panose="02010600040101010101" pitchFamily="2" charset="-122"/>
                <a:ea typeface="华文楷体" panose="02010600040101010101" pitchFamily="2" charset="-122"/>
              </a:rPr>
              <a:t>next</a:t>
            </a:r>
            <a:r>
              <a:rPr lang="zh-CN" altLang="en-US" sz="2800" b="0" dirty="0">
                <a:latin typeface="华文楷体" panose="02010600040101010101" pitchFamily="2" charset="-122"/>
                <a:ea typeface="华文楷体" panose="02010600040101010101" pitchFamily="2" charset="-122"/>
              </a:rPr>
              <a:t>不再指向空，而是指向头结点。</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单循环链表</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898663" y="2456898"/>
            <a:ext cx="7132154" cy="988615"/>
          </a:xfrm>
          <a:prstGeom prst="rect">
            <a:avLst/>
          </a:prstGeom>
          <a:noFill/>
          <a:ln>
            <a:noFill/>
          </a:ln>
        </p:spPr>
      </p:pic>
      <p:sp>
        <p:nvSpPr>
          <p:cNvPr id="5" name="Rectangle 3"/>
          <p:cNvSpPr txBox="1">
            <a:spLocks noChangeArrowheads="1"/>
          </p:cNvSpPr>
          <p:nvPr/>
        </p:nvSpPr>
        <p:spPr>
          <a:xfrm>
            <a:off x="658699" y="3894531"/>
            <a:ext cx="11162883" cy="66750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buFont typeface="Wingdings" panose="05000000000000000000" pitchFamily="2" charset="2"/>
              <a:buNone/>
              <a:defRPr/>
            </a:pPr>
            <a:r>
              <a:rPr lang="zh-CN" altLang="en-US" sz="2800" b="0" dirty="0">
                <a:latin typeface="华文楷体" panose="02010600040101010101" pitchFamily="2" charset="-122"/>
                <a:ea typeface="华文楷体" panose="02010600040101010101" pitchFamily="2" charset="-122"/>
              </a:rPr>
              <a:t>空单向循环链表，只有头结点。</a:t>
            </a:r>
            <a:endParaRPr lang="en-US" altLang="zh-CN" sz="2800" b="0" dirty="0">
              <a:latin typeface="华文楷体" panose="02010600040101010101" pitchFamily="2" charset="-122"/>
              <a:ea typeface="华文楷体" panose="02010600040101010101" pitchFamily="2" charset="-122"/>
            </a:endParaRPr>
          </a:p>
        </p:txBody>
      </p:sp>
      <p:pic>
        <p:nvPicPr>
          <p:cNvPr id="6" name="图片 5"/>
          <p:cNvPicPr/>
          <p:nvPr/>
        </p:nvPicPr>
        <p:blipFill>
          <a:blip r:embed="rId2">
            <a:extLst>
              <a:ext uri="{28A0092B-C50C-407E-A947-70E740481C1C}">
                <a14:useLocalDpi xmlns:a14="http://schemas.microsoft.com/office/drawing/2010/main" val="0"/>
              </a:ext>
            </a:extLst>
          </a:blip>
          <a:srcRect/>
          <a:stretch>
            <a:fillRect/>
          </a:stretch>
        </p:blipFill>
        <p:spPr bwMode="auto">
          <a:xfrm>
            <a:off x="4087053" y="4712878"/>
            <a:ext cx="2611921" cy="872913"/>
          </a:xfrm>
          <a:prstGeom prst="rect">
            <a:avLst/>
          </a:prstGeom>
          <a:noFill/>
          <a:ln>
            <a:noFill/>
          </a:ln>
        </p:spPr>
      </p:pic>
      <p:sp>
        <p:nvSpPr>
          <p:cNvPr id="2" name="矩形 1"/>
          <p:cNvSpPr/>
          <p:nvPr/>
        </p:nvSpPr>
        <p:spPr>
          <a:xfrm>
            <a:off x="710464" y="5907034"/>
            <a:ext cx="10898439" cy="523220"/>
          </a:xfrm>
          <a:prstGeom prst="rect">
            <a:avLst/>
          </a:prstGeom>
        </p:spPr>
        <p:txBody>
          <a:bodyPr wrap="square">
            <a:spAutoFit/>
          </a:bodyPr>
          <a:lstStyle/>
          <a:p>
            <a:r>
              <a:rPr lang="zh-CN" altLang="zh-CN" sz="2800" b="1" dirty="0">
                <a:latin typeface="华文楷体" panose="02010600040101010101" pitchFamily="2" charset="-122"/>
                <a:ea typeface="华文楷体" panose="02010600040101010101" pitchFamily="2" charset="-122"/>
              </a:rPr>
              <a:t>优点</a:t>
            </a:r>
            <a:r>
              <a:rPr lang="zh-CN" altLang="en-US" sz="2800" b="1" dirty="0">
                <a:latin typeface="华文楷体" panose="02010600040101010101" pitchFamily="2" charset="-122"/>
                <a:ea typeface="华文楷体" panose="02010600040101010101" pitchFamily="2" charset="-122"/>
              </a:rPr>
              <a:t>：</a:t>
            </a:r>
            <a:r>
              <a:rPr lang="zh-CN" altLang="zh-CN" sz="2800" dirty="0">
                <a:latin typeface="华文楷体" panose="02010600040101010101" pitchFamily="2" charset="-122"/>
                <a:ea typeface="华文楷体" panose="02010600040101010101" pitchFamily="2" charset="-122"/>
              </a:rPr>
              <a:t>从表中任何一个结点出发，都可以顺</a:t>
            </a:r>
            <a:r>
              <a:rPr lang="en-US" altLang="zh-CN" sz="2800" dirty="0">
                <a:latin typeface="华文楷体" panose="02010600040101010101" pitchFamily="2" charset="-122"/>
                <a:ea typeface="华文楷体" panose="02010600040101010101" pitchFamily="2" charset="-122"/>
              </a:rPr>
              <a:t>next</a:t>
            </a:r>
            <a:r>
              <a:rPr lang="zh-CN" altLang="zh-CN" sz="2800" dirty="0">
                <a:latin typeface="华文楷体" panose="02010600040101010101" pitchFamily="2" charset="-122"/>
                <a:ea typeface="华文楷体" panose="02010600040101010101" pitchFamily="2" charset="-122"/>
              </a:rPr>
              <a:t>指针访问到所有结点。</a:t>
            </a:r>
            <a:endParaRPr lang="zh-CN" altLang="en-US" sz="28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558862"/>
            <a:ext cx="11162883" cy="667503"/>
          </a:xfrm>
        </p:spPr>
        <p:txBody>
          <a:bodyPr>
            <a:normAutofit/>
          </a:bodyPr>
          <a:lstStyle/>
          <a:p>
            <a:pPr marL="0" indent="0">
              <a:lnSpc>
                <a:spcPct val="115000"/>
              </a:lnSpc>
              <a:buNone/>
              <a:defRPr/>
            </a:pPr>
            <a:r>
              <a:rPr lang="zh-CN" altLang="en-US" sz="2800" b="0" dirty="0">
                <a:latin typeface="华文楷体" panose="02010600040101010101" pitchFamily="2" charset="-122"/>
                <a:ea typeface="华文楷体" panose="02010600040101010101" pitchFamily="2" charset="-122"/>
              </a:rPr>
              <a:t>为了循环方便，不带头结点的单循环链表居多，</a:t>
            </a:r>
            <a:r>
              <a:rPr lang="en-US" altLang="zh-CN" sz="2800" b="0" dirty="0">
                <a:latin typeface="华文楷体" panose="02010600040101010101" pitchFamily="2" charset="-122"/>
                <a:ea typeface="华文楷体" panose="02010600040101010101" pitchFamily="2" charset="-122"/>
              </a:rPr>
              <a:t>head</a:t>
            </a:r>
            <a:r>
              <a:rPr lang="zh-CN" altLang="en-US" sz="2800" b="0" dirty="0">
                <a:latin typeface="华文楷体" panose="02010600040101010101" pitchFamily="2" charset="-122"/>
                <a:ea typeface="华文楷体" panose="02010600040101010101" pitchFamily="2" charset="-122"/>
              </a:rPr>
              <a:t>直接指向首结点。</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不带头结点的单循环链表</a:t>
            </a:r>
            <a:endParaRPr lang="zh-CN" altLang="en-US" dirty="0">
              <a:latin typeface="华文楷体" panose="02010600040101010101" pitchFamily="2" charset="-122"/>
              <a:ea typeface="华文楷体" panose="02010600040101010101" pitchFamily="2" charset="-122"/>
            </a:endParaRPr>
          </a:p>
        </p:txBody>
      </p:sp>
      <p:sp>
        <p:nvSpPr>
          <p:cNvPr id="5" name="Rectangle 3"/>
          <p:cNvSpPr txBox="1">
            <a:spLocks noChangeArrowheads="1"/>
          </p:cNvSpPr>
          <p:nvPr/>
        </p:nvSpPr>
        <p:spPr>
          <a:xfrm>
            <a:off x="710464" y="3609649"/>
            <a:ext cx="11162883" cy="66750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buFont typeface="Wingdings" panose="05000000000000000000" pitchFamily="2" charset="2"/>
              <a:buNone/>
              <a:defRPr/>
            </a:pPr>
            <a:r>
              <a:rPr lang="zh-CN" altLang="en-US" sz="2800" b="0" dirty="0">
                <a:latin typeface="华文楷体" panose="02010600040101010101" pitchFamily="2" charset="-122"/>
                <a:ea typeface="华文楷体" panose="02010600040101010101" pitchFamily="2" charset="-122"/>
              </a:rPr>
              <a:t>空单向循环链表，</a:t>
            </a:r>
            <a:r>
              <a:rPr lang="en-US" altLang="zh-CN" sz="2800" b="0" dirty="0">
                <a:latin typeface="华文楷体" panose="02010600040101010101" pitchFamily="2" charset="-122"/>
                <a:ea typeface="华文楷体" panose="02010600040101010101" pitchFamily="2" charset="-122"/>
              </a:rPr>
              <a:t>head</a:t>
            </a:r>
            <a:r>
              <a:rPr lang="zh-CN" altLang="en-US" sz="2800" b="0" dirty="0">
                <a:latin typeface="华文楷体" panose="02010600040101010101" pitchFamily="2" charset="-122"/>
                <a:ea typeface="华文楷体" panose="02010600040101010101" pitchFamily="2" charset="-122"/>
              </a:rPr>
              <a:t>指向空。</a:t>
            </a:r>
            <a:endParaRPr lang="en-US" altLang="zh-CN" sz="2800" b="0" dirty="0">
              <a:latin typeface="华文楷体" panose="02010600040101010101" pitchFamily="2" charset="-122"/>
              <a:ea typeface="华文楷体" panose="02010600040101010101" pitchFamily="2" charset="-122"/>
            </a:endParaRPr>
          </a:p>
        </p:txBody>
      </p:sp>
      <p:pic>
        <p:nvPicPr>
          <p:cNvPr id="8" name="图片 7"/>
          <p:cNvPicPr/>
          <p:nvPr/>
        </p:nvPicPr>
        <p:blipFill>
          <a:blip r:embed="rId1">
            <a:extLst>
              <a:ext uri="{28A0092B-C50C-407E-A947-70E740481C1C}">
                <a14:useLocalDpi xmlns:a14="http://schemas.microsoft.com/office/drawing/2010/main" val="0"/>
              </a:ext>
            </a:extLst>
          </a:blip>
          <a:srcRect/>
          <a:stretch>
            <a:fillRect/>
          </a:stretch>
        </p:blipFill>
        <p:spPr bwMode="auto">
          <a:xfrm>
            <a:off x="2121820" y="2389081"/>
            <a:ext cx="6584858" cy="925692"/>
          </a:xfrm>
          <a:prstGeom prst="rect">
            <a:avLst/>
          </a:prstGeom>
          <a:noFill/>
          <a:ln>
            <a:noFill/>
          </a:ln>
        </p:spPr>
      </p:pic>
      <p:pic>
        <p:nvPicPr>
          <p:cNvPr id="9" name="图片 8"/>
          <p:cNvPicPr/>
          <p:nvPr/>
        </p:nvPicPr>
        <p:blipFill>
          <a:blip r:embed="rId2">
            <a:extLst>
              <a:ext uri="{28A0092B-C50C-407E-A947-70E740481C1C}">
                <a14:useLocalDpi xmlns:a14="http://schemas.microsoft.com/office/drawing/2010/main" val="0"/>
              </a:ext>
            </a:extLst>
          </a:blip>
          <a:srcRect/>
          <a:stretch>
            <a:fillRect/>
          </a:stretch>
        </p:blipFill>
        <p:spPr bwMode="auto">
          <a:xfrm>
            <a:off x="3304552" y="4159626"/>
            <a:ext cx="2678804" cy="820105"/>
          </a:xfrm>
          <a:prstGeom prst="rect">
            <a:avLst/>
          </a:prstGeom>
          <a:noFill/>
          <a:ln>
            <a:noFill/>
          </a:ln>
        </p:spPr>
      </p:pic>
      <p:sp>
        <p:nvSpPr>
          <p:cNvPr id="7" name="文本框 6"/>
          <p:cNvSpPr txBox="1"/>
          <p:nvPr/>
        </p:nvSpPr>
        <p:spPr>
          <a:xfrm>
            <a:off x="854765" y="5303705"/>
            <a:ext cx="4347356" cy="584775"/>
          </a:xfrm>
          <a:prstGeom prst="rect">
            <a:avLst/>
          </a:prstGeom>
          <a:noFill/>
        </p:spPr>
        <p:txBody>
          <a:bodyPr wrap="square" rtlCol="0">
            <a:spAutoFit/>
          </a:bodyPr>
          <a:lstStyle/>
          <a:p>
            <a:r>
              <a:rPr lang="zh-CN" altLang="en-US" sz="3200" b="1" dirty="0"/>
              <a:t>典型应用： 约瑟夫环</a:t>
            </a:r>
            <a:endParaRPr lang="zh-CN" altLang="en-US" sz="3200" b="1" dirty="0"/>
          </a:p>
        </p:txBody>
      </p:sp>
    </p:spTree>
  </p:cSld>
  <p:clrMapOvr>
    <a:masterClrMapping/>
  </p:clrMapOvr>
  <p:transition spd="med">
    <p:push/>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558862"/>
            <a:ext cx="11162883" cy="667503"/>
          </a:xfrm>
        </p:spPr>
        <p:txBody>
          <a:bodyPr>
            <a:normAutofit/>
          </a:bodyPr>
          <a:lstStyle/>
          <a:p>
            <a:pPr marL="0" indent="0">
              <a:lnSpc>
                <a:spcPct val="115000"/>
              </a:lnSpc>
              <a:buNone/>
              <a:defRPr/>
            </a:pPr>
            <a:r>
              <a:rPr lang="zh-CN" altLang="en-US" sz="2800" b="0">
                <a:latin typeface="华文楷体" panose="02010600040101010101" pitchFamily="2" charset="-122"/>
                <a:ea typeface="华文楷体" panose="02010600040101010101" pitchFamily="2" charset="-122"/>
              </a:rPr>
              <a:t>每个结点有</a:t>
            </a:r>
            <a:r>
              <a:rPr lang="en-US" altLang="zh-CN" sz="2800" b="0" dirty="0">
                <a:latin typeface="华文楷体" panose="02010600040101010101" pitchFamily="2" charset="-122"/>
                <a:ea typeface="华文楷体" panose="02010600040101010101" pitchFamily="2" charset="-122"/>
              </a:rPr>
              <a:t>prior</a:t>
            </a:r>
            <a:r>
              <a:rPr lang="zh-CN" altLang="en-US" sz="2800" b="0" dirty="0">
                <a:latin typeface="华文楷体" panose="02010600040101010101" pitchFamily="2" charset="-122"/>
                <a:ea typeface="华文楷体" panose="02010600040101010101" pitchFamily="2" charset="-122"/>
              </a:rPr>
              <a:t>和</a:t>
            </a:r>
            <a:r>
              <a:rPr lang="en-US" altLang="zh-CN" sz="2800" b="0" dirty="0">
                <a:latin typeface="华文楷体" panose="02010600040101010101" pitchFamily="2" charset="-122"/>
                <a:ea typeface="华文楷体" panose="02010600040101010101" pitchFamily="2" charset="-122"/>
              </a:rPr>
              <a:t>next</a:t>
            </a:r>
            <a:r>
              <a:rPr lang="zh-CN" altLang="en-US" sz="2800" b="0" dirty="0">
                <a:latin typeface="华文楷体" panose="02010600040101010101" pitchFamily="2" charset="-122"/>
                <a:ea typeface="华文楷体" panose="02010600040101010101" pitchFamily="2" charset="-122"/>
              </a:rPr>
              <a:t>两个指针，分别指向直接前驱和直接后继结点</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双向链表</a:t>
            </a:r>
            <a:endParaRPr lang="zh-CN" altLang="en-US" dirty="0">
              <a:latin typeface="华文楷体" panose="02010600040101010101" pitchFamily="2" charset="-122"/>
              <a:ea typeface="华文楷体" panose="02010600040101010101" pitchFamily="2" charset="-122"/>
            </a:endParaRPr>
          </a:p>
        </p:txBody>
      </p:sp>
      <p:sp>
        <p:nvSpPr>
          <p:cNvPr id="5" name="Rectangle 3"/>
          <p:cNvSpPr txBox="1">
            <a:spLocks noChangeArrowheads="1"/>
          </p:cNvSpPr>
          <p:nvPr/>
        </p:nvSpPr>
        <p:spPr>
          <a:xfrm>
            <a:off x="658699" y="3894531"/>
            <a:ext cx="11162883" cy="66750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buFont typeface="Wingdings" panose="05000000000000000000" pitchFamily="2" charset="2"/>
              <a:buNone/>
              <a:defRPr/>
            </a:pPr>
            <a:r>
              <a:rPr lang="zh-CN" altLang="en-US" sz="2800" b="0" dirty="0">
                <a:latin typeface="华文楷体" panose="02010600040101010101" pitchFamily="2" charset="-122"/>
                <a:ea typeface="华文楷体" panose="02010600040101010101" pitchFamily="2" charset="-122"/>
              </a:rPr>
              <a:t>空双向链表，只有头、尾结点。</a:t>
            </a:r>
            <a:endParaRPr lang="en-US" altLang="zh-CN" sz="2800" b="0" dirty="0">
              <a:latin typeface="华文楷体" panose="02010600040101010101" pitchFamily="2" charset="-122"/>
              <a:ea typeface="华文楷体" panose="02010600040101010101" pitchFamily="2" charset="-122"/>
            </a:endParaRPr>
          </a:p>
        </p:txBody>
      </p:sp>
      <p:sp>
        <p:nvSpPr>
          <p:cNvPr id="2" name="矩形 1"/>
          <p:cNvSpPr/>
          <p:nvPr/>
        </p:nvSpPr>
        <p:spPr>
          <a:xfrm>
            <a:off x="710464" y="5907034"/>
            <a:ext cx="10898439" cy="523220"/>
          </a:xfrm>
          <a:prstGeom prst="rect">
            <a:avLst/>
          </a:prstGeom>
        </p:spPr>
        <p:txBody>
          <a:bodyPr wrap="square">
            <a:spAutoFit/>
          </a:bodyPr>
          <a:lstStyle/>
          <a:p>
            <a:r>
              <a:rPr lang="zh-CN" altLang="zh-CN" sz="2800" b="1" dirty="0">
                <a:latin typeface="华文楷体" panose="02010600040101010101" pitchFamily="2" charset="-122"/>
                <a:ea typeface="华文楷体" panose="02010600040101010101" pitchFamily="2" charset="-122"/>
              </a:rPr>
              <a:t>优点</a:t>
            </a:r>
            <a:r>
              <a:rPr lang="zh-CN" altLang="en-US" sz="2800" b="1" dirty="0">
                <a:latin typeface="华文楷体" panose="02010600040101010101" pitchFamily="2" charset="-122"/>
                <a:ea typeface="华文楷体" panose="02010600040101010101" pitchFamily="2" charset="-122"/>
              </a:rPr>
              <a:t>：</a:t>
            </a:r>
            <a:r>
              <a:rPr lang="zh-CN" altLang="en-US" sz="2800" dirty="0">
                <a:latin typeface="华文楷体" panose="02010600040101010101" pitchFamily="2" charset="-122"/>
                <a:ea typeface="华文楷体" panose="02010600040101010101" pitchFamily="2" charset="-122"/>
              </a:rPr>
              <a:t>根据待查元素在前或后半段，决定自</a:t>
            </a:r>
            <a:r>
              <a:rPr lang="en-US" altLang="zh-CN" sz="2800" dirty="0">
                <a:latin typeface="华文楷体" panose="02010600040101010101" pitchFamily="2" charset="-122"/>
                <a:ea typeface="华文楷体" panose="02010600040101010101" pitchFamily="2" charset="-122"/>
              </a:rPr>
              <a:t>head</a:t>
            </a:r>
            <a:r>
              <a:rPr lang="zh-CN" altLang="en-US" sz="2800" dirty="0">
                <a:latin typeface="华文楷体" panose="02010600040101010101" pitchFamily="2" charset="-122"/>
                <a:ea typeface="华文楷体" panose="02010600040101010101" pitchFamily="2" charset="-122"/>
              </a:rPr>
              <a:t>向后还是自</a:t>
            </a:r>
            <a:r>
              <a:rPr lang="en-US" altLang="zh-CN" sz="2800" dirty="0">
                <a:latin typeface="华文楷体" panose="02010600040101010101" pitchFamily="2" charset="-122"/>
                <a:ea typeface="华文楷体" panose="02010600040101010101" pitchFamily="2" charset="-122"/>
              </a:rPr>
              <a:t>tail</a:t>
            </a:r>
            <a:r>
              <a:rPr lang="zh-CN" altLang="en-US" sz="2800" dirty="0">
                <a:latin typeface="华文楷体" panose="02010600040101010101" pitchFamily="2" charset="-122"/>
                <a:ea typeface="华文楷体" panose="02010600040101010101" pitchFamily="2" charset="-122"/>
              </a:rPr>
              <a:t>向前。</a:t>
            </a:r>
            <a:endParaRPr lang="zh-CN" altLang="en-US" sz="2800" dirty="0">
              <a:latin typeface="华文楷体" panose="02010600040101010101" pitchFamily="2" charset="-122"/>
              <a:ea typeface="华文楷体" panose="02010600040101010101" pitchFamily="2" charset="-122"/>
            </a:endParaRPr>
          </a:p>
        </p:txBody>
      </p:sp>
      <p:pic>
        <p:nvPicPr>
          <p:cNvPr id="8" name="图片 7"/>
          <p:cNvPicPr/>
          <p:nvPr/>
        </p:nvPicPr>
        <p:blipFill>
          <a:blip r:embed="rId1">
            <a:extLst>
              <a:ext uri="{28A0092B-C50C-407E-A947-70E740481C1C}">
                <a14:useLocalDpi xmlns:a14="http://schemas.microsoft.com/office/drawing/2010/main" val="0"/>
              </a:ext>
            </a:extLst>
          </a:blip>
          <a:srcRect/>
          <a:stretch>
            <a:fillRect/>
          </a:stretch>
        </p:blipFill>
        <p:spPr bwMode="auto">
          <a:xfrm>
            <a:off x="2193465" y="2226365"/>
            <a:ext cx="7467370" cy="1184470"/>
          </a:xfrm>
          <a:prstGeom prst="rect">
            <a:avLst/>
          </a:prstGeom>
          <a:noFill/>
          <a:ln>
            <a:noFill/>
          </a:ln>
        </p:spPr>
      </p:pic>
      <p:pic>
        <p:nvPicPr>
          <p:cNvPr id="3" name="图片 2"/>
          <p:cNvPicPr>
            <a:picLocks noChangeAspect="1"/>
          </p:cNvPicPr>
          <p:nvPr/>
        </p:nvPicPr>
        <p:blipFill>
          <a:blip r:embed="rId2"/>
          <a:stretch>
            <a:fillRect/>
          </a:stretch>
        </p:blipFill>
        <p:spPr>
          <a:xfrm>
            <a:off x="3672507" y="4493567"/>
            <a:ext cx="3185493" cy="1072346"/>
          </a:xfrm>
          <a:prstGeom prst="rect">
            <a:avLst/>
          </a:prstGeom>
        </p:spPr>
      </p:pic>
    </p:spTree>
  </p:cSld>
  <p:clrMapOvr>
    <a:masterClrMapping/>
  </p:clrMapOvr>
  <p:transition spd="med">
    <p:push/>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558862"/>
            <a:ext cx="11162883" cy="667503"/>
          </a:xfrm>
        </p:spPr>
        <p:txBody>
          <a:bodyPr>
            <a:normAutofit/>
          </a:bodyPr>
          <a:lstStyle/>
          <a:p>
            <a:pPr marL="0" indent="0">
              <a:lnSpc>
                <a:spcPct val="115000"/>
              </a:lnSpc>
              <a:buNone/>
              <a:defRPr/>
            </a:pPr>
            <a:r>
              <a:rPr lang="zh-CN" altLang="en-US" sz="2800" b="0" dirty="0">
                <a:latin typeface="华文楷体" panose="02010600040101010101" pitchFamily="2" charset="-122"/>
                <a:ea typeface="华文楷体" panose="02010600040101010101" pitchFamily="2" charset="-122"/>
              </a:rPr>
              <a:t>不带头、尾结点的双向循环链表</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双向循环链表</a:t>
            </a:r>
            <a:endParaRPr lang="zh-CN" altLang="en-US" dirty="0">
              <a:latin typeface="华文楷体" panose="02010600040101010101" pitchFamily="2" charset="-122"/>
              <a:ea typeface="华文楷体" panose="02010600040101010101" pitchFamily="2" charset="-122"/>
            </a:endParaRPr>
          </a:p>
        </p:txBody>
      </p:sp>
      <p:sp>
        <p:nvSpPr>
          <p:cNvPr id="5" name="Rectangle 3"/>
          <p:cNvSpPr txBox="1">
            <a:spLocks noChangeArrowheads="1"/>
          </p:cNvSpPr>
          <p:nvPr/>
        </p:nvSpPr>
        <p:spPr>
          <a:xfrm>
            <a:off x="658699" y="3894531"/>
            <a:ext cx="11162883" cy="66750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buFont typeface="Wingdings" panose="05000000000000000000" pitchFamily="2" charset="2"/>
              <a:buNone/>
              <a:defRPr/>
            </a:pPr>
            <a:r>
              <a:rPr lang="zh-CN" altLang="en-US" sz="2800" b="0" dirty="0">
                <a:latin typeface="华文楷体" panose="02010600040101010101" pitchFamily="2" charset="-122"/>
                <a:ea typeface="华文楷体" panose="02010600040101010101" pitchFamily="2" charset="-122"/>
              </a:rPr>
              <a:t>空双向链表</a:t>
            </a:r>
            <a:endParaRPr lang="en-US" altLang="zh-CN" sz="2800" b="0" dirty="0">
              <a:latin typeface="华文楷体" panose="02010600040101010101" pitchFamily="2" charset="-122"/>
              <a:ea typeface="华文楷体" panose="02010600040101010101" pitchFamily="2" charset="-122"/>
            </a:endParaRPr>
          </a:p>
        </p:txBody>
      </p:sp>
      <p:pic>
        <p:nvPicPr>
          <p:cNvPr id="4" name="图片 3"/>
          <p:cNvPicPr>
            <a:picLocks noChangeAspect="1"/>
          </p:cNvPicPr>
          <p:nvPr/>
        </p:nvPicPr>
        <p:blipFill>
          <a:blip r:embed="rId1"/>
          <a:stretch>
            <a:fillRect/>
          </a:stretch>
        </p:blipFill>
        <p:spPr>
          <a:xfrm>
            <a:off x="710463" y="2456897"/>
            <a:ext cx="7220963" cy="1176630"/>
          </a:xfrm>
          <a:prstGeom prst="rect">
            <a:avLst/>
          </a:prstGeom>
        </p:spPr>
      </p:pic>
      <p:pic>
        <p:nvPicPr>
          <p:cNvPr id="8" name="图片 7"/>
          <p:cNvPicPr/>
          <p:nvPr/>
        </p:nvPicPr>
        <p:blipFill>
          <a:blip r:embed="rId2">
            <a:extLst>
              <a:ext uri="{28A0092B-C50C-407E-A947-70E740481C1C}">
                <a14:useLocalDpi xmlns:a14="http://schemas.microsoft.com/office/drawing/2010/main" val="0"/>
              </a:ext>
            </a:extLst>
          </a:blip>
          <a:srcRect/>
          <a:stretch>
            <a:fillRect/>
          </a:stretch>
        </p:blipFill>
        <p:spPr bwMode="auto">
          <a:xfrm>
            <a:off x="3330678" y="4568474"/>
            <a:ext cx="2678804" cy="820105"/>
          </a:xfrm>
          <a:prstGeom prst="rect">
            <a:avLst/>
          </a:prstGeom>
          <a:noFill/>
          <a:ln>
            <a:noFill/>
          </a:ln>
        </p:spPr>
      </p:pic>
    </p:spTree>
  </p:cSld>
  <p:clrMapOvr>
    <a:masterClrMapping/>
  </p:clrMapOvr>
  <p:transition spd="med">
    <p:push/>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685898" y="754146"/>
            <a:ext cx="6649180"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结点</a:t>
            </a:r>
            <a:endParaRPr lang="zh-CN" altLang="en-US" dirty="0">
              <a:latin typeface="华文楷体" panose="02010600040101010101" pitchFamily="2" charset="-122"/>
              <a:ea typeface="华文楷体" panose="02010600040101010101" pitchFamily="2" charset="-122"/>
            </a:endParaRPr>
          </a:p>
        </p:txBody>
      </p: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3"/>
          <p:cNvSpPr>
            <a:spLocks noChangeArrowheads="1"/>
          </p:cNvSpPr>
          <p:nvPr/>
        </p:nvSpPr>
        <p:spPr bwMode="auto">
          <a:xfrm>
            <a:off x="431975" y="1200544"/>
            <a:ext cx="11931213"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template &lt;class </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elemType</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&gt;</a:t>
            </a:r>
            <a:endParaRPr kumimoji="0" lang="en-US" altLang="zh-CN"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class node</a:t>
            </a:r>
            <a:endParaRPr kumimoji="0" lang="en-US" altLang="zh-CN"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friend class </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linkList</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&lt;</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elemType</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&gt;;</a:t>
            </a:r>
            <a:endParaRPr kumimoji="0" lang="en-US" altLang="zh-CN"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private:</a:t>
            </a:r>
            <a:endParaRPr kumimoji="0" lang="en-US" altLang="zh-CN"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elemType</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data;</a:t>
            </a:r>
            <a:endParaRPr kumimoji="0" lang="en-US" altLang="zh-CN"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node *prior, *next;</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public:</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node():prior(NULL),next(NULL){};</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node(const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&amp;e, node *P=NULL, node *N=NULL)</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  data = e; prior=P; next = N; };</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32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med">
    <p:push/>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双向链表</a:t>
            </a:r>
            <a:endParaRPr lang="zh-CN" altLang="en-US" dirty="0">
              <a:latin typeface="华文楷体" panose="02010600040101010101" pitchFamily="2" charset="-122"/>
              <a:ea typeface="华文楷体" panose="02010600040101010101" pitchFamily="2" charset="-122"/>
            </a:endParaRPr>
          </a:p>
        </p:txBody>
      </p:sp>
      <p:sp>
        <p:nvSpPr>
          <p:cNvPr id="5" name="Rectangle 3"/>
          <p:cNvSpPr txBox="1">
            <a:spLocks noChangeArrowheads="1"/>
          </p:cNvSpPr>
          <p:nvPr/>
        </p:nvSpPr>
        <p:spPr>
          <a:xfrm>
            <a:off x="7550371" y="1456300"/>
            <a:ext cx="4410856" cy="7599807"/>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b="0" dirty="0"/>
              <a:t>node *</a:t>
            </a:r>
            <a:r>
              <a:rPr lang="en-US" altLang="zh-CN" b="0" dirty="0" err="1"/>
              <a:t>tmp</a:t>
            </a:r>
            <a:r>
              <a:rPr lang="en-US" altLang="zh-CN" b="0" dirty="0"/>
              <a:t> = new node()  //</a:t>
            </a:r>
            <a:r>
              <a:rPr lang="zh-CN" altLang="zh-CN" b="0" dirty="0"/>
              <a:t>（</a:t>
            </a:r>
            <a:r>
              <a:rPr lang="en-US" altLang="zh-CN" b="0" dirty="0"/>
              <a:t>1</a:t>
            </a:r>
            <a:r>
              <a:rPr lang="zh-CN" altLang="zh-CN" b="0" dirty="0"/>
              <a:t>）</a:t>
            </a:r>
            <a:endParaRPr lang="en-US" altLang="zh-CN" b="0" dirty="0"/>
          </a:p>
          <a:p>
            <a:pPr marL="0" indent="0">
              <a:buNone/>
            </a:pPr>
            <a:endParaRPr lang="en-US" altLang="zh-CN" b="0" dirty="0"/>
          </a:p>
          <a:p>
            <a:pPr marL="0" indent="0">
              <a:buNone/>
            </a:pPr>
            <a:r>
              <a:rPr lang="en-US" altLang="zh-CN" b="0" dirty="0" err="1"/>
              <a:t>tmp</a:t>
            </a:r>
            <a:r>
              <a:rPr lang="en-US" altLang="zh-CN" b="0" dirty="0"/>
              <a:t>-&gt;data = x;         // </a:t>
            </a:r>
            <a:r>
              <a:rPr lang="zh-CN" altLang="zh-CN" b="0" dirty="0"/>
              <a:t>（</a:t>
            </a:r>
            <a:r>
              <a:rPr lang="en-US" altLang="zh-CN" b="0" dirty="0"/>
              <a:t>2</a:t>
            </a:r>
            <a:r>
              <a:rPr lang="zh-CN" altLang="zh-CN" b="0" dirty="0"/>
              <a:t>）</a:t>
            </a:r>
            <a:endParaRPr lang="en-US" altLang="zh-CN" b="0" dirty="0"/>
          </a:p>
          <a:p>
            <a:pPr marL="0" indent="0">
              <a:buNone/>
            </a:pPr>
            <a:r>
              <a:rPr lang="en-US" altLang="zh-CN" b="0" dirty="0" err="1"/>
              <a:t>tmp</a:t>
            </a:r>
            <a:r>
              <a:rPr lang="en-US" altLang="zh-CN" b="0" dirty="0"/>
              <a:t>-&gt;prior = p;        </a:t>
            </a:r>
            <a:endParaRPr lang="zh-CN" altLang="zh-CN" b="0" dirty="0"/>
          </a:p>
          <a:p>
            <a:pPr marL="0" indent="0">
              <a:buNone/>
            </a:pPr>
            <a:r>
              <a:rPr lang="en-US" altLang="zh-CN" b="0" dirty="0" err="1"/>
              <a:t>tmp</a:t>
            </a:r>
            <a:r>
              <a:rPr lang="en-US" altLang="zh-CN" b="0" dirty="0"/>
              <a:t>-&gt;next =p-&gt;next;    </a:t>
            </a:r>
            <a:endParaRPr lang="zh-CN" altLang="zh-CN" b="0" dirty="0"/>
          </a:p>
          <a:p>
            <a:pPr marL="0" indent="0">
              <a:buNone/>
            </a:pPr>
            <a:endParaRPr lang="en-US" altLang="zh-CN" b="0" dirty="0"/>
          </a:p>
          <a:p>
            <a:pPr marL="0" indent="0">
              <a:buNone/>
            </a:pPr>
            <a:r>
              <a:rPr lang="en-US" altLang="zh-CN" b="0" dirty="0" err="1"/>
              <a:t>tmp</a:t>
            </a:r>
            <a:r>
              <a:rPr lang="en-US" altLang="zh-CN" b="0" dirty="0"/>
              <a:t>-&gt;prior-&gt;next =</a:t>
            </a:r>
            <a:r>
              <a:rPr lang="en-US" altLang="zh-CN" b="0" dirty="0" err="1"/>
              <a:t>tmp</a:t>
            </a:r>
            <a:r>
              <a:rPr lang="en-US" altLang="zh-CN" b="0" dirty="0"/>
              <a:t>;  // </a:t>
            </a:r>
            <a:r>
              <a:rPr lang="zh-CN" altLang="zh-CN" b="0" dirty="0"/>
              <a:t>（</a:t>
            </a:r>
            <a:r>
              <a:rPr lang="en-US" altLang="zh-CN" b="0" dirty="0"/>
              <a:t>3</a:t>
            </a:r>
            <a:r>
              <a:rPr lang="zh-CN" altLang="zh-CN" b="0" dirty="0"/>
              <a:t>）</a:t>
            </a:r>
            <a:r>
              <a:rPr lang="en-US" altLang="zh-CN" b="0" dirty="0" err="1"/>
              <a:t>tmp</a:t>
            </a:r>
            <a:r>
              <a:rPr lang="en-US" altLang="zh-CN" b="0" dirty="0"/>
              <a:t>-&gt;next-&gt;prior =</a:t>
            </a:r>
            <a:r>
              <a:rPr lang="en-US" altLang="zh-CN" b="0" dirty="0" err="1"/>
              <a:t>tmp</a:t>
            </a:r>
            <a:r>
              <a:rPr lang="en-US" altLang="zh-CN" b="0" dirty="0"/>
              <a:t>;  // </a:t>
            </a:r>
            <a:r>
              <a:rPr lang="zh-CN" altLang="zh-CN" b="0" dirty="0"/>
              <a:t>（</a:t>
            </a:r>
            <a:r>
              <a:rPr lang="en-US" altLang="zh-CN" b="0" dirty="0"/>
              <a:t>4</a:t>
            </a:r>
            <a:r>
              <a:rPr lang="zh-CN" altLang="zh-CN" b="0" dirty="0"/>
              <a:t>）</a:t>
            </a:r>
            <a:endParaRPr lang="zh-CN" altLang="zh-CN" sz="3200" b="0" dirty="0"/>
          </a:p>
        </p:txBody>
      </p:sp>
      <p:sp>
        <p:nvSpPr>
          <p:cNvPr id="2" name="矩形 1"/>
          <p:cNvSpPr/>
          <p:nvPr/>
        </p:nvSpPr>
        <p:spPr>
          <a:xfrm>
            <a:off x="658700" y="1456300"/>
            <a:ext cx="7034188" cy="523220"/>
          </a:xfrm>
          <a:prstGeom prst="rect">
            <a:avLst/>
          </a:prstGeom>
        </p:spPr>
        <p:txBody>
          <a:bodyPr wrap="square">
            <a:spAutoFit/>
          </a:bodyPr>
          <a:lstStyle/>
          <a:p>
            <a:r>
              <a:rPr lang="zh-CN" altLang="en-US" sz="2800" b="1" dirty="0">
                <a:latin typeface="华文楷体" panose="02010600040101010101" pitchFamily="2" charset="-122"/>
                <a:ea typeface="华文楷体" panose="02010600040101010101" pitchFamily="2" charset="-122"/>
              </a:rPr>
              <a:t>插入：</a:t>
            </a:r>
            <a:r>
              <a:rPr lang="zh-CN" altLang="en-US" sz="2800" dirty="0">
                <a:latin typeface="华文楷体" panose="02010600040101010101" pitchFamily="2" charset="-122"/>
                <a:ea typeface="华文楷体" panose="02010600040101010101" pitchFamily="2" charset="-122"/>
              </a:rPr>
              <a:t>将元素</a:t>
            </a:r>
            <a:r>
              <a:rPr lang="en-US" altLang="zh-CN" sz="2800" dirty="0">
                <a:latin typeface="华文楷体" panose="02010600040101010101" pitchFamily="2" charset="-122"/>
                <a:ea typeface="华文楷体" panose="02010600040101010101" pitchFamily="2" charset="-122"/>
              </a:rPr>
              <a:t>x</a:t>
            </a:r>
            <a:r>
              <a:rPr lang="zh-CN" altLang="en-US" sz="2800" dirty="0">
                <a:latin typeface="华文楷体" panose="02010600040101010101" pitchFamily="2" charset="-122"/>
                <a:ea typeface="华文楷体" panose="02010600040101010101" pitchFamily="2" charset="-122"/>
              </a:rPr>
              <a:t>插入到</a:t>
            </a:r>
            <a:r>
              <a:rPr lang="en-US" altLang="zh-CN" sz="2800" dirty="0">
                <a:latin typeface="华文楷体" panose="02010600040101010101" pitchFamily="2" charset="-122"/>
                <a:ea typeface="华文楷体" panose="02010600040101010101" pitchFamily="2" charset="-122"/>
              </a:rPr>
              <a:t>p</a:t>
            </a:r>
            <a:r>
              <a:rPr lang="zh-CN" altLang="en-US" sz="2800" dirty="0">
                <a:latin typeface="华文楷体" panose="02010600040101010101" pitchFamily="2" charset="-122"/>
                <a:ea typeface="华文楷体" panose="02010600040101010101" pitchFamily="2" charset="-122"/>
              </a:rPr>
              <a:t>指针所指结点之后。</a:t>
            </a:r>
            <a:endParaRPr lang="zh-CN" altLang="en-US" sz="2800" dirty="0">
              <a:latin typeface="华文楷体" panose="02010600040101010101" pitchFamily="2" charset="-122"/>
              <a:ea typeface="华文楷体" panose="02010600040101010101" pitchFamily="2" charset="-122"/>
            </a:endParaRPr>
          </a:p>
        </p:txBody>
      </p:sp>
      <p:cxnSp>
        <p:nvCxnSpPr>
          <p:cNvPr id="7" name="直接连接符 6"/>
          <p:cNvCxnSpPr/>
          <p:nvPr/>
        </p:nvCxnSpPr>
        <p:spPr>
          <a:xfrm>
            <a:off x="7391840" y="1328329"/>
            <a:ext cx="19878" cy="5529671"/>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p:nvPicPr>
        <p:blipFill>
          <a:blip r:embed="rId1"/>
          <a:stretch>
            <a:fillRect/>
          </a:stretch>
        </p:blipFill>
        <p:spPr>
          <a:xfrm>
            <a:off x="474428" y="2633619"/>
            <a:ext cx="6778759" cy="2233003"/>
          </a:xfrm>
          <a:prstGeom prst="rect">
            <a:avLst/>
          </a:prstGeom>
        </p:spPr>
      </p:pic>
      <p:sp>
        <p:nvSpPr>
          <p:cNvPr id="3" name="椭圆 2"/>
          <p:cNvSpPr/>
          <p:nvPr/>
        </p:nvSpPr>
        <p:spPr>
          <a:xfrm>
            <a:off x="11652069" y="6361611"/>
            <a:ext cx="309158" cy="3265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571734" y="5530614"/>
            <a:ext cx="6538936" cy="954107"/>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如果新结点插入在首结点位置，操作又有不同，请课后练习。</a:t>
            </a:r>
            <a:endParaRPr lang="zh-CN" altLang="en-US" sz="28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44837" y="1692386"/>
            <a:ext cx="3941876" cy="4422664"/>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线性表</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顺序表及实现</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链表及实现</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一元多项式</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稀疏矩阵</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字符串</a:t>
            </a:r>
            <a:r>
              <a:rPr lang="en-US"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77847" y="1602649"/>
            <a:ext cx="11724587" cy="4205833"/>
          </a:xfrm>
        </p:spPr>
        <p:txBody>
          <a:bodyPr>
            <a:normAutofit/>
          </a:bodyPr>
          <a:lstStyle/>
          <a:p>
            <a:pPr marL="0" indent="0">
              <a:buNone/>
            </a:pPr>
            <a:r>
              <a:rPr lang="zh-CN" altLang="zh-CN" sz="2800" b="0" dirty="0">
                <a:ea typeface="华文楷体" panose="02010600040101010101" pitchFamily="2" charset="-122"/>
                <a:cs typeface="Times New Roman" panose="02020603050405020304" pitchFamily="18" charset="0"/>
              </a:rPr>
              <a:t>在数学上，一元多项式一般表示为如下形式：</a:t>
            </a:r>
            <a:endParaRPr lang="zh-CN" altLang="zh-CN" sz="2800" b="0" dirty="0">
              <a:ea typeface="华文楷体" panose="02010600040101010101" pitchFamily="2" charset="-122"/>
              <a:cs typeface="Times New Roman" panose="02020603050405020304" pitchFamily="18" charset="0"/>
            </a:endParaRPr>
          </a:p>
          <a:p>
            <a:pPr marL="0" indent="0">
              <a:buNone/>
            </a:pPr>
            <a:r>
              <a:rPr lang="en-GB" altLang="zh-CN" sz="2800" b="0" dirty="0" err="1">
                <a:ea typeface="华文楷体" panose="02010600040101010101" pitchFamily="2" charset="-122"/>
                <a:cs typeface="Times New Roman" panose="02020603050405020304" pitchFamily="18" charset="0"/>
              </a:rPr>
              <a:t>p</a:t>
            </a:r>
            <a:r>
              <a:rPr lang="en-GB" altLang="zh-CN" sz="2800" b="0" baseline="-25000" dirty="0" err="1">
                <a:ea typeface="华文楷体" panose="02010600040101010101" pitchFamily="2" charset="-122"/>
                <a:cs typeface="Times New Roman" panose="02020603050405020304" pitchFamily="18" charset="0"/>
              </a:rPr>
              <a:t>n</a:t>
            </a:r>
            <a:r>
              <a:rPr lang="en-GB" altLang="zh-CN" sz="2800" b="0" dirty="0">
                <a:ea typeface="华文楷体" panose="02010600040101010101" pitchFamily="2" charset="-122"/>
                <a:cs typeface="Times New Roman" panose="02020603050405020304" pitchFamily="18" charset="0"/>
              </a:rPr>
              <a:t>(x) = p</a:t>
            </a:r>
            <a:r>
              <a:rPr lang="en-GB" altLang="zh-CN" sz="2800" b="0" baseline="-25000" dirty="0">
                <a:ea typeface="华文楷体" panose="02010600040101010101" pitchFamily="2" charset="-122"/>
                <a:cs typeface="Times New Roman" panose="02020603050405020304" pitchFamily="18" charset="0"/>
              </a:rPr>
              <a:t>0</a:t>
            </a:r>
            <a:r>
              <a:rPr lang="en-GB" altLang="zh-CN" sz="2800" b="0" dirty="0">
                <a:ea typeface="华文楷体" panose="02010600040101010101" pitchFamily="2" charset="-122"/>
                <a:cs typeface="Times New Roman" panose="02020603050405020304" pitchFamily="18" charset="0"/>
              </a:rPr>
              <a:t> + p</a:t>
            </a:r>
            <a:r>
              <a:rPr lang="en-GB" altLang="zh-CN" sz="2800" b="0" baseline="-25000" dirty="0">
                <a:ea typeface="华文楷体" panose="02010600040101010101" pitchFamily="2" charset="-122"/>
                <a:cs typeface="Times New Roman" panose="02020603050405020304" pitchFamily="18" charset="0"/>
              </a:rPr>
              <a:t>1</a:t>
            </a:r>
            <a:r>
              <a:rPr lang="en-GB" altLang="zh-CN" sz="2800" b="0" dirty="0">
                <a:ea typeface="华文楷体" panose="02010600040101010101" pitchFamily="2" charset="-122"/>
                <a:cs typeface="Times New Roman" panose="02020603050405020304" pitchFamily="18" charset="0"/>
              </a:rPr>
              <a:t>x + p</a:t>
            </a:r>
            <a:r>
              <a:rPr lang="en-GB" altLang="zh-CN" sz="2800" b="0" baseline="-25000" dirty="0">
                <a:ea typeface="华文楷体" panose="02010600040101010101" pitchFamily="2" charset="-122"/>
                <a:cs typeface="Times New Roman" panose="02020603050405020304" pitchFamily="18" charset="0"/>
              </a:rPr>
              <a:t>2</a:t>
            </a:r>
            <a:r>
              <a:rPr lang="en-GB" altLang="zh-CN" sz="2800" b="0" dirty="0">
                <a:ea typeface="华文楷体" panose="02010600040101010101" pitchFamily="2" charset="-122"/>
                <a:cs typeface="Times New Roman" panose="02020603050405020304" pitchFamily="18" charset="0"/>
              </a:rPr>
              <a:t>x</a:t>
            </a:r>
            <a:r>
              <a:rPr lang="en-GB" altLang="zh-CN" sz="2800" b="0" baseline="30000" dirty="0">
                <a:ea typeface="华文楷体" panose="02010600040101010101" pitchFamily="2" charset="-122"/>
                <a:cs typeface="Times New Roman" panose="02020603050405020304" pitchFamily="18" charset="0"/>
              </a:rPr>
              <a:t>2</a:t>
            </a:r>
            <a:r>
              <a:rPr lang="en-GB" altLang="zh-CN" sz="2800" b="0" dirty="0">
                <a:ea typeface="华文楷体" panose="02010600040101010101" pitchFamily="2" charset="-122"/>
                <a:cs typeface="Times New Roman" panose="02020603050405020304" pitchFamily="18" charset="0"/>
              </a:rPr>
              <a:t> + </a:t>
            </a:r>
            <a:r>
              <a:rPr lang="zh-CN" altLang="zh-CN" sz="2800" b="0" dirty="0">
                <a:ea typeface="华文楷体" panose="02010600040101010101" pitchFamily="2" charset="-122"/>
                <a:cs typeface="Times New Roman" panose="02020603050405020304" pitchFamily="18" charset="0"/>
              </a:rPr>
              <a:t>… </a:t>
            </a:r>
            <a:r>
              <a:rPr lang="en-GB" altLang="zh-CN" sz="2800" b="0" dirty="0">
                <a:ea typeface="华文楷体" panose="02010600040101010101" pitchFamily="2" charset="-122"/>
                <a:cs typeface="Times New Roman" panose="02020603050405020304" pitchFamily="18" charset="0"/>
              </a:rPr>
              <a:t>+ </a:t>
            </a:r>
            <a:r>
              <a:rPr lang="en-GB" altLang="zh-CN" sz="2800" b="0" dirty="0" err="1">
                <a:ea typeface="华文楷体" panose="02010600040101010101" pitchFamily="2" charset="-122"/>
                <a:cs typeface="Times New Roman" panose="02020603050405020304" pitchFamily="18" charset="0"/>
              </a:rPr>
              <a:t>p</a:t>
            </a:r>
            <a:r>
              <a:rPr lang="en-GB" altLang="zh-CN" sz="2800" b="0" baseline="-25000" dirty="0" err="1">
                <a:ea typeface="华文楷体" panose="02010600040101010101" pitchFamily="2" charset="-122"/>
                <a:cs typeface="Times New Roman" panose="02020603050405020304" pitchFamily="18" charset="0"/>
              </a:rPr>
              <a:t>n</a:t>
            </a:r>
            <a:r>
              <a:rPr lang="en-GB" altLang="zh-CN" sz="2800" b="0" dirty="0" err="1">
                <a:ea typeface="华文楷体" panose="02010600040101010101" pitchFamily="2" charset="-122"/>
                <a:cs typeface="Times New Roman" panose="02020603050405020304" pitchFamily="18" charset="0"/>
              </a:rPr>
              <a:t>x</a:t>
            </a:r>
            <a:r>
              <a:rPr lang="en-GB" altLang="zh-CN" sz="2800" b="0" baseline="30000" dirty="0" err="1">
                <a:ea typeface="华文楷体" panose="02010600040101010101" pitchFamily="2" charset="-122"/>
                <a:cs typeface="Times New Roman" panose="02020603050405020304" pitchFamily="18" charset="0"/>
              </a:rPr>
              <a:t>n</a:t>
            </a:r>
            <a:endParaRPr lang="zh-CN" altLang="zh-CN" sz="2800" b="0" baseline="30000" dirty="0">
              <a:ea typeface="华文楷体" panose="02010600040101010101" pitchFamily="2" charset="-122"/>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在计算机内实现时，可以用线性表来表示</a:t>
            </a:r>
            <a:r>
              <a:rPr lang="en-US"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en-GB" altLang="zh-CN" sz="2800" b="0" dirty="0">
                <a:ea typeface="华文楷体" panose="02010600040101010101" pitchFamily="2" charset="-122"/>
                <a:cs typeface="Times New Roman" panose="02020603050405020304" pitchFamily="18" charset="0"/>
              </a:rPr>
              <a:t>p = ( p</a:t>
            </a:r>
            <a:r>
              <a:rPr lang="en-GB" altLang="zh-CN" sz="2800" b="0" baseline="-2500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a:t>
            </a:r>
            <a:r>
              <a:rPr lang="en-GB" altLang="zh-CN" sz="2800" b="0" dirty="0">
                <a:ea typeface="华文楷体" panose="02010600040101010101" pitchFamily="2" charset="-122"/>
                <a:cs typeface="Times New Roman" panose="02020603050405020304" pitchFamily="18" charset="0"/>
              </a:rPr>
              <a:t>p</a:t>
            </a:r>
            <a:r>
              <a:rPr lang="en-GB" altLang="zh-CN" sz="2800" b="0" baseline="-2500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a:t>
            </a:r>
            <a:r>
              <a:rPr lang="en-GB" altLang="zh-CN" sz="2800" b="0" dirty="0">
                <a:ea typeface="华文楷体" panose="02010600040101010101" pitchFamily="2" charset="-122"/>
                <a:cs typeface="Times New Roman" panose="02020603050405020304" pitchFamily="18" charset="0"/>
              </a:rPr>
              <a:t>p</a:t>
            </a:r>
            <a:r>
              <a:rPr lang="en-GB" altLang="zh-CN" sz="2800" b="0" baseline="-25000" dirty="0">
                <a:ea typeface="华文楷体" panose="02010600040101010101" pitchFamily="2" charset="-122"/>
                <a:cs typeface="Times New Roman" panose="02020603050405020304" pitchFamily="18" charset="0"/>
              </a:rPr>
              <a:t>2</a:t>
            </a:r>
            <a:r>
              <a:rPr lang="zh-CN" altLang="zh-CN" sz="2800" b="0" dirty="0">
                <a:ea typeface="华文楷体" panose="02010600040101010101" pitchFamily="2" charset="-122"/>
                <a:cs typeface="Times New Roman" panose="02020603050405020304" pitchFamily="18" charset="0"/>
              </a:rPr>
              <a:t>，…，</a:t>
            </a:r>
            <a:r>
              <a:rPr lang="en-GB" altLang="zh-CN" sz="2800" b="0" dirty="0">
                <a:ea typeface="华文楷体" panose="02010600040101010101" pitchFamily="2" charset="-122"/>
                <a:cs typeface="Times New Roman" panose="02020603050405020304" pitchFamily="18" charset="0"/>
              </a:rPr>
              <a:t> p</a:t>
            </a:r>
            <a:r>
              <a:rPr lang="en-GB" altLang="zh-CN" sz="2800" b="0" baseline="-25000" dirty="0">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 …，</a:t>
            </a:r>
            <a:r>
              <a:rPr lang="en-GB" altLang="zh-CN" sz="2800" b="0" dirty="0" err="1">
                <a:ea typeface="华文楷体" panose="02010600040101010101" pitchFamily="2" charset="-122"/>
                <a:cs typeface="Times New Roman" panose="02020603050405020304" pitchFamily="18" charset="0"/>
              </a:rPr>
              <a:t>p</a:t>
            </a:r>
            <a:r>
              <a:rPr lang="en-GB" altLang="zh-CN" sz="2800" b="0" baseline="-25000" dirty="0" err="1">
                <a:ea typeface="华文楷体" panose="02010600040101010101" pitchFamily="2" charset="-122"/>
                <a:cs typeface="Times New Roman" panose="02020603050405020304" pitchFamily="18" charset="0"/>
              </a:rPr>
              <a:t>n</a:t>
            </a:r>
            <a:r>
              <a:rPr lang="en-GB"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，其中结点</a:t>
            </a:r>
            <a:r>
              <a:rPr lang="en-GB" altLang="zh-CN" sz="2800" b="0" dirty="0">
                <a:ea typeface="华文楷体" panose="02010600040101010101" pitchFamily="2" charset="-122"/>
                <a:cs typeface="Times New Roman" panose="02020603050405020304" pitchFamily="18" charset="0"/>
              </a:rPr>
              <a:t>p</a:t>
            </a:r>
            <a:r>
              <a:rPr lang="en-US" altLang="zh-CN" sz="2800" b="0" baseline="-2500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a:t>
            </a:r>
            <a:r>
              <a:rPr lang="en-GB" altLang="zh-CN" sz="2800" b="0" dirty="0" err="1">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a:t>
            </a:r>
            <a:r>
              <a:rPr lang="en-GB" altLang="zh-CN" sz="2800" b="0" dirty="0">
                <a:ea typeface="华文楷体" panose="02010600040101010101" pitchFamily="2" charset="-122"/>
                <a:cs typeface="Times New Roman" panose="02020603050405020304" pitchFamily="18" charset="0"/>
              </a:rPr>
              <a:t>n</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表示幂为</a:t>
            </a:r>
            <a:r>
              <a:rPr lang="en-GB" altLang="zh-CN" sz="2800" b="0" dirty="0" err="1">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项的系数。</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一元多项式</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4741979"/>
          </a:xfrm>
        </p:spPr>
        <p:txBody>
          <a:bodyPr>
            <a:normAutofit/>
          </a:bodyPr>
          <a:lstStyle/>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方法</a:t>
            </a:r>
            <a:r>
              <a:rPr lang="zh-CN" altLang="en-US" sz="2800" b="0" dirty="0">
                <a:latin typeface="华文楷体" panose="02010600040101010101" pitchFamily="2" charset="-122"/>
                <a:ea typeface="华文楷体" panose="02010600040101010101" pitchFamily="2" charset="-122"/>
              </a:rPr>
              <a:t>一</a:t>
            </a:r>
            <a:r>
              <a:rPr lang="zh-CN" altLang="zh-CN"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marL="0" indent="0">
              <a:buNone/>
            </a:pPr>
            <a:r>
              <a:rPr lang="en-US" altLang="zh-CN" sz="2800" b="0" dirty="0">
                <a:latin typeface="华文楷体" panose="02010600040101010101" pitchFamily="2" charset="-122"/>
                <a:ea typeface="华文楷体" panose="02010600040101010101" pitchFamily="2" charset="-122"/>
              </a:rPr>
              <a:t>     </a:t>
            </a:r>
            <a:r>
              <a:rPr lang="zh-CN" altLang="zh-CN" sz="2800" b="0" dirty="0">
                <a:latin typeface="华文楷体" panose="02010600040101010101" pitchFamily="2" charset="-122"/>
                <a:ea typeface="华文楷体" panose="02010600040101010101" pitchFamily="2" charset="-122"/>
              </a:rPr>
              <a:t>为了表示系数和项的对应关系</a:t>
            </a:r>
            <a:r>
              <a:rPr lang="zh-CN" altLang="en-US" sz="2800" b="0" dirty="0">
                <a:latin typeface="华文楷体" panose="02010600040101010101" pitchFamily="2" charset="-122"/>
                <a:ea typeface="华文楷体" panose="02010600040101010101" pitchFamily="2" charset="-122"/>
              </a:rPr>
              <a:t>，</a:t>
            </a:r>
            <a:r>
              <a:rPr lang="en-GB" altLang="zh-CN" sz="2800" b="0" dirty="0" err="1">
                <a:latin typeface="华文楷体" panose="02010600040101010101" pitchFamily="2" charset="-122"/>
                <a:ea typeface="华文楷体" panose="02010600040101010101" pitchFamily="2" charset="-122"/>
              </a:rPr>
              <a:t>i</a:t>
            </a:r>
            <a:r>
              <a:rPr lang="zh-CN" altLang="zh-CN" sz="2800" b="0" dirty="0">
                <a:latin typeface="华文楷体" panose="02010600040101010101" pitchFamily="2" charset="-122"/>
                <a:ea typeface="华文楷体" panose="02010600040101010101" pitchFamily="2" charset="-122"/>
              </a:rPr>
              <a:t>次幂项的系数</a:t>
            </a:r>
            <a:r>
              <a:rPr lang="en-GB" altLang="zh-CN" sz="2800" b="0" dirty="0">
                <a:latin typeface="华文楷体" panose="02010600040101010101" pitchFamily="2" charset="-122"/>
                <a:ea typeface="华文楷体" panose="02010600040101010101" pitchFamily="2" charset="-122"/>
              </a:rPr>
              <a:t>p</a:t>
            </a:r>
            <a:r>
              <a:rPr lang="en-GB" altLang="zh-CN" sz="2800" b="0" baseline="-25000" dirty="0">
                <a:latin typeface="华文楷体" panose="02010600040101010101" pitchFamily="2" charset="-122"/>
                <a:ea typeface="华文楷体" panose="02010600040101010101" pitchFamily="2" charset="-122"/>
              </a:rPr>
              <a:t>i</a:t>
            </a:r>
            <a:r>
              <a:rPr lang="zh-CN" altLang="zh-CN" sz="2800" b="0" dirty="0">
                <a:latin typeface="华文楷体" panose="02010600040101010101" pitchFamily="2" charset="-122"/>
                <a:ea typeface="华文楷体" panose="02010600040101010101" pitchFamily="2" charset="-122"/>
              </a:rPr>
              <a:t>存放在下标为</a:t>
            </a:r>
            <a:r>
              <a:rPr lang="en-GB" altLang="zh-CN" sz="2800" b="0" dirty="0" err="1">
                <a:latin typeface="华文楷体" panose="02010600040101010101" pitchFamily="2" charset="-122"/>
                <a:ea typeface="华文楷体" panose="02010600040101010101" pitchFamily="2" charset="-122"/>
              </a:rPr>
              <a:t>i</a:t>
            </a:r>
            <a:r>
              <a:rPr lang="zh-CN" altLang="zh-CN" sz="2800" b="0" dirty="0">
                <a:latin typeface="华文楷体" panose="02010600040101010101" pitchFamily="2" charset="-122"/>
                <a:ea typeface="华文楷体" panose="02010600040101010101" pitchFamily="2" charset="-122"/>
              </a:rPr>
              <a:t>的数组结点中，即便</a:t>
            </a:r>
            <a:r>
              <a:rPr lang="en-GB" altLang="zh-CN" sz="2800" b="0" dirty="0">
                <a:latin typeface="华文楷体" panose="02010600040101010101" pitchFamily="2" charset="-122"/>
                <a:ea typeface="华文楷体" panose="02010600040101010101" pitchFamily="2" charset="-122"/>
              </a:rPr>
              <a:t>p</a:t>
            </a:r>
            <a:r>
              <a:rPr lang="en-GB" altLang="zh-CN" sz="2800" b="0" baseline="-25000" dirty="0">
                <a:latin typeface="华文楷体" panose="02010600040101010101" pitchFamily="2" charset="-122"/>
                <a:ea typeface="华文楷体" panose="02010600040101010101" pitchFamily="2" charset="-122"/>
              </a:rPr>
              <a:t>i</a:t>
            </a:r>
            <a:r>
              <a:rPr lang="zh-CN" altLang="zh-CN" sz="2800" b="0" dirty="0">
                <a:latin typeface="华文楷体" panose="02010600040101010101" pitchFamily="2" charset="-122"/>
                <a:ea typeface="华文楷体" panose="02010600040101010101" pitchFamily="2" charset="-122"/>
              </a:rPr>
              <a:t>为</a:t>
            </a:r>
            <a:r>
              <a:rPr lang="en-GB" altLang="zh-CN" sz="2800" b="0" dirty="0">
                <a:latin typeface="华文楷体" panose="02010600040101010101" pitchFamily="2" charset="-122"/>
                <a:ea typeface="华文楷体" panose="02010600040101010101" pitchFamily="2" charset="-122"/>
              </a:rPr>
              <a:t>0</a:t>
            </a:r>
            <a:r>
              <a:rPr lang="zh-CN" altLang="zh-CN" sz="2800" b="0" dirty="0">
                <a:latin typeface="华文楷体" panose="02010600040101010101" pitchFamily="2" charset="-122"/>
                <a:ea typeface="华文楷体" panose="02010600040101010101" pitchFamily="2" charset="-122"/>
              </a:rPr>
              <a:t>，相应的数组分量也不能挪作它用。</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方法</a:t>
            </a:r>
            <a:r>
              <a:rPr lang="zh-CN" altLang="en-US" sz="2800" b="0" dirty="0">
                <a:latin typeface="华文楷体" panose="02010600040101010101" pitchFamily="2" charset="-122"/>
                <a:ea typeface="华文楷体" panose="02010600040101010101" pitchFamily="2" charset="-122"/>
              </a:rPr>
              <a:t>二</a:t>
            </a:r>
            <a:r>
              <a:rPr lang="zh-CN" altLang="zh-CN" sz="2800" b="0" dirty="0">
                <a:latin typeface="华文楷体" panose="02010600040101010101" pitchFamily="2" charset="-122"/>
                <a:ea typeface="华文楷体" panose="02010600040101010101" pitchFamily="2" charset="-122"/>
              </a:rPr>
              <a:t>：只存储系数不为</a:t>
            </a:r>
            <a:r>
              <a:rPr lang="en-GB" altLang="zh-CN" sz="2800" b="0" dirty="0">
                <a:latin typeface="华文楷体" panose="02010600040101010101" pitchFamily="2" charset="-122"/>
                <a:ea typeface="华文楷体" panose="02010600040101010101" pitchFamily="2" charset="-122"/>
              </a:rPr>
              <a:t>0</a:t>
            </a:r>
            <a:r>
              <a:rPr lang="zh-CN" altLang="zh-CN" sz="2800" b="0" dirty="0">
                <a:latin typeface="华文楷体" panose="02010600040101010101" pitchFamily="2" charset="-122"/>
                <a:ea typeface="华文楷体" panose="02010600040101010101" pitchFamily="2" charset="-122"/>
              </a:rPr>
              <a:t>的项，每一项除了存储它的系数，还要存储它的幂</a:t>
            </a:r>
            <a:r>
              <a:rPr lang="zh-CN" altLang="en-US"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marL="0" indent="0">
              <a:buNone/>
            </a:pPr>
            <a:r>
              <a:rPr lang="en-US" altLang="zh-CN" sz="2800" b="0" dirty="0">
                <a:latin typeface="华文楷体" panose="02010600040101010101" pitchFamily="2" charset="-122"/>
                <a:ea typeface="华文楷体" panose="02010600040101010101" pitchFamily="2" charset="-122"/>
              </a:rPr>
              <a:t>   </a:t>
            </a:r>
            <a:r>
              <a:rPr lang="zh-CN" altLang="zh-CN" sz="2800" b="0" dirty="0">
                <a:latin typeface="华文楷体" panose="02010600040101010101" pitchFamily="2" charset="-122"/>
                <a:ea typeface="华文楷体" panose="02010600040101010101" pitchFamily="2" charset="-122"/>
              </a:rPr>
              <a:t>两个多项式的加法处理起来比第一种方法复杂。</a:t>
            </a:r>
            <a:endParaRPr lang="en-US" altLang="zh-CN" sz="2800" b="0" dirty="0">
              <a:latin typeface="华文楷体" panose="02010600040101010101" pitchFamily="2" charset="-122"/>
              <a:ea typeface="华文楷体" panose="02010600040101010101" pitchFamily="2" charset="-122"/>
            </a:endParaRPr>
          </a:p>
          <a:p>
            <a:pPr marL="0" indent="0">
              <a:buNone/>
            </a:pPr>
            <a:r>
              <a:rPr lang="en-US" altLang="zh-CN" sz="2800" b="0" dirty="0">
                <a:latin typeface="华文楷体" panose="02010600040101010101" pitchFamily="2" charset="-122"/>
                <a:ea typeface="华文楷体" panose="02010600040101010101" pitchFamily="2" charset="-122"/>
              </a:rPr>
              <a:t>   </a:t>
            </a:r>
            <a:r>
              <a:rPr lang="zh-CN" altLang="en-US" sz="2800" b="0" dirty="0">
                <a:latin typeface="华文楷体" panose="02010600040101010101" pitchFamily="2" charset="-122"/>
                <a:ea typeface="华文楷体" panose="02010600040101010101" pitchFamily="2" charset="-122"/>
              </a:rPr>
              <a:t>用数组时，要预估一个多项式的规模，分配足够的空间。</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一元多项式的顺序存储</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598619"/>
            <a:ext cx="11162884" cy="4109850"/>
          </a:xfrm>
        </p:spPr>
        <p:txBody>
          <a:bodyPr>
            <a:normAutofit fontScale="70000" lnSpcReduction="20000"/>
          </a:bodyPr>
          <a:lstStyle/>
          <a:p>
            <a:pPr>
              <a:buFont typeface="Wingdings" panose="05000000000000000000" pitchFamily="2" charset="2"/>
              <a:buChar char="Ø"/>
            </a:pPr>
            <a:r>
              <a:rPr lang="zh-CN" altLang="zh-CN" sz="4000" b="0" dirty="0">
                <a:latin typeface="华文楷体" panose="02010600040101010101" pitchFamily="2" charset="-122"/>
                <a:ea typeface="华文楷体" panose="02010600040101010101" pitchFamily="2" charset="-122"/>
              </a:rPr>
              <a:t>每个结点存放一元多项式中的一项的信息。信息包括该项的系数和幂，零系数项不予存储。</a:t>
            </a:r>
            <a:endParaRPr lang="en-US" altLang="zh-CN" sz="40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4000" b="0" dirty="0">
                <a:latin typeface="华文楷体" panose="02010600040101010101" pitchFamily="2" charset="-122"/>
                <a:ea typeface="华文楷体" panose="02010600040101010101" pitchFamily="2" charset="-122"/>
              </a:rPr>
              <a:t>链式存储的好处是多项式的项数可以动态地增长，不存在溢出问题。</a:t>
            </a:r>
            <a:endParaRPr lang="en-US" altLang="zh-CN" sz="40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4000" b="0" dirty="0">
                <a:latin typeface="华文楷体" panose="02010600040101010101" pitchFamily="2" charset="-122"/>
                <a:ea typeface="华文楷体" panose="02010600040101010101" pitchFamily="2" charset="-122"/>
              </a:rPr>
              <a:t>用单链表表示一元多项式。在存储实现时，按照幂由小到大的原则进行，这样该单链表便成为幂有序的单链表。</a:t>
            </a:r>
            <a:endParaRPr lang="en-US" altLang="zh-CN" sz="40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4000" b="0" dirty="0">
                <a:latin typeface="华文楷体" panose="02010600040101010101" pitchFamily="2" charset="-122"/>
                <a:ea typeface="华文楷体" panose="02010600040101010101" pitchFamily="2" charset="-122"/>
              </a:rPr>
              <a:t>链表中的结点，包含两个部分：数据部分和指针部分。</a:t>
            </a:r>
            <a:endParaRPr lang="en-US" altLang="zh-CN" sz="40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4000" b="0" dirty="0">
                <a:latin typeface="华文楷体" panose="02010600040101010101" pitchFamily="2" charset="-122"/>
                <a:ea typeface="华文楷体" panose="02010600040101010101" pitchFamily="2" charset="-122"/>
              </a:rPr>
              <a:t>数据部分又包含了系数</a:t>
            </a:r>
            <a:r>
              <a:rPr lang="en-GB" altLang="zh-CN" sz="4000" b="0" dirty="0" err="1">
                <a:latin typeface="华文楷体" panose="02010600040101010101" pitchFamily="2" charset="-122"/>
                <a:ea typeface="华文楷体" panose="02010600040101010101" pitchFamily="2" charset="-122"/>
              </a:rPr>
              <a:t>coef</a:t>
            </a:r>
            <a:r>
              <a:rPr lang="zh-CN" altLang="zh-CN" sz="4000" b="0" dirty="0">
                <a:latin typeface="华文楷体" panose="02010600040101010101" pitchFamily="2" charset="-122"/>
                <a:ea typeface="华文楷体" panose="02010600040101010101" pitchFamily="2" charset="-122"/>
              </a:rPr>
              <a:t>和幂</a:t>
            </a:r>
            <a:r>
              <a:rPr lang="en-GB" altLang="zh-CN" sz="4000" b="0" dirty="0" err="1">
                <a:latin typeface="华文楷体" panose="02010600040101010101" pitchFamily="2" charset="-122"/>
                <a:ea typeface="华文楷体" panose="02010600040101010101" pitchFamily="2" charset="-122"/>
              </a:rPr>
              <a:t>exp</a:t>
            </a:r>
            <a:r>
              <a:rPr lang="zh-CN" altLang="zh-CN" sz="4000" b="0" dirty="0">
                <a:latin typeface="华文楷体" panose="02010600040101010101" pitchFamily="2" charset="-122"/>
                <a:ea typeface="华文楷体" panose="02010600040101010101" pitchFamily="2" charset="-122"/>
              </a:rPr>
              <a:t>二个字段</a:t>
            </a:r>
            <a:r>
              <a:rPr lang="zh-CN" altLang="en-US" sz="4000" b="0" dirty="0">
                <a:latin typeface="华文楷体" panose="02010600040101010101" pitchFamily="2" charset="-122"/>
                <a:ea typeface="华文楷体" panose="02010600040101010101" pitchFamily="2" charset="-122"/>
              </a:rPr>
              <a:t>。</a:t>
            </a:r>
            <a:endParaRPr lang="zh-CN" altLang="zh-CN" sz="40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一元多项式的链式存储</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一元多项式的链式存储</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4451281" y="1571834"/>
            <a:ext cx="2303418" cy="947738"/>
          </a:xfrm>
          <a:prstGeom prst="rect">
            <a:avLst/>
          </a:prstGeom>
          <a:noFill/>
          <a:ln>
            <a:noFill/>
          </a:ln>
        </p:spPr>
      </p:pic>
      <p:sp>
        <p:nvSpPr>
          <p:cNvPr id="3" name="矩形 2"/>
          <p:cNvSpPr/>
          <p:nvPr/>
        </p:nvSpPr>
        <p:spPr>
          <a:xfrm>
            <a:off x="658699" y="2763078"/>
            <a:ext cx="6096000" cy="954107"/>
          </a:xfrm>
          <a:prstGeom prst="rect">
            <a:avLst/>
          </a:prstGeom>
        </p:spPr>
        <p:txBody>
          <a:bodyPr>
            <a:spAutoFit/>
          </a:bodyPr>
          <a:lstStyle/>
          <a:p>
            <a:pPr indent="266700" algn="just">
              <a:spcAft>
                <a:spcPts val="0"/>
              </a:spcAft>
            </a:pPr>
            <a:r>
              <a:rPr lang="zh-CN" altLang="zh-CN" sz="2800" kern="100" dirty="0">
                <a:latin typeface="华文楷体" panose="02010600040101010101" pitchFamily="2" charset="-122"/>
                <a:ea typeface="华文楷体" panose="02010600040101010101" pitchFamily="2" charset="-122"/>
              </a:rPr>
              <a:t>多项式如：</a:t>
            </a:r>
            <a:r>
              <a:rPr lang="en-US" altLang="zh-CN" sz="2800" kern="100" dirty="0">
                <a:latin typeface="Times New Roman" panose="02020603050405020304" pitchFamily="18" charset="0"/>
                <a:ea typeface="宋体" panose="02010600030101010101" pitchFamily="2" charset="-122"/>
              </a:rPr>
              <a:t>	A=7+3x+9x</a:t>
            </a:r>
            <a:r>
              <a:rPr lang="en-US" altLang="zh-CN" sz="2800" kern="100" baseline="30000" dirty="0">
                <a:latin typeface="Times New Roman" panose="02020603050405020304" pitchFamily="18" charset="0"/>
                <a:ea typeface="宋体" panose="02010600030101010101" pitchFamily="2" charset="-122"/>
              </a:rPr>
              <a:t>8</a:t>
            </a:r>
            <a:r>
              <a:rPr lang="en-US" altLang="zh-CN" sz="2800" kern="100" dirty="0">
                <a:latin typeface="Times New Roman" panose="02020603050405020304" pitchFamily="18" charset="0"/>
                <a:ea typeface="宋体" panose="02010600030101010101" pitchFamily="2" charset="-122"/>
              </a:rPr>
              <a:t>+5x</a:t>
            </a:r>
            <a:r>
              <a:rPr lang="en-US" altLang="zh-CN" sz="2800" kern="100" baseline="30000" dirty="0">
                <a:latin typeface="Times New Roman" panose="02020603050405020304" pitchFamily="18" charset="0"/>
                <a:ea typeface="宋体" panose="02010600030101010101" pitchFamily="2" charset="-122"/>
              </a:rPr>
              <a:t>17</a:t>
            </a:r>
            <a:endParaRPr lang="zh-CN" altLang="zh-CN" sz="2800" kern="100" dirty="0">
              <a:latin typeface="Times New Roman" panose="02020603050405020304" pitchFamily="18" charset="0"/>
              <a:ea typeface="宋体" panose="02010600030101010101" pitchFamily="2" charset="-122"/>
            </a:endParaRPr>
          </a:p>
          <a:p>
            <a:pPr indent="266700" algn="just">
              <a:spcAft>
                <a:spcPts val="0"/>
              </a:spcAft>
            </a:pPr>
            <a:r>
              <a:rPr lang="en-US" altLang="zh-CN" sz="2800" kern="100" dirty="0">
                <a:latin typeface="Times New Roman" panose="02020603050405020304" pitchFamily="18" charset="0"/>
                <a:ea typeface="宋体" panose="02010600030101010101" pitchFamily="2" charset="-122"/>
              </a:rPr>
              <a:t>			B=8x+22x</a:t>
            </a:r>
            <a:r>
              <a:rPr lang="en-US" altLang="zh-CN" sz="2800" kern="100" baseline="30000" dirty="0">
                <a:latin typeface="Times New Roman" panose="02020603050405020304" pitchFamily="18" charset="0"/>
                <a:ea typeface="宋体" panose="02010600030101010101" pitchFamily="2" charset="-122"/>
              </a:rPr>
              <a:t>7</a:t>
            </a:r>
            <a:r>
              <a:rPr lang="en-US" altLang="zh-CN" sz="2800" kern="100" dirty="0">
                <a:latin typeface="Times New Roman" panose="02020603050405020304" pitchFamily="18" charset="0"/>
                <a:ea typeface="宋体" panose="02010600030101010101" pitchFamily="2" charset="-122"/>
              </a:rPr>
              <a:t>-9x</a:t>
            </a:r>
            <a:r>
              <a:rPr lang="en-US" altLang="zh-CN" sz="2800" kern="100" baseline="30000" dirty="0">
                <a:latin typeface="Times New Roman" panose="02020603050405020304" pitchFamily="18" charset="0"/>
                <a:ea typeface="宋体" panose="02010600030101010101" pitchFamily="2" charset="-122"/>
              </a:rPr>
              <a:t>8</a:t>
            </a:r>
            <a:endParaRPr lang="zh-CN" altLang="zh-CN" sz="2800" kern="100" dirty="0">
              <a:latin typeface="Times New Roman" panose="02020603050405020304" pitchFamily="18" charset="0"/>
              <a:ea typeface="宋体" panose="02010600030101010101" pitchFamily="2" charset="-122"/>
            </a:endParaRPr>
          </a:p>
        </p:txBody>
      </p:sp>
      <p:pic>
        <p:nvPicPr>
          <p:cNvPr id="7" name="图片 6"/>
          <p:cNvPicPr/>
          <p:nvPr/>
        </p:nvPicPr>
        <p:blipFill>
          <a:blip r:embed="rId2">
            <a:extLst>
              <a:ext uri="{28A0092B-C50C-407E-A947-70E740481C1C}">
                <a14:useLocalDpi xmlns:a14="http://schemas.microsoft.com/office/drawing/2010/main" val="0"/>
              </a:ext>
            </a:extLst>
          </a:blip>
          <a:srcRect/>
          <a:stretch>
            <a:fillRect/>
          </a:stretch>
        </p:blipFill>
        <p:spPr bwMode="auto">
          <a:xfrm>
            <a:off x="1221076" y="4134830"/>
            <a:ext cx="8499394" cy="2034208"/>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两个一元多项式相加</a:t>
            </a:r>
            <a:endParaRPr lang="zh-CN" altLang="en-US" dirty="0">
              <a:latin typeface="华文楷体" panose="02010600040101010101" pitchFamily="2" charset="-122"/>
              <a:ea typeface="华文楷体" panose="02010600040101010101" pitchFamily="2" charset="-122"/>
            </a:endParaRPr>
          </a:p>
        </p:txBody>
      </p:sp>
      <p:sp>
        <p:nvSpPr>
          <p:cNvPr id="3" name="矩形 2"/>
          <p:cNvSpPr/>
          <p:nvPr/>
        </p:nvSpPr>
        <p:spPr>
          <a:xfrm>
            <a:off x="658698" y="1497952"/>
            <a:ext cx="9474857" cy="954107"/>
          </a:xfrm>
          <a:prstGeom prst="rect">
            <a:avLst/>
          </a:prstGeom>
        </p:spPr>
        <p:txBody>
          <a:bodyPr wrap="square">
            <a:spAutoFit/>
          </a:bodyPr>
          <a:lstStyle/>
          <a:p>
            <a:pPr indent="266700" algn="just">
              <a:spcAft>
                <a:spcPts val="0"/>
              </a:spcAft>
            </a:pPr>
            <a:r>
              <a:rPr lang="zh-CN" altLang="zh-CN" sz="2800" kern="100" dirty="0">
                <a:latin typeface="华文楷体" panose="02010600040101010101" pitchFamily="2" charset="-122"/>
                <a:ea typeface="华文楷体" panose="02010600040101010101" pitchFamily="2" charset="-122"/>
              </a:rPr>
              <a:t>多项式如：</a:t>
            </a:r>
            <a:r>
              <a:rPr lang="en-US" altLang="zh-CN" sz="2800" kern="100" dirty="0">
                <a:latin typeface="Times New Roman" panose="02020603050405020304" pitchFamily="18" charset="0"/>
                <a:ea typeface="宋体" panose="02010600030101010101" pitchFamily="2" charset="-122"/>
              </a:rPr>
              <a:t>	A=7+3x+9x</a:t>
            </a:r>
            <a:r>
              <a:rPr lang="en-US" altLang="zh-CN" sz="2800" kern="100" baseline="30000" dirty="0">
                <a:latin typeface="Times New Roman" panose="02020603050405020304" pitchFamily="18" charset="0"/>
                <a:ea typeface="宋体" panose="02010600030101010101" pitchFamily="2" charset="-122"/>
              </a:rPr>
              <a:t>8</a:t>
            </a:r>
            <a:r>
              <a:rPr lang="en-US" altLang="zh-CN" sz="2800" kern="100" dirty="0">
                <a:latin typeface="Times New Roman" panose="02020603050405020304" pitchFamily="18" charset="0"/>
                <a:ea typeface="宋体" panose="02010600030101010101" pitchFamily="2" charset="-122"/>
              </a:rPr>
              <a:t>+5x</a:t>
            </a:r>
            <a:r>
              <a:rPr lang="en-US" altLang="zh-CN" sz="2800" kern="100" baseline="30000" dirty="0">
                <a:latin typeface="Times New Roman" panose="02020603050405020304" pitchFamily="18" charset="0"/>
                <a:ea typeface="宋体" panose="02010600030101010101" pitchFamily="2" charset="-122"/>
              </a:rPr>
              <a:t>17</a:t>
            </a:r>
            <a:endParaRPr lang="zh-CN" altLang="zh-CN" sz="2800" kern="100" dirty="0">
              <a:latin typeface="Times New Roman" panose="02020603050405020304" pitchFamily="18" charset="0"/>
              <a:ea typeface="宋体" panose="02010600030101010101" pitchFamily="2" charset="-122"/>
            </a:endParaRPr>
          </a:p>
          <a:p>
            <a:pPr indent="266700" algn="just">
              <a:spcAft>
                <a:spcPts val="0"/>
              </a:spcAft>
            </a:pPr>
            <a:r>
              <a:rPr lang="en-US" altLang="zh-CN" sz="2800" kern="100" dirty="0">
                <a:latin typeface="Times New Roman" panose="02020603050405020304" pitchFamily="18" charset="0"/>
                <a:ea typeface="宋体" panose="02010600030101010101" pitchFamily="2" charset="-122"/>
              </a:rPr>
              <a:t>			B=8x+22x</a:t>
            </a:r>
            <a:r>
              <a:rPr lang="en-US" altLang="zh-CN" sz="2800" kern="100" baseline="30000" dirty="0">
                <a:latin typeface="Times New Roman" panose="02020603050405020304" pitchFamily="18" charset="0"/>
                <a:ea typeface="宋体" panose="02010600030101010101" pitchFamily="2" charset="-122"/>
              </a:rPr>
              <a:t>7</a:t>
            </a:r>
            <a:r>
              <a:rPr lang="en-US" altLang="zh-CN" sz="2800" kern="100" dirty="0">
                <a:latin typeface="Times New Roman" panose="02020603050405020304" pitchFamily="18" charset="0"/>
                <a:ea typeface="宋体" panose="02010600030101010101" pitchFamily="2" charset="-122"/>
              </a:rPr>
              <a:t>-9x</a:t>
            </a:r>
            <a:r>
              <a:rPr lang="en-US" altLang="zh-CN" sz="2800" kern="100" baseline="30000" dirty="0">
                <a:latin typeface="Times New Roman" panose="02020603050405020304" pitchFamily="18" charset="0"/>
                <a:ea typeface="宋体" panose="02010600030101010101" pitchFamily="2" charset="-122"/>
              </a:rPr>
              <a:t>8                  </a:t>
            </a:r>
            <a:r>
              <a:rPr lang="en-US" altLang="zh-CN" sz="2800" kern="100" dirty="0">
                <a:latin typeface="Times New Roman" panose="02020603050405020304" pitchFamily="18" charset="0"/>
                <a:ea typeface="宋体" panose="02010600030101010101" pitchFamily="2" charset="-122"/>
              </a:rPr>
              <a:t>C=7+11x+22x</a:t>
            </a:r>
            <a:r>
              <a:rPr lang="en-US" altLang="zh-CN" sz="2800" kern="100" baseline="30000" dirty="0">
                <a:latin typeface="Times New Roman" panose="02020603050405020304" pitchFamily="18" charset="0"/>
                <a:ea typeface="宋体" panose="02010600030101010101" pitchFamily="2" charset="-122"/>
              </a:rPr>
              <a:t>7</a:t>
            </a:r>
            <a:r>
              <a:rPr lang="en-US" altLang="zh-CN" sz="2800" kern="100" dirty="0">
                <a:latin typeface="Times New Roman" panose="02020603050405020304" pitchFamily="18" charset="0"/>
                <a:ea typeface="宋体" panose="02010600030101010101" pitchFamily="2" charset="-122"/>
              </a:rPr>
              <a:t> +5x</a:t>
            </a:r>
            <a:r>
              <a:rPr lang="en-US" altLang="zh-CN" sz="2800" kern="100" baseline="30000" dirty="0">
                <a:latin typeface="Times New Roman" panose="02020603050405020304" pitchFamily="18" charset="0"/>
                <a:ea typeface="宋体" panose="02010600030101010101" pitchFamily="2" charset="-122"/>
              </a:rPr>
              <a:t>17         </a:t>
            </a:r>
            <a:endParaRPr lang="zh-CN" altLang="zh-CN" sz="2800" kern="100" dirty="0">
              <a:latin typeface="Times New Roman" panose="02020603050405020304" pitchFamily="18" charset="0"/>
              <a:ea typeface="宋体" panose="02010600030101010101" pitchFamily="2" charset="-122"/>
            </a:endParaRPr>
          </a:p>
        </p:txBody>
      </p:sp>
      <p:pic>
        <p:nvPicPr>
          <p:cNvPr id="7" name="图片 6"/>
          <p:cNvPicPr/>
          <p:nvPr/>
        </p:nvPicPr>
        <p:blipFill>
          <a:blip r:embed="rId1">
            <a:extLst>
              <a:ext uri="{28A0092B-C50C-407E-A947-70E740481C1C}">
                <a14:useLocalDpi xmlns:a14="http://schemas.microsoft.com/office/drawing/2010/main" val="0"/>
              </a:ext>
            </a:extLst>
          </a:blip>
          <a:srcRect/>
          <a:stretch>
            <a:fillRect/>
          </a:stretch>
        </p:blipFill>
        <p:spPr bwMode="auto">
          <a:xfrm>
            <a:off x="1221076" y="2744444"/>
            <a:ext cx="8499394" cy="2034208"/>
          </a:xfrm>
          <a:prstGeom prst="rect">
            <a:avLst/>
          </a:prstGeom>
          <a:noFill/>
          <a:ln>
            <a:noFill/>
          </a:ln>
        </p:spPr>
      </p:pic>
      <p:pic>
        <p:nvPicPr>
          <p:cNvPr id="6" name="图片 5"/>
          <p:cNvPicPr/>
          <p:nvPr/>
        </p:nvPicPr>
        <p:blipFill>
          <a:blip r:embed="rId2">
            <a:extLst>
              <a:ext uri="{28A0092B-C50C-407E-A947-70E740481C1C}">
                <a14:useLocalDpi xmlns:a14="http://schemas.microsoft.com/office/drawing/2010/main" val="0"/>
              </a:ext>
            </a:extLst>
          </a:blip>
          <a:srcRect/>
          <a:stretch>
            <a:fillRect/>
          </a:stretch>
        </p:blipFill>
        <p:spPr bwMode="auto">
          <a:xfrm>
            <a:off x="1221076" y="4911986"/>
            <a:ext cx="7630975" cy="1191868"/>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两个一元多项式相加</a:t>
            </a:r>
            <a:endParaRPr lang="zh-CN" altLang="en-US" dirty="0">
              <a:latin typeface="华文楷体" panose="02010600040101010101" pitchFamily="2" charset="-122"/>
              <a:ea typeface="华文楷体" panose="02010600040101010101" pitchFamily="2" charset="-122"/>
            </a:endParaRPr>
          </a:p>
        </p:txBody>
      </p:sp>
      <p:sp>
        <p:nvSpPr>
          <p:cNvPr id="2" name="矩形 1"/>
          <p:cNvSpPr/>
          <p:nvPr/>
        </p:nvSpPr>
        <p:spPr>
          <a:xfrm>
            <a:off x="658698" y="1546991"/>
            <a:ext cx="11533302" cy="4401205"/>
          </a:xfrm>
          <a:prstGeom prst="rect">
            <a:avLst/>
          </a:prstGeom>
        </p:spPr>
        <p:txBody>
          <a:bodyPr wrap="square">
            <a:spAutoFit/>
          </a:bodyPr>
          <a:lstStyle/>
          <a:p>
            <a:r>
              <a:rPr lang="zh-CN" altLang="en-US" sz="2800" kern="100" dirty="0">
                <a:latin typeface="Times New Roman" panose="02020603050405020304" pitchFamily="18" charset="0"/>
                <a:ea typeface="华文楷体" panose="02010600040101010101" pitchFamily="2" charset="-122"/>
                <a:cs typeface="Times New Roman" panose="02020603050405020304" pitchFamily="18" charset="0"/>
              </a:rPr>
              <a:t>对</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pa</a:t>
            </a:r>
            <a:r>
              <a:rPr lang="zh-CN" altLang="en-US" sz="2800" kern="100" dirty="0">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pb</a:t>
            </a:r>
            <a:r>
              <a:rPr lang="zh-CN" altLang="en-US" sz="2800" kern="100" dirty="0">
                <a:latin typeface="Times New Roman" panose="02020603050405020304" pitchFamily="18" charset="0"/>
                <a:ea typeface="华文楷体" panose="02010600040101010101" pitchFamily="2" charset="-122"/>
                <a:cs typeface="Times New Roman" panose="02020603050405020304" pitchFamily="18" charset="0"/>
              </a:rPr>
              <a:t>所指结点，</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反复执行如下操作，直至其中一个单链表中的结点全部读取完毕。</a:t>
            </a:r>
            <a:endPar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buFont typeface="Wingdings" panose="05000000000000000000" pitchFamily="2" charset="2"/>
              <a:buChar char="Ø"/>
            </a:pPr>
            <a:r>
              <a:rPr lang="zh-CN" altLang="zh-CN" sz="2800" b="1" kern="100" dirty="0">
                <a:latin typeface="Times New Roman" panose="02020603050405020304" pitchFamily="18" charset="0"/>
                <a:ea typeface="华文楷体" panose="02010600040101010101" pitchFamily="2" charset="-122"/>
                <a:cs typeface="Times New Roman" panose="02020603050405020304" pitchFamily="18" charset="0"/>
              </a:rPr>
              <a:t>幂指数相等</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：如果这二个结点的系数之和为零，</a:t>
            </a:r>
            <a:r>
              <a:rPr lang="zh-CN" altLang="en-US" sz="2800" kern="100" dirty="0">
                <a:latin typeface="Times New Roman" panose="02020603050405020304" pitchFamily="18" charset="0"/>
                <a:ea typeface="华文楷体" panose="02010600040101010101" pitchFamily="2" charset="-122"/>
                <a:cs typeface="Times New Roman" panose="02020603050405020304" pitchFamily="18" charset="0"/>
              </a:rPr>
              <a:t>和</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式中</a:t>
            </a:r>
            <a:r>
              <a:rPr lang="zh-CN" altLang="en-US" sz="2800" kern="100" dirty="0">
                <a:latin typeface="Times New Roman" panose="02020603050405020304" pitchFamily="18" charset="0"/>
                <a:ea typeface="华文楷体" panose="02010600040101010101" pitchFamily="2" charset="-122"/>
                <a:cs typeface="Times New Roman" panose="02020603050405020304" pitchFamily="18" charset="0"/>
              </a:rPr>
              <a:t>不增加项</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，否则按照相加后的系数、相应幂指数创建一个新结点，作为和式单链表</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C</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的末结点，</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pa</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pb</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后移。</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buFont typeface="Wingdings" panose="05000000000000000000" pitchFamily="2" charset="2"/>
              <a:buChar char="Ø"/>
            </a:pPr>
            <a:r>
              <a:rPr lang="zh-CN" altLang="zh-CN" sz="2800" b="1" kern="100" dirty="0">
                <a:latin typeface="Times New Roman" panose="02020603050405020304" pitchFamily="18" charset="0"/>
                <a:ea typeface="华文楷体" panose="02010600040101010101" pitchFamily="2" charset="-122"/>
                <a:cs typeface="Times New Roman" panose="02020603050405020304" pitchFamily="18" charset="0"/>
              </a:rPr>
              <a:t>指针</a:t>
            </a:r>
            <a:r>
              <a:rPr lang="en-US" altLang="zh-CN" sz="2800" b="1" kern="100" dirty="0">
                <a:latin typeface="Times New Roman" panose="02020603050405020304" pitchFamily="18" charset="0"/>
                <a:ea typeface="华文楷体" panose="02010600040101010101" pitchFamily="2" charset="-122"/>
                <a:cs typeface="Times New Roman" panose="02020603050405020304" pitchFamily="18" charset="0"/>
              </a:rPr>
              <a:t>pa</a:t>
            </a:r>
            <a:r>
              <a:rPr lang="zh-CN" altLang="zh-CN" sz="2800" b="1" kern="100" dirty="0">
                <a:latin typeface="Times New Roman" panose="02020603050405020304" pitchFamily="18" charset="0"/>
                <a:ea typeface="华文楷体" panose="02010600040101010101" pitchFamily="2" charset="-122"/>
                <a:cs typeface="Times New Roman" panose="02020603050405020304" pitchFamily="18" charset="0"/>
              </a:rPr>
              <a:t>幂指数小：</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按</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pa</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指向的结点的系数、幂指数创建一个新结点作为单链表</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C</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的末结点，</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pa</a:t>
            </a:r>
            <a:r>
              <a:rPr lang="zh-CN" altLang="en-US" sz="2800" kern="100" dirty="0">
                <a:latin typeface="Times New Roman" panose="02020603050405020304" pitchFamily="18" charset="0"/>
                <a:ea typeface="华文楷体" panose="02010600040101010101" pitchFamily="2" charset="-122"/>
                <a:cs typeface="Times New Roman" panose="02020603050405020304" pitchFamily="18" charset="0"/>
              </a:rPr>
              <a:t>后移</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pb</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不变。</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buFont typeface="Wingdings" panose="05000000000000000000" pitchFamily="2" charset="2"/>
              <a:buChar char="Ø"/>
            </a:pPr>
            <a:r>
              <a:rPr lang="zh-CN" altLang="zh-CN" sz="2800" b="1" kern="100" dirty="0">
                <a:latin typeface="Times New Roman" panose="02020603050405020304" pitchFamily="18" charset="0"/>
                <a:ea typeface="华文楷体" panose="02010600040101010101" pitchFamily="2" charset="-122"/>
                <a:cs typeface="Times New Roman" panose="02020603050405020304" pitchFamily="18" charset="0"/>
              </a:rPr>
              <a:t>指针</a:t>
            </a:r>
            <a:r>
              <a:rPr lang="en-US" altLang="zh-CN" sz="2800" b="1" kern="100" dirty="0" err="1">
                <a:latin typeface="Times New Roman" panose="02020603050405020304" pitchFamily="18" charset="0"/>
                <a:ea typeface="华文楷体" panose="02010600040101010101" pitchFamily="2" charset="-122"/>
                <a:cs typeface="Times New Roman" panose="02020603050405020304" pitchFamily="18" charset="0"/>
              </a:rPr>
              <a:t>pb</a:t>
            </a:r>
            <a:r>
              <a:rPr lang="zh-CN" altLang="zh-CN" sz="2800" b="1" kern="100" dirty="0">
                <a:latin typeface="Times New Roman" panose="02020603050405020304" pitchFamily="18" charset="0"/>
                <a:ea typeface="华文楷体" panose="02010600040101010101" pitchFamily="2" charset="-122"/>
                <a:cs typeface="Times New Roman" panose="02020603050405020304" pitchFamily="18" charset="0"/>
              </a:rPr>
              <a:t>幂指数小：</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按</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pb</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指向的结点的系数、幂指数创建一个新结点作为单链表</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C</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的末结点，</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pb</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kern="100" dirty="0">
                <a:latin typeface="Times New Roman" panose="02020603050405020304" pitchFamily="18" charset="0"/>
                <a:ea typeface="华文楷体" panose="02010600040101010101" pitchFamily="2" charset="-122"/>
                <a:cs typeface="Times New Roman" panose="02020603050405020304" pitchFamily="18" charset="0"/>
              </a:rPr>
              <a:t>后移，</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pa</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不变。</a:t>
            </a:r>
            <a:endPar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两个一元多项式相加</a:t>
            </a:r>
            <a:endParaRPr lang="zh-CN" altLang="en-US" dirty="0">
              <a:latin typeface="华文楷体" panose="02010600040101010101" pitchFamily="2" charset="-122"/>
              <a:ea typeface="华文楷体" panose="02010600040101010101" pitchFamily="2" charset="-122"/>
            </a:endParaRPr>
          </a:p>
        </p:txBody>
      </p:sp>
      <p:sp>
        <p:nvSpPr>
          <p:cNvPr id="2" name="矩形 1"/>
          <p:cNvSpPr/>
          <p:nvPr/>
        </p:nvSpPr>
        <p:spPr>
          <a:xfrm>
            <a:off x="288281" y="1668455"/>
            <a:ext cx="11533302" cy="954107"/>
          </a:xfrm>
          <a:prstGeom prst="rect">
            <a:avLst/>
          </a:prstGeom>
        </p:spPr>
        <p:txBody>
          <a:bodyPr wrap="square">
            <a:spAutoFit/>
          </a:bodyPr>
          <a:lstStyle/>
          <a:p>
            <a:r>
              <a:rPr lang="zh-CN" altLang="zh-CN" sz="2800" kern="100" dirty="0">
                <a:latin typeface="华文楷体" panose="02010600040101010101" pitchFamily="2" charset="-122"/>
                <a:ea typeface="华文楷体" panose="02010600040101010101" pitchFamily="2" charset="-122"/>
                <a:cs typeface="Times New Roman" panose="02020603050405020304" pitchFamily="18" charset="0"/>
              </a:rPr>
              <a:t>将非空多项式单链表</a:t>
            </a:r>
            <a:r>
              <a:rPr lang="en-US" altLang="zh-CN" sz="2800" kern="100" dirty="0">
                <a:latin typeface="华文楷体" panose="02010600040101010101" pitchFamily="2" charset="-122"/>
                <a:ea typeface="华文楷体" panose="02010600040101010101" pitchFamily="2" charset="-122"/>
                <a:cs typeface="Times New Roman" panose="02020603050405020304" pitchFamily="18" charset="0"/>
              </a:rPr>
              <a:t>(</a:t>
            </a:r>
            <a:r>
              <a:rPr lang="zh-CN" altLang="zh-CN" sz="2800" kern="100" dirty="0">
                <a:latin typeface="华文楷体" panose="02010600040101010101" pitchFamily="2" charset="-122"/>
                <a:ea typeface="华文楷体" panose="02010600040101010101" pitchFamily="2" charset="-122"/>
                <a:cs typeface="Times New Roman" panose="02020603050405020304" pitchFamily="18" charset="0"/>
              </a:rPr>
              <a:t>可能是</a:t>
            </a:r>
            <a:r>
              <a:rPr lang="en-US" altLang="zh-CN" sz="2800" kern="100" dirty="0">
                <a:latin typeface="华文楷体" panose="02010600040101010101" pitchFamily="2" charset="-122"/>
                <a:ea typeface="华文楷体" panose="02010600040101010101" pitchFamily="2" charset="-122"/>
                <a:cs typeface="Times New Roman" panose="02020603050405020304" pitchFamily="18" charset="0"/>
              </a:rPr>
              <a:t>A</a:t>
            </a:r>
            <a:r>
              <a:rPr lang="zh-CN" altLang="zh-CN" sz="2800" kern="100" dirty="0">
                <a:latin typeface="华文楷体" panose="02010600040101010101" pitchFamily="2" charset="-122"/>
                <a:ea typeface="华文楷体" panose="02010600040101010101" pitchFamily="2" charset="-122"/>
                <a:cs typeface="Times New Roman" panose="02020603050405020304" pitchFamily="18" charset="0"/>
              </a:rPr>
              <a:t>的单链表，也可能是</a:t>
            </a:r>
            <a:r>
              <a:rPr lang="en-US" altLang="zh-CN" sz="2800" kern="100" dirty="0">
                <a:latin typeface="华文楷体" panose="02010600040101010101" pitchFamily="2" charset="-122"/>
                <a:ea typeface="华文楷体" panose="02010600040101010101" pitchFamily="2" charset="-122"/>
                <a:cs typeface="Times New Roman" panose="02020603050405020304" pitchFamily="18" charset="0"/>
              </a:rPr>
              <a:t>B</a:t>
            </a:r>
            <a:r>
              <a:rPr lang="zh-CN" altLang="zh-CN" sz="2800" kern="100" dirty="0">
                <a:latin typeface="华文楷体" panose="02010600040101010101" pitchFamily="2" charset="-122"/>
                <a:ea typeface="华文楷体" panose="02010600040101010101" pitchFamily="2" charset="-122"/>
                <a:cs typeface="Times New Roman" panose="02020603050405020304" pitchFamily="18" charset="0"/>
              </a:rPr>
              <a:t>的单链表</a:t>
            </a:r>
            <a:r>
              <a:rPr lang="en-US" altLang="zh-CN" sz="2800" kern="100" dirty="0">
                <a:latin typeface="华文楷体" panose="02010600040101010101" pitchFamily="2" charset="-122"/>
                <a:ea typeface="华文楷体" panose="02010600040101010101" pitchFamily="2" charset="-122"/>
                <a:cs typeface="Times New Roman" panose="02020603050405020304" pitchFamily="18" charset="0"/>
              </a:rPr>
              <a:t>)</a:t>
            </a:r>
            <a:r>
              <a:rPr lang="zh-CN" altLang="zh-CN" sz="2800" kern="100" dirty="0">
                <a:latin typeface="华文楷体" panose="02010600040101010101" pitchFamily="2" charset="-122"/>
                <a:ea typeface="华文楷体" panose="02010600040101010101" pitchFamily="2" charset="-122"/>
                <a:cs typeface="Times New Roman" panose="02020603050405020304" pitchFamily="18" charset="0"/>
              </a:rPr>
              <a:t>中的剩余结点，按序逐个创建新结点插入在单链表</a:t>
            </a:r>
            <a:r>
              <a:rPr lang="en-US" altLang="zh-CN" sz="2800" kern="100" dirty="0">
                <a:latin typeface="华文楷体" panose="02010600040101010101" pitchFamily="2" charset="-122"/>
                <a:ea typeface="华文楷体" panose="02010600040101010101" pitchFamily="2" charset="-122"/>
                <a:cs typeface="Times New Roman" panose="02020603050405020304" pitchFamily="18" charset="0"/>
              </a:rPr>
              <a:t> C </a:t>
            </a:r>
            <a:r>
              <a:rPr lang="zh-CN" altLang="zh-CN" sz="2800" kern="100" dirty="0">
                <a:latin typeface="华文楷体" panose="02010600040101010101" pitchFamily="2" charset="-122"/>
                <a:ea typeface="华文楷体" panose="02010600040101010101" pitchFamily="2" charset="-122"/>
                <a:cs typeface="Times New Roman" panose="02020603050405020304" pitchFamily="18" charset="0"/>
              </a:rPr>
              <a:t>的尾部</a:t>
            </a:r>
            <a:endParaRPr lang="zh-CN" altLang="zh-CN" sz="2800" kern="100" dirty="0">
              <a:latin typeface="华文楷体" panose="02010600040101010101" pitchFamily="2" charset="-122"/>
              <a:ea typeface="华文楷体" panose="02010600040101010101" pitchFamily="2" charset="-122"/>
              <a:cs typeface="Times New Roman" panose="02020603050405020304" pitchFamily="18" charset="0"/>
            </a:endParaRPr>
          </a:p>
        </p:txBody>
      </p:sp>
      <p:pic>
        <p:nvPicPr>
          <p:cNvPr id="8" name="图片 7"/>
          <p:cNvPicPr/>
          <p:nvPr/>
        </p:nvPicPr>
        <p:blipFill>
          <a:blip r:embed="rId1">
            <a:extLst>
              <a:ext uri="{28A0092B-C50C-407E-A947-70E740481C1C}">
                <a14:useLocalDpi xmlns:a14="http://schemas.microsoft.com/office/drawing/2010/main" val="0"/>
              </a:ext>
            </a:extLst>
          </a:blip>
          <a:srcRect/>
          <a:stretch>
            <a:fillRect/>
          </a:stretch>
        </p:blipFill>
        <p:spPr bwMode="auto">
          <a:xfrm>
            <a:off x="2188885" y="2962689"/>
            <a:ext cx="7630975" cy="1191868"/>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fontScale="90000"/>
          </a:bodyPr>
          <a:lstStyle/>
          <a:p>
            <a:pPr marL="838200" indent="-838200">
              <a:defRPr/>
            </a:pP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多项式</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Polynomial </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及其部分基本操作的声明、定义（</a:t>
            </a:r>
            <a:r>
              <a:rPr lang="en-US" altLang="zh-CN" dirty="0" err="1">
                <a:latin typeface="Times New Roman" panose="02020603050405020304" pitchFamily="18" charset="0"/>
                <a:ea typeface="华文楷体" panose="02010600040101010101" pitchFamily="2" charset="-122"/>
                <a:cs typeface="Times New Roman" panose="02020603050405020304" pitchFamily="18" charset="0"/>
              </a:rPr>
              <a:t>polynomial.h</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152400" y="2059637"/>
            <a:ext cx="8733183"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ifndef</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POLYNOMIAL_H_INCLUDED</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#define POLYNOMIAL_H_INCLUDED</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#include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linklist.h</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using namespace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std</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Tree>
  </p:cSld>
  <p:clrMapOvr>
    <a:masterClrMapping/>
  </p:clrMapOvr>
  <p:transition spd="med">
    <p:push/>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fontScale="90000"/>
          </a:bodyPr>
          <a:lstStyle/>
          <a:p>
            <a:pPr marL="838200" indent="-838200">
              <a:defRPr/>
            </a:pP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多项式</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Polynomial </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及其部分基本操作的声明、定义（</a:t>
            </a:r>
            <a:r>
              <a:rPr lang="en-US" altLang="zh-CN" dirty="0" err="1">
                <a:latin typeface="Times New Roman" panose="02020603050405020304" pitchFamily="18" charset="0"/>
                <a:ea typeface="华文楷体" panose="02010600040101010101" pitchFamily="2" charset="-122"/>
                <a:cs typeface="Times New Roman" panose="02020603050405020304" pitchFamily="18" charset="0"/>
              </a:rPr>
              <a:t>polynomial.h</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228649" y="1595021"/>
            <a:ext cx="8733183"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struct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Type</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coef</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 </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系数</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exp</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 </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幂指数</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struct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Node</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data;</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Node* next;</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
        <p:nvSpPr>
          <p:cNvPr id="2" name="文本框 1"/>
          <p:cNvSpPr txBox="1"/>
          <p:nvPr/>
        </p:nvSpPr>
        <p:spPr>
          <a:xfrm>
            <a:off x="7136296" y="2146852"/>
            <a:ext cx="4114800" cy="584775"/>
          </a:xfrm>
          <a:prstGeom prst="rect">
            <a:avLst/>
          </a:prstGeom>
          <a:noFill/>
        </p:spPr>
        <p:txBody>
          <a:bodyPr wrap="square" rtlCol="0">
            <a:spAutoFit/>
          </a:bodyPr>
          <a:lstStyle/>
          <a:p>
            <a:r>
              <a:rPr lang="zh-CN" altLang="en-US" sz="3200" dirty="0">
                <a:latin typeface="华文楷体" panose="02010600040101010101" pitchFamily="2" charset="-122"/>
                <a:ea typeface="华文楷体" panose="02010600040101010101" pitchFamily="2" charset="-122"/>
              </a:rPr>
              <a:t>分开定义结点的好处</a:t>
            </a:r>
            <a:endParaRPr lang="zh-CN" altLang="en-US" sz="32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fontScale="90000"/>
          </a:bodyPr>
          <a:lstStyle/>
          <a:p>
            <a:pPr marL="838200" indent="-838200">
              <a:defRPr/>
            </a:pP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多项式</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Polynomial </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及其部分基本操作的声明、定义（</a:t>
            </a:r>
            <a:r>
              <a:rPr lang="en-US" altLang="zh-CN" dirty="0" err="1">
                <a:latin typeface="Times New Roman" panose="02020603050405020304" pitchFamily="18" charset="0"/>
                <a:ea typeface="华文楷体" panose="02010600040101010101" pitchFamily="2" charset="-122"/>
                <a:cs typeface="Times New Roman" panose="02020603050405020304" pitchFamily="18" charset="0"/>
              </a:rPr>
              <a:t>polynomial.h</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152400" y="1497092"/>
            <a:ext cx="10684516"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struct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Polynomial</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private: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head;</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stop_flag</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用于判断多项式输入结束。</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public:</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从用户处获取结束标志并初始化多项式</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Polynomial(</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&amp;stop);</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void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getPoly</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读入一个多项式。</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Tree>
  </p:cSld>
  <p:clrMapOvr>
    <a:masterClrMapping/>
  </p:clrMapOvr>
  <p:transition spd="med">
    <p:push/>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fontScale="90000"/>
          </a:bodyPr>
          <a:lstStyle/>
          <a:p>
            <a:pPr marL="838200" indent="-838200">
              <a:defRPr/>
            </a:pPr>
            <a:r>
              <a:rPr lang="zh-CN" altLang="zh-CN" dirty="0">
                <a:latin typeface="华文楷体" panose="02010600040101010101" pitchFamily="2" charset="-122"/>
                <a:ea typeface="华文楷体" panose="02010600040101010101" pitchFamily="2" charset="-122"/>
              </a:rPr>
              <a:t>多项式</a:t>
            </a:r>
            <a:r>
              <a:rPr lang="en-US" altLang="zh-CN" dirty="0">
                <a:latin typeface="华文楷体" panose="02010600040101010101" pitchFamily="2" charset="-122"/>
                <a:ea typeface="华文楷体" panose="02010600040101010101" pitchFamily="2" charset="-122"/>
              </a:rPr>
              <a:t>Polynomial </a:t>
            </a:r>
            <a:r>
              <a:rPr lang="zh-CN" altLang="zh-CN" dirty="0">
                <a:latin typeface="华文楷体" panose="02010600040101010101" pitchFamily="2" charset="-122"/>
                <a:ea typeface="华文楷体" panose="02010600040101010101" pitchFamily="2" charset="-122"/>
              </a:rPr>
              <a:t>及其部分基本操作的声明、定义（</a:t>
            </a:r>
            <a:r>
              <a:rPr lang="en-US" altLang="zh-CN" dirty="0" err="1">
                <a:latin typeface="华文楷体" panose="02010600040101010101" pitchFamily="2" charset="-122"/>
                <a:ea typeface="华文楷体" panose="02010600040101010101" pitchFamily="2" charset="-122"/>
              </a:rPr>
              <a:t>polynomial.h</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268356" y="1634039"/>
            <a:ext cx="11655287"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void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addPoly</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Polynomial &amp;L1,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Polynomial &amp;L2);</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L3=L1+l2</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void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dispPloy</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显示一个多项式</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void clear();//</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释放多项式空间</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~Polynomial(){clear(); delete head;};</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Tree>
  </p:cSld>
  <p:clrMapOvr>
    <a:masterClrMapping/>
  </p:clrMapOvr>
  <p:transition spd="med">
    <p:push/>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fontScale="90000"/>
          </a:bodyPr>
          <a:lstStyle/>
          <a:p>
            <a:pPr marL="838200" indent="-838200">
              <a:defRPr/>
            </a:pP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多项式</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Polynomial </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及其部分基本操作的声明、定义（</a:t>
            </a:r>
            <a:r>
              <a:rPr lang="en-US" altLang="zh-CN" dirty="0" err="1">
                <a:latin typeface="Times New Roman" panose="02020603050405020304" pitchFamily="18" charset="0"/>
                <a:ea typeface="华文楷体" panose="02010600040101010101" pitchFamily="2" charset="-122"/>
                <a:cs typeface="Times New Roman" panose="02020603050405020304" pitchFamily="18" charset="0"/>
              </a:rPr>
              <a:t>polynomial.h</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152400" y="1543772"/>
            <a:ext cx="11655287"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getStop</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为外部函数，即非类成员函数</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void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getStop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stopFlag</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从用户处获取结束标志</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&lt;&lt;"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请输入系数、指数对作为结束标志</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如</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(0,0):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cin</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&gt;&gt;c&gt;&gt;e;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stopFlag.coef</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c;</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stopFlag.exp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Tree>
  </p:cSld>
  <p:clrMapOvr>
    <a:masterClrMapping/>
  </p:clrMapOvr>
  <p:transition spd="med">
    <p:push/>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fontScale="90000"/>
          </a:bodyPr>
          <a:lstStyle/>
          <a:p>
            <a:pPr marL="838200" indent="-838200">
              <a:defRPr/>
            </a:pP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多项式</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Polynomial </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及其部分基本操作的声明、定义（</a:t>
            </a:r>
            <a:r>
              <a:rPr lang="en-US" altLang="zh-CN" dirty="0" err="1">
                <a:latin typeface="Times New Roman" panose="02020603050405020304" pitchFamily="18" charset="0"/>
                <a:ea typeface="华文楷体" panose="02010600040101010101" pitchFamily="2" charset="-122"/>
                <a:cs typeface="Times New Roman" panose="02020603050405020304" pitchFamily="18" charset="0"/>
              </a:rPr>
              <a:t>polynomial.h</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42082" y="1472875"/>
            <a:ext cx="11655287"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Polynomial&lt;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&gt;::Polynomial(</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&amp;stop)</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初始化多项式</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head = new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stop_flag.coef</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stop.coef</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stop_flag.exp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stop.exp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void Polynomial&lt;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getPoly</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读入一个多项式</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*p,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Tree>
  </p:cSld>
  <p:clrMapOvr>
    <a:masterClrMapping/>
  </p:clrMapOvr>
  <p:transition spd="med">
    <p:push/>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fontScale="90000"/>
          </a:bodyPr>
          <a:lstStyle/>
          <a:p>
            <a:pPr marL="838200" indent="-838200">
              <a:defRPr/>
            </a:pP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多项式</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Polynomial </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及其部分基本操作的声明、定义（</a:t>
            </a:r>
            <a:r>
              <a:rPr lang="en-US" altLang="zh-CN" dirty="0" err="1">
                <a:latin typeface="Times New Roman" panose="02020603050405020304" pitchFamily="18" charset="0"/>
                <a:ea typeface="华文楷体" panose="02010600040101010101" pitchFamily="2" charset="-122"/>
                <a:cs typeface="Times New Roman" panose="02020603050405020304" pitchFamily="18" charset="0"/>
              </a:rPr>
              <a:t>polynomial.h</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0" y="1832438"/>
            <a:ext cx="11834191"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p=head;</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&lt;&lt;“</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请按照指数从小到大输入系数、指数对，</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&lt;&lt;</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最后输入结束标志对结束：</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\n";</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cin</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&gt;&gt;</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e.coef</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&gt;&gt;</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e.exp</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while (true)</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e.coef</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stop_flag.coef</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)&amp;&amp;(</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e.exp</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stop_flag.exp</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break;</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Tree>
  </p:cSld>
  <p:clrMapOvr>
    <a:masterClrMapping/>
  </p:clrMapOvr>
  <p:transition spd="med">
    <p:push/>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fontScale="90000"/>
          </a:bodyPr>
          <a:lstStyle/>
          <a:p>
            <a:pPr marL="838200" indent="-838200">
              <a:defRPr/>
            </a:pP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多项式</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Polynomial </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及其部分基本操作的声明、定义（</a:t>
            </a:r>
            <a:r>
              <a:rPr lang="en-US" altLang="zh-CN" dirty="0" err="1">
                <a:latin typeface="Times New Roman" panose="02020603050405020304" pitchFamily="18" charset="0"/>
                <a:ea typeface="华文楷体" panose="02010600040101010101" pitchFamily="2" charset="-122"/>
                <a:cs typeface="Times New Roman" panose="02020603050405020304" pitchFamily="18" charset="0"/>
              </a:rPr>
              <a:t>polynomial.h</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152401" y="1624626"/>
            <a:ext cx="911087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tmp</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 new Node&lt;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tmp</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data.coef</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e.coef</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tmp</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data.exp</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e.exp</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tmp</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-&gt;next = NULL;</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p-&gt;next =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tmp</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p=</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tmp</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cin</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&gt;&gt;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e.coef</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&gt;&gt;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e.exp</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Tree>
  </p:cSld>
  <p:clrMapOvr>
    <a:masterClrMapping/>
  </p:clrMapOvr>
  <p:transition spd="med">
    <p:push/>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fontScale="90000"/>
          </a:bodyPr>
          <a:lstStyle/>
          <a:p>
            <a:pPr marL="838200" indent="-838200">
              <a:defRPr/>
            </a:pP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多项式</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Polynomial </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及其部分基本操作的声明、定义（</a:t>
            </a:r>
            <a:r>
              <a:rPr lang="en-US" altLang="zh-CN" dirty="0" err="1">
                <a:latin typeface="Times New Roman" panose="02020603050405020304" pitchFamily="18" charset="0"/>
                <a:ea typeface="华文楷体" panose="02010600040101010101" pitchFamily="2" charset="-122"/>
                <a:cs typeface="Times New Roman" panose="02020603050405020304" pitchFamily="18" charset="0"/>
              </a:rPr>
              <a:t>polynomial.h</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152400" y="1675741"/>
            <a:ext cx="10681251"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template &lt;class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void Polynomial&lt;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addPoly</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const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Polynomial &amp;La,</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const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Polynomial &amp;</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Lb</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La+Lb</a:t>
            </a:r>
            <a:r>
              <a:rPr lang="zh-CN"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见教材</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Tree>
  </p:cSld>
  <p:clrMapOvr>
    <a:masterClrMapping/>
  </p:clrMapOvr>
  <p:transition spd="med">
    <p:push/>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多项式</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Polynomial</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相加主程序（</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main.cpp</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11" name="Line 799"/>
          <p:cNvCxnSpPr>
            <a:cxnSpLocks noChangeShapeType="1"/>
          </p:cNvCxnSpPr>
          <p:nvPr/>
        </p:nvCxnSpPr>
        <p:spPr bwMode="auto">
          <a:xfrm>
            <a:off x="1371600" y="8858885"/>
            <a:ext cx="491490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
        <p:nvSpPr>
          <p:cNvPr id="4" name="Rectangle 3"/>
          <p:cNvSpPr>
            <a:spLocks noChangeArrowheads="1"/>
          </p:cNvSpPr>
          <p:nvPr/>
        </p:nvSpPr>
        <p:spPr bwMode="auto">
          <a:xfrm>
            <a:off x="152400" y="1385776"/>
            <a:ext cx="11145078"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#include &lt;</a:t>
            </a:r>
            <a:r>
              <a:rPr kumimoji="0" lang="en-US" altLang="zh-CN" sz="2400" b="0" i="0" u="none" strike="noStrike" cap="none" normalizeH="0" baseline="0" dirty="0" err="1">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iostream</a:t>
            </a: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&gt;</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#include "</a:t>
            </a:r>
            <a:r>
              <a:rPr kumimoji="0" lang="en-US" altLang="zh-CN" sz="2400" b="0" i="0" u="none" strike="noStrike" cap="none" normalizeH="0" baseline="0" dirty="0" err="1">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polynomial.h</a:t>
            </a: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using namespace </a:t>
            </a:r>
            <a:r>
              <a:rPr kumimoji="0" lang="en-US" altLang="zh-CN" sz="2400" b="0" i="0" u="none" strike="noStrike" cap="none" normalizeH="0" baseline="0" dirty="0" err="1">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std</a:t>
            </a: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err="1">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int</a:t>
            </a: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main()</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Type </a:t>
            </a:r>
            <a:r>
              <a:rPr kumimoji="0" lang="en-US" altLang="zh-CN" sz="2400" b="0" i="0" u="none" strike="noStrike" cap="none" normalizeH="0" baseline="0" dirty="0" err="1">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stop_flag</a:t>
            </a: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kumimoji="0" lang="en-US" altLang="zh-CN" sz="2400" b="0" i="0" u="none" strike="noStrike" cap="none" normalizeH="0" baseline="0" dirty="0" err="1">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getStop</a:t>
            </a: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kumimoji="0" lang="en-US" altLang="zh-CN" sz="2400" b="0" i="0" u="none" strike="noStrike" cap="none" normalizeH="0" baseline="0" dirty="0" err="1">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stop_flag</a:t>
            </a: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kumimoji="0" lang="zh-CN" altLang="en-US"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读入停止标志对</a:t>
            </a:r>
            <a:endParaRPr kumimoji="0" lang="zh-CN" altLang="en-US" sz="3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Polynomial&lt;Type&gt; L1(</a:t>
            </a:r>
            <a:r>
              <a:rPr kumimoji="0" lang="en-US" altLang="zh-CN" sz="2400" b="0" i="0" u="none" strike="noStrike" cap="none" normalizeH="0" baseline="0" dirty="0" err="1">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stop_flag</a:t>
            </a: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L2(</a:t>
            </a:r>
            <a:r>
              <a:rPr kumimoji="0" lang="en-US" altLang="zh-CN" sz="2400" b="0" i="0" u="none" strike="noStrike" cap="none" normalizeH="0" baseline="0" dirty="0" err="1">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stop_flag</a:t>
            </a: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L3(</a:t>
            </a:r>
            <a:r>
              <a:rPr kumimoji="0" lang="en-US" altLang="zh-CN" sz="2400" b="0" i="0" u="none" strike="noStrike" cap="none" normalizeH="0" baseline="0" dirty="0" err="1">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stop_flag</a:t>
            </a: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L1.getPoly(); //</a:t>
            </a:r>
            <a:r>
              <a:rPr kumimoji="0" lang="zh-CN" altLang="en-US"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读入第一个多项式</a:t>
            </a:r>
            <a:endParaRPr kumimoji="0" lang="zh-CN" altLang="en-US" sz="3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L2.getPoly(); //</a:t>
            </a:r>
            <a:r>
              <a:rPr kumimoji="0" lang="zh-CN" altLang="en-US"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读入第二个多项式</a:t>
            </a:r>
            <a:endParaRPr kumimoji="0" lang="zh-CN" altLang="en-US" sz="3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L3.addPoly(L1,L2); //L1 = L2 +L3</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L3.dispPloy(); //</a:t>
            </a:r>
            <a:r>
              <a:rPr kumimoji="0" lang="zh-CN" altLang="en-US"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显示多项式</a:t>
            </a: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L3</a:t>
            </a:r>
            <a:r>
              <a:rPr kumimoji="0" lang="zh-CN" altLang="en-US"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的内容</a:t>
            </a:r>
            <a:endParaRPr kumimoji="0" lang="zh-CN" altLang="en-US" sz="3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return 0;</a:t>
            </a:r>
            <a:endPar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kumimoji="0" lang="en-US" altLang="zh-CN" sz="3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en-US" altLang="zh-CN" sz="48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44837" y="1692386"/>
            <a:ext cx="3941876" cy="4422664"/>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线性表</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顺序表及实现</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链表及实现</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一元多项式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稀疏矩阵</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字符串</a:t>
            </a:r>
            <a:r>
              <a:rPr lang="en-US"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658700" y="1638375"/>
                <a:ext cx="10434869" cy="4841938"/>
              </a:xfrm>
            </p:spPr>
            <p:txBody>
              <a:bodyPr>
                <a:noAutofit/>
              </a:bodyPr>
              <a:lstStyle/>
              <a:p>
                <a:pPr marL="0" indent="0">
                  <a:lnSpc>
                    <a:spcPct val="115000"/>
                  </a:lnSpc>
                  <a:buNone/>
                  <a:defRPr/>
                </a:pPr>
                <a:r>
                  <a:rPr lang="zh-CN" altLang="zh-CN" sz="2800" b="0" dirty="0">
                    <a:ea typeface="华文楷体" panose="02010600040101010101" pitchFamily="2" charset="-122"/>
                    <a:cs typeface="Times New Roman" panose="02020603050405020304" pitchFamily="18" charset="0"/>
                  </a:rPr>
                  <a:t>矩阵中的非零元素个数远远小于矩阵元素总数，并且非零元素的分布没有规律。</a:t>
                </a:r>
                <a:endParaRPr lang="en-US" altLang="zh-CN" sz="2800" b="0" dirty="0">
                  <a:ea typeface="华文楷体" panose="02010600040101010101" pitchFamily="2" charset="-122"/>
                  <a:cs typeface="Times New Roman" panose="02020603050405020304" pitchFamily="18" charset="0"/>
                </a:endParaRPr>
              </a:p>
              <a:p>
                <a:pPr>
                  <a:lnSpc>
                    <a:spcPct val="115000"/>
                  </a:lnSpc>
                  <a:buFont typeface="Wingdings" panose="05000000000000000000" pitchFamily="2" charset="2"/>
                  <a:buChar char="Ø"/>
                  <a:defRPr/>
                </a:pPr>
                <a:r>
                  <a:rPr lang="zh-CN" altLang="zh-CN" sz="2800" b="0" dirty="0">
                    <a:ea typeface="华文楷体" panose="02010600040101010101" pitchFamily="2" charset="-122"/>
                    <a:cs typeface="Times New Roman" panose="02020603050405020304" pitchFamily="18" charset="0"/>
                  </a:rPr>
                  <a:t>稀疏矩阵存储的直观方法是只存储其中的非零元素和非零元素所在的位置。</a:t>
                </a:r>
                <a:endParaRPr lang="en-US" altLang="zh-CN" sz="2800" b="0" dirty="0">
                  <a:ea typeface="华文楷体" panose="02010600040101010101" pitchFamily="2" charset="-122"/>
                  <a:cs typeface="Times New Roman" panose="02020603050405020304" pitchFamily="18" charset="0"/>
                </a:endParaRPr>
              </a:p>
              <a:p>
                <a:pPr>
                  <a:lnSpc>
                    <a:spcPct val="115000"/>
                  </a:lnSpc>
                  <a:buFont typeface="Wingdings" panose="05000000000000000000" pitchFamily="2" charset="2"/>
                  <a:buChar char="Ø"/>
                  <a:defRPr/>
                </a:pPr>
                <a:r>
                  <a:rPr lang="zh-CN" altLang="zh-CN" sz="2800" b="0" dirty="0">
                    <a:ea typeface="华文楷体" panose="02010600040101010101" pitchFamily="2" charset="-122"/>
                    <a:cs typeface="Times New Roman" panose="02020603050405020304" pitchFamily="18" charset="0"/>
                  </a:rPr>
                  <a:t>每个非零元素</a:t>
                </a:r>
                <a14:m>
                  <m:oMath xmlns:m="http://schemas.openxmlformats.org/officeDocument/2006/math">
                    <m:sSub>
                      <m:sSubPr>
                        <m:ctrlPr>
                          <a:rPr lang="en-US" altLang="zh-CN" sz="2800" b="0" i="1" smtClean="0">
                            <a:latin typeface="Cambria Math" panose="02040503050406030204" pitchFamily="18" charset="0"/>
                            <a:ea typeface="华文楷体" panose="02010600040101010101" pitchFamily="2" charset="-122"/>
                          </a:rPr>
                        </m:ctrlPr>
                      </m:sSubPr>
                      <m:e>
                        <m:r>
                          <m:rPr>
                            <m:sty m:val="p"/>
                          </m:rPr>
                          <a:rPr lang="en-US" altLang="zh-CN" sz="2800" b="0" i="1">
                            <a:latin typeface="Cambria Math" panose="02040503050406030204" pitchFamily="18" charset="0"/>
                            <a:ea typeface="华文楷体" panose="02010600040101010101" pitchFamily="2" charset="-122"/>
                          </a:rPr>
                          <m:t>a</m:t>
                        </m:r>
                      </m:e>
                      <m:sub>
                        <m:r>
                          <m:rPr>
                            <m:sty m:val="p"/>
                          </m:rPr>
                          <a:rPr lang="en-US" altLang="zh-CN" sz="2800" b="0" i="1" smtClean="0">
                            <a:latin typeface="Cambria Math" panose="02040503050406030204" pitchFamily="18" charset="0"/>
                            <a:ea typeface="华文楷体" panose="02010600040101010101" pitchFamily="2" charset="-122"/>
                          </a:rPr>
                          <m:t>ij</m:t>
                        </m:r>
                      </m:sub>
                    </m:sSub>
                  </m:oMath>
                </a14:m>
                <a:r>
                  <a:rPr lang="zh-CN" altLang="zh-CN" sz="2800" b="0" dirty="0">
                    <a:ea typeface="华文楷体" panose="02010600040101010101" pitchFamily="2" charset="-122"/>
                    <a:cs typeface="Times New Roman" panose="02020603050405020304" pitchFamily="18" charset="0"/>
                  </a:rPr>
                  <a:t>可以用一个三元组来表示：（</a:t>
                </a:r>
                <a:r>
                  <a:rPr lang="en-US" altLang="zh-CN" sz="2800" b="0" dirty="0" err="1">
                    <a:ea typeface="华文楷体" panose="02010600040101010101" pitchFamily="2" charset="-122"/>
                    <a:cs typeface="Times New Roman" panose="02020603050405020304" pitchFamily="18" charset="0"/>
                  </a:rPr>
                  <a:t>i,j</a:t>
                </a:r>
                <a:r>
                  <a:rPr lang="en-US" altLang="zh-CN" sz="2800" b="0" dirty="0">
                    <a:ea typeface="华文楷体" panose="02010600040101010101" pitchFamily="2" charset="-122"/>
                    <a:cs typeface="Times New Roman" panose="02020603050405020304" pitchFamily="18" charset="0"/>
                  </a:rPr>
                  <a:t>, </a:t>
                </a:r>
                <a14:m>
                  <m:oMath xmlns:m="http://schemas.openxmlformats.org/officeDocument/2006/math">
                    <m:sSub>
                      <m:sSubPr>
                        <m:ctrlPr>
                          <a:rPr lang="en-US" altLang="zh-CN" sz="2800" b="0" i="1">
                            <a:latin typeface="Cambria Math" panose="02040503050406030204" pitchFamily="18" charset="0"/>
                            <a:ea typeface="华文楷体" panose="02010600040101010101" pitchFamily="2" charset="-122"/>
                          </a:rPr>
                        </m:ctrlPr>
                      </m:sSubPr>
                      <m:e>
                        <m:r>
                          <m:rPr>
                            <m:sty m:val="p"/>
                          </m:rPr>
                          <a:rPr lang="en-US" altLang="zh-CN" sz="2800" b="0" i="1">
                            <a:latin typeface="Cambria Math" panose="02040503050406030204" pitchFamily="18" charset="0"/>
                            <a:ea typeface="华文楷体" panose="02010600040101010101" pitchFamily="2" charset="-122"/>
                          </a:rPr>
                          <m:t>a</m:t>
                        </m:r>
                      </m:e>
                      <m:sub>
                        <m:r>
                          <m:rPr>
                            <m:sty m:val="p"/>
                          </m:rPr>
                          <a:rPr lang="en-US" altLang="zh-CN" sz="2800" b="0" i="1">
                            <a:latin typeface="Cambria Math" panose="02040503050406030204" pitchFamily="18" charset="0"/>
                            <a:ea typeface="华文楷体" panose="02010600040101010101" pitchFamily="2" charset="-122"/>
                          </a:rPr>
                          <m:t>ij</m:t>
                        </m:r>
                      </m:sub>
                    </m:sSub>
                  </m:oMath>
                </a14:m>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然后将此三元组按照一定的次序排列，如先按照行序再按照列序排列。</a:t>
                </a:r>
                <a:endParaRPr lang="en-US" altLang="zh-CN" sz="2800" b="0" dirty="0">
                  <a:ea typeface="华文楷体" panose="02010600040101010101" pitchFamily="2" charset="-122"/>
                  <a:cs typeface="Times New Roman" panose="02020603050405020304" pitchFamily="18" charset="0"/>
                </a:endParaRPr>
              </a:p>
              <a:p>
                <a:pPr marL="0" indent="0">
                  <a:lnSpc>
                    <a:spcPct val="115000"/>
                  </a:lnSpc>
                  <a:buNone/>
                  <a:defRPr/>
                </a:pPr>
                <a:r>
                  <a:rPr lang="zh-CN" altLang="en-US" sz="2800" b="0" dirty="0">
                    <a:ea typeface="华文楷体" panose="02010600040101010101" pitchFamily="2" charset="-122"/>
                    <a:cs typeface="Times New Roman" panose="02020603050405020304" pitchFamily="18" charset="0"/>
                  </a:rPr>
                  <a:t>如：</a:t>
                </a:r>
                <a:r>
                  <a:rPr lang="zh-CN" altLang="zh-CN" sz="2800" b="0" dirty="0">
                    <a:ea typeface="华文楷体" panose="02010600040101010101" pitchFamily="2" charset="-122"/>
                    <a:cs typeface="Times New Roman" panose="02020603050405020304" pitchFamily="18" charset="0"/>
                  </a:rPr>
                  <a:t>一个二维矩阵可以用一组三元组</a:t>
                </a:r>
                <a:r>
                  <a:rPr lang="en-US" altLang="zh-CN" sz="2800" b="0" dirty="0">
                    <a:ea typeface="华文楷体" panose="02010600040101010101" pitchFamily="2" charset="-122"/>
                    <a:cs typeface="Times New Roman" panose="02020603050405020304" pitchFamily="18" charset="0"/>
                  </a:rPr>
                  <a:t>(0,2,5),(0,3,8),(1,0,6),(2,1,5),(2,4,-5)</a:t>
                </a:r>
                <a:r>
                  <a:rPr lang="zh-CN" altLang="zh-CN" sz="2800" b="0" dirty="0">
                    <a:ea typeface="华文楷体" panose="02010600040101010101" pitchFamily="2" charset="-122"/>
                    <a:cs typeface="Times New Roman" panose="02020603050405020304" pitchFamily="18" charset="0"/>
                  </a:rPr>
                  <a:t>表示</a:t>
                </a:r>
                <a:endParaRPr lang="en-US" altLang="zh-CN" sz="28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658700" y="1638375"/>
                <a:ext cx="10434869" cy="4841938"/>
              </a:xfrm>
              <a:blipFill rotWithShape="1">
                <a:blip r:embed="rId1"/>
                <a:stretch>
                  <a:fillRect l="-2" t="-2" r="1" b="3"/>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稀疏矩阵</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700" y="1638375"/>
            <a:ext cx="11162883" cy="4841938"/>
          </a:xfrm>
        </p:spPr>
        <p:txBody>
          <a:bodyPr>
            <a:noAutofit/>
          </a:bodyPr>
          <a:lstStyle/>
          <a:p>
            <a:pPr marL="0" indent="0">
              <a:buNone/>
            </a:pPr>
            <a:r>
              <a:rPr lang="zh-CN" altLang="zh-CN" sz="2800" b="0" dirty="0">
                <a:ea typeface="华文楷体" panose="02010600040101010101" pitchFamily="2" charset="-122"/>
                <a:cs typeface="Times New Roman" panose="02020603050405020304" pitchFamily="18" charset="0"/>
              </a:rPr>
              <a:t>可以首先定义一个结构体来表示三元组：</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err="1">
                <a:ea typeface="华文楷体" panose="02010600040101010101" pitchFamily="2" charset="-122"/>
                <a:cs typeface="Times New Roman" panose="02020603050405020304" pitchFamily="18" charset="0"/>
              </a:rPr>
              <a:t>struct</a:t>
            </a:r>
            <a:r>
              <a:rPr lang="en-US" altLang="zh-CN" sz="2800" b="0" dirty="0">
                <a:ea typeface="华文楷体" panose="02010600040101010101" pitchFamily="2" charset="-122"/>
                <a:cs typeface="Times New Roman" panose="02020603050405020304" pitchFamily="18" charset="0"/>
              </a:rPr>
              <a:t> triple</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int</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row,col</a:t>
            </a:r>
            <a:r>
              <a:rPr lang="en-US"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int</a:t>
            </a:r>
            <a:r>
              <a:rPr lang="en-US" altLang="zh-CN" sz="2800" b="0" dirty="0">
                <a:ea typeface="华文楷体" panose="02010600040101010101" pitchFamily="2" charset="-122"/>
                <a:cs typeface="Times New Roman" panose="02020603050405020304" pitchFamily="18" charset="0"/>
              </a:rPr>
              <a:t> data;</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将三元组作为</a:t>
            </a:r>
            <a:r>
              <a:rPr lang="en-US" altLang="zh-CN" sz="2800" b="0" dirty="0" err="1">
                <a:ea typeface="华文楷体" panose="02010600040101010101" pitchFamily="2" charset="-122"/>
                <a:cs typeface="Times New Roman" panose="02020603050405020304" pitchFamily="18" charset="0"/>
              </a:rPr>
              <a:t>elemType</a:t>
            </a:r>
            <a:r>
              <a:rPr lang="zh-CN" altLang="zh-CN" sz="2800" b="0" dirty="0">
                <a:ea typeface="华文楷体" panose="02010600040101010101" pitchFamily="2" charset="-122"/>
                <a:cs typeface="Times New Roman" panose="02020603050405020304" pitchFamily="18" charset="0"/>
              </a:rPr>
              <a:t>放在顺序表或者链表中。</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利用两种不同结构存储稀疏矩阵并分别完成矩阵的加法、乘法、转置任务可以作为课后练习完成。</a:t>
            </a: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稀疏矩阵</a:t>
            </a:r>
            <a:endParaRPr lang="zh-CN" altLang="en-US" dirty="0">
              <a:latin typeface="华文楷体" panose="02010600040101010101" pitchFamily="2" charset="-122"/>
              <a:ea typeface="华文楷体" panose="02010600040101010101" pitchFamily="2" charset="-122"/>
            </a:endParaRPr>
          </a:p>
        </p:txBody>
      </p:sp>
      <p:sp>
        <p:nvSpPr>
          <p:cNvPr id="2" name="椭圆 1"/>
          <p:cNvSpPr/>
          <p:nvPr/>
        </p:nvSpPr>
        <p:spPr>
          <a:xfrm>
            <a:off x="11821583" y="6480313"/>
            <a:ext cx="209308" cy="27318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3304" y="1936691"/>
            <a:ext cx="11458279" cy="4021197"/>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对于</a:t>
            </a:r>
            <a:r>
              <a:rPr lang="zh-CN" altLang="en-US" sz="2800" b="0" dirty="0">
                <a:ea typeface="华文楷体" panose="02010600040101010101" pitchFamily="2" charset="-122"/>
                <a:cs typeface="Times New Roman" panose="02020603050405020304" pitchFamily="18" charset="0"/>
              </a:rPr>
              <a:t>最一般的线性结构</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线性表，从逻辑结构、物理结构、基本操作实现、线性结构典型应用四个方面展开了讨论。这四个方面也是后续讨论任何一种数据结构的方法、脉络。</a:t>
            </a:r>
            <a:endParaRPr lang="zh-CN"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在逻辑结构和基本操作分析中：用伪代码书写的抽象数据类型来描述结构中元素、元素间关系和日常生活中线性结构的常见基本操作。常见基本操作，源自于人类在生活中的观察和积累。一般分为结构构造类、属性类、数据操纵类、遍历类和典型应用类基本操作。</a:t>
            </a: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5140740" y="791008"/>
            <a:ext cx="2198801" cy="574183"/>
          </a:xfrm>
        </p:spPr>
        <p:txBody>
          <a:bodyPr>
            <a:noAutofit/>
          </a:bodyPr>
          <a:lstStyle/>
          <a:p>
            <a:pPr marL="838200" indent="-838200">
              <a:defRPr/>
            </a:pPr>
            <a:r>
              <a:rPr lang="zh-CN" altLang="en-US" sz="3600" dirty="0">
                <a:latin typeface="华文楷体" panose="02010600040101010101" pitchFamily="2" charset="-122"/>
                <a:ea typeface="华文楷体" panose="02010600040101010101" pitchFamily="2" charset="-122"/>
              </a:rPr>
              <a:t>小结</a:t>
            </a:r>
            <a:endParaRPr lang="zh-CN" altLang="en-US" sz="36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3304" y="1822390"/>
            <a:ext cx="11828696" cy="4578409"/>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在物理结构分析中：</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ü"/>
            </a:pPr>
            <a:r>
              <a:rPr lang="zh-CN" altLang="zh-CN" sz="2800" b="0" dirty="0">
                <a:ea typeface="华文楷体" panose="02010600040101010101" pitchFamily="2" charset="-122"/>
                <a:cs typeface="Times New Roman" panose="02020603050405020304" pitchFamily="18" charset="0"/>
              </a:rPr>
              <a:t>讨论了将数据存储在内存中连续的空间并利用存储位置的先和后来体现元素关系先后的顺序存储法；</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ü"/>
            </a:pPr>
            <a:r>
              <a:rPr lang="zh-CN" altLang="zh-CN" sz="2800" b="0" dirty="0">
                <a:ea typeface="华文楷体" panose="02010600040101010101" pitchFamily="2" charset="-122"/>
                <a:cs typeface="Times New Roman" panose="02020603050405020304" pitchFamily="18" charset="0"/>
              </a:rPr>
              <a:t>讨论了将元素分别存储在内存中不连续的地方，通过对每个元素附加指针的方法存储元素间关系的链式存储法。</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ü"/>
            </a:pPr>
            <a:r>
              <a:rPr lang="zh-CN" altLang="zh-CN" sz="2800" b="0" dirty="0">
                <a:ea typeface="华文楷体" panose="02010600040101010101" pitchFamily="2" charset="-122"/>
                <a:cs typeface="Times New Roman" panose="02020603050405020304" pitchFamily="18" charset="0"/>
              </a:rPr>
              <a:t>详细讨论了两种结构的不同特征描述，并给出了两种结构的类型描述。</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ü"/>
            </a:pPr>
            <a:r>
              <a:rPr lang="zh-CN" altLang="zh-CN" sz="2800" b="0" dirty="0">
                <a:ea typeface="华文楷体" panose="02010600040101010101" pitchFamily="2" charset="-122"/>
                <a:cs typeface="Times New Roman" panose="02020603050405020304" pitchFamily="18" charset="0"/>
              </a:rPr>
              <a:t>在这一阶段，学习者需对本书采用的</a:t>
            </a:r>
            <a:r>
              <a:rPr lang="en-US" altLang="zh-CN" sz="2800" b="0" dirty="0">
                <a:ea typeface="华文楷体" panose="02010600040101010101" pitchFamily="2" charset="-122"/>
                <a:cs typeface="Times New Roman" panose="02020603050405020304" pitchFamily="18" charset="0"/>
              </a:rPr>
              <a:t>C++</a:t>
            </a:r>
            <a:r>
              <a:rPr lang="zh-CN" altLang="zh-CN" sz="2800" b="0" dirty="0">
                <a:ea typeface="华文楷体" panose="02010600040101010101" pitchFamily="2" charset="-122"/>
                <a:cs typeface="Times New Roman" panose="02020603050405020304" pitchFamily="18" charset="0"/>
              </a:rPr>
              <a:t>语言的语法进行回顾和复习</a:t>
            </a:r>
            <a:r>
              <a:rPr lang="zh-CN" altLang="en-US"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ü"/>
            </a:pPr>
            <a:endParaRPr lang="zh-CN" altLang="zh-CN" sz="2800" b="0" dirty="0">
              <a:ea typeface="华文楷体" panose="02010600040101010101" pitchFamily="2" charset="-122"/>
              <a:cs typeface="Times New Roman" panose="02020603050405020304" pitchFamily="18" charset="0"/>
            </a:endParaRPr>
          </a:p>
          <a:p>
            <a:pPr marL="0" indent="0">
              <a:buNone/>
            </a:pP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5140740" y="791008"/>
            <a:ext cx="2198801" cy="574183"/>
          </a:xfrm>
        </p:spPr>
        <p:txBody>
          <a:bodyPr>
            <a:noAutofit/>
          </a:bodyPr>
          <a:lstStyle/>
          <a:p>
            <a:pPr marL="838200" indent="-838200">
              <a:defRPr/>
            </a:pPr>
            <a:r>
              <a:rPr lang="zh-CN" altLang="en-US" sz="3600" dirty="0">
                <a:latin typeface="华文楷体" panose="02010600040101010101" pitchFamily="2" charset="-122"/>
                <a:ea typeface="华文楷体" panose="02010600040101010101" pitchFamily="2" charset="-122"/>
              </a:rPr>
              <a:t>小结</a:t>
            </a:r>
            <a:endParaRPr lang="zh-CN" altLang="en-US" sz="36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3304" y="1850966"/>
            <a:ext cx="11696424" cy="3963238"/>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在基本操作实现及分析中：</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ü"/>
            </a:pPr>
            <a:r>
              <a:rPr lang="zh-CN" altLang="zh-CN" sz="2800" b="0" dirty="0">
                <a:ea typeface="华文楷体" panose="02010600040101010101" pitchFamily="2" charset="-122"/>
                <a:cs typeface="Times New Roman" panose="02020603050405020304" pitchFamily="18" charset="0"/>
              </a:rPr>
              <a:t>对数据分别在顺序结构和链式结构存储时的常见典型操作，进行了算法设计、实现和算法复杂度分析。</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ü"/>
            </a:pPr>
            <a:r>
              <a:rPr lang="zh-CN" altLang="zh-CN" sz="2800" b="0" dirty="0">
                <a:ea typeface="华文楷体" panose="02010600040101010101" pitchFamily="2" charset="-122"/>
                <a:cs typeface="Times New Roman" panose="02020603050405020304" pitchFamily="18" charset="0"/>
              </a:rPr>
              <a:t>掌握利用参数分析、空间检查、核心操作、对其他属性的影响、正确返回的“五步口诀法”，设计一个相对完整的程序。</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ü"/>
            </a:pPr>
            <a:r>
              <a:rPr lang="zh-CN" altLang="zh-CN" sz="2800" b="0" dirty="0">
                <a:ea typeface="华文楷体" panose="02010600040101010101" pitchFamily="2" charset="-122"/>
                <a:cs typeface="Times New Roman" panose="02020603050405020304" pitchFamily="18" charset="0"/>
              </a:rPr>
              <a:t>通过对算法的复杂度分析，了解两种不同存储结构的优缺点和适用场合</a:t>
            </a:r>
            <a:r>
              <a:rPr lang="zh-CN" altLang="en-US"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ü"/>
            </a:pPr>
            <a:endParaRPr lang="zh-CN"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ü"/>
            </a:pP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5140740" y="791008"/>
            <a:ext cx="2198801" cy="574183"/>
          </a:xfrm>
        </p:spPr>
        <p:txBody>
          <a:bodyPr>
            <a:noAutofit/>
          </a:bodyPr>
          <a:lstStyle/>
          <a:p>
            <a:pPr marL="838200" indent="-838200">
              <a:defRPr/>
            </a:pPr>
            <a:r>
              <a:rPr lang="zh-CN" altLang="en-US" sz="3600" dirty="0">
                <a:latin typeface="华文楷体" panose="02010600040101010101" pitchFamily="2" charset="-122"/>
                <a:ea typeface="华文楷体" panose="02010600040101010101" pitchFamily="2" charset="-122"/>
              </a:rPr>
              <a:t>小结</a:t>
            </a:r>
            <a:endParaRPr lang="zh-CN" altLang="en-US" sz="36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11545" y="1751224"/>
            <a:ext cx="11458279" cy="3890452"/>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典型应用中</a:t>
            </a:r>
            <a:r>
              <a:rPr lang="en-US"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详细讨论了一元多项式、稀疏矩阵的存储和运算。</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在现实生活中，具有线性关系的数据远远不止这些。但通过这三方面的例子，可以体会到：通过调用本章分析和建立的线性表</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顺序表、链表</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，将这些表作为工具或者利用其存储和处理思路，可以非常方便地处理部分实际生活中的问题， </a:t>
            </a:r>
            <a:endParaRPr lang="zh-CN" altLang="zh-CN" sz="2800" b="0" dirty="0">
              <a:ea typeface="华文楷体" panose="02010600040101010101" pitchFamily="2" charset="-122"/>
              <a:cs typeface="Times New Roman" panose="02020603050405020304" pitchFamily="18" charset="0"/>
            </a:endParaRPr>
          </a:p>
          <a:p>
            <a:pPr marL="0" indent="0">
              <a:buNone/>
            </a:pPr>
            <a:endParaRPr lang="zh-CN" altLang="zh-CN" sz="2800" b="0" dirty="0">
              <a:ea typeface="华文楷体" panose="02010600040101010101" pitchFamily="2" charset="-122"/>
              <a:cs typeface="Times New Roman" panose="02020603050405020304" pitchFamily="18" charset="0"/>
            </a:endParaRPr>
          </a:p>
          <a:p>
            <a:pPr marL="0" indent="0">
              <a:buNone/>
            </a:pP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5140740" y="791008"/>
            <a:ext cx="2198801" cy="574183"/>
          </a:xfrm>
        </p:spPr>
        <p:txBody>
          <a:bodyPr>
            <a:noAutofit/>
          </a:bodyPr>
          <a:lstStyle/>
          <a:p>
            <a:pPr marL="838200" indent="-838200">
              <a:defRPr/>
            </a:pPr>
            <a:r>
              <a:rPr lang="zh-CN" altLang="en-US" sz="3600" dirty="0">
                <a:latin typeface="华文楷体" panose="02010600040101010101" pitchFamily="2" charset="-122"/>
                <a:ea typeface="华文楷体" panose="02010600040101010101" pitchFamily="2" charset="-122"/>
              </a:rPr>
              <a:t>小结</a:t>
            </a:r>
            <a:endParaRPr lang="zh-CN" altLang="en-US" sz="36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tags/tag1.xml><?xml version="1.0" encoding="utf-8"?>
<p:tagLst xmlns:p="http://schemas.openxmlformats.org/presentationml/2006/main">
  <p:tag name="commondata" val="eyJoZGlkIjoiZDQ1ZjQ5ZGNmZTBkNDVjZDg2NGQ3ZWE0MGY0YWNjMWYifQ=="/>
</p:tagLst>
</file>

<file path=ppt/theme/theme1.xml><?xml version="1.0" encoding="utf-8"?>
<a:theme xmlns:a="http://schemas.openxmlformats.org/drawingml/2006/main" name="2016-VI主题-蓝">
  <a:themeElements>
    <a:clrScheme name="VI蓝色版">
      <a:dk1>
        <a:srgbClr val="000000"/>
      </a:dk1>
      <a:lt1>
        <a:srgbClr val="FFFFFF"/>
      </a:lt1>
      <a:dk2>
        <a:srgbClr val="BD9F68"/>
      </a:dk2>
      <a:lt2>
        <a:srgbClr val="B5B5B6"/>
      </a:lt2>
      <a:accent1>
        <a:srgbClr val="004098"/>
      </a:accent1>
      <a:accent2>
        <a:srgbClr val="0086D1"/>
      </a:accent2>
      <a:accent3>
        <a:srgbClr val="338D27"/>
      </a:accent3>
      <a:accent4>
        <a:srgbClr val="00514E"/>
      </a:accent4>
      <a:accent5>
        <a:srgbClr val="FDD000"/>
      </a:accent5>
      <a:accent6>
        <a:srgbClr val="F08300"/>
      </a:accent6>
      <a:hlink>
        <a:srgbClr val="B5B5B6"/>
      </a:hlink>
      <a:folHlink>
        <a:srgbClr val="BD9F68"/>
      </a:folHlink>
    </a:clrScheme>
    <a:fontScheme name="自定义 7">
      <a:majorFont>
        <a:latin typeface="等线"/>
        <a:ea typeface="等线"/>
        <a:cs typeface=""/>
      </a:majorFont>
      <a:minorFont>
        <a:latin typeface="等线 Light"/>
        <a:ea typeface="等线"/>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2016-VI主题-蓝</Template>
  <TotalTime>0</TotalTime>
  <Words>18245</Words>
  <Application>WPS 演示</Application>
  <PresentationFormat>宽屏</PresentationFormat>
  <Paragraphs>1308</Paragraphs>
  <Slides>102</Slides>
  <Notes>96</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102</vt:i4>
      </vt:variant>
    </vt:vector>
  </HeadingPairs>
  <TitlesOfParts>
    <vt:vector size="118" baseType="lpstr">
      <vt:lpstr>Arial</vt:lpstr>
      <vt:lpstr>宋体</vt:lpstr>
      <vt:lpstr>Wingdings</vt:lpstr>
      <vt:lpstr>Calibri</vt:lpstr>
      <vt:lpstr>Times New Roman</vt:lpstr>
      <vt:lpstr>微软雅黑</vt:lpstr>
      <vt:lpstr>华文楷体</vt:lpstr>
      <vt:lpstr>Symbol</vt:lpstr>
      <vt:lpstr>等线</vt:lpstr>
      <vt:lpstr>Arial Unicode MS</vt:lpstr>
      <vt:lpstr>楷体_GB2312</vt:lpstr>
      <vt:lpstr>Garamond</vt:lpstr>
      <vt:lpstr>新宋体</vt:lpstr>
      <vt:lpstr>Cambria Math</vt:lpstr>
      <vt:lpstr>等线 Light</vt:lpstr>
      <vt:lpstr>2016-VI主题-蓝</vt:lpstr>
      <vt:lpstr>第二章 线性表-上</vt:lpstr>
      <vt:lpstr>C++ Containers library</vt:lpstr>
      <vt:lpstr>PowerPoint 演示文稿</vt:lpstr>
      <vt:lpstr>线性表这章的任务和目标：</vt:lpstr>
      <vt:lpstr>PowerPoint 演示文稿</vt:lpstr>
      <vt:lpstr> 线性结构定义：</vt:lpstr>
      <vt:lpstr>常见的几种线性结构：</vt:lpstr>
      <vt:lpstr>线性表</vt:lpstr>
      <vt:lpstr>线性表List的ADT ：描述关系和关系操作</vt:lpstr>
      <vt:lpstr>线性表List的ADT ：描述关系和关系操作</vt:lpstr>
      <vt:lpstr>线性表List的ADT ：描述关系和关系操作</vt:lpstr>
      <vt:lpstr>PowerPoint 演示文稿</vt:lpstr>
      <vt:lpstr>顺序结构</vt:lpstr>
      <vt:lpstr>顺序表的存储映像图</vt:lpstr>
      <vt:lpstr>顺序表seqList及操作的定义（seqList.h）</vt:lpstr>
      <vt:lpstr>顺序表seqList及操作的定义（seqList.h）</vt:lpstr>
      <vt:lpstr>顺序表seqList及操作的定义（seqList.h）</vt:lpstr>
      <vt:lpstr>顺序表seqList及操作的定义（seqList.h）</vt:lpstr>
      <vt:lpstr>顺序表seqList及操作的定义（seqList.h）</vt:lpstr>
      <vt:lpstr>顺序表基本操作的实现代码 （seqList.h）</vt:lpstr>
      <vt:lpstr>顺序表基本操作的实现代码</vt:lpstr>
      <vt:lpstr>顺序表基本操作的实现分析</vt:lpstr>
      <vt:lpstr>顺序表基本操作的实现代码</vt:lpstr>
      <vt:lpstr>顺序表基本操作的实现分析</vt:lpstr>
      <vt:lpstr>顺序表基本操作的实现代码</vt:lpstr>
      <vt:lpstr>顺序表基本操作的实现代码</vt:lpstr>
      <vt:lpstr>顺序表基本操作的实现分析</vt:lpstr>
      <vt:lpstr>顺序表基本操作的实现代码</vt:lpstr>
      <vt:lpstr>顺序表基本操作的实现代码</vt:lpstr>
      <vt:lpstr>顺序表基本操作的实现代码</vt:lpstr>
      <vt:lpstr>顺序表基本操作的实现代码</vt:lpstr>
      <vt:lpstr>顺序表应用---基本操作的测试    main.cpp</vt:lpstr>
      <vt:lpstr>PowerPoint 演示文稿</vt:lpstr>
      <vt:lpstr>PowerPoint 演示文稿</vt:lpstr>
      <vt:lpstr>PowerPoint 演示文稿</vt:lpstr>
      <vt:lpstr>PowerPoint 演示文稿</vt:lpstr>
      <vt:lpstr>小结：</vt:lpstr>
      <vt:lpstr>PowerPoint 演示文稿</vt:lpstr>
      <vt:lpstr>链式结构</vt:lpstr>
      <vt:lpstr>链表的存储映像图</vt:lpstr>
      <vt:lpstr>结构类型，结构变量，结构指针</vt:lpstr>
      <vt:lpstr>PowerPoint 演示文稿</vt:lpstr>
      <vt:lpstr>结点和链表：</vt:lpstr>
      <vt:lpstr>单链表特点：</vt:lpstr>
      <vt:lpstr>单链表类：</vt:lpstr>
      <vt:lpstr>单链表结点类： （linkList.h）</vt:lpstr>
      <vt:lpstr>单链表结点类：</vt:lpstr>
      <vt:lpstr>单链表类： （linkList.h）</vt:lpstr>
      <vt:lpstr>单链表类：</vt:lpstr>
      <vt:lpstr>链表基本操作的实现代码（linkList.h）</vt:lpstr>
      <vt:lpstr>链表基本操作的实现分析</vt:lpstr>
      <vt:lpstr>链表基本操作的实现分析</vt:lpstr>
      <vt:lpstr>链表基本操作的实现分析</vt:lpstr>
      <vt:lpstr>链表基本操作的实现代码</vt:lpstr>
      <vt:lpstr>链表基本操作的实现分析</vt:lpstr>
      <vt:lpstr>链表基本操作的实现分析</vt:lpstr>
      <vt:lpstr>PowerPoint 演示文稿</vt:lpstr>
      <vt:lpstr>链表基本操作的实现分析</vt:lpstr>
      <vt:lpstr>链表基本操作的实现代码</vt:lpstr>
      <vt:lpstr>链表基本操作的实现代码</vt:lpstr>
      <vt:lpstr>链表基本操作的实现代码</vt:lpstr>
      <vt:lpstr>链表基本操作的实现代码</vt:lpstr>
      <vt:lpstr>链表基本操作的实现代码</vt:lpstr>
      <vt:lpstr>两种常用技巧：兄弟协同法、首席插入法</vt:lpstr>
      <vt:lpstr>PowerPoint 演示文稿</vt:lpstr>
      <vt:lpstr>练习：对一个单链表进行就地逆置---摆龙门阵</vt:lpstr>
      <vt:lpstr>PowerPoint 演示文稿</vt:lpstr>
      <vt:lpstr>“兄弟协同法”+“首席插入法”实现单链表的就地逆置</vt:lpstr>
      <vt:lpstr>常见错误：</vt:lpstr>
      <vt:lpstr>PowerPoint 演示文稿</vt:lpstr>
      <vt:lpstr>PowerPoint 演示文稿</vt:lpstr>
      <vt:lpstr>单循环链表</vt:lpstr>
      <vt:lpstr>不带头结点的单循环链表</vt:lpstr>
      <vt:lpstr>双向链表</vt:lpstr>
      <vt:lpstr>双向循环链表</vt:lpstr>
      <vt:lpstr>结点</vt:lpstr>
      <vt:lpstr>双向链表</vt:lpstr>
      <vt:lpstr>PowerPoint 演示文稿</vt:lpstr>
      <vt:lpstr>一元多项式</vt:lpstr>
      <vt:lpstr>一元多项式的顺序存储</vt:lpstr>
      <vt:lpstr>一元多项式的链式存储</vt:lpstr>
      <vt:lpstr>一元多项式的链式存储</vt:lpstr>
      <vt:lpstr>两个一元多项式相加</vt:lpstr>
      <vt:lpstr>两个一元多项式相加</vt:lpstr>
      <vt:lpstr>两个一元多项式相加</vt:lpstr>
      <vt:lpstr>多项式Polynomial 及其部分基本操作的声明、定义（polynomial.h）</vt:lpstr>
      <vt:lpstr>多项式Polynomial 及其部分基本操作的声明、定义（polynomial.h）</vt:lpstr>
      <vt:lpstr>多项式Polynomial 及其部分基本操作的声明、定义（polynomial.h）</vt:lpstr>
      <vt:lpstr>多项式Polynomial 及其部分基本操作的声明、定义（polynomial.h）</vt:lpstr>
      <vt:lpstr>多项式Polynomial 及其部分基本操作的声明、定义（polynomial.h）</vt:lpstr>
      <vt:lpstr>多项式Polynomial 及其部分基本操作的声明、定义（polynomial.h）</vt:lpstr>
      <vt:lpstr>多项式Polynomial 及其部分基本操作的声明、定义（polynomial.h）</vt:lpstr>
      <vt:lpstr>多项式Polynomial 及其部分基本操作的声明、定义（polynomial.h）</vt:lpstr>
      <vt:lpstr>多项式Polynomial 及其部分基本操作的声明、定义（polynomial.h）</vt:lpstr>
      <vt:lpstr>多项式Polynomial相加主程序（main.cpp）</vt:lpstr>
      <vt:lpstr>PowerPoint 演示文稿</vt:lpstr>
      <vt:lpstr>稀疏矩阵</vt:lpstr>
      <vt:lpstr>稀疏矩阵</vt:lpstr>
      <vt:lpstr>小结</vt:lpstr>
      <vt:lpstr>小结</vt:lpstr>
      <vt:lpstr>小结</vt:lpstr>
      <vt:lpstr>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沈小丹</dc:creator>
  <cp:lastModifiedBy>陈卓妍</cp:lastModifiedBy>
  <cp:revision>489</cp:revision>
  <dcterms:created xsi:type="dcterms:W3CDTF">2016-04-20T02:59:00Z</dcterms:created>
  <dcterms:modified xsi:type="dcterms:W3CDTF">2024-12-09T04:44:25Z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BDECA4BF88484E39A095A3846BCB6923_12</vt:lpwstr>
  </property>
  <property fmtid="{D5CDD505-2E9C-101B-9397-08002B2CF9AE}" pid="3" name="KSOProductBuildVer">
    <vt:lpwstr>2052-12.1.0.15712</vt:lpwstr>
  </property>
</Properties>
</file>