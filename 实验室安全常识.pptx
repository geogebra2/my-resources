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37"/>
  </p:notesMasterIdLst>
  <p:handoutMasterIdLst>
    <p:handoutMasterId r:id="rId38"/>
  </p:handoutMasterIdLst>
  <p:sldIdLst>
    <p:sldId id="259" r:id="rId3"/>
    <p:sldId id="1770" r:id="rId4"/>
    <p:sldId id="1771" r:id="rId5"/>
    <p:sldId id="1772" r:id="rId6"/>
    <p:sldId id="1774" r:id="rId7"/>
    <p:sldId id="1775" r:id="rId8"/>
    <p:sldId id="1773" r:id="rId9"/>
    <p:sldId id="1776" r:id="rId10"/>
    <p:sldId id="1777" r:id="rId11"/>
    <p:sldId id="1778" r:id="rId12"/>
    <p:sldId id="1781" r:id="rId13"/>
    <p:sldId id="1782" r:id="rId14"/>
    <p:sldId id="1783" r:id="rId15"/>
    <p:sldId id="1779" r:id="rId16"/>
    <p:sldId id="1780" r:id="rId17"/>
    <p:sldId id="1784" r:id="rId18"/>
    <p:sldId id="1785" r:id="rId19"/>
    <p:sldId id="1786" r:id="rId20"/>
    <p:sldId id="1787" r:id="rId21"/>
    <p:sldId id="1789" r:id="rId22"/>
    <p:sldId id="1790" r:id="rId23"/>
    <p:sldId id="1791" r:id="rId24"/>
    <p:sldId id="1795" r:id="rId25"/>
    <p:sldId id="1796" r:id="rId26"/>
    <p:sldId id="1792" r:id="rId27"/>
    <p:sldId id="1793" r:id="rId28"/>
    <p:sldId id="1794" r:id="rId29"/>
    <p:sldId id="1797" r:id="rId30"/>
    <p:sldId id="1798" r:id="rId31"/>
    <p:sldId id="1799" r:id="rId32"/>
    <p:sldId id="1800" r:id="rId33"/>
    <p:sldId id="1788" r:id="rId34"/>
    <p:sldId id="1801" r:id="rId35"/>
    <p:sldId id="1802" r:id="rId36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684DC81-D2C3-44A6-8941-05B53D2E0557}">
          <p14:sldIdLst>
            <p14:sldId id="259"/>
          </p14:sldIdLst>
        </p14:section>
        <p14:section name="目录与章节过渡" id="{847108E3-22F3-4CD9-A82A-834291DC17F4}">
          <p14:sldIdLst/>
        </p14:section>
        <p14:section name="内容页" id="{EB11151C-0E14-47B0-8218-1431BF894351}">
          <p14:sldIdLst>
            <p14:sldId id="1770"/>
            <p14:sldId id="1771"/>
            <p14:sldId id="1772"/>
            <p14:sldId id="1774"/>
            <p14:sldId id="1775"/>
            <p14:sldId id="1773"/>
            <p14:sldId id="1776"/>
            <p14:sldId id="1777"/>
            <p14:sldId id="1778"/>
            <p14:sldId id="1781"/>
            <p14:sldId id="1782"/>
            <p14:sldId id="1783"/>
            <p14:sldId id="1779"/>
            <p14:sldId id="1780"/>
            <p14:sldId id="1784"/>
            <p14:sldId id="1785"/>
            <p14:sldId id="1786"/>
            <p14:sldId id="1787"/>
            <p14:sldId id="1789"/>
            <p14:sldId id="1790"/>
            <p14:sldId id="1791"/>
            <p14:sldId id="1795"/>
            <p14:sldId id="1796"/>
            <p14:sldId id="1792"/>
            <p14:sldId id="1793"/>
            <p14:sldId id="1794"/>
            <p14:sldId id="1797"/>
            <p14:sldId id="1798"/>
            <p14:sldId id="1799"/>
            <p14:sldId id="1800"/>
            <p14:sldId id="1788"/>
            <p14:sldId id="1801"/>
            <p14:sldId id="1802"/>
          </p14:sldIdLst>
        </p14:section>
        <p14:section name="封底" id="{843E591D-6EE2-4691-951C-C0C689F22170}">
          <p14:sldIdLst/>
        </p14:section>
        <p14:section name="配色与字体" id="{3D97B63B-D70E-4F27-8A27-3FF98FBB7258}">
          <p14:sldIdLst/>
        </p14:section>
        <p14:section name="图标" id="{256EF24B-5FA9-4838-AFAB-30B46CBE188B}">
          <p14:sldIdLst/>
        </p14:section>
      </p14:sectionLst>
    </p:ex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5" autoAdjust="0"/>
    <p:restoredTop sz="77709" autoAdjust="0"/>
  </p:normalViewPr>
  <p:slideViewPr>
    <p:cSldViewPr snapToGrid="0" showGuides="1">
      <p:cViewPr varScale="1">
        <p:scale>
          <a:sx n="68" d="100"/>
          <a:sy n="68" d="100"/>
        </p:scale>
        <p:origin x="1176" y="5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84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 showGuides="1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http://sbc.zjou.edu.cn/info/1064/1524.htm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1 .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实验室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检验人员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的安全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有些实验需要在高温、高压强磁微波和辐射强酸碱腐蚀及有毒气体等条件下进行工作，实验室未配备良好的通风、排气等安全设施，检验人员的身心会有很大的危险。作为实验室安全防护的责任者，实验室检验人员应随时随地做好安全防护工作，对实验室存在的不安全因素要及时上报，进行整改；实验中如发生安全事故，需配有应急救助设施。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实验室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物品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的安全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一些实验室对使用的大量化学有毒甚至剧毒农药标准品、有机试剂、药品、高压气体钢瓶因疏于管理，存有安全问题；由于检测面积不够，需要分开存放的物品没有完全做到分开存放，存有安全隐患。 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实验室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仪器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的安全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为满足检测项目的要求，实验室需配备各种大型的精密仪器。实验室应有应急动力供应系统，否则在仪器使用中如果突然停电，易造成仪器设备损坏。实验室内消防应急、仪器防静电接地、排风设施、仪器标志应齐全有效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实验室的水、电安全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实验人员对水和电使用不当而引起火灾的现象具有普遍性，尤其是存有易燃易爆药品的实验室。分析原因有：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忘记关水、关电。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仪器操作不慎或使用不当。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供电线路老化、超负荷运行。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烟头引起火灾也是重要安全隐患。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防毒、防爆设施不全。</a:t>
            </a:r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实验室排放物对环境的安全隐患</a:t>
            </a:r>
          </a:p>
          <a:p>
            <a:r>
              <a:rPr lang="zh-CN" altLang="en-US" dirty="0" smtClean="0"/>
              <a:t>      在实验过程中会产生大量的废液、废气和废物，有过期或失效的有机试剂及强酸碱腐蚀药品，含有多种有毒、有害物质，若不经妥善处理，如未达到规定的排放标准而排放到环境（大气、土壤、水）中，很容易污染环境，破坏生态平衡和自然资源，实际上实验室已成了一种不可忽视的污染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025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实验室要采用正确的安全方法，制定细致计划，合理安排实验工作</a:t>
            </a:r>
            <a:endParaRPr lang="en-US" altLang="zh-CN" dirty="0" smtClean="0"/>
          </a:p>
          <a:p>
            <a:r>
              <a:rPr lang="zh-CN" altLang="en-US" dirty="0" smtClean="0"/>
              <a:t>实验室提供或配备合适的安全设施和防护设备，部署合理位置</a:t>
            </a:r>
            <a:endParaRPr lang="en-US" altLang="zh-CN" dirty="0" smtClean="0"/>
          </a:p>
          <a:p>
            <a:r>
              <a:rPr lang="zh-CN" altLang="en-US" dirty="0" smtClean="0"/>
              <a:t>进入实验室，要遵守实验室相关规章制度，对设备操作要按照操作规程进行</a:t>
            </a:r>
            <a:endParaRPr lang="en-US" altLang="zh-CN" dirty="0" smtClean="0"/>
          </a:p>
          <a:p>
            <a:r>
              <a:rPr lang="zh-CN" altLang="en-US" dirty="0" smtClean="0"/>
              <a:t>实验室要规范使用水、电、气、火等，保持实验区域干净整洁</a:t>
            </a:r>
            <a:endParaRPr lang="en-US" altLang="zh-CN" dirty="0" smtClean="0"/>
          </a:p>
          <a:p>
            <a:r>
              <a:rPr lang="zh-CN" altLang="en-US" dirty="0" smtClean="0"/>
              <a:t>不准在实验室进食，饮水，嬉戏打闹，绝对禁止在实验室吸烟</a:t>
            </a:r>
            <a:endParaRPr lang="en-US" altLang="zh-CN" dirty="0" smtClean="0"/>
          </a:p>
          <a:p>
            <a:r>
              <a:rPr lang="zh-CN" altLang="en-US" dirty="0" smtClean="0"/>
              <a:t>进行有危险性实验时，要做好防护措施，佩戴合适的防护用品</a:t>
            </a:r>
            <a:endParaRPr lang="en-US" altLang="zh-CN" dirty="0" smtClean="0"/>
          </a:p>
          <a:p>
            <a:r>
              <a:rPr lang="zh-CN" altLang="en-US" dirty="0" smtClean="0"/>
              <a:t>遇到不安全行为或安全隐患，要及时提醒或通告安全人员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2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915E0-7E7B-4E91-A2E6-50DB32FFA4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3352562" y="6244170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ECA0A7A8-52A5-4508-9B7C-8E9F070AF3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915E0-7E7B-4E91-A2E6-50DB32FFA4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E0947F5-F302-4DA0-B1F5-30EE10CF1F22}"/>
              </a:ext>
            </a:extLst>
          </p:cNvPr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357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建筑物, 圆屋顶, 地板&#10;&#10;描述已自动生成">
            <a:extLst>
              <a:ext uri="{FF2B5EF4-FFF2-40B4-BE49-F238E27FC236}">
                <a16:creationId xmlns:a16="http://schemas.microsoft.com/office/drawing/2014/main" id="{32C61E04-9C57-4412-9EA5-8082A6789B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5A6C460-C718-4155-A390-E0273AFCB62A}"/>
              </a:ext>
            </a:extLst>
          </p:cNvPr>
          <p:cNvSpPr/>
          <p:nvPr userDrawn="1"/>
        </p:nvSpPr>
        <p:spPr>
          <a:xfrm>
            <a:off x="4144710" y="1537750"/>
            <a:ext cx="8047290" cy="3189811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86" y="2142500"/>
            <a:ext cx="8047290" cy="259093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1297" y="2602227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1280" y="4870088"/>
            <a:ext cx="224470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19584" y="3810704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73862409-EB7F-40D8-9600-B7C8CE927E6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119382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63D107-02BD-4A0D-9132-36E8D944F4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24558" y="4410381"/>
            <a:ext cx="3935296" cy="20929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D92EBD5-2225-4D92-B6FB-5F42D4CF9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F038EC1-5530-4400-9F4D-38CB7EE61E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6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5D47FDF-63E1-442F-8001-E72FBC10D88D}"/>
              </a:ext>
            </a:extLst>
          </p:cNvPr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22DE15-F0A7-4081-B20E-F56AF7E8D451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068AF075-1EBE-4100-82B6-D1B2511E27A3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D1F02EB-A5F5-4A25-8E13-33D76C3997D5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" name="图片 10" descr="图片包含 建筑物&#10;&#10;自动生成的说明">
                  <a:extLst>
                    <a:ext uri="{FF2B5EF4-FFF2-40B4-BE49-F238E27FC236}">
                      <a16:creationId xmlns:a16="http://schemas.microsoft.com/office/drawing/2014/main" id="{27CDB2F7-E7B6-465A-921A-BD30952F7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01EB5B-A305-4D12-8523-8654B0DF8D3C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400" b="1" dirty="0">
                    <a:solidFill>
                      <a:schemeClr val="accent1"/>
                    </a:solidFill>
                  </a:rPr>
                  <a:t>目  录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DBDFDE5-938B-46BA-BF04-52626678C645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C96E7EA-26DC-40A9-97DD-57F90BFFB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6D2A06B-94AC-4433-BBC3-A98A9F2FD4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72150" y="0"/>
            <a:ext cx="641985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 userDrawn="1"/>
        </p:nvSpPr>
        <p:spPr>
          <a:xfrm flipV="1">
            <a:off x="56726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>
            <a:extLst>
              <a:ext uri="{FF2B5EF4-FFF2-40B4-BE49-F238E27FC236}">
                <a16:creationId xmlns:a16="http://schemas.microsoft.com/office/drawing/2014/main" id="{1CF278BF-7BDF-4094-9C1D-962B78BFD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CBE5229-6D64-4AB4-BD32-C5A9C0A25B3D}"/>
              </a:ext>
            </a:extLst>
          </p:cNvPr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6977AD1-FB29-49DB-B293-6E501C63653E}"/>
                </a:ext>
              </a:extLst>
            </p:cNvPr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2C25A7C-283B-4D59-8088-0D173FD791A1}"/>
                  </a:ext>
                </a:extLst>
              </p:cNvPr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片 10" descr="图片包含 建筑物&#10;&#10;自动生成的说明">
                <a:extLst>
                  <a:ext uri="{FF2B5EF4-FFF2-40B4-BE49-F238E27FC236}">
                    <a16:creationId xmlns:a16="http://schemas.microsoft.com/office/drawing/2014/main" id="{909D8670-2666-4A27-A0FE-9BF4BFDA7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0563126-3B82-41C3-959D-6EE0A64FB1C8}"/>
                </a:ext>
              </a:extLst>
            </p:cNvPr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accent1"/>
                  </a:solidFill>
                </a:rPr>
                <a:t>目         录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F06D8F-A998-4957-BCDD-C5D37E948A62}"/>
                </a:ext>
              </a:extLst>
            </p:cNvPr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F63F420-5C8B-4249-B74B-AB25DACFA0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047" y="797373"/>
            <a:ext cx="1590855" cy="1114981"/>
          </a:xfrm>
          <a:prstGeom prst="rect">
            <a:avLst/>
          </a:prstGeom>
        </p:spPr>
      </p:pic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E9A5540C-0F48-4B7F-B5D6-F8A8EDA2E8C4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9484F6-57FB-4D78-BAC6-3A0A97C9E850}"/>
              </a:ext>
            </a:extLst>
          </p:cNvPr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47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, 圆屋顶, 地板&#10;&#10;描述已自动生成">
            <a:extLst>
              <a:ext uri="{FF2B5EF4-FFF2-40B4-BE49-F238E27FC236}">
                <a16:creationId xmlns:a16="http://schemas.microsoft.com/office/drawing/2014/main" id="{BCB8885F-CCB9-4EC9-AC5C-83B4329C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8BB665EA-8CD9-4D53-A4AF-D2B7101CE5DB}"/>
              </a:ext>
            </a:extLst>
          </p:cNvPr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片占位符 33">
            <a:extLst>
              <a:ext uri="{FF2B5EF4-FFF2-40B4-BE49-F238E27FC236}">
                <a16:creationId xmlns:a16="http://schemas.microsoft.com/office/drawing/2014/main" id="{94A66D01-D8F9-449F-918E-8E0F01222D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43182647-270A-4077-B505-0FC4222D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65DB092-56FD-4A68-9D16-CFF0FD3D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39166EE3-A8B8-4A65-AEC2-261BB698A7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772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, 圆屋顶, 地板&#10;&#10;描述已自动生成">
            <a:extLst>
              <a:ext uri="{FF2B5EF4-FFF2-40B4-BE49-F238E27FC236}">
                <a16:creationId xmlns:a16="http://schemas.microsoft.com/office/drawing/2014/main" id="{CA20EC42-E2DC-453A-A334-D1D7BD3BE5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8BB665EA-8CD9-4D53-A4AF-D2B7101CE5DB}"/>
              </a:ext>
            </a:extLst>
          </p:cNvPr>
          <p:cNvSpPr/>
          <p:nvPr userDrawn="1"/>
        </p:nvSpPr>
        <p:spPr>
          <a:xfrm rot="10800000">
            <a:off x="5885901" y="-45000"/>
            <a:ext cx="90000" cy="694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片占位符 33">
            <a:extLst>
              <a:ext uri="{FF2B5EF4-FFF2-40B4-BE49-F238E27FC236}">
                <a16:creationId xmlns:a16="http://schemas.microsoft.com/office/drawing/2014/main" id="{94A66D01-D8F9-449F-918E-8E0F01222D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5842000" cy="68770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43182647-270A-4077-B505-0FC4222D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4" y="3047028"/>
            <a:ext cx="5648325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39166EE3-A8B8-4A65-AEC2-261BB698A7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74" y="4054685"/>
            <a:ext cx="5648325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251A89-E640-49C6-A3E7-63D966517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49487" r="1345"/>
          <a:stretch/>
        </p:blipFill>
        <p:spPr>
          <a:xfrm>
            <a:off x="6238430" y="6041797"/>
            <a:ext cx="592044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7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3E2A174E-0D40-4C44-A4CB-067A3AD3E27A}"/>
              </a:ext>
            </a:extLst>
          </p:cNvPr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B6623D7A-6A25-4FAF-BE38-10BE0650BF71}"/>
              </a:ext>
            </a:extLst>
          </p:cNvPr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65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>
            <a:extLst>
              <a:ext uri="{FF2B5EF4-FFF2-40B4-BE49-F238E27FC236}">
                <a16:creationId xmlns:a16="http://schemas.microsoft.com/office/drawing/2014/main" id="{FCB44420-1668-4CDF-B7B1-BF6494090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B0646154-6233-4139-B550-A28CDF04E3FA}"/>
              </a:ext>
            </a:extLst>
          </p:cNvPr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</a:rPr>
              <a:t>标题一</a:t>
            </a: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DB662845-A8FE-4E13-82B8-ABEE9422A575}"/>
              </a:ext>
            </a:extLst>
          </p:cNvPr>
          <p:cNvSpPr/>
          <p:nvPr userDrawn="1"/>
        </p:nvSpPr>
        <p:spPr>
          <a:xfrm>
            <a:off x="2831521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标题二</a:t>
            </a: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44330A7B-15B1-4D7C-8EFE-B8A0161426A0}"/>
              </a:ext>
            </a:extLst>
          </p:cNvPr>
          <p:cNvSpPr/>
          <p:nvPr userDrawn="1"/>
        </p:nvSpPr>
        <p:spPr>
          <a:xfrm>
            <a:off x="4645215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标题三</a:t>
            </a: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FAB9E410-8F4C-4E41-B027-DFC233733AB7}"/>
              </a:ext>
            </a:extLst>
          </p:cNvPr>
          <p:cNvSpPr/>
          <p:nvPr userDrawn="1"/>
        </p:nvSpPr>
        <p:spPr>
          <a:xfrm>
            <a:off x="6481406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标题四</a:t>
            </a: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9F88429B-B890-4CEE-A503-4E91AAB2562D}"/>
              </a:ext>
            </a:extLst>
          </p:cNvPr>
          <p:cNvSpPr/>
          <p:nvPr userDrawn="1"/>
        </p:nvSpPr>
        <p:spPr>
          <a:xfrm>
            <a:off x="829510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标题五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AC3C199-AD82-4263-B8E8-8D1CD35372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2051FE92-34E2-4DFE-BC0D-28D53B1BE4ED}"/>
              </a:ext>
            </a:extLst>
          </p:cNvPr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EE8F87D0-86D3-40A7-B41A-5B19E1D5D4CF}"/>
              </a:ext>
            </a:extLst>
          </p:cNvPr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81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AABAA2F6-CE8B-4D0C-9DA1-7AFD8C0E1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>
            <a:extLst>
              <a:ext uri="{FF2B5EF4-FFF2-40B4-BE49-F238E27FC236}">
                <a16:creationId xmlns:a16="http://schemas.microsoft.com/office/drawing/2014/main" id="{BBD19A13-D175-4468-834D-FE213A533A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FF6FEE6-2A34-4756-8F6B-3232EC375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93235BFC-8F08-4C25-988C-FCB706C52ACD}"/>
              </a:ext>
            </a:extLst>
          </p:cNvPr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A14A4014-5A08-40D8-A5CC-B2FF9962A739}"/>
              </a:ext>
            </a:extLst>
          </p:cNvPr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片包含 户外, 标牌, 黑色&#10;&#10;自动生成的说明">
            <a:extLst>
              <a:ext uri="{FF2B5EF4-FFF2-40B4-BE49-F238E27FC236}">
                <a16:creationId xmlns:a16="http://schemas.microsoft.com/office/drawing/2014/main" id="{EC48E4B1-8892-4D66-885C-B3B81823AF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28" y="853340"/>
            <a:ext cx="1656344" cy="1656344"/>
          </a:xfrm>
          <a:prstGeom prst="rect">
            <a:avLst/>
          </a:prstGeom>
        </p:spPr>
      </p:pic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7322504" y="1488254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7322504" y="4146847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3473" y="2496180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01" y="1860735"/>
            <a:ext cx="2858911" cy="23322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7B15C4-0524-4A21-A6CE-F7DA7DA15B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08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>
            <a:extLst>
              <a:ext uri="{FF2B5EF4-FFF2-40B4-BE49-F238E27FC236}">
                <a16:creationId xmlns:a16="http://schemas.microsoft.com/office/drawing/2014/main" id="{3D05038B-8A32-4BD0-A068-AFE03E6FF8D3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9B0529-EE67-44AA-BAF8-7E78156B3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A12E6D-1EC4-4BB8-BCAB-668C213B8F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B543617-7E5E-4360-A155-0CA2B7AF9E10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96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08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>
            <a:extLst>
              <a:ext uri="{FF2B5EF4-FFF2-40B4-BE49-F238E27FC236}">
                <a16:creationId xmlns:a16="http://schemas.microsoft.com/office/drawing/2014/main" id="{0E7CEFF4-3933-40D2-928B-A28B021C14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762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68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4301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5" r:id="rId4"/>
    <p:sldLayoutId id="2147483657" r:id="rId5"/>
    <p:sldLayoutId id="2147483653" r:id="rId6"/>
    <p:sldLayoutId id="2147483658" r:id="rId7"/>
    <p:sldLayoutId id="2147483650" r:id="rId8"/>
    <p:sldLayoutId id="2147483659" r:id="rId9"/>
    <p:sldLayoutId id="2147483651" r:id="rId10"/>
    <p:sldLayoutId id="2147483654" r:id="rId11"/>
    <p:sldLayoutId id="2147483660" r:id="rId12"/>
    <p:sldLayoutId id="2147483663" r:id="rId13"/>
    <p:sldLayoutId id="214748365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92" userDrawn="1">
          <p15:clr>
            <a:srgbClr val="F26B43"/>
          </p15:clr>
        </p15:guide>
        <p15:guide id="2" pos="7488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72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48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9.jpeg"/><Relationship Id="rId7" Type="http://schemas.openxmlformats.org/officeDocument/2006/relationships/image" Target="../media/image2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jpeg"/><Relationship Id="rId10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2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BE71855-1849-4FC4-A9D5-7DDD1C68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18" y="2016174"/>
            <a:ext cx="9379365" cy="1060855"/>
          </a:xfrm>
        </p:spPr>
        <p:txBody>
          <a:bodyPr/>
          <a:lstStyle/>
          <a:p>
            <a:r>
              <a:rPr lang="zh-CN" altLang="en-US" dirty="0" smtClean="0"/>
              <a:t>实验室安全常识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03F1C-568E-4080-8C79-B487B35A71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fld id="{045CE301-1C36-4793-AA14-14B8D1577BED}" type="datetime2">
              <a:rPr lang="zh-CN" altLang="en-US" smtClean="0"/>
              <a:pPr/>
              <a:t>2022年10月26日</a:t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32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实验室安全的重要性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实验室是教学、科研的重要基地。</a:t>
            </a:r>
            <a:endParaRPr lang="en-US" altLang="zh-CN" dirty="0" smtClean="0"/>
          </a:p>
          <a:p>
            <a:r>
              <a:rPr lang="zh-CN" altLang="en-US" dirty="0" smtClean="0"/>
              <a:t>实验室安全管理是实验室稳定运行的基本保证。</a:t>
            </a:r>
            <a:endParaRPr lang="en-US" altLang="zh-CN" dirty="0" smtClean="0"/>
          </a:p>
          <a:p>
            <a:r>
              <a:rPr lang="zh-CN" altLang="en-US" dirty="0" smtClean="0"/>
              <a:t>实验室安全，需要人人参与，思想上重视，行动上落实，管理上规范。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2425"/>
            <a:ext cx="5717658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3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实验室危险表现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385874" y="2856853"/>
            <a:ext cx="1233519" cy="51916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机械伤害</a:t>
            </a:r>
            <a:endParaRPr lang="zh-CN" altLang="en-US" dirty="0"/>
          </a:p>
        </p:txBody>
      </p:sp>
      <p:pic>
        <p:nvPicPr>
          <p:cNvPr id="1026" name="Picture 2" descr="https://gimg2.baidu.com/image_search/src=http%3A%2F%2Fss2.meipian.me%2Fusers%2F74547765%2F409b1e70-1d7c-11eb-b71a-2344b9636ce1.jpg%3Fmeipian-raw%2Fbucket%2Fivwen%2Fkey%2FdXNlcnMvNzQ1NDc3NjUvNDA5YjFlNzAtMWQ3Yy0xMWViLWI3MWEtMjM0NGI5NjM2Y2UxLmpwZw%3D%3D%2Fsign%2Fb022e4165d6dff34c90b90704d2d580b.jpg&amp;refer=http%3A%2F%2Fss2.meipian.me&amp;app=2002&amp;size=f9999,10000&amp;q=a80&amp;n=0&amp;g=0n&amp;fmt=auto?sec=1667862634&amp;t=f2062bc075087721e9b15781b26ef6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34" y="105685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gimg2.baidu.com/image_search/src=http%3A%2F%2Fpic.ntimg.cn%2Ffile%2F20220725%2F34159420_213150745107_2.jpg&amp;refer=http%3A%2F%2Fpic.ntimg.cn&amp;app=2002&amp;size=f9999,10000&amp;q=a80&amp;n=0&amp;g=0n&amp;fmt=auto?sec=1667862774&amp;t=45ad77e99adfa2ae167cce4268c4c50e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050" y="1056853"/>
            <a:ext cx="151438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4"/>
          <p:cNvSpPr txBox="1">
            <a:spLocks/>
          </p:cNvSpPr>
          <p:nvPr/>
        </p:nvSpPr>
        <p:spPr>
          <a:xfrm>
            <a:off x="3677050" y="2852519"/>
            <a:ext cx="1488660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化学品腐蚀</a:t>
            </a:r>
            <a:endParaRPr lang="zh-CN" altLang="en-US" dirty="0"/>
          </a:p>
        </p:txBody>
      </p:sp>
      <p:pic>
        <p:nvPicPr>
          <p:cNvPr id="1030" name="Picture 6" descr="https://gimg2.baidu.com/image_search/src=http%3A%2F%2F5b0988e595225.cdn.sohucs.com%2Fimages%2F20190902%2Fc29eae07dbd548ed82823e89c8593e39.jpeg&amp;refer=http%3A%2F%2F5b0988e595225.cdn.sohucs.com&amp;app=2002&amp;size=f9999,10000&amp;q=a80&amp;n=0&amp;g=0n&amp;fmt=auto?sec=1667862912&amp;t=5ae8575f6339c31afc05b374cea6fff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46" y="1042438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占位符 4"/>
          <p:cNvSpPr txBox="1">
            <a:spLocks/>
          </p:cNvSpPr>
          <p:nvPr/>
        </p:nvSpPr>
        <p:spPr>
          <a:xfrm>
            <a:off x="6205095" y="2853683"/>
            <a:ext cx="1321501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电线老化</a:t>
            </a:r>
            <a:endParaRPr lang="zh-CN" altLang="en-US" dirty="0"/>
          </a:p>
        </p:txBody>
      </p:sp>
      <p:pic>
        <p:nvPicPr>
          <p:cNvPr id="1032" name="Picture 8" descr="https://gimg2.baidu.com/image_search/src=http%3A%2F%2Fexp-picture.cdn.bcebos.com%2Fbfa52adaf05e4a23238426a91dd818196020e249.jpg%3Fx-bce-process%3Dimage%2Fresize%2Cm_lfit%2Cw_500%2Climit_1&amp;refer=http%3A%2F%2Fexp-picture.cdn.bcebos.com&amp;app=2002&amp;size=f9999,10000&amp;q=a80&amp;n=0&amp;g=0n&amp;fmt=auto?sec=1667863200&amp;t=90366f9a8b83af8fc137a8ca1d845d3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262" y="1015314"/>
            <a:ext cx="188679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占位符 4"/>
          <p:cNvSpPr txBox="1">
            <a:spLocks/>
          </p:cNvSpPr>
          <p:nvPr/>
        </p:nvSpPr>
        <p:spPr>
          <a:xfrm>
            <a:off x="8822907" y="2853434"/>
            <a:ext cx="1321501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电池爆炸</a:t>
            </a:r>
            <a:endParaRPr lang="zh-CN" altLang="en-US" dirty="0"/>
          </a:p>
        </p:txBody>
      </p:sp>
      <p:pic>
        <p:nvPicPr>
          <p:cNvPr id="1034" name="Picture 10" descr="http://t14.baidu.com/it/u=2816758252,2491850236&amp;fm=224&amp;app=112&amp;f=JPEG?w=500&amp;h=5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351" y="3792312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占位符 4"/>
          <p:cNvSpPr txBox="1">
            <a:spLocks/>
          </p:cNvSpPr>
          <p:nvPr/>
        </p:nvSpPr>
        <p:spPr>
          <a:xfrm>
            <a:off x="1358591" y="5592312"/>
            <a:ext cx="1233519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物体倾倒</a:t>
            </a:r>
            <a:endParaRPr lang="zh-CN" altLang="en-US" dirty="0"/>
          </a:p>
        </p:txBody>
      </p:sp>
      <p:pic>
        <p:nvPicPr>
          <p:cNvPr id="1036" name="Picture 12" descr="https://gimg2.baidu.com/image_search/src=http%3A%2F%2Fpic.ntimg.cn%2Ffile%2F20170702%2F11608203_163524064030_2.jpg&amp;refer=http%3A%2F%2Fpic.ntimg.cn&amp;app=2002&amp;size=f9999,10000&amp;q=a80&amp;n=0&amp;g=0n&amp;fmt=auto?sec=1667863768&amp;t=b82419250d6ec36a70931583ffae37f5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240" y="3727107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占位符 4"/>
          <p:cNvSpPr txBox="1">
            <a:spLocks/>
          </p:cNvSpPr>
          <p:nvPr/>
        </p:nvSpPr>
        <p:spPr>
          <a:xfrm>
            <a:off x="3804620" y="5592311"/>
            <a:ext cx="1233519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滑到危险</a:t>
            </a:r>
            <a:endParaRPr lang="zh-CN" altLang="en-US" dirty="0"/>
          </a:p>
        </p:txBody>
      </p:sp>
      <p:pic>
        <p:nvPicPr>
          <p:cNvPr id="1038" name="Picture 14" descr="https://gimg2.baidu.com/image_search/src=http%3A%2F%2Fbpic.51yuansu.com%2Fpic3%2Fcover%2F03%2F20%2F68%2F5b6ab630815b6_610.jpg&amp;refer=http%3A%2F%2Fbpic.51yuansu.com&amp;app=2002&amp;size=f9999,10000&amp;q=a80&amp;n=0&amp;g=0n&amp;fmt=auto?sec=1667863896&amp;t=ccbfc557ca78dab9c548e80c6225783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151" y="3730680"/>
            <a:ext cx="2711111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占位符 4"/>
          <p:cNvSpPr txBox="1">
            <a:spLocks/>
          </p:cNvSpPr>
          <p:nvPr/>
        </p:nvSpPr>
        <p:spPr>
          <a:xfrm>
            <a:off x="6395420" y="5592310"/>
            <a:ext cx="1233519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爆炸危险</a:t>
            </a:r>
            <a:endParaRPr lang="zh-CN" altLang="en-US" dirty="0"/>
          </a:p>
        </p:txBody>
      </p:sp>
      <p:pic>
        <p:nvPicPr>
          <p:cNvPr id="1040" name="Picture 16" descr="https://gimg2.baidu.com/image_search/src=http%3A%2F%2Fexp-picture.cdn.bcebos.com%2F486884883913e8e57e39aa0a352f477047187d6d.jpg%3Fx-bce-process%3Dimage%2Fresize%2Cm_lfit%2Cw_500%2Climit_1&amp;refer=http%3A%2F%2Fexp-picture.cdn.bcebos.com&amp;app=2002&amp;size=f9999,10000&amp;q=a80&amp;n=0&amp;g=0n&amp;fmt=auto?sec=1667864021&amp;t=0f208112de44c55baa64b42be505fb9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262" y="3792312"/>
            <a:ext cx="2304719" cy="153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占位符 4"/>
          <p:cNvSpPr txBox="1">
            <a:spLocks/>
          </p:cNvSpPr>
          <p:nvPr/>
        </p:nvSpPr>
        <p:spPr>
          <a:xfrm>
            <a:off x="9075861" y="5592310"/>
            <a:ext cx="1233519" cy="519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 smtClean="0"/>
              <a:t>着火危险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583" y="6173105"/>
            <a:ext cx="3472525" cy="62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实验室安全问题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实验室人的安全问题：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实验室检查人员安全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实验室实验人员安全</a:t>
            </a:r>
            <a:endParaRPr lang="en-US" altLang="zh-CN" dirty="0"/>
          </a:p>
          <a:p>
            <a:r>
              <a:rPr lang="zh-CN" altLang="en-US" dirty="0" smtClean="0"/>
              <a:t>实验室物的安全问题：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实验室物品安全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实验室仪器安全</a:t>
            </a:r>
            <a:endParaRPr lang="en-US" altLang="zh-CN" dirty="0"/>
          </a:p>
          <a:p>
            <a:r>
              <a:rPr lang="zh-CN" altLang="en-US" dirty="0" smtClean="0"/>
              <a:t>实验室环境的安全问题：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实验室水、电、照明、场所等安全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实验室排放物对环境的安全隐患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4"/>
          <p:cNvSpPr txBox="1">
            <a:spLocks/>
          </p:cNvSpPr>
          <p:nvPr/>
        </p:nvSpPr>
        <p:spPr>
          <a:xfrm>
            <a:off x="5551455" y="1946400"/>
            <a:ext cx="6572811" cy="5032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需要人人参与，思想上重视，行动上落实，管理上规范。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631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实验室安全总则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实验室要采用正确的安全方法，制定细致计划，合理安排实验工作</a:t>
            </a:r>
            <a:endParaRPr lang="en-US" altLang="zh-CN" dirty="0" smtClean="0"/>
          </a:p>
          <a:p>
            <a:r>
              <a:rPr lang="zh-CN" altLang="en-US" dirty="0" smtClean="0"/>
              <a:t>实验室提供或配备合适的安全设施和防护设备，部署合理位置</a:t>
            </a:r>
            <a:endParaRPr lang="en-US" altLang="zh-CN" dirty="0" smtClean="0"/>
          </a:p>
          <a:p>
            <a:r>
              <a:rPr lang="zh-CN" altLang="en-US" dirty="0" smtClean="0"/>
              <a:t>进入实验室，要遵守实验室相关规章制度，对设备操作要按照操作规程进行</a:t>
            </a:r>
            <a:endParaRPr lang="en-US" altLang="zh-CN" dirty="0" smtClean="0"/>
          </a:p>
          <a:p>
            <a:r>
              <a:rPr lang="zh-CN" altLang="en-US" dirty="0" smtClean="0"/>
              <a:t>实验室要</a:t>
            </a:r>
            <a:r>
              <a:rPr lang="zh-CN" altLang="en-US" dirty="0"/>
              <a:t>规范使用水、电、气、火</a:t>
            </a:r>
            <a:r>
              <a:rPr lang="zh-CN" altLang="en-US" dirty="0" smtClean="0"/>
              <a:t>等，</a:t>
            </a:r>
            <a:r>
              <a:rPr lang="zh-CN" altLang="en-US" dirty="0"/>
              <a:t>保持实验区域干净</a:t>
            </a:r>
            <a:r>
              <a:rPr lang="zh-CN" altLang="en-US" dirty="0" smtClean="0"/>
              <a:t>整洁</a:t>
            </a:r>
            <a:endParaRPr lang="en-US" altLang="zh-CN" dirty="0"/>
          </a:p>
          <a:p>
            <a:r>
              <a:rPr lang="zh-CN" altLang="en-US" dirty="0"/>
              <a:t>不准在实验室</a:t>
            </a:r>
            <a:r>
              <a:rPr lang="zh-CN" altLang="en-US" dirty="0" smtClean="0"/>
              <a:t>进食，饮水，</a:t>
            </a:r>
            <a:r>
              <a:rPr lang="zh-CN" altLang="en-US" dirty="0"/>
              <a:t>嬉戏打闹</a:t>
            </a:r>
            <a:r>
              <a:rPr lang="zh-CN" altLang="en-US" dirty="0" smtClean="0"/>
              <a:t>，</a:t>
            </a:r>
            <a:r>
              <a:rPr lang="zh-CN" altLang="en-US" dirty="0"/>
              <a:t>绝对禁止在实验室吸烟</a:t>
            </a:r>
            <a:endParaRPr lang="en-US" altLang="zh-CN" dirty="0"/>
          </a:p>
          <a:p>
            <a:r>
              <a:rPr lang="zh-CN" altLang="en-US" dirty="0" smtClean="0"/>
              <a:t>进行有危险性实验时，要做好防护措施，佩戴合适的防护用品</a:t>
            </a:r>
            <a:endParaRPr lang="en-US" altLang="zh-CN" dirty="0" smtClean="0"/>
          </a:p>
          <a:p>
            <a:r>
              <a:rPr lang="zh-CN" altLang="en-US" dirty="0" smtClean="0"/>
              <a:t>遇到不安全行为或安全隐患，要及时提醒或通告安全人员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7992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实验室安全守则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遇到</a:t>
            </a:r>
            <a:r>
              <a:rPr lang="zh-CN" altLang="en-US" dirty="0"/>
              <a:t>不安全的情形、不安全的行为和可能引起</a:t>
            </a:r>
            <a:r>
              <a:rPr lang="zh-CN" altLang="en-US" dirty="0" smtClean="0"/>
              <a:t>意外事件，要及时告知安全人员</a:t>
            </a:r>
            <a:endParaRPr lang="en-US" altLang="zh-CN" dirty="0" smtClean="0"/>
          </a:p>
          <a:p>
            <a:r>
              <a:rPr lang="zh-CN" altLang="en-US" dirty="0" smtClean="0"/>
              <a:t>对实验设备操作要遵守其安全操作规程</a:t>
            </a:r>
            <a:endParaRPr lang="en-US" altLang="zh-CN" dirty="0" smtClean="0"/>
          </a:p>
          <a:p>
            <a:r>
              <a:rPr lang="zh-CN" altLang="en-US" dirty="0" smtClean="0"/>
              <a:t>使用机械加工器材做好安全防护工作</a:t>
            </a:r>
            <a:endParaRPr lang="en-US" altLang="zh-CN" dirty="0" smtClean="0"/>
          </a:p>
          <a:p>
            <a:r>
              <a:rPr lang="zh-CN" altLang="en-US" dirty="0"/>
              <a:t>了解常见危险化学品的性质，在有充分的防护措施时才能使用</a:t>
            </a:r>
            <a:endParaRPr lang="en-US" altLang="zh-CN" dirty="0"/>
          </a:p>
          <a:p>
            <a:r>
              <a:rPr lang="zh-CN" altLang="en-US" dirty="0" smtClean="0"/>
              <a:t>实验室不得无人看管的情况下进行实验</a:t>
            </a:r>
            <a:endParaRPr lang="en-US" altLang="zh-CN" dirty="0" smtClean="0"/>
          </a:p>
          <a:p>
            <a:r>
              <a:rPr lang="zh-CN" altLang="en-US" dirty="0" smtClean="0"/>
              <a:t>进行危险性实验操作时，需要至少双人在场</a:t>
            </a:r>
            <a:endParaRPr lang="en-US" altLang="zh-CN" dirty="0" smtClean="0"/>
          </a:p>
          <a:p>
            <a:r>
              <a:rPr lang="zh-CN" altLang="en-US" dirty="0" smtClean="0"/>
              <a:t>不得让无关实验人员进入实验室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749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实验室安全操作规程总则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为确保实验室和师生安全，及实验工作的顺利进行，需制订安全操作规程</a:t>
            </a:r>
            <a:endParaRPr lang="en-US" altLang="zh-CN" dirty="0" smtClean="0"/>
          </a:p>
          <a:p>
            <a:r>
              <a:rPr lang="zh-CN" altLang="en-US" dirty="0"/>
              <a:t>实验室采用新技术装备和新的实验操作方法时，必须提前对操作人员进行安全技术培训</a:t>
            </a:r>
            <a:endParaRPr lang="en-US" altLang="zh-CN" dirty="0"/>
          </a:p>
          <a:p>
            <a:r>
              <a:rPr lang="zh-CN" altLang="en-US" dirty="0"/>
              <a:t>实验室各种仪器设备、作业岗位、实验房间，都必须建立完善的安全技术操作规程</a:t>
            </a:r>
            <a:endParaRPr lang="en-US" altLang="zh-CN" dirty="0"/>
          </a:p>
          <a:p>
            <a:r>
              <a:rPr lang="zh-CN" altLang="en-US" dirty="0"/>
              <a:t>实验人员必须按规定正确使用个人防护用品及安全技术、卫生设施</a:t>
            </a:r>
            <a:endParaRPr lang="en-US" altLang="zh-CN" dirty="0" smtClean="0"/>
          </a:p>
          <a:p>
            <a:r>
              <a:rPr lang="zh-CN" altLang="en-US" dirty="0"/>
              <a:t>坚持经常性的安全技术培训，消灭各种不安全因素和事故隐患，加强学习，不断提高实验室安全技术管理水平</a:t>
            </a:r>
          </a:p>
          <a:p>
            <a:r>
              <a:rPr lang="zh-CN" altLang="en-US" dirty="0"/>
              <a:t>外来人员进入</a:t>
            </a:r>
            <a:r>
              <a:rPr lang="zh-CN" altLang="en-US" dirty="0" smtClean="0"/>
              <a:t>实验室，必须</a:t>
            </a:r>
            <a:r>
              <a:rPr lang="zh-CN" altLang="en-US" dirty="0"/>
              <a:t>听从实验人员</a:t>
            </a:r>
            <a:r>
              <a:rPr lang="zh-CN" altLang="en-US" dirty="0" smtClean="0"/>
              <a:t>安排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36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实验室安全操作规程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实验室要定期进行安全检查，对存在隐患及时解决</a:t>
            </a:r>
            <a:endParaRPr lang="en-US" altLang="zh-CN" dirty="0" smtClean="0"/>
          </a:p>
          <a:p>
            <a:r>
              <a:rPr lang="zh-CN" altLang="en-US" dirty="0" smtClean="0"/>
              <a:t>对重要实验设备或有危险性设备要进行使用前培训</a:t>
            </a:r>
            <a:endParaRPr lang="en-US" altLang="zh-CN" dirty="0" smtClean="0"/>
          </a:p>
          <a:p>
            <a:r>
              <a:rPr lang="zh-CN" altLang="en-US" dirty="0" smtClean="0"/>
              <a:t>对实验室师生要定期进行安全教育和培训，提高安全技能</a:t>
            </a:r>
            <a:endParaRPr lang="en-US" altLang="zh-CN" dirty="0"/>
          </a:p>
          <a:p>
            <a:r>
              <a:rPr lang="zh-CN" altLang="en-US" dirty="0" smtClean="0"/>
              <a:t>实验室改造、设备安装等施工，要有专人负责安全工作</a:t>
            </a:r>
            <a:endParaRPr lang="en-US" altLang="zh-CN" dirty="0" smtClean="0"/>
          </a:p>
          <a:p>
            <a:r>
              <a:rPr lang="zh-CN" altLang="en-US" dirty="0" smtClean="0"/>
              <a:t>各实验室要配备适当的消防器材，放置固定，明显位置</a:t>
            </a:r>
            <a:endParaRPr lang="en-US" altLang="zh-CN" dirty="0" smtClean="0"/>
          </a:p>
          <a:p>
            <a:r>
              <a:rPr lang="zh-CN" altLang="en-US" dirty="0" smtClean="0"/>
              <a:t>实验室发生事故，要及时报告老师及安全人员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8128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实验室环境安全守则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实验室内应保持设备、器材的安全、整齐、清洁</a:t>
            </a:r>
            <a:endParaRPr lang="en-US" altLang="zh-CN" dirty="0" smtClean="0"/>
          </a:p>
          <a:p>
            <a:r>
              <a:rPr lang="zh-CN" altLang="en-US" dirty="0" smtClean="0"/>
              <a:t>实验室内应杜绝跑、冒、滴、漏现象发生</a:t>
            </a:r>
            <a:endParaRPr lang="en-US" altLang="zh-CN" dirty="0" smtClean="0"/>
          </a:p>
          <a:p>
            <a:r>
              <a:rPr lang="zh-CN" altLang="en-US" dirty="0" smtClean="0"/>
              <a:t>实验室各种仪器设备的安装、布局，必须符合有关标准，必须便于师生安全使用和操作</a:t>
            </a:r>
            <a:endParaRPr lang="en-US" altLang="zh-CN" dirty="0" smtClean="0"/>
          </a:p>
          <a:p>
            <a:r>
              <a:rPr lang="zh-CN" altLang="en-US" dirty="0" smtClean="0"/>
              <a:t>实验室内应有良好的通风、除尘及空气调节净化设施</a:t>
            </a:r>
            <a:endParaRPr lang="en-US" altLang="zh-CN" dirty="0" smtClean="0"/>
          </a:p>
          <a:p>
            <a:r>
              <a:rPr lang="zh-CN" altLang="en-US" dirty="0" smtClean="0"/>
              <a:t>易燃、易爆、自然、强氧化剂等类药品，一定要妥善保存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23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实验室电器设备的安全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实验室所用电器设备的线路绝缘必须合乎规定并且完好无损，走线合理整齐。</a:t>
            </a:r>
            <a:endParaRPr lang="en-US" altLang="zh-CN" dirty="0" smtClean="0"/>
          </a:p>
          <a:p>
            <a:r>
              <a:rPr lang="zh-CN" altLang="en-US" dirty="0" smtClean="0"/>
              <a:t>实验室的电器设备必须装有可熔保险或自动开关设施。</a:t>
            </a:r>
            <a:endParaRPr lang="en-US" altLang="zh-CN" dirty="0" smtClean="0"/>
          </a:p>
          <a:p>
            <a:r>
              <a:rPr lang="zh-CN" altLang="en-US" dirty="0" smtClean="0"/>
              <a:t>电器设备的金属外壳，如因绝缘损坏而带电时，必须采取接地或接零的保护措施。</a:t>
            </a:r>
            <a:endParaRPr lang="en-US" altLang="zh-CN" dirty="0" smtClean="0"/>
          </a:p>
          <a:p>
            <a:r>
              <a:rPr lang="zh-CN" altLang="en-US" dirty="0" smtClean="0"/>
              <a:t>电器设备和线路的安装要符合规定要求，设备开关和配电装置应有专人负责管理和定期维修</a:t>
            </a:r>
            <a:endParaRPr lang="en-US" altLang="zh-CN" dirty="0" smtClean="0"/>
          </a:p>
          <a:p>
            <a:r>
              <a:rPr lang="zh-CN" altLang="en-US" dirty="0" smtClean="0"/>
              <a:t>禁止用烘箱烤易燃品、爆炸品。</a:t>
            </a:r>
            <a:endParaRPr lang="en-US" altLang="zh-CN" dirty="0" smtClean="0"/>
          </a:p>
          <a:p>
            <a:r>
              <a:rPr lang="zh-CN" altLang="en-US" dirty="0" smtClean="0"/>
              <a:t>在同一烘箱内，不准同时烘干不同性质的几种物品。</a:t>
            </a:r>
            <a:endParaRPr lang="en-US" altLang="zh-CN" dirty="0" smtClean="0"/>
          </a:p>
          <a:p>
            <a:r>
              <a:rPr lang="zh-CN" altLang="en-US" dirty="0" smtClean="0"/>
              <a:t>实验过程中必须使用电炉、电热器时，将电炉、电热器设置在固定位置，设专人负责保管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281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实验室操作安全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不得用身体的任何部位接触转动部件和高温设备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发现起火，要立即切断电源，破灭着火源，移走可燃</a:t>
            </a:r>
            <a:r>
              <a:rPr lang="zh-CN" altLang="en-US" dirty="0" smtClean="0"/>
              <a:t>物。</a:t>
            </a:r>
            <a:endParaRPr lang="en-US" altLang="zh-CN" dirty="0"/>
          </a:p>
          <a:p>
            <a:r>
              <a:rPr lang="zh-CN" altLang="en-US" dirty="0"/>
              <a:t>身上或手上粘有易燃物或氧化剂液时，不得靠近火源，要立即清洗</a:t>
            </a:r>
            <a:r>
              <a:rPr lang="zh-CN" altLang="en-US" dirty="0" smtClean="0"/>
              <a:t>干净。</a:t>
            </a:r>
            <a:endParaRPr lang="en-US" altLang="zh-CN" dirty="0" smtClean="0"/>
          </a:p>
          <a:p>
            <a:r>
              <a:rPr lang="zh-CN" altLang="en-US" dirty="0"/>
              <a:t>开启易挥发性药品时，不要将瓶口对着自己或别人，在夏天气温较高时，开启前应事先设法</a:t>
            </a:r>
            <a:r>
              <a:rPr lang="zh-CN" altLang="en-US" dirty="0" smtClean="0"/>
              <a:t>冷却。</a:t>
            </a:r>
            <a:endParaRPr lang="en-US" altLang="zh-CN" dirty="0" smtClean="0"/>
          </a:p>
          <a:p>
            <a:r>
              <a:rPr lang="zh-CN" altLang="en-US" dirty="0"/>
              <a:t>使用易挥发可燃性试剂时，要尽量防止其挥发，要保持室内通风良好，绝对不可靠近</a:t>
            </a:r>
            <a:r>
              <a:rPr lang="zh-CN" altLang="en-US" dirty="0" smtClean="0"/>
              <a:t>明火。</a:t>
            </a:r>
            <a:endParaRPr lang="en-US" altLang="zh-CN" dirty="0"/>
          </a:p>
          <a:p>
            <a:r>
              <a:rPr lang="zh-CN" altLang="en-US" dirty="0"/>
              <a:t>取用腐蚀性药品时，尽可能戴上橡皮手套，搬用较大瓶子时，必须一手托住底部，一手拿住</a:t>
            </a:r>
            <a:r>
              <a:rPr lang="zh-CN" altLang="en-US" dirty="0" smtClean="0"/>
              <a:t>瓶颈。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336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实验室安全用电常识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1548544"/>
            <a:ext cx="6035563" cy="38560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901" y="2131524"/>
            <a:ext cx="5456393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3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实验室安全用电 </a:t>
            </a:r>
            <a:r>
              <a:rPr lang="en-US" altLang="zh-CN" dirty="0" smtClean="0"/>
              <a:t>—— </a:t>
            </a:r>
            <a:r>
              <a:rPr lang="zh-CN" altLang="en-US" sz="2000" dirty="0" smtClean="0"/>
              <a:t>防止触电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0" y="1548544"/>
            <a:ext cx="6302286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8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实验室安全用电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防止引起火灾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05" y="1548544"/>
            <a:ext cx="6309907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51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实验室安全用电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防止短路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1354939"/>
            <a:ext cx="6226080" cy="35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2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实验室安全用电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电器仪表的安全使用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1274922"/>
            <a:ext cx="6317527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5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实验室安全防护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每个人都要重视实验室安全问题，思想上提高警惕，实验时严格遵守操作规程，加强安全措施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大多数实验室事故是可以避免的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在实验室内，要注意：割伤、烧伤、火灾、中毒、爆炸等事故发生，做好安全防护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032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</a:t>
            </a:r>
            <a:r>
              <a:rPr lang="zh-CN" altLang="en-US" dirty="0" smtClean="0"/>
              <a:t>防护 </a:t>
            </a:r>
            <a:r>
              <a:rPr lang="en-US" altLang="zh-CN" dirty="0" smtClean="0"/>
              <a:t>—— </a:t>
            </a:r>
            <a:r>
              <a:rPr lang="zh-CN" altLang="en-US" sz="2000" dirty="0" smtClean="0"/>
              <a:t>防机械性受伤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实验室中的设备在操作不当的情况下，可能会导致操作人员受伤</a:t>
            </a:r>
            <a:endParaRPr lang="en-US" altLang="zh-CN" dirty="0" smtClean="0"/>
          </a:p>
          <a:p>
            <a:r>
              <a:rPr lang="zh-CN" altLang="en-US" dirty="0" smtClean="0"/>
              <a:t>在使用设备前，要详细阅读设备使用说明书，要了解设备性能，要注意不同操作可能带来的不良后果</a:t>
            </a:r>
            <a:endParaRPr lang="en-US" altLang="zh-CN" dirty="0" smtClean="0"/>
          </a:p>
          <a:p>
            <a:r>
              <a:rPr lang="zh-CN" altLang="en-US" dirty="0" smtClean="0"/>
              <a:t>要严格按照操作规程进行设备操作</a:t>
            </a:r>
            <a:endParaRPr lang="en-US" altLang="zh-CN" dirty="0" smtClean="0"/>
          </a:p>
          <a:p>
            <a:r>
              <a:rPr lang="zh-CN" altLang="en-US" dirty="0" smtClean="0"/>
              <a:t>必要时做好安全防护措施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2654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防灼伤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1660288"/>
            <a:ext cx="6271803" cy="34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91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防火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5" y="1548544"/>
            <a:ext cx="6035563" cy="360457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092" y="2030386"/>
            <a:ext cx="6088908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89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防爆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1089"/>
            <a:ext cx="5921253" cy="23852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197" y="1112518"/>
            <a:ext cx="6271803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81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防毒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1548544"/>
            <a:ext cx="6050804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36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辐射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 smtClean="0"/>
              <a:t>X</a:t>
            </a:r>
            <a:r>
              <a:rPr lang="zh-CN" altLang="en-US" dirty="0" smtClean="0"/>
              <a:t>射线被人体组织吸收后，对人体健康是有害的</a:t>
            </a:r>
            <a:endParaRPr lang="en-US" altLang="zh-CN" dirty="0" smtClean="0"/>
          </a:p>
          <a:p>
            <a:r>
              <a:rPr lang="zh-CN" altLang="en-US" dirty="0" smtClean="0"/>
              <a:t>实验中要防止身体各部（特别是头部）受到</a:t>
            </a:r>
            <a:r>
              <a:rPr lang="en-US" altLang="zh-CN" dirty="0" smtClean="0"/>
              <a:t>X</a:t>
            </a:r>
            <a:r>
              <a:rPr lang="zh-CN" altLang="en-US" dirty="0" smtClean="0"/>
              <a:t>射线照射，尤其是受到</a:t>
            </a:r>
            <a:r>
              <a:rPr lang="en-US" altLang="zh-CN" dirty="0" smtClean="0"/>
              <a:t>X</a:t>
            </a:r>
            <a:r>
              <a:rPr lang="zh-CN" altLang="en-US" dirty="0" smtClean="0"/>
              <a:t>射线的直接照射</a:t>
            </a:r>
            <a:endParaRPr lang="en-US" altLang="zh-CN" dirty="0" smtClean="0"/>
          </a:p>
          <a:p>
            <a:r>
              <a:rPr lang="zh-CN" altLang="en-US" dirty="0" smtClean="0"/>
              <a:t>严格按照操作规程进行</a:t>
            </a:r>
            <a:r>
              <a:rPr lang="en-US" altLang="zh-CN" dirty="0" smtClean="0"/>
              <a:t>X</a:t>
            </a:r>
            <a:r>
              <a:rPr lang="zh-CN" altLang="en-US" dirty="0" smtClean="0"/>
              <a:t>射线实验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955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实验室安全防护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废弃物处理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74" y="1641955"/>
            <a:ext cx="8207451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21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实验室高压钢瓶颜色标记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55" y="1474300"/>
            <a:ext cx="5197290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78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实验室高压</a:t>
            </a:r>
            <a:r>
              <a:rPr lang="zh-CN" altLang="en-US" dirty="0"/>
              <a:t>钢瓶的</a:t>
            </a:r>
            <a:r>
              <a:rPr lang="zh-CN" altLang="en-US" dirty="0" smtClean="0"/>
              <a:t>使用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22" y="1550507"/>
            <a:ext cx="6180356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82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实验室高压钢瓶注意</a:t>
            </a:r>
            <a:r>
              <a:rPr lang="zh-CN" altLang="en-US" dirty="0"/>
              <a:t>事项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510"/>
            <a:ext cx="5960962" cy="358526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962" y="1548544"/>
            <a:ext cx="5836279" cy="352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30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实验室消防 </a:t>
            </a:r>
            <a:r>
              <a:rPr lang="en-US" altLang="zh-CN" dirty="0" smtClean="0"/>
              <a:t>—— </a:t>
            </a:r>
            <a:r>
              <a:rPr lang="zh-CN" altLang="en-US" sz="2000" dirty="0" smtClean="0"/>
              <a:t>基础知识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728" y="1548544"/>
            <a:ext cx="7292972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87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实验室消防 </a:t>
            </a:r>
            <a:r>
              <a:rPr lang="en-US" altLang="zh-CN" dirty="0"/>
              <a:t>—— </a:t>
            </a:r>
            <a:r>
              <a:rPr lang="zh-CN" altLang="en-US" sz="2000" dirty="0"/>
              <a:t>基础</a:t>
            </a:r>
            <a:r>
              <a:rPr lang="zh-CN" altLang="en-US" sz="2000" dirty="0" smtClean="0"/>
              <a:t>知识 续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3" y="1379051"/>
            <a:ext cx="4115157" cy="16460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6" y="3570086"/>
            <a:ext cx="4115157" cy="14174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035" y="766710"/>
            <a:ext cx="3688400" cy="176037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076" y="3056012"/>
            <a:ext cx="6121124" cy="28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9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实验室紧急救护 </a:t>
            </a:r>
            <a:r>
              <a:rPr lang="en-US" altLang="zh-CN" dirty="0" smtClean="0"/>
              <a:t>—— </a:t>
            </a:r>
            <a:r>
              <a:rPr lang="zh-CN" altLang="en-US" sz="2000" dirty="0" smtClean="0"/>
              <a:t>急救原则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62" y="1687679"/>
            <a:ext cx="7331075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05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455191" cy="598488"/>
          </a:xfrm>
        </p:spPr>
        <p:txBody>
          <a:bodyPr/>
          <a:lstStyle/>
          <a:p>
            <a:r>
              <a:rPr lang="zh-CN" altLang="en-US" dirty="0"/>
              <a:t>实验室紧急救护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常见伤病简易处理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69" y="1170842"/>
            <a:ext cx="6904318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32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864933" cy="598488"/>
          </a:xfrm>
        </p:spPr>
        <p:txBody>
          <a:bodyPr/>
          <a:lstStyle/>
          <a:p>
            <a:r>
              <a:rPr lang="zh-CN" altLang="en-US" dirty="0"/>
              <a:t>实验室紧急救护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现场急救与操作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1950592"/>
            <a:ext cx="7788315" cy="2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23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实验室紧急救护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常见止血方法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6" y="2064902"/>
            <a:ext cx="7925487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05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实验室紧急救护 </a:t>
            </a:r>
            <a:r>
              <a:rPr lang="en-US" altLang="zh-CN" dirty="0"/>
              <a:t>—— </a:t>
            </a:r>
            <a:r>
              <a:rPr lang="zh-CN" altLang="en-US" sz="2000" dirty="0" smtClean="0"/>
              <a:t>搬运</a:t>
            </a:r>
            <a:r>
              <a:rPr lang="zh-CN" altLang="en-US" sz="2000" dirty="0"/>
              <a:t>伤员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66" y="1942971"/>
            <a:ext cx="7696867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76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5433</TotalTime>
  <Words>1402</Words>
  <Application>Microsoft Office PowerPoint</Application>
  <PresentationFormat>宽屏</PresentationFormat>
  <Paragraphs>130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等线</vt:lpstr>
      <vt:lpstr>宋体</vt:lpstr>
      <vt:lpstr>微软雅黑</vt:lpstr>
      <vt:lpstr>Arial</vt:lpstr>
      <vt:lpstr>Calibri</vt:lpstr>
      <vt:lpstr>Century Gothic</vt:lpstr>
      <vt:lpstr>Segoe UI</vt:lpstr>
      <vt:lpstr>Segoe UI Light</vt:lpstr>
      <vt:lpstr>Office 主题​​</vt:lpstr>
      <vt:lpstr>1_OfficePLUS</vt:lpstr>
      <vt:lpstr>实验室安全常识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Admin</cp:lastModifiedBy>
  <cp:revision>385</cp:revision>
  <dcterms:created xsi:type="dcterms:W3CDTF">2019-01-23T14:14:04Z</dcterms:created>
  <dcterms:modified xsi:type="dcterms:W3CDTF">2022-10-26T01:02:58Z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