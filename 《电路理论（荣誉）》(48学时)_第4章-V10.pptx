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2" r:id="rId1"/>
    <p:sldMasterId id="2147483834" r:id="rId2"/>
  </p:sldMasterIdLst>
  <p:notesMasterIdLst>
    <p:notesMasterId r:id="rId73"/>
  </p:notesMasterIdLst>
  <p:sldIdLst>
    <p:sldId id="904" r:id="rId3"/>
    <p:sldId id="882" r:id="rId4"/>
    <p:sldId id="883" r:id="rId5"/>
    <p:sldId id="919" r:id="rId6"/>
    <p:sldId id="884" r:id="rId7"/>
    <p:sldId id="885" r:id="rId8"/>
    <p:sldId id="886" r:id="rId9"/>
    <p:sldId id="920" r:id="rId10"/>
    <p:sldId id="921" r:id="rId11"/>
    <p:sldId id="889" r:id="rId12"/>
    <p:sldId id="890" r:id="rId13"/>
    <p:sldId id="915" r:id="rId14"/>
    <p:sldId id="916" r:id="rId15"/>
    <p:sldId id="917" r:id="rId16"/>
    <p:sldId id="908" r:id="rId17"/>
    <p:sldId id="906" r:id="rId18"/>
    <p:sldId id="910" r:id="rId19"/>
    <p:sldId id="911" r:id="rId20"/>
    <p:sldId id="907" r:id="rId21"/>
    <p:sldId id="823" r:id="rId22"/>
    <p:sldId id="824" r:id="rId23"/>
    <p:sldId id="825" r:id="rId24"/>
    <p:sldId id="826" r:id="rId25"/>
    <p:sldId id="827" r:id="rId26"/>
    <p:sldId id="828" r:id="rId27"/>
    <p:sldId id="868" r:id="rId28"/>
    <p:sldId id="830" r:id="rId29"/>
    <p:sldId id="891" r:id="rId30"/>
    <p:sldId id="892" r:id="rId31"/>
    <p:sldId id="893" r:id="rId32"/>
    <p:sldId id="894" r:id="rId33"/>
    <p:sldId id="895" r:id="rId34"/>
    <p:sldId id="896" r:id="rId35"/>
    <p:sldId id="836" r:id="rId36"/>
    <p:sldId id="837" r:id="rId37"/>
    <p:sldId id="838" r:id="rId38"/>
    <p:sldId id="839" r:id="rId39"/>
    <p:sldId id="840" r:id="rId40"/>
    <p:sldId id="841" r:id="rId41"/>
    <p:sldId id="842" r:id="rId42"/>
    <p:sldId id="843" r:id="rId43"/>
    <p:sldId id="844" r:id="rId44"/>
    <p:sldId id="845" r:id="rId45"/>
    <p:sldId id="846" r:id="rId46"/>
    <p:sldId id="847" r:id="rId47"/>
    <p:sldId id="848" r:id="rId48"/>
    <p:sldId id="874" r:id="rId49"/>
    <p:sldId id="875" r:id="rId50"/>
    <p:sldId id="876" r:id="rId51"/>
    <p:sldId id="913" r:id="rId52"/>
    <p:sldId id="851" r:id="rId53"/>
    <p:sldId id="852" r:id="rId54"/>
    <p:sldId id="853" r:id="rId55"/>
    <p:sldId id="854" r:id="rId56"/>
    <p:sldId id="855" r:id="rId57"/>
    <p:sldId id="856" r:id="rId58"/>
    <p:sldId id="857" r:id="rId59"/>
    <p:sldId id="877" r:id="rId60"/>
    <p:sldId id="858" r:id="rId61"/>
    <p:sldId id="859" r:id="rId62"/>
    <p:sldId id="860" r:id="rId63"/>
    <p:sldId id="861" r:id="rId64"/>
    <p:sldId id="862" r:id="rId65"/>
    <p:sldId id="914" r:id="rId66"/>
    <p:sldId id="863" r:id="rId67"/>
    <p:sldId id="878" r:id="rId68"/>
    <p:sldId id="879" r:id="rId69"/>
    <p:sldId id="880" r:id="rId70"/>
    <p:sldId id="881" r:id="rId71"/>
    <p:sldId id="912" r:id="rId7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00CC99"/>
    <a:srgbClr val="FFFFCC"/>
    <a:srgbClr val="CCFFCC"/>
    <a:srgbClr val="CCFF99"/>
    <a:srgbClr val="FF3300"/>
    <a:srgbClr val="CC0000"/>
    <a:srgbClr val="0000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0756" autoAdjust="0"/>
  </p:normalViewPr>
  <p:slideViewPr>
    <p:cSldViewPr>
      <p:cViewPr varScale="1">
        <p:scale>
          <a:sx n="46" d="100"/>
          <a:sy n="46" d="100"/>
        </p:scale>
        <p:origin x="905" y="2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4" Type="http://schemas.openxmlformats.org/officeDocument/2006/relationships/image" Target="../media/image32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5" Type="http://schemas.openxmlformats.org/officeDocument/2006/relationships/image" Target="../media/image40.wmf"/><Relationship Id="rId4" Type="http://schemas.openxmlformats.org/officeDocument/2006/relationships/image" Target="../media/image39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5" Type="http://schemas.openxmlformats.org/officeDocument/2006/relationships/image" Target="../media/image39.emf"/><Relationship Id="rId4" Type="http://schemas.openxmlformats.org/officeDocument/2006/relationships/image" Target="../media/image4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png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4" Type="http://schemas.openxmlformats.org/officeDocument/2006/relationships/image" Target="../media/image48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49.wmf"/><Relationship Id="rId4" Type="http://schemas.openxmlformats.org/officeDocument/2006/relationships/image" Target="../media/image5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6" Type="http://schemas.openxmlformats.org/officeDocument/2006/relationships/image" Target="../media/image59.wmf"/><Relationship Id="rId5" Type="http://schemas.openxmlformats.org/officeDocument/2006/relationships/image" Target="../media/image58.emf"/><Relationship Id="rId4" Type="http://schemas.openxmlformats.org/officeDocument/2006/relationships/image" Target="../media/image57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4.wmf"/><Relationship Id="rId1" Type="http://schemas.openxmlformats.org/officeDocument/2006/relationships/image" Target="../media/image6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62.emf"/><Relationship Id="rId1" Type="http://schemas.openxmlformats.org/officeDocument/2006/relationships/image" Target="../media/image61.wmf"/><Relationship Id="rId4" Type="http://schemas.openxmlformats.org/officeDocument/2006/relationships/image" Target="../media/image57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4" Type="http://schemas.openxmlformats.org/officeDocument/2006/relationships/image" Target="../media/image74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4" Type="http://schemas.openxmlformats.org/officeDocument/2006/relationships/image" Target="../media/image84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4" Type="http://schemas.openxmlformats.org/officeDocument/2006/relationships/image" Target="../media/image81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8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5" Type="http://schemas.openxmlformats.org/officeDocument/2006/relationships/image" Target="../media/image95.emf"/><Relationship Id="rId4" Type="http://schemas.openxmlformats.org/officeDocument/2006/relationships/image" Target="../media/image94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5" Type="http://schemas.openxmlformats.org/officeDocument/2006/relationships/image" Target="../media/image100.emf"/><Relationship Id="rId4" Type="http://schemas.openxmlformats.org/officeDocument/2006/relationships/image" Target="../media/image99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image" Target="../media/image101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image" Target="../media/image102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image" Target="../media/image103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emf"/><Relationship Id="rId1" Type="http://schemas.openxmlformats.org/officeDocument/2006/relationships/image" Target="../media/image99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4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7" Type="http://schemas.openxmlformats.org/officeDocument/2006/relationships/image" Target="../media/image111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Relationship Id="rId6" Type="http://schemas.openxmlformats.org/officeDocument/2006/relationships/image" Target="../media/image110.wmf"/><Relationship Id="rId5" Type="http://schemas.openxmlformats.org/officeDocument/2006/relationships/image" Target="../media/image109.wmf"/><Relationship Id="rId4" Type="http://schemas.openxmlformats.org/officeDocument/2006/relationships/image" Target="../media/image108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emf"/><Relationship Id="rId1" Type="http://schemas.openxmlformats.org/officeDocument/2006/relationships/image" Target="../media/image112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image" Target="../media/image116.wmf"/><Relationship Id="rId7" Type="http://schemas.openxmlformats.org/officeDocument/2006/relationships/image" Target="../media/image120.e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10" Type="http://schemas.openxmlformats.org/officeDocument/2006/relationships/image" Target="../media/image123.wmf"/><Relationship Id="rId4" Type="http://schemas.openxmlformats.org/officeDocument/2006/relationships/image" Target="../media/image117.wmf"/><Relationship Id="rId9" Type="http://schemas.openxmlformats.org/officeDocument/2006/relationships/image" Target="../media/image122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3" Type="http://schemas.openxmlformats.org/officeDocument/2006/relationships/image" Target="../media/image126.wmf"/><Relationship Id="rId7" Type="http://schemas.openxmlformats.org/officeDocument/2006/relationships/image" Target="../media/image115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6" Type="http://schemas.openxmlformats.org/officeDocument/2006/relationships/image" Target="../media/image114.wmf"/><Relationship Id="rId5" Type="http://schemas.openxmlformats.org/officeDocument/2006/relationships/image" Target="../media/image120.emf"/><Relationship Id="rId4" Type="http://schemas.openxmlformats.org/officeDocument/2006/relationships/image" Target="../media/image127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wmf"/><Relationship Id="rId1" Type="http://schemas.openxmlformats.org/officeDocument/2006/relationships/image" Target="../media/image128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Relationship Id="rId6" Type="http://schemas.openxmlformats.org/officeDocument/2006/relationships/image" Target="../media/image140.e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e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e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Relationship Id="rId6" Type="http://schemas.openxmlformats.org/officeDocument/2006/relationships/image" Target="../media/image143.wmf"/><Relationship Id="rId5" Type="http://schemas.openxmlformats.org/officeDocument/2006/relationships/image" Target="../media/image142.wmf"/><Relationship Id="rId4" Type="http://schemas.openxmlformats.org/officeDocument/2006/relationships/image" Target="../media/image141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wmf"/><Relationship Id="rId7" Type="http://schemas.openxmlformats.org/officeDocument/2006/relationships/image" Target="../media/image143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Relationship Id="rId6" Type="http://schemas.openxmlformats.org/officeDocument/2006/relationships/image" Target="../media/image142.wmf"/><Relationship Id="rId5" Type="http://schemas.openxmlformats.org/officeDocument/2006/relationships/image" Target="../media/image141.wmf"/><Relationship Id="rId4" Type="http://schemas.openxmlformats.org/officeDocument/2006/relationships/image" Target="../media/image146.e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e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6" Type="http://schemas.openxmlformats.org/officeDocument/2006/relationships/image" Target="../media/image143.wmf"/><Relationship Id="rId5" Type="http://schemas.openxmlformats.org/officeDocument/2006/relationships/image" Target="../media/image142.wmf"/><Relationship Id="rId4" Type="http://schemas.openxmlformats.org/officeDocument/2006/relationships/image" Target="../media/image141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3" Type="http://schemas.openxmlformats.org/officeDocument/2006/relationships/image" Target="../media/image155.wmf"/><Relationship Id="rId7" Type="http://schemas.openxmlformats.org/officeDocument/2006/relationships/image" Target="../media/image142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6" Type="http://schemas.openxmlformats.org/officeDocument/2006/relationships/image" Target="../media/image141.wmf"/><Relationship Id="rId5" Type="http://schemas.openxmlformats.org/officeDocument/2006/relationships/image" Target="../media/image146.emf"/><Relationship Id="rId4" Type="http://schemas.openxmlformats.org/officeDocument/2006/relationships/image" Target="../media/image156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wmf"/><Relationship Id="rId2" Type="http://schemas.openxmlformats.org/officeDocument/2006/relationships/image" Target="../media/image158.wmf"/><Relationship Id="rId1" Type="http://schemas.openxmlformats.org/officeDocument/2006/relationships/image" Target="../media/image157.e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2" Type="http://schemas.openxmlformats.org/officeDocument/2006/relationships/image" Target="../media/image157.emf"/><Relationship Id="rId1" Type="http://schemas.openxmlformats.org/officeDocument/2006/relationships/image" Target="../media/image160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Relationship Id="rId6" Type="http://schemas.openxmlformats.org/officeDocument/2006/relationships/image" Target="../media/image158.wmf"/><Relationship Id="rId5" Type="http://schemas.openxmlformats.org/officeDocument/2006/relationships/image" Target="../media/image157.emf"/><Relationship Id="rId4" Type="http://schemas.openxmlformats.org/officeDocument/2006/relationships/image" Target="../media/image164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5" Type="http://schemas.openxmlformats.org/officeDocument/2006/relationships/image" Target="../media/image158.wmf"/><Relationship Id="rId4" Type="http://schemas.openxmlformats.org/officeDocument/2006/relationships/image" Target="../media/image157.e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Relationship Id="rId5" Type="http://schemas.openxmlformats.org/officeDocument/2006/relationships/image" Target="../media/image158.wmf"/><Relationship Id="rId4" Type="http://schemas.openxmlformats.org/officeDocument/2006/relationships/image" Target="../media/image15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29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29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29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9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ADB5044-9271-4D2D-8128-188002D7EA2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DB5044-9271-4D2D-8128-188002D7EA2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884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DB5044-9271-4D2D-8128-188002D7EA2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3638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DB5044-9271-4D2D-8128-188002D7EA2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069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DB5044-9271-4D2D-8128-188002D7EA2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3122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527FC85-332D-4F01-A2F6-BBE6C3A8FEA4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优先导通：我和姚明从地上拿苹果放在头上</a:t>
            </a:r>
          </a:p>
        </p:txBody>
      </p:sp>
    </p:spTree>
    <p:extLst>
      <p:ext uri="{BB962C8B-B14F-4D97-AF65-F5344CB8AC3E}">
        <p14:creationId xmlns:p14="http://schemas.microsoft.com/office/powerpoint/2010/main" val="2866209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DB5044-9271-4D2D-8128-188002D7EA2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3763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DB5044-9271-4D2D-8128-188002D7EA2E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267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C8681E-90EF-438C-A788-69EF363862E5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357" y="4715907"/>
            <a:ext cx="4984962" cy="4467701"/>
          </a:xfrm>
        </p:spPr>
        <p:txBody>
          <a:bodyPr/>
          <a:lstStyle/>
          <a:p>
            <a:pPr eaLnBrk="1" hangingPunct="1">
              <a:defRPr/>
            </a:pP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04228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C8681E-90EF-438C-A788-69EF363862E5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357" y="4715907"/>
            <a:ext cx="4984962" cy="4467701"/>
          </a:xfrm>
        </p:spPr>
        <p:txBody>
          <a:bodyPr/>
          <a:lstStyle/>
          <a:p>
            <a:pPr eaLnBrk="1" hangingPunct="1">
              <a:defRPr/>
            </a:pP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01614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C8681E-90EF-438C-A788-69EF363862E5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357" y="4715907"/>
            <a:ext cx="4984962" cy="4467701"/>
          </a:xfrm>
        </p:spPr>
        <p:txBody>
          <a:bodyPr/>
          <a:lstStyle/>
          <a:p>
            <a:pPr eaLnBrk="1" hangingPunct="1">
              <a:defRPr/>
            </a:pP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40385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C8681E-90EF-438C-A788-69EF363862E5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357" y="4715907"/>
            <a:ext cx="4984962" cy="4467701"/>
          </a:xfrm>
        </p:spPr>
        <p:txBody>
          <a:bodyPr/>
          <a:lstStyle/>
          <a:p>
            <a:pPr eaLnBrk="1" hangingPunct="1">
              <a:defRPr/>
            </a:pPr>
            <a:endParaRPr lang="zh-CN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96963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11B283-9BDF-4467-9C39-E1F108461355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70211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8059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r>
              <a:rPr lang="zh-CN" altLang="en-US" b="1" dirty="0"/>
              <a:t>充气二极管</a:t>
            </a:r>
            <a:r>
              <a:rPr lang="en-US" altLang="zh-CN" b="1" dirty="0"/>
              <a:t>——S</a:t>
            </a:r>
            <a:r>
              <a:rPr lang="zh-CN" altLang="en-US" b="1" dirty="0"/>
              <a:t>形，隧道二极管</a:t>
            </a:r>
            <a:r>
              <a:rPr lang="en-US" altLang="zh-CN" b="1" dirty="0"/>
              <a:t>——n</a:t>
            </a:r>
            <a:r>
              <a:rPr lang="zh-CN" altLang="en-US" b="1" dirty="0"/>
              <a:t>形</a:t>
            </a:r>
          </a:p>
        </p:txBody>
      </p:sp>
    </p:spTree>
    <p:extLst>
      <p:ext uri="{BB962C8B-B14F-4D97-AF65-F5344CB8AC3E}">
        <p14:creationId xmlns:p14="http://schemas.microsoft.com/office/powerpoint/2010/main" val="42733773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6532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45971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9811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8855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844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00869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31747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23726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8226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2277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1456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3175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r>
              <a:rPr lang="zh-CN" altLang="en-US" b="1" dirty="0"/>
              <a:t>舞台的中央</a:t>
            </a:r>
          </a:p>
        </p:txBody>
      </p:sp>
    </p:spTree>
    <p:extLst>
      <p:ext uri="{BB962C8B-B14F-4D97-AF65-F5344CB8AC3E}">
        <p14:creationId xmlns:p14="http://schemas.microsoft.com/office/powerpoint/2010/main" val="35057399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7220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0894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9863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251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024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7059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497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811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3200400"/>
            <a:ext cx="3695700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48429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560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94275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10698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68798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110408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97121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03154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62088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784174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066148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709414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78614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54038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57273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24397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394688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660557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841534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3500" y="504825"/>
            <a:ext cx="4492625" cy="2527300"/>
          </a:xfrm>
          <a:solidFill>
            <a:srgbClr val="FFFFFF"/>
          </a:solidFill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5950" y="3200400"/>
            <a:ext cx="3387725" cy="30337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64904" tIns="32452" rIns="64904" bIns="32452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792764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11B283-9BDF-4467-9C39-E1F108461355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0483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1798639"/>
            <a:ext cx="10363200" cy="1470025"/>
          </a:xfrm>
          <a:prstGeom prst="rect">
            <a:avLst/>
          </a:prstGeom>
          <a:ln/>
        </p:spPr>
        <p:txBody>
          <a:bodyPr tIns="45720" anchor="ctr"/>
          <a:lstStyle>
            <a:lvl1pPr>
              <a:defRPr sz="43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567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957638"/>
            <a:ext cx="8534400" cy="1079500"/>
          </a:xfrm>
          <a:prstGeom prst="rect">
            <a:avLst/>
          </a:prstGeom>
        </p:spPr>
        <p:txBody>
          <a:bodyPr anchor="ctr" anchorCtr="1"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69097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5733" y="1268413"/>
            <a:ext cx="10972800" cy="50657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37804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44025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12192000" cy="6889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5733" y="1268413"/>
            <a:ext cx="5384800" cy="50657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63733" y="1268413"/>
            <a:ext cx="5384800" cy="50657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70125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65704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12192000" cy="6889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88576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200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91510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03356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12192000" cy="6889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5733" y="1268413"/>
            <a:ext cx="10972800" cy="50657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12036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179389"/>
            <a:ext cx="3048000" cy="615473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89"/>
            <a:ext cx="8940800" cy="615473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57209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95937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1784" y="404815"/>
            <a:ext cx="10980616" cy="54625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52617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375048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1798641"/>
            <a:ext cx="10363200" cy="1470025"/>
          </a:xfrm>
          <a:prstGeom prst="rect">
            <a:avLst/>
          </a:prstGeom>
          <a:ln/>
        </p:spPr>
        <p:txBody>
          <a:bodyPr tIns="45720" anchor="ctr"/>
          <a:lstStyle>
            <a:lvl1pPr>
              <a:defRPr sz="43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567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957638"/>
            <a:ext cx="8534400" cy="1079500"/>
          </a:xfrm>
          <a:prstGeom prst="rect">
            <a:avLst/>
          </a:prstGeom>
        </p:spPr>
        <p:txBody>
          <a:bodyPr anchor="ctr" anchorCtr="1"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09113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5733" y="1268413"/>
            <a:ext cx="10972800" cy="50657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17981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635366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12192000" cy="6889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5733" y="1268413"/>
            <a:ext cx="5384800" cy="50657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63733" y="1268413"/>
            <a:ext cx="5384800" cy="50657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984079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99129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12192000" cy="6889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142896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3148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54167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38304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79388"/>
            <a:ext cx="12192000" cy="6889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5733" y="1268413"/>
            <a:ext cx="10972800" cy="50657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881770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179391"/>
            <a:ext cx="3048000" cy="615473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79391"/>
            <a:ext cx="8940800" cy="615473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254378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814774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交大图标"/>
          <p:cNvPicPr>
            <a:picLocks noChangeArrowheads="1" noCrop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5" y="10160"/>
            <a:ext cx="936000" cy="9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Line 19"/>
          <p:cNvSpPr>
            <a:spLocks noChangeShapeType="1"/>
          </p:cNvSpPr>
          <p:nvPr userDrawn="1"/>
        </p:nvSpPr>
        <p:spPr bwMode="auto">
          <a:xfrm>
            <a:off x="1295400" y="836613"/>
            <a:ext cx="1026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770" r:id="rId12"/>
    <p:sldLayoutId id="2147483771" r:id="rId13"/>
    <p:sldLayoutId id="2147483833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9pPr>
    </p:titleStyle>
    <p:bodyStyle>
      <a:lvl1pPr marL="449263" indent="-449263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7"/>
        </a:buBlip>
        <a:defRPr sz="2800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000066"/>
        </a:buClr>
        <a:buChar char="•"/>
        <a:defRPr sz="2400">
          <a:solidFill>
            <a:srgbClr val="133984"/>
          </a:solidFill>
          <a:latin typeface="+mn-lt"/>
          <a:ea typeface="+mn-ea"/>
        </a:defRPr>
      </a:lvl2pPr>
      <a:lvl3pPr marL="1322388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itchFamily="2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3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5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27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099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1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交大图标"/>
          <p:cNvPicPr>
            <a:picLocks noChangeAspect="1" noChangeArrowheads="1" noCrop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4" y="13560"/>
            <a:ext cx="936000" cy="9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Line 19"/>
          <p:cNvSpPr>
            <a:spLocks noChangeShapeType="1"/>
          </p:cNvSpPr>
          <p:nvPr userDrawn="1"/>
        </p:nvSpPr>
        <p:spPr bwMode="auto">
          <a:xfrm>
            <a:off x="1295400" y="836613"/>
            <a:ext cx="10261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004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133984"/>
          </a:solidFill>
          <a:latin typeface="Arial" charset="0"/>
          <a:ea typeface="华文新魏" pitchFamily="2" charset="-122"/>
        </a:defRPr>
      </a:lvl9pPr>
    </p:titleStyle>
    <p:bodyStyle>
      <a:lvl1pPr marL="449263" indent="-449263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SzPct val="120000"/>
        <a:buBlip>
          <a:blip r:embed="rId15"/>
        </a:buBlip>
        <a:defRPr sz="2800">
          <a:solidFill>
            <a:srgbClr val="133984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Clr>
          <a:srgbClr val="000066"/>
        </a:buClr>
        <a:buChar char="•"/>
        <a:defRPr sz="2400">
          <a:solidFill>
            <a:srgbClr val="133984"/>
          </a:solidFill>
          <a:latin typeface="+mn-lt"/>
          <a:ea typeface="+mn-ea"/>
        </a:defRPr>
      </a:lvl2pPr>
      <a:lvl3pPr marL="1322388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itchFamily="2" charset="-122"/>
        </a:defRPr>
      </a:lvl3pPr>
      <a:lvl4pPr marL="1730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1383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955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30527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5099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9671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png"/><Relationship Id="rId4" Type="http://schemas.openxmlformats.org/officeDocument/2006/relationships/image" Target="../media/image28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30.wmf"/><Relationship Id="rId12" Type="http://schemas.openxmlformats.org/officeDocument/2006/relationships/image" Target="../media/image32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11" Type="http://schemas.openxmlformats.org/officeDocument/2006/relationships/oleObject" Target="../embeddings/oleObject11.bin"/><Relationship Id="rId5" Type="http://schemas.openxmlformats.org/officeDocument/2006/relationships/image" Target="../media/image29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8.bin"/><Relationship Id="rId9" Type="http://schemas.openxmlformats.org/officeDocument/2006/relationships/image" Target="../media/image31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3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3.emf"/><Relationship Id="rId4" Type="http://schemas.openxmlformats.org/officeDocument/2006/relationships/oleObject" Target="../embeddings/oleObject1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6.png"/><Relationship Id="rId5" Type="http://schemas.openxmlformats.org/officeDocument/2006/relationships/image" Target="../media/image35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4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40.wmf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39.emf"/><Relationship Id="rId5" Type="http://schemas.openxmlformats.org/officeDocument/2006/relationships/image" Target="../media/image36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38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39.emf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40.wmf"/><Relationship Id="rId5" Type="http://schemas.openxmlformats.org/officeDocument/2006/relationships/image" Target="../media/image41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43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4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16.png"/><Relationship Id="rId4" Type="http://schemas.openxmlformats.org/officeDocument/2006/relationships/audio" Target="../media/audio1.wav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notesSlide" Target="../notesSlides/notesSlide20.xml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48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47.wmf"/><Relationship Id="rId4" Type="http://schemas.openxmlformats.org/officeDocument/2006/relationships/image" Target="../media/image6.png"/><Relationship Id="rId9" Type="http://schemas.openxmlformats.org/officeDocument/2006/relationships/oleObject" Target="../embeddings/oleObject2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notesSlide" Target="../notesSlides/notesSlide21.xml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51.wmf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53.wmf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52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58.emf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4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57.emf"/><Relationship Id="rId5" Type="http://schemas.openxmlformats.org/officeDocument/2006/relationships/image" Target="../media/image54.wmf"/><Relationship Id="rId15" Type="http://schemas.openxmlformats.org/officeDocument/2006/relationships/image" Target="../media/image59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56.wmf"/><Relationship Id="rId14" Type="http://schemas.openxmlformats.org/officeDocument/2006/relationships/oleObject" Target="../embeddings/oleObject41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54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60.wmf"/><Relationship Id="rId4" Type="http://schemas.openxmlformats.org/officeDocument/2006/relationships/oleObject" Target="../embeddings/oleObject42.bin"/><Relationship Id="rId9" Type="http://schemas.openxmlformats.org/officeDocument/2006/relationships/image" Target="../media/image57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62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57.emf"/><Relationship Id="rId5" Type="http://schemas.openxmlformats.org/officeDocument/2006/relationships/image" Target="../media/image61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43.bin"/><Relationship Id="rId9" Type="http://schemas.openxmlformats.org/officeDocument/2006/relationships/image" Target="../media/image54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64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63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45.bin"/><Relationship Id="rId9" Type="http://schemas.openxmlformats.org/officeDocument/2006/relationships/image" Target="../media/image65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70.wmf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67.wmf"/><Relationship Id="rId12" Type="http://schemas.openxmlformats.org/officeDocument/2006/relationships/oleObject" Target="../embeddings/oleObject5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69.wmf"/><Relationship Id="rId5" Type="http://schemas.openxmlformats.org/officeDocument/2006/relationships/image" Target="../media/image66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68.wmf"/><Relationship Id="rId1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image" Target="../media/image6.png"/><Relationship Id="rId3" Type="http://schemas.openxmlformats.org/officeDocument/2006/relationships/notesSlide" Target="../notesSlides/notesSlide29.xml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7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73.wmf"/><Relationship Id="rId4" Type="http://schemas.openxmlformats.org/officeDocument/2006/relationships/audio" Target="../media/audio1.wav"/><Relationship Id="rId9" Type="http://schemas.openxmlformats.org/officeDocument/2006/relationships/oleObject" Target="../embeddings/oleObject55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7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75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57.bin"/><Relationship Id="rId9" Type="http://schemas.openxmlformats.org/officeDocument/2006/relationships/image" Target="../media/image77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notesSlide" Target="../notesSlides/notesSlide31.xml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8.wmf"/><Relationship Id="rId11" Type="http://schemas.openxmlformats.org/officeDocument/2006/relationships/image" Target="../media/image6.png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80.emf"/><Relationship Id="rId4" Type="http://schemas.openxmlformats.org/officeDocument/2006/relationships/audio" Target="../media/audio1.wav"/><Relationship Id="rId9" Type="http://schemas.openxmlformats.org/officeDocument/2006/relationships/oleObject" Target="../embeddings/oleObject62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82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84.emf"/><Relationship Id="rId5" Type="http://schemas.openxmlformats.org/officeDocument/2006/relationships/image" Target="../media/image81.wmf"/><Relationship Id="rId10" Type="http://schemas.openxmlformats.org/officeDocument/2006/relationships/oleObject" Target="../embeddings/oleObject66.bin"/><Relationship Id="rId4" Type="http://schemas.openxmlformats.org/officeDocument/2006/relationships/oleObject" Target="../embeddings/oleObject63.bin"/><Relationship Id="rId9" Type="http://schemas.openxmlformats.org/officeDocument/2006/relationships/image" Target="../media/image83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86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81.wmf"/><Relationship Id="rId5" Type="http://schemas.openxmlformats.org/officeDocument/2006/relationships/image" Target="../media/image85.wmf"/><Relationship Id="rId10" Type="http://schemas.openxmlformats.org/officeDocument/2006/relationships/oleObject" Target="../embeddings/oleObject63.bin"/><Relationship Id="rId4" Type="http://schemas.openxmlformats.org/officeDocument/2006/relationships/oleObject" Target="../embeddings/oleObject67.bin"/><Relationship Id="rId9" Type="http://schemas.openxmlformats.org/officeDocument/2006/relationships/image" Target="../media/image87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35.xml"/><Relationship Id="rId7" Type="http://schemas.openxmlformats.org/officeDocument/2006/relationships/image" Target="../media/image89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71.bin"/><Relationship Id="rId5" Type="http://schemas.openxmlformats.org/officeDocument/2006/relationships/image" Target="../media/image88.emf"/><Relationship Id="rId10" Type="http://schemas.openxmlformats.org/officeDocument/2006/relationships/image" Target="../media/image90.wmf"/><Relationship Id="rId4" Type="http://schemas.openxmlformats.org/officeDocument/2006/relationships/oleObject" Target="../embeddings/oleObject70.bin"/><Relationship Id="rId9" Type="http://schemas.openxmlformats.org/officeDocument/2006/relationships/oleObject" Target="../embeddings/oleObject72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88.e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13" Type="http://schemas.openxmlformats.org/officeDocument/2006/relationships/image" Target="../media/image6.png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95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94.emf"/><Relationship Id="rId4" Type="http://schemas.openxmlformats.org/officeDocument/2006/relationships/image" Target="../media/image91.wmf"/><Relationship Id="rId9" Type="http://schemas.openxmlformats.org/officeDocument/2006/relationships/oleObject" Target="../embeddings/oleObject77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100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0" Type="http://schemas.openxmlformats.org/officeDocument/2006/relationships/image" Target="../media/image99.e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82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99.e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101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99.e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102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99.e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103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00.e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99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6.png"/><Relationship Id="rId5" Type="http://schemas.openxmlformats.org/officeDocument/2006/relationships/image" Target="../media/image104.wmf"/><Relationship Id="rId4" Type="http://schemas.openxmlformats.org/officeDocument/2006/relationships/oleObject" Target="../embeddings/oleObject87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109.wmf"/><Relationship Id="rId18" Type="http://schemas.openxmlformats.org/officeDocument/2006/relationships/image" Target="../media/image6.png"/><Relationship Id="rId3" Type="http://schemas.openxmlformats.org/officeDocument/2006/relationships/notesSlide" Target="../notesSlides/notesSlide38.xml"/><Relationship Id="rId7" Type="http://schemas.openxmlformats.org/officeDocument/2006/relationships/image" Target="../media/image106.wmf"/><Relationship Id="rId12" Type="http://schemas.openxmlformats.org/officeDocument/2006/relationships/oleObject" Target="../embeddings/oleObject92.bin"/><Relationship Id="rId17" Type="http://schemas.openxmlformats.org/officeDocument/2006/relationships/image" Target="../media/image111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94.bin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108.wmf"/><Relationship Id="rId5" Type="http://schemas.openxmlformats.org/officeDocument/2006/relationships/image" Target="../media/image105.wmf"/><Relationship Id="rId15" Type="http://schemas.openxmlformats.org/officeDocument/2006/relationships/image" Target="../media/image110.wmf"/><Relationship Id="rId10" Type="http://schemas.openxmlformats.org/officeDocument/2006/relationships/oleObject" Target="../embeddings/oleObject91.bin"/><Relationship Id="rId4" Type="http://schemas.openxmlformats.org/officeDocument/2006/relationships/oleObject" Target="../embeddings/oleObject88.bin"/><Relationship Id="rId9" Type="http://schemas.openxmlformats.org/officeDocument/2006/relationships/image" Target="../media/image107.wmf"/><Relationship Id="rId14" Type="http://schemas.openxmlformats.org/officeDocument/2006/relationships/oleObject" Target="../embeddings/oleObject93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emf"/><Relationship Id="rId3" Type="http://schemas.openxmlformats.org/officeDocument/2006/relationships/notesSlide" Target="../notesSlides/notesSlide39.xml"/><Relationship Id="rId7" Type="http://schemas.openxmlformats.org/officeDocument/2006/relationships/oleObject" Target="../embeddings/oleObject9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6.png"/><Relationship Id="rId5" Type="http://schemas.openxmlformats.org/officeDocument/2006/relationships/image" Target="../media/image112.wmf"/><Relationship Id="rId4" Type="http://schemas.openxmlformats.org/officeDocument/2006/relationships/oleObject" Target="../embeddings/oleObject95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13" Type="http://schemas.openxmlformats.org/officeDocument/2006/relationships/image" Target="../media/image118.wmf"/><Relationship Id="rId18" Type="http://schemas.openxmlformats.org/officeDocument/2006/relationships/oleObject" Target="../embeddings/oleObject104.bin"/><Relationship Id="rId3" Type="http://schemas.openxmlformats.org/officeDocument/2006/relationships/notesSlide" Target="../notesSlides/notesSlide40.xml"/><Relationship Id="rId21" Type="http://schemas.openxmlformats.org/officeDocument/2006/relationships/image" Target="../media/image122.wmf"/><Relationship Id="rId7" Type="http://schemas.openxmlformats.org/officeDocument/2006/relationships/image" Target="../media/image115.wmf"/><Relationship Id="rId12" Type="http://schemas.openxmlformats.org/officeDocument/2006/relationships/oleObject" Target="../embeddings/oleObject101.bin"/><Relationship Id="rId17" Type="http://schemas.openxmlformats.org/officeDocument/2006/relationships/image" Target="../media/image120.e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03.bin"/><Relationship Id="rId20" Type="http://schemas.openxmlformats.org/officeDocument/2006/relationships/oleObject" Target="../embeddings/oleObject105.bin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98.bin"/><Relationship Id="rId11" Type="http://schemas.openxmlformats.org/officeDocument/2006/relationships/image" Target="../media/image117.wmf"/><Relationship Id="rId5" Type="http://schemas.openxmlformats.org/officeDocument/2006/relationships/image" Target="../media/image114.wmf"/><Relationship Id="rId15" Type="http://schemas.openxmlformats.org/officeDocument/2006/relationships/image" Target="../media/image119.wmf"/><Relationship Id="rId23" Type="http://schemas.openxmlformats.org/officeDocument/2006/relationships/image" Target="../media/image123.wmf"/><Relationship Id="rId10" Type="http://schemas.openxmlformats.org/officeDocument/2006/relationships/oleObject" Target="../embeddings/oleObject100.bin"/><Relationship Id="rId19" Type="http://schemas.openxmlformats.org/officeDocument/2006/relationships/image" Target="../media/image121.wmf"/><Relationship Id="rId4" Type="http://schemas.openxmlformats.org/officeDocument/2006/relationships/oleObject" Target="../embeddings/oleObject97.bin"/><Relationship Id="rId9" Type="http://schemas.openxmlformats.org/officeDocument/2006/relationships/image" Target="../media/image116.wmf"/><Relationship Id="rId14" Type="http://schemas.openxmlformats.org/officeDocument/2006/relationships/oleObject" Target="../embeddings/oleObject102.bin"/><Relationship Id="rId22" Type="http://schemas.openxmlformats.org/officeDocument/2006/relationships/oleObject" Target="../embeddings/oleObject106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13" Type="http://schemas.openxmlformats.org/officeDocument/2006/relationships/image" Target="../media/image120.emf"/><Relationship Id="rId18" Type="http://schemas.openxmlformats.org/officeDocument/2006/relationships/oleObject" Target="../embeddings/oleObject99.bin"/><Relationship Id="rId3" Type="http://schemas.openxmlformats.org/officeDocument/2006/relationships/notesSlide" Target="../notesSlides/notesSlide41.xml"/><Relationship Id="rId7" Type="http://schemas.openxmlformats.org/officeDocument/2006/relationships/image" Target="../media/image125.wmf"/><Relationship Id="rId12" Type="http://schemas.openxmlformats.org/officeDocument/2006/relationships/oleObject" Target="../embeddings/oleObject103.bin"/><Relationship Id="rId17" Type="http://schemas.openxmlformats.org/officeDocument/2006/relationships/image" Target="../media/image115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98.bin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127.wmf"/><Relationship Id="rId5" Type="http://schemas.openxmlformats.org/officeDocument/2006/relationships/image" Target="../media/image124.wmf"/><Relationship Id="rId15" Type="http://schemas.openxmlformats.org/officeDocument/2006/relationships/image" Target="../media/image114.wmf"/><Relationship Id="rId10" Type="http://schemas.openxmlformats.org/officeDocument/2006/relationships/oleObject" Target="../embeddings/oleObject110.bin"/><Relationship Id="rId19" Type="http://schemas.openxmlformats.org/officeDocument/2006/relationships/image" Target="../media/image116.wmf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126.wmf"/><Relationship Id="rId14" Type="http://schemas.openxmlformats.org/officeDocument/2006/relationships/oleObject" Target="../embeddings/oleObject97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42.xml"/><Relationship Id="rId7" Type="http://schemas.openxmlformats.org/officeDocument/2006/relationships/image" Target="../media/image129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112.bin"/><Relationship Id="rId5" Type="http://schemas.openxmlformats.org/officeDocument/2006/relationships/image" Target="../media/image128.wmf"/><Relationship Id="rId4" Type="http://schemas.openxmlformats.org/officeDocument/2006/relationships/oleObject" Target="../embeddings/oleObject111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3" Type="http://schemas.openxmlformats.org/officeDocument/2006/relationships/notesSlide" Target="../notesSlides/notesSlide43.xml"/><Relationship Id="rId7" Type="http://schemas.openxmlformats.org/officeDocument/2006/relationships/image" Target="../media/image131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114.bin"/><Relationship Id="rId5" Type="http://schemas.openxmlformats.org/officeDocument/2006/relationships/image" Target="../media/image130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132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44.xml"/><Relationship Id="rId7" Type="http://schemas.openxmlformats.org/officeDocument/2006/relationships/image" Target="../media/image134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117.bin"/><Relationship Id="rId5" Type="http://schemas.openxmlformats.org/officeDocument/2006/relationships/image" Target="../media/image133.wmf"/><Relationship Id="rId4" Type="http://schemas.openxmlformats.org/officeDocument/2006/relationships/oleObject" Target="../embeddings/oleObject116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13" Type="http://schemas.openxmlformats.org/officeDocument/2006/relationships/image" Target="../media/image139.wmf"/><Relationship Id="rId3" Type="http://schemas.openxmlformats.org/officeDocument/2006/relationships/notesSlide" Target="../notesSlides/notesSlide45.xml"/><Relationship Id="rId7" Type="http://schemas.openxmlformats.org/officeDocument/2006/relationships/image" Target="../media/image136.wmf"/><Relationship Id="rId12" Type="http://schemas.openxmlformats.org/officeDocument/2006/relationships/oleObject" Target="../embeddings/oleObject12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40.emf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138.wmf"/><Relationship Id="rId5" Type="http://schemas.openxmlformats.org/officeDocument/2006/relationships/image" Target="../media/image135.wmf"/><Relationship Id="rId15" Type="http://schemas.openxmlformats.org/officeDocument/2006/relationships/oleObject" Target="../embeddings/oleObject123.bin"/><Relationship Id="rId10" Type="http://schemas.openxmlformats.org/officeDocument/2006/relationships/oleObject" Target="../embeddings/oleObject121.bin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37.wmf"/><Relationship Id="rId14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145.wmf"/><Relationship Id="rId3" Type="http://schemas.openxmlformats.org/officeDocument/2006/relationships/notesSlide" Target="../notesSlides/notesSlide46.xml"/><Relationship Id="rId7" Type="http://schemas.openxmlformats.org/officeDocument/2006/relationships/image" Target="../media/image142.wmf"/><Relationship Id="rId12" Type="http://schemas.openxmlformats.org/officeDocument/2006/relationships/oleObject" Target="../embeddings/oleObject128.bin"/><Relationship Id="rId17" Type="http://schemas.openxmlformats.org/officeDocument/2006/relationships/image" Target="../media/image147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30.bin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44.wmf"/><Relationship Id="rId5" Type="http://schemas.openxmlformats.org/officeDocument/2006/relationships/image" Target="../media/image141.wmf"/><Relationship Id="rId15" Type="http://schemas.openxmlformats.org/officeDocument/2006/relationships/image" Target="../media/image146.emf"/><Relationship Id="rId10" Type="http://schemas.openxmlformats.org/officeDocument/2006/relationships/oleObject" Target="../embeddings/oleObject127.bin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43.wmf"/><Relationship Id="rId14" Type="http://schemas.openxmlformats.org/officeDocument/2006/relationships/oleObject" Target="../embeddings/oleObject129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13" Type="http://schemas.openxmlformats.org/officeDocument/2006/relationships/image" Target="../media/image142.wmf"/><Relationship Id="rId3" Type="http://schemas.openxmlformats.org/officeDocument/2006/relationships/notesSlide" Target="../notesSlides/notesSlide47.xml"/><Relationship Id="rId7" Type="http://schemas.openxmlformats.org/officeDocument/2006/relationships/image" Target="../media/image149.wmf"/><Relationship Id="rId12" Type="http://schemas.openxmlformats.org/officeDocument/2006/relationships/oleObject" Target="../embeddings/oleObject12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132.bin"/><Relationship Id="rId11" Type="http://schemas.openxmlformats.org/officeDocument/2006/relationships/image" Target="../media/image141.wmf"/><Relationship Id="rId5" Type="http://schemas.openxmlformats.org/officeDocument/2006/relationships/image" Target="../media/image148.wmf"/><Relationship Id="rId15" Type="http://schemas.openxmlformats.org/officeDocument/2006/relationships/image" Target="../media/image143.wmf"/><Relationship Id="rId10" Type="http://schemas.openxmlformats.org/officeDocument/2006/relationships/oleObject" Target="../embeddings/oleObject124.bin"/><Relationship Id="rId4" Type="http://schemas.openxmlformats.org/officeDocument/2006/relationships/oleObject" Target="../embeddings/oleObject131.bin"/><Relationship Id="rId9" Type="http://schemas.openxmlformats.org/officeDocument/2006/relationships/image" Target="../media/image146.emf"/><Relationship Id="rId14" Type="http://schemas.openxmlformats.org/officeDocument/2006/relationships/oleObject" Target="../embeddings/oleObject126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13" Type="http://schemas.openxmlformats.org/officeDocument/2006/relationships/image" Target="../media/image141.wmf"/><Relationship Id="rId3" Type="http://schemas.openxmlformats.org/officeDocument/2006/relationships/notesSlide" Target="../notesSlides/notesSlide48.xml"/><Relationship Id="rId7" Type="http://schemas.openxmlformats.org/officeDocument/2006/relationships/image" Target="../media/image151.wmf"/><Relationship Id="rId12" Type="http://schemas.openxmlformats.org/officeDocument/2006/relationships/oleObject" Target="../embeddings/oleObject124.bin"/><Relationship Id="rId17" Type="http://schemas.openxmlformats.org/officeDocument/2006/relationships/image" Target="../media/image143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26.bin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46.emf"/><Relationship Id="rId5" Type="http://schemas.openxmlformats.org/officeDocument/2006/relationships/image" Target="../media/image150.wmf"/><Relationship Id="rId15" Type="http://schemas.openxmlformats.org/officeDocument/2006/relationships/image" Target="../media/image142.wmf"/><Relationship Id="rId10" Type="http://schemas.openxmlformats.org/officeDocument/2006/relationships/oleObject" Target="../embeddings/oleObject129.bin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52.wmf"/><Relationship Id="rId14" Type="http://schemas.openxmlformats.org/officeDocument/2006/relationships/oleObject" Target="../embeddings/oleObject125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13" Type="http://schemas.openxmlformats.org/officeDocument/2006/relationships/image" Target="../media/image142.wmf"/><Relationship Id="rId3" Type="http://schemas.openxmlformats.org/officeDocument/2006/relationships/notesSlide" Target="../notesSlides/notesSlide49.xml"/><Relationship Id="rId7" Type="http://schemas.openxmlformats.org/officeDocument/2006/relationships/image" Target="../media/image154.wmf"/><Relationship Id="rId12" Type="http://schemas.openxmlformats.org/officeDocument/2006/relationships/oleObject" Target="../embeddings/oleObject12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137.bin"/><Relationship Id="rId11" Type="http://schemas.openxmlformats.org/officeDocument/2006/relationships/image" Target="../media/image141.wmf"/><Relationship Id="rId5" Type="http://schemas.openxmlformats.org/officeDocument/2006/relationships/image" Target="../media/image153.wmf"/><Relationship Id="rId15" Type="http://schemas.openxmlformats.org/officeDocument/2006/relationships/image" Target="../media/image143.wmf"/><Relationship Id="rId10" Type="http://schemas.openxmlformats.org/officeDocument/2006/relationships/oleObject" Target="../embeddings/oleObject124.bin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46.emf"/><Relationship Id="rId14" Type="http://schemas.openxmlformats.org/officeDocument/2006/relationships/oleObject" Target="../embeddings/oleObject126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8.bin"/><Relationship Id="rId13" Type="http://schemas.openxmlformats.org/officeDocument/2006/relationships/image" Target="../media/image146.emf"/><Relationship Id="rId18" Type="http://schemas.openxmlformats.org/officeDocument/2006/relationships/oleObject" Target="../embeddings/oleObject126.bin"/><Relationship Id="rId3" Type="http://schemas.openxmlformats.org/officeDocument/2006/relationships/notesSlide" Target="../notesSlides/notesSlide50.xml"/><Relationship Id="rId7" Type="http://schemas.openxmlformats.org/officeDocument/2006/relationships/image" Target="../media/image154.wmf"/><Relationship Id="rId12" Type="http://schemas.openxmlformats.org/officeDocument/2006/relationships/oleObject" Target="../embeddings/oleObject129.bin"/><Relationship Id="rId17" Type="http://schemas.openxmlformats.org/officeDocument/2006/relationships/image" Target="../media/image142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25.bin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137.bin"/><Relationship Id="rId11" Type="http://schemas.openxmlformats.org/officeDocument/2006/relationships/image" Target="../media/image156.wmf"/><Relationship Id="rId5" Type="http://schemas.openxmlformats.org/officeDocument/2006/relationships/image" Target="../media/image153.wmf"/><Relationship Id="rId15" Type="http://schemas.openxmlformats.org/officeDocument/2006/relationships/image" Target="../media/image141.wmf"/><Relationship Id="rId10" Type="http://schemas.openxmlformats.org/officeDocument/2006/relationships/oleObject" Target="../embeddings/oleObject139.bin"/><Relationship Id="rId19" Type="http://schemas.openxmlformats.org/officeDocument/2006/relationships/image" Target="../media/image143.wmf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55.wmf"/><Relationship Id="rId14" Type="http://schemas.openxmlformats.org/officeDocument/2006/relationships/oleObject" Target="../embeddings/oleObject124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3" Type="http://schemas.openxmlformats.org/officeDocument/2006/relationships/notesSlide" Target="../notesSlides/notesSlide51.xml"/><Relationship Id="rId7" Type="http://schemas.openxmlformats.org/officeDocument/2006/relationships/image" Target="../media/image158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141.bin"/><Relationship Id="rId5" Type="http://schemas.openxmlformats.org/officeDocument/2006/relationships/image" Target="../media/image157.emf"/><Relationship Id="rId4" Type="http://schemas.openxmlformats.org/officeDocument/2006/relationships/oleObject" Target="../embeddings/oleObject140.bin"/><Relationship Id="rId9" Type="http://schemas.openxmlformats.org/officeDocument/2006/relationships/image" Target="../media/image159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3" Type="http://schemas.openxmlformats.org/officeDocument/2006/relationships/notesSlide" Target="../notesSlides/notesSlide52.xml"/><Relationship Id="rId7" Type="http://schemas.openxmlformats.org/officeDocument/2006/relationships/image" Target="../media/image157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140.bin"/><Relationship Id="rId5" Type="http://schemas.openxmlformats.org/officeDocument/2006/relationships/image" Target="../media/image160.wmf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58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13" Type="http://schemas.openxmlformats.org/officeDocument/2006/relationships/image" Target="../media/image157.emf"/><Relationship Id="rId3" Type="http://schemas.openxmlformats.org/officeDocument/2006/relationships/notesSlide" Target="../notesSlides/notesSlide53.xml"/><Relationship Id="rId7" Type="http://schemas.openxmlformats.org/officeDocument/2006/relationships/image" Target="../media/image162.wmf"/><Relationship Id="rId12" Type="http://schemas.openxmlformats.org/officeDocument/2006/relationships/oleObject" Target="../embeddings/oleObject14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145.bin"/><Relationship Id="rId11" Type="http://schemas.openxmlformats.org/officeDocument/2006/relationships/image" Target="../media/image164.wmf"/><Relationship Id="rId5" Type="http://schemas.openxmlformats.org/officeDocument/2006/relationships/image" Target="../media/image161.wmf"/><Relationship Id="rId15" Type="http://schemas.openxmlformats.org/officeDocument/2006/relationships/image" Target="../media/image158.wmf"/><Relationship Id="rId10" Type="http://schemas.openxmlformats.org/officeDocument/2006/relationships/oleObject" Target="../embeddings/oleObject147.bin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163.wmf"/><Relationship Id="rId14" Type="http://schemas.openxmlformats.org/officeDocument/2006/relationships/oleObject" Target="../embeddings/oleObject141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13" Type="http://schemas.openxmlformats.org/officeDocument/2006/relationships/image" Target="../media/image158.wmf"/><Relationship Id="rId3" Type="http://schemas.openxmlformats.org/officeDocument/2006/relationships/notesSlide" Target="../notesSlides/notesSlide54.xml"/><Relationship Id="rId7" Type="http://schemas.openxmlformats.org/officeDocument/2006/relationships/image" Target="../media/image166.wmf"/><Relationship Id="rId12" Type="http://schemas.openxmlformats.org/officeDocument/2006/relationships/oleObject" Target="../embeddings/oleObject15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149.bin"/><Relationship Id="rId11" Type="http://schemas.openxmlformats.org/officeDocument/2006/relationships/image" Target="../media/image157.emf"/><Relationship Id="rId5" Type="http://schemas.openxmlformats.org/officeDocument/2006/relationships/image" Target="../media/image165.wmf"/><Relationship Id="rId10" Type="http://schemas.openxmlformats.org/officeDocument/2006/relationships/oleObject" Target="../embeddings/oleObject140.bin"/><Relationship Id="rId4" Type="http://schemas.openxmlformats.org/officeDocument/2006/relationships/oleObject" Target="../embeddings/oleObject148.bin"/><Relationship Id="rId9" Type="http://schemas.openxmlformats.org/officeDocument/2006/relationships/image" Target="../media/image167.w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13" Type="http://schemas.openxmlformats.org/officeDocument/2006/relationships/image" Target="../media/image158.wmf"/><Relationship Id="rId3" Type="http://schemas.openxmlformats.org/officeDocument/2006/relationships/notesSlide" Target="../notesSlides/notesSlide55.xml"/><Relationship Id="rId7" Type="http://schemas.openxmlformats.org/officeDocument/2006/relationships/image" Target="../media/image169.wmf"/><Relationship Id="rId12" Type="http://schemas.openxmlformats.org/officeDocument/2006/relationships/oleObject" Target="../embeddings/oleObject15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0.vml"/><Relationship Id="rId6" Type="http://schemas.openxmlformats.org/officeDocument/2006/relationships/oleObject" Target="../embeddings/oleObject153.bin"/><Relationship Id="rId11" Type="http://schemas.openxmlformats.org/officeDocument/2006/relationships/image" Target="../media/image157.emf"/><Relationship Id="rId5" Type="http://schemas.openxmlformats.org/officeDocument/2006/relationships/image" Target="../media/image168.wmf"/><Relationship Id="rId10" Type="http://schemas.openxmlformats.org/officeDocument/2006/relationships/oleObject" Target="../embeddings/oleObject140.bin"/><Relationship Id="rId4" Type="http://schemas.openxmlformats.org/officeDocument/2006/relationships/oleObject" Target="../embeddings/oleObject152.bin"/><Relationship Id="rId9" Type="http://schemas.openxmlformats.org/officeDocument/2006/relationships/image" Target="../media/image170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gi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359150" y="90489"/>
            <a:ext cx="5651500" cy="746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  容</a:t>
            </a:r>
            <a:endParaRPr lang="en-US" altLang="zh-CN" sz="3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1199456" y="1195389"/>
            <a:ext cx="7488238" cy="3745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449263" marR="0" lvl="0" indent="-449263" algn="l" defTabSz="914400" rtl="0" eaLnBrk="1" fontAlgn="base" latinLnBrk="0" hangingPunct="1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第一篇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电阻电路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449263" marR="0" lvl="0" indent="-449263" algn="l" defTabSz="914400" rtl="0" eaLnBrk="1" fontAlgn="base" latinLnBrk="0" hangingPunct="1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第二篇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动态电路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  <a:p>
            <a:pPr marL="449263" marR="0" lvl="0" indent="-449263" algn="l" defTabSz="914400" rtl="0" eaLnBrk="1" fontAlgn="base" latinLnBrk="0" hangingPunct="1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第三篇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稳态电路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1" r="10088" b="6170"/>
          <a:stretch/>
        </p:blipFill>
        <p:spPr>
          <a:xfrm>
            <a:off x="7176120" y="2092848"/>
            <a:ext cx="4968552" cy="472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8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57" y="1195389"/>
            <a:ext cx="4307644" cy="5643014"/>
          </a:xfrm>
          <a:prstGeom prst="rect">
            <a:avLst/>
          </a:prstGeom>
        </p:spPr>
      </p:pic>
      <p:sp>
        <p:nvSpPr>
          <p:cNvPr id="5" name="Rectangle 1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359150" y="90489"/>
            <a:ext cx="5651500" cy="746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第一篇  电阻电路</a:t>
            </a:r>
            <a:endParaRPr lang="en-US" altLang="zh-CN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199456" y="1195389"/>
            <a:ext cx="7488238" cy="3313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  <a:buSzPct val="120000"/>
              <a:defRPr/>
            </a:pPr>
            <a:r>
              <a:rPr lang="zh-CN" altLang="en-US" sz="3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第一章 </a:t>
            </a:r>
            <a:r>
              <a:rPr lang="en-US" altLang="zh-CN" sz="3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3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基本概念和基本规律</a:t>
            </a:r>
            <a:endParaRPr lang="en-US" altLang="zh-CN" sz="32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SzPct val="120000"/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第二章 </a:t>
            </a:r>
            <a:r>
              <a:rPr lang="en-US" altLang="zh-CN" sz="32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电路分析的基本方法</a:t>
            </a:r>
            <a:endParaRPr lang="en-US" altLang="zh-CN" sz="3200" b="1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SzPct val="120000"/>
              <a:defRPr/>
            </a:pPr>
            <a:r>
              <a:rPr lang="zh-CN" altLang="en-US" sz="3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第三章 </a:t>
            </a:r>
            <a:r>
              <a:rPr lang="en-US" altLang="zh-CN" sz="3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3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电路定理</a:t>
            </a:r>
            <a:endParaRPr lang="en-US" altLang="zh-CN" sz="32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SzPct val="120000"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第四章 </a:t>
            </a:r>
            <a:r>
              <a:rPr lang="en-US" altLang="zh-CN" sz="32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非线性电阻电路分析</a:t>
            </a:r>
          </a:p>
        </p:txBody>
      </p:sp>
    </p:spTree>
    <p:extLst>
      <p:ext uri="{BB962C8B-B14F-4D97-AF65-F5344CB8AC3E}">
        <p14:creationId xmlns:p14="http://schemas.microsoft.com/office/powerpoint/2010/main" val="783499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359150" y="90489"/>
            <a:ext cx="5651500" cy="746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第四章  非线性电阻电路分析</a:t>
            </a:r>
            <a:endParaRPr lang="en-US" altLang="zh-CN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1343472" y="980728"/>
            <a:ext cx="7974906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600"/>
              </a:spcBef>
              <a:buSzPct val="120000"/>
              <a:defRPr/>
            </a:pPr>
            <a:r>
              <a:rPr lang="en-US" altLang="zh-CN" sz="2800" b="1" dirty="0">
                <a:solidFill>
                  <a:srgbClr val="FF00FF"/>
                </a:solidFill>
                <a:latin typeface="+mn-lt"/>
                <a:ea typeface="华文中宋" panose="02010600040101010101" pitchFamily="2" charset="-122"/>
              </a:rPr>
              <a:t>4.0   </a:t>
            </a:r>
            <a:r>
              <a:rPr lang="zh-CN" altLang="en-US" sz="2800" b="1" dirty="0">
                <a:solidFill>
                  <a:srgbClr val="FF00FF"/>
                </a:solidFill>
                <a:latin typeface="+mn-lt"/>
                <a:ea typeface="华文中宋" panose="02010600040101010101" pitchFamily="2" charset="-122"/>
              </a:rPr>
              <a:t>二极管电路</a:t>
            </a:r>
            <a:endParaRPr lang="en-US" altLang="zh-CN" sz="2800" b="1" dirty="0">
              <a:solidFill>
                <a:srgbClr val="FF00FF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ts val="600"/>
              </a:spcBef>
              <a:buSzPct val="120000"/>
              <a:defRPr/>
            </a:pPr>
            <a:r>
              <a:rPr lang="en-US" altLang="zh-CN" sz="2800" b="1" dirty="0">
                <a:solidFill>
                  <a:srgbClr val="00CC99"/>
                </a:solidFill>
                <a:latin typeface="+mn-lt"/>
                <a:ea typeface="华文中宋" panose="02010600040101010101" pitchFamily="2" charset="-122"/>
              </a:rPr>
              <a:t>4.1   </a:t>
            </a:r>
            <a:r>
              <a:rPr lang="zh-CN" altLang="en-US" sz="2800" b="1" dirty="0">
                <a:solidFill>
                  <a:srgbClr val="00CC99"/>
                </a:solidFill>
                <a:latin typeface="+mn-lt"/>
                <a:ea typeface="华文中宋" panose="02010600040101010101" pitchFamily="2" charset="-122"/>
              </a:rPr>
              <a:t>非线性电阻元件的特性</a:t>
            </a:r>
            <a:endParaRPr lang="en-US" altLang="zh-CN" sz="2800" b="1" dirty="0">
              <a:solidFill>
                <a:srgbClr val="00CC99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ts val="600"/>
              </a:spcBef>
              <a:buSzPct val="120000"/>
              <a:defRPr/>
            </a:pPr>
            <a:r>
              <a:rPr lang="en-US" altLang="zh-CN" sz="2800" b="1" dirty="0">
                <a:solidFill>
                  <a:srgbClr val="00CC99"/>
                </a:solidFill>
                <a:latin typeface="+mn-lt"/>
                <a:ea typeface="华文中宋" panose="02010600040101010101" pitchFamily="2" charset="-122"/>
              </a:rPr>
              <a:t>4.2   </a:t>
            </a:r>
            <a:r>
              <a:rPr lang="zh-CN" altLang="en-US" sz="2800" b="1" dirty="0">
                <a:solidFill>
                  <a:srgbClr val="00CC99"/>
                </a:solidFill>
                <a:latin typeface="+mn-lt"/>
                <a:ea typeface="华文中宋" panose="02010600040101010101" pitchFamily="2" charset="-122"/>
              </a:rPr>
              <a:t>非线性电阻电路的方程</a:t>
            </a:r>
            <a:endParaRPr lang="en-US" altLang="zh-CN" sz="2800" b="1" dirty="0">
              <a:solidFill>
                <a:srgbClr val="00CC99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ts val="600"/>
              </a:spcBef>
              <a:buSzPct val="120000"/>
              <a:defRPr/>
            </a:pPr>
            <a:r>
              <a:rPr lang="en-US" altLang="zh-CN" sz="2800" b="1" dirty="0">
                <a:solidFill>
                  <a:srgbClr val="00CC99"/>
                </a:solidFill>
                <a:latin typeface="+mn-lt"/>
                <a:ea typeface="华文中宋" panose="02010600040101010101" pitchFamily="2" charset="-122"/>
              </a:rPr>
              <a:t>4.3   </a:t>
            </a:r>
            <a:r>
              <a:rPr lang="zh-CN" altLang="en-US" sz="2800" b="1" dirty="0">
                <a:solidFill>
                  <a:srgbClr val="00CC99"/>
                </a:solidFill>
                <a:latin typeface="+mn-lt"/>
                <a:ea typeface="华文中宋" panose="02010600040101010101" pitchFamily="2" charset="-122"/>
              </a:rPr>
              <a:t>图解分析法</a:t>
            </a:r>
            <a:endParaRPr lang="en-US" altLang="zh-CN" sz="2800" b="1" dirty="0">
              <a:solidFill>
                <a:srgbClr val="00CC99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ts val="600"/>
              </a:spcBef>
              <a:buSzPct val="120000"/>
              <a:defRPr/>
            </a:pPr>
            <a:r>
              <a:rPr lang="en-US" altLang="zh-CN" sz="2800" b="1" dirty="0">
                <a:solidFill>
                  <a:srgbClr val="00CC99"/>
                </a:solidFill>
                <a:latin typeface="+mn-lt"/>
                <a:ea typeface="华文中宋" panose="02010600040101010101" pitchFamily="2" charset="-122"/>
              </a:rPr>
              <a:t>4.4   </a:t>
            </a:r>
            <a:r>
              <a:rPr lang="zh-CN" altLang="en-US" sz="2800" b="1" dirty="0">
                <a:solidFill>
                  <a:srgbClr val="00CC99"/>
                </a:solidFill>
                <a:latin typeface="+mn-lt"/>
                <a:ea typeface="华文中宋" panose="02010600040101010101" pitchFamily="2" charset="-122"/>
              </a:rPr>
              <a:t>小信号分析法</a:t>
            </a:r>
            <a:endParaRPr lang="en-US" altLang="zh-CN" sz="2800" b="1" dirty="0">
              <a:solidFill>
                <a:srgbClr val="00CC99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ts val="600"/>
              </a:spcBef>
              <a:buSzPct val="120000"/>
              <a:defRPr/>
            </a:pPr>
            <a:r>
              <a:rPr lang="en-US" altLang="zh-CN" sz="2800" b="1" dirty="0">
                <a:solidFill>
                  <a:srgbClr val="00CC99"/>
                </a:solidFill>
                <a:latin typeface="+mn-lt"/>
                <a:ea typeface="华文中宋" panose="02010600040101010101" pitchFamily="2" charset="-122"/>
              </a:rPr>
              <a:t>4.5   </a:t>
            </a:r>
            <a:r>
              <a:rPr lang="zh-CN" altLang="en-US" sz="2800" b="1" dirty="0">
                <a:solidFill>
                  <a:srgbClr val="00CC99"/>
                </a:solidFill>
                <a:latin typeface="+mn-lt"/>
                <a:ea typeface="华文中宋" panose="02010600040101010101" pitchFamily="2" charset="-122"/>
              </a:rPr>
              <a:t>分段线性分析法</a:t>
            </a:r>
            <a:endParaRPr lang="en-US" altLang="zh-CN" sz="2800" b="1" dirty="0">
              <a:solidFill>
                <a:srgbClr val="00CC99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ts val="600"/>
              </a:spcBef>
              <a:buSzPct val="120000"/>
              <a:defRPr/>
            </a:pPr>
            <a:r>
              <a:rPr lang="en-US" altLang="zh-CN" sz="2800" b="1" dirty="0">
                <a:solidFill>
                  <a:srgbClr val="00CC99"/>
                </a:solidFill>
                <a:latin typeface="+mn-lt"/>
                <a:ea typeface="华文中宋" panose="02010600040101010101" pitchFamily="2" charset="-122"/>
              </a:rPr>
              <a:t>4.6   </a:t>
            </a:r>
            <a:r>
              <a:rPr lang="zh-CN" altLang="en-US" sz="2800" b="1" dirty="0">
                <a:solidFill>
                  <a:srgbClr val="00CC99"/>
                </a:solidFill>
                <a:latin typeface="+mn-lt"/>
                <a:ea typeface="华文中宋" panose="02010600040101010101" pitchFamily="2" charset="-122"/>
              </a:rPr>
              <a:t>数值分析法</a:t>
            </a:r>
            <a:endParaRPr lang="en-US" altLang="zh-CN" sz="2800" b="1" dirty="0">
              <a:solidFill>
                <a:srgbClr val="00CC99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ts val="600"/>
              </a:spcBef>
              <a:buSzPct val="120000"/>
              <a:defRPr/>
            </a:pPr>
            <a:r>
              <a:rPr lang="en-US" altLang="zh-CN" sz="2800" b="1" dirty="0">
                <a:solidFill>
                  <a:srgbClr val="00CC99"/>
                </a:solidFill>
                <a:latin typeface="+mn-lt"/>
                <a:ea typeface="华文中宋" panose="02010600040101010101" pitchFamily="2" charset="-122"/>
              </a:rPr>
              <a:t>4.7   </a:t>
            </a:r>
            <a:r>
              <a:rPr lang="zh-CN" altLang="en-US" sz="2800" b="1" dirty="0">
                <a:solidFill>
                  <a:srgbClr val="00CC99"/>
                </a:solidFill>
                <a:latin typeface="+mn-lt"/>
                <a:ea typeface="华文中宋" panose="02010600040101010101" pitchFamily="2" charset="-122"/>
              </a:rPr>
              <a:t>应用实例：温度测量与控制电路</a:t>
            </a:r>
            <a:endParaRPr lang="en-US" altLang="zh-CN" sz="2800" b="1" dirty="0">
              <a:solidFill>
                <a:srgbClr val="00CC99"/>
              </a:solidFill>
              <a:latin typeface="+mn-lt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ts val="600"/>
              </a:spcBef>
              <a:buSzPct val="120000"/>
              <a:defRPr/>
            </a:pPr>
            <a:r>
              <a:rPr lang="en-US" altLang="zh-CN" sz="2800" b="1" dirty="0">
                <a:solidFill>
                  <a:srgbClr val="00CC99"/>
                </a:solidFill>
                <a:latin typeface="+mn-lt"/>
                <a:ea typeface="华文中宋" panose="02010600040101010101" pitchFamily="2" charset="-122"/>
              </a:rPr>
              <a:t>4.8   </a:t>
            </a:r>
            <a:r>
              <a:rPr lang="zh-CN" altLang="en-US" sz="2800" b="1" dirty="0">
                <a:solidFill>
                  <a:srgbClr val="00CC99"/>
                </a:solidFill>
                <a:latin typeface="+mn-lt"/>
                <a:ea typeface="华文中宋" panose="02010600040101010101" pitchFamily="2" charset="-122"/>
              </a:rPr>
              <a:t>应用实例：简易酸奶机电路</a:t>
            </a:r>
          </a:p>
        </p:txBody>
      </p:sp>
      <p:sp>
        <p:nvSpPr>
          <p:cNvPr id="7" name="Rectangle 1027"/>
          <p:cNvSpPr txBox="1">
            <a:spLocks noChangeArrowheads="1"/>
          </p:cNvSpPr>
          <p:nvPr/>
        </p:nvSpPr>
        <p:spPr bwMode="auto">
          <a:xfrm>
            <a:off x="4277818" y="1052736"/>
            <a:ext cx="1922578" cy="504000"/>
          </a:xfrm>
          <a:prstGeom prst="rect">
            <a:avLst/>
          </a:prstGeom>
          <a:pattFill prst="smConfetti">
            <a:fgClr>
              <a:schemeClr val="accent1"/>
            </a:fgClr>
            <a:bgClr>
              <a:schemeClr val="bg1"/>
            </a:bgClr>
          </a:patt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marL="0" lvl="1" algn="ctr"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zh-CN" altLang="en-US" sz="2800" b="1" kern="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补充内容</a:t>
            </a:r>
            <a:endParaRPr lang="en-US" altLang="zh-CN" sz="2800" b="1" kern="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4" r="9827" b="2801"/>
          <a:stretch/>
        </p:blipFill>
        <p:spPr>
          <a:xfrm flipH="1">
            <a:off x="8435286" y="2276872"/>
            <a:ext cx="3743293" cy="455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96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449263" marR="0" lvl="0" indent="-449263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4.0 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二极管电路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3" name="Rectangle 4"/>
          <p:cNvSpPr>
            <a:spLocks noChangeArrowheads="1"/>
          </p:cNvSpPr>
          <p:nvPr/>
        </p:nvSpPr>
        <p:spPr bwMode="auto">
          <a:xfrm>
            <a:off x="989213" y="980728"/>
            <a:ext cx="28800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449263" marR="0" lvl="0" indent="-449263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4.0.1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二极管特性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89" name="Group 7"/>
          <p:cNvGrpSpPr>
            <a:grpSpLocks/>
          </p:cNvGrpSpPr>
          <p:nvPr/>
        </p:nvGrpSpPr>
        <p:grpSpPr bwMode="auto">
          <a:xfrm>
            <a:off x="911424" y="1483990"/>
            <a:ext cx="3036888" cy="171450"/>
            <a:chOff x="288" y="576"/>
            <a:chExt cx="1913" cy="108"/>
          </a:xfrm>
        </p:grpSpPr>
        <p:pic>
          <p:nvPicPr>
            <p:cNvPr id="95" name="Picture 8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6" name="Picture 9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7" name="Picture 10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9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" name="Picture 11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8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9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120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1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2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04" name="Picture 16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" name="Picture 17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" name="Picture 18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7" name="Picture 19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8" name="Picture 20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9" name="Picture 21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0" name="Picture 22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23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1" y="576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24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7" y="576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" name="Picture 25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6" y="576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" name="Picture 26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8" y="576"/>
              <a:ext cx="113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3" name="Rectangle 5"/>
          <p:cNvSpPr>
            <a:spLocks noChangeArrowheads="1"/>
          </p:cNvSpPr>
          <p:nvPr/>
        </p:nvSpPr>
        <p:spPr bwMode="auto">
          <a:xfrm>
            <a:off x="839416" y="1681650"/>
            <a:ext cx="2448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1.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cs typeface="Times New Roman" panose="02020603050405020304" pitchFamily="18" charset="0"/>
              </a:rPr>
              <a:t>实际二极管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710060" y="2238559"/>
            <a:ext cx="8778428" cy="4608725"/>
            <a:chOff x="1494036" y="2172830"/>
            <a:chExt cx="9144000" cy="5557081"/>
          </a:xfrm>
        </p:grpSpPr>
        <p:pic>
          <p:nvPicPr>
            <p:cNvPr id="68" name="Picture 3" descr="整流二极管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4036" y="2172830"/>
              <a:ext cx="2555875" cy="2303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9" name="Picture 4" descr="检波二极管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9911" y="2172830"/>
              <a:ext cx="3529013" cy="2303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" name="Picture 5" descr="稳压二极管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8924" y="2172830"/>
              <a:ext cx="2879725" cy="2303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Text Box 6"/>
            <p:cNvSpPr txBox="1">
              <a:spLocks noChangeArrowheads="1"/>
            </p:cNvSpPr>
            <p:nvPr/>
          </p:nvSpPr>
          <p:spPr bwMode="auto">
            <a:xfrm>
              <a:off x="1860311" y="4476293"/>
              <a:ext cx="1512888" cy="445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整流二极管</a:t>
              </a:r>
            </a:p>
          </p:txBody>
        </p:sp>
        <p:sp>
          <p:nvSpPr>
            <p:cNvPr id="72" name="Text Box 7"/>
            <p:cNvSpPr txBox="1">
              <a:spLocks noChangeArrowheads="1"/>
            </p:cNvSpPr>
            <p:nvPr/>
          </p:nvSpPr>
          <p:spPr bwMode="auto">
            <a:xfrm>
              <a:off x="5057973" y="4500520"/>
              <a:ext cx="1512887" cy="445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检波二极管</a:t>
              </a:r>
            </a:p>
          </p:txBody>
        </p:sp>
        <p:sp>
          <p:nvSpPr>
            <p:cNvPr id="74" name="Text Box 8"/>
            <p:cNvSpPr txBox="1">
              <a:spLocks noChangeArrowheads="1"/>
            </p:cNvSpPr>
            <p:nvPr/>
          </p:nvSpPr>
          <p:spPr bwMode="auto">
            <a:xfrm>
              <a:off x="8279804" y="4470442"/>
              <a:ext cx="1512888" cy="445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稳压二极管</a:t>
              </a:r>
            </a:p>
          </p:txBody>
        </p:sp>
        <p:pic>
          <p:nvPicPr>
            <p:cNvPr id="75" name="Picture 9" descr="发光二极管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4036" y="4981118"/>
              <a:ext cx="2700338" cy="2303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Text Box 10"/>
            <p:cNvSpPr txBox="1">
              <a:spLocks noChangeArrowheads="1"/>
            </p:cNvSpPr>
            <p:nvPr/>
          </p:nvSpPr>
          <p:spPr bwMode="auto">
            <a:xfrm>
              <a:off x="1889324" y="7284580"/>
              <a:ext cx="1512887" cy="445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发光二极管</a:t>
              </a:r>
            </a:p>
          </p:txBody>
        </p:sp>
        <p:pic>
          <p:nvPicPr>
            <p:cNvPr id="77" name="Picture 11" descr="光敏二极管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4374" y="4981118"/>
              <a:ext cx="3240087" cy="2266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" name="Text Box 12"/>
            <p:cNvSpPr txBox="1">
              <a:spLocks noChangeArrowheads="1"/>
            </p:cNvSpPr>
            <p:nvPr/>
          </p:nvSpPr>
          <p:spPr bwMode="auto">
            <a:xfrm>
              <a:off x="4986536" y="7284580"/>
              <a:ext cx="1512888" cy="445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光敏二极管</a:t>
              </a:r>
            </a:p>
          </p:txBody>
        </p:sp>
        <p:pic>
          <p:nvPicPr>
            <p:cNvPr id="79" name="Picture 13" descr="快恢复二极管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4461" y="4981118"/>
              <a:ext cx="3203575" cy="2268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5" name="Text Box 14"/>
            <p:cNvSpPr txBox="1">
              <a:spLocks noChangeArrowheads="1"/>
            </p:cNvSpPr>
            <p:nvPr/>
          </p:nvSpPr>
          <p:spPr bwMode="auto">
            <a:xfrm>
              <a:off x="8153599" y="7284580"/>
              <a:ext cx="2484437" cy="445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9172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快恢复二极管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6683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Arial"/>
              </a:rPr>
              <a:t>4.0  </a:t>
            </a:r>
            <a:r>
              <a:rPr lang="zh-CN" altLang="en-US" sz="3200" b="1" dirty="0">
                <a:solidFill>
                  <a:srgbClr val="0000FF"/>
                </a:solidFill>
                <a:latin typeface="Arial"/>
              </a:rPr>
              <a:t>二极管电路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03" name="Rectangle 4"/>
          <p:cNvSpPr>
            <a:spLocks noChangeArrowheads="1"/>
          </p:cNvSpPr>
          <p:nvPr/>
        </p:nvSpPr>
        <p:spPr bwMode="auto">
          <a:xfrm>
            <a:off x="989213" y="980728"/>
            <a:ext cx="28800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4.0.1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二极管特性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89" name="Group 7"/>
          <p:cNvGrpSpPr>
            <a:grpSpLocks/>
          </p:cNvGrpSpPr>
          <p:nvPr/>
        </p:nvGrpSpPr>
        <p:grpSpPr bwMode="auto">
          <a:xfrm>
            <a:off x="911424" y="1483990"/>
            <a:ext cx="3036888" cy="171450"/>
            <a:chOff x="288" y="576"/>
            <a:chExt cx="1913" cy="108"/>
          </a:xfrm>
        </p:grpSpPr>
        <p:pic>
          <p:nvPicPr>
            <p:cNvPr id="95" name="Picture 8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6" name="Picture 9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7" name="Picture 10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9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" name="Picture 11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8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9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120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1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2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04" name="Picture 16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" name="Picture 17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" name="Picture 18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7" name="Picture 19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8" name="Picture 20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9" name="Picture 21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0" name="Picture 22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23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1" y="576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24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7" y="576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" name="Picture 25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6" y="576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" name="Picture 26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8" y="576"/>
              <a:ext cx="113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3" name="Rectangle 5"/>
          <p:cNvSpPr>
            <a:spLocks noChangeArrowheads="1"/>
          </p:cNvSpPr>
          <p:nvPr/>
        </p:nvSpPr>
        <p:spPr bwMode="auto">
          <a:xfrm>
            <a:off x="839416" y="1681650"/>
            <a:ext cx="2448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1. </a:t>
            </a: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实际二极管</a:t>
            </a:r>
          </a:p>
        </p:txBody>
      </p:sp>
      <p:sp>
        <p:nvSpPr>
          <p:cNvPr id="80" name="Line 3"/>
          <p:cNvSpPr>
            <a:spLocks noChangeShapeType="1"/>
          </p:cNvSpPr>
          <p:nvPr/>
        </p:nvSpPr>
        <p:spPr bwMode="auto">
          <a:xfrm flipV="1">
            <a:off x="7146578" y="3519587"/>
            <a:ext cx="442913" cy="206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arrow" w="med" len="sm"/>
            <a:tailEnd type="arrow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1" name="Text Box 4"/>
          <p:cNvSpPr txBox="1">
            <a:spLocks noChangeArrowheads="1"/>
          </p:cNvSpPr>
          <p:nvPr/>
        </p:nvSpPr>
        <p:spPr bwMode="auto">
          <a:xfrm>
            <a:off x="9801025" y="3970589"/>
            <a:ext cx="1905000" cy="1079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硅管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0.5V,</a:t>
            </a: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锗管0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.1V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2" name="Line 5"/>
          <p:cNvSpPr>
            <a:spLocks noChangeShapeType="1"/>
          </p:cNvSpPr>
          <p:nvPr/>
        </p:nvSpPr>
        <p:spPr bwMode="auto">
          <a:xfrm flipV="1">
            <a:off x="7984778" y="1940024"/>
            <a:ext cx="0" cy="1600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3" name="Line 6"/>
          <p:cNvSpPr>
            <a:spLocks noChangeShapeType="1"/>
          </p:cNvSpPr>
          <p:nvPr/>
        </p:nvSpPr>
        <p:spPr bwMode="auto">
          <a:xfrm>
            <a:off x="5470178" y="3467199"/>
            <a:ext cx="0" cy="301625"/>
          </a:xfrm>
          <a:prstGeom prst="line">
            <a:avLst/>
          </a:prstGeom>
          <a:noFill/>
          <a:ln w="38100">
            <a:solidFill>
              <a:srgbClr val="FF33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4" name="AutoShape 7" descr="40%"/>
          <p:cNvSpPr>
            <a:spLocks noChangeArrowheads="1"/>
          </p:cNvSpPr>
          <p:nvPr/>
        </p:nvSpPr>
        <p:spPr bwMode="auto">
          <a:xfrm>
            <a:off x="5205860" y="2002931"/>
            <a:ext cx="1828800" cy="914400"/>
          </a:xfrm>
          <a:prstGeom prst="wedgeRoundRectCallout">
            <a:avLst>
              <a:gd name="adj1" fmla="val -34906"/>
              <a:gd name="adj2" fmla="val 110838"/>
              <a:gd name="adj3" fmla="val 16667"/>
            </a:avLst>
          </a:prstGeom>
          <a:solidFill>
            <a:srgbClr val="CCFFCC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cs typeface="Times New Roman" panose="02020603050405020304" pitchFamily="18" charset="0"/>
              </a:rPr>
              <a:t>反向击穿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cs typeface="Times New Roman" panose="02020603050405020304" pitchFamily="18" charset="0"/>
              </a:rPr>
              <a:t>电压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(BR)</a:t>
            </a:r>
            <a:endParaRPr kumimoji="1" lang="en-US" altLang="zh-CN" sz="2800" b="1" i="0" u="sng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85" name="AutoShape 8" descr="40%"/>
          <p:cNvSpPr>
            <a:spLocks noChangeArrowheads="1"/>
          </p:cNvSpPr>
          <p:nvPr/>
        </p:nvSpPr>
        <p:spPr bwMode="auto">
          <a:xfrm>
            <a:off x="8137178" y="2473424"/>
            <a:ext cx="1752600" cy="762000"/>
          </a:xfrm>
          <a:prstGeom prst="wedgeRoundRectCallout">
            <a:avLst>
              <a:gd name="adj1" fmla="val -57792"/>
              <a:gd name="adj2" fmla="val 85208"/>
              <a:gd name="adj3" fmla="val 16667"/>
            </a:avLst>
          </a:prstGeom>
          <a:solidFill>
            <a:srgbClr val="FFFFCC"/>
          </a:solidFill>
          <a:ln w="3810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导通压降</a:t>
            </a:r>
          </a:p>
        </p:txBody>
      </p:sp>
      <p:sp>
        <p:nvSpPr>
          <p:cNvPr id="86" name="Rectangle 9"/>
          <p:cNvSpPr>
            <a:spLocks noChangeArrowheads="1"/>
          </p:cNvSpPr>
          <p:nvPr/>
        </p:nvSpPr>
        <p:spPr bwMode="auto">
          <a:xfrm>
            <a:off x="7589491" y="5686914"/>
            <a:ext cx="4051125" cy="1057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外加电压大于死区电压，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二极管才能导通</a:t>
            </a:r>
          </a:p>
        </p:txBody>
      </p:sp>
      <p:sp>
        <p:nvSpPr>
          <p:cNvPr id="87" name="Rectangle 10"/>
          <p:cNvSpPr>
            <a:spLocks noChangeArrowheads="1"/>
          </p:cNvSpPr>
          <p:nvPr/>
        </p:nvSpPr>
        <p:spPr bwMode="auto">
          <a:xfrm>
            <a:off x="1573413" y="5691786"/>
            <a:ext cx="5461248" cy="1076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外加电压大于反向击穿电压，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二极管被击穿，失去单向导电性</a:t>
            </a:r>
          </a:p>
        </p:txBody>
      </p:sp>
      <p:sp>
        <p:nvSpPr>
          <p:cNvPr id="88" name="AutoShape 11" descr="80%"/>
          <p:cNvSpPr>
            <a:spLocks noChangeArrowheads="1"/>
          </p:cNvSpPr>
          <p:nvPr/>
        </p:nvSpPr>
        <p:spPr bwMode="auto">
          <a:xfrm>
            <a:off x="8872636" y="955131"/>
            <a:ext cx="1905000" cy="762000"/>
          </a:xfrm>
          <a:prstGeom prst="wedgeRoundRectCallout">
            <a:avLst>
              <a:gd name="adj1" fmla="val -91820"/>
              <a:gd name="adj2" fmla="val 75272"/>
              <a:gd name="adj3" fmla="val 16667"/>
            </a:avLst>
          </a:prstGeom>
          <a:solidFill>
            <a:srgbClr val="FFFFCC"/>
          </a:solidFill>
          <a:ln w="38100">
            <a:solidFill>
              <a:srgbClr val="FF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正向特性</a:t>
            </a:r>
          </a:p>
        </p:txBody>
      </p:sp>
      <p:sp>
        <p:nvSpPr>
          <p:cNvPr id="90" name="AutoShape 12" descr="60%"/>
          <p:cNvSpPr>
            <a:spLocks noChangeArrowheads="1"/>
          </p:cNvSpPr>
          <p:nvPr/>
        </p:nvSpPr>
        <p:spPr bwMode="auto">
          <a:xfrm>
            <a:off x="5422552" y="4987231"/>
            <a:ext cx="1676400" cy="685800"/>
          </a:xfrm>
          <a:prstGeom prst="wedgeRoundRectCallout">
            <a:avLst>
              <a:gd name="adj1" fmla="val -50094"/>
              <a:gd name="adj2" fmla="val -96297"/>
              <a:gd name="adj3" fmla="val 16667"/>
            </a:avLst>
          </a:prstGeom>
          <a:solidFill>
            <a:srgbClr val="CCFFCC"/>
          </a:solidFill>
          <a:ln w="38100">
            <a:solidFill>
              <a:srgbClr val="00B0F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cs typeface="Times New Roman" panose="02020603050405020304" pitchFamily="18" charset="0"/>
              </a:rPr>
              <a:t>反向特性</a:t>
            </a:r>
          </a:p>
        </p:txBody>
      </p:sp>
      <p:grpSp>
        <p:nvGrpSpPr>
          <p:cNvPr id="91" name="Group 15"/>
          <p:cNvGrpSpPr>
            <a:grpSpLocks/>
          </p:cNvGrpSpPr>
          <p:nvPr/>
        </p:nvGrpSpPr>
        <p:grpSpPr bwMode="auto">
          <a:xfrm>
            <a:off x="4936778" y="1131987"/>
            <a:ext cx="5362575" cy="4278312"/>
            <a:chOff x="1344" y="547"/>
            <a:chExt cx="3378" cy="2695"/>
          </a:xfrm>
        </p:grpSpPr>
        <p:sp>
          <p:nvSpPr>
            <p:cNvPr id="93" name="Line 16"/>
            <p:cNvSpPr>
              <a:spLocks noChangeShapeType="1"/>
            </p:cNvSpPr>
            <p:nvPr/>
          </p:nvSpPr>
          <p:spPr bwMode="auto">
            <a:xfrm>
              <a:off x="2706" y="732"/>
              <a:ext cx="0" cy="25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sm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94" name="Line 17"/>
            <p:cNvSpPr>
              <a:spLocks noChangeShapeType="1"/>
            </p:cNvSpPr>
            <p:nvPr/>
          </p:nvSpPr>
          <p:spPr bwMode="auto">
            <a:xfrm rot="5400000">
              <a:off x="2775" y="630"/>
              <a:ext cx="0" cy="28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arrow" w="sm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0" name="Freeform 18"/>
            <p:cNvSpPr>
              <a:spLocks/>
            </p:cNvSpPr>
            <p:nvPr/>
          </p:nvSpPr>
          <p:spPr bwMode="auto">
            <a:xfrm>
              <a:off x="2706" y="763"/>
              <a:ext cx="609" cy="1306"/>
            </a:xfrm>
            <a:custGeom>
              <a:avLst/>
              <a:gdLst>
                <a:gd name="T0" fmla="*/ 0 w 609"/>
                <a:gd name="T1" fmla="*/ 775 h 1693"/>
                <a:gd name="T2" fmla="*/ 276 w 609"/>
                <a:gd name="T3" fmla="*/ 770 h 1693"/>
                <a:gd name="T4" fmla="*/ 355 w 609"/>
                <a:gd name="T5" fmla="*/ 731 h 1693"/>
                <a:gd name="T6" fmla="*/ 380 w 609"/>
                <a:gd name="T7" fmla="*/ 704 h 1693"/>
                <a:gd name="T8" fmla="*/ 400 w 609"/>
                <a:gd name="T9" fmla="*/ 669 h 1693"/>
                <a:gd name="T10" fmla="*/ 436 w 609"/>
                <a:gd name="T11" fmla="*/ 576 h 1693"/>
                <a:gd name="T12" fmla="*/ 609 w 609"/>
                <a:gd name="T13" fmla="*/ 0 h 16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9" h="1693">
                  <a:moveTo>
                    <a:pt x="0" y="1689"/>
                  </a:moveTo>
                  <a:cubicBezTo>
                    <a:pt x="46" y="1687"/>
                    <a:pt x="217" y="1693"/>
                    <a:pt x="276" y="1677"/>
                  </a:cubicBezTo>
                  <a:cubicBezTo>
                    <a:pt x="335" y="1661"/>
                    <a:pt x="338" y="1615"/>
                    <a:pt x="355" y="1591"/>
                  </a:cubicBezTo>
                  <a:cubicBezTo>
                    <a:pt x="372" y="1567"/>
                    <a:pt x="373" y="1555"/>
                    <a:pt x="380" y="1533"/>
                  </a:cubicBezTo>
                  <a:cubicBezTo>
                    <a:pt x="387" y="1511"/>
                    <a:pt x="391" y="1503"/>
                    <a:pt x="400" y="1457"/>
                  </a:cubicBezTo>
                  <a:cubicBezTo>
                    <a:pt x="409" y="1411"/>
                    <a:pt x="401" y="1498"/>
                    <a:pt x="436" y="1255"/>
                  </a:cubicBezTo>
                  <a:cubicBezTo>
                    <a:pt x="471" y="1012"/>
                    <a:pt x="580" y="209"/>
                    <a:pt x="609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1" name="Line 19"/>
            <p:cNvSpPr>
              <a:spLocks noChangeShapeType="1"/>
            </p:cNvSpPr>
            <p:nvPr/>
          </p:nvSpPr>
          <p:spPr bwMode="auto">
            <a:xfrm>
              <a:off x="2706" y="2066"/>
              <a:ext cx="0" cy="0"/>
            </a:xfrm>
            <a:prstGeom prst="line">
              <a:avLst/>
            </a:prstGeom>
            <a:noFill/>
            <a:ln w="38100">
              <a:solidFill>
                <a:srgbClr val="FFFF99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2" name="Freeform 20"/>
            <p:cNvSpPr>
              <a:spLocks/>
            </p:cNvSpPr>
            <p:nvPr/>
          </p:nvSpPr>
          <p:spPr bwMode="auto">
            <a:xfrm>
              <a:off x="1554" y="2066"/>
              <a:ext cx="1152" cy="1065"/>
            </a:xfrm>
            <a:custGeom>
              <a:avLst/>
              <a:gdLst>
                <a:gd name="T0" fmla="*/ 1152 w 1152"/>
                <a:gd name="T1" fmla="*/ 0 h 1380"/>
                <a:gd name="T2" fmla="*/ 1086 w 1152"/>
                <a:gd name="T3" fmla="*/ 22 h 1380"/>
                <a:gd name="T4" fmla="*/ 966 w 1152"/>
                <a:gd name="T5" fmla="*/ 28 h 1380"/>
                <a:gd name="T6" fmla="*/ 558 w 1152"/>
                <a:gd name="T7" fmla="*/ 30 h 1380"/>
                <a:gd name="T8" fmla="*/ 258 w 1152"/>
                <a:gd name="T9" fmla="*/ 36 h 1380"/>
                <a:gd name="T10" fmla="*/ 162 w 1152"/>
                <a:gd name="T11" fmla="*/ 52 h 1380"/>
                <a:gd name="T12" fmla="*/ 114 w 1152"/>
                <a:gd name="T13" fmla="*/ 127 h 1380"/>
                <a:gd name="T14" fmla="*/ 0 w 1152"/>
                <a:gd name="T15" fmla="*/ 634 h 13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52" h="1380">
                  <a:moveTo>
                    <a:pt x="1152" y="0"/>
                  </a:moveTo>
                  <a:cubicBezTo>
                    <a:pt x="1141" y="8"/>
                    <a:pt x="1117" y="38"/>
                    <a:pt x="1086" y="48"/>
                  </a:cubicBezTo>
                  <a:cubicBezTo>
                    <a:pt x="1055" y="58"/>
                    <a:pt x="1054" y="57"/>
                    <a:pt x="966" y="60"/>
                  </a:cubicBezTo>
                  <a:cubicBezTo>
                    <a:pt x="878" y="63"/>
                    <a:pt x="676" y="63"/>
                    <a:pt x="558" y="66"/>
                  </a:cubicBezTo>
                  <a:cubicBezTo>
                    <a:pt x="440" y="69"/>
                    <a:pt x="324" y="70"/>
                    <a:pt x="258" y="78"/>
                  </a:cubicBezTo>
                  <a:cubicBezTo>
                    <a:pt x="192" y="86"/>
                    <a:pt x="186" y="81"/>
                    <a:pt x="162" y="114"/>
                  </a:cubicBezTo>
                  <a:cubicBezTo>
                    <a:pt x="138" y="147"/>
                    <a:pt x="141" y="65"/>
                    <a:pt x="114" y="276"/>
                  </a:cubicBezTo>
                  <a:cubicBezTo>
                    <a:pt x="87" y="487"/>
                    <a:pt x="24" y="1150"/>
                    <a:pt x="0" y="138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15" name="Text Box 21"/>
            <p:cNvSpPr txBox="1">
              <a:spLocks noChangeArrowheads="1"/>
            </p:cNvSpPr>
            <p:nvPr/>
          </p:nvSpPr>
          <p:spPr bwMode="auto">
            <a:xfrm>
              <a:off x="4002" y="1883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99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U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16" name="Text Box 22"/>
            <p:cNvSpPr txBox="1">
              <a:spLocks noChangeArrowheads="1"/>
            </p:cNvSpPr>
            <p:nvPr/>
          </p:nvSpPr>
          <p:spPr bwMode="auto">
            <a:xfrm>
              <a:off x="2736" y="547"/>
              <a:ext cx="2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99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I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117" name="AutoShape 23" descr="40%"/>
          <p:cNvSpPr>
            <a:spLocks noChangeArrowheads="1"/>
          </p:cNvSpPr>
          <p:nvPr/>
        </p:nvSpPr>
        <p:spPr bwMode="auto">
          <a:xfrm>
            <a:off x="7679978" y="4149824"/>
            <a:ext cx="1676400" cy="685800"/>
          </a:xfrm>
          <a:prstGeom prst="wedgeRoundRectCallout">
            <a:avLst>
              <a:gd name="adj1" fmla="val -61551"/>
              <a:gd name="adj2" fmla="val -116667"/>
              <a:gd name="adj3" fmla="val 16667"/>
            </a:avLst>
          </a:prstGeom>
          <a:solidFill>
            <a:srgbClr val="FFFFCC"/>
          </a:solidFill>
          <a:ln w="38100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死区电压</a:t>
            </a:r>
          </a:p>
        </p:txBody>
      </p:sp>
      <p:grpSp>
        <p:nvGrpSpPr>
          <p:cNvPr id="118" name="Group 24"/>
          <p:cNvGrpSpPr>
            <a:grpSpLocks/>
          </p:cNvGrpSpPr>
          <p:nvPr/>
        </p:nvGrpSpPr>
        <p:grpSpPr bwMode="auto">
          <a:xfrm>
            <a:off x="5474941" y="3838674"/>
            <a:ext cx="1824037" cy="768350"/>
            <a:chOff x="1632" y="2275"/>
            <a:chExt cx="1149" cy="484"/>
          </a:xfrm>
        </p:grpSpPr>
        <p:grpSp>
          <p:nvGrpSpPr>
            <p:cNvPr id="119" name="Group 25"/>
            <p:cNvGrpSpPr>
              <a:grpSpLocks/>
            </p:cNvGrpSpPr>
            <p:nvPr/>
          </p:nvGrpSpPr>
          <p:grpSpPr bwMode="auto">
            <a:xfrm>
              <a:off x="1632" y="2308"/>
              <a:ext cx="1149" cy="451"/>
              <a:chOff x="1632" y="2308"/>
              <a:chExt cx="1149" cy="451"/>
            </a:xfrm>
          </p:grpSpPr>
          <p:sp>
            <p:nvSpPr>
              <p:cNvPr id="124" name="Line 26"/>
              <p:cNvSpPr>
                <a:spLocks noChangeShapeType="1"/>
              </p:cNvSpPr>
              <p:nvPr/>
            </p:nvSpPr>
            <p:spPr bwMode="auto">
              <a:xfrm rot="-5400000">
                <a:off x="1999" y="2579"/>
                <a:ext cx="361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Line 27"/>
              <p:cNvSpPr>
                <a:spLocks noChangeShapeType="1"/>
              </p:cNvSpPr>
              <p:nvPr/>
            </p:nvSpPr>
            <p:spPr bwMode="auto">
              <a:xfrm rot="5400000" flipV="1">
                <a:off x="2121" y="2276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" name="Text Box 28"/>
              <p:cNvSpPr txBox="1">
                <a:spLocks noChangeArrowheads="1"/>
              </p:cNvSpPr>
              <p:nvPr/>
            </p:nvSpPr>
            <p:spPr bwMode="auto">
              <a:xfrm>
                <a:off x="1632" y="2404"/>
                <a:ext cx="178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99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P</a:t>
                </a:r>
              </a:p>
            </p:txBody>
          </p:sp>
          <p:sp>
            <p:nvSpPr>
              <p:cNvPr id="127" name="Text Box 29"/>
              <p:cNvSpPr txBox="1">
                <a:spLocks noChangeArrowheads="1"/>
              </p:cNvSpPr>
              <p:nvPr/>
            </p:nvSpPr>
            <p:spPr bwMode="auto">
              <a:xfrm>
                <a:off x="2352" y="2381"/>
                <a:ext cx="429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FFFF99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128" name="AutoShape 30"/>
              <p:cNvSpPr>
                <a:spLocks noChangeArrowheads="1"/>
              </p:cNvSpPr>
              <p:nvPr/>
            </p:nvSpPr>
            <p:spPr bwMode="auto">
              <a:xfrm rot="5400000">
                <a:off x="1933" y="2485"/>
                <a:ext cx="334" cy="160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rgbClr val="FF33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9" name="Text Box 31"/>
              <p:cNvSpPr txBox="1">
                <a:spLocks noChangeArrowheads="1"/>
              </p:cNvSpPr>
              <p:nvPr/>
            </p:nvSpPr>
            <p:spPr bwMode="auto">
              <a:xfrm>
                <a:off x="2214" y="2308"/>
                <a:ext cx="24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/>
                    <a:cs typeface="Times New Roman" panose="02020603050405020304" pitchFamily="18" charset="0"/>
                  </a:rPr>
                  <a:t>+</a:t>
                </a:r>
              </a:p>
            </p:txBody>
          </p:sp>
        </p:grpSp>
        <p:sp>
          <p:nvSpPr>
            <p:cNvPr id="123" name="Text Box 32"/>
            <p:cNvSpPr txBox="1">
              <a:spLocks noChangeArrowheads="1"/>
            </p:cNvSpPr>
            <p:nvPr/>
          </p:nvSpPr>
          <p:spPr bwMode="auto">
            <a:xfrm>
              <a:off x="1780" y="227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–</a:t>
              </a:r>
            </a:p>
          </p:txBody>
        </p:sp>
      </p:grpSp>
      <p:grpSp>
        <p:nvGrpSpPr>
          <p:cNvPr id="130" name="Group 33"/>
          <p:cNvGrpSpPr>
            <a:grpSpLocks/>
          </p:cNvGrpSpPr>
          <p:nvPr/>
        </p:nvGrpSpPr>
        <p:grpSpPr bwMode="auto">
          <a:xfrm>
            <a:off x="9225508" y="1636440"/>
            <a:ext cx="1747838" cy="798513"/>
            <a:chOff x="3984" y="672"/>
            <a:chExt cx="1101" cy="503"/>
          </a:xfrm>
        </p:grpSpPr>
        <p:sp>
          <p:nvSpPr>
            <p:cNvPr id="131" name="Line 34"/>
            <p:cNvSpPr>
              <a:spLocks noChangeShapeType="1"/>
            </p:cNvSpPr>
            <p:nvPr/>
          </p:nvSpPr>
          <p:spPr bwMode="auto">
            <a:xfrm rot="-5400000">
              <a:off x="4351" y="995"/>
              <a:ext cx="361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32" name="Line 35"/>
            <p:cNvSpPr>
              <a:spLocks noChangeShapeType="1"/>
            </p:cNvSpPr>
            <p:nvPr/>
          </p:nvSpPr>
          <p:spPr bwMode="auto">
            <a:xfrm rot="5400000" flipV="1">
              <a:off x="4473" y="692"/>
              <a:ext cx="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33" name="Text Box 36"/>
            <p:cNvSpPr txBox="1">
              <a:spLocks noChangeArrowheads="1"/>
            </p:cNvSpPr>
            <p:nvPr/>
          </p:nvSpPr>
          <p:spPr bwMode="auto">
            <a:xfrm>
              <a:off x="3984" y="820"/>
              <a:ext cx="178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99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134" name="Text Box 37"/>
            <p:cNvSpPr txBox="1">
              <a:spLocks noChangeArrowheads="1"/>
            </p:cNvSpPr>
            <p:nvPr/>
          </p:nvSpPr>
          <p:spPr bwMode="auto">
            <a:xfrm>
              <a:off x="4752" y="797"/>
              <a:ext cx="333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99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135" name="AutoShape 38"/>
            <p:cNvSpPr>
              <a:spLocks noChangeArrowheads="1"/>
            </p:cNvSpPr>
            <p:nvPr/>
          </p:nvSpPr>
          <p:spPr bwMode="auto">
            <a:xfrm rot="5400000">
              <a:off x="4285" y="901"/>
              <a:ext cx="334" cy="16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36" name="Text Box 39"/>
            <p:cNvSpPr txBox="1">
              <a:spLocks noChangeArrowheads="1"/>
            </p:cNvSpPr>
            <p:nvPr/>
          </p:nvSpPr>
          <p:spPr bwMode="auto">
            <a:xfrm>
              <a:off x="4575" y="67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137" name="Text Box 40"/>
            <p:cNvSpPr txBox="1">
              <a:spLocks noChangeArrowheads="1"/>
            </p:cNvSpPr>
            <p:nvPr/>
          </p:nvSpPr>
          <p:spPr bwMode="auto">
            <a:xfrm>
              <a:off x="4124" y="691"/>
              <a:ext cx="2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138" name="AutoShape 41" descr="60%"/>
          <p:cNvSpPr>
            <a:spLocks noChangeArrowheads="1"/>
          </p:cNvSpPr>
          <p:nvPr/>
        </p:nvSpPr>
        <p:spPr bwMode="auto">
          <a:xfrm>
            <a:off x="1888110" y="3650952"/>
            <a:ext cx="2362200" cy="1828800"/>
          </a:xfrm>
          <a:prstGeom prst="wedgeRoundRectCallout">
            <a:avLst>
              <a:gd name="adj1" fmla="val 122716"/>
              <a:gd name="adj2" fmla="val -46787"/>
              <a:gd name="adj3" fmla="val 16667"/>
            </a:avLst>
          </a:prstGeom>
          <a:solidFill>
            <a:srgbClr val="CCFFCC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反向电流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在一定电压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范围内保持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常数。</a:t>
            </a:r>
            <a:endParaRPr kumimoji="0" lang="zh-CN" altLang="en-US" sz="2800" b="1" i="0" u="sng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39" name="Group 33"/>
          <p:cNvGrpSpPr>
            <a:grpSpLocks/>
          </p:cNvGrpSpPr>
          <p:nvPr/>
        </p:nvGrpSpPr>
        <p:grpSpPr bwMode="auto">
          <a:xfrm>
            <a:off x="1198490" y="2333771"/>
            <a:ext cx="2678113" cy="585788"/>
            <a:chOff x="3627" y="806"/>
            <a:chExt cx="1687" cy="369"/>
          </a:xfrm>
        </p:grpSpPr>
        <p:sp>
          <p:nvSpPr>
            <p:cNvPr id="140" name="Line 34"/>
            <p:cNvSpPr>
              <a:spLocks noChangeShapeType="1"/>
            </p:cNvSpPr>
            <p:nvPr/>
          </p:nvSpPr>
          <p:spPr bwMode="auto">
            <a:xfrm rot="-5400000">
              <a:off x="4351" y="995"/>
              <a:ext cx="361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41" name="Line 35"/>
            <p:cNvSpPr>
              <a:spLocks noChangeShapeType="1"/>
            </p:cNvSpPr>
            <p:nvPr/>
          </p:nvSpPr>
          <p:spPr bwMode="auto">
            <a:xfrm rot="5400000" flipV="1">
              <a:off x="4473" y="692"/>
              <a:ext cx="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  <p:sp>
          <p:nvSpPr>
            <p:cNvPr id="142" name="Text Box 36"/>
            <p:cNvSpPr txBox="1">
              <a:spLocks noChangeArrowheads="1"/>
            </p:cNvSpPr>
            <p:nvPr/>
          </p:nvSpPr>
          <p:spPr bwMode="auto">
            <a:xfrm>
              <a:off x="3627" y="806"/>
              <a:ext cx="646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99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cs typeface="Times New Roman" panose="02020603050405020304" pitchFamily="18" charset="0"/>
                </a:rPr>
                <a:t>阳极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" name="Text Box 37"/>
            <p:cNvSpPr txBox="1">
              <a:spLocks noChangeArrowheads="1"/>
            </p:cNvSpPr>
            <p:nvPr/>
          </p:nvSpPr>
          <p:spPr bwMode="auto">
            <a:xfrm>
              <a:off x="4725" y="824"/>
              <a:ext cx="589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99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cs typeface="Times New Roman" panose="02020603050405020304" pitchFamily="18" charset="0"/>
                </a:rPr>
                <a:t>阴极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4" name="AutoShape 38"/>
            <p:cNvSpPr>
              <a:spLocks noChangeArrowheads="1"/>
            </p:cNvSpPr>
            <p:nvPr/>
          </p:nvSpPr>
          <p:spPr bwMode="auto">
            <a:xfrm rot="5400000">
              <a:off x="4285" y="901"/>
              <a:ext cx="334" cy="16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287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utoUpdateAnimBg="0"/>
      <p:bldP spid="84" grpId="0" animBg="1" autoUpdateAnimBg="0"/>
      <p:bldP spid="85" grpId="0" animBg="1" autoUpdateAnimBg="0"/>
      <p:bldP spid="86" grpId="0" autoUpdateAnimBg="0"/>
      <p:bldP spid="87" grpId="0" autoUpdateAnimBg="0"/>
      <p:bldP spid="88" grpId="0" animBg="1" autoUpdateAnimBg="0"/>
      <p:bldP spid="90" grpId="0" animBg="1" autoUpdateAnimBg="0"/>
      <p:bldP spid="117" grpId="0" animBg="1" autoUpdateAnimBg="0"/>
      <p:bldP spid="138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2"/>
          <p:cNvSpPr>
            <a:spLocks noChangeArrowheads="1"/>
          </p:cNvSpPr>
          <p:nvPr/>
        </p:nvSpPr>
        <p:spPr bwMode="auto">
          <a:xfrm>
            <a:off x="1247975" y="2260040"/>
            <a:ext cx="7872361" cy="1634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若二极管是理想的，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正向导通时，正向管压降为零，相当于开关闭合</a:t>
            </a:r>
            <a:endParaRPr lang="en-US" altLang="zh-CN" sz="2800" b="1" dirty="0">
              <a:solidFill>
                <a:srgbClr val="FF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反向截止时，反向电流降为零，相当于开关断开</a:t>
            </a:r>
          </a:p>
        </p:txBody>
      </p:sp>
      <p:sp>
        <p:nvSpPr>
          <p:cNvPr id="132" name="Rectangle 5"/>
          <p:cNvSpPr>
            <a:spLocks noChangeArrowheads="1"/>
          </p:cNvSpPr>
          <p:nvPr/>
        </p:nvSpPr>
        <p:spPr bwMode="auto">
          <a:xfrm>
            <a:off x="839416" y="1681650"/>
            <a:ext cx="25511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理想二极管</a:t>
            </a: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Arial"/>
              </a:rPr>
              <a:t>4.0  </a:t>
            </a:r>
            <a:r>
              <a:rPr lang="zh-CN" altLang="en-US" sz="3200" b="1" dirty="0">
                <a:solidFill>
                  <a:srgbClr val="0000FF"/>
                </a:solidFill>
                <a:latin typeface="Arial"/>
              </a:rPr>
              <a:t>二极管电路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989213" y="980728"/>
            <a:ext cx="28800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4.0.1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二极管特性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30" name="Group 7"/>
          <p:cNvGrpSpPr>
            <a:grpSpLocks/>
          </p:cNvGrpSpPr>
          <p:nvPr/>
        </p:nvGrpSpPr>
        <p:grpSpPr bwMode="auto">
          <a:xfrm>
            <a:off x="911424" y="1483990"/>
            <a:ext cx="3036888" cy="171450"/>
            <a:chOff x="288" y="576"/>
            <a:chExt cx="1913" cy="108"/>
          </a:xfrm>
        </p:grpSpPr>
        <p:pic>
          <p:nvPicPr>
            <p:cNvPr id="31" name="Picture 8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Picture 9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" name="Picture 10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9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7" name="Picture 11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8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8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70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1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2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59" name="Picture 16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" name="Picture 17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" name="Picture 18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" name="Picture 19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" name="Picture 20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" name="Picture 21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5" name="Picture 22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" name="Picture 23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1" y="576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" name="Picture 24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7" y="576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" name="Picture 25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6" y="576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9" name="Picture 26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8" y="576"/>
              <a:ext cx="113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7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762871"/>
              </p:ext>
            </p:extLst>
          </p:nvPr>
        </p:nvGraphicFramePr>
        <p:xfrm>
          <a:off x="6312024" y="4088049"/>
          <a:ext cx="2133600" cy="199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324" name="Visio" r:id="rId5" imgW="1467360" imgH="1371240" progId="Visio.Drawing.11">
                  <p:embed/>
                </p:oleObj>
              </mc:Choice>
              <mc:Fallback>
                <p:oleObj name="Visio" r:id="rId5" imgW="1467360" imgH="1371240" progId="Visio.Drawing.11">
                  <p:embed/>
                  <p:pic>
                    <p:nvPicPr>
                      <p:cNvPr id="13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2024" y="4088049"/>
                        <a:ext cx="2133600" cy="199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96268"/>
              </p:ext>
            </p:extLst>
          </p:nvPr>
        </p:nvGraphicFramePr>
        <p:xfrm>
          <a:off x="2963541" y="4077072"/>
          <a:ext cx="1116013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325" name="Visio" r:id="rId7" imgW="586440" imgH="1159920" progId="Visio.Drawing.11">
                  <p:embed/>
                </p:oleObj>
              </mc:Choice>
              <mc:Fallback>
                <p:oleObj name="Visio" r:id="rId7" imgW="586440" imgH="1159920" progId="Visio.Drawing.11">
                  <p:embed/>
                  <p:pic>
                    <p:nvPicPr>
                      <p:cNvPr id="13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3541" y="4077072"/>
                        <a:ext cx="1116013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Rectangle 13"/>
          <p:cNvSpPr>
            <a:spLocks noChangeArrowheads="1"/>
          </p:cNvSpPr>
          <p:nvPr/>
        </p:nvSpPr>
        <p:spPr bwMode="auto">
          <a:xfrm>
            <a:off x="4212704" y="6083537"/>
            <a:ext cx="245936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特点：非线性</a:t>
            </a:r>
          </a:p>
        </p:txBody>
      </p:sp>
    </p:spTree>
    <p:extLst>
      <p:ext uri="{BB962C8B-B14F-4D97-AF65-F5344CB8AC3E}">
        <p14:creationId xmlns:p14="http://schemas.microsoft.com/office/powerpoint/2010/main" val="321429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utoUpdateAnimBg="0"/>
      <p:bldP spid="7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5"/>
          <p:cNvSpPr>
            <a:spLocks noChangeArrowheads="1"/>
          </p:cNvSpPr>
          <p:nvPr/>
        </p:nvSpPr>
        <p:spPr bwMode="auto">
          <a:xfrm>
            <a:off x="839416" y="1681650"/>
            <a:ext cx="40671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理想二极管电路分析</a:t>
            </a:r>
          </a:p>
        </p:txBody>
      </p:sp>
      <p:sp>
        <p:nvSpPr>
          <p:cNvPr id="93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Arial"/>
              </a:rPr>
              <a:t>4.0  </a:t>
            </a:r>
            <a:r>
              <a:rPr lang="zh-CN" altLang="en-US" sz="3200" b="1" dirty="0">
                <a:solidFill>
                  <a:srgbClr val="0000FF"/>
                </a:solidFill>
                <a:latin typeface="Arial"/>
              </a:rPr>
              <a:t>二极管电路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94" name="Rectangle 4"/>
          <p:cNvSpPr>
            <a:spLocks noChangeArrowheads="1"/>
          </p:cNvSpPr>
          <p:nvPr/>
        </p:nvSpPr>
        <p:spPr bwMode="auto">
          <a:xfrm>
            <a:off x="989213" y="980728"/>
            <a:ext cx="28800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4.0.2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电路分析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100" name="Group 7"/>
          <p:cNvGrpSpPr>
            <a:grpSpLocks/>
          </p:cNvGrpSpPr>
          <p:nvPr/>
        </p:nvGrpSpPr>
        <p:grpSpPr bwMode="auto">
          <a:xfrm>
            <a:off x="911424" y="1483990"/>
            <a:ext cx="2700338" cy="171450"/>
            <a:chOff x="288" y="576"/>
            <a:chExt cx="1701" cy="108"/>
          </a:xfrm>
        </p:grpSpPr>
        <p:pic>
          <p:nvPicPr>
            <p:cNvPr id="101" name="Picture 8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" name="Picture 9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" name="Picture 10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9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4" name="Picture 11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8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5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138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9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0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26" name="Picture 16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7" name="Picture 17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" name="Picture 18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9" name="Picture 19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0" name="Picture 20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" name="Picture 21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" name="Picture 22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4" name="Picture 23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1" y="576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5" name="Picture 24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7" y="576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5" name="Group 2"/>
          <p:cNvGrpSpPr>
            <a:grpSpLocks/>
          </p:cNvGrpSpPr>
          <p:nvPr/>
        </p:nvGrpSpPr>
        <p:grpSpPr bwMode="auto">
          <a:xfrm>
            <a:off x="7667349" y="4353255"/>
            <a:ext cx="2063750" cy="1108075"/>
            <a:chOff x="3168" y="2975"/>
            <a:chExt cx="1300" cy="698"/>
          </a:xfrm>
        </p:grpSpPr>
        <p:sp>
          <p:nvSpPr>
            <p:cNvPr id="86" name="Text Box 3"/>
            <p:cNvSpPr txBox="1">
              <a:spLocks noChangeArrowheads="1"/>
            </p:cNvSpPr>
            <p:nvPr/>
          </p:nvSpPr>
          <p:spPr bwMode="auto">
            <a:xfrm>
              <a:off x="4224" y="3168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" pitchFamily="18" charset="0"/>
                  <a:ea typeface="宋体" panose="02010600030101010101" pitchFamily="2" charset="-122"/>
                  <a:cs typeface="+mn-cs"/>
                </a:rPr>
                <a:t>R</a:t>
              </a:r>
              <a:endPara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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" name="Line 4"/>
            <p:cNvSpPr>
              <a:spLocks noChangeShapeType="1"/>
            </p:cNvSpPr>
            <p:nvPr/>
          </p:nvSpPr>
          <p:spPr bwMode="auto">
            <a:xfrm flipV="1">
              <a:off x="3600" y="3024"/>
              <a:ext cx="224" cy="12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1" name="Line 5"/>
            <p:cNvSpPr>
              <a:spLocks noChangeShapeType="1"/>
            </p:cNvSpPr>
            <p:nvPr/>
          </p:nvSpPr>
          <p:spPr bwMode="auto">
            <a:xfrm>
              <a:off x="3168" y="3673"/>
              <a:ext cx="10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" name="Line 6"/>
            <p:cNvSpPr>
              <a:spLocks noChangeShapeType="1"/>
            </p:cNvSpPr>
            <p:nvPr/>
          </p:nvSpPr>
          <p:spPr bwMode="auto">
            <a:xfrm>
              <a:off x="4200" y="2988"/>
              <a:ext cx="0" cy="2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5" name="Rectangle 7"/>
            <p:cNvSpPr>
              <a:spLocks noChangeArrowheads="1"/>
            </p:cNvSpPr>
            <p:nvPr/>
          </p:nvSpPr>
          <p:spPr bwMode="auto">
            <a:xfrm>
              <a:off x="4155" y="3189"/>
              <a:ext cx="90" cy="28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" name="Line 8"/>
            <p:cNvSpPr>
              <a:spLocks noChangeShapeType="1"/>
            </p:cNvSpPr>
            <p:nvPr/>
          </p:nvSpPr>
          <p:spPr bwMode="auto">
            <a:xfrm>
              <a:off x="4200" y="3471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" name="Line 9"/>
            <p:cNvSpPr>
              <a:spLocks noChangeShapeType="1"/>
            </p:cNvSpPr>
            <p:nvPr/>
          </p:nvSpPr>
          <p:spPr bwMode="auto">
            <a:xfrm>
              <a:off x="3841" y="3001"/>
              <a:ext cx="35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" name="Line 10"/>
            <p:cNvSpPr>
              <a:spLocks noChangeShapeType="1"/>
            </p:cNvSpPr>
            <p:nvPr/>
          </p:nvSpPr>
          <p:spPr bwMode="auto">
            <a:xfrm flipH="1">
              <a:off x="3169" y="3001"/>
              <a:ext cx="432" cy="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" name="Oval 11"/>
            <p:cNvSpPr>
              <a:spLocks noChangeArrowheads="1"/>
            </p:cNvSpPr>
            <p:nvPr/>
          </p:nvSpPr>
          <p:spPr bwMode="auto">
            <a:xfrm>
              <a:off x="3793" y="2975"/>
              <a:ext cx="48" cy="4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3" name="Text Box 13"/>
          <p:cNvSpPr txBox="1">
            <a:spLocks noChangeArrowheads="1"/>
          </p:cNvSpPr>
          <p:nvPr/>
        </p:nvSpPr>
        <p:spPr bwMode="auto">
          <a:xfrm>
            <a:off x="3288528" y="2139727"/>
            <a:ext cx="184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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" name="Rectangle 14"/>
          <p:cNvSpPr txBox="1">
            <a:spLocks noChangeArrowheads="1"/>
          </p:cNvSpPr>
          <p:nvPr/>
        </p:nvSpPr>
        <p:spPr bwMode="auto">
          <a:xfrm>
            <a:off x="1237788" y="2188620"/>
            <a:ext cx="35814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120000"/>
              <a:buBlip>
                <a:blip r:embed="rId4"/>
              </a:buBlip>
              <a:defRPr sz="2800">
                <a:solidFill>
                  <a:srgbClr val="133984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400">
                <a:solidFill>
                  <a:srgbClr val="133984"/>
                </a:solidFill>
                <a:latin typeface="+mn-lt"/>
                <a:ea typeface="+mn-ea"/>
              </a:defRPr>
            </a:lvl2pPr>
            <a:lvl3pPr marL="13223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宋体" pitchFamily="2" charset="-122"/>
              </a:defRPr>
            </a:lvl3pPr>
            <a:lvl4pPr marL="17303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138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95563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3052763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509963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967163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二极管的开关特性</a:t>
            </a:r>
          </a:p>
        </p:txBody>
      </p:sp>
      <p:grpSp>
        <p:nvGrpSpPr>
          <p:cNvPr id="105" name="Group 15"/>
          <p:cNvGrpSpPr>
            <a:grpSpLocks/>
          </p:cNvGrpSpPr>
          <p:nvPr/>
        </p:nvGrpSpPr>
        <p:grpSpPr bwMode="auto">
          <a:xfrm>
            <a:off x="2618603" y="3947840"/>
            <a:ext cx="641350" cy="447675"/>
            <a:chOff x="384" y="1200"/>
            <a:chExt cx="432" cy="336"/>
          </a:xfrm>
        </p:grpSpPr>
        <p:sp>
          <p:nvSpPr>
            <p:cNvPr id="106" name="Line 16"/>
            <p:cNvSpPr>
              <a:spLocks noChangeShapeType="1"/>
            </p:cNvSpPr>
            <p:nvPr/>
          </p:nvSpPr>
          <p:spPr bwMode="auto">
            <a:xfrm>
              <a:off x="384" y="1536"/>
              <a:ext cx="2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7" name="Line 17"/>
            <p:cNvSpPr>
              <a:spLocks noChangeShapeType="1"/>
            </p:cNvSpPr>
            <p:nvPr/>
          </p:nvSpPr>
          <p:spPr bwMode="auto">
            <a:xfrm flipV="1">
              <a:off x="624" y="1200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" name="Line 18"/>
            <p:cNvSpPr>
              <a:spLocks noChangeShapeType="1"/>
            </p:cNvSpPr>
            <p:nvPr/>
          </p:nvSpPr>
          <p:spPr bwMode="auto">
            <a:xfrm>
              <a:off x="624" y="1200"/>
              <a:ext cx="19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9" name="Group 19"/>
          <p:cNvGrpSpPr>
            <a:grpSpLocks/>
          </p:cNvGrpSpPr>
          <p:nvPr/>
        </p:nvGrpSpPr>
        <p:grpSpPr bwMode="auto">
          <a:xfrm>
            <a:off x="3285353" y="3947840"/>
            <a:ext cx="285750" cy="447675"/>
            <a:chOff x="912" y="1824"/>
            <a:chExt cx="192" cy="336"/>
          </a:xfrm>
        </p:grpSpPr>
        <p:sp>
          <p:nvSpPr>
            <p:cNvPr id="110" name="Line 20"/>
            <p:cNvSpPr>
              <a:spLocks noChangeShapeType="1"/>
            </p:cNvSpPr>
            <p:nvPr/>
          </p:nvSpPr>
          <p:spPr bwMode="auto">
            <a:xfrm>
              <a:off x="912" y="1824"/>
              <a:ext cx="0" cy="33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" name="Line 21"/>
            <p:cNvSpPr>
              <a:spLocks noChangeShapeType="1"/>
            </p:cNvSpPr>
            <p:nvPr/>
          </p:nvSpPr>
          <p:spPr bwMode="auto">
            <a:xfrm>
              <a:off x="912" y="2160"/>
              <a:ext cx="19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2" name="Group 22"/>
          <p:cNvGrpSpPr>
            <a:grpSpLocks/>
          </p:cNvGrpSpPr>
          <p:nvPr/>
        </p:nvGrpSpPr>
        <p:grpSpPr bwMode="auto">
          <a:xfrm>
            <a:off x="2542403" y="2811190"/>
            <a:ext cx="1296988" cy="519112"/>
            <a:chOff x="384" y="2313"/>
            <a:chExt cx="817" cy="327"/>
          </a:xfrm>
        </p:grpSpPr>
        <p:sp>
          <p:nvSpPr>
            <p:cNvPr id="113" name="AutoShape 23"/>
            <p:cNvSpPr>
              <a:spLocks noChangeArrowheads="1"/>
            </p:cNvSpPr>
            <p:nvPr/>
          </p:nvSpPr>
          <p:spPr bwMode="auto">
            <a:xfrm>
              <a:off x="384" y="2361"/>
              <a:ext cx="817" cy="279"/>
            </a:xfrm>
            <a:prstGeom prst="wedgeEllipseCallout">
              <a:avLst>
                <a:gd name="adj1" fmla="val 81579"/>
                <a:gd name="adj2" fmla="val 98028"/>
              </a:avLst>
            </a:prstGeom>
            <a:pattFill prst="pct75">
              <a:fgClr>
                <a:srgbClr val="FFFF99"/>
              </a:fgClr>
              <a:bgClr>
                <a:schemeClr val="bg1"/>
              </a:bgClr>
            </a:pattFill>
            <a:ln w="3810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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" name="Rectangle 24"/>
            <p:cNvSpPr>
              <a:spLocks noChangeArrowheads="1"/>
            </p:cNvSpPr>
            <p:nvPr/>
          </p:nvSpPr>
          <p:spPr bwMode="auto">
            <a:xfrm>
              <a:off x="482" y="2313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" pitchFamily="18" charset="0"/>
                  <a:ea typeface="宋体" panose="02010600030101010101" pitchFamily="2" charset="-122"/>
                  <a:cs typeface="+mn-cs"/>
                </a:rPr>
                <a:t>导通</a:t>
              </a:r>
            </a:p>
          </p:txBody>
        </p:sp>
      </p:grpSp>
      <p:sp>
        <p:nvSpPr>
          <p:cNvPr id="115" name="AutoShape 25"/>
          <p:cNvSpPr>
            <a:spLocks noChangeArrowheads="1"/>
          </p:cNvSpPr>
          <p:nvPr/>
        </p:nvSpPr>
        <p:spPr bwMode="auto">
          <a:xfrm>
            <a:off x="6454499" y="2574114"/>
            <a:ext cx="925513" cy="320675"/>
          </a:xfrm>
          <a:prstGeom prst="rightArrow">
            <a:avLst>
              <a:gd name="adj1" fmla="val 50000"/>
              <a:gd name="adj2" fmla="val 72154"/>
            </a:avLst>
          </a:prstGeom>
          <a:gradFill rotWithShape="0">
            <a:gsLst>
              <a:gs pos="0">
                <a:srgbClr val="008080"/>
              </a:gs>
              <a:gs pos="100000">
                <a:srgbClr val="33CCFF"/>
              </a:gs>
            </a:gsLst>
            <a:lin ang="0" scaled="1"/>
          </a:gradFill>
          <a:ln w="28575">
            <a:solidFill>
              <a:srgbClr val="00CC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6" name="AutoShape 26"/>
          <p:cNvSpPr>
            <a:spLocks noChangeArrowheads="1"/>
          </p:cNvSpPr>
          <p:nvPr/>
        </p:nvSpPr>
        <p:spPr bwMode="auto">
          <a:xfrm>
            <a:off x="6371949" y="4912055"/>
            <a:ext cx="996950" cy="320675"/>
          </a:xfrm>
          <a:prstGeom prst="rightArrow">
            <a:avLst>
              <a:gd name="adj1" fmla="val 50000"/>
              <a:gd name="adj2" fmla="val 77723"/>
            </a:avLst>
          </a:prstGeom>
          <a:gradFill rotWithShape="0">
            <a:gsLst>
              <a:gs pos="0">
                <a:srgbClr val="FFFF66"/>
              </a:gs>
              <a:gs pos="100000">
                <a:srgbClr val="008080"/>
              </a:gs>
            </a:gsLst>
            <a:lin ang="0" scaled="1"/>
          </a:gradFill>
          <a:ln w="28575">
            <a:solidFill>
              <a:srgbClr val="00CC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7" name="AutoShape 30" descr="90%"/>
          <p:cNvSpPr>
            <a:spLocks noChangeArrowheads="1"/>
          </p:cNvSpPr>
          <p:nvPr/>
        </p:nvSpPr>
        <p:spPr bwMode="auto">
          <a:xfrm>
            <a:off x="9464399" y="3180429"/>
            <a:ext cx="2032201" cy="1073737"/>
          </a:xfrm>
          <a:prstGeom prst="wedgeEllipseCallout">
            <a:avLst>
              <a:gd name="adj1" fmla="val -95512"/>
              <a:gd name="adj2" fmla="val 50758"/>
            </a:avLst>
          </a:prstGeom>
          <a:pattFill prst="pct50">
            <a:fgClr>
              <a:srgbClr val="FFCCFF"/>
            </a:fgClr>
            <a:bgClr>
              <a:srgbClr val="FFFFFF"/>
            </a:bgClr>
          </a:pattFill>
          <a:ln w="3810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" pitchFamily="18" charset="0"/>
                <a:ea typeface="宋体" panose="02010600030101010101" pitchFamily="2" charset="-122"/>
                <a:cs typeface="+mn-cs"/>
              </a:rPr>
              <a:t>相当于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" pitchFamily="18" charset="0"/>
                <a:ea typeface="宋体" panose="02010600030101010101" pitchFamily="2" charset="-122"/>
                <a:cs typeface="+mn-cs"/>
              </a:rPr>
              <a:t>开关断开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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8" name="AutoShape 31"/>
          <p:cNvSpPr>
            <a:spLocks noChangeArrowheads="1"/>
          </p:cNvSpPr>
          <p:nvPr/>
        </p:nvSpPr>
        <p:spPr bwMode="auto">
          <a:xfrm>
            <a:off x="9343750" y="1196752"/>
            <a:ext cx="2152850" cy="1075738"/>
          </a:xfrm>
          <a:prstGeom prst="wedgeEllipseCallout">
            <a:avLst>
              <a:gd name="adj1" fmla="val -80772"/>
              <a:gd name="adj2" fmla="val 33560"/>
            </a:avLst>
          </a:prstGeom>
          <a:pattFill prst="pct75">
            <a:fgClr>
              <a:srgbClr val="FFFF99"/>
            </a:fgClr>
            <a:bgClr>
              <a:schemeClr val="bg1"/>
            </a:bgClr>
          </a:pattFill>
          <a:ln w="3810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" pitchFamily="18" charset="0"/>
                <a:ea typeface="宋体" panose="02010600030101010101" pitchFamily="2" charset="-122"/>
                <a:cs typeface="+mn-cs"/>
              </a:rPr>
              <a:t>相当于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" pitchFamily="18" charset="0"/>
                <a:ea typeface="宋体" panose="02010600030101010101" pitchFamily="2" charset="-122"/>
                <a:cs typeface="+mn-cs"/>
              </a:rPr>
              <a:t>开关闭合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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9" name="Group 32"/>
          <p:cNvGrpSpPr>
            <a:grpSpLocks/>
          </p:cNvGrpSpPr>
          <p:nvPr/>
        </p:nvGrpSpPr>
        <p:grpSpPr bwMode="auto">
          <a:xfrm>
            <a:off x="8130899" y="3708730"/>
            <a:ext cx="762000" cy="914400"/>
            <a:chOff x="3504" y="2544"/>
            <a:chExt cx="480" cy="576"/>
          </a:xfrm>
        </p:grpSpPr>
        <p:sp>
          <p:nvSpPr>
            <p:cNvPr id="120" name="Rectangle 33"/>
            <p:cNvSpPr>
              <a:spLocks noChangeArrowheads="1"/>
            </p:cNvSpPr>
            <p:nvPr/>
          </p:nvSpPr>
          <p:spPr bwMode="auto">
            <a:xfrm>
              <a:off x="3600" y="2544"/>
              <a:ext cx="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" pitchFamily="18" charset="0"/>
                  <a:ea typeface="宋体" panose="02010600030101010101" pitchFamily="2" charset="-122"/>
                  <a:cs typeface="+mn-cs"/>
                </a:rPr>
                <a:t>S</a:t>
              </a:r>
            </a:p>
          </p:txBody>
        </p:sp>
        <p:sp>
          <p:nvSpPr>
            <p:cNvPr id="121" name="Oval 34"/>
            <p:cNvSpPr>
              <a:spLocks noChangeArrowheads="1"/>
            </p:cNvSpPr>
            <p:nvPr/>
          </p:nvSpPr>
          <p:spPr bwMode="auto">
            <a:xfrm rot="-5400000" flipH="1" flipV="1">
              <a:off x="3600" y="2736"/>
              <a:ext cx="288" cy="480"/>
            </a:xfrm>
            <a:prstGeom prst="ellipse">
              <a:avLst/>
            </a:prstGeom>
            <a:noFill/>
            <a:ln w="381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2" name="Text Box 35"/>
          <p:cNvSpPr txBox="1">
            <a:spLocks noChangeArrowheads="1"/>
          </p:cNvSpPr>
          <p:nvPr/>
        </p:nvSpPr>
        <p:spPr bwMode="auto">
          <a:xfrm>
            <a:off x="2850378" y="3425552"/>
            <a:ext cx="619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" pitchFamily="18" charset="0"/>
                <a:ea typeface="宋体" panose="02010600030101010101" pitchFamily="2" charset="-122"/>
                <a:cs typeface="+mn-cs"/>
              </a:rPr>
              <a:t>3V</a:t>
            </a:r>
          </a:p>
        </p:txBody>
      </p:sp>
      <p:sp>
        <p:nvSpPr>
          <p:cNvPr id="136" name="Text Box 36"/>
          <p:cNvSpPr txBox="1">
            <a:spLocks noChangeArrowheads="1"/>
          </p:cNvSpPr>
          <p:nvPr/>
        </p:nvSpPr>
        <p:spPr bwMode="auto">
          <a:xfrm>
            <a:off x="3317103" y="3958952"/>
            <a:ext cx="619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" pitchFamily="18" charset="0"/>
                <a:ea typeface="宋体" panose="02010600030101010101" pitchFamily="2" charset="-122"/>
                <a:cs typeface="+mn-cs"/>
              </a:rPr>
              <a:t>0V</a:t>
            </a:r>
          </a:p>
        </p:txBody>
      </p:sp>
      <p:grpSp>
        <p:nvGrpSpPr>
          <p:cNvPr id="137" name="Group 37"/>
          <p:cNvGrpSpPr>
            <a:grpSpLocks/>
          </p:cNvGrpSpPr>
          <p:nvPr/>
        </p:nvGrpSpPr>
        <p:grpSpPr bwMode="auto">
          <a:xfrm>
            <a:off x="8207099" y="1583514"/>
            <a:ext cx="762000" cy="838200"/>
            <a:chOff x="3552" y="1296"/>
            <a:chExt cx="480" cy="528"/>
          </a:xfrm>
        </p:grpSpPr>
        <p:sp>
          <p:nvSpPr>
            <p:cNvPr id="141" name="Rectangle 38"/>
            <p:cNvSpPr>
              <a:spLocks noChangeArrowheads="1"/>
            </p:cNvSpPr>
            <p:nvPr/>
          </p:nvSpPr>
          <p:spPr bwMode="auto">
            <a:xfrm>
              <a:off x="3696" y="1296"/>
              <a:ext cx="27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" pitchFamily="18" charset="0"/>
                  <a:ea typeface="宋体" panose="02010600030101010101" pitchFamily="2" charset="-122"/>
                  <a:cs typeface="+mn-cs"/>
                </a:rPr>
                <a:t>S</a:t>
              </a:r>
            </a:p>
          </p:txBody>
        </p:sp>
        <p:sp>
          <p:nvSpPr>
            <p:cNvPr id="142" name="Oval 39"/>
            <p:cNvSpPr>
              <a:spLocks noChangeArrowheads="1"/>
            </p:cNvSpPr>
            <p:nvPr/>
          </p:nvSpPr>
          <p:spPr bwMode="auto">
            <a:xfrm rot="-5400000" flipH="1" flipV="1">
              <a:off x="3648" y="1440"/>
              <a:ext cx="288" cy="480"/>
            </a:xfrm>
            <a:prstGeom prst="ellipse">
              <a:avLst/>
            </a:prstGeom>
            <a:noFill/>
            <a:ln w="3810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43" name="Group 40"/>
          <p:cNvGrpSpPr>
            <a:grpSpLocks/>
          </p:cNvGrpSpPr>
          <p:nvPr/>
        </p:nvGrpSpPr>
        <p:grpSpPr bwMode="auto">
          <a:xfrm>
            <a:off x="7673699" y="2188352"/>
            <a:ext cx="2063750" cy="1136650"/>
            <a:chOff x="3216" y="1677"/>
            <a:chExt cx="1300" cy="716"/>
          </a:xfrm>
        </p:grpSpPr>
        <p:sp>
          <p:nvSpPr>
            <p:cNvPr id="144" name="Text Box 41"/>
            <p:cNvSpPr txBox="1">
              <a:spLocks noChangeArrowheads="1"/>
            </p:cNvSpPr>
            <p:nvPr/>
          </p:nvSpPr>
          <p:spPr bwMode="auto">
            <a:xfrm>
              <a:off x="4272" y="1920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" pitchFamily="18" charset="0"/>
                  <a:ea typeface="宋体" panose="02010600030101010101" pitchFamily="2" charset="-122"/>
                  <a:cs typeface="+mn-cs"/>
                </a:rPr>
                <a:t>R</a:t>
              </a:r>
            </a:p>
          </p:txBody>
        </p:sp>
        <p:sp>
          <p:nvSpPr>
            <p:cNvPr id="145" name="Line 42"/>
            <p:cNvSpPr>
              <a:spLocks noChangeShapeType="1"/>
            </p:cNvSpPr>
            <p:nvPr/>
          </p:nvSpPr>
          <p:spPr bwMode="auto">
            <a:xfrm>
              <a:off x="3216" y="2393"/>
              <a:ext cx="10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6" name="Line 43"/>
            <p:cNvSpPr>
              <a:spLocks noChangeShapeType="1"/>
            </p:cNvSpPr>
            <p:nvPr/>
          </p:nvSpPr>
          <p:spPr bwMode="auto">
            <a:xfrm>
              <a:off x="4248" y="1708"/>
              <a:ext cx="0" cy="20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7" name="Rectangle 44"/>
            <p:cNvSpPr>
              <a:spLocks noChangeArrowheads="1"/>
            </p:cNvSpPr>
            <p:nvPr/>
          </p:nvSpPr>
          <p:spPr bwMode="auto">
            <a:xfrm>
              <a:off x="4203" y="1909"/>
              <a:ext cx="90" cy="28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8" name="Line 45"/>
            <p:cNvSpPr>
              <a:spLocks noChangeShapeType="1"/>
            </p:cNvSpPr>
            <p:nvPr/>
          </p:nvSpPr>
          <p:spPr bwMode="auto">
            <a:xfrm>
              <a:off x="4248" y="2191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9" name="Line 46"/>
            <p:cNvSpPr>
              <a:spLocks noChangeShapeType="1"/>
            </p:cNvSpPr>
            <p:nvPr/>
          </p:nvSpPr>
          <p:spPr bwMode="auto">
            <a:xfrm>
              <a:off x="3890" y="1704"/>
              <a:ext cx="35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0" name="Line 47"/>
            <p:cNvSpPr>
              <a:spLocks noChangeShapeType="1"/>
            </p:cNvSpPr>
            <p:nvPr/>
          </p:nvSpPr>
          <p:spPr bwMode="auto">
            <a:xfrm flipH="1">
              <a:off x="3216" y="1704"/>
              <a:ext cx="494" cy="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1" name="Line 48"/>
            <p:cNvSpPr>
              <a:spLocks noChangeShapeType="1"/>
            </p:cNvSpPr>
            <p:nvPr/>
          </p:nvSpPr>
          <p:spPr bwMode="auto">
            <a:xfrm>
              <a:off x="3696" y="1677"/>
              <a:ext cx="22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2" name="Oval 49"/>
            <p:cNvSpPr>
              <a:spLocks noChangeArrowheads="1"/>
            </p:cNvSpPr>
            <p:nvPr/>
          </p:nvSpPr>
          <p:spPr bwMode="auto">
            <a:xfrm>
              <a:off x="3696" y="1681"/>
              <a:ext cx="50" cy="5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" name="Oval 50"/>
            <p:cNvSpPr>
              <a:spLocks noChangeArrowheads="1"/>
            </p:cNvSpPr>
            <p:nvPr/>
          </p:nvSpPr>
          <p:spPr bwMode="auto">
            <a:xfrm>
              <a:off x="3840" y="1680"/>
              <a:ext cx="50" cy="5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54" name="Group 51"/>
          <p:cNvGrpSpPr>
            <a:grpSpLocks/>
          </p:cNvGrpSpPr>
          <p:nvPr/>
        </p:nvGrpSpPr>
        <p:grpSpPr bwMode="auto">
          <a:xfrm>
            <a:off x="3609203" y="3115990"/>
            <a:ext cx="2076450" cy="1681162"/>
            <a:chOff x="1200" y="1776"/>
            <a:chExt cx="1308" cy="1059"/>
          </a:xfrm>
        </p:grpSpPr>
        <p:sp>
          <p:nvSpPr>
            <p:cNvPr id="155" name="Text Box 52"/>
            <p:cNvSpPr txBox="1">
              <a:spLocks noChangeArrowheads="1"/>
            </p:cNvSpPr>
            <p:nvPr/>
          </p:nvSpPr>
          <p:spPr bwMode="auto">
            <a:xfrm>
              <a:off x="2264" y="2352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" pitchFamily="18" charset="0"/>
                  <a:ea typeface="宋体" panose="02010600030101010101" pitchFamily="2" charset="-122"/>
                  <a:cs typeface="+mn-cs"/>
                </a:rPr>
                <a:t>R</a:t>
              </a:r>
              <a:endPara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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6" name="Rectangle 53"/>
            <p:cNvSpPr>
              <a:spLocks noChangeArrowheads="1"/>
            </p:cNvSpPr>
            <p:nvPr/>
          </p:nvSpPr>
          <p:spPr bwMode="auto">
            <a:xfrm>
              <a:off x="1592" y="1776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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grpSp>
          <p:nvGrpSpPr>
            <p:cNvPr id="157" name="Group 54"/>
            <p:cNvGrpSpPr>
              <a:grpSpLocks/>
            </p:cNvGrpSpPr>
            <p:nvPr/>
          </p:nvGrpSpPr>
          <p:grpSpPr bwMode="auto">
            <a:xfrm>
              <a:off x="1200" y="2016"/>
              <a:ext cx="1076" cy="819"/>
              <a:chOff x="1192" y="2208"/>
              <a:chExt cx="1076" cy="819"/>
            </a:xfrm>
          </p:grpSpPr>
          <p:sp>
            <p:nvSpPr>
              <p:cNvPr id="158" name="Line 55"/>
              <p:cNvSpPr>
                <a:spLocks noChangeShapeType="1"/>
              </p:cNvSpPr>
              <p:nvPr/>
            </p:nvSpPr>
            <p:spPr bwMode="auto">
              <a:xfrm>
                <a:off x="1192" y="2342"/>
                <a:ext cx="103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9" name="Line 56"/>
              <p:cNvSpPr>
                <a:spLocks noChangeShapeType="1"/>
              </p:cNvSpPr>
              <p:nvPr/>
            </p:nvSpPr>
            <p:spPr bwMode="auto">
              <a:xfrm>
                <a:off x="1192" y="3027"/>
                <a:ext cx="103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0" name="Line 57"/>
              <p:cNvSpPr>
                <a:spLocks noChangeShapeType="1"/>
              </p:cNvSpPr>
              <p:nvPr/>
            </p:nvSpPr>
            <p:spPr bwMode="auto">
              <a:xfrm>
                <a:off x="1824" y="2208"/>
                <a:ext cx="0" cy="27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1" name="Line 58"/>
              <p:cNvSpPr>
                <a:spLocks noChangeShapeType="1"/>
              </p:cNvSpPr>
              <p:nvPr/>
            </p:nvSpPr>
            <p:spPr bwMode="auto">
              <a:xfrm>
                <a:off x="2223" y="2342"/>
                <a:ext cx="0" cy="2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2" name="Rectangle 59"/>
              <p:cNvSpPr>
                <a:spLocks noChangeArrowheads="1"/>
              </p:cNvSpPr>
              <p:nvPr/>
            </p:nvSpPr>
            <p:spPr bwMode="auto">
              <a:xfrm>
                <a:off x="2178" y="2544"/>
                <a:ext cx="90" cy="282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hlink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3" name="Line 60"/>
              <p:cNvSpPr>
                <a:spLocks noChangeShapeType="1"/>
              </p:cNvSpPr>
              <p:nvPr/>
            </p:nvSpPr>
            <p:spPr bwMode="auto">
              <a:xfrm>
                <a:off x="2223" y="2826"/>
                <a:ext cx="0" cy="2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4" name="AutoShape 61"/>
              <p:cNvSpPr>
                <a:spLocks noChangeArrowheads="1"/>
              </p:cNvSpPr>
              <p:nvPr/>
            </p:nvSpPr>
            <p:spPr bwMode="auto">
              <a:xfrm rot="5382002">
                <a:off x="1632" y="2256"/>
                <a:ext cx="192" cy="192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65" name="Rectangle 62"/>
          <p:cNvSpPr>
            <a:spLocks noChangeArrowheads="1"/>
          </p:cNvSpPr>
          <p:nvPr/>
        </p:nvSpPr>
        <p:spPr bwMode="auto">
          <a:xfrm>
            <a:off x="6521174" y="2207402"/>
            <a:ext cx="619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" pitchFamily="18" charset="0"/>
                <a:ea typeface="宋体" panose="02010600030101010101" pitchFamily="2" charset="-122"/>
                <a:cs typeface="+mn-cs"/>
              </a:rPr>
              <a:t>3V</a:t>
            </a:r>
          </a:p>
        </p:txBody>
      </p:sp>
      <p:sp>
        <p:nvSpPr>
          <p:cNvPr id="166" name="Text Box 63"/>
          <p:cNvSpPr txBox="1">
            <a:spLocks noChangeArrowheads="1"/>
          </p:cNvSpPr>
          <p:nvPr/>
        </p:nvSpPr>
        <p:spPr bwMode="auto">
          <a:xfrm>
            <a:off x="6521174" y="4485018"/>
            <a:ext cx="619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" pitchFamily="18" charset="0"/>
                <a:ea typeface="宋体" panose="02010600030101010101" pitchFamily="2" charset="-122"/>
                <a:cs typeface="+mn-cs"/>
              </a:rPr>
              <a:t>0V</a:t>
            </a:r>
          </a:p>
        </p:txBody>
      </p:sp>
      <p:sp>
        <p:nvSpPr>
          <p:cNvPr id="167" name="Rectangle 10"/>
          <p:cNvSpPr>
            <a:spLocks noChangeArrowheads="1"/>
          </p:cNvSpPr>
          <p:nvPr/>
        </p:nvSpPr>
        <p:spPr bwMode="auto">
          <a:xfrm>
            <a:off x="1919536" y="5686914"/>
            <a:ext cx="9433048" cy="1076961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1790700" marR="0" lvl="0" indent="-179070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分析方法：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将二极管断开，分析二极管两端电位的高低或所加电压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U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的正负</a:t>
            </a:r>
          </a:p>
        </p:txBody>
      </p:sp>
      <p:grpSp>
        <p:nvGrpSpPr>
          <p:cNvPr id="168" name="Group 27"/>
          <p:cNvGrpSpPr>
            <a:grpSpLocks/>
          </p:cNvGrpSpPr>
          <p:nvPr/>
        </p:nvGrpSpPr>
        <p:grpSpPr bwMode="auto">
          <a:xfrm>
            <a:off x="2542403" y="2811190"/>
            <a:ext cx="1371600" cy="523875"/>
            <a:chOff x="-192" y="3504"/>
            <a:chExt cx="864" cy="330"/>
          </a:xfrm>
        </p:grpSpPr>
        <p:sp>
          <p:nvSpPr>
            <p:cNvPr id="169" name="AutoShape 28" descr="75%"/>
            <p:cNvSpPr>
              <a:spLocks noChangeArrowheads="1"/>
            </p:cNvSpPr>
            <p:nvPr/>
          </p:nvSpPr>
          <p:spPr bwMode="auto">
            <a:xfrm>
              <a:off x="-192" y="3552"/>
              <a:ext cx="864" cy="282"/>
            </a:xfrm>
            <a:prstGeom prst="wedgeEllipseCallout">
              <a:avLst>
                <a:gd name="adj1" fmla="val 78356"/>
                <a:gd name="adj2" fmla="val 100708"/>
              </a:avLst>
            </a:prstGeom>
            <a:pattFill prst="pct50">
              <a:fgClr>
                <a:srgbClr val="66FF66"/>
              </a:fgClr>
              <a:bgClr>
                <a:schemeClr val="bg1"/>
              </a:bgClr>
            </a:pattFill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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0" name="Rectangle 29" descr="75%"/>
            <p:cNvSpPr>
              <a:spLocks noChangeArrowheads="1"/>
            </p:cNvSpPr>
            <p:nvPr/>
          </p:nvSpPr>
          <p:spPr bwMode="auto">
            <a:xfrm>
              <a:off x="-46" y="3504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5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" pitchFamily="18" charset="0"/>
                  <a:ea typeface="宋体" panose="02010600030101010101" pitchFamily="2" charset="-122"/>
                  <a:cs typeface="+mn-cs"/>
                </a:rPr>
                <a:t>截止</a:t>
              </a: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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71" name="AutoShape 8" descr="40%"/>
          <p:cNvSpPr>
            <a:spLocks noChangeArrowheads="1"/>
          </p:cNvSpPr>
          <p:nvPr/>
        </p:nvSpPr>
        <p:spPr bwMode="auto">
          <a:xfrm>
            <a:off x="24958" y="5517232"/>
            <a:ext cx="1417612" cy="770682"/>
          </a:xfrm>
          <a:prstGeom prst="cloudCallout">
            <a:avLst>
              <a:gd name="adj1" fmla="val 76513"/>
              <a:gd name="adj2" fmla="val 41576"/>
            </a:avLst>
          </a:prstGeom>
          <a:blipFill dpi="0" rotWithShape="0">
            <a:blip r:embed="rId6"/>
            <a:srcRect/>
            <a:tile tx="0" ty="0" sx="100000" sy="100000" flip="none" algn="tl"/>
          </a:blipFill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dirty="0">
                <a:solidFill>
                  <a:schemeClr val="bg2"/>
                </a:solidFill>
              </a:rPr>
              <a:t>    </a:t>
            </a:r>
            <a:r>
              <a:rPr lang="zh-CN" altLang="en-US" sz="2800" b="1" dirty="0">
                <a:solidFill>
                  <a:srgbClr val="FF3300"/>
                </a:solidFill>
                <a:ea typeface="楷体_GB2312"/>
              </a:rPr>
              <a:t>注意：</a:t>
            </a:r>
            <a:endParaRPr lang="zh-CN" altLang="en-US" sz="2800" b="1" dirty="0">
              <a:solidFill>
                <a:schemeClr val="bg2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240504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15" grpId="0" animBg="1"/>
      <p:bldP spid="116" grpId="0" animBg="1"/>
      <p:bldP spid="117" grpId="0" animBg="1" autoUpdateAnimBg="0"/>
      <p:bldP spid="118" grpId="0" animBg="1" autoUpdateAnimBg="0"/>
      <p:bldP spid="122" grpId="0" autoUpdateAnimBg="0"/>
      <p:bldP spid="136" grpId="0" autoUpdateAnimBg="0"/>
      <p:bldP spid="165" grpId="0" autoUpdateAnimBg="0"/>
      <p:bldP spid="166" grpId="0" autoUpdateAnimBg="0"/>
      <p:bldP spid="167" grpId="0" animBg="1" autoUpdateAnimBg="0"/>
      <p:bldP spid="171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1275896" y="2673444"/>
            <a:ext cx="4218285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zh-CN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阳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－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 V    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zh-CN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阴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－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12 V</a:t>
            </a: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1260916" y="1507657"/>
            <a:ext cx="5383181" cy="1076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取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 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点作参考点，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断开二极管，分析二极管阳极和阴极的电位</a:t>
            </a:r>
            <a:r>
              <a: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774" name="Group 10"/>
          <p:cNvGrpSpPr>
            <a:grpSpLocks/>
          </p:cNvGrpSpPr>
          <p:nvPr/>
        </p:nvGrpSpPr>
        <p:grpSpPr bwMode="auto">
          <a:xfrm>
            <a:off x="8256240" y="984252"/>
            <a:ext cx="3333750" cy="2533649"/>
            <a:chOff x="387" y="297"/>
            <a:chExt cx="2100" cy="1596"/>
          </a:xfrm>
        </p:grpSpPr>
        <p:grpSp>
          <p:nvGrpSpPr>
            <p:cNvPr id="32778" name="Group 11"/>
            <p:cNvGrpSpPr>
              <a:grpSpLocks/>
            </p:cNvGrpSpPr>
            <p:nvPr/>
          </p:nvGrpSpPr>
          <p:grpSpPr bwMode="auto">
            <a:xfrm>
              <a:off x="387" y="297"/>
              <a:ext cx="2100" cy="1596"/>
              <a:chOff x="48" y="163"/>
              <a:chExt cx="2625" cy="1997"/>
            </a:xfrm>
          </p:grpSpPr>
          <p:sp>
            <p:nvSpPr>
              <p:cNvPr id="32781" name="Line 12"/>
              <p:cNvSpPr>
                <a:spLocks noChangeShapeType="1"/>
              </p:cNvSpPr>
              <p:nvPr/>
            </p:nvSpPr>
            <p:spPr bwMode="auto">
              <a:xfrm rot="5400000" flipH="1">
                <a:off x="1230" y="624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782" name="Line 13"/>
              <p:cNvSpPr>
                <a:spLocks noChangeShapeType="1"/>
              </p:cNvSpPr>
              <p:nvPr/>
            </p:nvSpPr>
            <p:spPr bwMode="auto">
              <a:xfrm rot="5400000" flipV="1">
                <a:off x="1488" y="-240"/>
                <a:ext cx="0" cy="17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783" name="AutoShape 14"/>
              <p:cNvSpPr>
                <a:spLocks noChangeArrowheads="1"/>
              </p:cNvSpPr>
              <p:nvPr/>
            </p:nvSpPr>
            <p:spPr bwMode="auto">
              <a:xfrm rot="5400000">
                <a:off x="1086" y="498"/>
                <a:ext cx="288" cy="251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rgbClr val="FF33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784" name="Text Box 15"/>
              <p:cNvSpPr txBox="1">
                <a:spLocks noChangeArrowheads="1"/>
              </p:cNvSpPr>
              <p:nvPr/>
            </p:nvSpPr>
            <p:spPr bwMode="auto">
              <a:xfrm>
                <a:off x="1139" y="163"/>
                <a:ext cx="321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D</a:t>
                </a:r>
              </a:p>
            </p:txBody>
          </p:sp>
          <p:sp>
            <p:nvSpPr>
              <p:cNvPr id="32785" name="Line 16"/>
              <p:cNvSpPr>
                <a:spLocks noChangeShapeType="1"/>
              </p:cNvSpPr>
              <p:nvPr/>
            </p:nvSpPr>
            <p:spPr bwMode="auto">
              <a:xfrm>
                <a:off x="624" y="624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786" name="Line 17"/>
              <p:cNvSpPr>
                <a:spLocks noChangeShapeType="1"/>
              </p:cNvSpPr>
              <p:nvPr/>
            </p:nvSpPr>
            <p:spPr bwMode="auto">
              <a:xfrm>
                <a:off x="528" y="1104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787" name="Line 18"/>
              <p:cNvSpPr>
                <a:spLocks noChangeShapeType="1"/>
              </p:cNvSpPr>
              <p:nvPr/>
            </p:nvSpPr>
            <p:spPr bwMode="auto">
              <a:xfrm>
                <a:off x="480" y="1200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788" name="Line 19"/>
              <p:cNvSpPr>
                <a:spLocks noChangeShapeType="1"/>
              </p:cNvSpPr>
              <p:nvPr/>
            </p:nvSpPr>
            <p:spPr bwMode="auto">
              <a:xfrm>
                <a:off x="528" y="1296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789" name="Line 20"/>
              <p:cNvSpPr>
                <a:spLocks noChangeShapeType="1"/>
              </p:cNvSpPr>
              <p:nvPr/>
            </p:nvSpPr>
            <p:spPr bwMode="auto">
              <a:xfrm>
                <a:off x="480" y="1392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790" name="Line 21"/>
              <p:cNvSpPr>
                <a:spLocks noChangeShapeType="1"/>
              </p:cNvSpPr>
              <p:nvPr/>
            </p:nvSpPr>
            <p:spPr bwMode="auto">
              <a:xfrm>
                <a:off x="624" y="1392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791" name="Line 22"/>
              <p:cNvSpPr>
                <a:spLocks noChangeShapeType="1"/>
              </p:cNvSpPr>
              <p:nvPr/>
            </p:nvSpPr>
            <p:spPr bwMode="auto">
              <a:xfrm>
                <a:off x="1776" y="624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792" name="Rectangle 23"/>
              <p:cNvSpPr>
                <a:spLocks noChangeArrowheads="1"/>
              </p:cNvSpPr>
              <p:nvPr/>
            </p:nvSpPr>
            <p:spPr bwMode="auto">
              <a:xfrm>
                <a:off x="1680" y="864"/>
                <a:ext cx="192" cy="33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793" name="Line 24"/>
              <p:cNvSpPr>
                <a:spLocks noChangeShapeType="1"/>
              </p:cNvSpPr>
              <p:nvPr/>
            </p:nvSpPr>
            <p:spPr bwMode="auto">
              <a:xfrm>
                <a:off x="1776" y="1200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794" name="Line 25"/>
              <p:cNvSpPr>
                <a:spLocks noChangeShapeType="1"/>
              </p:cNvSpPr>
              <p:nvPr/>
            </p:nvSpPr>
            <p:spPr bwMode="auto">
              <a:xfrm>
                <a:off x="1680" y="1392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795" name="Line 26"/>
              <p:cNvSpPr>
                <a:spLocks noChangeShapeType="1"/>
              </p:cNvSpPr>
              <p:nvPr/>
            </p:nvSpPr>
            <p:spPr bwMode="auto">
              <a:xfrm>
                <a:off x="1632" y="1488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796" name="Line 27"/>
              <p:cNvSpPr>
                <a:spLocks noChangeShapeType="1"/>
              </p:cNvSpPr>
              <p:nvPr/>
            </p:nvSpPr>
            <p:spPr bwMode="auto">
              <a:xfrm>
                <a:off x="1680" y="1584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797" name="Line 28"/>
              <p:cNvSpPr>
                <a:spLocks noChangeShapeType="1"/>
              </p:cNvSpPr>
              <p:nvPr/>
            </p:nvSpPr>
            <p:spPr bwMode="auto">
              <a:xfrm>
                <a:off x="1632" y="1680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798" name="Line 29"/>
              <p:cNvSpPr>
                <a:spLocks noChangeShapeType="1"/>
              </p:cNvSpPr>
              <p:nvPr/>
            </p:nvSpPr>
            <p:spPr bwMode="auto">
              <a:xfrm>
                <a:off x="1776" y="168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799" name="Line 30"/>
              <p:cNvSpPr>
                <a:spLocks noChangeShapeType="1"/>
              </p:cNvSpPr>
              <p:nvPr/>
            </p:nvSpPr>
            <p:spPr bwMode="auto">
              <a:xfrm>
                <a:off x="624" y="1968"/>
                <a:ext cx="172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800" name="Text Box 31"/>
              <p:cNvSpPr txBox="1">
                <a:spLocks noChangeArrowheads="1"/>
              </p:cNvSpPr>
              <p:nvPr/>
            </p:nvSpPr>
            <p:spPr bwMode="auto">
              <a:xfrm>
                <a:off x="48" y="1104"/>
                <a:ext cx="442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6V</a:t>
                </a:r>
              </a:p>
            </p:txBody>
          </p:sp>
          <p:sp>
            <p:nvSpPr>
              <p:cNvPr id="32801" name="Text Box 32"/>
              <p:cNvSpPr txBox="1">
                <a:spLocks noChangeArrowheads="1"/>
              </p:cNvSpPr>
              <p:nvPr/>
            </p:nvSpPr>
            <p:spPr bwMode="auto">
              <a:xfrm>
                <a:off x="1104" y="1344"/>
                <a:ext cx="559" cy="3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12V</a:t>
                </a:r>
              </a:p>
            </p:txBody>
          </p:sp>
          <p:sp>
            <p:nvSpPr>
              <p:cNvPr id="32802" name="Text Box 33"/>
              <p:cNvSpPr txBox="1">
                <a:spLocks noChangeArrowheads="1"/>
              </p:cNvSpPr>
              <p:nvPr/>
            </p:nvSpPr>
            <p:spPr bwMode="auto">
              <a:xfrm>
                <a:off x="1104" y="864"/>
                <a:ext cx="589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3k</a:t>
                </a: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</a:t>
                </a:r>
                <a:endPara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803" name="Text Box 34"/>
              <p:cNvSpPr txBox="1">
                <a:spLocks noChangeArrowheads="1"/>
              </p:cNvSpPr>
              <p:nvPr/>
            </p:nvSpPr>
            <p:spPr bwMode="auto">
              <a:xfrm>
                <a:off x="2353" y="1796"/>
                <a:ext cx="307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</a:p>
            </p:txBody>
          </p:sp>
          <p:sp>
            <p:nvSpPr>
              <p:cNvPr id="32804" name="Text Box 35"/>
              <p:cNvSpPr txBox="1">
                <a:spLocks noChangeArrowheads="1"/>
              </p:cNvSpPr>
              <p:nvPr/>
            </p:nvSpPr>
            <p:spPr bwMode="auto">
              <a:xfrm>
                <a:off x="2352" y="432"/>
                <a:ext cx="321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32805" name="Rectangle 36"/>
              <p:cNvSpPr>
                <a:spLocks noChangeArrowheads="1"/>
              </p:cNvSpPr>
              <p:nvPr/>
            </p:nvSpPr>
            <p:spPr bwMode="auto">
              <a:xfrm>
                <a:off x="2102" y="1056"/>
                <a:ext cx="544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U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AB</a:t>
                </a:r>
                <a:endParaRPr kumimoji="1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806" name="Text Box 37"/>
              <p:cNvSpPr txBox="1">
                <a:spLocks noChangeArrowheads="1"/>
              </p:cNvSpPr>
              <p:nvPr/>
            </p:nvSpPr>
            <p:spPr bwMode="auto">
              <a:xfrm>
                <a:off x="2112" y="625"/>
                <a:ext cx="432" cy="3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+</a:t>
                </a:r>
              </a:p>
            </p:txBody>
          </p:sp>
          <p:sp>
            <p:nvSpPr>
              <p:cNvPr id="32807" name="Text Box 38"/>
              <p:cNvSpPr txBox="1">
                <a:spLocks noChangeArrowheads="1"/>
              </p:cNvSpPr>
              <p:nvPr/>
            </p:nvSpPr>
            <p:spPr bwMode="auto">
              <a:xfrm>
                <a:off x="2112" y="1584"/>
                <a:ext cx="432" cy="3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–</a:t>
                </a:r>
              </a:p>
            </p:txBody>
          </p:sp>
        </p:grpSp>
        <p:sp>
          <p:nvSpPr>
            <p:cNvPr id="32779" name="Oval 39"/>
            <p:cNvSpPr>
              <a:spLocks noChangeArrowheads="1"/>
            </p:cNvSpPr>
            <p:nvPr/>
          </p:nvSpPr>
          <p:spPr bwMode="auto">
            <a:xfrm>
              <a:off x="2208" y="646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80" name="Oval 40"/>
            <p:cNvSpPr>
              <a:spLocks noChangeArrowheads="1"/>
            </p:cNvSpPr>
            <p:nvPr/>
          </p:nvSpPr>
          <p:spPr bwMode="auto">
            <a:xfrm>
              <a:off x="2208" y="1704"/>
              <a:ext cx="48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4617" name="Group 41"/>
          <p:cNvGrpSpPr>
            <a:grpSpLocks/>
          </p:cNvGrpSpPr>
          <p:nvPr/>
        </p:nvGrpSpPr>
        <p:grpSpPr bwMode="auto">
          <a:xfrm>
            <a:off x="10328880" y="3269897"/>
            <a:ext cx="252413" cy="252412"/>
            <a:chOff x="1680" y="1584"/>
            <a:chExt cx="159" cy="159"/>
          </a:xfrm>
        </p:grpSpPr>
        <p:sp>
          <p:nvSpPr>
            <p:cNvPr id="32776" name="Line 42"/>
            <p:cNvSpPr>
              <a:spLocks noChangeShapeType="1"/>
            </p:cNvSpPr>
            <p:nvPr/>
          </p:nvSpPr>
          <p:spPr bwMode="auto">
            <a:xfrm>
              <a:off x="1762" y="1584"/>
              <a:ext cx="0" cy="15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77" name="Line 43"/>
            <p:cNvSpPr>
              <a:spLocks noChangeShapeType="1"/>
            </p:cNvSpPr>
            <p:nvPr/>
          </p:nvSpPr>
          <p:spPr bwMode="auto">
            <a:xfrm>
              <a:off x="1680" y="1743"/>
              <a:ext cx="159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557979" y="1508814"/>
            <a:ext cx="854038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33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9874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defTabSz="9874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defTabSz="9874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defTabSz="9874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defTabSz="9874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defTabSz="9874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defTabSz="9874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defTabSz="9874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defTabSz="9874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87425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</a:p>
        </p:txBody>
      </p:sp>
      <p:sp>
        <p:nvSpPr>
          <p:cNvPr id="44" name="Text Box 3"/>
          <p:cNvSpPr txBox="1">
            <a:spLocks noChangeArrowheads="1"/>
          </p:cNvSpPr>
          <p:nvPr/>
        </p:nvSpPr>
        <p:spPr bwMode="auto">
          <a:xfrm>
            <a:off x="1269372" y="3385154"/>
            <a:ext cx="3743044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zh-CN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阳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&gt;V</a:t>
            </a:r>
            <a:r>
              <a:rPr kumimoji="1" lang="zh-CN" altLang="en-US" sz="2800" b="1" i="0" u="none" strike="noStrike" kern="1200" cap="none" spc="0" normalizeH="0" baseline="-2500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阴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，二极管导通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9288660" y="1058547"/>
            <a:ext cx="839788" cy="752914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黑体" pitchFamily="49" charset="-122"/>
              <a:cs typeface="+mn-cs"/>
            </a:endParaRPr>
          </a:p>
        </p:txBody>
      </p:sp>
      <p:sp>
        <p:nvSpPr>
          <p:cNvPr id="47" name="Rectangle 4">
            <a:extLst>
              <a:ext uri="{FF2B5EF4-FFF2-40B4-BE49-F238E27FC236}">
                <a16:creationId xmlns:a16="http://schemas.microsoft.com/office/drawing/2014/main" id="{C064CADE-26DD-43E4-A1DB-F44C1DF3C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Arial"/>
              </a:rPr>
              <a:t>4.0  </a:t>
            </a:r>
            <a:r>
              <a:rPr lang="zh-CN" altLang="en-US" sz="3200" b="1" dirty="0">
                <a:solidFill>
                  <a:srgbClr val="0000FF"/>
                </a:solidFill>
                <a:latin typeface="Arial"/>
              </a:rPr>
              <a:t>二极管电路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48" name="Text Box 3">
            <a:extLst>
              <a:ext uri="{FF2B5EF4-FFF2-40B4-BE49-F238E27FC236}">
                <a16:creationId xmlns:a16="http://schemas.microsoft.com/office/drawing/2014/main" id="{0BAE9049-F22E-450A-8201-0581D4A3F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5896" y="4115746"/>
            <a:ext cx="6692312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kumimoji="1"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二极管可看作开关闭合，</a:t>
            </a:r>
            <a:r>
              <a:rPr kumimoji="1" lang="en-US" altLang="zh-CN" sz="2800" b="1" i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800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  <a:r>
              <a:rPr kumimoji="1"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 V</a:t>
            </a:r>
          </a:p>
        </p:txBody>
      </p:sp>
      <p:sp>
        <p:nvSpPr>
          <p:cNvPr id="64" name="Text Box 5">
            <a:extLst>
              <a:ext uri="{FF2B5EF4-FFF2-40B4-BE49-F238E27FC236}">
                <a16:creationId xmlns:a16="http://schemas.microsoft.com/office/drawing/2014/main" id="{1493435C-F276-405F-BBCB-CE244AA96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892284"/>
            <a:ext cx="28098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800" b="1" kern="0" dirty="0">
                <a:solidFill>
                  <a:srgbClr val="0000FF"/>
                </a:solidFill>
              </a:rPr>
              <a:t>例</a:t>
            </a:r>
            <a:r>
              <a:rPr lang="en-US" altLang="zh-CN" sz="2800" b="1" kern="0" dirty="0">
                <a:solidFill>
                  <a:srgbClr val="0000FF"/>
                </a:solidFill>
              </a:rPr>
              <a:t>1</a:t>
            </a:r>
            <a:r>
              <a:rPr lang="zh-CN" altLang="en-US" sz="2800" b="1" kern="0" dirty="0">
                <a:solidFill>
                  <a:srgbClr val="0000FF"/>
                </a:solidFill>
              </a:rPr>
              <a:t>：</a:t>
            </a:r>
            <a:r>
              <a:rPr lang="zh-CN" altLang="zh-CN" sz="2800" b="1" dirty="0">
                <a:solidFill>
                  <a:srgbClr val="000000"/>
                </a:solidFill>
              </a:rPr>
              <a:t>求</a:t>
            </a:r>
            <a:r>
              <a:rPr lang="en-US" altLang="zh-CN" sz="2800" b="1" i="1" dirty="0">
                <a:solidFill>
                  <a:srgbClr val="000000"/>
                </a:solidFill>
              </a:rPr>
              <a:t>U</a:t>
            </a:r>
            <a:r>
              <a:rPr lang="en-US" altLang="zh-CN" sz="2800" b="1" baseline="-25000" dirty="0">
                <a:solidFill>
                  <a:srgbClr val="000000"/>
                </a:solidFill>
              </a:rPr>
              <a:t>AB</a:t>
            </a:r>
            <a:endParaRPr lang="en-US" altLang="zh-CN" sz="2800" b="1" kern="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5746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utoUpdateAnimBg="0"/>
      <p:bldP spid="24581" grpId="0" autoUpdateAnimBg="0"/>
      <p:bldP spid="42" grpId="0"/>
      <p:bldP spid="44" grpId="0" autoUpdateAnimBg="0"/>
      <p:bldP spid="2" grpId="0" animBg="1"/>
      <p:bldP spid="2" grpId="1" animBg="1"/>
      <p:bldP spid="4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02" name="Group 14"/>
          <p:cNvGrpSpPr>
            <a:grpSpLocks/>
          </p:cNvGrpSpPr>
          <p:nvPr/>
        </p:nvGrpSpPr>
        <p:grpSpPr bwMode="auto">
          <a:xfrm>
            <a:off x="8638902" y="935135"/>
            <a:ext cx="3100387" cy="2757488"/>
            <a:chOff x="639" y="96"/>
            <a:chExt cx="1953" cy="1737"/>
          </a:xfrm>
        </p:grpSpPr>
        <p:sp>
          <p:nvSpPr>
            <p:cNvPr id="33806" name="Text Box 15"/>
            <p:cNvSpPr txBox="1">
              <a:spLocks noChangeArrowheads="1"/>
            </p:cNvSpPr>
            <p:nvPr/>
          </p:nvSpPr>
          <p:spPr bwMode="auto">
            <a:xfrm>
              <a:off x="2348" y="1545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07" name="Line 16"/>
            <p:cNvSpPr>
              <a:spLocks noChangeShapeType="1"/>
            </p:cNvSpPr>
            <p:nvPr/>
          </p:nvSpPr>
          <p:spPr bwMode="auto">
            <a:xfrm rot="5400000" flipH="1">
              <a:off x="1480" y="924"/>
              <a:ext cx="21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08" name="Line 17"/>
            <p:cNvSpPr>
              <a:spLocks noChangeShapeType="1"/>
            </p:cNvSpPr>
            <p:nvPr/>
          </p:nvSpPr>
          <p:spPr bwMode="auto">
            <a:xfrm rot="5400000" flipV="1">
              <a:off x="1691" y="308"/>
              <a:ext cx="0" cy="12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09" name="AutoShape 18"/>
            <p:cNvSpPr>
              <a:spLocks noChangeArrowheads="1"/>
            </p:cNvSpPr>
            <p:nvPr/>
          </p:nvSpPr>
          <p:spPr bwMode="auto">
            <a:xfrm rot="5400000">
              <a:off x="1393" y="816"/>
              <a:ext cx="199" cy="199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10" name="Text Box 19"/>
            <p:cNvSpPr txBox="1">
              <a:spLocks noChangeArrowheads="1"/>
            </p:cNvSpPr>
            <p:nvPr/>
          </p:nvSpPr>
          <p:spPr bwMode="auto">
            <a:xfrm>
              <a:off x="1368" y="557"/>
              <a:ext cx="5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11" name="Line 20"/>
            <p:cNvSpPr>
              <a:spLocks noChangeShapeType="1"/>
            </p:cNvSpPr>
            <p:nvPr/>
          </p:nvSpPr>
          <p:spPr bwMode="auto">
            <a:xfrm>
              <a:off x="1082" y="917"/>
              <a:ext cx="0" cy="2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3812" name="Group 21"/>
            <p:cNvGrpSpPr>
              <a:grpSpLocks/>
            </p:cNvGrpSpPr>
            <p:nvPr/>
          </p:nvGrpSpPr>
          <p:grpSpPr bwMode="auto">
            <a:xfrm>
              <a:off x="980" y="1200"/>
              <a:ext cx="203" cy="170"/>
              <a:chOff x="432" y="1296"/>
              <a:chExt cx="288" cy="288"/>
            </a:xfrm>
          </p:grpSpPr>
          <p:sp>
            <p:nvSpPr>
              <p:cNvPr id="33839" name="Line 22"/>
              <p:cNvSpPr>
                <a:spLocks noChangeShapeType="1"/>
              </p:cNvSpPr>
              <p:nvPr/>
            </p:nvSpPr>
            <p:spPr bwMode="auto">
              <a:xfrm>
                <a:off x="480" y="1296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40" name="Line 23"/>
              <p:cNvSpPr>
                <a:spLocks noChangeShapeType="1"/>
              </p:cNvSpPr>
              <p:nvPr/>
            </p:nvSpPr>
            <p:spPr bwMode="auto">
              <a:xfrm>
                <a:off x="432" y="1392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41" name="Line 24"/>
              <p:cNvSpPr>
                <a:spLocks noChangeShapeType="1"/>
              </p:cNvSpPr>
              <p:nvPr/>
            </p:nvSpPr>
            <p:spPr bwMode="auto">
              <a:xfrm>
                <a:off x="480" y="1488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42" name="Line 25"/>
              <p:cNvSpPr>
                <a:spLocks noChangeShapeType="1"/>
              </p:cNvSpPr>
              <p:nvPr/>
            </p:nvSpPr>
            <p:spPr bwMode="auto">
              <a:xfrm>
                <a:off x="432" y="1584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3813" name="Line 26"/>
            <p:cNvSpPr>
              <a:spLocks noChangeShapeType="1"/>
            </p:cNvSpPr>
            <p:nvPr/>
          </p:nvSpPr>
          <p:spPr bwMode="auto">
            <a:xfrm>
              <a:off x="1082" y="1370"/>
              <a:ext cx="0" cy="3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14" name="Line 27"/>
            <p:cNvSpPr>
              <a:spLocks noChangeShapeType="1"/>
            </p:cNvSpPr>
            <p:nvPr/>
          </p:nvSpPr>
          <p:spPr bwMode="auto">
            <a:xfrm>
              <a:off x="1894" y="917"/>
              <a:ext cx="0" cy="1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15" name="Rectangle 28"/>
            <p:cNvSpPr>
              <a:spLocks noChangeArrowheads="1"/>
            </p:cNvSpPr>
            <p:nvPr/>
          </p:nvSpPr>
          <p:spPr bwMode="auto">
            <a:xfrm>
              <a:off x="1826" y="1058"/>
              <a:ext cx="127" cy="179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16" name="Line 29"/>
            <p:cNvSpPr>
              <a:spLocks noChangeShapeType="1"/>
            </p:cNvSpPr>
            <p:nvPr/>
          </p:nvSpPr>
          <p:spPr bwMode="auto">
            <a:xfrm>
              <a:off x="1894" y="1257"/>
              <a:ext cx="0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17" name="Line 30"/>
            <p:cNvSpPr>
              <a:spLocks noChangeShapeType="1"/>
            </p:cNvSpPr>
            <p:nvPr/>
          </p:nvSpPr>
          <p:spPr bwMode="auto">
            <a:xfrm>
              <a:off x="1826" y="1370"/>
              <a:ext cx="1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18" name="Line 31"/>
            <p:cNvSpPr>
              <a:spLocks noChangeShapeType="1"/>
            </p:cNvSpPr>
            <p:nvPr/>
          </p:nvSpPr>
          <p:spPr bwMode="auto">
            <a:xfrm>
              <a:off x="1793" y="1427"/>
              <a:ext cx="20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19" name="Line 32"/>
            <p:cNvSpPr>
              <a:spLocks noChangeShapeType="1"/>
            </p:cNvSpPr>
            <p:nvPr/>
          </p:nvSpPr>
          <p:spPr bwMode="auto">
            <a:xfrm>
              <a:off x="1826" y="1484"/>
              <a:ext cx="1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20" name="Line 33"/>
            <p:cNvSpPr>
              <a:spLocks noChangeShapeType="1"/>
            </p:cNvSpPr>
            <p:nvPr/>
          </p:nvSpPr>
          <p:spPr bwMode="auto">
            <a:xfrm>
              <a:off x="1793" y="1541"/>
              <a:ext cx="20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21" name="Line 34"/>
            <p:cNvSpPr>
              <a:spLocks noChangeShapeType="1"/>
            </p:cNvSpPr>
            <p:nvPr/>
          </p:nvSpPr>
          <p:spPr bwMode="auto">
            <a:xfrm>
              <a:off x="1894" y="1541"/>
              <a:ext cx="0" cy="1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22" name="Line 35"/>
            <p:cNvSpPr>
              <a:spLocks noChangeShapeType="1"/>
            </p:cNvSpPr>
            <p:nvPr/>
          </p:nvSpPr>
          <p:spPr bwMode="auto">
            <a:xfrm>
              <a:off x="639" y="1709"/>
              <a:ext cx="1650" cy="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23" name="Text Box 36"/>
            <p:cNvSpPr txBox="1">
              <a:spLocks noChangeArrowheads="1"/>
            </p:cNvSpPr>
            <p:nvPr/>
          </p:nvSpPr>
          <p:spPr bwMode="auto">
            <a:xfrm>
              <a:off x="676" y="1200"/>
              <a:ext cx="3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6V</a:t>
              </a:r>
            </a:p>
          </p:txBody>
        </p:sp>
        <p:sp>
          <p:nvSpPr>
            <p:cNvPr id="33824" name="Text Box 37"/>
            <p:cNvSpPr txBox="1">
              <a:spLocks noChangeArrowheads="1"/>
            </p:cNvSpPr>
            <p:nvPr/>
          </p:nvSpPr>
          <p:spPr bwMode="auto">
            <a:xfrm>
              <a:off x="1384" y="1378"/>
              <a:ext cx="4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12V</a:t>
              </a:r>
            </a:p>
          </p:txBody>
        </p:sp>
        <p:sp>
          <p:nvSpPr>
            <p:cNvPr id="33825" name="Text Box 38"/>
            <p:cNvSpPr txBox="1">
              <a:spLocks noChangeArrowheads="1"/>
            </p:cNvSpPr>
            <p:nvPr/>
          </p:nvSpPr>
          <p:spPr bwMode="auto">
            <a:xfrm>
              <a:off x="1368" y="1032"/>
              <a:ext cx="4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3k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26" name="Text Box 39"/>
            <p:cNvSpPr txBox="1">
              <a:spLocks noChangeArrowheads="1"/>
            </p:cNvSpPr>
            <p:nvPr/>
          </p:nvSpPr>
          <p:spPr bwMode="auto">
            <a:xfrm>
              <a:off x="2348" y="768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33827" name="Line 40"/>
            <p:cNvSpPr>
              <a:spLocks noChangeShapeType="1"/>
            </p:cNvSpPr>
            <p:nvPr/>
          </p:nvSpPr>
          <p:spPr bwMode="auto">
            <a:xfrm>
              <a:off x="639" y="450"/>
              <a:ext cx="0" cy="12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28" name="Line 41"/>
            <p:cNvSpPr>
              <a:spLocks noChangeShapeType="1"/>
            </p:cNvSpPr>
            <p:nvPr/>
          </p:nvSpPr>
          <p:spPr bwMode="auto">
            <a:xfrm>
              <a:off x="639" y="450"/>
              <a:ext cx="12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29" name="Line 42"/>
            <p:cNvSpPr>
              <a:spLocks noChangeShapeType="1"/>
            </p:cNvSpPr>
            <p:nvPr/>
          </p:nvSpPr>
          <p:spPr bwMode="auto">
            <a:xfrm>
              <a:off x="1889" y="450"/>
              <a:ext cx="0" cy="4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30" name="Line 43"/>
            <p:cNvSpPr>
              <a:spLocks noChangeShapeType="1"/>
            </p:cNvSpPr>
            <p:nvPr/>
          </p:nvSpPr>
          <p:spPr bwMode="auto">
            <a:xfrm rot="16200000">
              <a:off x="1238" y="456"/>
              <a:ext cx="24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31" name="AutoShape 44"/>
            <p:cNvSpPr>
              <a:spLocks noChangeArrowheads="1"/>
            </p:cNvSpPr>
            <p:nvPr/>
          </p:nvSpPr>
          <p:spPr bwMode="auto">
            <a:xfrm rot="5400000">
              <a:off x="1149" y="346"/>
              <a:ext cx="199" cy="199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32" name="Text Box 45"/>
            <p:cNvSpPr txBox="1">
              <a:spLocks noChangeArrowheads="1"/>
            </p:cNvSpPr>
            <p:nvPr/>
          </p:nvSpPr>
          <p:spPr bwMode="auto">
            <a:xfrm>
              <a:off x="1056" y="96"/>
              <a:ext cx="3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33" name="Oval 46"/>
            <p:cNvSpPr>
              <a:spLocks noChangeArrowheads="1"/>
            </p:cNvSpPr>
            <p:nvPr/>
          </p:nvSpPr>
          <p:spPr bwMode="auto">
            <a:xfrm>
              <a:off x="1858" y="890"/>
              <a:ext cx="54" cy="5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34" name="Rectangle 47"/>
            <p:cNvSpPr>
              <a:spLocks noChangeArrowheads="1"/>
            </p:cNvSpPr>
            <p:nvPr/>
          </p:nvSpPr>
          <p:spPr bwMode="auto">
            <a:xfrm>
              <a:off x="2074" y="1157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AB</a:t>
              </a:r>
              <a:endParaRPr kumimoji="1" lang="en-US" altLang="zh-CN" sz="2400" b="1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35" name="Text Box 48"/>
            <p:cNvSpPr txBox="1">
              <a:spLocks noChangeArrowheads="1"/>
            </p:cNvSpPr>
            <p:nvPr/>
          </p:nvSpPr>
          <p:spPr bwMode="auto">
            <a:xfrm>
              <a:off x="2098" y="902"/>
              <a:ext cx="3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+</a:t>
              </a:r>
            </a:p>
          </p:txBody>
        </p:sp>
        <p:sp>
          <p:nvSpPr>
            <p:cNvPr id="33836" name="Text Box 49"/>
            <p:cNvSpPr txBox="1">
              <a:spLocks noChangeArrowheads="1"/>
            </p:cNvSpPr>
            <p:nvPr/>
          </p:nvSpPr>
          <p:spPr bwMode="auto">
            <a:xfrm>
              <a:off x="2098" y="1455"/>
              <a:ext cx="3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–</a:t>
              </a:r>
            </a:p>
          </p:txBody>
        </p:sp>
        <p:sp>
          <p:nvSpPr>
            <p:cNvPr id="33837" name="Oval 50"/>
            <p:cNvSpPr>
              <a:spLocks noChangeArrowheads="1"/>
            </p:cNvSpPr>
            <p:nvPr/>
          </p:nvSpPr>
          <p:spPr bwMode="auto">
            <a:xfrm>
              <a:off x="2280" y="886"/>
              <a:ext cx="52" cy="5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38" name="Oval 51"/>
            <p:cNvSpPr>
              <a:spLocks noChangeArrowheads="1"/>
            </p:cNvSpPr>
            <p:nvPr/>
          </p:nvSpPr>
          <p:spPr bwMode="auto">
            <a:xfrm>
              <a:off x="2278" y="1676"/>
              <a:ext cx="52" cy="5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5652" name="Group 52"/>
          <p:cNvGrpSpPr>
            <a:grpSpLocks/>
          </p:cNvGrpSpPr>
          <p:nvPr/>
        </p:nvGrpSpPr>
        <p:grpSpPr bwMode="auto">
          <a:xfrm>
            <a:off x="10504214" y="3497487"/>
            <a:ext cx="252412" cy="252412"/>
            <a:chOff x="1680" y="1584"/>
            <a:chExt cx="159" cy="159"/>
          </a:xfrm>
        </p:grpSpPr>
        <p:sp>
          <p:nvSpPr>
            <p:cNvPr id="33804" name="Line 53"/>
            <p:cNvSpPr>
              <a:spLocks noChangeShapeType="1"/>
            </p:cNvSpPr>
            <p:nvPr/>
          </p:nvSpPr>
          <p:spPr bwMode="auto">
            <a:xfrm>
              <a:off x="1762" y="1584"/>
              <a:ext cx="0" cy="15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05" name="Line 54"/>
            <p:cNvSpPr>
              <a:spLocks noChangeShapeType="1"/>
            </p:cNvSpPr>
            <p:nvPr/>
          </p:nvSpPr>
          <p:spPr bwMode="auto">
            <a:xfrm>
              <a:off x="1680" y="1743"/>
              <a:ext cx="159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5" name="矩形 54"/>
          <p:cNvSpPr/>
          <p:nvPr/>
        </p:nvSpPr>
        <p:spPr bwMode="auto">
          <a:xfrm>
            <a:off x="9233949" y="1007849"/>
            <a:ext cx="839788" cy="752914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黑体" pitchFamily="49" charset="-122"/>
              <a:cs typeface="+mn-cs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D2A61DD-6A0B-4B32-BFB1-96BA77C24861}"/>
              </a:ext>
            </a:extLst>
          </p:cNvPr>
          <p:cNvSpPr/>
          <p:nvPr/>
        </p:nvSpPr>
        <p:spPr bwMode="auto">
          <a:xfrm>
            <a:off x="9525521" y="1731932"/>
            <a:ext cx="839788" cy="752914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黑体" pitchFamily="49" charset="-122"/>
              <a:cs typeface="+mn-cs"/>
            </a:endParaRPr>
          </a:p>
        </p:txBody>
      </p:sp>
      <p:sp>
        <p:nvSpPr>
          <p:cNvPr id="62" name="Rectangle 4">
            <a:extLst>
              <a:ext uri="{FF2B5EF4-FFF2-40B4-BE49-F238E27FC236}">
                <a16:creationId xmlns:a16="http://schemas.microsoft.com/office/drawing/2014/main" id="{03C83D84-5971-4CEA-B6EA-DC5BCD8CF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Arial"/>
              </a:rPr>
              <a:t>4.0  </a:t>
            </a:r>
            <a:r>
              <a:rPr lang="zh-CN" altLang="en-US" sz="3200" b="1" dirty="0">
                <a:solidFill>
                  <a:srgbClr val="0000FF"/>
                </a:solidFill>
                <a:latin typeface="Arial"/>
              </a:rPr>
              <a:t>二极管电路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63" name="Text Box 2">
            <a:extLst>
              <a:ext uri="{FF2B5EF4-FFF2-40B4-BE49-F238E27FC236}">
                <a16:creationId xmlns:a16="http://schemas.microsoft.com/office/drawing/2014/main" id="{DAA90B0B-BCCB-4A89-AC3C-02E0DBBB3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784" y="1464252"/>
            <a:ext cx="6119665" cy="1594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zh-CN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两个二极管的阴极接在一起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8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共阴极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结构。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取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点作参考点，断开二极管，分析二极管阳极和阴极的电位。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" name="Text Box 3">
            <a:extLst>
              <a:ext uri="{FF2B5EF4-FFF2-40B4-BE49-F238E27FC236}">
                <a16:creationId xmlns:a16="http://schemas.microsoft.com/office/drawing/2014/main" id="{88D2D005-42D9-4C65-A72C-865755DA3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516" y="4900787"/>
            <a:ext cx="7346504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kumimoji="1"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创艺繁标宋" pitchFamily="2" charset="-122"/>
                <a:sym typeface="Symbol" panose="05050102010706020507" pitchFamily="18" charset="2"/>
              </a:rPr>
              <a:t>∵</a:t>
            </a:r>
            <a:r>
              <a:rPr kumimoji="1"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D2</a:t>
            </a:r>
            <a:r>
              <a:rPr kumimoji="1"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&gt;</a:t>
            </a:r>
            <a:r>
              <a:rPr kumimoji="1"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D1     </a:t>
            </a:r>
            <a:r>
              <a:rPr kumimoji="1"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创艺繁标宋" pitchFamily="2" charset="-122"/>
                <a:sym typeface="Symbol" panose="05050102010706020507" pitchFamily="18" charset="2"/>
              </a:rPr>
              <a:t>∴ </a:t>
            </a:r>
            <a:r>
              <a:rPr kumimoji="1"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"/>
              </a:rPr>
              <a:t>D</a:t>
            </a:r>
            <a:r>
              <a:rPr kumimoji="1"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kumimoji="1" lang="zh-CN" altLang="en-US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优先导通， </a:t>
            </a:r>
            <a:r>
              <a:rPr kumimoji="1"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"/>
              </a:rPr>
              <a:t>D</a:t>
            </a:r>
            <a:r>
              <a:rPr kumimoji="1"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截止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Text Box 5">
            <a:extLst>
              <a:ext uri="{FF2B5EF4-FFF2-40B4-BE49-F238E27FC236}">
                <a16:creationId xmlns:a16="http://schemas.microsoft.com/office/drawing/2014/main" id="{0119E909-1222-4E94-9BEF-4126BA193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892284"/>
            <a:ext cx="28098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800" b="1" kern="0" dirty="0">
                <a:solidFill>
                  <a:srgbClr val="0000FF"/>
                </a:solidFill>
              </a:rPr>
              <a:t>例</a:t>
            </a:r>
            <a:r>
              <a:rPr lang="en-US" altLang="zh-CN" sz="2800" b="1" kern="0" dirty="0">
                <a:solidFill>
                  <a:srgbClr val="0000FF"/>
                </a:solidFill>
              </a:rPr>
              <a:t>2</a:t>
            </a:r>
            <a:r>
              <a:rPr lang="zh-CN" altLang="en-US" sz="2800" b="1" kern="0" dirty="0">
                <a:solidFill>
                  <a:srgbClr val="0000FF"/>
                </a:solidFill>
              </a:rPr>
              <a:t>：</a:t>
            </a:r>
            <a:r>
              <a:rPr lang="zh-CN" altLang="zh-CN" sz="2800" b="1" dirty="0">
                <a:solidFill>
                  <a:srgbClr val="000000"/>
                </a:solidFill>
              </a:rPr>
              <a:t>求</a:t>
            </a:r>
            <a:r>
              <a:rPr lang="en-US" altLang="zh-CN" sz="2800" b="1" i="1" dirty="0">
                <a:solidFill>
                  <a:srgbClr val="000000"/>
                </a:solidFill>
              </a:rPr>
              <a:t>U</a:t>
            </a:r>
            <a:r>
              <a:rPr lang="en-US" altLang="zh-CN" sz="2800" b="1" baseline="-25000" dirty="0">
                <a:solidFill>
                  <a:srgbClr val="000000"/>
                </a:solidFill>
              </a:rPr>
              <a:t>AB</a:t>
            </a:r>
            <a:endParaRPr lang="en-US" altLang="zh-CN" sz="2800" b="1" kern="0" dirty="0">
              <a:solidFill>
                <a:srgbClr val="0000FF"/>
              </a:solidFill>
            </a:endParaRPr>
          </a:p>
        </p:txBody>
      </p:sp>
      <p:sp>
        <p:nvSpPr>
          <p:cNvPr id="66" name="Rectangle 5">
            <a:extLst>
              <a:ext uri="{FF2B5EF4-FFF2-40B4-BE49-F238E27FC236}">
                <a16:creationId xmlns:a16="http://schemas.microsoft.com/office/drawing/2014/main" id="{81A1CB0F-CA1D-41E1-83A3-F8A7F30F5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1510288"/>
            <a:ext cx="7920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</a:p>
        </p:txBody>
      </p:sp>
      <p:sp>
        <p:nvSpPr>
          <p:cNvPr id="67" name="Text Box 2">
            <a:extLst>
              <a:ext uri="{FF2B5EF4-FFF2-40B4-BE49-F238E27FC236}">
                <a16:creationId xmlns:a16="http://schemas.microsoft.com/office/drawing/2014/main" id="{30AB8DC5-3FD2-4D0D-90FF-2E191CE7F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229" y="3087049"/>
            <a:ext cx="2143029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kumimoji="1" lang="zh-CN" altLang="en-US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优先导通法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7" name="Text Box 3">
            <a:extLst>
              <a:ext uri="{FF2B5EF4-FFF2-40B4-BE49-F238E27FC236}">
                <a16:creationId xmlns:a16="http://schemas.microsoft.com/office/drawing/2014/main" id="{B4C8961D-60C5-4370-9840-A2CAE114F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6919" y="3623693"/>
            <a:ext cx="7346504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阳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 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阳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 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阴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阴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－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 V</a:t>
            </a:r>
          </a:p>
        </p:txBody>
      </p:sp>
      <p:sp>
        <p:nvSpPr>
          <p:cNvPr id="78" name="Text Box 3">
            <a:extLst>
              <a:ext uri="{FF2B5EF4-FFF2-40B4-BE49-F238E27FC236}">
                <a16:creationId xmlns:a16="http://schemas.microsoft.com/office/drawing/2014/main" id="{794192A2-5078-46FC-820E-7DBA7FD1F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229" y="4280045"/>
            <a:ext cx="7346504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D1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= 6V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D2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=12V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创艺繁标宋" pitchFamily="2" charset="-122"/>
                <a:sym typeface="Symbol" panose="05050102010706020507" pitchFamily="18" charset="2"/>
              </a:rPr>
              <a:t>     </a:t>
            </a:r>
          </a:p>
        </p:txBody>
      </p:sp>
      <p:sp>
        <p:nvSpPr>
          <p:cNvPr id="79" name="Text Box 3">
            <a:extLst>
              <a:ext uri="{FF2B5EF4-FFF2-40B4-BE49-F238E27FC236}">
                <a16:creationId xmlns:a16="http://schemas.microsoft.com/office/drawing/2014/main" id="{BFD3D023-DF08-4D32-9039-B19DF351D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229" y="5521530"/>
            <a:ext cx="7346504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kumimoji="1"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二极管可看作短路，</a:t>
            </a:r>
            <a:r>
              <a:rPr kumimoji="1" lang="en-US" altLang="zh-CN" sz="2800" b="1" i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800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  <a:r>
              <a:rPr kumimoji="1"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0 V</a:t>
            </a:r>
          </a:p>
        </p:txBody>
      </p:sp>
    </p:spTree>
    <p:extLst>
      <p:ext uri="{BB962C8B-B14F-4D97-AF65-F5344CB8AC3E}">
        <p14:creationId xmlns:p14="http://schemas.microsoft.com/office/powerpoint/2010/main" val="14299946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  <p:bldP spid="60" grpId="0" animBg="1"/>
      <p:bldP spid="63" grpId="0" autoUpdateAnimBg="0"/>
      <p:bldP spid="64" grpId="0" autoUpdateAnimBg="0"/>
      <p:bldP spid="66" grpId="0" autoUpdateAnimBg="0"/>
      <p:bldP spid="67" grpId="0" autoUpdateAnimBg="0"/>
      <p:bldP spid="77" grpId="0" autoUpdateAnimBg="0"/>
      <p:bldP spid="78" grpId="0" autoUpdateAnimBg="0"/>
      <p:bldP spid="7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Box 3"/>
          <p:cNvSpPr txBox="1">
            <a:spLocks noChangeArrowheads="1"/>
          </p:cNvSpPr>
          <p:nvPr/>
        </p:nvSpPr>
        <p:spPr bwMode="auto">
          <a:xfrm>
            <a:off x="1251344" y="3789040"/>
            <a:ext cx="7346504" cy="1747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阴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=6 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阴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 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阳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阳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12 V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D1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= 6V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D2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=12V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创艺繁标宋" pitchFamily="2" charset="-122"/>
                <a:sym typeface="Symbol" panose="05050102010706020507" pitchFamily="18" charset="2"/>
              </a:rPr>
              <a:t>     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kumimoji="1"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创艺繁标宋" pitchFamily="2" charset="-122"/>
                <a:sym typeface="Symbol" panose="05050102010706020507" pitchFamily="18" charset="2"/>
              </a:rPr>
              <a:t>∵</a:t>
            </a:r>
            <a:r>
              <a:rPr kumimoji="1"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D2</a:t>
            </a:r>
            <a:r>
              <a:rPr kumimoji="1"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&gt;</a:t>
            </a:r>
            <a:r>
              <a:rPr kumimoji="1"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D1     </a:t>
            </a:r>
            <a:r>
              <a:rPr kumimoji="1"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创艺繁标宋" pitchFamily="2" charset="-122"/>
                <a:sym typeface="Symbol" panose="05050102010706020507" pitchFamily="18" charset="2"/>
              </a:rPr>
              <a:t>∴ </a:t>
            </a:r>
            <a:r>
              <a:rPr kumimoji="1"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"/>
              </a:rPr>
              <a:t>D</a:t>
            </a:r>
            <a:r>
              <a:rPr kumimoji="1"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kumimoji="1" lang="zh-CN" altLang="en-US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优先导通， </a:t>
            </a:r>
            <a:r>
              <a:rPr kumimoji="1"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ea typeface=""/>
              </a:rPr>
              <a:t>D</a:t>
            </a:r>
            <a:r>
              <a:rPr kumimoji="1"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截止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324205" y="979016"/>
            <a:ext cx="3100387" cy="2757488"/>
            <a:chOff x="5724128" y="844004"/>
            <a:chExt cx="3100387" cy="2757488"/>
          </a:xfrm>
        </p:grpSpPr>
        <p:sp>
          <p:nvSpPr>
            <p:cNvPr id="99" name="Text Box 15"/>
            <p:cNvSpPr txBox="1">
              <a:spLocks noChangeArrowheads="1"/>
            </p:cNvSpPr>
            <p:nvPr/>
          </p:nvSpPr>
          <p:spPr bwMode="auto">
            <a:xfrm>
              <a:off x="8437165" y="3144292"/>
              <a:ext cx="387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b="1" i="1" kern="0">
                  <a:solidFill>
                    <a:srgbClr val="000000"/>
                  </a:solidFill>
                </a:rPr>
                <a:t>B</a:t>
              </a:r>
              <a:endParaRPr lang="en-US" altLang="zh-CN" b="1" kern="0">
                <a:solidFill>
                  <a:srgbClr val="000000"/>
                </a:solidFill>
              </a:endParaRPr>
            </a:p>
          </p:txBody>
        </p:sp>
        <p:sp>
          <p:nvSpPr>
            <p:cNvPr id="100" name="Line 16"/>
            <p:cNvSpPr>
              <a:spLocks noChangeShapeType="1"/>
            </p:cNvSpPr>
            <p:nvPr/>
          </p:nvSpPr>
          <p:spPr bwMode="auto">
            <a:xfrm rot="5400000" flipH="1">
              <a:off x="6767115" y="2158454"/>
              <a:ext cx="34131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1" name="Line 17"/>
            <p:cNvSpPr>
              <a:spLocks noChangeShapeType="1"/>
            </p:cNvSpPr>
            <p:nvPr/>
          </p:nvSpPr>
          <p:spPr bwMode="auto">
            <a:xfrm rot="5400000" flipV="1">
              <a:off x="7394178" y="1180554"/>
              <a:ext cx="0" cy="19319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" name="AutoShape 18"/>
            <p:cNvSpPr>
              <a:spLocks noChangeArrowheads="1"/>
            </p:cNvSpPr>
            <p:nvPr/>
          </p:nvSpPr>
          <p:spPr bwMode="auto">
            <a:xfrm rot="16200000" flipH="1">
              <a:off x="6921103" y="1987004"/>
              <a:ext cx="315913" cy="31591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03" name="Text Box 19"/>
            <p:cNvSpPr txBox="1">
              <a:spLocks noChangeArrowheads="1"/>
            </p:cNvSpPr>
            <p:nvPr/>
          </p:nvSpPr>
          <p:spPr bwMode="auto">
            <a:xfrm>
              <a:off x="6792515" y="1577429"/>
              <a:ext cx="8001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b="1" kern="0" dirty="0">
                  <a:solidFill>
                    <a:srgbClr val="000000"/>
                  </a:solidFill>
                </a:rPr>
                <a:t>D</a:t>
              </a:r>
              <a:r>
                <a:rPr lang="en-US" altLang="zh-CN" b="1" kern="0" baseline="-25000" dirty="0">
                  <a:solidFill>
                    <a:srgbClr val="000000"/>
                  </a:solidFill>
                </a:rPr>
                <a:t>1</a:t>
              </a:r>
              <a:endParaRPr lang="en-US" altLang="zh-CN" b="1" kern="0" dirty="0">
                <a:solidFill>
                  <a:srgbClr val="000000"/>
                </a:solidFill>
              </a:endParaRPr>
            </a:p>
          </p:txBody>
        </p:sp>
        <p:sp>
          <p:nvSpPr>
            <p:cNvPr id="104" name="Line 20"/>
            <p:cNvSpPr>
              <a:spLocks noChangeShapeType="1"/>
            </p:cNvSpPr>
            <p:nvPr/>
          </p:nvSpPr>
          <p:spPr bwMode="auto">
            <a:xfrm>
              <a:off x="6427390" y="2147342"/>
              <a:ext cx="0" cy="44926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2" name="Line 22"/>
            <p:cNvSpPr>
              <a:spLocks noChangeShapeType="1"/>
            </p:cNvSpPr>
            <p:nvPr/>
          </p:nvSpPr>
          <p:spPr bwMode="auto">
            <a:xfrm>
              <a:off x="6319175" y="2696169"/>
              <a:ext cx="21484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" name="Line 23"/>
            <p:cNvSpPr>
              <a:spLocks noChangeShapeType="1"/>
            </p:cNvSpPr>
            <p:nvPr/>
          </p:nvSpPr>
          <p:spPr bwMode="auto">
            <a:xfrm>
              <a:off x="6265465" y="2786127"/>
              <a:ext cx="3222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" name="Line 24"/>
            <p:cNvSpPr>
              <a:spLocks noChangeShapeType="1"/>
            </p:cNvSpPr>
            <p:nvPr/>
          </p:nvSpPr>
          <p:spPr bwMode="auto">
            <a:xfrm>
              <a:off x="6319175" y="2876086"/>
              <a:ext cx="21484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5" name="Line 25"/>
            <p:cNvSpPr>
              <a:spLocks noChangeShapeType="1"/>
            </p:cNvSpPr>
            <p:nvPr/>
          </p:nvSpPr>
          <p:spPr bwMode="auto">
            <a:xfrm>
              <a:off x="6265465" y="2592461"/>
              <a:ext cx="3222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Line 26"/>
            <p:cNvSpPr>
              <a:spLocks noChangeShapeType="1"/>
            </p:cNvSpPr>
            <p:nvPr/>
          </p:nvSpPr>
          <p:spPr bwMode="auto">
            <a:xfrm>
              <a:off x="6427390" y="2866479"/>
              <a:ext cx="0" cy="54133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" name="Line 27"/>
            <p:cNvSpPr>
              <a:spLocks noChangeShapeType="1"/>
            </p:cNvSpPr>
            <p:nvPr/>
          </p:nvSpPr>
          <p:spPr bwMode="auto">
            <a:xfrm>
              <a:off x="7716440" y="2147342"/>
              <a:ext cx="0" cy="22383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8" name="Rectangle 28"/>
            <p:cNvSpPr>
              <a:spLocks noChangeArrowheads="1"/>
            </p:cNvSpPr>
            <p:nvPr/>
          </p:nvSpPr>
          <p:spPr bwMode="auto">
            <a:xfrm>
              <a:off x="7608490" y="2371179"/>
              <a:ext cx="201612" cy="284163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endParaRPr lang="zh-CN" altLang="zh-CN" b="1" kern="0">
                <a:solidFill>
                  <a:srgbClr val="000000"/>
                </a:solidFill>
              </a:endParaRPr>
            </a:p>
          </p:txBody>
        </p:sp>
        <p:sp>
          <p:nvSpPr>
            <p:cNvPr id="109" name="Line 29"/>
            <p:cNvSpPr>
              <a:spLocks noChangeShapeType="1"/>
            </p:cNvSpPr>
            <p:nvPr/>
          </p:nvSpPr>
          <p:spPr bwMode="auto">
            <a:xfrm>
              <a:off x="7716440" y="2671637"/>
              <a:ext cx="0" cy="1793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0" name="Line 30"/>
            <p:cNvSpPr>
              <a:spLocks noChangeShapeType="1"/>
            </p:cNvSpPr>
            <p:nvPr/>
          </p:nvSpPr>
          <p:spPr bwMode="auto">
            <a:xfrm>
              <a:off x="7608490" y="2959993"/>
              <a:ext cx="21431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1" name="Line 31"/>
            <p:cNvSpPr>
              <a:spLocks noChangeShapeType="1"/>
            </p:cNvSpPr>
            <p:nvPr/>
          </p:nvSpPr>
          <p:spPr bwMode="auto">
            <a:xfrm>
              <a:off x="7556103" y="3050481"/>
              <a:ext cx="3222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" name="Line 32"/>
            <p:cNvSpPr>
              <a:spLocks noChangeShapeType="1"/>
            </p:cNvSpPr>
            <p:nvPr/>
          </p:nvSpPr>
          <p:spPr bwMode="auto">
            <a:xfrm>
              <a:off x="7608490" y="3140968"/>
              <a:ext cx="21431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Line 33"/>
            <p:cNvSpPr>
              <a:spLocks noChangeShapeType="1"/>
            </p:cNvSpPr>
            <p:nvPr/>
          </p:nvSpPr>
          <p:spPr bwMode="auto">
            <a:xfrm>
              <a:off x="7556103" y="2874268"/>
              <a:ext cx="3222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" name="Line 34"/>
            <p:cNvSpPr>
              <a:spLocks noChangeShapeType="1"/>
            </p:cNvSpPr>
            <p:nvPr/>
          </p:nvSpPr>
          <p:spPr bwMode="auto">
            <a:xfrm>
              <a:off x="7716440" y="3137942"/>
              <a:ext cx="0" cy="2667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" name="Line 35"/>
            <p:cNvSpPr>
              <a:spLocks noChangeShapeType="1"/>
            </p:cNvSpPr>
            <p:nvPr/>
          </p:nvSpPr>
          <p:spPr bwMode="auto">
            <a:xfrm>
              <a:off x="5724128" y="3404642"/>
              <a:ext cx="2619375" cy="31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" name="Text Box 36"/>
            <p:cNvSpPr txBox="1">
              <a:spLocks noChangeArrowheads="1"/>
            </p:cNvSpPr>
            <p:nvPr/>
          </p:nvSpPr>
          <p:spPr bwMode="auto">
            <a:xfrm>
              <a:off x="5782865" y="2596604"/>
              <a:ext cx="5572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b="1" kern="0">
                  <a:solidFill>
                    <a:srgbClr val="000000"/>
                  </a:solidFill>
                </a:rPr>
                <a:t>6V</a:t>
              </a:r>
            </a:p>
          </p:txBody>
        </p:sp>
        <p:sp>
          <p:nvSpPr>
            <p:cNvPr id="117" name="Text Box 37"/>
            <p:cNvSpPr txBox="1">
              <a:spLocks noChangeArrowheads="1"/>
            </p:cNvSpPr>
            <p:nvPr/>
          </p:nvSpPr>
          <p:spPr bwMode="auto">
            <a:xfrm>
              <a:off x="6906815" y="2879179"/>
              <a:ext cx="7096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b="1" kern="0">
                  <a:solidFill>
                    <a:srgbClr val="000000"/>
                  </a:solidFill>
                </a:rPr>
                <a:t>12V</a:t>
              </a:r>
            </a:p>
          </p:txBody>
        </p:sp>
        <p:sp>
          <p:nvSpPr>
            <p:cNvPr id="118" name="Text Box 38"/>
            <p:cNvSpPr txBox="1">
              <a:spLocks noChangeArrowheads="1"/>
            </p:cNvSpPr>
            <p:nvPr/>
          </p:nvSpPr>
          <p:spPr bwMode="auto">
            <a:xfrm>
              <a:off x="6881415" y="2329904"/>
              <a:ext cx="74136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b="1" kern="0">
                  <a:solidFill>
                    <a:srgbClr val="000000"/>
                  </a:solidFill>
                </a:rPr>
                <a:t>3k</a:t>
              </a:r>
              <a:r>
                <a:rPr lang="en-US" altLang="zh-CN" b="1" kern="0">
                  <a:solidFill>
                    <a:srgbClr val="000000"/>
                  </a:solidFill>
                  <a:sym typeface="Symbol" panose="05050102010706020507" pitchFamily="18" charset="2"/>
                </a:rPr>
                <a:t></a:t>
              </a:r>
              <a:endParaRPr lang="en-US" altLang="zh-CN" b="1" kern="0">
                <a:solidFill>
                  <a:srgbClr val="000000"/>
                </a:solidFill>
              </a:endParaRPr>
            </a:p>
          </p:txBody>
        </p:sp>
        <p:sp>
          <p:nvSpPr>
            <p:cNvPr id="119" name="Text Box 39"/>
            <p:cNvSpPr txBox="1">
              <a:spLocks noChangeArrowheads="1"/>
            </p:cNvSpPr>
            <p:nvPr/>
          </p:nvSpPr>
          <p:spPr bwMode="auto">
            <a:xfrm>
              <a:off x="8437165" y="1910804"/>
              <a:ext cx="387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b="1" i="1" kern="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120" name="Line 40"/>
            <p:cNvSpPr>
              <a:spLocks noChangeShapeType="1"/>
            </p:cNvSpPr>
            <p:nvPr/>
          </p:nvSpPr>
          <p:spPr bwMode="auto">
            <a:xfrm>
              <a:off x="5724128" y="1405979"/>
              <a:ext cx="0" cy="201136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1" name="Line 41"/>
            <p:cNvSpPr>
              <a:spLocks noChangeShapeType="1"/>
            </p:cNvSpPr>
            <p:nvPr/>
          </p:nvSpPr>
          <p:spPr bwMode="auto">
            <a:xfrm>
              <a:off x="5724128" y="1405979"/>
              <a:ext cx="198437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2" name="Line 42"/>
            <p:cNvSpPr>
              <a:spLocks noChangeShapeType="1"/>
            </p:cNvSpPr>
            <p:nvPr/>
          </p:nvSpPr>
          <p:spPr bwMode="auto">
            <a:xfrm>
              <a:off x="7708503" y="1405979"/>
              <a:ext cx="0" cy="73183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" name="Line 43"/>
            <p:cNvSpPr>
              <a:spLocks noChangeShapeType="1"/>
            </p:cNvSpPr>
            <p:nvPr/>
          </p:nvSpPr>
          <p:spPr bwMode="auto">
            <a:xfrm rot="16200000">
              <a:off x="6325790" y="1415504"/>
              <a:ext cx="3810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4" name="AutoShape 44"/>
            <p:cNvSpPr>
              <a:spLocks noChangeArrowheads="1"/>
            </p:cNvSpPr>
            <p:nvPr/>
          </p:nvSpPr>
          <p:spPr bwMode="auto">
            <a:xfrm rot="16200000" flipH="1">
              <a:off x="6533753" y="1240879"/>
              <a:ext cx="315913" cy="315912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25" name="Text Box 45"/>
            <p:cNvSpPr txBox="1">
              <a:spLocks noChangeArrowheads="1"/>
            </p:cNvSpPr>
            <p:nvPr/>
          </p:nvSpPr>
          <p:spPr bwMode="auto">
            <a:xfrm>
              <a:off x="6325790" y="844004"/>
              <a:ext cx="5953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b="1" kern="0" dirty="0">
                  <a:solidFill>
                    <a:srgbClr val="000000"/>
                  </a:solidFill>
                </a:rPr>
                <a:t>D</a:t>
              </a:r>
              <a:r>
                <a:rPr lang="en-US" altLang="zh-CN" b="1" kern="0" baseline="-25000" dirty="0">
                  <a:solidFill>
                    <a:srgbClr val="000000"/>
                  </a:solidFill>
                </a:rPr>
                <a:t>2</a:t>
              </a:r>
              <a:endParaRPr lang="en-US" altLang="zh-CN" b="1" kern="0" dirty="0">
                <a:solidFill>
                  <a:srgbClr val="000000"/>
                </a:solidFill>
              </a:endParaRPr>
            </a:p>
          </p:txBody>
        </p:sp>
        <p:sp>
          <p:nvSpPr>
            <p:cNvPr id="126" name="Oval 46"/>
            <p:cNvSpPr>
              <a:spLocks noChangeArrowheads="1"/>
            </p:cNvSpPr>
            <p:nvPr/>
          </p:nvSpPr>
          <p:spPr bwMode="auto">
            <a:xfrm>
              <a:off x="7659290" y="2104479"/>
              <a:ext cx="85725" cy="85725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27" name="Rectangle 47"/>
            <p:cNvSpPr>
              <a:spLocks noChangeArrowheads="1"/>
            </p:cNvSpPr>
            <p:nvPr/>
          </p:nvSpPr>
          <p:spPr bwMode="auto">
            <a:xfrm>
              <a:off x="8002190" y="2528342"/>
              <a:ext cx="685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i="1" kern="0">
                  <a:solidFill>
                    <a:srgbClr val="FF0000"/>
                  </a:solidFill>
                </a:rPr>
                <a:t>U</a:t>
              </a:r>
              <a:r>
                <a:rPr lang="en-US" altLang="zh-CN" b="1" kern="0" baseline="-25000">
                  <a:solidFill>
                    <a:srgbClr val="FF0000"/>
                  </a:solidFill>
                </a:rPr>
                <a:t>AB</a:t>
              </a:r>
              <a:endParaRPr lang="en-US" altLang="zh-CN" b="1" i="1" kern="0" baseline="-25000">
                <a:solidFill>
                  <a:srgbClr val="FF0000"/>
                </a:solidFill>
              </a:endParaRPr>
            </a:p>
          </p:txBody>
        </p:sp>
        <p:sp>
          <p:nvSpPr>
            <p:cNvPr id="128" name="Text Box 48"/>
            <p:cNvSpPr txBox="1">
              <a:spLocks noChangeArrowheads="1"/>
            </p:cNvSpPr>
            <p:nvPr/>
          </p:nvSpPr>
          <p:spPr bwMode="auto">
            <a:xfrm>
              <a:off x="8040290" y="2123529"/>
              <a:ext cx="54768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b="1" kern="0">
                  <a:solidFill>
                    <a:srgbClr val="000000"/>
                  </a:solidFill>
                  <a:ea typeface="楷体_GB2312" pitchFamily="49" charset="-122"/>
                </a:rPr>
                <a:t>+</a:t>
              </a:r>
            </a:p>
          </p:txBody>
        </p:sp>
        <p:sp>
          <p:nvSpPr>
            <p:cNvPr id="129" name="Text Box 49"/>
            <p:cNvSpPr txBox="1">
              <a:spLocks noChangeArrowheads="1"/>
            </p:cNvSpPr>
            <p:nvPr/>
          </p:nvSpPr>
          <p:spPr bwMode="auto">
            <a:xfrm>
              <a:off x="8040290" y="3001417"/>
              <a:ext cx="54768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zh-CN" b="1" kern="0">
                  <a:solidFill>
                    <a:srgbClr val="000000"/>
                  </a:solidFill>
                  <a:ea typeface="楷体_GB2312" pitchFamily="49" charset="-122"/>
                </a:rPr>
                <a:t>–</a:t>
              </a:r>
            </a:p>
          </p:txBody>
        </p:sp>
        <p:sp>
          <p:nvSpPr>
            <p:cNvPr id="130" name="Oval 50"/>
            <p:cNvSpPr>
              <a:spLocks noChangeArrowheads="1"/>
            </p:cNvSpPr>
            <p:nvPr/>
          </p:nvSpPr>
          <p:spPr bwMode="auto">
            <a:xfrm>
              <a:off x="8329215" y="2098129"/>
              <a:ext cx="82550" cy="8255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31" name="Oval 51"/>
            <p:cNvSpPr>
              <a:spLocks noChangeArrowheads="1"/>
            </p:cNvSpPr>
            <p:nvPr/>
          </p:nvSpPr>
          <p:spPr bwMode="auto">
            <a:xfrm>
              <a:off x="8326040" y="3352254"/>
              <a:ext cx="82550" cy="8255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Arial"/>
              </a:rPr>
              <a:t>4.0  </a:t>
            </a:r>
            <a:r>
              <a:rPr lang="zh-CN" altLang="en-US" sz="3200" b="1" dirty="0">
                <a:solidFill>
                  <a:srgbClr val="0000FF"/>
                </a:solidFill>
                <a:latin typeface="Arial"/>
              </a:rPr>
              <a:t>二极管电路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47" name="Text Box 5"/>
          <p:cNvSpPr txBox="1">
            <a:spLocks noChangeArrowheads="1"/>
          </p:cNvSpPr>
          <p:nvPr/>
        </p:nvSpPr>
        <p:spPr bwMode="auto">
          <a:xfrm>
            <a:off x="549822" y="892284"/>
            <a:ext cx="280987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800" b="1" kern="0" dirty="0">
                <a:solidFill>
                  <a:srgbClr val="0000FF"/>
                </a:solidFill>
              </a:rPr>
              <a:t>例</a:t>
            </a:r>
            <a:r>
              <a:rPr lang="en-US" altLang="zh-CN" sz="2800" b="1" kern="0" dirty="0">
                <a:solidFill>
                  <a:srgbClr val="0000FF"/>
                </a:solidFill>
              </a:rPr>
              <a:t>3</a:t>
            </a:r>
            <a:r>
              <a:rPr lang="zh-CN" altLang="en-US" sz="2800" b="1" kern="0" dirty="0">
                <a:solidFill>
                  <a:srgbClr val="0000FF"/>
                </a:solidFill>
              </a:rPr>
              <a:t>：</a:t>
            </a:r>
            <a:r>
              <a:rPr lang="zh-CN" altLang="zh-CN" sz="2800" b="1" dirty="0">
                <a:solidFill>
                  <a:srgbClr val="000000"/>
                </a:solidFill>
              </a:rPr>
              <a:t>求</a:t>
            </a:r>
            <a:r>
              <a:rPr lang="en-US" altLang="zh-CN" sz="2800" b="1" i="1" dirty="0">
                <a:solidFill>
                  <a:srgbClr val="000000"/>
                </a:solidFill>
              </a:rPr>
              <a:t>U</a:t>
            </a:r>
            <a:r>
              <a:rPr lang="en-US" altLang="zh-CN" sz="2800" b="1" baseline="-25000" dirty="0">
                <a:solidFill>
                  <a:srgbClr val="000000"/>
                </a:solidFill>
              </a:rPr>
              <a:t>AB</a:t>
            </a:r>
            <a:endParaRPr lang="en-US" altLang="zh-CN" sz="2800" b="1" kern="0" dirty="0">
              <a:solidFill>
                <a:srgbClr val="0000FF"/>
              </a:solidFill>
            </a:endParaRPr>
          </a:p>
        </p:txBody>
      </p:sp>
      <p:sp>
        <p:nvSpPr>
          <p:cNvPr id="49" name="Text Box 2"/>
          <p:cNvSpPr txBox="1">
            <a:spLocks noChangeArrowheads="1"/>
          </p:cNvSpPr>
          <p:nvPr/>
        </p:nvSpPr>
        <p:spPr bwMode="auto">
          <a:xfrm>
            <a:off x="1255785" y="1464252"/>
            <a:ext cx="6046334" cy="1594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kumimoji="1"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两个二极管的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阳</a:t>
            </a:r>
            <a:r>
              <a:rPr kumimoji="1"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极接在一起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800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共阳极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结构。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取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kumimoji="1"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点作参考点，断开二极管，分析二极管阳极和阴极的电位。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" name="Rectangle 5"/>
          <p:cNvSpPr>
            <a:spLocks noChangeArrowheads="1"/>
          </p:cNvSpPr>
          <p:nvPr/>
        </p:nvSpPr>
        <p:spPr bwMode="auto">
          <a:xfrm>
            <a:off x="551384" y="1510288"/>
            <a:ext cx="7920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</a:p>
        </p:txBody>
      </p:sp>
      <p:sp>
        <p:nvSpPr>
          <p:cNvPr id="51" name="Text Box 2"/>
          <p:cNvSpPr txBox="1">
            <a:spLocks noChangeArrowheads="1"/>
          </p:cNvSpPr>
          <p:nvPr/>
        </p:nvSpPr>
        <p:spPr bwMode="auto">
          <a:xfrm>
            <a:off x="1218229" y="3087049"/>
            <a:ext cx="2143029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kumimoji="1" lang="zh-CN" altLang="en-US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优先导通法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2" name="Group 52">
            <a:extLst>
              <a:ext uri="{FF2B5EF4-FFF2-40B4-BE49-F238E27FC236}">
                <a16:creationId xmlns:a16="http://schemas.microsoft.com/office/drawing/2014/main" id="{36801E09-0283-41FC-AFCC-108BC51A72C6}"/>
              </a:ext>
            </a:extLst>
          </p:cNvPr>
          <p:cNvGrpSpPr>
            <a:grpSpLocks/>
          </p:cNvGrpSpPr>
          <p:nvPr/>
        </p:nvGrpSpPr>
        <p:grpSpPr bwMode="auto">
          <a:xfrm>
            <a:off x="10186453" y="3544991"/>
            <a:ext cx="252412" cy="252412"/>
            <a:chOff x="1680" y="1584"/>
            <a:chExt cx="159" cy="159"/>
          </a:xfrm>
        </p:grpSpPr>
        <p:sp>
          <p:nvSpPr>
            <p:cNvPr id="53" name="Line 53">
              <a:extLst>
                <a:ext uri="{FF2B5EF4-FFF2-40B4-BE49-F238E27FC236}">
                  <a16:creationId xmlns:a16="http://schemas.microsoft.com/office/drawing/2014/main" id="{5DBB428F-5687-460D-92B6-3F1ED18F36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2" y="1584"/>
              <a:ext cx="0" cy="15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Line 54">
              <a:extLst>
                <a:ext uri="{FF2B5EF4-FFF2-40B4-BE49-F238E27FC236}">
                  <a16:creationId xmlns:a16="http://schemas.microsoft.com/office/drawing/2014/main" id="{DFD6A380-2611-4565-8F86-44AF6EBD64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743"/>
              <a:ext cx="159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5" name="矩形 54">
            <a:extLst>
              <a:ext uri="{FF2B5EF4-FFF2-40B4-BE49-F238E27FC236}">
                <a16:creationId xmlns:a16="http://schemas.microsoft.com/office/drawing/2014/main" id="{DF45FDEA-ABBA-4046-B41A-562270012FBB}"/>
              </a:ext>
            </a:extLst>
          </p:cNvPr>
          <p:cNvSpPr/>
          <p:nvPr/>
        </p:nvSpPr>
        <p:spPr bwMode="auto">
          <a:xfrm>
            <a:off x="8916188" y="1055353"/>
            <a:ext cx="839788" cy="752914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黑体" pitchFamily="49" charset="-122"/>
              <a:cs typeface="+mn-cs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2D68E6A-700E-4F12-A56A-1B894BA9580F}"/>
              </a:ext>
            </a:extLst>
          </p:cNvPr>
          <p:cNvSpPr/>
          <p:nvPr/>
        </p:nvSpPr>
        <p:spPr bwMode="auto">
          <a:xfrm>
            <a:off x="9207760" y="1779436"/>
            <a:ext cx="839788" cy="752914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黑体" pitchFamily="49" charset="-122"/>
              <a:cs typeface="+mn-cs"/>
            </a:endParaRPr>
          </a:p>
        </p:txBody>
      </p:sp>
      <p:sp>
        <p:nvSpPr>
          <p:cNvPr id="57" name="Text Box 3">
            <a:extLst>
              <a:ext uri="{FF2B5EF4-FFF2-40B4-BE49-F238E27FC236}">
                <a16:creationId xmlns:a16="http://schemas.microsoft.com/office/drawing/2014/main" id="{318A3D01-E964-46F8-ADA6-977FA7530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1344" y="5629547"/>
            <a:ext cx="5132688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kumimoji="1"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二极管可看作短路，</a:t>
            </a:r>
            <a:r>
              <a:rPr kumimoji="1" lang="en-US" altLang="zh-CN" sz="2800" b="1" i="1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800" b="1" baseline="-250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  <a:r>
              <a:rPr kumimoji="1"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0 V</a:t>
            </a:r>
          </a:p>
        </p:txBody>
      </p:sp>
    </p:spTree>
    <p:extLst>
      <p:ext uri="{BB962C8B-B14F-4D97-AF65-F5344CB8AC3E}">
        <p14:creationId xmlns:p14="http://schemas.microsoft.com/office/powerpoint/2010/main" val="332095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utoUpdateAnimBg="0"/>
      <p:bldP spid="49" grpId="0" autoUpdateAnimBg="0"/>
      <p:bldP spid="50" grpId="0" autoUpdateAnimBg="0"/>
      <p:bldP spid="51" grpId="0" autoUpdateAnimBg="0"/>
      <p:bldP spid="55" grpId="0" animBg="1"/>
      <p:bldP spid="55" grpId="1" animBg="1"/>
      <p:bldP spid="56" grpId="0" animBg="1"/>
      <p:bldP spid="5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Box 2"/>
          <p:cNvSpPr txBox="1">
            <a:spLocks noChangeArrowheads="1"/>
          </p:cNvSpPr>
          <p:nvPr/>
        </p:nvSpPr>
        <p:spPr bwMode="auto">
          <a:xfrm>
            <a:off x="2098848" y="5495637"/>
            <a:ext cx="83820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8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&gt; 8V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，二极管导通，可看作短路    </a:t>
            </a:r>
            <a:r>
              <a:rPr kumimoji="1"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8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8V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kumimoji="1"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b="1" i="1" dirty="0" err="1">
                <a:solidFill>
                  <a:srgbClr val="01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800" b="1" baseline="-25000" dirty="0" err="1">
                <a:solidFill>
                  <a:srgbClr val="01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kumimoji="1" lang="en-US" altLang="zh-CN" sz="2800" b="1" dirty="0">
                <a:solidFill>
                  <a:srgbClr val="01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 8V</a:t>
            </a:r>
            <a:r>
              <a:rPr kumimoji="1" lang="zh-CN" altLang="en-US" sz="2800" b="1" dirty="0">
                <a:solidFill>
                  <a:srgbClr val="01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，二极管截止，可看作开路    </a:t>
            </a:r>
            <a:r>
              <a:rPr kumimoji="1" lang="en-US" altLang="zh-CN" sz="2800" b="1" i="1" dirty="0" err="1">
                <a:solidFill>
                  <a:srgbClr val="01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800" b="1" baseline="-25000" dirty="0" err="1">
                <a:solidFill>
                  <a:srgbClr val="01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kumimoji="1" lang="en-US" altLang="zh-CN" sz="2800" b="1" dirty="0">
                <a:solidFill>
                  <a:srgbClr val="01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kumimoji="1" lang="en-US" altLang="zh-CN" sz="2800" b="1" i="1" dirty="0" err="1">
                <a:solidFill>
                  <a:srgbClr val="01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1" lang="en-US" altLang="zh-CN" sz="2800" b="1" baseline="-25000" dirty="0" err="1">
                <a:solidFill>
                  <a:srgbClr val="01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endParaRPr kumimoji="1" lang="en-US" altLang="zh-CN" sz="2800" b="1" dirty="0">
              <a:solidFill>
                <a:srgbClr val="01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45" name="Group 56"/>
          <p:cNvGrpSpPr>
            <a:grpSpLocks/>
          </p:cNvGrpSpPr>
          <p:nvPr/>
        </p:nvGrpSpPr>
        <p:grpSpPr bwMode="auto">
          <a:xfrm>
            <a:off x="1381224" y="917977"/>
            <a:ext cx="6731000" cy="1057276"/>
            <a:chOff x="1662" y="277"/>
            <a:chExt cx="4240" cy="666"/>
          </a:xfrm>
        </p:grpSpPr>
        <p:sp>
          <p:nvSpPr>
            <p:cNvPr id="146" name="Text Box 4"/>
            <p:cNvSpPr txBox="1">
              <a:spLocks noChangeArrowheads="1"/>
            </p:cNvSpPr>
            <p:nvPr/>
          </p:nvSpPr>
          <p:spPr bwMode="auto">
            <a:xfrm>
              <a:off x="1662" y="288"/>
              <a:ext cx="4240" cy="6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1" fontAlgn="auto" hangingPunct="1">
                <a:lnSpc>
                  <a:spcPct val="110000"/>
                </a:lnSpc>
                <a:spcBef>
                  <a:spcPct val="5000"/>
                </a:spcBef>
                <a:spcAft>
                  <a:spcPts val="0"/>
                </a:spcAft>
                <a:defRPr/>
              </a:pPr>
              <a:r>
                <a:rPr kumimoji="1" lang="zh-CN" altLang="zh-CN" sz="2800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已知：</a:t>
              </a:r>
              <a:r>
                <a:rPr kumimoji="1" lang="en-US" altLang="zh-CN" sz="2800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         </a:t>
              </a:r>
              <a:r>
                <a:rPr kumimoji="1" lang="zh-CN" altLang="en-US" sz="2800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kumimoji="1" lang="zh-CN" altLang="zh-CN" sz="2800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二极管是理想的，试画出 </a:t>
              </a:r>
              <a:r>
                <a:rPr kumimoji="1" lang="en-US" altLang="zh-CN" sz="2800" b="1" i="1" kern="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2800" b="1" kern="0" baseline="-250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r>
                <a:rPr kumimoji="1" lang="en-US" altLang="zh-CN" sz="2800" b="1" i="1" kern="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zh-CN" altLang="zh-CN" sz="2800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波形。</a:t>
              </a:r>
              <a:endParaRPr kumimoji="1"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4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264287"/>
                </p:ext>
              </p:extLst>
            </p:nvPr>
          </p:nvGraphicFramePr>
          <p:xfrm>
            <a:off x="2296" y="277"/>
            <a:ext cx="1656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5348" name="Equation" r:id="rId4" imgW="990529" imgH="190603" progId="Equation.3">
                    <p:embed/>
                  </p:oleObj>
                </mc:Choice>
                <mc:Fallback>
                  <p:oleObj name="Equation" r:id="rId4" imgW="990529" imgH="190603" progId="Equation.3">
                    <p:embed/>
                    <p:pic>
                      <p:nvPicPr>
                        <p:cNvPr id="14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6" y="277"/>
                          <a:ext cx="1656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8" name="Rectangle 6"/>
          <p:cNvSpPr>
            <a:spLocks noChangeArrowheads="1"/>
          </p:cNvSpPr>
          <p:nvPr/>
        </p:nvSpPr>
        <p:spPr bwMode="auto">
          <a:xfrm>
            <a:off x="1741926" y="3024366"/>
            <a:ext cx="619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1" hangingPunct="1">
              <a:defRPr/>
            </a:pPr>
            <a:r>
              <a:rPr kumimoji="1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8V</a:t>
            </a:r>
          </a:p>
        </p:txBody>
      </p:sp>
      <p:grpSp>
        <p:nvGrpSpPr>
          <p:cNvPr id="150" name="Group 9"/>
          <p:cNvGrpSpPr>
            <a:grpSpLocks/>
          </p:cNvGrpSpPr>
          <p:nvPr/>
        </p:nvGrpSpPr>
        <p:grpSpPr bwMode="auto">
          <a:xfrm>
            <a:off x="1524437" y="2140128"/>
            <a:ext cx="4984750" cy="2355850"/>
            <a:chOff x="309" y="1632"/>
            <a:chExt cx="3140" cy="1484"/>
          </a:xfrm>
        </p:grpSpPr>
        <p:sp>
          <p:nvSpPr>
            <p:cNvPr id="151" name="Freeform 10"/>
            <p:cNvSpPr>
              <a:spLocks/>
            </p:cNvSpPr>
            <p:nvPr/>
          </p:nvSpPr>
          <p:spPr bwMode="auto">
            <a:xfrm>
              <a:off x="816" y="2109"/>
              <a:ext cx="2026" cy="929"/>
            </a:xfrm>
            <a:custGeom>
              <a:avLst/>
              <a:gdLst>
                <a:gd name="T0" fmla="*/ 0 w 2026"/>
                <a:gd name="T1" fmla="*/ 443 h 929"/>
                <a:gd name="T2" fmla="*/ 248 w 2026"/>
                <a:gd name="T3" fmla="*/ 3 h 929"/>
                <a:gd name="T4" fmla="*/ 500 w 2026"/>
                <a:gd name="T5" fmla="*/ 455 h 929"/>
                <a:gd name="T6" fmla="*/ 500 w 2026"/>
                <a:gd name="T7" fmla="*/ 487 h 929"/>
                <a:gd name="T8" fmla="*/ 512 w 2026"/>
                <a:gd name="T9" fmla="*/ 471 h 929"/>
                <a:gd name="T10" fmla="*/ 500 w 2026"/>
                <a:gd name="T11" fmla="*/ 483 h 929"/>
                <a:gd name="T12" fmla="*/ 520 w 2026"/>
                <a:gd name="T13" fmla="*/ 515 h 929"/>
                <a:gd name="T14" fmla="*/ 544 w 2026"/>
                <a:gd name="T15" fmla="*/ 579 h 929"/>
                <a:gd name="T16" fmla="*/ 552 w 2026"/>
                <a:gd name="T17" fmla="*/ 603 h 929"/>
                <a:gd name="T18" fmla="*/ 745 w 2026"/>
                <a:gd name="T19" fmla="*/ 883 h 929"/>
                <a:gd name="T20" fmla="*/ 993 w 2026"/>
                <a:gd name="T21" fmla="*/ 443 h 929"/>
                <a:gd name="T22" fmla="*/ 1242 w 2026"/>
                <a:gd name="T23" fmla="*/ 3 h 929"/>
                <a:gd name="T24" fmla="*/ 1472 w 2026"/>
                <a:gd name="T25" fmla="*/ 459 h 929"/>
                <a:gd name="T26" fmla="*/ 1520 w 2026"/>
                <a:gd name="T27" fmla="*/ 567 h 929"/>
                <a:gd name="T28" fmla="*/ 1584 w 2026"/>
                <a:gd name="T29" fmla="*/ 719 h 929"/>
                <a:gd name="T30" fmla="*/ 1738 w 2026"/>
                <a:gd name="T31" fmla="*/ 883 h 929"/>
                <a:gd name="T32" fmla="*/ 1986 w 2026"/>
                <a:gd name="T33" fmla="*/ 441 h 929"/>
                <a:gd name="T34" fmla="*/ 1976 w 2026"/>
                <a:gd name="T35" fmla="*/ 435 h 929"/>
                <a:gd name="T36" fmla="*/ 1984 w 2026"/>
                <a:gd name="T37" fmla="*/ 427 h 929"/>
                <a:gd name="T38" fmla="*/ 1980 w 2026"/>
                <a:gd name="T39" fmla="*/ 435 h 929"/>
                <a:gd name="T40" fmla="*/ 1980 w 2026"/>
                <a:gd name="T41" fmla="*/ 423 h 929"/>
                <a:gd name="T42" fmla="*/ 1968 w 2026"/>
                <a:gd name="T43" fmla="*/ 431 h 929"/>
                <a:gd name="T44" fmla="*/ 1995 w 2026"/>
                <a:gd name="T45" fmla="*/ 432 h 929"/>
                <a:gd name="T46" fmla="*/ 1986 w 2026"/>
                <a:gd name="T47" fmla="*/ 450 h 92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026" h="929">
                  <a:moveTo>
                    <a:pt x="0" y="443"/>
                  </a:moveTo>
                  <a:cubicBezTo>
                    <a:pt x="83" y="223"/>
                    <a:pt x="165" y="1"/>
                    <a:pt x="248" y="3"/>
                  </a:cubicBezTo>
                  <a:cubicBezTo>
                    <a:pt x="331" y="5"/>
                    <a:pt x="458" y="374"/>
                    <a:pt x="500" y="455"/>
                  </a:cubicBezTo>
                  <a:cubicBezTo>
                    <a:pt x="542" y="536"/>
                    <a:pt x="498" y="484"/>
                    <a:pt x="500" y="487"/>
                  </a:cubicBezTo>
                  <a:cubicBezTo>
                    <a:pt x="502" y="490"/>
                    <a:pt x="512" y="472"/>
                    <a:pt x="512" y="471"/>
                  </a:cubicBezTo>
                  <a:cubicBezTo>
                    <a:pt x="512" y="470"/>
                    <a:pt x="499" y="476"/>
                    <a:pt x="500" y="483"/>
                  </a:cubicBezTo>
                  <a:cubicBezTo>
                    <a:pt x="501" y="490"/>
                    <a:pt x="513" y="499"/>
                    <a:pt x="520" y="515"/>
                  </a:cubicBezTo>
                  <a:cubicBezTo>
                    <a:pt x="527" y="531"/>
                    <a:pt x="539" y="564"/>
                    <a:pt x="544" y="579"/>
                  </a:cubicBezTo>
                  <a:cubicBezTo>
                    <a:pt x="549" y="594"/>
                    <a:pt x="518" y="552"/>
                    <a:pt x="552" y="603"/>
                  </a:cubicBezTo>
                  <a:cubicBezTo>
                    <a:pt x="586" y="654"/>
                    <a:pt x="672" y="910"/>
                    <a:pt x="745" y="883"/>
                  </a:cubicBezTo>
                  <a:cubicBezTo>
                    <a:pt x="818" y="856"/>
                    <a:pt x="910" y="590"/>
                    <a:pt x="993" y="443"/>
                  </a:cubicBezTo>
                  <a:cubicBezTo>
                    <a:pt x="1076" y="296"/>
                    <a:pt x="1162" y="0"/>
                    <a:pt x="1242" y="3"/>
                  </a:cubicBezTo>
                  <a:cubicBezTo>
                    <a:pt x="1322" y="6"/>
                    <a:pt x="1426" y="365"/>
                    <a:pt x="1472" y="459"/>
                  </a:cubicBezTo>
                  <a:cubicBezTo>
                    <a:pt x="1518" y="553"/>
                    <a:pt x="1501" y="524"/>
                    <a:pt x="1520" y="567"/>
                  </a:cubicBezTo>
                  <a:cubicBezTo>
                    <a:pt x="1539" y="610"/>
                    <a:pt x="1548" y="666"/>
                    <a:pt x="1584" y="719"/>
                  </a:cubicBezTo>
                  <a:cubicBezTo>
                    <a:pt x="1620" y="772"/>
                    <a:pt x="1671" y="929"/>
                    <a:pt x="1738" y="883"/>
                  </a:cubicBezTo>
                  <a:cubicBezTo>
                    <a:pt x="1805" y="837"/>
                    <a:pt x="1946" y="515"/>
                    <a:pt x="1986" y="441"/>
                  </a:cubicBezTo>
                  <a:cubicBezTo>
                    <a:pt x="2026" y="367"/>
                    <a:pt x="1976" y="437"/>
                    <a:pt x="1976" y="435"/>
                  </a:cubicBezTo>
                  <a:cubicBezTo>
                    <a:pt x="1976" y="433"/>
                    <a:pt x="1983" y="427"/>
                    <a:pt x="1984" y="427"/>
                  </a:cubicBezTo>
                  <a:cubicBezTo>
                    <a:pt x="1985" y="427"/>
                    <a:pt x="1981" y="436"/>
                    <a:pt x="1980" y="435"/>
                  </a:cubicBezTo>
                  <a:cubicBezTo>
                    <a:pt x="1979" y="434"/>
                    <a:pt x="1982" y="424"/>
                    <a:pt x="1980" y="423"/>
                  </a:cubicBezTo>
                  <a:cubicBezTo>
                    <a:pt x="1978" y="422"/>
                    <a:pt x="1966" y="430"/>
                    <a:pt x="1968" y="431"/>
                  </a:cubicBezTo>
                  <a:cubicBezTo>
                    <a:pt x="1970" y="432"/>
                    <a:pt x="1992" y="429"/>
                    <a:pt x="1995" y="432"/>
                  </a:cubicBezTo>
                  <a:cubicBezTo>
                    <a:pt x="1998" y="435"/>
                    <a:pt x="1988" y="446"/>
                    <a:pt x="1986" y="45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2" name="Line 11"/>
            <p:cNvSpPr>
              <a:spLocks noChangeShapeType="1"/>
            </p:cNvSpPr>
            <p:nvPr/>
          </p:nvSpPr>
          <p:spPr bwMode="auto">
            <a:xfrm flipV="1">
              <a:off x="799" y="1858"/>
              <a:ext cx="0" cy="125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arrow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" name="Line 12"/>
            <p:cNvSpPr>
              <a:spLocks noChangeShapeType="1"/>
            </p:cNvSpPr>
            <p:nvPr/>
          </p:nvSpPr>
          <p:spPr bwMode="auto">
            <a:xfrm flipV="1">
              <a:off x="799" y="2540"/>
              <a:ext cx="2432" cy="1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arrow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" name="Text Box 13"/>
            <p:cNvSpPr txBox="1">
              <a:spLocks noChangeArrowheads="1"/>
            </p:cNvSpPr>
            <p:nvPr/>
          </p:nvSpPr>
          <p:spPr bwMode="auto">
            <a:xfrm>
              <a:off x="427" y="1632"/>
              <a:ext cx="3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800" b="1" i="1" kern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kumimoji="1" lang="en-US" altLang="zh-CN" sz="2800" b="1" kern="0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kumimoji="1" lang="en-US" altLang="zh-CN" sz="2800" b="1" ker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155" name="Object 14"/>
            <p:cNvGraphicFramePr>
              <a:graphicFrameLocks noChangeAspect="1"/>
            </p:cNvGraphicFramePr>
            <p:nvPr/>
          </p:nvGraphicFramePr>
          <p:xfrm>
            <a:off x="3087" y="2540"/>
            <a:ext cx="362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5349" name="公式" r:id="rId6" imgW="221157" imgH="144977" progId="Equation.3">
                    <p:embed/>
                  </p:oleObj>
                </mc:Choice>
                <mc:Fallback>
                  <p:oleObj name="公式" r:id="rId6" imgW="221157" imgH="144977" progId="Equation.3">
                    <p:embed/>
                    <p:pic>
                      <p:nvPicPr>
                        <p:cNvPr id="155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7" y="2540"/>
                          <a:ext cx="362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6" name="Line 15"/>
            <p:cNvSpPr>
              <a:spLocks noChangeShapeType="1"/>
            </p:cNvSpPr>
            <p:nvPr/>
          </p:nvSpPr>
          <p:spPr bwMode="auto">
            <a:xfrm>
              <a:off x="800" y="2110"/>
              <a:ext cx="24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7" name="Rectangle 16"/>
            <p:cNvSpPr>
              <a:spLocks noChangeArrowheads="1"/>
            </p:cNvSpPr>
            <p:nvPr/>
          </p:nvSpPr>
          <p:spPr bwMode="auto">
            <a:xfrm>
              <a:off x="309" y="1945"/>
              <a:ext cx="50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zh-CN" sz="2800" b="1" ker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18V</a:t>
              </a:r>
            </a:p>
          </p:txBody>
        </p:sp>
      </p:grpSp>
      <p:sp>
        <p:nvSpPr>
          <p:cNvPr id="158" name="Freeform 17"/>
          <p:cNvSpPr>
            <a:spLocks/>
          </p:cNvSpPr>
          <p:nvPr/>
        </p:nvSpPr>
        <p:spPr bwMode="auto">
          <a:xfrm>
            <a:off x="2329300" y="3141842"/>
            <a:ext cx="3124200" cy="1241425"/>
          </a:xfrm>
          <a:custGeom>
            <a:avLst/>
            <a:gdLst>
              <a:gd name="T0" fmla="*/ 0 w 1968"/>
              <a:gd name="T1" fmla="*/ 2147483646 h 782"/>
              <a:gd name="T2" fmla="*/ 2147483646 w 1968"/>
              <a:gd name="T3" fmla="*/ 2147483646 h 782"/>
              <a:gd name="T4" fmla="*/ 2147483646 w 1968"/>
              <a:gd name="T5" fmla="*/ 2147483646 h 782"/>
              <a:gd name="T6" fmla="*/ 2147483646 w 1968"/>
              <a:gd name="T7" fmla="*/ 2147483646 h 782"/>
              <a:gd name="T8" fmla="*/ 2147483646 w 1968"/>
              <a:gd name="T9" fmla="*/ 2147483646 h 782"/>
              <a:gd name="T10" fmla="*/ 2147483646 w 1968"/>
              <a:gd name="T11" fmla="*/ 2147483646 h 782"/>
              <a:gd name="T12" fmla="*/ 2147483646 w 1968"/>
              <a:gd name="T13" fmla="*/ 2147483646 h 782"/>
              <a:gd name="T14" fmla="*/ 2147483646 w 1968"/>
              <a:gd name="T15" fmla="*/ 2147483646 h 782"/>
              <a:gd name="T16" fmla="*/ 2147483646 w 1968"/>
              <a:gd name="T17" fmla="*/ 2147483646 h 782"/>
              <a:gd name="T18" fmla="*/ 2147483646 w 1968"/>
              <a:gd name="T19" fmla="*/ 2147483646 h 782"/>
              <a:gd name="T20" fmla="*/ 2147483646 w 1968"/>
              <a:gd name="T21" fmla="*/ 2147483646 h 782"/>
              <a:gd name="T22" fmla="*/ 2147483646 w 1968"/>
              <a:gd name="T23" fmla="*/ 2147483646 h 782"/>
              <a:gd name="T24" fmla="*/ 2147483646 w 1968"/>
              <a:gd name="T25" fmla="*/ 2147483646 h 782"/>
              <a:gd name="T26" fmla="*/ 2147483646 w 1968"/>
              <a:gd name="T27" fmla="*/ 2147483646 h 782"/>
              <a:gd name="T28" fmla="*/ 2147483646 w 1968"/>
              <a:gd name="T29" fmla="*/ 2147483646 h 782"/>
              <a:gd name="T30" fmla="*/ 2147483646 w 1968"/>
              <a:gd name="T31" fmla="*/ 2147483646 h 782"/>
              <a:gd name="T32" fmla="*/ 2147483646 w 1968"/>
              <a:gd name="T33" fmla="*/ 2147483646 h 782"/>
              <a:gd name="T34" fmla="*/ 2147483646 w 1968"/>
              <a:gd name="T35" fmla="*/ 2147483646 h 782"/>
              <a:gd name="T36" fmla="*/ 2147483646 w 1968"/>
              <a:gd name="T37" fmla="*/ 2147483646 h 782"/>
              <a:gd name="T38" fmla="*/ 2147483646 w 1968"/>
              <a:gd name="T39" fmla="*/ 2147483646 h 782"/>
              <a:gd name="T40" fmla="*/ 2147483646 w 1968"/>
              <a:gd name="T41" fmla="*/ 2147483646 h 782"/>
              <a:gd name="T42" fmla="*/ 2147483646 w 1968"/>
              <a:gd name="T43" fmla="*/ 2147483646 h 782"/>
              <a:gd name="T44" fmla="*/ 2147483646 w 1968"/>
              <a:gd name="T45" fmla="*/ 2147483646 h 782"/>
              <a:gd name="T46" fmla="*/ 2147483646 w 1968"/>
              <a:gd name="T47" fmla="*/ 2147483646 h 782"/>
              <a:gd name="T48" fmla="*/ 2147483646 w 1968"/>
              <a:gd name="T49" fmla="*/ 2147483646 h 782"/>
              <a:gd name="T50" fmla="*/ 2147483646 w 1968"/>
              <a:gd name="T51" fmla="*/ 2147483646 h 782"/>
              <a:gd name="T52" fmla="*/ 2147483646 w 1968"/>
              <a:gd name="T53" fmla="*/ 2147483646 h 782"/>
              <a:gd name="T54" fmla="*/ 2147483646 w 1968"/>
              <a:gd name="T55" fmla="*/ 2147483646 h 782"/>
              <a:gd name="T56" fmla="*/ 2147483646 w 1968"/>
              <a:gd name="T57" fmla="*/ 2147483646 h 782"/>
              <a:gd name="T58" fmla="*/ 2147483646 w 1968"/>
              <a:gd name="T59" fmla="*/ 2147483646 h 782"/>
              <a:gd name="T60" fmla="*/ 2147483646 w 1968"/>
              <a:gd name="T61" fmla="*/ 2147483646 h 782"/>
              <a:gd name="T62" fmla="*/ 2147483646 w 1968"/>
              <a:gd name="T63" fmla="*/ 2147483646 h 782"/>
              <a:gd name="T64" fmla="*/ 2147483646 w 1968"/>
              <a:gd name="T65" fmla="*/ 2147483646 h 782"/>
              <a:gd name="T66" fmla="*/ 2147483646 w 1968"/>
              <a:gd name="T67" fmla="*/ 2147483646 h 782"/>
              <a:gd name="T68" fmla="*/ 2147483646 w 1968"/>
              <a:gd name="T69" fmla="*/ 2147483646 h 782"/>
              <a:gd name="T70" fmla="*/ 2147483646 w 1968"/>
              <a:gd name="T71" fmla="*/ 2147483646 h 782"/>
              <a:gd name="T72" fmla="*/ 2147483646 w 1968"/>
              <a:gd name="T73" fmla="*/ 2147483646 h 782"/>
              <a:gd name="T74" fmla="*/ 2147483646 w 1968"/>
              <a:gd name="T75" fmla="*/ 2147483646 h 782"/>
              <a:gd name="T76" fmla="*/ 2147483646 w 1968"/>
              <a:gd name="T77" fmla="*/ 2147483646 h 782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1968" h="782">
                <a:moveTo>
                  <a:pt x="0" y="268"/>
                </a:moveTo>
                <a:cubicBezTo>
                  <a:pt x="11" y="238"/>
                  <a:pt x="53" y="119"/>
                  <a:pt x="68" y="89"/>
                </a:cubicBezTo>
                <a:cubicBezTo>
                  <a:pt x="83" y="59"/>
                  <a:pt x="75" y="86"/>
                  <a:pt x="88" y="85"/>
                </a:cubicBezTo>
                <a:cubicBezTo>
                  <a:pt x="101" y="84"/>
                  <a:pt x="135" y="86"/>
                  <a:pt x="148" y="85"/>
                </a:cubicBezTo>
                <a:cubicBezTo>
                  <a:pt x="161" y="84"/>
                  <a:pt x="161" y="81"/>
                  <a:pt x="168" y="81"/>
                </a:cubicBezTo>
                <a:cubicBezTo>
                  <a:pt x="175" y="81"/>
                  <a:pt x="185" y="84"/>
                  <a:pt x="192" y="85"/>
                </a:cubicBezTo>
                <a:cubicBezTo>
                  <a:pt x="199" y="86"/>
                  <a:pt x="197" y="85"/>
                  <a:pt x="208" y="85"/>
                </a:cubicBezTo>
                <a:cubicBezTo>
                  <a:pt x="219" y="85"/>
                  <a:pt x="238" y="85"/>
                  <a:pt x="256" y="85"/>
                </a:cubicBezTo>
                <a:cubicBezTo>
                  <a:pt x="274" y="85"/>
                  <a:pt x="311" y="85"/>
                  <a:pt x="316" y="85"/>
                </a:cubicBezTo>
                <a:cubicBezTo>
                  <a:pt x="321" y="85"/>
                  <a:pt x="285" y="85"/>
                  <a:pt x="288" y="85"/>
                </a:cubicBezTo>
                <a:cubicBezTo>
                  <a:pt x="291" y="85"/>
                  <a:pt x="327" y="84"/>
                  <a:pt x="336" y="85"/>
                </a:cubicBezTo>
                <a:cubicBezTo>
                  <a:pt x="345" y="86"/>
                  <a:pt x="335" y="91"/>
                  <a:pt x="340" y="92"/>
                </a:cubicBezTo>
                <a:cubicBezTo>
                  <a:pt x="345" y="93"/>
                  <a:pt x="365" y="91"/>
                  <a:pt x="368" y="89"/>
                </a:cubicBezTo>
                <a:cubicBezTo>
                  <a:pt x="371" y="87"/>
                  <a:pt x="360" y="83"/>
                  <a:pt x="360" y="81"/>
                </a:cubicBezTo>
                <a:cubicBezTo>
                  <a:pt x="360" y="79"/>
                  <a:pt x="370" y="78"/>
                  <a:pt x="368" y="77"/>
                </a:cubicBezTo>
                <a:cubicBezTo>
                  <a:pt x="366" y="76"/>
                  <a:pt x="349" y="77"/>
                  <a:pt x="348" y="77"/>
                </a:cubicBezTo>
                <a:cubicBezTo>
                  <a:pt x="347" y="77"/>
                  <a:pt x="358" y="75"/>
                  <a:pt x="360" y="77"/>
                </a:cubicBezTo>
                <a:cubicBezTo>
                  <a:pt x="362" y="79"/>
                  <a:pt x="356" y="88"/>
                  <a:pt x="360" y="89"/>
                </a:cubicBezTo>
                <a:cubicBezTo>
                  <a:pt x="364" y="90"/>
                  <a:pt x="376" y="80"/>
                  <a:pt x="384" y="81"/>
                </a:cubicBezTo>
                <a:cubicBezTo>
                  <a:pt x="392" y="82"/>
                  <a:pt x="398" y="76"/>
                  <a:pt x="408" y="93"/>
                </a:cubicBezTo>
                <a:cubicBezTo>
                  <a:pt x="418" y="110"/>
                  <a:pt x="431" y="149"/>
                  <a:pt x="444" y="181"/>
                </a:cubicBezTo>
                <a:cubicBezTo>
                  <a:pt x="457" y="213"/>
                  <a:pt x="449" y="206"/>
                  <a:pt x="484" y="285"/>
                </a:cubicBezTo>
                <a:cubicBezTo>
                  <a:pt x="519" y="364"/>
                  <a:pt x="604" y="590"/>
                  <a:pt x="656" y="657"/>
                </a:cubicBezTo>
                <a:cubicBezTo>
                  <a:pt x="708" y="724"/>
                  <a:pt x="727" y="782"/>
                  <a:pt x="796" y="689"/>
                </a:cubicBezTo>
                <a:cubicBezTo>
                  <a:pt x="865" y="596"/>
                  <a:pt x="1023" y="202"/>
                  <a:pt x="1072" y="101"/>
                </a:cubicBezTo>
                <a:cubicBezTo>
                  <a:pt x="1121" y="0"/>
                  <a:pt x="1087" y="84"/>
                  <a:pt x="1092" y="81"/>
                </a:cubicBezTo>
                <a:cubicBezTo>
                  <a:pt x="1097" y="78"/>
                  <a:pt x="1088" y="84"/>
                  <a:pt x="1100" y="85"/>
                </a:cubicBezTo>
                <a:cubicBezTo>
                  <a:pt x="1112" y="86"/>
                  <a:pt x="1151" y="85"/>
                  <a:pt x="1164" y="85"/>
                </a:cubicBezTo>
                <a:cubicBezTo>
                  <a:pt x="1177" y="85"/>
                  <a:pt x="1173" y="85"/>
                  <a:pt x="1180" y="85"/>
                </a:cubicBezTo>
                <a:cubicBezTo>
                  <a:pt x="1187" y="85"/>
                  <a:pt x="1199" y="85"/>
                  <a:pt x="1208" y="85"/>
                </a:cubicBezTo>
                <a:cubicBezTo>
                  <a:pt x="1217" y="85"/>
                  <a:pt x="1227" y="85"/>
                  <a:pt x="1236" y="85"/>
                </a:cubicBezTo>
                <a:cubicBezTo>
                  <a:pt x="1245" y="85"/>
                  <a:pt x="1255" y="85"/>
                  <a:pt x="1264" y="85"/>
                </a:cubicBezTo>
                <a:cubicBezTo>
                  <a:pt x="1273" y="85"/>
                  <a:pt x="1279" y="85"/>
                  <a:pt x="1288" y="85"/>
                </a:cubicBezTo>
                <a:cubicBezTo>
                  <a:pt x="1297" y="85"/>
                  <a:pt x="1302" y="85"/>
                  <a:pt x="1316" y="85"/>
                </a:cubicBezTo>
                <a:cubicBezTo>
                  <a:pt x="1330" y="85"/>
                  <a:pt x="1357" y="74"/>
                  <a:pt x="1372" y="85"/>
                </a:cubicBezTo>
                <a:cubicBezTo>
                  <a:pt x="1387" y="96"/>
                  <a:pt x="1385" y="99"/>
                  <a:pt x="1408" y="153"/>
                </a:cubicBezTo>
                <a:cubicBezTo>
                  <a:pt x="1431" y="207"/>
                  <a:pt x="1461" y="315"/>
                  <a:pt x="1512" y="412"/>
                </a:cubicBezTo>
                <a:cubicBezTo>
                  <a:pt x="1563" y="509"/>
                  <a:pt x="1640" y="756"/>
                  <a:pt x="1716" y="736"/>
                </a:cubicBezTo>
                <a:cubicBezTo>
                  <a:pt x="1792" y="716"/>
                  <a:pt x="1916" y="384"/>
                  <a:pt x="1968" y="292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kumimoji="1" lang="zh-CN" altLang="en-US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9" name="AutoShape 21"/>
          <p:cNvSpPr>
            <a:spLocks noChangeArrowheads="1"/>
          </p:cNvSpPr>
          <p:nvPr/>
        </p:nvSpPr>
        <p:spPr bwMode="auto">
          <a:xfrm>
            <a:off x="10480848" y="3679304"/>
            <a:ext cx="1447800" cy="685800"/>
          </a:xfrm>
          <a:prstGeom prst="wedgeRoundRectCallout">
            <a:avLst>
              <a:gd name="adj1" fmla="val -39554"/>
              <a:gd name="adj2" fmla="val -139666"/>
              <a:gd name="adj3" fmla="val 16667"/>
            </a:avLst>
          </a:prstGeom>
          <a:solidFill>
            <a:srgbClr val="FFFFCC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参考点</a:t>
            </a:r>
          </a:p>
        </p:txBody>
      </p:sp>
      <p:sp>
        <p:nvSpPr>
          <p:cNvPr id="160" name="Text Box 22"/>
          <p:cNvSpPr txBox="1">
            <a:spLocks noChangeArrowheads="1"/>
          </p:cNvSpPr>
          <p:nvPr/>
        </p:nvSpPr>
        <p:spPr bwMode="auto">
          <a:xfrm>
            <a:off x="2089587" y="4768410"/>
            <a:ext cx="4419600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二极管阴极电位为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V</a:t>
            </a:r>
            <a:endParaRPr kumimoji="1" lang="en-US" altLang="zh-CN" sz="2800" b="1" i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61" name="Group 23"/>
          <p:cNvGrpSpPr>
            <a:grpSpLocks/>
          </p:cNvGrpSpPr>
          <p:nvPr/>
        </p:nvGrpSpPr>
        <p:grpSpPr bwMode="auto">
          <a:xfrm>
            <a:off x="8994418" y="985317"/>
            <a:ext cx="2538413" cy="2017713"/>
            <a:chOff x="797" y="144"/>
            <a:chExt cx="1599" cy="1271"/>
          </a:xfrm>
        </p:grpSpPr>
        <p:sp>
          <p:nvSpPr>
            <p:cNvPr id="162" name="Line 24"/>
            <p:cNvSpPr>
              <a:spLocks noChangeShapeType="1"/>
            </p:cNvSpPr>
            <p:nvPr/>
          </p:nvSpPr>
          <p:spPr bwMode="auto">
            <a:xfrm>
              <a:off x="864" y="1392"/>
              <a:ext cx="139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" name="Line 25"/>
            <p:cNvSpPr>
              <a:spLocks noChangeShapeType="1"/>
            </p:cNvSpPr>
            <p:nvPr/>
          </p:nvSpPr>
          <p:spPr bwMode="auto">
            <a:xfrm rot="5400000" flipV="1">
              <a:off x="1825" y="114"/>
              <a:ext cx="0" cy="76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64" name="Group 26"/>
            <p:cNvGrpSpPr>
              <a:grpSpLocks/>
            </p:cNvGrpSpPr>
            <p:nvPr/>
          </p:nvGrpSpPr>
          <p:grpSpPr bwMode="auto">
            <a:xfrm rot="5400000">
              <a:off x="1697" y="679"/>
              <a:ext cx="196" cy="188"/>
              <a:chOff x="1264" y="918"/>
              <a:chExt cx="223" cy="214"/>
            </a:xfrm>
          </p:grpSpPr>
          <p:sp>
            <p:nvSpPr>
              <p:cNvPr id="187" name="Line 27"/>
              <p:cNvSpPr>
                <a:spLocks noChangeShapeType="1"/>
              </p:cNvSpPr>
              <p:nvPr/>
            </p:nvSpPr>
            <p:spPr bwMode="auto">
              <a:xfrm rot="5400000" flipH="1">
                <a:off x="1369" y="1025"/>
                <a:ext cx="214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en-US" sz="1800" ker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8" name="AutoShape 28"/>
              <p:cNvSpPr>
                <a:spLocks noChangeArrowheads="1"/>
              </p:cNvSpPr>
              <p:nvPr/>
            </p:nvSpPr>
            <p:spPr bwMode="auto">
              <a:xfrm rot="5400000">
                <a:off x="1269" y="913"/>
                <a:ext cx="214" cy="223"/>
              </a:xfrm>
              <a:prstGeom prst="triangle">
                <a:avLst>
                  <a:gd name="adj" fmla="val 50000"/>
                </a:avLst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65" name="Text Box 29"/>
            <p:cNvSpPr txBox="1">
              <a:spLocks noChangeArrowheads="1"/>
            </p:cNvSpPr>
            <p:nvPr/>
          </p:nvSpPr>
          <p:spPr bwMode="auto">
            <a:xfrm>
              <a:off x="1426" y="595"/>
              <a:ext cx="2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grpSp>
          <p:nvGrpSpPr>
            <p:cNvPr id="166" name="Group 30"/>
            <p:cNvGrpSpPr>
              <a:grpSpLocks/>
            </p:cNvGrpSpPr>
            <p:nvPr/>
          </p:nvGrpSpPr>
          <p:grpSpPr bwMode="auto">
            <a:xfrm flipV="1">
              <a:off x="1696" y="997"/>
              <a:ext cx="224" cy="188"/>
              <a:chOff x="432" y="1296"/>
              <a:chExt cx="288" cy="288"/>
            </a:xfrm>
          </p:grpSpPr>
          <p:sp>
            <p:nvSpPr>
              <p:cNvPr id="183" name="Line 31"/>
              <p:cNvSpPr>
                <a:spLocks noChangeShapeType="1"/>
              </p:cNvSpPr>
              <p:nvPr/>
            </p:nvSpPr>
            <p:spPr bwMode="auto">
              <a:xfrm>
                <a:off x="480" y="1296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en-US" sz="1800" ker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" name="Line 32"/>
              <p:cNvSpPr>
                <a:spLocks noChangeShapeType="1"/>
              </p:cNvSpPr>
              <p:nvPr/>
            </p:nvSpPr>
            <p:spPr bwMode="auto">
              <a:xfrm>
                <a:off x="432" y="1392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en-US" sz="1800" ker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5" name="Line 33"/>
              <p:cNvSpPr>
                <a:spLocks noChangeShapeType="1"/>
              </p:cNvSpPr>
              <p:nvPr/>
            </p:nvSpPr>
            <p:spPr bwMode="auto">
              <a:xfrm>
                <a:off x="480" y="1488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en-US" sz="1800" ker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6" name="Line 34"/>
              <p:cNvSpPr>
                <a:spLocks noChangeShapeType="1"/>
              </p:cNvSpPr>
              <p:nvPr/>
            </p:nvSpPr>
            <p:spPr bwMode="auto">
              <a:xfrm>
                <a:off x="432" y="1584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en-US" sz="1800" ker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7" name="Rectangle 35"/>
            <p:cNvSpPr>
              <a:spLocks noChangeArrowheads="1"/>
            </p:cNvSpPr>
            <p:nvPr/>
          </p:nvSpPr>
          <p:spPr bwMode="auto">
            <a:xfrm rot="5400000">
              <a:off x="1240" y="356"/>
              <a:ext cx="120" cy="27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endParaRPr kumimoji="1" lang="zh-CN" altLang="zh-CN" sz="1800" b="1" kern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8" name="Line 36"/>
            <p:cNvSpPr>
              <a:spLocks noChangeShapeType="1"/>
            </p:cNvSpPr>
            <p:nvPr/>
          </p:nvSpPr>
          <p:spPr bwMode="auto">
            <a:xfrm flipH="1">
              <a:off x="1792" y="491"/>
              <a:ext cx="0" cy="50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9" name="Line 37"/>
            <p:cNvSpPr>
              <a:spLocks noChangeShapeType="1"/>
            </p:cNvSpPr>
            <p:nvPr/>
          </p:nvSpPr>
          <p:spPr bwMode="auto">
            <a:xfrm>
              <a:off x="1792" y="1193"/>
              <a:ext cx="0" cy="1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0" name="Text Box 38"/>
            <p:cNvSpPr txBox="1">
              <a:spLocks noChangeArrowheads="1"/>
            </p:cNvSpPr>
            <p:nvPr/>
          </p:nvSpPr>
          <p:spPr bwMode="auto">
            <a:xfrm>
              <a:off x="1324" y="956"/>
              <a:ext cx="35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8V</a:t>
              </a:r>
            </a:p>
          </p:txBody>
        </p:sp>
        <p:sp>
          <p:nvSpPr>
            <p:cNvPr id="171" name="Text Box 39"/>
            <p:cNvSpPr txBox="1">
              <a:spLocks noChangeArrowheads="1"/>
            </p:cNvSpPr>
            <p:nvPr/>
          </p:nvSpPr>
          <p:spPr bwMode="auto">
            <a:xfrm>
              <a:off x="1190" y="144"/>
              <a:ext cx="24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b="1" i="1" kern="0" dirty="0">
                  <a:solidFill>
                    <a:srgbClr val="00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172" name="Text Box 40"/>
            <p:cNvSpPr txBox="1">
              <a:spLocks noChangeArrowheads="1"/>
            </p:cNvSpPr>
            <p:nvPr/>
          </p:nvSpPr>
          <p:spPr bwMode="auto">
            <a:xfrm>
              <a:off x="2078" y="720"/>
              <a:ext cx="31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2800" b="1" i="1" kern="0" dirty="0" err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2800" b="1" kern="0" baseline="-25000" dirty="0" err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kumimoji="1" lang="en-US" altLang="zh-CN" sz="2800" b="1" kern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3" name="Text Box 41"/>
            <p:cNvSpPr txBox="1">
              <a:spLocks noChangeArrowheads="1"/>
            </p:cNvSpPr>
            <p:nvPr/>
          </p:nvSpPr>
          <p:spPr bwMode="auto">
            <a:xfrm>
              <a:off x="797" y="768"/>
              <a:ext cx="2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2800" b="1" i="1" kern="0" dirty="0" err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kumimoji="1" lang="en-US" altLang="zh-CN" sz="2800" b="1" kern="0" baseline="-25000" dirty="0" err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kumimoji="1" lang="en-US" altLang="zh-CN" sz="2800" b="1" kern="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" name="Text Box 42"/>
            <p:cNvSpPr txBox="1">
              <a:spLocks noChangeArrowheads="1"/>
            </p:cNvSpPr>
            <p:nvPr/>
          </p:nvSpPr>
          <p:spPr bwMode="auto">
            <a:xfrm>
              <a:off x="811" y="494"/>
              <a:ext cx="25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1800" b="1" kern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</a:p>
          </p:txBody>
        </p:sp>
        <p:sp>
          <p:nvSpPr>
            <p:cNvPr id="175" name="Text Box 43"/>
            <p:cNvSpPr txBox="1">
              <a:spLocks noChangeArrowheads="1"/>
            </p:cNvSpPr>
            <p:nvPr/>
          </p:nvSpPr>
          <p:spPr bwMode="auto">
            <a:xfrm>
              <a:off x="2120" y="480"/>
              <a:ext cx="25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1800" b="1" kern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</a:p>
          </p:txBody>
        </p:sp>
        <p:sp>
          <p:nvSpPr>
            <p:cNvPr id="176" name="Text Box 44"/>
            <p:cNvSpPr txBox="1">
              <a:spLocks noChangeArrowheads="1"/>
            </p:cNvSpPr>
            <p:nvPr/>
          </p:nvSpPr>
          <p:spPr bwMode="auto">
            <a:xfrm>
              <a:off x="811" y="1092"/>
              <a:ext cx="25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1800" b="1" kern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</a:p>
          </p:txBody>
        </p:sp>
        <p:sp>
          <p:nvSpPr>
            <p:cNvPr id="177" name="Text Box 45"/>
            <p:cNvSpPr txBox="1">
              <a:spLocks noChangeArrowheads="1"/>
            </p:cNvSpPr>
            <p:nvPr/>
          </p:nvSpPr>
          <p:spPr bwMode="auto">
            <a:xfrm>
              <a:off x="2077" y="1092"/>
              <a:ext cx="25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1800" b="1" kern="0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–</a:t>
              </a:r>
            </a:p>
          </p:txBody>
        </p:sp>
        <p:sp>
          <p:nvSpPr>
            <p:cNvPr id="178" name="Line 46"/>
            <p:cNvSpPr>
              <a:spLocks noChangeShapeType="1"/>
            </p:cNvSpPr>
            <p:nvPr/>
          </p:nvSpPr>
          <p:spPr bwMode="auto">
            <a:xfrm>
              <a:off x="853" y="494"/>
              <a:ext cx="29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1" lang="zh-CN" altLang="en-US" sz="1800" ker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9" name="Oval 47"/>
            <p:cNvSpPr>
              <a:spLocks noChangeArrowheads="1"/>
            </p:cNvSpPr>
            <p:nvPr/>
          </p:nvSpPr>
          <p:spPr bwMode="auto">
            <a:xfrm>
              <a:off x="816" y="457"/>
              <a:ext cx="48" cy="71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80" name="Oval 48"/>
            <p:cNvSpPr>
              <a:spLocks noChangeArrowheads="1"/>
            </p:cNvSpPr>
            <p:nvPr/>
          </p:nvSpPr>
          <p:spPr bwMode="auto">
            <a:xfrm>
              <a:off x="816" y="1344"/>
              <a:ext cx="48" cy="71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81" name="Oval 49"/>
            <p:cNvSpPr>
              <a:spLocks noChangeArrowheads="1"/>
            </p:cNvSpPr>
            <p:nvPr/>
          </p:nvSpPr>
          <p:spPr bwMode="auto">
            <a:xfrm>
              <a:off x="2208" y="455"/>
              <a:ext cx="48" cy="71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  <p:sp>
          <p:nvSpPr>
            <p:cNvPr id="182" name="Oval 50"/>
            <p:cNvSpPr>
              <a:spLocks noChangeArrowheads="1"/>
            </p:cNvSpPr>
            <p:nvPr/>
          </p:nvSpPr>
          <p:spPr bwMode="auto">
            <a:xfrm>
              <a:off x="2230" y="1342"/>
              <a:ext cx="48" cy="71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grpSp>
        <p:nvGrpSpPr>
          <p:cNvPr id="189" name="Group 51"/>
          <p:cNvGrpSpPr>
            <a:grpSpLocks/>
          </p:cNvGrpSpPr>
          <p:nvPr/>
        </p:nvGrpSpPr>
        <p:grpSpPr bwMode="auto">
          <a:xfrm>
            <a:off x="10448568" y="2926830"/>
            <a:ext cx="252412" cy="268287"/>
            <a:chOff x="1713" y="1367"/>
            <a:chExt cx="159" cy="169"/>
          </a:xfrm>
        </p:grpSpPr>
        <p:grpSp>
          <p:nvGrpSpPr>
            <p:cNvPr id="190" name="Group 52"/>
            <p:cNvGrpSpPr>
              <a:grpSpLocks/>
            </p:cNvGrpSpPr>
            <p:nvPr/>
          </p:nvGrpSpPr>
          <p:grpSpPr bwMode="auto">
            <a:xfrm>
              <a:off x="1713" y="1392"/>
              <a:ext cx="159" cy="144"/>
              <a:chOff x="1702" y="1392"/>
              <a:chExt cx="159" cy="144"/>
            </a:xfrm>
          </p:grpSpPr>
          <p:sp>
            <p:nvSpPr>
              <p:cNvPr id="192" name="Line 53"/>
              <p:cNvSpPr>
                <a:spLocks noChangeShapeType="1"/>
              </p:cNvSpPr>
              <p:nvPr/>
            </p:nvSpPr>
            <p:spPr bwMode="auto">
              <a:xfrm>
                <a:off x="1702" y="1536"/>
                <a:ext cx="159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en-US" sz="1800" ker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3" name="Line 54"/>
              <p:cNvSpPr>
                <a:spLocks noChangeShapeType="1"/>
              </p:cNvSpPr>
              <p:nvPr/>
            </p:nvSpPr>
            <p:spPr bwMode="auto">
              <a:xfrm>
                <a:off x="1776" y="1392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zh-CN" altLang="en-US" sz="1800" ker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91" name="Oval 55"/>
            <p:cNvSpPr>
              <a:spLocks noChangeArrowheads="1"/>
            </p:cNvSpPr>
            <p:nvPr/>
          </p:nvSpPr>
          <p:spPr bwMode="auto">
            <a:xfrm>
              <a:off x="1752" y="1367"/>
              <a:ext cx="48" cy="48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000000"/>
                </a:solidFill>
              </a:endParaRPr>
            </a:p>
          </p:txBody>
        </p:sp>
      </p:grpSp>
      <p:sp>
        <p:nvSpPr>
          <p:cNvPr id="53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Arial"/>
              </a:rPr>
              <a:t>4.0  </a:t>
            </a:r>
            <a:r>
              <a:rPr lang="zh-CN" altLang="en-US" sz="3200" b="1" dirty="0">
                <a:solidFill>
                  <a:srgbClr val="0000FF"/>
                </a:solidFill>
                <a:latin typeface="Arial"/>
              </a:rPr>
              <a:t>二极管电路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55" name="Text Box 5">
            <a:extLst>
              <a:ext uri="{FF2B5EF4-FFF2-40B4-BE49-F238E27FC236}">
                <a16:creationId xmlns:a16="http://schemas.microsoft.com/office/drawing/2014/main" id="{2CC57EB7-8A70-472E-9126-4982E93A4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22" y="892284"/>
            <a:ext cx="9746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800" b="1" kern="0" dirty="0">
                <a:solidFill>
                  <a:srgbClr val="0000FF"/>
                </a:solidFill>
              </a:rPr>
              <a:t>例</a:t>
            </a:r>
            <a:r>
              <a:rPr lang="en-US" altLang="zh-CN" sz="2800" b="1" kern="0" dirty="0">
                <a:solidFill>
                  <a:srgbClr val="0000FF"/>
                </a:solidFill>
              </a:rPr>
              <a:t>4</a:t>
            </a:r>
            <a:r>
              <a:rPr lang="zh-CN" altLang="en-US" sz="2800" b="1" kern="0" dirty="0">
                <a:solidFill>
                  <a:srgbClr val="0000FF"/>
                </a:solidFill>
              </a:rPr>
              <a:t>：</a:t>
            </a:r>
            <a:endParaRPr lang="en-US" altLang="zh-CN" sz="2800" b="1" kern="0" dirty="0">
              <a:solidFill>
                <a:srgbClr val="0000FF"/>
              </a:solidFill>
            </a:endParaRPr>
          </a:p>
        </p:txBody>
      </p:sp>
      <p:sp>
        <p:nvSpPr>
          <p:cNvPr id="56" name="Rectangle 5">
            <a:extLst>
              <a:ext uri="{FF2B5EF4-FFF2-40B4-BE49-F238E27FC236}">
                <a16:creationId xmlns:a16="http://schemas.microsoft.com/office/drawing/2014/main" id="{85692641-E918-40D9-AAAC-C79E04395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1916832"/>
            <a:ext cx="7920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</a:p>
        </p:txBody>
      </p:sp>
    </p:spTree>
    <p:extLst>
      <p:ext uri="{BB962C8B-B14F-4D97-AF65-F5344CB8AC3E}">
        <p14:creationId xmlns:p14="http://schemas.microsoft.com/office/powerpoint/2010/main" val="370583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 autoUpdateAnimBg="0"/>
      <p:bldP spid="148" grpId="0" autoUpdateAnimBg="0"/>
      <p:bldP spid="159" grpId="0" animBg="1" autoUpdateAnimBg="0"/>
      <p:bldP spid="160" grpId="0" autoUpdateAnimBg="0"/>
      <p:bldP spid="5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359150" y="90489"/>
            <a:ext cx="5651500" cy="746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第四章  非线性电阻电路分析</a:t>
            </a:r>
            <a:endParaRPr lang="en-US" altLang="zh-CN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1343472" y="980728"/>
            <a:ext cx="7974906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449263" marR="0" lvl="0" indent="-449263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/>
                <a:ea typeface="华文中宋" panose="02010600040101010101" pitchFamily="2" charset="-122"/>
                <a:cs typeface="+mn-cs"/>
              </a:rPr>
              <a:t>4.0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/>
                <a:ea typeface="华文中宋" panose="02010600040101010101" pitchFamily="2" charset="-122"/>
                <a:cs typeface="+mn-cs"/>
              </a:rPr>
              <a:t>二极管电路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Arial"/>
              <a:ea typeface="华文中宋" panose="02010600040101010101" pitchFamily="2" charset="-122"/>
              <a:cs typeface="+mn-cs"/>
            </a:endParaRPr>
          </a:p>
          <a:p>
            <a:pPr marL="449263" marR="0" lvl="0" indent="-449263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rial"/>
                <a:ea typeface="华文中宋" panose="02010600040101010101" pitchFamily="2" charset="-122"/>
                <a:cs typeface="+mn-cs"/>
              </a:rPr>
              <a:t>4.1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rial"/>
                <a:ea typeface="华文中宋" panose="02010600040101010101" pitchFamily="2" charset="-122"/>
                <a:cs typeface="+mn-cs"/>
              </a:rPr>
              <a:t>非线性电阻元件的特性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CC99"/>
              </a:solidFill>
              <a:effectLst/>
              <a:uLnTx/>
              <a:uFillTx/>
              <a:latin typeface="Arial"/>
              <a:ea typeface="华文中宋" panose="02010600040101010101" pitchFamily="2" charset="-122"/>
              <a:cs typeface="+mn-cs"/>
            </a:endParaRPr>
          </a:p>
          <a:p>
            <a:pPr marL="449263" marR="0" lvl="0" indent="-449263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rial"/>
                <a:ea typeface="华文中宋" panose="02010600040101010101" pitchFamily="2" charset="-122"/>
                <a:cs typeface="+mn-cs"/>
              </a:rPr>
              <a:t>4.2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rial"/>
                <a:ea typeface="华文中宋" panose="02010600040101010101" pitchFamily="2" charset="-122"/>
                <a:cs typeface="+mn-cs"/>
              </a:rPr>
              <a:t>非线性电阻电路的方程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CC99"/>
              </a:solidFill>
              <a:effectLst/>
              <a:uLnTx/>
              <a:uFillTx/>
              <a:latin typeface="Arial"/>
              <a:ea typeface="华文中宋" panose="02010600040101010101" pitchFamily="2" charset="-122"/>
              <a:cs typeface="+mn-cs"/>
            </a:endParaRPr>
          </a:p>
          <a:p>
            <a:pPr marL="449263" marR="0" lvl="0" indent="-449263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rial"/>
                <a:ea typeface="华文中宋" panose="02010600040101010101" pitchFamily="2" charset="-122"/>
                <a:cs typeface="+mn-cs"/>
              </a:rPr>
              <a:t>4.3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rial"/>
                <a:ea typeface="华文中宋" panose="02010600040101010101" pitchFamily="2" charset="-122"/>
                <a:cs typeface="+mn-cs"/>
              </a:rPr>
              <a:t>图解分析法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CC99"/>
              </a:solidFill>
              <a:effectLst/>
              <a:uLnTx/>
              <a:uFillTx/>
              <a:latin typeface="Arial"/>
              <a:ea typeface="华文中宋" panose="02010600040101010101" pitchFamily="2" charset="-122"/>
              <a:cs typeface="+mn-cs"/>
            </a:endParaRPr>
          </a:p>
          <a:p>
            <a:pPr marL="449263" marR="0" lvl="0" indent="-449263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rial"/>
                <a:ea typeface="华文中宋" panose="02010600040101010101" pitchFamily="2" charset="-122"/>
                <a:cs typeface="+mn-cs"/>
              </a:rPr>
              <a:t>4.4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rial"/>
                <a:ea typeface="华文中宋" panose="02010600040101010101" pitchFamily="2" charset="-122"/>
                <a:cs typeface="+mn-cs"/>
              </a:rPr>
              <a:t>小信号分析法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CC99"/>
              </a:solidFill>
              <a:effectLst/>
              <a:uLnTx/>
              <a:uFillTx/>
              <a:latin typeface="Arial"/>
              <a:ea typeface="华文中宋" panose="02010600040101010101" pitchFamily="2" charset="-122"/>
              <a:cs typeface="+mn-cs"/>
            </a:endParaRPr>
          </a:p>
          <a:p>
            <a:pPr marL="449263" marR="0" lvl="0" indent="-449263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rial"/>
                <a:ea typeface="华文中宋" panose="02010600040101010101" pitchFamily="2" charset="-122"/>
                <a:cs typeface="+mn-cs"/>
              </a:rPr>
              <a:t>4.5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rial"/>
                <a:ea typeface="华文中宋" panose="02010600040101010101" pitchFamily="2" charset="-122"/>
                <a:cs typeface="+mn-cs"/>
              </a:rPr>
              <a:t>分段线性分析法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CC99"/>
              </a:solidFill>
              <a:effectLst/>
              <a:uLnTx/>
              <a:uFillTx/>
              <a:latin typeface="Arial"/>
              <a:ea typeface="华文中宋" panose="02010600040101010101" pitchFamily="2" charset="-122"/>
              <a:cs typeface="+mn-cs"/>
            </a:endParaRPr>
          </a:p>
          <a:p>
            <a:pPr marL="449263" marR="0" lvl="0" indent="-449263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rial"/>
                <a:ea typeface="华文中宋" panose="02010600040101010101" pitchFamily="2" charset="-122"/>
                <a:cs typeface="+mn-cs"/>
              </a:rPr>
              <a:t>4.6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rial"/>
                <a:ea typeface="华文中宋" panose="02010600040101010101" pitchFamily="2" charset="-122"/>
                <a:cs typeface="+mn-cs"/>
              </a:rPr>
              <a:t>数值分析法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CC99"/>
              </a:solidFill>
              <a:effectLst/>
              <a:uLnTx/>
              <a:uFillTx/>
              <a:latin typeface="Arial"/>
              <a:ea typeface="华文中宋" panose="02010600040101010101" pitchFamily="2" charset="-122"/>
              <a:cs typeface="+mn-cs"/>
            </a:endParaRPr>
          </a:p>
          <a:p>
            <a:pPr marL="449263" marR="0" lvl="0" indent="-449263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rial"/>
                <a:ea typeface="华文中宋" panose="02010600040101010101" pitchFamily="2" charset="-122"/>
                <a:cs typeface="+mn-cs"/>
              </a:rPr>
              <a:t>4.7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rial"/>
                <a:ea typeface="华文中宋" panose="02010600040101010101" pitchFamily="2" charset="-122"/>
                <a:cs typeface="+mn-cs"/>
              </a:rPr>
              <a:t>应用实例：温度测量与控制电路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CC99"/>
              </a:solidFill>
              <a:effectLst/>
              <a:uLnTx/>
              <a:uFillTx/>
              <a:latin typeface="Arial"/>
              <a:ea typeface="华文中宋" panose="02010600040101010101" pitchFamily="2" charset="-122"/>
              <a:cs typeface="+mn-cs"/>
            </a:endParaRPr>
          </a:p>
          <a:p>
            <a:pPr marL="449263" marR="0" lvl="0" indent="-449263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rial"/>
                <a:ea typeface="华文中宋" panose="02010600040101010101" pitchFamily="2" charset="-122"/>
                <a:cs typeface="+mn-cs"/>
              </a:rPr>
              <a:t>4.8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CC99"/>
                </a:solidFill>
                <a:effectLst/>
                <a:uLnTx/>
                <a:uFillTx/>
                <a:latin typeface="Arial"/>
                <a:ea typeface="华文中宋" panose="02010600040101010101" pitchFamily="2" charset="-122"/>
                <a:cs typeface="+mn-cs"/>
              </a:rPr>
              <a:t>应用实例：简易酸奶机电路</a:t>
            </a:r>
          </a:p>
        </p:txBody>
      </p:sp>
      <p:sp>
        <p:nvSpPr>
          <p:cNvPr id="7" name="Rectangle 1027"/>
          <p:cNvSpPr txBox="1">
            <a:spLocks noChangeArrowheads="1"/>
          </p:cNvSpPr>
          <p:nvPr/>
        </p:nvSpPr>
        <p:spPr bwMode="auto">
          <a:xfrm>
            <a:off x="4277818" y="1052736"/>
            <a:ext cx="1922578" cy="504000"/>
          </a:xfrm>
          <a:prstGeom prst="rect">
            <a:avLst/>
          </a:prstGeom>
          <a:pattFill prst="smConfetti">
            <a:fgClr>
              <a:schemeClr val="accent1"/>
            </a:fgClr>
            <a:bgClr>
              <a:schemeClr val="bg1"/>
            </a:bgClr>
          </a:patt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pPr marL="0" marR="0" lvl="1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补充内容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4" r="9827" b="2801"/>
          <a:stretch/>
        </p:blipFill>
        <p:spPr>
          <a:xfrm flipH="1">
            <a:off x="8435286" y="2276872"/>
            <a:ext cx="3743293" cy="455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867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359150" y="90489"/>
            <a:ext cx="5651500" cy="746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第四章  非线性电阻电路分析</a:t>
            </a:r>
            <a:endParaRPr lang="en-US" altLang="zh-CN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2276872"/>
            <a:ext cx="10297144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006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359150" y="90489"/>
            <a:ext cx="5651500" cy="746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第一篇  电阻电路</a:t>
            </a:r>
            <a:endParaRPr lang="en-US" altLang="zh-CN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918000"/>
            <a:ext cx="10297144" cy="59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59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639617" y="188640"/>
            <a:ext cx="74803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449263" marR="0" lvl="0" indent="-449263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建  议  作  业  题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271464" y="980729"/>
            <a:ext cx="9001000" cy="1902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981075" indent="-981075" eaLnBrk="1" hangingPunct="1">
              <a:lnSpc>
                <a:spcPct val="140000"/>
              </a:lnSpc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Arial Black" panose="020B0A04020102020204" pitchFamily="34" charset="0"/>
              </a:rPr>
              <a:t>一：</a:t>
            </a:r>
            <a:r>
              <a:rPr lang="en-US" altLang="zh-CN" sz="2800" b="1" dirty="0">
                <a:solidFill>
                  <a:srgbClr val="000000"/>
                </a:solidFill>
                <a:latin typeface="Arial Black" panose="020B0A04020102020204" pitchFamily="34" charset="0"/>
              </a:rPr>
              <a:t>4.3    </a:t>
            </a:r>
          </a:p>
          <a:p>
            <a:pPr marL="981075" indent="-981075" eaLnBrk="1" hangingPunct="1">
              <a:lnSpc>
                <a:spcPct val="140000"/>
              </a:lnSpc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Arial Black" panose="020B0A04020102020204" pitchFamily="34" charset="0"/>
              </a:rPr>
              <a:t>三：</a:t>
            </a:r>
            <a:r>
              <a:rPr lang="en-US" altLang="zh-CN" sz="2800" b="1" dirty="0">
                <a:solidFill>
                  <a:srgbClr val="000000"/>
                </a:solidFill>
                <a:latin typeface="Arial Black" panose="020B0A04020102020204" pitchFamily="34" charset="0"/>
              </a:rPr>
              <a:t>4.11(</a:t>
            </a:r>
            <a:r>
              <a:rPr lang="zh-CN" altLang="en-US" sz="2800" b="1" dirty="0">
                <a:solidFill>
                  <a:srgbClr val="000000"/>
                </a:solidFill>
                <a:latin typeface="Arial Black" panose="020B0A04020102020204" pitchFamily="34" charset="0"/>
              </a:rPr>
              <a:t>解析法做</a:t>
            </a:r>
            <a:r>
              <a:rPr lang="en-US" altLang="zh-CN" sz="2800" b="1" dirty="0">
                <a:solidFill>
                  <a:srgbClr val="000000"/>
                </a:solidFill>
                <a:latin typeface="Arial Black" panose="020B0A04020102020204" pitchFamily="34" charset="0"/>
              </a:rPr>
              <a:t>)     4.12 (</a:t>
            </a:r>
            <a:r>
              <a:rPr lang="zh-CN" altLang="en-US" sz="2800" b="1" dirty="0">
                <a:solidFill>
                  <a:srgbClr val="000000"/>
                </a:solidFill>
                <a:latin typeface="Arial Black" panose="020B0A04020102020204" pitchFamily="34" charset="0"/>
              </a:rPr>
              <a:t>解析法做</a:t>
            </a:r>
            <a:r>
              <a:rPr lang="en-US" altLang="zh-CN" sz="2800" b="1" dirty="0">
                <a:solidFill>
                  <a:srgbClr val="000000"/>
                </a:solidFill>
                <a:latin typeface="Arial Black" panose="020B0A04020102020204" pitchFamily="34" charset="0"/>
              </a:rPr>
              <a:t>)</a:t>
            </a:r>
          </a:p>
          <a:p>
            <a:pPr marL="984250" indent="-984250" eaLnBrk="1" hangingPunct="1">
              <a:lnSpc>
                <a:spcPct val="140000"/>
              </a:lnSpc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Arial Black" panose="020B0A04020102020204" pitchFamily="34" charset="0"/>
              </a:rPr>
              <a:t>综合：</a:t>
            </a:r>
            <a:r>
              <a:rPr lang="en-US" altLang="zh-CN" sz="2800" b="1" dirty="0">
                <a:solidFill>
                  <a:srgbClr val="000000"/>
                </a:solidFill>
                <a:latin typeface="Arial Black" panose="020B0A04020102020204" pitchFamily="34" charset="0"/>
              </a:rPr>
              <a:t>4.21</a:t>
            </a:r>
            <a:endParaRPr lang="en-US" altLang="zh-CN" sz="2800" b="1" dirty="0">
              <a:solidFill>
                <a:srgbClr val="333399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17" descr="AG00315_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480" y="4869160"/>
            <a:ext cx="1756878" cy="1982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618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3"/>
          <p:cNvSpPr txBox="1">
            <a:spLocks noChangeArrowheads="1"/>
          </p:cNvSpPr>
          <p:nvPr/>
        </p:nvSpPr>
        <p:spPr>
          <a:xfrm>
            <a:off x="1199456" y="980728"/>
            <a:ext cx="8280920" cy="4752528"/>
          </a:xfrm>
        </p:spPr>
        <p:txBody>
          <a:bodyPr/>
          <a:lstStyle>
            <a:lvl1pPr marL="449263" indent="-449263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120000"/>
              <a:buBlip>
                <a:blip r:embed="rId4"/>
              </a:buBlip>
              <a:defRPr sz="2800">
                <a:solidFill>
                  <a:srgbClr val="133984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400">
                <a:solidFill>
                  <a:srgbClr val="133984"/>
                </a:solidFill>
                <a:latin typeface="+mn-lt"/>
                <a:ea typeface="+mn-ea"/>
              </a:defRPr>
            </a:lvl2pPr>
            <a:lvl3pPr marL="13223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宋体" pitchFamily="2" charset="-122"/>
              </a:defRPr>
            </a:lvl3pPr>
            <a:lvl4pPr marL="17303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138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95563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3052763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509963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967163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449263" marR="0" lvl="0" indent="-449263" algn="l" defTabSz="914400" rtl="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Pct val="120000"/>
              <a:buFont typeface="Wingdings 2" panose="05020102010507070707" pitchFamily="18" charset="2"/>
              <a:buChar char="C"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楷体_GB2312"/>
                <a:cs typeface="+mn-cs"/>
              </a:rPr>
              <a:t> 思维导图作业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楷体_GB2312"/>
              <a:cs typeface="+mn-cs"/>
            </a:endParaRPr>
          </a:p>
          <a:p>
            <a:pPr marL="714375" marR="0" lvl="2" indent="-446088" algn="l" defTabSz="2330450" rtl="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作业内容：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第四章课程思维导图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266700" lvl="2" indent="2247900" defTabSz="2330450" eaLnBrk="1" hangingPunct="1">
              <a:lnSpc>
                <a:spcPct val="120000"/>
              </a:lnSpc>
              <a:spcBef>
                <a:spcPts val="300"/>
              </a:spcBef>
              <a:buNone/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第一篇课程思维导图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714375" marR="0" lvl="2" indent="-446088" algn="l" defTabSz="233045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提交网址：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https://oc.sjtu.edu.cn/courses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803275" marR="0" lvl="2" indent="-80963" algn="l" defTabSz="233045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              《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电路理论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》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王昕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714375" marR="0" lvl="2" indent="-446088" algn="l" defTabSz="2330450" rtl="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提交文件：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思维导图软件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程序文件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及生成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图片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marL="266700" marR="0" lvl="2" indent="2238375" algn="l" defTabSz="2330450" rtl="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或纸介质拍成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照片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marL="714375" marR="0" lvl="2" indent="-446088" algn="l" defTabSz="2330450" rtl="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截止时间：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本周日晚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24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+mn-cs"/>
              </a:rPr>
              <a:t>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 pitchFamily="2" charset="-122"/>
              <a:cs typeface="+mn-cs"/>
            </a:endParaRPr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10272844" y="5435353"/>
          <a:ext cx="1447800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550" name="剪辑" r:id="rId5" imgW="1139342" imgH="940918" progId="MS_ClipArt_Gallery.2">
                  <p:embed/>
                </p:oleObj>
              </mc:Choice>
              <mc:Fallback>
                <p:oleObj name="剪辑" r:id="rId5" imgW="1139342" imgH="940918" progId="MS_ClipArt_Gallery.2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72844" y="5435353"/>
                        <a:ext cx="1447800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479376" y="5509966"/>
          <a:ext cx="1262062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551" name="剪辑" r:id="rId7" imgW="4046538" imgH="3352800" progId="MS_ClipArt_Gallery.2">
                  <p:embed/>
                </p:oleObj>
              </mc:Choice>
              <mc:Fallback>
                <p:oleObj name="剪辑" r:id="rId7" imgW="4046538" imgH="3352800" progId="MS_ClipArt_Gallery.2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376" y="5509966"/>
                        <a:ext cx="1262062" cy="104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639617" y="188640"/>
            <a:ext cx="74803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449263" marR="0" lvl="0" indent="-449263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+mn-cs"/>
              </a:rPr>
              <a:t>建  议  作  业  题</a:t>
            </a:r>
          </a:p>
        </p:txBody>
      </p:sp>
    </p:spTree>
    <p:extLst>
      <p:ext uri="{BB962C8B-B14F-4D97-AF65-F5344CB8AC3E}">
        <p14:creationId xmlns:p14="http://schemas.microsoft.com/office/powerpoint/2010/main" val="488789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343472" y="3681606"/>
            <a:ext cx="528022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1081088" eaLnBrk="1" hangingPunct="1">
              <a:spcBef>
                <a:spcPts val="0"/>
              </a:spcBef>
              <a:buNone/>
              <a:defRPr/>
            </a:pPr>
            <a:r>
              <a:rPr kumimoji="0" lang="zh-CN" altLang="en-US" sz="4400" b="1" dirty="0">
                <a:solidFill>
                  <a:srgbClr val="660033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真理</a:t>
            </a:r>
            <a:r>
              <a:rPr kumimoji="0" lang="zh-CN" altLang="zh-CN" sz="4400" b="1" dirty="0">
                <a:solidFill>
                  <a:srgbClr val="660033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使人自由</a:t>
            </a:r>
            <a:r>
              <a:rPr kumimoji="0" lang="zh-CN" altLang="en-US" sz="4400" b="1" dirty="0">
                <a:solidFill>
                  <a:srgbClr val="660033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。</a:t>
            </a:r>
            <a:endParaRPr kumimoji="0" lang="en-US" altLang="zh-CN" sz="4400" b="1" dirty="0">
              <a:solidFill>
                <a:srgbClr val="660033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indent="1081088" eaLnBrk="1" hangingPunct="1">
              <a:spcBef>
                <a:spcPts val="0"/>
              </a:spcBef>
              <a:buNone/>
              <a:defRPr/>
            </a:pPr>
            <a:endParaRPr kumimoji="0" lang="en-US" altLang="zh-CN" sz="4400" b="1" dirty="0">
              <a:solidFill>
                <a:srgbClr val="660033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r" eaLnBrk="1" hangingPunct="1">
              <a:spcBef>
                <a:spcPts val="0"/>
              </a:spcBef>
              <a:buNone/>
              <a:defRPr/>
            </a:pPr>
            <a:r>
              <a:rPr kumimoji="0" lang="en-US" altLang="zh-CN" sz="4400" b="1" dirty="0">
                <a:solidFill>
                  <a:srgbClr val="660033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——</a:t>
            </a:r>
            <a:r>
              <a:rPr kumimoji="0" lang="zh-CN" altLang="en-US" sz="4400" b="1" dirty="0">
                <a:solidFill>
                  <a:srgbClr val="660033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加州理工学院</a:t>
            </a:r>
            <a:endParaRPr kumimoji="0" lang="en-US" altLang="zh-CN" sz="4400" b="1" dirty="0">
              <a:solidFill>
                <a:srgbClr val="660033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961" y="3429000"/>
            <a:ext cx="3294639" cy="3281820"/>
          </a:xfrm>
          <a:prstGeom prst="rect">
            <a:avLst/>
          </a:prstGeom>
        </p:spPr>
      </p:pic>
      <p:sp>
        <p:nvSpPr>
          <p:cNvPr id="13" name="Line 5"/>
          <p:cNvSpPr>
            <a:spLocks noChangeShapeType="1"/>
          </p:cNvSpPr>
          <p:nvPr/>
        </p:nvSpPr>
        <p:spPr bwMode="auto">
          <a:xfrm>
            <a:off x="1271464" y="3141663"/>
            <a:ext cx="10297144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1919289" y="836613"/>
            <a:ext cx="8353425" cy="2305050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6600" kern="0">
                <a:solidFill>
                  <a:srgbClr val="FF0000"/>
                </a:solidFill>
                <a:latin typeface="Arial Black" panose="020B0A04020102020204" pitchFamily="34" charset="0"/>
              </a:rPr>
              <a:t>THE END</a:t>
            </a:r>
            <a:endParaRPr lang="zh-CN" altLang="en-US" sz="6600" kern="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74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961" y="3429000"/>
            <a:ext cx="3294639" cy="3281820"/>
          </a:xfrm>
          <a:prstGeom prst="rect">
            <a:avLst/>
          </a:prstGeom>
        </p:spPr>
      </p:pic>
      <p:sp>
        <p:nvSpPr>
          <p:cNvPr id="13" name="Line 5"/>
          <p:cNvSpPr>
            <a:spLocks noChangeShapeType="1"/>
          </p:cNvSpPr>
          <p:nvPr/>
        </p:nvSpPr>
        <p:spPr bwMode="auto">
          <a:xfrm>
            <a:off x="1271464" y="3141663"/>
            <a:ext cx="10297144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1919289" y="836613"/>
            <a:ext cx="8353425" cy="2305050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charset="0"/>
                <a:ea typeface="华文新魏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6600" kern="0">
                <a:solidFill>
                  <a:srgbClr val="FF0000"/>
                </a:solidFill>
                <a:latin typeface="Arial Black" panose="020B0A04020102020204" pitchFamily="34" charset="0"/>
              </a:rPr>
              <a:t>THE END</a:t>
            </a:r>
            <a:endParaRPr lang="zh-CN" altLang="en-US" sz="6600" kern="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559496" y="4149080"/>
            <a:ext cx="5616872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75000"/>
              <a:buBlip>
                <a:blip r:embed="rId5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1081088" eaLnBrk="1" hangingPunct="1">
              <a:spcBef>
                <a:spcPts val="0"/>
              </a:spcBef>
              <a:buNone/>
              <a:defRPr/>
            </a:pPr>
            <a:r>
              <a:rPr kumimoji="0" lang="en-US" altLang="zh-CN" sz="4400" b="1" dirty="0">
                <a:solidFill>
                  <a:srgbClr val="660033"/>
                </a:solidFill>
                <a:latin typeface="Comic Sans MS" panose="030F0702030302020204" pitchFamily="66" charset="0"/>
                <a:ea typeface="华文行楷" panose="02010800040101010101" pitchFamily="2" charset="-122"/>
              </a:rPr>
              <a:t>The truth shall make you free.</a:t>
            </a:r>
            <a:endParaRPr kumimoji="0" lang="zh-CN" altLang="en-US" sz="4400" b="1" dirty="0">
              <a:solidFill>
                <a:srgbClr val="660033"/>
              </a:solidFill>
              <a:latin typeface="Comic Sans MS" panose="030F0702030302020204" pitchFamily="66" charset="0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7068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19291" y="836613"/>
            <a:ext cx="8353425" cy="23050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6600" dirty="0">
                <a:solidFill>
                  <a:srgbClr val="FF0000"/>
                </a:solidFill>
                <a:latin typeface="Arial Black" panose="020B0A04020102020204" pitchFamily="34" charset="0"/>
              </a:rPr>
              <a:t>THE END</a:t>
            </a:r>
            <a:endParaRPr lang="zh-CN" altLang="en-US" sz="6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1271464" y="3141663"/>
            <a:ext cx="10297144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0" name="Picture 2" descr="C:\Documents and Settings\User\My Documents\My Pictures\小胖子_01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8889" y="4581127"/>
            <a:ext cx="2110333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485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1280762" y="4777988"/>
            <a:ext cx="15959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符号 </a:t>
            </a:r>
          </a:p>
        </p:txBody>
      </p:sp>
      <p:sp>
        <p:nvSpPr>
          <p:cNvPr id="90132" name="Rectangle 20"/>
          <p:cNvSpPr>
            <a:spLocks noChangeArrowheads="1"/>
          </p:cNvSpPr>
          <p:nvPr/>
        </p:nvSpPr>
        <p:spPr bwMode="auto">
          <a:xfrm>
            <a:off x="1873649" y="4071736"/>
            <a:ext cx="480664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非线性电阻不满足欧姆定律 </a:t>
            </a:r>
          </a:p>
        </p:txBody>
      </p:sp>
      <p:sp>
        <p:nvSpPr>
          <p:cNvPr id="90133" name="Rectangle 21"/>
          <p:cNvSpPr>
            <a:spLocks noChangeArrowheads="1"/>
          </p:cNvSpPr>
          <p:nvPr/>
        </p:nvSpPr>
        <p:spPr bwMode="auto">
          <a:xfrm>
            <a:off x="2036137" y="3415136"/>
            <a:ext cx="2605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 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0134" name="Rectangle 22"/>
          <p:cNvSpPr>
            <a:spLocks noChangeArrowheads="1"/>
          </p:cNvSpPr>
          <p:nvPr/>
        </p:nvSpPr>
        <p:spPr bwMode="auto">
          <a:xfrm>
            <a:off x="1271464" y="2761764"/>
            <a:ext cx="24150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伏安关系</a:t>
            </a:r>
          </a:p>
        </p:txBody>
      </p:sp>
      <p:sp>
        <p:nvSpPr>
          <p:cNvPr id="1035" name="Rectangle 28"/>
          <p:cNvSpPr>
            <a:spLocks noChangeArrowheads="1"/>
          </p:cNvSpPr>
          <p:nvPr/>
        </p:nvSpPr>
        <p:spPr bwMode="auto">
          <a:xfrm>
            <a:off x="1524001" y="47172"/>
            <a:ext cx="184731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215"/>
          </a:p>
        </p:txBody>
      </p:sp>
      <p:sp>
        <p:nvSpPr>
          <p:cNvPr id="1036" name="Rectangle 30"/>
          <p:cNvSpPr>
            <a:spLocks noChangeArrowheads="1"/>
          </p:cNvSpPr>
          <p:nvPr/>
        </p:nvSpPr>
        <p:spPr bwMode="auto">
          <a:xfrm>
            <a:off x="1524001" y="47172"/>
            <a:ext cx="184731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215"/>
          </a:p>
        </p:txBody>
      </p:sp>
      <p:sp>
        <p:nvSpPr>
          <p:cNvPr id="1037" name="Rectangle 32"/>
          <p:cNvSpPr>
            <a:spLocks noChangeArrowheads="1"/>
          </p:cNvSpPr>
          <p:nvPr/>
        </p:nvSpPr>
        <p:spPr bwMode="auto">
          <a:xfrm>
            <a:off x="1524001" y="47172"/>
            <a:ext cx="184731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215"/>
          </a:p>
        </p:txBody>
      </p:sp>
      <p:graphicFrame>
        <p:nvGraphicFramePr>
          <p:cNvPr id="1026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48154"/>
              </p:ext>
            </p:extLst>
          </p:nvPr>
        </p:nvGraphicFramePr>
        <p:xfrm>
          <a:off x="2997111" y="5182818"/>
          <a:ext cx="908538" cy="1450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9003" name="Visio" r:id="rId3" imgW="451267" imgH="714939" progId="Visio.Drawing.11">
                  <p:embed/>
                </p:oleObj>
              </mc:Choice>
              <mc:Fallback>
                <p:oleObj name="Visio" r:id="rId3" imgW="451267" imgH="714939" progId="Visio.Drawing.11">
                  <p:embed/>
                  <p:pic>
                    <p:nvPicPr>
                      <p:cNvPr id="1026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111" y="5182818"/>
                        <a:ext cx="908538" cy="14507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8" name="Rectangle 34"/>
          <p:cNvSpPr>
            <a:spLocks noChangeArrowheads="1"/>
          </p:cNvSpPr>
          <p:nvPr/>
        </p:nvSpPr>
        <p:spPr bwMode="auto">
          <a:xfrm>
            <a:off x="1524001" y="47172"/>
            <a:ext cx="184731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215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4.1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非线性电阻元件的特性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989212" y="980728"/>
            <a:ext cx="3779838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4.1.1 </a:t>
            </a:r>
            <a:r>
              <a:rPr lang="en-US" altLang="zh-CN" sz="2800" b="1" dirty="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非线性电阻元件</a:t>
            </a:r>
            <a:endParaRPr lang="zh-CN" altLang="en-US" sz="2800" dirty="0">
              <a:solidFill>
                <a:srgbClr val="006600"/>
              </a:solidFill>
            </a:endParaRPr>
          </a:p>
        </p:txBody>
      </p:sp>
      <p:grpSp>
        <p:nvGrpSpPr>
          <p:cNvPr id="17" name="Group 7"/>
          <p:cNvGrpSpPr>
            <a:grpSpLocks/>
          </p:cNvGrpSpPr>
          <p:nvPr/>
        </p:nvGrpSpPr>
        <p:grpSpPr bwMode="auto">
          <a:xfrm>
            <a:off x="911424" y="1483990"/>
            <a:ext cx="3867150" cy="171450"/>
            <a:chOff x="288" y="576"/>
            <a:chExt cx="2436" cy="108"/>
          </a:xfrm>
        </p:grpSpPr>
        <p:pic>
          <p:nvPicPr>
            <p:cNvPr id="18" name="Picture 8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9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10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9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11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8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2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43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4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5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3" name="Picture 16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17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Picture 18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19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20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21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Picture 22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23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1" y="576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Picture 24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7" y="576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Picture 25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6" y="576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" name="Picture 26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8" y="576"/>
              <a:ext cx="113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Picture 27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4" y="576"/>
              <a:ext cx="113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28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4" y="576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29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6" y="576"/>
              <a:ext cx="113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30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1" y="576"/>
              <a:ext cx="113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" name="Picture 35" descr="Green and Black Diamon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2" y="576"/>
              <a:ext cx="113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6" name="Rectangle 10"/>
          <p:cNvSpPr>
            <a:spLocks noChangeArrowheads="1"/>
          </p:cNvSpPr>
          <p:nvPr/>
        </p:nvSpPr>
        <p:spPr bwMode="auto">
          <a:xfrm>
            <a:off x="839416" y="1628801"/>
            <a:ext cx="10801200" cy="1105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buSzPct val="120000"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非线性电阻元件：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 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平面或 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平面上的伏安特性曲线不是通过原点的直线。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96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" grpId="0"/>
      <p:bldP spid="90132" grpId="0" autoUpdateAnimBg="0"/>
      <p:bldP spid="90133" grpId="0" autoUpdateAnimBg="0"/>
      <p:bldP spid="90134" grpId="0" autoUpdateAnimBg="0"/>
      <p:bldP spid="4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34922"/>
              </p:ext>
            </p:extLst>
          </p:nvPr>
        </p:nvGraphicFramePr>
        <p:xfrm>
          <a:off x="2307556" y="3618220"/>
          <a:ext cx="296703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0193" name="Equation" r:id="rId4" imgW="1066680" imgH="279360" progId="Equation.DSMT4">
                  <p:embed/>
                </p:oleObj>
              </mc:Choice>
              <mc:Fallback>
                <p:oleObj name="Equation" r:id="rId4" imgW="1066680" imgH="279360" progId="Equation.DSMT4">
                  <p:embed/>
                  <p:pic>
                    <p:nvPicPr>
                      <p:cNvPr id="2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7556" y="3618220"/>
                        <a:ext cx="2967038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1323745" y="2754622"/>
            <a:ext cx="4876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如：</a:t>
            </a:r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结二极管的伏安特性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1410098" y="5229200"/>
            <a:ext cx="10158510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因为伏安特性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呈现单调关系，所以其伏安特性也可表示为</a:t>
            </a:r>
          </a:p>
        </p:txBody>
      </p:sp>
      <p:graphicFrame>
        <p:nvGraphicFramePr>
          <p:cNvPr id="20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595478"/>
              </p:ext>
            </p:extLst>
          </p:nvPr>
        </p:nvGraphicFramePr>
        <p:xfrm>
          <a:off x="2262876" y="5852120"/>
          <a:ext cx="255428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0194" name="Equation" r:id="rId6" imgW="1244520" imgH="482400" progId="Equation.DSMT4">
                  <p:embed/>
                </p:oleObj>
              </mc:Choice>
              <mc:Fallback>
                <p:oleObj name="Equation" r:id="rId6" imgW="1244520" imgH="482400" progId="Equation.DSMT4">
                  <p:embed/>
                  <p:pic>
                    <p:nvPicPr>
                      <p:cNvPr id="20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2876" y="5852120"/>
                        <a:ext cx="2554288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" name="Rectangle 15"/>
          <p:cNvSpPr>
            <a:spLocks noChangeArrowheads="1"/>
          </p:cNvSpPr>
          <p:nvPr/>
        </p:nvSpPr>
        <p:spPr bwMode="auto">
          <a:xfrm>
            <a:off x="1524001" y="47172"/>
            <a:ext cx="184731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215"/>
          </a:p>
        </p:txBody>
      </p:sp>
      <p:graphicFrame>
        <p:nvGraphicFramePr>
          <p:cNvPr id="205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538897"/>
              </p:ext>
            </p:extLst>
          </p:nvPr>
        </p:nvGraphicFramePr>
        <p:xfrm>
          <a:off x="7450973" y="2492896"/>
          <a:ext cx="812800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0195" name="Visio" r:id="rId8" imgW="520735" imgH="1257460" progId="Visio.Drawing.11">
                  <p:embed/>
                </p:oleObj>
              </mc:Choice>
              <mc:Fallback>
                <p:oleObj name="Visio" r:id="rId8" imgW="520735" imgH="1257460" progId="Visio.Drawing.11">
                  <p:embed/>
                  <p:pic>
                    <p:nvPicPr>
                      <p:cNvPr id="205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0973" y="2492896"/>
                        <a:ext cx="812800" cy="2041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4.1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非线性电阻元件的特性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983060" y="980728"/>
            <a:ext cx="7345188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4.1.2 </a:t>
            </a:r>
            <a:r>
              <a:rPr lang="en-US" altLang="zh-CN" sz="2800" b="1" dirty="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非线性电阻的分类（按伏安特性关系）</a:t>
            </a:r>
            <a:endParaRPr lang="zh-CN" altLang="en-US" sz="2800" dirty="0">
              <a:solidFill>
                <a:srgbClr val="006600"/>
              </a:solidFill>
            </a:endParaRPr>
          </a:p>
        </p:txBody>
      </p:sp>
      <p:sp>
        <p:nvSpPr>
          <p:cNvPr id="39" name="Rectangle 10"/>
          <p:cNvSpPr>
            <a:spLocks noChangeArrowheads="1"/>
          </p:cNvSpPr>
          <p:nvPr/>
        </p:nvSpPr>
        <p:spPr bwMode="auto">
          <a:xfrm>
            <a:off x="839416" y="1628801"/>
            <a:ext cx="10729192" cy="1105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buSzPct val="120000"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单调型：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电压既可表示为电流的单值函数，电流也可表示为电压的单值函数</a:t>
            </a:r>
          </a:p>
        </p:txBody>
      </p:sp>
      <p:grpSp>
        <p:nvGrpSpPr>
          <p:cNvPr id="82" name="组合 81"/>
          <p:cNvGrpSpPr/>
          <p:nvPr/>
        </p:nvGrpSpPr>
        <p:grpSpPr>
          <a:xfrm>
            <a:off x="905273" y="1483523"/>
            <a:ext cx="7251783" cy="178586"/>
            <a:chOff x="533400" y="1483523"/>
            <a:chExt cx="7251783" cy="178586"/>
          </a:xfrm>
        </p:grpSpPr>
        <p:grpSp>
          <p:nvGrpSpPr>
            <p:cNvPr id="83" name="Group 7"/>
            <p:cNvGrpSpPr>
              <a:grpSpLocks/>
            </p:cNvGrpSpPr>
            <p:nvPr/>
          </p:nvGrpSpPr>
          <p:grpSpPr bwMode="auto">
            <a:xfrm>
              <a:off x="533400" y="1483990"/>
              <a:ext cx="3867150" cy="171450"/>
              <a:chOff x="288" y="576"/>
              <a:chExt cx="2436" cy="108"/>
            </a:xfrm>
          </p:grpSpPr>
          <p:pic>
            <p:nvPicPr>
              <p:cNvPr id="109" name="Picture 8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40" y="576"/>
                <a:ext cx="120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0" name="Picture 9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53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1" name="Picture 10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59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2" name="Picture 11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8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13" name="Group 12"/>
              <p:cNvGrpSpPr>
                <a:grpSpLocks/>
              </p:cNvGrpSpPr>
              <p:nvPr/>
            </p:nvGrpSpPr>
            <p:grpSpPr bwMode="auto">
              <a:xfrm>
                <a:off x="288" y="576"/>
                <a:ext cx="331" cy="108"/>
                <a:chOff x="395" y="624"/>
                <a:chExt cx="331" cy="108"/>
              </a:xfrm>
            </p:grpSpPr>
            <p:pic>
              <p:nvPicPr>
                <p:cNvPr id="130" name="Picture 13" descr="Green and Black Diamond"/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" y="624"/>
                  <a:ext cx="119" cy="1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31" name="Picture 14" descr="Green and Black Diamond"/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94" y="624"/>
                  <a:ext cx="119" cy="1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32" name="Picture 15" descr="Green and Black Diamond"/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07" y="624"/>
                  <a:ext cx="119" cy="1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114" name="Picture 16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5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5" name="Picture 17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7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6" name="Picture 18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3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7" name="Picture 19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2" y="576"/>
                <a:ext cx="120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8" name="Picture 20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5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9" name="Picture 21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6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0" name="Picture 22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1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1" name="Picture 23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1" y="576"/>
                <a:ext cx="112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2" name="Picture 24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7" y="576"/>
                <a:ext cx="112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3" name="Picture 25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76" y="576"/>
                <a:ext cx="112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4" name="Picture 26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88" y="576"/>
                <a:ext cx="11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5" name="Picture 27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94" y="576"/>
                <a:ext cx="11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6" name="Picture 28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94" y="576"/>
                <a:ext cx="112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7" name="Picture 29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6" y="576"/>
                <a:ext cx="11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8" name="Picture 30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11" y="576"/>
                <a:ext cx="11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9" name="Picture 35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12" y="576"/>
                <a:ext cx="11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84" name="Group 12"/>
            <p:cNvGrpSpPr>
              <a:grpSpLocks/>
            </p:cNvGrpSpPr>
            <p:nvPr/>
          </p:nvGrpSpPr>
          <p:grpSpPr bwMode="auto">
            <a:xfrm>
              <a:off x="4377258" y="1484784"/>
              <a:ext cx="525463" cy="171450"/>
              <a:chOff x="395" y="624"/>
              <a:chExt cx="331" cy="108"/>
            </a:xfrm>
          </p:grpSpPr>
          <p:pic>
            <p:nvPicPr>
              <p:cNvPr id="106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7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8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85" name="Picture 16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9246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6" name="Picture 17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7046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7" name="Picture 18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5321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8" name="Picture 21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2083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9" name="Picture 14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54829" y="1490659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0" name="Picture 15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4216" y="1490659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1" name="Picture 16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9654" y="1490659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" name="Picture 21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2491" y="1490659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3" name="Picture 14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1073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4" name="Picture 15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0460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5" name="Picture 21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8735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6" name="Picture 16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1300" y="1483523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7" name="Picture 17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9100" y="1483523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" name="Picture 18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7375" y="1483523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9" name="Picture 21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44137" y="1483523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0" name="Picture 14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6883" y="1489398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" name="Picture 15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6270" y="1489398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8" name="Rectangle 3"/>
          <p:cNvSpPr>
            <a:spLocks noChangeArrowheads="1"/>
          </p:cNvSpPr>
          <p:nvPr/>
        </p:nvSpPr>
        <p:spPr bwMode="auto">
          <a:xfrm>
            <a:off x="7968143" y="4551130"/>
            <a:ext cx="21387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fr-FR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结二极管</a:t>
            </a:r>
            <a:endParaRPr lang="zh-CN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521257"/>
              </p:ext>
            </p:extLst>
          </p:nvPr>
        </p:nvGraphicFramePr>
        <p:xfrm>
          <a:off x="9095116" y="2508017"/>
          <a:ext cx="1885950" cy="204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0196" name="Visio" r:id="rId11" imgW="1168420" imgH="1257460" progId="Visio.Drawing.11">
                  <p:embed/>
                </p:oleObj>
              </mc:Choice>
              <mc:Fallback>
                <p:oleObj name="Visio" r:id="rId11" imgW="1168420" imgH="1257460" progId="Visio.Drawing.11">
                  <p:embed/>
                  <p:pic>
                    <p:nvPicPr>
                      <p:cNvPr id="205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5116" y="2508017"/>
                        <a:ext cx="1885950" cy="2043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89474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autoUpdateAnimBg="0"/>
      <p:bldP spid="91141" grpId="0" autoUpdateAnimBg="0"/>
      <p:bldP spid="39" grpId="0"/>
      <p:bldP spid="5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91" name="Rectangle 7"/>
          <p:cNvSpPr>
            <a:spLocks noChangeArrowheads="1"/>
          </p:cNvSpPr>
          <p:nvPr/>
        </p:nvSpPr>
        <p:spPr bwMode="auto">
          <a:xfrm>
            <a:off x="1430736" y="5214473"/>
            <a:ext cx="4105776" cy="159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的单值函数，只能取电流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作为控制变量，为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流控型非线性电阻。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3192" name="Rectangle 8"/>
          <p:cNvSpPr>
            <a:spLocks noChangeArrowheads="1"/>
          </p:cNvSpPr>
          <p:nvPr/>
        </p:nvSpPr>
        <p:spPr bwMode="auto">
          <a:xfrm>
            <a:off x="7129521" y="5214472"/>
            <a:ext cx="4042658" cy="159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的单值函数，只能取电压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作为控制变量，为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压控型非线性电阻。 </a:t>
            </a:r>
          </a:p>
        </p:txBody>
      </p:sp>
      <p:sp>
        <p:nvSpPr>
          <p:cNvPr id="3081" name="Rectangle 17"/>
          <p:cNvSpPr>
            <a:spLocks noChangeArrowheads="1"/>
          </p:cNvSpPr>
          <p:nvPr/>
        </p:nvSpPr>
        <p:spPr bwMode="auto">
          <a:xfrm>
            <a:off x="1524001" y="47172"/>
            <a:ext cx="184731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215"/>
          </a:p>
        </p:txBody>
      </p:sp>
      <p:grpSp>
        <p:nvGrpSpPr>
          <p:cNvPr id="2" name="组合 17"/>
          <p:cNvGrpSpPr>
            <a:grpSpLocks/>
          </p:cNvGrpSpPr>
          <p:nvPr/>
        </p:nvGrpSpPr>
        <p:grpSpPr bwMode="auto">
          <a:xfrm>
            <a:off x="1816684" y="2734262"/>
            <a:ext cx="3222254" cy="2481530"/>
            <a:chOff x="603905" y="1449314"/>
            <a:chExt cx="3490805" cy="2688334"/>
          </a:xfrm>
        </p:grpSpPr>
        <p:graphicFrame>
          <p:nvGraphicFramePr>
            <p:cNvPr id="3074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2023095"/>
                </p:ext>
              </p:extLst>
            </p:nvPr>
          </p:nvGraphicFramePr>
          <p:xfrm>
            <a:off x="738158" y="1449314"/>
            <a:ext cx="3195320" cy="22145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1120" name="Visio" r:id="rId4" imgW="1923898" imgH="1330147" progId="Visio.Drawing.11">
                    <p:embed/>
                  </p:oleObj>
                </mc:Choice>
                <mc:Fallback>
                  <p:oleObj name="Visio" r:id="rId4" imgW="1923898" imgH="1330147" progId="Visio.Drawing.11">
                    <p:embed/>
                    <p:pic>
                      <p:nvPicPr>
                        <p:cNvPr id="3074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8158" y="1449314"/>
                          <a:ext cx="3195320" cy="22145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7" name="Rectangle 5"/>
            <p:cNvSpPr>
              <a:spLocks noChangeArrowheads="1"/>
            </p:cNvSpPr>
            <p:nvPr/>
          </p:nvSpPr>
          <p:spPr bwMode="auto">
            <a:xfrm>
              <a:off x="603905" y="3570824"/>
              <a:ext cx="3219449" cy="566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dirty="0">
                  <a:latin typeface="宋体" panose="02010600030101010101" pitchFamily="2" charset="-122"/>
                </a:rPr>
                <a:t>充气二极管</a:t>
              </a:r>
            </a:p>
          </p:txBody>
        </p:sp>
        <p:sp>
          <p:nvSpPr>
            <p:cNvPr id="3088" name="Rectangle 14"/>
            <p:cNvSpPr>
              <a:spLocks noChangeArrowheads="1"/>
            </p:cNvSpPr>
            <p:nvPr/>
          </p:nvSpPr>
          <p:spPr bwMode="auto">
            <a:xfrm>
              <a:off x="3031562" y="1942876"/>
              <a:ext cx="1063148" cy="530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585" i="1" dirty="0"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585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=</a:t>
              </a:r>
              <a:r>
                <a:rPr lang="en-US" altLang="zh-CN" sz="2585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f</a:t>
              </a:r>
              <a:r>
                <a:rPr lang="en-US" altLang="zh-CN" sz="2585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(</a:t>
              </a:r>
              <a:r>
                <a:rPr lang="en-US" altLang="zh-CN" sz="2585" i="1" dirty="0" err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585" dirty="0"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</a:p>
          </p:txBody>
        </p:sp>
      </p:grpSp>
      <p:sp>
        <p:nvSpPr>
          <p:cNvPr id="3083" name="Rectangle 19"/>
          <p:cNvSpPr>
            <a:spLocks noChangeArrowheads="1"/>
          </p:cNvSpPr>
          <p:nvPr/>
        </p:nvSpPr>
        <p:spPr bwMode="auto">
          <a:xfrm>
            <a:off x="1524001" y="47172"/>
            <a:ext cx="184731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215"/>
          </a:p>
        </p:txBody>
      </p:sp>
      <p:grpSp>
        <p:nvGrpSpPr>
          <p:cNvPr id="3" name="组合 20"/>
          <p:cNvGrpSpPr>
            <a:grpSpLocks/>
          </p:cNvGrpSpPr>
          <p:nvPr/>
        </p:nvGrpSpPr>
        <p:grpSpPr bwMode="auto">
          <a:xfrm>
            <a:off x="7129521" y="2434641"/>
            <a:ext cx="4164623" cy="2777066"/>
            <a:chOff x="4630713" y="1290483"/>
            <a:chExt cx="4512330" cy="3008501"/>
          </a:xfrm>
        </p:grpSpPr>
        <p:graphicFrame>
          <p:nvGraphicFramePr>
            <p:cNvPr id="3075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4027559"/>
                </p:ext>
              </p:extLst>
            </p:nvPr>
          </p:nvGraphicFramePr>
          <p:xfrm>
            <a:off x="4630713" y="1290483"/>
            <a:ext cx="4512330" cy="2643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1121" name="Visio" r:id="rId6" imgW="2271939" imgH="1330391" progId="Visio.Drawing.11">
                    <p:embed/>
                  </p:oleObj>
                </mc:Choice>
                <mc:Fallback>
                  <p:oleObj name="Visio" r:id="rId6" imgW="2271939" imgH="1330391" progId="Visio.Drawing.11">
                    <p:embed/>
                    <p:pic>
                      <p:nvPicPr>
                        <p:cNvPr id="3075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0713" y="1290483"/>
                          <a:ext cx="4512330" cy="26432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5" name="Rectangle 6"/>
            <p:cNvSpPr>
              <a:spLocks noChangeArrowheads="1"/>
            </p:cNvSpPr>
            <p:nvPr/>
          </p:nvSpPr>
          <p:spPr bwMode="auto">
            <a:xfrm>
              <a:off x="5003084" y="3732160"/>
              <a:ext cx="3219450" cy="566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宋体" panose="02010600030101010101" pitchFamily="2" charset="-122"/>
                </a:rPr>
                <a:t>隧道二极管</a:t>
              </a:r>
            </a:p>
          </p:txBody>
        </p:sp>
        <p:sp>
          <p:nvSpPr>
            <p:cNvPr id="3086" name="Rectangle 15"/>
            <p:cNvSpPr>
              <a:spLocks noChangeArrowheads="1"/>
            </p:cNvSpPr>
            <p:nvPr/>
          </p:nvSpPr>
          <p:spPr bwMode="auto">
            <a:xfrm>
              <a:off x="7010400" y="1676399"/>
              <a:ext cx="1122346" cy="530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585" i="1" dirty="0" err="1"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lang="en-US" altLang="zh-CN" sz="2585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=</a:t>
              </a:r>
              <a:r>
                <a:rPr lang="en-US" altLang="zh-CN" sz="2585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g</a:t>
              </a:r>
              <a:r>
                <a:rPr lang="en-US" altLang="zh-CN" sz="2585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(</a:t>
              </a:r>
              <a:r>
                <a:rPr lang="en-US" altLang="zh-CN" sz="2585" i="1" dirty="0"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585" dirty="0"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endParaRPr lang="zh-CN" altLang="en-US" sz="2585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4.1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非线性电阻元件的特性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839416" y="1628801"/>
            <a:ext cx="10729192" cy="1105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buSzPct val="120000"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流控型、压控型：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电压仅可表示为电流的单值函数，或电流仅可表示为电压的单值函数</a:t>
            </a:r>
          </a:p>
        </p:txBody>
      </p:sp>
      <p:sp>
        <p:nvSpPr>
          <p:cNvPr id="67" name="Rectangle 4"/>
          <p:cNvSpPr>
            <a:spLocks noChangeArrowheads="1"/>
          </p:cNvSpPr>
          <p:nvPr/>
        </p:nvSpPr>
        <p:spPr bwMode="auto">
          <a:xfrm>
            <a:off x="983060" y="980728"/>
            <a:ext cx="7345188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4.1.2 </a:t>
            </a:r>
            <a:r>
              <a:rPr lang="en-US" altLang="zh-CN" sz="2800" b="1" dirty="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非线性电阻的分类（按伏安特性关系）</a:t>
            </a:r>
            <a:endParaRPr lang="zh-CN" altLang="en-US" sz="2800" dirty="0">
              <a:solidFill>
                <a:srgbClr val="006600"/>
              </a:solidFill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905273" y="1483523"/>
            <a:ext cx="7251783" cy="178586"/>
            <a:chOff x="533400" y="1483523"/>
            <a:chExt cx="7251783" cy="178586"/>
          </a:xfrm>
        </p:grpSpPr>
        <p:grpSp>
          <p:nvGrpSpPr>
            <p:cNvPr id="69" name="Group 7"/>
            <p:cNvGrpSpPr>
              <a:grpSpLocks/>
            </p:cNvGrpSpPr>
            <p:nvPr/>
          </p:nvGrpSpPr>
          <p:grpSpPr bwMode="auto">
            <a:xfrm>
              <a:off x="533400" y="1483990"/>
              <a:ext cx="3867150" cy="171450"/>
              <a:chOff x="288" y="576"/>
              <a:chExt cx="2436" cy="108"/>
            </a:xfrm>
          </p:grpSpPr>
          <p:pic>
            <p:nvPicPr>
              <p:cNvPr id="91" name="Picture 8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40" y="576"/>
                <a:ext cx="120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9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53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3" name="Picture 10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59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4" name="Picture 11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8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95" name="Group 12"/>
              <p:cNvGrpSpPr>
                <a:grpSpLocks/>
              </p:cNvGrpSpPr>
              <p:nvPr/>
            </p:nvGrpSpPr>
            <p:grpSpPr bwMode="auto">
              <a:xfrm>
                <a:off x="288" y="576"/>
                <a:ext cx="331" cy="108"/>
                <a:chOff x="395" y="624"/>
                <a:chExt cx="331" cy="108"/>
              </a:xfrm>
            </p:grpSpPr>
            <p:pic>
              <p:nvPicPr>
                <p:cNvPr id="112" name="Picture 13" descr="Green and Black Diamond"/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" y="624"/>
                  <a:ext cx="119" cy="1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3" name="Picture 14" descr="Green and Black Diamond"/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94" y="624"/>
                  <a:ext cx="119" cy="1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4" name="Picture 15" descr="Green and Black Diamond"/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07" y="624"/>
                  <a:ext cx="119" cy="1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96" name="Picture 16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5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7" name="Picture 17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7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8" name="Picture 18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3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9" name="Picture 19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2" y="576"/>
                <a:ext cx="120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0" name="Picture 20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5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1" name="Picture 21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6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2" name="Picture 22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1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3" name="Picture 23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1" y="576"/>
                <a:ext cx="112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4" name="Picture 24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7" y="576"/>
                <a:ext cx="112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5" name="Picture 25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76" y="576"/>
                <a:ext cx="112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6" name="Picture 26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88" y="576"/>
                <a:ext cx="11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7" name="Picture 27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94" y="576"/>
                <a:ext cx="11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8" name="Picture 28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94" y="576"/>
                <a:ext cx="112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9" name="Picture 29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6" y="576"/>
                <a:ext cx="11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0" name="Picture 30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11" y="576"/>
                <a:ext cx="11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1" name="Picture 35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12" y="576"/>
                <a:ext cx="11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70" name="Group 12"/>
            <p:cNvGrpSpPr>
              <a:grpSpLocks/>
            </p:cNvGrpSpPr>
            <p:nvPr/>
          </p:nvGrpSpPr>
          <p:grpSpPr bwMode="auto">
            <a:xfrm>
              <a:off x="4377258" y="1484784"/>
              <a:ext cx="525463" cy="171450"/>
              <a:chOff x="395" y="624"/>
              <a:chExt cx="331" cy="108"/>
            </a:xfrm>
          </p:grpSpPr>
          <p:pic>
            <p:nvPicPr>
              <p:cNvPr id="88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9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0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71" name="Picture 16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9246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" name="Picture 17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7046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" name="Picture 18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5321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21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2083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" name="Picture 14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54829" y="1490659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" name="Picture 15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4216" y="1490659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" name="Picture 16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9654" y="1490659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" name="Picture 21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2491" y="1490659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" name="Picture 14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1073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" name="Picture 15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0460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1" name="Picture 21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8735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" name="Picture 16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1300" y="1483523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3" name="Picture 17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9100" y="1483523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4" name="Picture 18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7375" y="1483523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5" name="Picture 21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44137" y="1483523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6" name="Picture 14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6883" y="1489398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7" name="Picture 15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6270" y="1489398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916504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1" grpId="0" autoUpdateAnimBg="0"/>
      <p:bldP spid="93192" grpId="0" autoUpdateAnimBg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9" name="Rectangle 7"/>
          <p:cNvSpPr>
            <a:spLocks noChangeArrowheads="1"/>
          </p:cNvSpPr>
          <p:nvPr/>
        </p:nvSpPr>
        <p:spPr bwMode="auto">
          <a:xfrm>
            <a:off x="1336279" y="4879247"/>
            <a:ext cx="10446542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既无法把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表达成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的单值函数，也无法把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表达成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的单值函数 </a:t>
            </a:r>
          </a:p>
        </p:txBody>
      </p:sp>
      <p:sp>
        <p:nvSpPr>
          <p:cNvPr id="95240" name="Rectangle 8"/>
          <p:cNvSpPr>
            <a:spLocks noChangeArrowheads="1"/>
          </p:cNvSpPr>
          <p:nvPr/>
        </p:nvSpPr>
        <p:spPr bwMode="auto">
          <a:xfrm>
            <a:off x="1919536" y="6293586"/>
            <a:ext cx="7998319" cy="523220"/>
          </a:xfrm>
          <a:prstGeom prst="rect">
            <a:avLst/>
          </a:prstGeom>
          <a:noFill/>
          <a:ln w="38100" cmpd="sng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与线性电阻不同，非线性电阻一般不是双向电阻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261423" y="2733833"/>
            <a:ext cx="9815146" cy="2039815"/>
            <a:chOff x="-235" y="929"/>
            <a:chExt cx="6698" cy="1392"/>
          </a:xfrm>
        </p:grpSpPr>
        <p:graphicFrame>
          <p:nvGraphicFramePr>
            <p:cNvPr id="4098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7573785"/>
                </p:ext>
              </p:extLst>
            </p:nvPr>
          </p:nvGraphicFramePr>
          <p:xfrm>
            <a:off x="159" y="1373"/>
            <a:ext cx="3129" cy="7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233" name="Equation" r:id="rId4" imgW="1892160" imgH="469800" progId="Equation.DSMT4">
                    <p:embed/>
                  </p:oleObj>
                </mc:Choice>
                <mc:Fallback>
                  <p:oleObj name="Equation" r:id="rId4" imgW="1892160" imgH="469800" progId="Equation.DSMT4">
                    <p:embed/>
                    <p:pic>
                      <p:nvPicPr>
                        <p:cNvPr id="409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" y="1373"/>
                          <a:ext cx="3129" cy="7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8" name="Rectangle 5"/>
            <p:cNvSpPr>
              <a:spLocks noChangeArrowheads="1"/>
            </p:cNvSpPr>
            <p:nvPr/>
          </p:nvSpPr>
          <p:spPr bwMode="auto">
            <a:xfrm>
              <a:off x="-235" y="929"/>
              <a:ext cx="192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如：理想二极管</a:t>
              </a:r>
            </a:p>
          </p:txBody>
        </p:sp>
        <p:graphicFrame>
          <p:nvGraphicFramePr>
            <p:cNvPr id="4099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2207862"/>
                </p:ext>
              </p:extLst>
            </p:nvPr>
          </p:nvGraphicFramePr>
          <p:xfrm>
            <a:off x="5119" y="962"/>
            <a:ext cx="1344" cy="1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234" name="Visio" r:id="rId6" imgW="1467360" imgH="1371240" progId="Visio.Drawing.11">
                    <p:embed/>
                  </p:oleObj>
                </mc:Choice>
                <mc:Fallback>
                  <p:oleObj name="Visio" r:id="rId6" imgW="1467360" imgH="1371240" progId="Visio.Drawing.11">
                    <p:embed/>
                    <p:pic>
                      <p:nvPicPr>
                        <p:cNvPr id="4099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9" y="962"/>
                          <a:ext cx="1344" cy="1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0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5994783"/>
                </p:ext>
              </p:extLst>
            </p:nvPr>
          </p:nvGraphicFramePr>
          <p:xfrm>
            <a:off x="4093" y="929"/>
            <a:ext cx="703" cy="1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235" name="Visio" r:id="rId8" imgW="586440" imgH="1159920" progId="Visio.Drawing.11">
                    <p:embed/>
                  </p:oleObj>
                </mc:Choice>
                <mc:Fallback>
                  <p:oleObj name="Visio" r:id="rId8" imgW="586440" imgH="1159920" progId="Visio.Drawing.11">
                    <p:embed/>
                    <p:pic>
                      <p:nvPicPr>
                        <p:cNvPr id="410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3" y="929"/>
                          <a:ext cx="703" cy="1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1524001" y="47172"/>
            <a:ext cx="184731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215"/>
          </a:p>
        </p:txBody>
      </p:sp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1524001" y="47172"/>
            <a:ext cx="184731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215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4.1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非线性电阻元件的特性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839416" y="1628801"/>
            <a:ext cx="10729192" cy="1105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buSzPct val="120000"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既非压控又非流控：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其电压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电流关系不能表达为一个变量的单值函数</a:t>
            </a:r>
          </a:p>
        </p:txBody>
      </p:sp>
      <p:sp>
        <p:nvSpPr>
          <p:cNvPr id="66" name="Rectangle 4"/>
          <p:cNvSpPr>
            <a:spLocks noChangeArrowheads="1"/>
          </p:cNvSpPr>
          <p:nvPr/>
        </p:nvSpPr>
        <p:spPr bwMode="auto">
          <a:xfrm>
            <a:off x="983060" y="980728"/>
            <a:ext cx="7345188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4.1.2 </a:t>
            </a:r>
            <a:r>
              <a:rPr lang="en-US" altLang="zh-CN" sz="2800" b="1" dirty="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非线性电阻的分类（按伏安特性关系）</a:t>
            </a:r>
            <a:endParaRPr lang="zh-CN" altLang="en-US" sz="2800" dirty="0">
              <a:solidFill>
                <a:srgbClr val="006600"/>
              </a:solidFill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905273" y="1483523"/>
            <a:ext cx="7251783" cy="178586"/>
            <a:chOff x="533400" y="1483523"/>
            <a:chExt cx="7251783" cy="178586"/>
          </a:xfrm>
        </p:grpSpPr>
        <p:grpSp>
          <p:nvGrpSpPr>
            <p:cNvPr id="68" name="Group 7"/>
            <p:cNvGrpSpPr>
              <a:grpSpLocks/>
            </p:cNvGrpSpPr>
            <p:nvPr/>
          </p:nvGrpSpPr>
          <p:grpSpPr bwMode="auto">
            <a:xfrm>
              <a:off x="533400" y="1483990"/>
              <a:ext cx="3867150" cy="171450"/>
              <a:chOff x="288" y="576"/>
              <a:chExt cx="2436" cy="108"/>
            </a:xfrm>
          </p:grpSpPr>
          <p:pic>
            <p:nvPicPr>
              <p:cNvPr id="90" name="Picture 8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40" y="576"/>
                <a:ext cx="120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1" name="Picture 9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53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10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59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3" name="Picture 11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8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94" name="Group 12"/>
              <p:cNvGrpSpPr>
                <a:grpSpLocks/>
              </p:cNvGrpSpPr>
              <p:nvPr/>
            </p:nvGrpSpPr>
            <p:grpSpPr bwMode="auto">
              <a:xfrm>
                <a:off x="288" y="576"/>
                <a:ext cx="331" cy="108"/>
                <a:chOff x="395" y="624"/>
                <a:chExt cx="331" cy="108"/>
              </a:xfrm>
            </p:grpSpPr>
            <p:pic>
              <p:nvPicPr>
                <p:cNvPr id="111" name="Picture 13" descr="Green and Black Diamond"/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95" y="624"/>
                  <a:ext cx="119" cy="1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2" name="Picture 14" descr="Green and Black Diamond"/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94" y="624"/>
                  <a:ext cx="119" cy="1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3" name="Picture 15" descr="Green and Black Diamond"/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07" y="624"/>
                  <a:ext cx="119" cy="1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95" name="Picture 16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5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6" name="Picture 17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7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7" name="Picture 18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3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8" name="Picture 19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22" y="576"/>
                <a:ext cx="120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9" name="Picture 20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5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0" name="Picture 21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6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1" name="Picture 22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1" y="576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2" name="Picture 23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1" y="576"/>
                <a:ext cx="112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3" name="Picture 24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7" y="576"/>
                <a:ext cx="112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4" name="Picture 25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76" y="576"/>
                <a:ext cx="112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5" name="Picture 26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88" y="576"/>
                <a:ext cx="11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6" name="Picture 27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94" y="576"/>
                <a:ext cx="11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7" name="Picture 28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94" y="576"/>
                <a:ext cx="112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8" name="Picture 29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6" y="576"/>
                <a:ext cx="11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9" name="Picture 30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11" y="576"/>
                <a:ext cx="11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0" name="Picture 35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12" y="576"/>
                <a:ext cx="113" cy="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9" name="Group 12"/>
            <p:cNvGrpSpPr>
              <a:grpSpLocks/>
            </p:cNvGrpSpPr>
            <p:nvPr/>
          </p:nvGrpSpPr>
          <p:grpSpPr bwMode="auto">
            <a:xfrm>
              <a:off x="4377258" y="1484784"/>
              <a:ext cx="525463" cy="171450"/>
              <a:chOff x="395" y="624"/>
              <a:chExt cx="331" cy="108"/>
            </a:xfrm>
          </p:grpSpPr>
          <p:pic>
            <p:nvPicPr>
              <p:cNvPr id="87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8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9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70" name="Picture 16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9246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" name="Picture 17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7046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" name="Picture 18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5321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" name="Picture 21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2083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4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54829" y="1490659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" name="Picture 15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4216" y="1490659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" name="Picture 16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9654" y="1490659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" name="Picture 21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2491" y="1490659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" name="Picture 14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1073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" name="Picture 15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0460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" name="Picture 21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8735" y="1484784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1" name="Picture 16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1300" y="1483523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" name="Picture 17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9100" y="1483523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3" name="Picture 18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7375" y="1483523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4" name="Picture 21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44137" y="1483523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5" name="Picture 14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6883" y="1489398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6" name="Picture 15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6270" y="1489398"/>
              <a:ext cx="188913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4" name="AutoShape 8" descr="40%"/>
          <p:cNvSpPr>
            <a:spLocks noChangeArrowheads="1"/>
          </p:cNvSpPr>
          <p:nvPr/>
        </p:nvSpPr>
        <p:spPr bwMode="auto">
          <a:xfrm>
            <a:off x="24958" y="5876752"/>
            <a:ext cx="1417612" cy="770682"/>
          </a:xfrm>
          <a:prstGeom prst="cloudCallout">
            <a:avLst>
              <a:gd name="adj1" fmla="val 76513"/>
              <a:gd name="adj2" fmla="val 41576"/>
            </a:avLst>
          </a:prstGeom>
          <a:blipFill dpi="0" rotWithShape="0">
            <a:blip r:embed="rId11"/>
            <a:srcRect/>
            <a:tile tx="0" ty="0" sx="100000" sy="100000" flip="none" algn="tl"/>
          </a:blipFill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dirty="0">
                <a:solidFill>
                  <a:schemeClr val="bg2"/>
                </a:solidFill>
                <a:ea typeface="楷体_GB2312"/>
              </a:rPr>
              <a:t>    </a:t>
            </a:r>
            <a:r>
              <a:rPr lang="zh-CN" altLang="en-US" sz="2800" b="1" dirty="0">
                <a:solidFill>
                  <a:srgbClr val="FF3300"/>
                </a:solidFill>
                <a:ea typeface="楷体_GB2312"/>
              </a:rPr>
              <a:t>注意：</a:t>
            </a:r>
            <a:endParaRPr lang="zh-CN" altLang="en-US" sz="2800" b="1" dirty="0">
              <a:solidFill>
                <a:schemeClr val="bg2"/>
              </a:solidFill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02532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9" grpId="0" autoUpdateAnimBg="0"/>
      <p:bldP spid="95240" grpId="0" animBg="1" autoUpdateAnimBg="0"/>
      <p:bldP spid="17" grpId="0"/>
      <p:bldP spid="114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4.2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非线性电阻电路的方程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271464" y="980728"/>
            <a:ext cx="10297144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358775" indent="-358775"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基尔霍夫电流定律（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KCL）、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基尔霍夫电压定律（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KVL）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只与电路的结构有关，而与元件的性质无关。因此就列写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本身方程，非线性电阻电路与线性电阻电路</a:t>
            </a:r>
            <a:r>
              <a:rPr lang="zh-CN" altLang="en-US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无区别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1271464" y="3212976"/>
            <a:ext cx="10225136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358775" indent="-358775"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元件本身的特性：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由于非线性电阻元件的电压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电流关系不是线性的，所以不满足欧姆定律，得到的方程将是</a:t>
            </a:r>
            <a:r>
              <a:rPr lang="zh-CN" altLang="en-US" sz="2800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非线性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的。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不同的是元件本身的特性。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40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3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3973968"/>
              </p:ext>
            </p:extLst>
          </p:nvPr>
        </p:nvGraphicFramePr>
        <p:xfrm>
          <a:off x="1873251" y="3555214"/>
          <a:ext cx="4051300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06" name="Equation" r:id="rId4" imgW="1498320" imgH="482400" progId="Equation.DSMT4">
                  <p:embed/>
                </p:oleObj>
              </mc:Choice>
              <mc:Fallback>
                <p:oleObj name="Equation" r:id="rId4" imgW="1498320" imgH="482400" progId="Equation.DSMT4">
                  <p:embed/>
                  <p:pic>
                    <p:nvPicPr>
                      <p:cNvPr id="993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1" y="3555214"/>
                        <a:ext cx="4051300" cy="1212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7" name="Text Box 9"/>
          <p:cNvSpPr txBox="1">
            <a:spLocks noChangeArrowheads="1"/>
          </p:cNvSpPr>
          <p:nvPr/>
        </p:nvSpPr>
        <p:spPr bwMode="auto">
          <a:xfrm>
            <a:off x="1380599" y="2857745"/>
            <a:ext cx="2390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网孔法</a:t>
            </a:r>
          </a:p>
        </p:txBody>
      </p:sp>
      <p:graphicFrame>
        <p:nvGraphicFramePr>
          <p:cNvPr id="993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071875"/>
              </p:ext>
            </p:extLst>
          </p:nvPr>
        </p:nvGraphicFramePr>
        <p:xfrm>
          <a:off x="2182644" y="4783876"/>
          <a:ext cx="1590675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07" name="Equation" r:id="rId6" imgW="609480" imgH="342720" progId="Equation.DSMT4">
                  <p:embed/>
                </p:oleObj>
              </mc:Choice>
              <mc:Fallback>
                <p:oleObj name="Equation" r:id="rId6" imgW="609480" imgH="342720" progId="Equation.DSMT4">
                  <p:embed/>
                  <p:pic>
                    <p:nvPicPr>
                      <p:cNvPr id="9933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644" y="4783876"/>
                        <a:ext cx="1590675" cy="830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1559496" y="5733256"/>
            <a:ext cx="6037384" cy="983273"/>
            <a:chOff x="308" y="3462"/>
            <a:chExt cx="4120" cy="671"/>
          </a:xfrm>
        </p:grpSpPr>
        <p:sp>
          <p:nvSpPr>
            <p:cNvPr id="5135" name="Rectangle 10"/>
            <p:cNvSpPr>
              <a:spLocks noChangeArrowheads="1"/>
            </p:cNvSpPr>
            <p:nvPr/>
          </p:nvSpPr>
          <p:spPr bwMode="auto">
            <a:xfrm>
              <a:off x="308" y="3619"/>
              <a:ext cx="2288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消去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80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80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可得 </a:t>
              </a:r>
            </a:p>
          </p:txBody>
        </p:sp>
        <p:graphicFrame>
          <p:nvGraphicFramePr>
            <p:cNvPr id="5125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4355405"/>
                </p:ext>
              </p:extLst>
            </p:nvPr>
          </p:nvGraphicFramePr>
          <p:xfrm>
            <a:off x="2232" y="3462"/>
            <a:ext cx="2196" cy="6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408" name="Equation" r:id="rId8" imgW="1498320" imgH="457200" progId="Equation.DSMT4">
                    <p:embed/>
                  </p:oleObj>
                </mc:Choice>
                <mc:Fallback>
                  <p:oleObj name="Equation" r:id="rId8" imgW="1498320" imgH="457200" progId="Equation.DSMT4">
                    <p:embed/>
                    <p:pic>
                      <p:nvPicPr>
                        <p:cNvPr id="5125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2" y="3462"/>
                          <a:ext cx="2196" cy="6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2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391110"/>
              </p:ext>
            </p:extLst>
          </p:nvPr>
        </p:nvGraphicFramePr>
        <p:xfrm>
          <a:off x="7714373" y="2664712"/>
          <a:ext cx="3853962" cy="1570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09" name="Visio" r:id="rId10" imgW="2005279" imgH="821131" progId="Visio.Drawing.11">
                  <p:embed/>
                </p:oleObj>
              </mc:Choice>
              <mc:Fallback>
                <p:oleObj name="Visio" r:id="rId10" imgW="2005279" imgH="821131" progId="Visio.Drawing.11">
                  <p:embed/>
                  <p:pic>
                    <p:nvPicPr>
                      <p:cNvPr id="512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4373" y="2664712"/>
                        <a:ext cx="3853962" cy="15708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4.2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非线性电阻电路的方程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grpSp>
        <p:nvGrpSpPr>
          <p:cNvPr id="19" name="Group 20"/>
          <p:cNvGrpSpPr>
            <a:grpSpLocks/>
          </p:cNvGrpSpPr>
          <p:nvPr/>
        </p:nvGrpSpPr>
        <p:grpSpPr bwMode="auto">
          <a:xfrm>
            <a:off x="479769" y="898753"/>
            <a:ext cx="11088566" cy="1894743"/>
            <a:chOff x="-809" y="315"/>
            <a:chExt cx="7567" cy="1293"/>
          </a:xfrm>
        </p:grpSpPr>
        <p:graphicFrame>
          <p:nvGraphicFramePr>
            <p:cNvPr id="2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5179049"/>
                </p:ext>
              </p:extLst>
            </p:nvPr>
          </p:nvGraphicFramePr>
          <p:xfrm>
            <a:off x="2766" y="625"/>
            <a:ext cx="1085" cy="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410" name="Equation" r:id="rId12" imgW="609480" imgH="342720" progId="Equation.DSMT4">
                    <p:embed/>
                  </p:oleObj>
                </mc:Choice>
                <mc:Fallback>
                  <p:oleObj name="Equation" r:id="rId12" imgW="609480" imgH="342720" progId="Equation.DSMT4">
                    <p:embed/>
                    <p:pic>
                      <p:nvPicPr>
                        <p:cNvPr id="5126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6" y="625"/>
                          <a:ext cx="1085" cy="5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Rectangle 5"/>
            <p:cNvSpPr>
              <a:spLocks noChangeArrowheads="1"/>
            </p:cNvSpPr>
            <p:nvPr/>
          </p:nvSpPr>
          <p:spPr bwMode="auto">
            <a:xfrm>
              <a:off x="-809" y="315"/>
              <a:ext cx="7567" cy="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809625" indent="-809625" eaLnBrk="1" hangingPunct="1">
                <a:lnSpc>
                  <a:spcPct val="120000"/>
                </a:lnSpc>
              </a:pP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图示为一非线性电阻电路，其中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为线性电阻，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为非线性电阻，其电压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电流关系为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</a:p>
          </p:txBody>
        </p:sp>
        <p:sp>
          <p:nvSpPr>
            <p:cNvPr id="22" name="Rectangle 6"/>
            <p:cNvSpPr>
              <a:spLocks noChangeArrowheads="1"/>
            </p:cNvSpPr>
            <p:nvPr/>
          </p:nvSpPr>
          <p:spPr bwMode="auto">
            <a:xfrm>
              <a:off x="-250" y="1226"/>
              <a:ext cx="4154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列出电路方程，并求出相应的变量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479769" y="2893143"/>
            <a:ext cx="9357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5044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7" grpId="0" autoUpdateAnimBg="0"/>
      <p:bldP spid="14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7" name="Text Box 9"/>
          <p:cNvSpPr txBox="1">
            <a:spLocks noChangeArrowheads="1"/>
          </p:cNvSpPr>
          <p:nvPr/>
        </p:nvSpPr>
        <p:spPr bwMode="auto">
          <a:xfrm>
            <a:off x="1384524" y="2879964"/>
            <a:ext cx="31397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节点电压法</a:t>
            </a: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4.2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非线性电阻电路的方程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071413"/>
              </p:ext>
            </p:extLst>
          </p:nvPr>
        </p:nvGraphicFramePr>
        <p:xfrm>
          <a:off x="1847528" y="3519319"/>
          <a:ext cx="3330575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220" name="Equation" r:id="rId4" imgW="1434960" imgH="482400" progId="Equation.DSMT4">
                  <p:embed/>
                </p:oleObj>
              </mc:Choice>
              <mc:Fallback>
                <p:oleObj name="Equation" r:id="rId4" imgW="1434960" imgH="482400" progId="Equation.DSMT4">
                  <p:embed/>
                  <p:pic>
                    <p:nvPicPr>
                      <p:cNvPr id="614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3519319"/>
                        <a:ext cx="3330575" cy="1077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664156"/>
              </p:ext>
            </p:extLst>
          </p:nvPr>
        </p:nvGraphicFramePr>
        <p:xfrm>
          <a:off x="2102011" y="4681231"/>
          <a:ext cx="125412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221" name="Equation" r:id="rId6" imgW="545760" imgH="419040" progId="Equation.DSMT4">
                  <p:embed/>
                </p:oleObj>
              </mc:Choice>
              <mc:Fallback>
                <p:oleObj name="Equation" r:id="rId6" imgW="545760" imgH="419040" progId="Equation.DSMT4">
                  <p:embed/>
                  <p:pic>
                    <p:nvPicPr>
                      <p:cNvPr id="614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2011" y="4681231"/>
                        <a:ext cx="1254125" cy="1014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20"/>
          <p:cNvGrpSpPr>
            <a:grpSpLocks/>
          </p:cNvGrpSpPr>
          <p:nvPr/>
        </p:nvGrpSpPr>
        <p:grpSpPr bwMode="auto">
          <a:xfrm>
            <a:off x="1418556" y="5695644"/>
            <a:ext cx="6236677" cy="926123"/>
            <a:chOff x="312" y="3462"/>
            <a:chExt cx="4256" cy="632"/>
          </a:xfrm>
        </p:grpSpPr>
        <p:graphicFrame>
          <p:nvGraphicFramePr>
            <p:cNvPr id="22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0186879"/>
                </p:ext>
              </p:extLst>
            </p:nvPr>
          </p:nvGraphicFramePr>
          <p:xfrm>
            <a:off x="1812" y="3462"/>
            <a:ext cx="2756" cy="6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0222" name="Equation" r:id="rId8" imgW="1993680" imgH="457200" progId="Equation.DSMT4">
                    <p:embed/>
                  </p:oleObj>
                </mc:Choice>
                <mc:Fallback>
                  <p:oleObj name="Equation" r:id="rId8" imgW="1993680" imgH="457200" progId="Equation.DSMT4">
                    <p:embed/>
                    <p:pic>
                      <p:nvPicPr>
                        <p:cNvPr id="6149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2" y="3462"/>
                          <a:ext cx="2756" cy="6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Rectangle 16"/>
            <p:cNvSpPr>
              <a:spLocks noChangeArrowheads="1"/>
            </p:cNvSpPr>
            <p:nvPr/>
          </p:nvSpPr>
          <p:spPr bwMode="auto">
            <a:xfrm>
              <a:off x="312" y="3600"/>
              <a:ext cx="192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消去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80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可得 </a:t>
              </a:r>
            </a:p>
          </p:txBody>
        </p:sp>
      </p:grpSp>
      <p:grpSp>
        <p:nvGrpSpPr>
          <p:cNvPr id="24" name="Group 20"/>
          <p:cNvGrpSpPr>
            <a:grpSpLocks/>
          </p:cNvGrpSpPr>
          <p:nvPr/>
        </p:nvGrpSpPr>
        <p:grpSpPr bwMode="auto">
          <a:xfrm>
            <a:off x="479769" y="898753"/>
            <a:ext cx="11088566" cy="1894743"/>
            <a:chOff x="-809" y="315"/>
            <a:chExt cx="7567" cy="1293"/>
          </a:xfrm>
        </p:grpSpPr>
        <p:graphicFrame>
          <p:nvGraphicFramePr>
            <p:cNvPr id="25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373635"/>
                </p:ext>
              </p:extLst>
            </p:nvPr>
          </p:nvGraphicFramePr>
          <p:xfrm>
            <a:off x="2766" y="625"/>
            <a:ext cx="1085" cy="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0223" name="Equation" r:id="rId10" imgW="609480" imgH="342720" progId="Equation.DSMT4">
                    <p:embed/>
                  </p:oleObj>
                </mc:Choice>
                <mc:Fallback>
                  <p:oleObj name="Equation" r:id="rId10" imgW="609480" imgH="342720" progId="Equation.DSMT4">
                    <p:embed/>
                    <p:pic>
                      <p:nvPicPr>
                        <p:cNvPr id="2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6" y="625"/>
                          <a:ext cx="1085" cy="5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Rectangle 5"/>
            <p:cNvSpPr>
              <a:spLocks noChangeArrowheads="1"/>
            </p:cNvSpPr>
            <p:nvPr/>
          </p:nvSpPr>
          <p:spPr bwMode="auto">
            <a:xfrm>
              <a:off x="-809" y="315"/>
              <a:ext cx="7567" cy="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809625" indent="-809625" eaLnBrk="1" hangingPunct="1">
                <a:lnSpc>
                  <a:spcPct val="120000"/>
                </a:lnSpc>
              </a:pP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图示为一非线性电阻电路，其中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为线性电阻，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为非线性电阻，其电压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电流关系为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</a:p>
          </p:txBody>
        </p:sp>
        <p:sp>
          <p:nvSpPr>
            <p:cNvPr id="27" name="Rectangle 6"/>
            <p:cNvSpPr>
              <a:spLocks noChangeArrowheads="1"/>
            </p:cNvSpPr>
            <p:nvPr/>
          </p:nvSpPr>
          <p:spPr bwMode="auto">
            <a:xfrm>
              <a:off x="-250" y="1226"/>
              <a:ext cx="4154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列出电路方程，并求出相应的变量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479769" y="2893143"/>
            <a:ext cx="9357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3361420"/>
              </p:ext>
            </p:extLst>
          </p:nvPr>
        </p:nvGraphicFramePr>
        <p:xfrm>
          <a:off x="7714373" y="2664712"/>
          <a:ext cx="3853962" cy="1570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224" name="Visio" r:id="rId12" imgW="2005279" imgH="821131" progId="Visio.Drawing.11">
                  <p:embed/>
                </p:oleObj>
              </mc:Choice>
              <mc:Fallback>
                <p:oleObj name="Visio" r:id="rId12" imgW="2005279" imgH="821131" progId="Visio.Drawing.11">
                  <p:embed/>
                  <p:pic>
                    <p:nvPicPr>
                      <p:cNvPr id="512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4373" y="2664712"/>
                        <a:ext cx="3853962" cy="15708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18418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7" grpId="0" autoUpdateAnimBg="0"/>
      <p:bldP spid="2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551384" y="1812531"/>
            <a:ext cx="9793088" cy="159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542925" indent="-542925" algn="just"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非线性电阻的处理与受控电源的处理类似，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只是非线性电阻的控制量是电阻本身所在支路上的变量（电压或电流）而已。</a:t>
            </a:r>
          </a:p>
        </p:txBody>
      </p:sp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551384" y="5169850"/>
            <a:ext cx="11017224" cy="159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542925" indent="-542925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电压控制型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非线性电阻，采用</a:t>
            </a:r>
            <a:r>
              <a:rPr lang="zh-CN" altLang="en-US" sz="2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节点法或割集法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进行分析比较简单，因为用电压变量（节点电压或割集电压）容易表示电压控制型非线性电阻上的电流</a:t>
            </a:r>
          </a:p>
        </p:txBody>
      </p:sp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551384" y="3406557"/>
            <a:ext cx="11017224" cy="159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542925" indent="-542925"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电流控制型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非线性电阻，采用</a:t>
            </a:r>
            <a:r>
              <a:rPr lang="zh-CN" altLang="en-US" sz="2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网孔法或回路法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进行分析比较简单，因为用电流变量（网孔电流或回路电流）容易表示电流控制型非线性电阻上的电压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4.2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非线性电阻电路的方程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7" name="AutoShape 8" descr="40%"/>
          <p:cNvSpPr>
            <a:spLocks noChangeArrowheads="1"/>
          </p:cNvSpPr>
          <p:nvPr/>
        </p:nvSpPr>
        <p:spPr bwMode="auto">
          <a:xfrm>
            <a:off x="551384" y="947273"/>
            <a:ext cx="1965325" cy="838200"/>
          </a:xfrm>
          <a:prstGeom prst="cloudCallout">
            <a:avLst>
              <a:gd name="adj1" fmla="val 64706"/>
              <a:gd name="adj2" fmla="val 63144"/>
            </a:avLst>
          </a:prstGeom>
          <a:blipFill dpi="0" rotWithShape="0">
            <a:blip r:embed="rId5"/>
            <a:srcRect/>
            <a:tile tx="0" ty="0" sx="100000" sy="100000" flip="none" algn="tl"/>
          </a:blipFill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dirty="0">
                <a:solidFill>
                  <a:schemeClr val="bg2"/>
                </a:solidFill>
              </a:rPr>
              <a:t>    </a:t>
            </a:r>
            <a:r>
              <a:rPr lang="zh-CN" altLang="en-US" sz="2800" b="1" dirty="0">
                <a:solidFill>
                  <a:srgbClr val="FF3300"/>
                </a:solidFill>
                <a:ea typeface="楷体_GB2312"/>
              </a:rPr>
              <a:t>注意：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869810"/>
              </p:ext>
            </p:extLst>
          </p:nvPr>
        </p:nvGraphicFramePr>
        <p:xfrm>
          <a:off x="10101758" y="836712"/>
          <a:ext cx="146685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497" name="剪辑" r:id="rId6" imgW="952129" imgH="828352" progId="MS_ClipArt_Gallery.2">
                  <p:embed/>
                </p:oleObj>
              </mc:Choice>
              <mc:Fallback>
                <p:oleObj name="剪辑" r:id="rId6" imgW="952129" imgH="828352" progId="MS_ClipArt_Gallery.2">
                  <p:embed/>
                  <p:pic>
                    <p:nvPicPr>
                      <p:cNvPr id="5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01758" y="836712"/>
                        <a:ext cx="1466850" cy="127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7690818"/>
      </p:ext>
    </p:extLst>
  </p:cSld>
  <p:clrMapOvr>
    <a:masterClrMapping/>
  </p:clrMapOvr>
  <p:transition>
    <p:wipe dir="r"/>
    <p:sndAc>
      <p:stSnd>
        <p:snd r:embed="rId4" name="PROJCTO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/>
      <p:bldP spid="103427" grpId="0" autoUpdateAnimBg="0"/>
      <p:bldP spid="103428" grpId="0" autoUpdateAnimBg="0"/>
      <p:bldP spid="7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8"/>
          <p:cNvSpPr>
            <a:spLocks noChangeArrowheads="1"/>
          </p:cNvSpPr>
          <p:nvPr/>
        </p:nvSpPr>
        <p:spPr bwMode="auto">
          <a:xfrm>
            <a:off x="839416" y="1700809"/>
            <a:ext cx="10729192" cy="107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58775" indent="-358775">
              <a:lnSpc>
                <a:spcPct val="120000"/>
              </a:lnSpc>
              <a:defRPr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图解分析方法的思路：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因为每个方程代表一条特性曲线，图解分析方法就是用作图的方法找到这些曲线的交点，即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静态工作点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Arial"/>
              </a:rPr>
              <a:t>4.3  </a:t>
            </a:r>
            <a:r>
              <a:rPr lang="zh-CN" altLang="en-US" sz="3200" b="1" dirty="0">
                <a:solidFill>
                  <a:srgbClr val="0000FF"/>
                </a:solidFill>
                <a:latin typeface="Arial"/>
              </a:rPr>
              <a:t>图解分析法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989213" y="980728"/>
            <a:ext cx="28800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4.3.1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思路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10" name="Picture 8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9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4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26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5" name="Picture 16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17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18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19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0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21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22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0" name="Group 77"/>
          <p:cNvGrpSpPr>
            <a:grpSpLocks/>
          </p:cNvGrpSpPr>
          <p:nvPr/>
        </p:nvGrpSpPr>
        <p:grpSpPr bwMode="auto">
          <a:xfrm>
            <a:off x="3358788" y="3068960"/>
            <a:ext cx="4183062" cy="3276600"/>
            <a:chOff x="421" y="346"/>
            <a:chExt cx="2326" cy="1715"/>
          </a:xfrm>
        </p:grpSpPr>
        <p:grpSp>
          <p:nvGrpSpPr>
            <p:cNvPr id="51" name="Group 54"/>
            <p:cNvGrpSpPr>
              <a:grpSpLocks/>
            </p:cNvGrpSpPr>
            <p:nvPr/>
          </p:nvGrpSpPr>
          <p:grpSpPr bwMode="auto">
            <a:xfrm>
              <a:off x="793" y="468"/>
              <a:ext cx="1846" cy="1332"/>
              <a:chOff x="3696" y="2282"/>
              <a:chExt cx="1846" cy="1332"/>
            </a:xfrm>
          </p:grpSpPr>
          <p:sp>
            <p:nvSpPr>
              <p:cNvPr id="69" name="Freeform 55"/>
              <p:cNvSpPr>
                <a:spLocks/>
              </p:cNvSpPr>
              <p:nvPr/>
            </p:nvSpPr>
            <p:spPr bwMode="auto">
              <a:xfrm>
                <a:off x="3696" y="2387"/>
                <a:ext cx="1180" cy="1227"/>
              </a:xfrm>
              <a:custGeom>
                <a:avLst/>
                <a:gdLst>
                  <a:gd name="T0" fmla="*/ 0 w 1008"/>
                  <a:gd name="T1" fmla="*/ 864 h 864"/>
                  <a:gd name="T2" fmla="*/ 432 w 1008"/>
                  <a:gd name="T3" fmla="*/ 720 h 864"/>
                  <a:gd name="T4" fmla="*/ 1008 w 1008"/>
                  <a:gd name="T5" fmla="*/ 0 h 8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08" h="864">
                    <a:moveTo>
                      <a:pt x="0" y="864"/>
                    </a:moveTo>
                    <a:cubicBezTo>
                      <a:pt x="132" y="864"/>
                      <a:pt x="264" y="864"/>
                      <a:pt x="432" y="720"/>
                    </a:cubicBezTo>
                    <a:cubicBezTo>
                      <a:pt x="600" y="576"/>
                      <a:pt x="912" y="120"/>
                      <a:pt x="1008" y="0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70" name="Text Box 56"/>
              <p:cNvSpPr txBox="1">
                <a:spLocks noChangeArrowheads="1"/>
              </p:cNvSpPr>
              <p:nvPr/>
            </p:nvSpPr>
            <p:spPr bwMode="auto">
              <a:xfrm>
                <a:off x="4918" y="2282"/>
                <a:ext cx="624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 (</a:t>
                </a:r>
                <a:r>
                  <a:rPr kumimoji="1" lang="en-US" altLang="zh-CN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u</a:t>
                </a: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)</a:t>
                </a:r>
              </a:p>
            </p:txBody>
          </p:sp>
        </p:grpSp>
        <p:grpSp>
          <p:nvGrpSpPr>
            <p:cNvPr id="52" name="Group 57"/>
            <p:cNvGrpSpPr>
              <a:grpSpLocks/>
            </p:cNvGrpSpPr>
            <p:nvPr/>
          </p:nvGrpSpPr>
          <p:grpSpPr bwMode="auto">
            <a:xfrm>
              <a:off x="421" y="346"/>
              <a:ext cx="2326" cy="1704"/>
              <a:chOff x="3201" y="2160"/>
              <a:chExt cx="2326" cy="1704"/>
            </a:xfrm>
          </p:grpSpPr>
          <p:sp>
            <p:nvSpPr>
              <p:cNvPr id="61" name="Line 58"/>
              <p:cNvSpPr>
                <a:spLocks noChangeShapeType="1"/>
              </p:cNvSpPr>
              <p:nvPr/>
            </p:nvSpPr>
            <p:spPr bwMode="auto">
              <a:xfrm flipV="1">
                <a:off x="3379" y="3612"/>
                <a:ext cx="208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62" name="Line 59"/>
              <p:cNvSpPr>
                <a:spLocks noChangeShapeType="1"/>
              </p:cNvSpPr>
              <p:nvPr/>
            </p:nvSpPr>
            <p:spPr bwMode="auto">
              <a:xfrm flipV="1">
                <a:off x="3577" y="2274"/>
                <a:ext cx="0" cy="159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63" name="Line 60"/>
              <p:cNvSpPr>
                <a:spLocks noChangeShapeType="1"/>
              </p:cNvSpPr>
              <p:nvPr/>
            </p:nvSpPr>
            <p:spPr bwMode="auto">
              <a:xfrm>
                <a:off x="3560" y="2478"/>
                <a:ext cx="1361" cy="1134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 type="none" w="sm" len="sm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64" name="Text Box 61"/>
              <p:cNvSpPr txBox="1">
                <a:spLocks noChangeArrowheads="1"/>
              </p:cNvSpPr>
              <p:nvPr/>
            </p:nvSpPr>
            <p:spPr bwMode="auto">
              <a:xfrm>
                <a:off x="5239" y="3566"/>
                <a:ext cx="288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u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5" name="Text Box 62"/>
              <p:cNvSpPr txBox="1">
                <a:spLocks noChangeArrowheads="1"/>
              </p:cNvSpPr>
              <p:nvPr/>
            </p:nvSpPr>
            <p:spPr bwMode="auto">
              <a:xfrm>
                <a:off x="3606" y="2160"/>
                <a:ext cx="336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" name="Text Box 63"/>
              <p:cNvSpPr txBox="1">
                <a:spLocks noChangeArrowheads="1"/>
              </p:cNvSpPr>
              <p:nvPr/>
            </p:nvSpPr>
            <p:spPr bwMode="auto">
              <a:xfrm>
                <a:off x="4785" y="3566"/>
                <a:ext cx="499" cy="2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U</a:t>
                </a:r>
                <a:r>
                  <a:rPr kumimoji="1" lang="en-US" altLang="zh-CN" sz="2400" b="1" i="0" u="none" strike="noStrike" kern="1200" cap="none" spc="0" normalizeH="0" baseline="-25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oc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67" name="Object 64"/>
              <p:cNvGraphicFramePr>
                <a:graphicFrameLocks noChangeAspect="1"/>
              </p:cNvGraphicFramePr>
              <p:nvPr/>
            </p:nvGraphicFramePr>
            <p:xfrm>
              <a:off x="3201" y="2279"/>
              <a:ext cx="324" cy="4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6478" name="Equation" r:id="rId5" imgW="279360" imgH="457200" progId="Equation.DSMT4">
                      <p:embed/>
                    </p:oleObj>
                  </mc:Choice>
                  <mc:Fallback>
                    <p:oleObj name="Equation" r:id="rId5" imgW="279360" imgH="457200" progId="Equation.DSMT4">
                      <p:embed/>
                      <p:pic>
                        <p:nvPicPr>
                          <p:cNvPr id="46" name="Object 6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01" y="2279"/>
                            <a:ext cx="324" cy="4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CC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8" name="Text Box 65"/>
              <p:cNvSpPr txBox="1">
                <a:spLocks noChangeArrowheads="1"/>
              </p:cNvSpPr>
              <p:nvPr/>
            </p:nvSpPr>
            <p:spPr bwMode="auto">
              <a:xfrm>
                <a:off x="3343" y="3558"/>
                <a:ext cx="288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O</a:t>
                </a:r>
              </a:p>
            </p:txBody>
          </p:sp>
        </p:grpSp>
        <p:grpSp>
          <p:nvGrpSpPr>
            <p:cNvPr id="53" name="Group 66"/>
            <p:cNvGrpSpPr>
              <a:grpSpLocks/>
            </p:cNvGrpSpPr>
            <p:nvPr/>
          </p:nvGrpSpPr>
          <p:grpSpPr bwMode="auto">
            <a:xfrm>
              <a:off x="577" y="1081"/>
              <a:ext cx="1867" cy="980"/>
              <a:chOff x="3480" y="2895"/>
              <a:chExt cx="1867" cy="980"/>
            </a:xfrm>
          </p:grpSpPr>
          <p:graphicFrame>
            <p:nvGraphicFramePr>
              <p:cNvPr id="54" name="Object 67"/>
              <p:cNvGraphicFramePr>
                <a:graphicFrameLocks noChangeAspect="1"/>
              </p:cNvGraphicFramePr>
              <p:nvPr/>
            </p:nvGraphicFramePr>
            <p:xfrm>
              <a:off x="4340" y="3575"/>
              <a:ext cx="215" cy="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6479" name="Equation" r:id="rId7" imgW="164880" imgH="228600" progId="Equation.DSMT4">
                      <p:embed/>
                    </p:oleObj>
                  </mc:Choice>
                  <mc:Fallback>
                    <p:oleObj name="Equation" r:id="rId7" imgW="164880" imgH="228600" progId="Equation.DSMT4">
                      <p:embed/>
                      <p:pic>
                        <p:nvPicPr>
                          <p:cNvPr id="33" name="Object 6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40" y="3575"/>
                            <a:ext cx="215" cy="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CC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5" name="Object 68"/>
              <p:cNvGraphicFramePr>
                <a:graphicFrameLocks noChangeAspect="1"/>
              </p:cNvGraphicFramePr>
              <p:nvPr/>
            </p:nvGraphicFramePr>
            <p:xfrm>
              <a:off x="3480" y="2895"/>
              <a:ext cx="189" cy="3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6480" name="Equation" r:id="rId9" imgW="126720" imgH="228600" progId="Equation.DSMT4">
                      <p:embed/>
                    </p:oleObj>
                  </mc:Choice>
                  <mc:Fallback>
                    <p:oleObj name="Equation" r:id="rId9" imgW="126720" imgH="228600" progId="Equation.DSMT4">
                      <p:embed/>
                      <p:pic>
                        <p:nvPicPr>
                          <p:cNvPr id="34" name="Object 6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80" y="2895"/>
                            <a:ext cx="189" cy="3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CC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6" name="Object 69"/>
              <p:cNvGraphicFramePr>
                <a:graphicFrameLocks noChangeAspect="1"/>
              </p:cNvGraphicFramePr>
              <p:nvPr/>
            </p:nvGraphicFramePr>
            <p:xfrm>
              <a:off x="4582" y="2939"/>
              <a:ext cx="765" cy="2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6481" name="Equation" r:id="rId11" imgW="609480" imgH="228600" progId="Equation.DSMT4">
                      <p:embed/>
                    </p:oleObj>
                  </mc:Choice>
                  <mc:Fallback>
                    <p:oleObj name="Equation" r:id="rId11" imgW="609480" imgH="228600" progId="Equation.DSMT4">
                      <p:embed/>
                      <p:pic>
                        <p:nvPicPr>
                          <p:cNvPr id="35" name="Object 6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2" y="2939"/>
                            <a:ext cx="765" cy="2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FFCC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57" name="Group 70"/>
              <p:cNvGrpSpPr>
                <a:grpSpLocks/>
              </p:cNvGrpSpPr>
              <p:nvPr/>
            </p:nvGrpSpPr>
            <p:grpSpPr bwMode="auto">
              <a:xfrm>
                <a:off x="3696" y="3063"/>
                <a:ext cx="776" cy="548"/>
                <a:chOff x="3606" y="3274"/>
                <a:chExt cx="581" cy="350"/>
              </a:xfrm>
            </p:grpSpPr>
            <p:sp>
              <p:nvSpPr>
                <p:cNvPr id="58" name="Line 71"/>
                <p:cNvSpPr>
                  <a:spLocks noChangeShapeType="1"/>
                </p:cNvSpPr>
                <p:nvPr/>
              </p:nvSpPr>
              <p:spPr bwMode="auto">
                <a:xfrm>
                  <a:off x="3606" y="3294"/>
                  <a:ext cx="57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59" name="Line 72"/>
                <p:cNvSpPr>
                  <a:spLocks noChangeShapeType="1"/>
                </p:cNvSpPr>
                <p:nvPr/>
              </p:nvSpPr>
              <p:spPr bwMode="auto">
                <a:xfrm>
                  <a:off x="4164" y="3288"/>
                  <a:ext cx="0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60" name="Oval 73"/>
                <p:cNvSpPr>
                  <a:spLocks noChangeArrowheads="1"/>
                </p:cNvSpPr>
                <p:nvPr/>
              </p:nvSpPr>
              <p:spPr bwMode="auto">
                <a:xfrm>
                  <a:off x="4142" y="3274"/>
                  <a:ext cx="45" cy="45"/>
                </a:xfrm>
                <a:prstGeom prst="ellipse">
                  <a:avLst/>
                </a:prstGeom>
                <a:solidFill>
                  <a:srgbClr val="FF3300"/>
                </a:solidFill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8673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8"/>
          <p:cNvSpPr>
            <a:spLocks noChangeArrowheads="1"/>
          </p:cNvSpPr>
          <p:nvPr/>
        </p:nvSpPr>
        <p:spPr bwMode="auto">
          <a:xfrm>
            <a:off x="839416" y="1706149"/>
            <a:ext cx="2805755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58775" indent="-358775">
              <a:lnSpc>
                <a:spcPct val="120000"/>
              </a:lnSpc>
              <a:defRPr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图解分析法：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Arial"/>
              </a:rPr>
              <a:t>4.3  </a:t>
            </a:r>
            <a:r>
              <a:rPr lang="zh-CN" altLang="en-US" sz="3200" b="1" dirty="0">
                <a:solidFill>
                  <a:srgbClr val="0000FF"/>
                </a:solidFill>
                <a:latin typeface="Arial"/>
              </a:rPr>
              <a:t>图解分析法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989213" y="980728"/>
            <a:ext cx="28800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4.3.2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方法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10" name="Picture 8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9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4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26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5" name="Picture 16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17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18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19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0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21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22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850607"/>
              </p:ext>
            </p:extLst>
          </p:nvPr>
        </p:nvGraphicFramePr>
        <p:xfrm>
          <a:off x="2275285" y="4221088"/>
          <a:ext cx="3626827" cy="1707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7400" name="Visio" r:id="rId5" imgW="3431520" imgH="1616040" progId="Visio.Drawing.11">
                  <p:embed/>
                </p:oleObj>
              </mc:Choice>
              <mc:Fallback>
                <p:oleObj name="Visio" r:id="rId5" imgW="3431520" imgH="1616040" progId="Visio.Drawing.11">
                  <p:embed/>
                  <p:pic>
                    <p:nvPicPr>
                      <p:cNvPr id="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5285" y="4221088"/>
                        <a:ext cx="3626827" cy="1707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1247974" y="2254014"/>
            <a:ext cx="10392642" cy="164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0850" indent="-450850">
              <a:lnSpc>
                <a:spcPct val="120000"/>
              </a:lnSpc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将非线性电路拆分为两个一端口电路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。拆分的方式可以是任意的，一般拆分成线性电路和非线性电路，也可以拆分成两个非线性电路。设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的电压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电流关系：</a:t>
            </a:r>
          </a:p>
        </p:txBody>
      </p:sp>
      <p:graphicFrame>
        <p:nvGraphicFramePr>
          <p:cNvPr id="2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694352"/>
              </p:ext>
            </p:extLst>
          </p:nvPr>
        </p:nvGraphicFramePr>
        <p:xfrm>
          <a:off x="7248128" y="4594638"/>
          <a:ext cx="2384425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7401" name="Equation" r:id="rId7" imgW="927000" imgH="482400" progId="Equation.DSMT4">
                  <p:embed/>
                </p:oleObj>
              </mc:Choice>
              <mc:Fallback>
                <p:oleObj name="Equation" r:id="rId7" imgW="927000" imgH="482400" progId="Equation.DSMT4">
                  <p:embed/>
                  <p:pic>
                    <p:nvPicPr>
                      <p:cNvPr id="2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128" y="4594638"/>
                        <a:ext cx="2384425" cy="1157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820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/>
      <p:bldP spid="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Arial"/>
              </a:rPr>
              <a:t>4.3  </a:t>
            </a:r>
            <a:r>
              <a:rPr lang="zh-CN" altLang="en-US" sz="3200" b="1" dirty="0">
                <a:solidFill>
                  <a:srgbClr val="0000FF"/>
                </a:solidFill>
                <a:latin typeface="Arial"/>
              </a:rPr>
              <a:t>图解分析法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861032"/>
              </p:ext>
            </p:extLst>
          </p:nvPr>
        </p:nvGraphicFramePr>
        <p:xfrm>
          <a:off x="7104112" y="2452310"/>
          <a:ext cx="3626827" cy="1707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526" name="Visio" r:id="rId4" imgW="3431520" imgH="1616040" progId="Visio.Drawing.11">
                  <p:embed/>
                </p:oleObj>
              </mc:Choice>
              <mc:Fallback>
                <p:oleObj name="Visio" r:id="rId4" imgW="3431520" imgH="1616040" progId="Visio.Drawing.11">
                  <p:embed/>
                  <p:pic>
                    <p:nvPicPr>
                      <p:cNvPr id="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112" y="2452310"/>
                        <a:ext cx="3626827" cy="1707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098307"/>
              </p:ext>
            </p:extLst>
          </p:nvPr>
        </p:nvGraphicFramePr>
        <p:xfrm>
          <a:off x="2844278" y="2708276"/>
          <a:ext cx="1806575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527" name="Equation" r:id="rId6" imgW="583920" imgH="482400" progId="Equation.DSMT4">
                  <p:embed/>
                </p:oleObj>
              </mc:Choice>
              <mc:Fallback>
                <p:oleObj name="Equation" r:id="rId6" imgW="583920" imgH="482400" progId="Equation.DSMT4">
                  <p:embed/>
                  <p:pic>
                    <p:nvPicPr>
                      <p:cNvPr id="25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278" y="2708276"/>
                        <a:ext cx="1806575" cy="1393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19"/>
          <p:cNvSpPr>
            <a:spLocks noChangeArrowheads="1"/>
          </p:cNvSpPr>
          <p:nvPr/>
        </p:nvSpPr>
        <p:spPr bwMode="auto">
          <a:xfrm>
            <a:off x="1199456" y="2257708"/>
            <a:ext cx="40527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KVL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KCL，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</a:p>
        </p:txBody>
      </p:sp>
      <p:sp>
        <p:nvSpPr>
          <p:cNvPr id="31" name="Rectangle 2"/>
          <p:cNvSpPr>
            <a:spLocks noChangeArrowheads="1"/>
          </p:cNvSpPr>
          <p:nvPr/>
        </p:nvSpPr>
        <p:spPr bwMode="auto">
          <a:xfrm>
            <a:off x="5859760" y="4916814"/>
            <a:ext cx="1219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33375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                            </a:t>
            </a:r>
          </a:p>
        </p:txBody>
      </p:sp>
      <p:graphicFrame>
        <p:nvGraphicFramePr>
          <p:cNvPr id="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022703"/>
              </p:ext>
            </p:extLst>
          </p:nvPr>
        </p:nvGraphicFramePr>
        <p:xfrm>
          <a:off x="7536160" y="4508494"/>
          <a:ext cx="2562225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528" name="Equation" r:id="rId8" imgW="1002960" imgH="482400" progId="Equation.DSMT4">
                  <p:embed/>
                </p:oleObj>
              </mc:Choice>
              <mc:Fallback>
                <p:oleObj name="Equation" r:id="rId8" imgW="1002960" imgH="482400" progId="Equation.DSMT4">
                  <p:embed/>
                  <p:pic>
                    <p:nvPicPr>
                      <p:cNvPr id="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6160" y="4508494"/>
                        <a:ext cx="2562225" cy="1231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579444"/>
              </p:ext>
            </p:extLst>
          </p:nvPr>
        </p:nvGraphicFramePr>
        <p:xfrm>
          <a:off x="2842736" y="4551362"/>
          <a:ext cx="2809875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8529" name="Equation" r:id="rId10" imgW="1002960" imgH="482400" progId="Equation.DSMT4">
                  <p:embed/>
                </p:oleObj>
              </mc:Choice>
              <mc:Fallback>
                <p:oleObj name="Equation" r:id="rId10" imgW="1002960" imgH="482400" progId="Equation.DSMT4">
                  <p:embed/>
                  <p:pic>
                    <p:nvPicPr>
                      <p:cNvPr id="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2736" y="4551362"/>
                        <a:ext cx="2809875" cy="1254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11"/>
          <p:cNvSpPr>
            <a:spLocks noChangeArrowheads="1"/>
          </p:cNvSpPr>
          <p:nvPr/>
        </p:nvSpPr>
        <p:spPr bwMode="auto">
          <a:xfrm>
            <a:off x="1196480" y="5816985"/>
            <a:ext cx="10300119" cy="107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531813" indent="-531813" eaLnBrk="1" hangingPunct="1">
              <a:lnSpc>
                <a:spcPct val="120000"/>
              </a:lnSpc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zh-CN" altLang="en-US" sz="2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图解法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在同一坐标系中画出以上两个方程的特性曲线，其交点为电路方程的解。 </a:t>
            </a:r>
          </a:p>
        </p:txBody>
      </p:sp>
      <p:sp>
        <p:nvSpPr>
          <p:cNvPr id="35" name="Rectangle 19"/>
          <p:cNvSpPr>
            <a:spLocks noChangeArrowheads="1"/>
          </p:cNvSpPr>
          <p:nvPr/>
        </p:nvSpPr>
        <p:spPr bwMode="auto">
          <a:xfrm>
            <a:off x="1199456" y="4065123"/>
            <a:ext cx="28584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联立方程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839416" y="1706149"/>
            <a:ext cx="2805755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58775" indent="-358775">
              <a:lnSpc>
                <a:spcPct val="120000"/>
              </a:lnSpc>
              <a:defRPr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图解分析法：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989213" y="980728"/>
            <a:ext cx="28800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4.3.2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方法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37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38" name="Picture 8" descr="Green and Black Diamond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9" descr="Green and Black Diamond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0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48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0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1" name="Picture 16" descr="Green and Black Diamond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" name="Picture 17" descr="Green and Black Diamond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" name="Picture 18" descr="Green and Black Diamond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" name="Picture 19" descr="Green and Black Diamond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" name="Picture 20" descr="Green and Black Diamond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6" name="Picture 21" descr="Green and Black Diamond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" name="Picture 22" descr="Green and Black Diamond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9577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4" grpId="0"/>
      <p:bldP spid="3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79376" y="908721"/>
            <a:ext cx="11287988" cy="1594026"/>
            <a:chOff x="402670" y="980728"/>
            <a:chExt cx="9655771" cy="1594026"/>
          </a:xfrm>
        </p:grpSpPr>
        <p:sp>
          <p:nvSpPr>
            <p:cNvPr id="10254" name="Rectangle 26"/>
            <p:cNvSpPr>
              <a:spLocks noChangeArrowheads="1"/>
            </p:cNvSpPr>
            <p:nvPr/>
          </p:nvSpPr>
          <p:spPr bwMode="auto">
            <a:xfrm>
              <a:off x="402670" y="980728"/>
              <a:ext cx="9485755" cy="1594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717550" indent="-717550" eaLnBrk="1" hangingPunct="1">
                <a:lnSpc>
                  <a:spcPct val="120000"/>
                </a:lnSpc>
                <a:defRPr/>
              </a:pP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如图所示，设非线性电阻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的电压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电流关系为    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              其中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为非线性电阻两端的电压(单位为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V)。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试求非线性电阻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的静态工作点。</a:t>
              </a:r>
            </a:p>
          </p:txBody>
        </p:sp>
        <p:graphicFrame>
          <p:nvGraphicFramePr>
            <p:cNvPr id="1024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0363283"/>
                </p:ext>
              </p:extLst>
            </p:nvPr>
          </p:nvGraphicFramePr>
          <p:xfrm>
            <a:off x="7508916" y="1053699"/>
            <a:ext cx="25495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9652" name="Equation" r:id="rId4" imgW="1168200" imgH="228600" progId="Equation.DSMT4">
                    <p:embed/>
                  </p:oleObj>
                </mc:Choice>
                <mc:Fallback>
                  <p:oleObj name="Equation" r:id="rId4" imgW="1168200" imgH="228600" progId="Equation.DSMT4">
                    <p:embed/>
                    <p:pic>
                      <p:nvPicPr>
                        <p:cNvPr id="10246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8916" y="1053699"/>
                          <a:ext cx="25495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Arial"/>
              </a:rPr>
              <a:t>4.3  </a:t>
            </a:r>
            <a:r>
              <a:rPr lang="zh-CN" altLang="en-US" sz="3200" b="1" dirty="0">
                <a:solidFill>
                  <a:srgbClr val="0000FF"/>
                </a:solidFill>
                <a:latin typeface="Arial"/>
              </a:rPr>
              <a:t>图解分析法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479376" y="4409792"/>
            <a:ext cx="794048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625475" marR="0" lvl="0" indent="-625475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369903"/>
              </p:ext>
            </p:extLst>
          </p:nvPr>
        </p:nvGraphicFramePr>
        <p:xfrm>
          <a:off x="1775520" y="5004638"/>
          <a:ext cx="35052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653" name="Equation" r:id="rId6" imgW="1638000" imgH="406080" progId="Equation.DSMT4">
                  <p:embed/>
                </p:oleObj>
              </mc:Choice>
              <mc:Fallback>
                <p:oleObj name="Equation" r:id="rId6" imgW="1638000" imgH="406080" progId="Equation.DSMT4">
                  <p:embed/>
                  <p:pic>
                    <p:nvPicPr>
                      <p:cNvPr id="1024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0" y="5004638"/>
                        <a:ext cx="3505200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1613570"/>
              </p:ext>
            </p:extLst>
          </p:nvPr>
        </p:nvGraphicFramePr>
        <p:xfrm>
          <a:off x="6076950" y="5059317"/>
          <a:ext cx="3652838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654" name="Equation" r:id="rId8" imgW="1650960" imgH="406080" progId="Equation.DSMT4">
                  <p:embed/>
                </p:oleObj>
              </mc:Choice>
              <mc:Fallback>
                <p:oleObj name="Equation" r:id="rId8" imgW="1650960" imgH="406080" progId="Equation.DSMT4">
                  <p:embed/>
                  <p:pic>
                    <p:nvPicPr>
                      <p:cNvPr id="1024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6950" y="5059317"/>
                        <a:ext cx="3652838" cy="822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AutoShape 11"/>
          <p:cNvSpPr>
            <a:spLocks noChangeArrowheads="1"/>
          </p:cNvSpPr>
          <p:nvPr/>
        </p:nvSpPr>
        <p:spPr bwMode="auto">
          <a:xfrm>
            <a:off x="6618924" y="3266653"/>
            <a:ext cx="823896" cy="492369"/>
          </a:xfrm>
          <a:prstGeom prst="rightArrow">
            <a:avLst>
              <a:gd name="adj1" fmla="val 50000"/>
              <a:gd name="adj2" fmla="val 2708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215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" name="Object 19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27084207"/>
              </p:ext>
            </p:extLst>
          </p:nvPr>
        </p:nvGraphicFramePr>
        <p:xfrm>
          <a:off x="2601315" y="2637667"/>
          <a:ext cx="3577004" cy="1557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655" name="Visio" r:id="rId10" imgW="1808683" imgH="787908" progId="Visio.Drawing.11">
                  <p:embed/>
                </p:oleObj>
              </mc:Choice>
              <mc:Fallback>
                <p:oleObj name="Visio" r:id="rId10" imgW="1808683" imgH="787908" progId="Visio.Drawing.11">
                  <p:embed/>
                  <p:pic>
                    <p:nvPicPr>
                      <p:cNvPr id="10958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1315" y="2637667"/>
                        <a:ext cx="3577004" cy="15577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1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23270780"/>
              </p:ext>
            </p:extLst>
          </p:nvPr>
        </p:nvGraphicFramePr>
        <p:xfrm>
          <a:off x="8131092" y="2552248"/>
          <a:ext cx="2501412" cy="157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656" name="Visio" r:id="rId12" imgW="1376172" imgH="866851" progId="Visio.Drawing.11">
                  <p:embed/>
                </p:oleObj>
              </mc:Choice>
              <mc:Fallback>
                <p:oleObj name="Visio" r:id="rId12" imgW="1376172" imgH="866851" progId="Visio.Drawing.11">
                  <p:embed/>
                  <p:pic>
                    <p:nvPicPr>
                      <p:cNvPr id="10958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1092" y="2552248"/>
                        <a:ext cx="2501412" cy="157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/>
          <p:cNvSpPr/>
          <p:nvPr/>
        </p:nvSpPr>
        <p:spPr bwMode="auto">
          <a:xfrm>
            <a:off x="2423592" y="2578183"/>
            <a:ext cx="2935172" cy="1728000"/>
          </a:xfrm>
          <a:prstGeom prst="rect">
            <a:avLst/>
          </a:prstGeom>
          <a:noFill/>
          <a:ln w="38100" cap="flat" cmpd="sng" algn="ctr">
            <a:solidFill>
              <a:srgbClr val="FF00FF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黑体" pitchFamily="49" charset="-122"/>
              <a:cs typeface="+mn-cs"/>
            </a:endParaRPr>
          </a:p>
        </p:txBody>
      </p:sp>
      <p:sp>
        <p:nvSpPr>
          <p:cNvPr id="27" name="Rectangle 2"/>
          <p:cNvSpPr>
            <a:spLocks noChangeArrowheads="1"/>
          </p:cNvSpPr>
          <p:nvPr/>
        </p:nvSpPr>
        <p:spPr bwMode="auto">
          <a:xfrm>
            <a:off x="1292243" y="6139604"/>
            <a:ext cx="51269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线性电路部分的电压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电流关系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5005068"/>
              </p:ext>
            </p:extLst>
          </p:nvPr>
        </p:nvGraphicFramePr>
        <p:xfrm>
          <a:off x="6500638" y="6139604"/>
          <a:ext cx="18843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9657" name="Equation" r:id="rId14" imgW="545760" imgH="177480" progId="Equation.DSMT4">
                  <p:embed/>
                </p:oleObj>
              </mc:Choice>
              <mc:Fallback>
                <p:oleObj name="Equation" r:id="rId14" imgW="545760" imgH="177480" progId="Equation.DSMT4">
                  <p:embed/>
                  <p:pic>
                    <p:nvPicPr>
                      <p:cNvPr id="2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0638" y="6139604"/>
                        <a:ext cx="1884363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1168295" y="4404987"/>
            <a:ext cx="8960154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将非线性电阻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左边的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线性电路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部分用戴维宁电路等效</a:t>
            </a:r>
          </a:p>
        </p:txBody>
      </p:sp>
    </p:spTree>
    <p:extLst>
      <p:ext uri="{BB962C8B-B14F-4D97-AF65-F5344CB8AC3E}">
        <p14:creationId xmlns:p14="http://schemas.microsoft.com/office/powerpoint/2010/main" val="70546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23" grpId="0" animBg="1"/>
      <p:bldP spid="26" grpId="0" animBg="1"/>
      <p:bldP spid="27" grpId="0"/>
      <p:bldP spid="29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Arial"/>
              </a:rPr>
              <a:t>4.3  </a:t>
            </a:r>
            <a:r>
              <a:rPr lang="zh-CN" altLang="en-US" sz="3200" b="1" dirty="0">
                <a:solidFill>
                  <a:srgbClr val="0000FF"/>
                </a:solidFill>
                <a:latin typeface="Arial"/>
              </a:rPr>
              <a:t>图解分析法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1127448" y="4409792"/>
            <a:ext cx="6705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非线性电路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部分的电压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电流关系为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graphicFrame>
        <p:nvGraphicFramePr>
          <p:cNvPr id="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912080"/>
              </p:ext>
            </p:extLst>
          </p:nvPr>
        </p:nvGraphicFramePr>
        <p:xfrm>
          <a:off x="1754461" y="5019190"/>
          <a:ext cx="27336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520" name="Equation" r:id="rId4" imgW="1143000" imgH="228600" progId="Equation.DSMT4">
                  <p:embed/>
                </p:oleObj>
              </mc:Choice>
              <mc:Fallback>
                <p:oleObj name="Equation" r:id="rId4" imgW="1143000" imgH="228600" progId="Equation.DSMT4">
                  <p:embed/>
                  <p:pic>
                    <p:nvPicPr>
                      <p:cNvPr id="1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461" y="5019190"/>
                        <a:ext cx="2733675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479376" y="908721"/>
            <a:ext cx="11287988" cy="1594026"/>
            <a:chOff x="402670" y="980728"/>
            <a:chExt cx="9655771" cy="1594026"/>
          </a:xfrm>
        </p:grpSpPr>
        <p:sp>
          <p:nvSpPr>
            <p:cNvPr id="12" name="Rectangle 26"/>
            <p:cNvSpPr>
              <a:spLocks noChangeArrowheads="1"/>
            </p:cNvSpPr>
            <p:nvPr/>
          </p:nvSpPr>
          <p:spPr bwMode="auto">
            <a:xfrm>
              <a:off x="402670" y="980728"/>
              <a:ext cx="9485755" cy="1594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717550" indent="-717550" eaLnBrk="1" hangingPunct="1">
                <a:lnSpc>
                  <a:spcPct val="120000"/>
                </a:lnSpc>
                <a:defRPr/>
              </a:pP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如图所示，设非线性电阻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的电压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电流关系为    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              其中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为非线性电阻两端的电压(单位为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V)。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试求非线性电阻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的静态工作点。</a:t>
              </a:r>
            </a:p>
          </p:txBody>
        </p:sp>
        <p:graphicFrame>
          <p:nvGraphicFramePr>
            <p:cNvPr id="1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55999"/>
                </p:ext>
              </p:extLst>
            </p:nvPr>
          </p:nvGraphicFramePr>
          <p:xfrm>
            <a:off x="7508916" y="1053699"/>
            <a:ext cx="25495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0521" name="Equation" r:id="rId6" imgW="1168200" imgH="228600" progId="Equation.DSMT4">
                    <p:embed/>
                  </p:oleObj>
                </mc:Choice>
                <mc:Fallback>
                  <p:oleObj name="Equation" r:id="rId6" imgW="1168200" imgH="228600" progId="Equation.DSMT4">
                    <p:embed/>
                    <p:pic>
                      <p:nvPicPr>
                        <p:cNvPr id="10246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8916" y="1053699"/>
                          <a:ext cx="25495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19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84674496"/>
              </p:ext>
            </p:extLst>
          </p:nvPr>
        </p:nvGraphicFramePr>
        <p:xfrm>
          <a:off x="2601315" y="2637667"/>
          <a:ext cx="3577004" cy="1557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522" name="Visio" r:id="rId8" imgW="1808683" imgH="787908" progId="Visio.Drawing.11">
                  <p:embed/>
                </p:oleObj>
              </mc:Choice>
              <mc:Fallback>
                <p:oleObj name="Visio" r:id="rId8" imgW="1808683" imgH="787908" progId="Visio.Drawing.11">
                  <p:embed/>
                  <p:pic>
                    <p:nvPicPr>
                      <p:cNvPr id="24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1315" y="2637667"/>
                        <a:ext cx="3577004" cy="15577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479376" y="4409792"/>
            <a:ext cx="794048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625475" marR="0" lvl="0" indent="-625475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42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Arial"/>
              </a:rPr>
              <a:t>4.3  </a:t>
            </a:r>
            <a:r>
              <a:rPr lang="zh-CN" altLang="en-US" sz="3200" b="1" dirty="0">
                <a:solidFill>
                  <a:srgbClr val="0000FF"/>
                </a:solidFill>
                <a:latin typeface="Arial"/>
              </a:rPr>
              <a:t>图解分析法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1110414" y="4409792"/>
            <a:ext cx="7145826" cy="159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defRPr/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作出两部分电路的伏安特性曲线，其交点为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即为非线性电阻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静态工作点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，对应的坐标为</a:t>
            </a:r>
          </a:p>
        </p:txBody>
      </p:sp>
      <p:graphicFrame>
        <p:nvGraphicFramePr>
          <p:cNvPr id="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026711"/>
              </p:ext>
            </p:extLst>
          </p:nvPr>
        </p:nvGraphicFramePr>
        <p:xfrm>
          <a:off x="2207568" y="6101482"/>
          <a:ext cx="3570288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1598" name="Equation" r:id="rId4" imgW="1409400" imgH="177480" progId="Equation.DSMT4">
                  <p:embed/>
                </p:oleObj>
              </mc:Choice>
              <mc:Fallback>
                <p:oleObj name="Equation" r:id="rId4" imgW="1409400" imgH="177480" progId="Equation.DSMT4">
                  <p:embed/>
                  <p:pic>
                    <p:nvPicPr>
                      <p:cNvPr id="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6101482"/>
                        <a:ext cx="3570288" cy="423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742110"/>
              </p:ext>
            </p:extLst>
          </p:nvPr>
        </p:nvGraphicFramePr>
        <p:xfrm>
          <a:off x="8433882" y="1988840"/>
          <a:ext cx="3234104" cy="2548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1599" name="Visio" r:id="rId6" imgW="1716329" imgH="1380439" progId="Visio.Drawing.11">
                  <p:embed/>
                </p:oleObj>
              </mc:Choice>
              <mc:Fallback>
                <p:oleObj name="Visio" r:id="rId6" imgW="1716329" imgH="1380439" progId="Visio.Drawing.11">
                  <p:embed/>
                  <p:pic>
                    <p:nvPicPr>
                      <p:cNvPr id="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3882" y="1988840"/>
                        <a:ext cx="3234104" cy="25483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479376" y="4409792"/>
            <a:ext cx="794048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625475" marR="0" lvl="0" indent="-625475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79376" y="908721"/>
            <a:ext cx="11287988" cy="1594026"/>
            <a:chOff x="402670" y="980728"/>
            <a:chExt cx="9655771" cy="1594026"/>
          </a:xfrm>
        </p:grpSpPr>
        <p:sp>
          <p:nvSpPr>
            <p:cNvPr id="17" name="Rectangle 26"/>
            <p:cNvSpPr>
              <a:spLocks noChangeArrowheads="1"/>
            </p:cNvSpPr>
            <p:nvPr/>
          </p:nvSpPr>
          <p:spPr bwMode="auto">
            <a:xfrm>
              <a:off x="402670" y="980728"/>
              <a:ext cx="9485755" cy="1594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717550" indent="-717550" eaLnBrk="1" hangingPunct="1">
                <a:lnSpc>
                  <a:spcPct val="120000"/>
                </a:lnSpc>
                <a:defRPr/>
              </a:pP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如图所示，设非线性电阻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的电压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电流关系为    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              其中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为非线性电阻两端的电压(单位为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V)。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试求非线性电阻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的静态工作点。</a:t>
              </a:r>
            </a:p>
          </p:txBody>
        </p:sp>
        <p:graphicFrame>
          <p:nvGraphicFramePr>
            <p:cNvPr id="1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3102563"/>
                </p:ext>
              </p:extLst>
            </p:nvPr>
          </p:nvGraphicFramePr>
          <p:xfrm>
            <a:off x="7508916" y="1053699"/>
            <a:ext cx="25495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1600" name="Equation" r:id="rId8" imgW="1168200" imgH="228600" progId="Equation.DSMT4">
                    <p:embed/>
                  </p:oleObj>
                </mc:Choice>
                <mc:Fallback>
                  <p:oleObj name="Equation" r:id="rId8" imgW="1168200" imgH="228600" progId="Equation.DSMT4">
                    <p:embed/>
                    <p:pic>
                      <p:nvPicPr>
                        <p:cNvPr id="13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8916" y="1053699"/>
                          <a:ext cx="25495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19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92208457"/>
              </p:ext>
            </p:extLst>
          </p:nvPr>
        </p:nvGraphicFramePr>
        <p:xfrm>
          <a:off x="2601315" y="2637667"/>
          <a:ext cx="3577004" cy="1557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1601" name="Visio" r:id="rId10" imgW="1808683" imgH="787908" progId="Visio.Drawing.11">
                  <p:embed/>
                </p:oleObj>
              </mc:Choice>
              <mc:Fallback>
                <p:oleObj name="Visio" r:id="rId10" imgW="1808683" imgH="787908" progId="Visio.Drawing.11">
                  <p:embed/>
                  <p:pic>
                    <p:nvPicPr>
                      <p:cNvPr id="14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1315" y="2637667"/>
                        <a:ext cx="3577004" cy="15577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14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16"/>
          <p:cNvSpPr>
            <a:spLocks noChangeArrowheads="1"/>
          </p:cNvSpPr>
          <p:nvPr/>
        </p:nvSpPr>
        <p:spPr bwMode="auto">
          <a:xfrm>
            <a:off x="839416" y="1700808"/>
            <a:ext cx="10801200" cy="159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58775" indent="-358775"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上节图解法是在直流激励下，确定静态工作点，如果在此基础上再加入幅度很小的随时间变化的信号（小信号），如何处理呢？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681" name="Rectangle 17"/>
          <p:cNvSpPr>
            <a:spLocks noChangeArrowheads="1"/>
          </p:cNvSpPr>
          <p:nvPr/>
        </p:nvSpPr>
        <p:spPr bwMode="auto">
          <a:xfrm>
            <a:off x="839416" y="3639404"/>
            <a:ext cx="10801200" cy="159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58775" indent="-358775"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基本思路：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是在静态工作点确定的基础上，将非线性电阻电路的方程线性化，得到相应的</a:t>
            </a:r>
            <a:r>
              <a:rPr lang="zh-CN" altLang="en-US" sz="2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小信号等效电路或增量等效电路（线性电阻电路）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。利用分析线性电路的方法进行分析计算。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4.4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小信号分析法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989213" y="980728"/>
            <a:ext cx="28800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4.4.1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思路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9" name="Picture 8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9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1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19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2" name="Picture 16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17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8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19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20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21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22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0426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/>
      <p:bldP spid="113681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6" name="Rectangle 5"/>
          <p:cNvSpPr>
            <a:spLocks noChangeArrowheads="1"/>
          </p:cNvSpPr>
          <p:nvPr/>
        </p:nvSpPr>
        <p:spPr bwMode="auto">
          <a:xfrm>
            <a:off x="1079129" y="5137353"/>
            <a:ext cx="2895600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任意时刻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都有 </a:t>
            </a:r>
          </a:p>
        </p:txBody>
      </p:sp>
      <p:graphicFrame>
        <p:nvGraphicFramePr>
          <p:cNvPr id="122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06217"/>
              </p:ext>
            </p:extLst>
          </p:nvPr>
        </p:nvGraphicFramePr>
        <p:xfrm>
          <a:off x="3869260" y="5137353"/>
          <a:ext cx="196056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428" name="Equation" r:id="rId4" imgW="812520" imgH="253800" progId="Equation.DSMT4">
                  <p:embed/>
                </p:oleObj>
              </mc:Choice>
              <mc:Fallback>
                <p:oleObj name="Equation" r:id="rId4" imgW="812520" imgH="253800" progId="Equation.DSMT4">
                  <p:embed/>
                  <p:pic>
                    <p:nvPicPr>
                      <p:cNvPr id="122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9260" y="5137353"/>
                        <a:ext cx="1960562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Rectangle 7"/>
          <p:cNvSpPr>
            <a:spLocks noChangeArrowheads="1"/>
          </p:cNvSpPr>
          <p:nvPr/>
        </p:nvSpPr>
        <p:spPr bwMode="auto">
          <a:xfrm>
            <a:off x="1068587" y="1742151"/>
            <a:ext cx="6106023" cy="2160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图示电路中，直流电压源为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电阻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为线性电阻，非线性电阻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是电压控制型的，其伏安特性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曲线如图所示。 </a:t>
            </a:r>
          </a:p>
        </p:txBody>
      </p:sp>
      <p:graphicFrame>
        <p:nvGraphicFramePr>
          <p:cNvPr id="1229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5537719"/>
              </p:ext>
            </p:extLst>
          </p:nvPr>
        </p:nvGraphicFramePr>
        <p:xfrm>
          <a:off x="8066304" y="4099306"/>
          <a:ext cx="3505200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429" name="Visio" r:id="rId6" imgW="2181960" imgH="1842840" progId="Visio.Drawing.11">
                  <p:embed/>
                </p:oleObj>
              </mc:Choice>
              <mc:Fallback>
                <p:oleObj name="Visio" r:id="rId6" imgW="2181960" imgH="1842840" progId="Visio.Drawing.11">
                  <p:embed/>
                  <p:pic>
                    <p:nvPicPr>
                      <p:cNvPr id="1229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6304" y="4099306"/>
                        <a:ext cx="3505200" cy="257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Rectangle 11"/>
          <p:cNvSpPr>
            <a:spLocks noChangeArrowheads="1"/>
          </p:cNvSpPr>
          <p:nvPr/>
        </p:nvSpPr>
        <p:spPr bwMode="auto">
          <a:xfrm>
            <a:off x="1072057" y="4155462"/>
            <a:ext cx="3886200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小信号时变电压为</a:t>
            </a:r>
            <a:r>
              <a:rPr lang="en-US" altLang="zh-CN" sz="28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30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graphicFrame>
        <p:nvGraphicFramePr>
          <p:cNvPr id="12293" name="Object 19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3088409171"/>
              </p:ext>
            </p:extLst>
          </p:nvPr>
        </p:nvGraphicFramePr>
        <p:xfrm>
          <a:off x="8447304" y="1523926"/>
          <a:ext cx="3124200" cy="201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430" name="Visio" r:id="rId8" imgW="1581912" imgH="1018946" progId="Visio.Drawing.11">
                  <p:embed/>
                </p:oleObj>
              </mc:Choice>
              <mc:Fallback>
                <p:oleObj name="Visio" r:id="rId8" imgW="1581912" imgH="1018946" progId="Visio.Drawing.11">
                  <p:embed/>
                  <p:pic>
                    <p:nvPicPr>
                      <p:cNvPr id="1229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7304" y="1523926"/>
                        <a:ext cx="3124200" cy="201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4.4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小信号分析法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989213" y="980728"/>
            <a:ext cx="28800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4.4.2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方法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18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19" name="Picture 8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9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1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29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2" name="Picture 16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17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18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Picture 19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20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21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22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594983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7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2788146"/>
              </p:ext>
            </p:extLst>
          </p:nvPr>
        </p:nvGraphicFramePr>
        <p:xfrm>
          <a:off x="8201262" y="966830"/>
          <a:ext cx="3505200" cy="257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571" name="Visio" r:id="rId4" imgW="2181960" imgH="1842840" progId="Visio.Drawing.11">
                  <p:embed/>
                </p:oleObj>
              </mc:Choice>
              <mc:Fallback>
                <p:oleObj name="Visio" r:id="rId4" imgW="2181960" imgH="1842840" progId="Visio.Drawing.11">
                  <p:embed/>
                  <p:pic>
                    <p:nvPicPr>
                      <p:cNvPr id="1157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1262" y="966830"/>
                        <a:ext cx="3505200" cy="257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Rectangle 3"/>
          <p:cNvSpPr>
            <a:spLocks noChangeArrowheads="1"/>
          </p:cNvSpPr>
          <p:nvPr/>
        </p:nvSpPr>
        <p:spPr bwMode="auto">
          <a:xfrm>
            <a:off x="839416" y="2829085"/>
            <a:ext cx="41385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当</a:t>
            </a:r>
            <a:r>
              <a:rPr lang="en-US" altLang="zh-CN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30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时 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988273" y="3455033"/>
            <a:ext cx="2769577" cy="1282212"/>
            <a:chOff x="590" y="864"/>
            <a:chExt cx="1890" cy="875"/>
          </a:xfrm>
        </p:grpSpPr>
        <p:graphicFrame>
          <p:nvGraphicFramePr>
            <p:cNvPr id="1331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0991901"/>
                </p:ext>
              </p:extLst>
            </p:nvPr>
          </p:nvGraphicFramePr>
          <p:xfrm>
            <a:off x="590" y="864"/>
            <a:ext cx="1890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1572" name="Equation" r:id="rId6" imgW="1015920" imgH="241200" progId="Equation.DSMT4">
                    <p:embed/>
                  </p:oleObj>
                </mc:Choice>
                <mc:Fallback>
                  <p:oleObj name="Equation" r:id="rId6" imgW="1015920" imgH="241200" progId="Equation.DSMT4">
                    <p:embed/>
                    <p:pic>
                      <p:nvPicPr>
                        <p:cNvPr id="1331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" y="864"/>
                          <a:ext cx="1890" cy="4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3123351"/>
                </p:ext>
              </p:extLst>
            </p:nvPr>
          </p:nvGraphicFramePr>
          <p:xfrm>
            <a:off x="602" y="1344"/>
            <a:ext cx="1397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1573" name="Equation" r:id="rId8" imgW="774360" imgH="241200" progId="Equation.DSMT4">
                    <p:embed/>
                  </p:oleObj>
                </mc:Choice>
                <mc:Fallback>
                  <p:oleObj name="Equation" r:id="rId8" imgW="774360" imgH="241200" progId="Equation.DSMT4">
                    <p:embed/>
                    <p:pic>
                      <p:nvPicPr>
                        <p:cNvPr id="13317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2" y="1344"/>
                          <a:ext cx="1397" cy="3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22" name="Rectangle 8"/>
          <p:cNvSpPr>
            <a:spLocks noChangeArrowheads="1"/>
          </p:cNvSpPr>
          <p:nvPr/>
        </p:nvSpPr>
        <p:spPr bwMode="auto">
          <a:xfrm>
            <a:off x="5183226" y="3791300"/>
            <a:ext cx="4572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即静态工作点 </a:t>
            </a:r>
          </a:p>
        </p:txBody>
      </p:sp>
      <p:sp>
        <p:nvSpPr>
          <p:cNvPr id="115723" name="Rectangle 11"/>
          <p:cNvSpPr>
            <a:spLocks noChangeArrowheads="1"/>
          </p:cNvSpPr>
          <p:nvPr/>
        </p:nvSpPr>
        <p:spPr bwMode="auto">
          <a:xfrm>
            <a:off x="839417" y="4755166"/>
            <a:ext cx="28803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当</a:t>
            </a:r>
            <a:r>
              <a:rPr lang="en-US" altLang="zh-CN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30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加入时 </a:t>
            </a:r>
          </a:p>
        </p:txBody>
      </p:sp>
      <p:sp>
        <p:nvSpPr>
          <p:cNvPr id="115724" name="Rectangle 12"/>
          <p:cNvSpPr>
            <a:spLocks noChangeArrowheads="1"/>
          </p:cNvSpPr>
          <p:nvPr/>
        </p:nvSpPr>
        <p:spPr bwMode="auto">
          <a:xfrm>
            <a:off x="1293256" y="6214155"/>
            <a:ext cx="7467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是由于小信号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的作用而引起的偏差。 </a:t>
            </a:r>
          </a:p>
        </p:txBody>
      </p:sp>
      <p:graphicFrame>
        <p:nvGraphicFramePr>
          <p:cNvPr id="1157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336844"/>
              </p:ext>
            </p:extLst>
          </p:nvPr>
        </p:nvGraphicFramePr>
        <p:xfrm>
          <a:off x="3780969" y="4811294"/>
          <a:ext cx="2393950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574" name="Equation" r:id="rId10" imgW="838080" imgH="495000" progId="Equation.DSMT4">
                  <p:embed/>
                </p:oleObj>
              </mc:Choice>
              <mc:Fallback>
                <p:oleObj name="Equation" r:id="rId10" imgW="838080" imgH="495000" progId="Equation.DSMT4">
                  <p:embed/>
                  <p:pic>
                    <p:nvPicPr>
                      <p:cNvPr id="1157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0969" y="4811294"/>
                        <a:ext cx="2393950" cy="1316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839416" y="1704851"/>
            <a:ext cx="434381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按照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KVL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列出电路方程 </a:t>
            </a:r>
          </a:p>
        </p:txBody>
      </p:sp>
      <p:graphicFrame>
        <p:nvGraphicFramePr>
          <p:cNvPr id="1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4715649"/>
              </p:ext>
            </p:extLst>
          </p:nvPr>
        </p:nvGraphicFramePr>
        <p:xfrm>
          <a:off x="2013943" y="2286160"/>
          <a:ext cx="324326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575" name="Equation" r:id="rId12" imgW="1257120" imgH="228600" progId="Equation.DSMT4">
                  <p:embed/>
                </p:oleObj>
              </mc:Choice>
              <mc:Fallback>
                <p:oleObj name="Equation" r:id="rId12" imgW="1257120" imgH="228600" progId="Equation.DSMT4">
                  <p:embed/>
                  <p:pic>
                    <p:nvPicPr>
                      <p:cNvPr id="15054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3943" y="2286160"/>
                        <a:ext cx="3243263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4.4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小信号分析法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989213" y="980728"/>
            <a:ext cx="28800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4.4.2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方法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34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35" name="Picture 8" descr="Green and Black Diamon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9" descr="Green and Black Diamon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7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45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6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7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38" name="Picture 16" descr="Green and Black Diamon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17" descr="Green and Black Diamon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" name="Picture 18" descr="Green and Black Diamon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" name="Picture 19" descr="Green and Black Diamon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" name="Picture 20" descr="Green and Black Diamon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" name="Picture 21" descr="Green and Black Diamon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" name="Picture 22" descr="Green and Black Diamon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40891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5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0" grpId="0"/>
      <p:bldP spid="13322" grpId="0"/>
      <p:bldP spid="115723" grpId="0" autoUpdateAnimBg="0"/>
      <p:bldP spid="115724" grpId="0" autoUpdateAnimBg="0"/>
      <p:bldP spid="14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5" name="Rectangle 5"/>
          <p:cNvSpPr>
            <a:spLocks noChangeArrowheads="1"/>
          </p:cNvSpPr>
          <p:nvPr/>
        </p:nvSpPr>
        <p:spPr bwMode="auto">
          <a:xfrm>
            <a:off x="1163043" y="2997729"/>
            <a:ext cx="2438400" cy="554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可得 </a:t>
            </a:r>
          </a:p>
        </p:txBody>
      </p:sp>
      <p:graphicFrame>
        <p:nvGraphicFramePr>
          <p:cNvPr id="1433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44958"/>
              </p:ext>
            </p:extLst>
          </p:nvPr>
        </p:nvGraphicFramePr>
        <p:xfrm>
          <a:off x="3367420" y="3057910"/>
          <a:ext cx="3405188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38" name="Equation" r:id="rId5" imgW="1269720" imgH="241200" progId="Equation.DSMT4">
                  <p:embed/>
                </p:oleObj>
              </mc:Choice>
              <mc:Fallback>
                <p:oleObj name="Equation" r:id="rId5" imgW="1269720" imgH="241200" progId="Equation.DSMT4">
                  <p:embed/>
                  <p:pic>
                    <p:nvPicPr>
                      <p:cNvPr id="1433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420" y="3057910"/>
                        <a:ext cx="3405188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13709"/>
              </p:ext>
            </p:extLst>
          </p:nvPr>
        </p:nvGraphicFramePr>
        <p:xfrm>
          <a:off x="1667868" y="5314727"/>
          <a:ext cx="4073525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39" name="Equation" r:id="rId7" imgW="1650960" imgH="495000" progId="Equation.DSMT4">
                  <p:embed/>
                </p:oleObj>
              </mc:Choice>
              <mc:Fallback>
                <p:oleObj name="Equation" r:id="rId7" imgW="1650960" imgH="495000" progId="Equation.DSMT4">
                  <p:embed/>
                  <p:pic>
                    <p:nvPicPr>
                      <p:cNvPr id="11776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7868" y="5314727"/>
                        <a:ext cx="4073525" cy="1138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71" name="Rectangle 11"/>
          <p:cNvSpPr>
            <a:spLocks noChangeArrowheads="1"/>
          </p:cNvSpPr>
          <p:nvPr/>
        </p:nvSpPr>
        <p:spPr bwMode="auto">
          <a:xfrm>
            <a:off x="1100337" y="3783558"/>
            <a:ext cx="10436655" cy="107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又由于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很小，可以将上式右边在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点附近用</a:t>
            </a:r>
            <a:r>
              <a:rPr lang="zh-CN" altLang="en-US" sz="2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泰勒级数展开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，取级数前面两项而略去一次项以上的高次项</a:t>
            </a:r>
          </a:p>
        </p:txBody>
      </p:sp>
      <p:graphicFrame>
        <p:nvGraphicFramePr>
          <p:cNvPr id="1177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97374"/>
              </p:ext>
            </p:extLst>
          </p:nvPr>
        </p:nvGraphicFramePr>
        <p:xfrm>
          <a:off x="7388373" y="5256726"/>
          <a:ext cx="1731963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40" name="Equation" r:id="rId9" imgW="799920" imgH="495000" progId="Equation.DSMT4">
                  <p:embed/>
                </p:oleObj>
              </mc:Choice>
              <mc:Fallback>
                <p:oleObj name="Equation" r:id="rId9" imgW="799920" imgH="495000" progId="Equation.DSMT4">
                  <p:embed/>
                  <p:pic>
                    <p:nvPicPr>
                      <p:cNvPr id="11777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8373" y="5256726"/>
                        <a:ext cx="1731963" cy="1073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5" name="Group 22"/>
          <p:cNvGrpSpPr>
            <a:grpSpLocks/>
          </p:cNvGrpSpPr>
          <p:nvPr/>
        </p:nvGrpSpPr>
        <p:grpSpPr bwMode="auto">
          <a:xfrm>
            <a:off x="1068587" y="1739447"/>
            <a:ext cx="10468405" cy="1138605"/>
            <a:chOff x="301" y="433"/>
            <a:chExt cx="6809" cy="777"/>
          </a:xfrm>
        </p:grpSpPr>
        <p:sp>
          <p:nvSpPr>
            <p:cNvPr id="14346" name="Rectangle 2"/>
            <p:cNvSpPr>
              <a:spLocks noChangeArrowheads="1"/>
            </p:cNvSpPr>
            <p:nvPr/>
          </p:nvSpPr>
          <p:spPr bwMode="auto">
            <a:xfrm>
              <a:off x="3029" y="443"/>
              <a:ext cx="4081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在任何时刻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80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、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80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相对(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800" i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800" i="1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都是</a:t>
              </a:r>
            </a:p>
          </p:txBody>
        </p:sp>
        <p:graphicFrame>
          <p:nvGraphicFramePr>
            <p:cNvPr id="1434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1862499"/>
                </p:ext>
              </p:extLst>
            </p:nvPr>
          </p:nvGraphicFramePr>
          <p:xfrm>
            <a:off x="638" y="447"/>
            <a:ext cx="1338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541" name="Equation" r:id="rId11" imgW="812520" imgH="253800" progId="Equation.DSMT4">
                    <p:embed/>
                  </p:oleObj>
                </mc:Choice>
                <mc:Fallback>
                  <p:oleObj name="Equation" r:id="rId11" imgW="812520" imgH="253800" progId="Equation.DSMT4">
                    <p:embed/>
                    <p:pic>
                      <p:nvPicPr>
                        <p:cNvPr id="1434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8" y="447"/>
                          <a:ext cx="1338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47" name="Rectangle 4"/>
            <p:cNvSpPr>
              <a:spLocks noChangeArrowheads="1"/>
            </p:cNvSpPr>
            <p:nvPr/>
          </p:nvSpPr>
          <p:spPr bwMode="auto">
            <a:xfrm>
              <a:off x="1912" y="439"/>
              <a:ext cx="1352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的条件下，</a:t>
              </a:r>
            </a:p>
          </p:txBody>
        </p:sp>
        <p:sp>
          <p:nvSpPr>
            <p:cNvPr id="14348" name="Rectangle 19"/>
            <p:cNvSpPr>
              <a:spLocks noChangeArrowheads="1"/>
            </p:cNvSpPr>
            <p:nvPr/>
          </p:nvSpPr>
          <p:spPr bwMode="auto">
            <a:xfrm>
              <a:off x="301" y="433"/>
              <a:ext cx="404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</a:t>
              </a:r>
            </a:p>
          </p:txBody>
        </p:sp>
        <p:sp>
          <p:nvSpPr>
            <p:cNvPr id="14349" name="Rectangle 20"/>
            <p:cNvSpPr>
              <a:spLocks noChangeArrowheads="1"/>
            </p:cNvSpPr>
            <p:nvPr/>
          </p:nvSpPr>
          <p:spPr bwMode="auto">
            <a:xfrm>
              <a:off x="307" y="828"/>
              <a:ext cx="2722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很小的量。</a:t>
              </a:r>
            </a:p>
          </p:txBody>
        </p:sp>
      </p:grp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4.4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小信号分析法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989213" y="980728"/>
            <a:ext cx="28800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4.4.2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方法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31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32" name="Picture 8" descr="Green and Black Diamon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" name="Picture 9" descr="Green and Black Diamon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4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42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3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4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35" name="Picture 16" descr="Green and Black Diamon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17" descr="Green and Black Diamon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18" descr="Green and Black Diamon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19" descr="Green and Black Diamon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20" descr="Green and Black Diamon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" name="Picture 21" descr="Green and Black Diamon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" name="Picture 22" descr="Green and Black Diamon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94792190"/>
      </p:ext>
    </p:extLst>
  </p:cSld>
  <p:clrMapOvr>
    <a:masterClrMapping/>
  </p:clrMapOvr>
  <p:transition>
    <p:split dir="in"/>
    <p:sndAc>
      <p:stSnd>
        <p:snd r:embed="rId4" name="PROJCTO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7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5" grpId="0" autoUpdateAnimBg="0"/>
      <p:bldP spid="117771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94007"/>
              </p:ext>
            </p:extLst>
          </p:nvPr>
        </p:nvGraphicFramePr>
        <p:xfrm>
          <a:off x="2535288" y="1786912"/>
          <a:ext cx="327025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494" name="Equation" r:id="rId4" imgW="1396800" imgH="495000" progId="Equation.DSMT4">
                  <p:embed/>
                </p:oleObj>
              </mc:Choice>
              <mc:Fallback>
                <p:oleObj name="Equation" r:id="rId4" imgW="1396800" imgH="495000" progId="Equation.DSMT4">
                  <p:embed/>
                  <p:pic>
                    <p:nvPicPr>
                      <p:cNvPr id="153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288" y="1786912"/>
                        <a:ext cx="3270250" cy="1158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Rectangle 3"/>
          <p:cNvSpPr>
            <a:spLocks noChangeArrowheads="1"/>
          </p:cNvSpPr>
          <p:nvPr/>
        </p:nvSpPr>
        <p:spPr bwMode="auto">
          <a:xfrm>
            <a:off x="1100337" y="1759047"/>
            <a:ext cx="1266693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因此有</a:t>
            </a:r>
          </a:p>
        </p:txBody>
      </p:sp>
      <p:sp>
        <p:nvSpPr>
          <p:cNvPr id="119813" name="Rectangle 5"/>
          <p:cNvSpPr>
            <a:spLocks noChangeArrowheads="1"/>
          </p:cNvSpPr>
          <p:nvPr/>
        </p:nvSpPr>
        <p:spPr bwMode="auto">
          <a:xfrm>
            <a:off x="2510204" y="2972275"/>
            <a:ext cx="7744032" cy="107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为非线性电阻在工作点(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处的</a:t>
            </a:r>
            <a:r>
              <a:rPr lang="zh-CN" altLang="en-US" sz="2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动态电导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为相应的</a:t>
            </a:r>
            <a:r>
              <a:rPr lang="zh-CN" altLang="en-US" sz="2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动态电阻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</a:p>
        </p:txBody>
      </p:sp>
      <p:sp>
        <p:nvSpPr>
          <p:cNvPr id="119816" name="Rectangle 8"/>
          <p:cNvSpPr>
            <a:spLocks noChangeArrowheads="1"/>
          </p:cNvSpPr>
          <p:nvPr/>
        </p:nvSpPr>
        <p:spPr bwMode="auto">
          <a:xfrm>
            <a:off x="1257500" y="4144609"/>
            <a:ext cx="10464650" cy="107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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在工作点(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800" i="1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i="1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处是一个常量，所以从上式可以看出，小信号电压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800" baseline="-30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产生的电压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和电流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之间的关系是线性的。</a:t>
            </a:r>
          </a:p>
        </p:txBody>
      </p:sp>
      <p:graphicFrame>
        <p:nvGraphicFramePr>
          <p:cNvPr id="1536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139740"/>
              </p:ext>
            </p:extLst>
          </p:nvPr>
        </p:nvGraphicFramePr>
        <p:xfrm>
          <a:off x="2500704" y="5395728"/>
          <a:ext cx="5137639" cy="54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495" name="Equation" r:id="rId6" imgW="2070000" imgH="241200" progId="Equation.DSMT4">
                  <p:embed/>
                </p:oleObj>
              </mc:Choice>
              <mc:Fallback>
                <p:oleObj name="Equation" r:id="rId6" imgW="2070000" imgH="241200" progId="Equation.DSMT4">
                  <p:embed/>
                  <p:pic>
                    <p:nvPicPr>
                      <p:cNvPr id="1536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704" y="5395728"/>
                        <a:ext cx="5137639" cy="546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2535288" y="6102617"/>
            <a:ext cx="4923692" cy="659423"/>
            <a:chOff x="1290" y="3744"/>
            <a:chExt cx="3360" cy="450"/>
          </a:xfrm>
        </p:grpSpPr>
        <p:graphicFrame>
          <p:nvGraphicFramePr>
            <p:cNvPr id="1536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7098097"/>
                </p:ext>
              </p:extLst>
            </p:nvPr>
          </p:nvGraphicFramePr>
          <p:xfrm>
            <a:off x="1290" y="3744"/>
            <a:ext cx="2257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496" name="Equation" r:id="rId8" imgW="1143000" imgH="228600" progId="Equation.DSMT4">
                    <p:embed/>
                  </p:oleObj>
                </mc:Choice>
                <mc:Fallback>
                  <p:oleObj name="Equation" r:id="rId8" imgW="1143000" imgH="228600" progId="Equation.DSMT4">
                    <p:embed/>
                    <p:pic>
                      <p:nvPicPr>
                        <p:cNvPr id="1536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0" y="3744"/>
                          <a:ext cx="2257" cy="4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0" name="Rectangle 11"/>
            <p:cNvSpPr>
              <a:spLocks noChangeArrowheads="1"/>
            </p:cNvSpPr>
            <p:nvPr/>
          </p:nvSpPr>
          <p:spPr bwMode="auto">
            <a:xfrm>
              <a:off x="4524" y="3778"/>
              <a:ext cx="126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ts val="0"/>
                </a:spcBef>
              </a:pPr>
              <a:endParaRPr lang="zh-CN" altLang="en-US" sz="28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4.4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小信号分析法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989213" y="980728"/>
            <a:ext cx="28800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4.4.2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方法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30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31" name="Picture 8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Picture 9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3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41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2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3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34" name="Picture 16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17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18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19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20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21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" name="Picture 22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853064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/>
      <p:bldP spid="119813" grpId="0" autoUpdateAnimBg="0"/>
      <p:bldP spid="119816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ChangeArrowheads="1"/>
          </p:cNvSpPr>
          <p:nvPr/>
        </p:nvSpPr>
        <p:spPr bwMode="auto">
          <a:xfrm>
            <a:off x="1068587" y="2398291"/>
            <a:ext cx="5819501" cy="107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由此可以作出给定非线性电阻在工作点(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处的</a:t>
            </a:r>
            <a:r>
              <a:rPr lang="zh-CN" altLang="en-US" sz="2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小信号等效电路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2" name="Rectangle 7"/>
          <p:cNvSpPr>
            <a:spLocks noChangeArrowheads="1"/>
          </p:cNvSpPr>
          <p:nvPr/>
        </p:nvSpPr>
        <p:spPr bwMode="auto">
          <a:xfrm>
            <a:off x="8640622" y="3432420"/>
            <a:ext cx="2243898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小信号模型 </a:t>
            </a:r>
          </a:p>
        </p:txBody>
      </p:sp>
      <p:graphicFrame>
        <p:nvGraphicFramePr>
          <p:cNvPr id="163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856547"/>
              </p:ext>
            </p:extLst>
          </p:nvPr>
        </p:nvGraphicFramePr>
        <p:xfrm>
          <a:off x="2267149" y="1769549"/>
          <a:ext cx="330835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09" name="Equation" r:id="rId5" imgW="1143000" imgH="228600" progId="Equation.DSMT4">
                  <p:embed/>
                </p:oleObj>
              </mc:Choice>
              <mc:Fallback>
                <p:oleObj name="Equation" r:id="rId5" imgW="1143000" imgH="228600" progId="Equation.DSMT4">
                  <p:embed/>
                  <p:pic>
                    <p:nvPicPr>
                      <p:cNvPr id="1638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149" y="1769549"/>
                        <a:ext cx="3308350" cy="612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113236" y="4267604"/>
            <a:ext cx="6009542" cy="2249366"/>
            <a:chOff x="196" y="1716"/>
            <a:chExt cx="4101" cy="1535"/>
          </a:xfrm>
        </p:grpSpPr>
        <p:sp>
          <p:nvSpPr>
            <p:cNvPr id="16396" name="Rectangle 6"/>
            <p:cNvSpPr>
              <a:spLocks noChangeArrowheads="1"/>
            </p:cNvSpPr>
            <p:nvPr/>
          </p:nvSpPr>
          <p:spPr bwMode="auto">
            <a:xfrm>
              <a:off x="196" y="2244"/>
              <a:ext cx="2156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由小信号电路可得 </a:t>
              </a:r>
            </a:p>
          </p:txBody>
        </p:sp>
        <p:graphicFrame>
          <p:nvGraphicFramePr>
            <p:cNvPr id="16388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2886488"/>
                </p:ext>
              </p:extLst>
            </p:nvPr>
          </p:nvGraphicFramePr>
          <p:xfrm>
            <a:off x="2761" y="1716"/>
            <a:ext cx="1536" cy="1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510" name="Equation" r:id="rId7" imgW="914400" imgH="914400" progId="Equation.DSMT4">
                    <p:embed/>
                  </p:oleObj>
                </mc:Choice>
                <mc:Fallback>
                  <p:oleObj name="Equation" r:id="rId7" imgW="914400" imgH="914400" progId="Equation.DSMT4">
                    <p:embed/>
                    <p:pic>
                      <p:nvPicPr>
                        <p:cNvPr id="16388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1" y="1716"/>
                          <a:ext cx="1536" cy="15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7" name="Rectangle 11"/>
            <p:cNvSpPr>
              <a:spLocks noChangeArrowheads="1"/>
            </p:cNvSpPr>
            <p:nvPr/>
          </p:nvSpPr>
          <p:spPr bwMode="auto">
            <a:xfrm>
              <a:off x="2340" y="2626"/>
              <a:ext cx="126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1638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563432"/>
              </p:ext>
            </p:extLst>
          </p:nvPr>
        </p:nvGraphicFramePr>
        <p:xfrm>
          <a:off x="7968208" y="1121461"/>
          <a:ext cx="3588727" cy="2050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11" name="Visio" r:id="rId9" imgW="1440453" imgH="821985" progId="Visio.Drawing.11">
                  <p:embed/>
                </p:oleObj>
              </mc:Choice>
              <mc:Fallback>
                <p:oleObj name="Visio" r:id="rId9" imgW="1440453" imgH="821985" progId="Visio.Drawing.11">
                  <p:embed/>
                  <p:pic>
                    <p:nvPicPr>
                      <p:cNvPr id="1638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8208" y="1121461"/>
                        <a:ext cx="3588727" cy="2050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4.4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小信号分析法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989213" y="980728"/>
            <a:ext cx="28800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4.4.2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方法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31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32" name="Picture 8" descr="Green and Black Diamond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" name="Picture 9" descr="Green and Black Diamond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4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42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3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4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35" name="Picture 16" descr="Green and Black Diamond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17" descr="Green and Black Diamond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18" descr="Green and Black Diamond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19" descr="Green and Black Diamond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20" descr="Green and Black Diamond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" name="Picture 21" descr="Green and Black Diamond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" name="Picture 22" descr="Green and Black Diamond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2698249"/>
      </p:ext>
    </p:extLst>
  </p:cSld>
  <p:clrMapOvr>
    <a:masterClrMapping/>
  </p:clrMapOvr>
  <p:transition>
    <p:strips dir="rd"/>
    <p:sndAc>
      <p:stSnd>
        <p:snd r:embed="rId4" name="PROJCTO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8" grpId="0" autoUpdateAnimBg="0"/>
      <p:bldP spid="1639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21" name="Group 13"/>
          <p:cNvGrpSpPr>
            <a:grpSpLocks/>
          </p:cNvGrpSpPr>
          <p:nvPr/>
        </p:nvGrpSpPr>
        <p:grpSpPr bwMode="auto">
          <a:xfrm>
            <a:off x="479376" y="956274"/>
            <a:ext cx="11089809" cy="1644163"/>
            <a:chOff x="262" y="300"/>
            <a:chExt cx="6450" cy="1122"/>
          </a:xfrm>
        </p:grpSpPr>
        <p:sp>
          <p:nvSpPr>
            <p:cNvPr id="17419" name="Rectangle 2"/>
            <p:cNvSpPr>
              <a:spLocks noChangeArrowheads="1"/>
            </p:cNvSpPr>
            <p:nvPr/>
          </p:nvSpPr>
          <p:spPr bwMode="auto">
            <a:xfrm>
              <a:off x="262" y="300"/>
              <a:ext cx="6450" cy="1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896938" indent="-896938" algn="just" eaLnBrk="1" hangingPunct="1">
                <a:lnSpc>
                  <a:spcPct val="120000"/>
                </a:lnSpc>
              </a:pP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在如图所示非线性电阻电路中，非线性电阻的伏安特性为         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marL="896938" algn="just" eaLnBrk="1" hangingPunct="1">
                <a:lnSpc>
                  <a:spcPct val="12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，现已知当</a:t>
              </a:r>
              <a:r>
                <a:rPr lang="en-US" altLang="zh-CN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800" baseline="-30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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时，回路中的电流 </a:t>
              </a:r>
              <a:r>
                <a:rPr lang="en-US" altLang="zh-CN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为1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A。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如果</a:t>
              </a:r>
              <a:r>
                <a:rPr lang="en-US" altLang="zh-CN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lang="en-US" altLang="zh-CN" sz="2800" baseline="-300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S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)</a:t>
              </a:r>
              <a:r>
                <a:rPr lang="en-US" altLang="zh-CN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cos</a:t>
              </a:r>
              <a:r>
                <a:rPr lang="en-US" altLang="zh-CN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时，试用小信号分析法求回路中的电流 </a:t>
              </a:r>
              <a:r>
                <a:rPr lang="en-US" altLang="zh-CN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。</a:t>
              </a:r>
              <a:endPara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1741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1277264"/>
                </p:ext>
              </p:extLst>
            </p:nvPr>
          </p:nvGraphicFramePr>
          <p:xfrm>
            <a:off x="806" y="721"/>
            <a:ext cx="994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626" name="Equation" r:id="rId4" imgW="660240" imgH="203040" progId="Equation.DSMT4">
                    <p:embed/>
                  </p:oleObj>
                </mc:Choice>
                <mc:Fallback>
                  <p:oleObj name="Equation" r:id="rId4" imgW="660240" imgH="203040" progId="Equation.DSMT4">
                    <p:embed/>
                    <p:pic>
                      <p:nvPicPr>
                        <p:cNvPr id="17413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6" y="721"/>
                          <a:ext cx="994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3910" name="Rectangle 6"/>
          <p:cNvSpPr>
            <a:spLocks noChangeArrowheads="1"/>
          </p:cNvSpPr>
          <p:nvPr/>
        </p:nvSpPr>
        <p:spPr bwMode="auto">
          <a:xfrm>
            <a:off x="1199456" y="2748937"/>
            <a:ext cx="6840760" cy="107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由题意可知，此电路中的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静态工作点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处，工作点处的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动态电阻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1239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236513"/>
              </p:ext>
            </p:extLst>
          </p:nvPr>
        </p:nvGraphicFramePr>
        <p:xfrm>
          <a:off x="1923826" y="4023899"/>
          <a:ext cx="503872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27" name="Equation" r:id="rId6" imgW="1892160" imgH="482400" progId="Equation.DSMT4">
                  <p:embed/>
                </p:oleObj>
              </mc:Choice>
              <mc:Fallback>
                <p:oleObj name="Equation" r:id="rId6" imgW="1892160" imgH="482400" progId="Equation.DSMT4">
                  <p:embed/>
                  <p:pic>
                    <p:nvPicPr>
                      <p:cNvPr id="1239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3826" y="4023899"/>
                        <a:ext cx="5038725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2" name="Rectangle 8"/>
          <p:cNvSpPr>
            <a:spLocks noChangeArrowheads="1"/>
          </p:cNvSpPr>
          <p:nvPr/>
        </p:nvSpPr>
        <p:spPr bwMode="auto">
          <a:xfrm>
            <a:off x="1199456" y="5177187"/>
            <a:ext cx="3430747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作出小信号等效电路</a:t>
            </a:r>
          </a:p>
        </p:txBody>
      </p:sp>
      <p:graphicFrame>
        <p:nvGraphicFramePr>
          <p:cNvPr id="123917" name="Object 13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9015133"/>
              </p:ext>
            </p:extLst>
          </p:nvPr>
        </p:nvGraphicFramePr>
        <p:xfrm>
          <a:off x="9044328" y="2570969"/>
          <a:ext cx="2524857" cy="1603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28" name="Visio" r:id="rId8" imgW="1514246" imgH="961339" progId="Visio.Drawing.11">
                  <p:embed/>
                </p:oleObj>
              </mc:Choice>
              <mc:Fallback>
                <p:oleObj name="Visio" r:id="rId8" imgW="1514246" imgH="961339" progId="Visio.Drawing.11">
                  <p:embed/>
                  <p:pic>
                    <p:nvPicPr>
                      <p:cNvPr id="12391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4328" y="2570969"/>
                        <a:ext cx="2524857" cy="16031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19" name="Object 1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53256040"/>
              </p:ext>
            </p:extLst>
          </p:nvPr>
        </p:nvGraphicFramePr>
        <p:xfrm>
          <a:off x="9265222" y="4759491"/>
          <a:ext cx="2327031" cy="1566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29" name="Visio" r:id="rId10" imgW="1450848" imgH="976884" progId="Visio.Drawing.11">
                  <p:embed/>
                </p:oleObj>
              </mc:Choice>
              <mc:Fallback>
                <p:oleObj name="Visio" r:id="rId10" imgW="1450848" imgH="976884" progId="Visio.Drawing.11">
                  <p:embed/>
                  <p:pic>
                    <p:nvPicPr>
                      <p:cNvPr id="12391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5222" y="4759491"/>
                        <a:ext cx="2327031" cy="1566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4.4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小信号分析法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74067" y="2748937"/>
            <a:ext cx="1085429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89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3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10" grpId="0" autoUpdateAnimBg="0"/>
      <p:bldP spid="123912" grpId="0" autoUpdateAnimBg="0"/>
      <p:bldP spid="11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9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0371598"/>
              </p:ext>
            </p:extLst>
          </p:nvPr>
        </p:nvGraphicFramePr>
        <p:xfrm>
          <a:off x="1415480" y="3336851"/>
          <a:ext cx="3762375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614" name="Equation" r:id="rId4" imgW="1371600" imgH="406080" progId="Equation.DSMT4">
                  <p:embed/>
                </p:oleObj>
              </mc:Choice>
              <mc:Fallback>
                <p:oleObj name="Equation" r:id="rId4" imgW="1371600" imgH="406080" progId="Equation.DSMT4">
                  <p:embed/>
                  <p:pic>
                    <p:nvPicPr>
                      <p:cNvPr id="1259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480" y="3336851"/>
                        <a:ext cx="3762375" cy="884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837785"/>
              </p:ext>
            </p:extLst>
          </p:nvPr>
        </p:nvGraphicFramePr>
        <p:xfrm>
          <a:off x="1340038" y="5223924"/>
          <a:ext cx="3649662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615" name="Equation" r:id="rId6" imgW="1244520" imgH="419040" progId="Equation.DSMT4">
                  <p:embed/>
                </p:oleObj>
              </mc:Choice>
              <mc:Fallback>
                <p:oleObj name="Equation" r:id="rId6" imgW="1244520" imgH="419040" progId="Equation.DSMT4">
                  <p:embed/>
                  <p:pic>
                    <p:nvPicPr>
                      <p:cNvPr id="1259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0038" y="5223924"/>
                        <a:ext cx="3649662" cy="974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57" name="Rectangle 5"/>
          <p:cNvSpPr>
            <a:spLocks noChangeArrowheads="1"/>
          </p:cNvSpPr>
          <p:nvPr/>
        </p:nvSpPr>
        <p:spPr bwMode="auto">
          <a:xfrm>
            <a:off x="1171946" y="4522550"/>
            <a:ext cx="19929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故总电流为</a:t>
            </a: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1171946" y="2753470"/>
            <a:ext cx="152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可得</a:t>
            </a:r>
          </a:p>
        </p:txBody>
      </p:sp>
      <p:graphicFrame>
        <p:nvGraphicFramePr>
          <p:cNvPr id="18436" name="Object 9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569202000"/>
              </p:ext>
            </p:extLst>
          </p:nvPr>
        </p:nvGraphicFramePr>
        <p:xfrm>
          <a:off x="8645742" y="3276690"/>
          <a:ext cx="2923443" cy="1973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616" name="Visio" r:id="rId8" imgW="1432496" imgH="966094" progId="Visio.Drawing.11">
                  <p:embed/>
                </p:oleObj>
              </mc:Choice>
              <mc:Fallback>
                <p:oleObj name="Visio" r:id="rId8" imgW="1432496" imgH="966094" progId="Visio.Drawing.11">
                  <p:embed/>
                  <p:pic>
                    <p:nvPicPr>
                      <p:cNvPr id="1843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45742" y="3276690"/>
                        <a:ext cx="2923443" cy="19738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4.4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小信号分析法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474067" y="2748937"/>
            <a:ext cx="1085429" cy="54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解：</a:t>
            </a:r>
            <a:endParaRPr lang="zh-CN" altLang="en-US" sz="28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51B41D28-45AC-4BE0-B4B2-F5F7F44C8E14}"/>
              </a:ext>
            </a:extLst>
          </p:cNvPr>
          <p:cNvGrpSpPr>
            <a:grpSpLocks/>
          </p:cNvGrpSpPr>
          <p:nvPr/>
        </p:nvGrpSpPr>
        <p:grpSpPr bwMode="auto">
          <a:xfrm>
            <a:off x="479376" y="956274"/>
            <a:ext cx="11089809" cy="1644163"/>
            <a:chOff x="262" y="300"/>
            <a:chExt cx="6450" cy="1122"/>
          </a:xfrm>
        </p:grpSpPr>
        <p:sp>
          <p:nvSpPr>
            <p:cNvPr id="14" name="Rectangle 2">
              <a:extLst>
                <a:ext uri="{FF2B5EF4-FFF2-40B4-BE49-F238E27FC236}">
                  <a16:creationId xmlns:a16="http://schemas.microsoft.com/office/drawing/2014/main" id="{AD89A8A4-CB78-4EE8-BC72-74680FBD0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" y="300"/>
              <a:ext cx="6450" cy="1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896938" indent="-896938" algn="just" eaLnBrk="1" hangingPunct="1">
                <a:lnSpc>
                  <a:spcPct val="120000"/>
                </a:lnSpc>
              </a:pP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在如图所示非线性电阻电路中，非线性电阻的伏安特性为         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marL="896938" algn="just" eaLnBrk="1" hangingPunct="1">
                <a:lnSpc>
                  <a:spcPct val="12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，现已知当</a:t>
              </a:r>
              <a:r>
                <a:rPr lang="en-US" altLang="zh-CN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800" baseline="-30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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时，回路中的电流 </a:t>
              </a:r>
              <a:r>
                <a:rPr lang="en-US" altLang="zh-CN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为1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A。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如果</a:t>
              </a:r>
              <a:r>
                <a:rPr lang="en-US" altLang="zh-CN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lang="en-US" altLang="zh-CN" sz="2800" baseline="-300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S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)</a:t>
              </a:r>
              <a:r>
                <a:rPr lang="en-US" altLang="zh-CN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cos</a:t>
              </a:r>
              <a:r>
                <a:rPr lang="en-US" altLang="zh-CN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时，试用小信号分析法求回路中的电流 </a:t>
              </a:r>
              <a:r>
                <a:rPr lang="en-US" altLang="zh-CN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。</a:t>
              </a:r>
              <a:endPara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15" name="Object 3">
              <a:extLst>
                <a:ext uri="{FF2B5EF4-FFF2-40B4-BE49-F238E27FC236}">
                  <a16:creationId xmlns:a16="http://schemas.microsoft.com/office/drawing/2014/main" id="{DFA44394-3310-42FA-AAA8-3C50196548A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1388072"/>
                </p:ext>
              </p:extLst>
            </p:nvPr>
          </p:nvGraphicFramePr>
          <p:xfrm>
            <a:off x="806" y="721"/>
            <a:ext cx="994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6617" name="Equation" r:id="rId10" imgW="660240" imgH="203040" progId="Equation.DSMT4">
                    <p:embed/>
                  </p:oleObj>
                </mc:Choice>
                <mc:Fallback>
                  <p:oleObj name="Equation" r:id="rId10" imgW="660240" imgH="203040" progId="Equation.DSMT4">
                    <p:embed/>
                    <p:pic>
                      <p:nvPicPr>
                        <p:cNvPr id="17413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6" y="721"/>
                          <a:ext cx="994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6146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7" grpId="0" autoUpdateAnimBg="0"/>
      <p:bldP spid="1843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839416" y="1749948"/>
            <a:ext cx="10801200" cy="107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58775" indent="-358775"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分段线性分析法：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是一种实用的近似方法，即用一条折线来分段逼近特性曲线，所以有时也称之为折线法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 </a:t>
            </a:r>
          </a:p>
        </p:txBody>
      </p:sp>
      <p:sp>
        <p:nvSpPr>
          <p:cNvPr id="128010" name="Rectangle 10"/>
          <p:cNvSpPr>
            <a:spLocks noChangeArrowheads="1"/>
          </p:cNvSpPr>
          <p:nvPr/>
        </p:nvSpPr>
        <p:spPr bwMode="auto">
          <a:xfrm>
            <a:off x="839416" y="3068960"/>
            <a:ext cx="10801200" cy="159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58775" indent="-358775"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思路：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就是用若干段斜率不同的折线近似代替非线性电阻的实际特性曲线，从而将非线性电阻电路转化为几个线性电路求解，每个线性电路对应一个相应的区间。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4.5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分段线性分析法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989213" y="980728"/>
            <a:ext cx="28800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4.5.1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思路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9" name="Picture 8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9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1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19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2" name="Picture 16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17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8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19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20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21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22" descr="Green and Black Diam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8895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/>
      <p:bldP spid="128010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174807"/>
              </p:ext>
            </p:extLst>
          </p:nvPr>
        </p:nvGraphicFramePr>
        <p:xfrm>
          <a:off x="7763317" y="1138219"/>
          <a:ext cx="3732335" cy="3062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576" r:id="rId4" imgW="1812646" imgH="1488034" progId="Visio.Drawing.11">
                  <p:embed/>
                </p:oleObj>
              </mc:Choice>
              <mc:Fallback>
                <p:oleObj r:id="rId4" imgW="1812646" imgH="1488034" progId="Visio.Drawing.11">
                  <p:embed/>
                  <p:pic>
                    <p:nvPicPr>
                      <p:cNvPr id="1945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3317" y="1138219"/>
                        <a:ext cx="3732335" cy="30626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1100338" y="1702771"/>
            <a:ext cx="5571726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图示为流控型非线性电阻的特性曲线，可以将非线性电阻的特性分作三段，分别用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OA、AB、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三段直线来逼近它。直线方程如果用电流为自变量，其一般表达式为  </a:t>
            </a:r>
          </a:p>
        </p:txBody>
      </p:sp>
      <p:graphicFrame>
        <p:nvGraphicFramePr>
          <p:cNvPr id="194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564622"/>
              </p:ext>
            </p:extLst>
          </p:nvPr>
        </p:nvGraphicFramePr>
        <p:xfrm>
          <a:off x="2171899" y="4347949"/>
          <a:ext cx="291306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577" name="Equation" r:id="rId6" imgW="876240" imgH="228600" progId="Equation.DSMT4">
                  <p:embed/>
                </p:oleObj>
              </mc:Choice>
              <mc:Fallback>
                <p:oleObj name="Equation" r:id="rId6" imgW="876240" imgH="228600" progId="Equation.DSMT4">
                  <p:embed/>
                  <p:pic>
                    <p:nvPicPr>
                      <p:cNvPr id="194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899" y="4347949"/>
                        <a:ext cx="2913063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4" name="Rectangle 9"/>
          <p:cNvSpPr>
            <a:spLocks noChangeArrowheads="1"/>
          </p:cNvSpPr>
          <p:nvPr/>
        </p:nvSpPr>
        <p:spPr bwMode="auto">
          <a:xfrm>
            <a:off x="8390060" y="4221089"/>
            <a:ext cx="2362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分段线性逼近 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4.5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分段线性分析法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989213" y="980728"/>
            <a:ext cx="28800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4.5.2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方法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11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12" name="Picture 8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9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4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22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5" name="Picture 16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17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18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19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0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21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22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" name="Rectangle 2"/>
          <p:cNvSpPr>
            <a:spLocks noChangeArrowheads="1"/>
          </p:cNvSpPr>
          <p:nvPr/>
        </p:nvSpPr>
        <p:spPr bwMode="auto">
          <a:xfrm>
            <a:off x="1128887" y="5116431"/>
            <a:ext cx="10366765" cy="107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是第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段直线与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轴交点的坐标。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800" i="1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是动态电阻，第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段直线斜率</a:t>
            </a:r>
          </a:p>
        </p:txBody>
      </p:sp>
      <p:graphicFrame>
        <p:nvGraphicFramePr>
          <p:cNvPr id="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4435560"/>
              </p:ext>
            </p:extLst>
          </p:nvPr>
        </p:nvGraphicFramePr>
        <p:xfrm>
          <a:off x="5277090" y="5744418"/>
          <a:ext cx="193357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578" name="Equation" r:id="rId9" imgW="698400" imgH="457200" progId="Equation.DSMT4">
                  <p:embed/>
                </p:oleObj>
              </mc:Choice>
              <mc:Fallback>
                <p:oleObj name="Equation" r:id="rId9" imgW="698400" imgH="457200" progId="Equation.DSMT4">
                  <p:embed/>
                  <p:pic>
                    <p:nvPicPr>
                      <p:cNvPr id="2048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7090" y="5744418"/>
                        <a:ext cx="1933575" cy="99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0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1068587" y="1675955"/>
            <a:ext cx="5972218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图中三条线段上，有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三个动态电阻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30055" name="Rectangle 7"/>
          <p:cNvSpPr>
            <a:spLocks noChangeArrowheads="1"/>
          </p:cNvSpPr>
          <p:nvPr/>
        </p:nvSpPr>
        <p:spPr bwMode="auto">
          <a:xfrm>
            <a:off x="1510085" y="2383431"/>
            <a:ext cx="3969356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</a:t>
            </a:r>
            <a:r>
              <a:rPr lang="zh-CN" altLang="en-US" sz="2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段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是通过原点的直线</a:t>
            </a:r>
          </a:p>
        </p:txBody>
      </p:sp>
      <p:sp>
        <p:nvSpPr>
          <p:cNvPr id="130056" name="Rectangle 8"/>
          <p:cNvSpPr>
            <a:spLocks noChangeArrowheads="1"/>
          </p:cNvSpPr>
          <p:nvPr/>
        </p:nvSpPr>
        <p:spPr bwMode="auto">
          <a:xfrm>
            <a:off x="2381822" y="3123823"/>
            <a:ext cx="18288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d1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=R</a:t>
            </a:r>
            <a:r>
              <a:rPr lang="en-US" altLang="zh-CN" sz="2800" baseline="-25000" dirty="0">
                <a:latin typeface="Times New Roman" panose="02020603050405020304" pitchFamily="18" charset="0"/>
                <a:ea typeface="楷体_GB2312" pitchFamily="49" charset="-122"/>
              </a:rPr>
              <a:t>D1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&gt;0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602136" y="4176917"/>
            <a:ext cx="7820758" cy="613995"/>
            <a:chOff x="208" y="3470"/>
            <a:chExt cx="5337" cy="419"/>
          </a:xfrm>
        </p:grpSpPr>
        <p:sp>
          <p:nvSpPr>
            <p:cNvPr id="20496" name="Rectangle 9"/>
            <p:cNvSpPr>
              <a:spLocks noChangeArrowheads="1"/>
            </p:cNvSpPr>
            <p:nvPr/>
          </p:nvSpPr>
          <p:spPr bwMode="auto">
            <a:xfrm>
              <a:off x="208" y="3470"/>
              <a:ext cx="2435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sz="2800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en-US" sz="2800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段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是下降的直线段</a:t>
              </a:r>
            </a:p>
          </p:txBody>
        </p:sp>
        <p:sp>
          <p:nvSpPr>
            <p:cNvPr id="20497" name="Rectangle 10"/>
            <p:cNvSpPr>
              <a:spLocks noChangeArrowheads="1"/>
            </p:cNvSpPr>
            <p:nvPr/>
          </p:nvSpPr>
          <p:spPr bwMode="auto">
            <a:xfrm>
              <a:off x="2652" y="3504"/>
              <a:ext cx="71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d2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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0498" name="Rectangle 11"/>
            <p:cNvSpPr>
              <a:spLocks noChangeArrowheads="1"/>
            </p:cNvSpPr>
            <p:nvPr/>
          </p:nvSpPr>
          <p:spPr bwMode="auto">
            <a:xfrm>
              <a:off x="3588" y="3504"/>
              <a:ext cx="780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D2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&lt;0</a:t>
              </a:r>
            </a:p>
          </p:txBody>
        </p:sp>
        <p:sp>
          <p:nvSpPr>
            <p:cNvPr id="20499" name="Rectangle 15"/>
            <p:cNvSpPr>
              <a:spLocks noChangeArrowheads="1"/>
            </p:cNvSpPr>
            <p:nvPr/>
          </p:nvSpPr>
          <p:spPr bwMode="auto">
            <a:xfrm>
              <a:off x="4524" y="3504"/>
              <a:ext cx="1021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d2</a:t>
              </a: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D2</a:t>
              </a: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1602136" y="4980602"/>
            <a:ext cx="7820758" cy="634513"/>
            <a:chOff x="260" y="3840"/>
            <a:chExt cx="5337" cy="433"/>
          </a:xfrm>
        </p:grpSpPr>
        <p:sp>
          <p:nvSpPr>
            <p:cNvPr id="20492" name="Rectangle 12"/>
            <p:cNvSpPr>
              <a:spLocks noChangeArrowheads="1"/>
            </p:cNvSpPr>
            <p:nvPr/>
          </p:nvSpPr>
          <p:spPr bwMode="auto">
            <a:xfrm>
              <a:off x="260" y="3854"/>
              <a:ext cx="2435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sz="2800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BC</a:t>
              </a:r>
              <a:r>
                <a:rPr lang="zh-CN" altLang="en-US" sz="2800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段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是上升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的直线段</a:t>
              </a:r>
              <a:endPara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0493" name="Rectangle 13"/>
            <p:cNvSpPr>
              <a:spLocks noChangeArrowheads="1"/>
            </p:cNvSpPr>
            <p:nvPr/>
          </p:nvSpPr>
          <p:spPr bwMode="auto">
            <a:xfrm>
              <a:off x="2652" y="3840"/>
              <a:ext cx="724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d3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&gt;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0494" name="Rectangle 14"/>
            <p:cNvSpPr>
              <a:spLocks noChangeArrowheads="1"/>
            </p:cNvSpPr>
            <p:nvPr/>
          </p:nvSpPr>
          <p:spPr bwMode="auto">
            <a:xfrm>
              <a:off x="3588" y="3888"/>
              <a:ext cx="780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D3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&gt;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0495" name="Rectangle 16"/>
            <p:cNvSpPr>
              <a:spLocks noChangeArrowheads="1"/>
            </p:cNvSpPr>
            <p:nvPr/>
          </p:nvSpPr>
          <p:spPr bwMode="auto">
            <a:xfrm>
              <a:off x="4576" y="3888"/>
              <a:ext cx="1021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d3</a:t>
              </a: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D3</a:t>
              </a:r>
            </a:p>
          </p:txBody>
        </p:sp>
      </p:grpSp>
      <p:sp>
        <p:nvSpPr>
          <p:cNvPr id="130070" name="Rectangle 22"/>
          <p:cNvSpPr>
            <a:spLocks noChangeArrowheads="1"/>
          </p:cNvSpPr>
          <p:nvPr/>
        </p:nvSpPr>
        <p:spPr bwMode="auto">
          <a:xfrm>
            <a:off x="2444950" y="5825308"/>
            <a:ext cx="3377385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为静态电阻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4.5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分段线性分析法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989213" y="980728"/>
            <a:ext cx="28800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4.5.2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方法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37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38" name="Picture 8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9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0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48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0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1" name="Picture 16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" name="Picture 17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" name="Picture 18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" name="Picture 19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" name="Picture 20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6" name="Picture 21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" name="Picture 22" descr="Green and Black Diamon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5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053532"/>
              </p:ext>
            </p:extLst>
          </p:nvPr>
        </p:nvGraphicFramePr>
        <p:xfrm>
          <a:off x="7763317" y="1138219"/>
          <a:ext cx="3732335" cy="3062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490" r:id="rId5" imgW="1812646" imgH="1488034" progId="Visio.Drawing.11">
                  <p:embed/>
                </p:oleObj>
              </mc:Choice>
              <mc:Fallback>
                <p:oleObj r:id="rId5" imgW="1812646" imgH="1488034" progId="Visio.Drawing.11">
                  <p:embed/>
                  <p:pic>
                    <p:nvPicPr>
                      <p:cNvPr id="1945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3317" y="1138219"/>
                        <a:ext cx="3732335" cy="30626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042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0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/>
      <p:bldP spid="130055" grpId="0" autoUpdateAnimBg="0"/>
      <p:bldP spid="130056" grpId="0" autoUpdateAnimBg="0"/>
      <p:bldP spid="13007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ChangeArrowheads="1"/>
          </p:cNvSpPr>
          <p:nvPr/>
        </p:nvSpPr>
        <p:spPr bwMode="auto">
          <a:xfrm>
            <a:off x="1100338" y="2405855"/>
            <a:ext cx="10468270" cy="159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段非线性电阻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的特性可以用电压源串联线性电阻来等效，如图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所示，称为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分段戴维宁电路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。或用电流源并联电导来等效，如图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所示，称为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分段诺顿电路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2150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1519837"/>
              </p:ext>
            </p:extLst>
          </p:nvPr>
        </p:nvGraphicFramePr>
        <p:xfrm>
          <a:off x="2640013" y="1797050"/>
          <a:ext cx="291306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668" name="Equation" r:id="rId3" imgW="876240" imgH="228600" progId="Equation.DSMT4">
                  <p:embed/>
                </p:oleObj>
              </mc:Choice>
              <mc:Fallback>
                <p:oleObj name="Equation" r:id="rId3" imgW="876240" imgH="228600" progId="Equation.DSMT4">
                  <p:embed/>
                  <p:pic>
                    <p:nvPicPr>
                      <p:cNvPr id="2150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1797050"/>
                        <a:ext cx="2913062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547987"/>
              </p:ext>
            </p:extLst>
          </p:nvPr>
        </p:nvGraphicFramePr>
        <p:xfrm>
          <a:off x="6926783" y="1803401"/>
          <a:ext cx="2841625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669" name="Equation" r:id="rId5" imgW="838080" imgH="228600" progId="Equation.DSMT4">
                  <p:embed/>
                </p:oleObj>
              </mc:Choice>
              <mc:Fallback>
                <p:oleObj name="Equation" r:id="rId5" imgW="838080" imgH="228600" progId="Equation.DSMT4">
                  <p:embed/>
                  <p:pic>
                    <p:nvPicPr>
                      <p:cNvPr id="215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6783" y="1803401"/>
                        <a:ext cx="2841625" cy="601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Rectangle 8"/>
          <p:cNvSpPr>
            <a:spLocks noChangeArrowheads="1"/>
          </p:cNvSpPr>
          <p:nvPr/>
        </p:nvSpPr>
        <p:spPr bwMode="auto">
          <a:xfrm>
            <a:off x="5910698" y="1796486"/>
            <a:ext cx="545342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013943" y="3836340"/>
            <a:ext cx="7946778" cy="2779834"/>
            <a:chOff x="606" y="2041"/>
            <a:chExt cx="5423" cy="1897"/>
          </a:xfrm>
        </p:grpSpPr>
        <p:sp>
          <p:nvSpPr>
            <p:cNvPr id="21515" name="Rectangle 9"/>
            <p:cNvSpPr>
              <a:spLocks noChangeArrowheads="1"/>
            </p:cNvSpPr>
            <p:nvPr/>
          </p:nvSpPr>
          <p:spPr bwMode="auto">
            <a:xfrm>
              <a:off x="753" y="3522"/>
              <a:ext cx="413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2800" i="1" dirty="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en-US" altLang="zh-CN" sz="2800" dirty="0"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endParaRPr lang="zh-CN" altLang="en-US" sz="2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21508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23969"/>
                </p:ext>
              </p:extLst>
            </p:nvPr>
          </p:nvGraphicFramePr>
          <p:xfrm>
            <a:off x="606" y="2155"/>
            <a:ext cx="985" cy="1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9670" name="Visio" r:id="rId7" imgW="736550" imgH="958921" progId="Visio.Drawing.11">
                    <p:embed/>
                  </p:oleObj>
                </mc:Choice>
                <mc:Fallback>
                  <p:oleObj name="Visio" r:id="rId7" imgW="736550" imgH="958921" progId="Visio.Drawing.11">
                    <p:embed/>
                    <p:pic>
                      <p:nvPicPr>
                        <p:cNvPr id="2150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6" y="2155"/>
                          <a:ext cx="985" cy="13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7784381"/>
                </p:ext>
              </p:extLst>
            </p:nvPr>
          </p:nvGraphicFramePr>
          <p:xfrm>
            <a:off x="2613" y="2107"/>
            <a:ext cx="1066" cy="1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9671" name="Visio" r:id="rId9" imgW="800265" imgH="958921" progId="Visio.Drawing.11">
                    <p:embed/>
                  </p:oleObj>
                </mc:Choice>
                <mc:Fallback>
                  <p:oleObj name="Visio" r:id="rId9" imgW="800265" imgH="958921" progId="Visio.Drawing.11">
                    <p:embed/>
                    <p:pic>
                      <p:nvPicPr>
                        <p:cNvPr id="2150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3" y="2107"/>
                          <a:ext cx="1066" cy="13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709893"/>
                </p:ext>
              </p:extLst>
            </p:nvPr>
          </p:nvGraphicFramePr>
          <p:xfrm>
            <a:off x="4701" y="2041"/>
            <a:ext cx="1328" cy="1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9672" name="Visio" r:id="rId11" imgW="984223" imgH="958921" progId="Visio.Drawing.11">
                    <p:embed/>
                  </p:oleObj>
                </mc:Choice>
                <mc:Fallback>
                  <p:oleObj name="Visio" r:id="rId11" imgW="984223" imgH="958921" progId="Visio.Drawing.11">
                    <p:embed/>
                    <p:pic>
                      <p:nvPicPr>
                        <p:cNvPr id="2150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1" y="2041"/>
                          <a:ext cx="1328" cy="131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" name="Rectangle 9"/>
            <p:cNvSpPr>
              <a:spLocks noChangeArrowheads="1"/>
            </p:cNvSpPr>
            <p:nvPr/>
          </p:nvSpPr>
          <p:spPr bwMode="auto">
            <a:xfrm>
              <a:off x="2852" y="3522"/>
              <a:ext cx="413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2800" i="1" dirty="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r>
                <a:rPr lang="en-US" altLang="zh-CN" sz="2800" dirty="0"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endParaRPr lang="zh-CN" altLang="en-US" sz="2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6" name="Rectangle 9"/>
            <p:cNvSpPr>
              <a:spLocks noChangeArrowheads="1"/>
            </p:cNvSpPr>
            <p:nvPr/>
          </p:nvSpPr>
          <p:spPr bwMode="auto">
            <a:xfrm>
              <a:off x="5058" y="3471"/>
              <a:ext cx="398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2800" i="1" dirty="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lang="en-US" altLang="zh-CN" sz="2800" dirty="0"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endParaRPr lang="zh-CN" altLang="en-US" sz="2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4.5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分段线性分析法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989213" y="980728"/>
            <a:ext cx="28800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4.5.2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方法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29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30" name="Picture 8" descr="Green and Black Diamon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Picture 9" descr="Green and Black Diamon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2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40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2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33" name="Picture 16" descr="Green and Black Diamon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Picture 17" descr="Green and Black Diamon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18" descr="Green and Black Diamon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19" descr="Green and Black Diamon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20" descr="Green and Black Diamon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21" descr="Green and Black Diamon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22" descr="Green and Black Diamond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55635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8" grpId="0" autoUpdateAnimBg="0"/>
      <p:bldP spid="2151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Rectangle 2"/>
          <p:cNvSpPr>
            <a:spLocks noChangeArrowheads="1"/>
          </p:cNvSpPr>
          <p:nvPr/>
        </p:nvSpPr>
        <p:spPr bwMode="auto">
          <a:xfrm>
            <a:off x="479376" y="865620"/>
            <a:ext cx="11089232" cy="107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812800" indent="-812800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试用分段线性分析法求解图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所示电路，其中非线性电阻的伏安特性曲线如图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所示。 </a:t>
            </a:r>
          </a:p>
        </p:txBody>
      </p:sp>
      <p:sp>
        <p:nvSpPr>
          <p:cNvPr id="22536" name="Rectangle 5"/>
          <p:cNvSpPr>
            <a:spLocks noChangeArrowheads="1"/>
          </p:cNvSpPr>
          <p:nvPr/>
        </p:nvSpPr>
        <p:spPr bwMode="auto">
          <a:xfrm>
            <a:off x="3124201" y="3942928"/>
            <a:ext cx="784189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22537" name="Rectangle 6"/>
          <p:cNvSpPr>
            <a:spLocks noChangeArrowheads="1"/>
          </p:cNvSpPr>
          <p:nvPr/>
        </p:nvSpPr>
        <p:spPr bwMode="auto">
          <a:xfrm>
            <a:off x="8616280" y="3902303"/>
            <a:ext cx="604653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479376" y="4627378"/>
            <a:ext cx="665567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1205520" y="4647069"/>
            <a:ext cx="10363008" cy="1808284"/>
            <a:chOff x="-500" y="2931"/>
            <a:chExt cx="7515" cy="1234"/>
          </a:xfrm>
        </p:grpSpPr>
        <p:sp>
          <p:nvSpPr>
            <p:cNvPr id="22542" name="Rectangle 11"/>
            <p:cNvSpPr>
              <a:spLocks noChangeArrowheads="1"/>
            </p:cNvSpPr>
            <p:nvPr/>
          </p:nvSpPr>
          <p:spPr bwMode="auto">
            <a:xfrm>
              <a:off x="-500" y="2931"/>
              <a:ext cx="7515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现在</a:t>
              </a:r>
              <a:r>
                <a:rPr lang="zh-CN" altLang="en-US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按电压分为两段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，分别用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OA（                    ）、AB（             ）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两条直线分段逼近。取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为自变量，直线方程是</a:t>
              </a:r>
            </a:p>
          </p:txBody>
        </p:sp>
        <p:graphicFrame>
          <p:nvGraphicFramePr>
            <p:cNvPr id="22532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7196137"/>
                </p:ext>
              </p:extLst>
            </p:nvPr>
          </p:nvGraphicFramePr>
          <p:xfrm>
            <a:off x="3545" y="3017"/>
            <a:ext cx="1338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0799" name="Equation" r:id="rId3" imgW="812520" imgH="177480" progId="Equation.DSMT4">
                    <p:embed/>
                  </p:oleObj>
                </mc:Choice>
                <mc:Fallback>
                  <p:oleObj name="Equation" r:id="rId3" imgW="812520" imgH="177480" progId="Equation.DSMT4">
                    <p:embed/>
                    <p:pic>
                      <p:nvPicPr>
                        <p:cNvPr id="2253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5" y="3017"/>
                          <a:ext cx="1338" cy="2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3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4910429"/>
                </p:ext>
              </p:extLst>
            </p:nvPr>
          </p:nvGraphicFramePr>
          <p:xfrm>
            <a:off x="5962" y="2988"/>
            <a:ext cx="961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0800" name="Equation" r:id="rId5" imgW="583920" imgH="177480" progId="Equation.DSMT4">
                    <p:embed/>
                  </p:oleObj>
                </mc:Choice>
                <mc:Fallback>
                  <p:oleObj name="Equation" r:id="rId5" imgW="583920" imgH="177480" progId="Equation.DSMT4">
                    <p:embed/>
                    <p:pic>
                      <p:nvPicPr>
                        <p:cNvPr id="2253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62" y="2988"/>
                          <a:ext cx="961" cy="2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4235506"/>
                </p:ext>
              </p:extLst>
            </p:nvPr>
          </p:nvGraphicFramePr>
          <p:xfrm>
            <a:off x="1199" y="3765"/>
            <a:ext cx="1882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0801" name="Equation" r:id="rId7" imgW="838080" imgH="228600" progId="Equation.DSMT4">
                    <p:embed/>
                  </p:oleObj>
                </mc:Choice>
                <mc:Fallback>
                  <p:oleObj name="Equation" r:id="rId7" imgW="838080" imgH="228600" progId="Equation.DSMT4">
                    <p:embed/>
                    <p:pic>
                      <p:nvPicPr>
                        <p:cNvPr id="22534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9" y="3765"/>
                          <a:ext cx="1882" cy="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30" name="Object 17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7545839"/>
              </p:ext>
            </p:extLst>
          </p:nvPr>
        </p:nvGraphicFramePr>
        <p:xfrm>
          <a:off x="2187191" y="2072575"/>
          <a:ext cx="2658208" cy="1666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802" name="Visio" r:id="rId9" imgW="1253338" imgH="786140" progId="Visio.Drawing.11">
                  <p:embed/>
                </p:oleObj>
              </mc:Choice>
              <mc:Fallback>
                <p:oleObj name="Visio" r:id="rId9" imgW="1253338" imgH="786140" progId="Visio.Drawing.11">
                  <p:embed/>
                  <p:pic>
                    <p:nvPicPr>
                      <p:cNvPr id="2253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191" y="2072575"/>
                        <a:ext cx="2658208" cy="16661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19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56547941"/>
              </p:ext>
            </p:extLst>
          </p:nvPr>
        </p:nvGraphicFramePr>
        <p:xfrm>
          <a:off x="6857543" y="1487350"/>
          <a:ext cx="4122126" cy="2561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803" name="Visio" r:id="rId11" imgW="2674925" imgH="1662379" progId="Visio.Drawing.11">
                  <p:embed/>
                </p:oleObj>
              </mc:Choice>
              <mc:Fallback>
                <p:oleObj name="Visio" r:id="rId11" imgW="2674925" imgH="1662379" progId="Visio.Drawing.11">
                  <p:embed/>
                  <p:pic>
                    <p:nvPicPr>
                      <p:cNvPr id="2253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7543" y="1487350"/>
                        <a:ext cx="4122126" cy="25614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4.5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分段线性分析法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448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4.5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分段线性分析法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1217565" y="4643587"/>
            <a:ext cx="66029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段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，可测得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=0A，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=0.8S，</a:t>
            </a: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1217565" y="6210789"/>
            <a:ext cx="62318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显然，这是一个虚假解，应该舍弃。</a:t>
            </a:r>
          </a:p>
        </p:txBody>
      </p:sp>
      <p:graphicFrame>
        <p:nvGraphicFramePr>
          <p:cNvPr id="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259163"/>
              </p:ext>
            </p:extLst>
          </p:nvPr>
        </p:nvGraphicFramePr>
        <p:xfrm>
          <a:off x="1847528" y="5258068"/>
          <a:ext cx="6159524" cy="900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211" name="Equation" r:id="rId3" imgW="2616120" imgH="444240" progId="Equation.DSMT4">
                  <p:embed/>
                </p:oleObj>
              </mc:Choice>
              <mc:Fallback>
                <p:oleObj name="Equation" r:id="rId3" imgW="2616120" imgH="444240" progId="Equation.DSMT4">
                  <p:embed/>
                  <p:pic>
                    <p:nvPicPr>
                      <p:cNvPr id="1341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5258068"/>
                        <a:ext cx="6159524" cy="9004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479376" y="865620"/>
            <a:ext cx="11089232" cy="107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812800" indent="-812800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试用分段线性分析法求解图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所示电路，其中非线性电阻的伏安特性曲线如图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所示。 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3124201" y="3942928"/>
            <a:ext cx="784189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8616280" y="3902303"/>
            <a:ext cx="604653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479376" y="4627378"/>
            <a:ext cx="665567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22" name="Object 17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14667011"/>
              </p:ext>
            </p:extLst>
          </p:nvPr>
        </p:nvGraphicFramePr>
        <p:xfrm>
          <a:off x="2187191" y="2072575"/>
          <a:ext cx="2658208" cy="1666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212" name="Visio" r:id="rId5" imgW="1253338" imgH="786140" progId="Visio.Drawing.11">
                  <p:embed/>
                </p:oleObj>
              </mc:Choice>
              <mc:Fallback>
                <p:oleObj name="Visio" r:id="rId5" imgW="1253338" imgH="786140" progId="Visio.Drawing.11">
                  <p:embed/>
                  <p:pic>
                    <p:nvPicPr>
                      <p:cNvPr id="2253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191" y="2072575"/>
                        <a:ext cx="2658208" cy="16661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9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36630896"/>
              </p:ext>
            </p:extLst>
          </p:nvPr>
        </p:nvGraphicFramePr>
        <p:xfrm>
          <a:off x="6857543" y="1487350"/>
          <a:ext cx="4122126" cy="2561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213" name="Visio" r:id="rId7" imgW="2674925" imgH="1662379" progId="Visio.Drawing.11">
                  <p:embed/>
                </p:oleObj>
              </mc:Choice>
              <mc:Fallback>
                <p:oleObj name="Visio" r:id="rId7" imgW="2674925" imgH="1662379" progId="Visio.Drawing.11">
                  <p:embed/>
                  <p:pic>
                    <p:nvPicPr>
                      <p:cNvPr id="2253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7543" y="1487350"/>
                        <a:ext cx="4122126" cy="25614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998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19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4.5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分段线性分析法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232493" y="4681085"/>
            <a:ext cx="72258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段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，可测得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=1.0A，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=0.025S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</a:p>
        </p:txBody>
      </p:sp>
      <p:graphicFrame>
        <p:nvGraphicFramePr>
          <p:cNvPr id="1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063872"/>
              </p:ext>
            </p:extLst>
          </p:nvPr>
        </p:nvGraphicFramePr>
        <p:xfrm>
          <a:off x="1703512" y="5469032"/>
          <a:ext cx="6570662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229" name="Equation" r:id="rId3" imgW="2400120" imgH="444240" progId="Equation.DSMT4">
                  <p:embed/>
                </p:oleObj>
              </mc:Choice>
              <mc:Fallback>
                <p:oleObj name="Equation" r:id="rId3" imgW="2400120" imgH="444240" progId="Equation.DSMT4">
                  <p:embed/>
                  <p:pic>
                    <p:nvPicPr>
                      <p:cNvPr id="1341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5469032"/>
                        <a:ext cx="6570662" cy="1046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479376" y="865620"/>
            <a:ext cx="11089232" cy="107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812800" indent="-812800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试用分段线性分析法求解图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所示电路，其中非线性电阻的伏安特性曲线如图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所示。 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3124201" y="3942928"/>
            <a:ext cx="784189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8616280" y="3902303"/>
            <a:ext cx="604653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479376" y="4627378"/>
            <a:ext cx="665567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9" name="Object 17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42522729"/>
              </p:ext>
            </p:extLst>
          </p:nvPr>
        </p:nvGraphicFramePr>
        <p:xfrm>
          <a:off x="2187191" y="2072575"/>
          <a:ext cx="2658208" cy="1666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230" name="Visio" r:id="rId5" imgW="1253338" imgH="786140" progId="Visio.Drawing.11">
                  <p:embed/>
                </p:oleObj>
              </mc:Choice>
              <mc:Fallback>
                <p:oleObj name="Visio" r:id="rId5" imgW="1253338" imgH="786140" progId="Visio.Drawing.11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191" y="2072575"/>
                        <a:ext cx="2658208" cy="16661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58237719"/>
              </p:ext>
            </p:extLst>
          </p:nvPr>
        </p:nvGraphicFramePr>
        <p:xfrm>
          <a:off x="6857543" y="1487350"/>
          <a:ext cx="4122126" cy="2561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7231" name="Visio" r:id="rId7" imgW="2674925" imgH="1662379" progId="Visio.Drawing.11">
                  <p:embed/>
                </p:oleObj>
              </mc:Choice>
              <mc:Fallback>
                <p:oleObj name="Visio" r:id="rId7" imgW="2674925" imgH="1662379" progId="Visio.Drawing.11">
                  <p:embed/>
                  <p:pic>
                    <p:nvPicPr>
                      <p:cNvPr id="2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7543" y="1487350"/>
                        <a:ext cx="4122126" cy="25614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691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4.5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分段线性分析法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grpSp>
        <p:nvGrpSpPr>
          <p:cNvPr id="11" name="Group 13"/>
          <p:cNvGrpSpPr>
            <a:grpSpLocks/>
          </p:cNvGrpSpPr>
          <p:nvPr/>
        </p:nvGrpSpPr>
        <p:grpSpPr bwMode="auto">
          <a:xfrm>
            <a:off x="1127448" y="4670572"/>
            <a:ext cx="8616461" cy="1307126"/>
            <a:chOff x="-790" y="2086"/>
            <a:chExt cx="5880" cy="892"/>
          </a:xfrm>
        </p:grpSpPr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-790" y="2086"/>
              <a:ext cx="5283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此时正好在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段的范围内，代入直线方程得到</a:t>
              </a:r>
            </a:p>
          </p:txBody>
        </p:sp>
        <p:graphicFrame>
          <p:nvGraphicFramePr>
            <p:cNvPr id="16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2074223"/>
                </p:ext>
              </p:extLst>
            </p:nvPr>
          </p:nvGraphicFramePr>
          <p:xfrm>
            <a:off x="-382" y="2584"/>
            <a:ext cx="5472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8256" name="Equation" r:id="rId3" imgW="2692080" imgH="228600" progId="Equation.DSMT4">
                    <p:embed/>
                  </p:oleObj>
                </mc:Choice>
                <mc:Fallback>
                  <p:oleObj name="Equation" r:id="rId3" imgW="2692080" imgH="228600" progId="Equation.DSMT4">
                    <p:embed/>
                    <p:pic>
                      <p:nvPicPr>
                        <p:cNvPr id="24579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382" y="2584"/>
                          <a:ext cx="5472" cy="3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479376" y="865620"/>
            <a:ext cx="11089232" cy="107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812800" indent="-812800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试用分段线性分析法求解图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所示电路，其中非线性电阻的伏安特性曲线如图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所示。 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3124201" y="3942928"/>
            <a:ext cx="784189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8616280" y="3902303"/>
            <a:ext cx="604653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479376" y="4627378"/>
            <a:ext cx="665567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23" name="Object 17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42522729"/>
              </p:ext>
            </p:extLst>
          </p:nvPr>
        </p:nvGraphicFramePr>
        <p:xfrm>
          <a:off x="2187191" y="2072575"/>
          <a:ext cx="2658208" cy="1666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257" name="Visio" r:id="rId5" imgW="1253338" imgH="786140" progId="Visio.Drawing.11">
                  <p:embed/>
                </p:oleObj>
              </mc:Choice>
              <mc:Fallback>
                <p:oleObj name="Visio" r:id="rId5" imgW="1253338" imgH="786140" progId="Visio.Drawing.11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191" y="2072575"/>
                        <a:ext cx="2658208" cy="16661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9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58237719"/>
              </p:ext>
            </p:extLst>
          </p:nvPr>
        </p:nvGraphicFramePr>
        <p:xfrm>
          <a:off x="6857543" y="1487350"/>
          <a:ext cx="4122126" cy="2561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8258" name="Visio" r:id="rId7" imgW="2674925" imgH="1662379" progId="Visio.Drawing.11">
                  <p:embed/>
                </p:oleObj>
              </mc:Choice>
              <mc:Fallback>
                <p:oleObj name="Visio" r:id="rId7" imgW="2674925" imgH="1662379" progId="Visio.Drawing.11">
                  <p:embed/>
                  <p:pic>
                    <p:nvPicPr>
                      <p:cNvPr id="2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7543" y="1487350"/>
                        <a:ext cx="4122126" cy="25614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872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4.5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分段线性分析法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1919536" y="5157192"/>
            <a:ext cx="9649071" cy="1594026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zh-CN" altLang="en-US" sz="2800" dirty="0">
                <a:latin typeface="Times New Roman" panose="02020603050405020304" pitchFamily="18" charset="0"/>
                <a:ea typeface="楷体_GB2312"/>
              </a:rPr>
              <a:t>计算后，根据电压和电流的等效范围进行校验。仅当工作点在其有关段的等效范围内时，其解才正确。否则是虚假工作点，应舍弃 </a:t>
            </a:r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479376" y="865620"/>
            <a:ext cx="11089232" cy="107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812800" indent="-812800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试用分段线性分析法求解图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所示电路，其中非线性电阻的伏安特性曲线如图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所示。 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3124201" y="3942928"/>
            <a:ext cx="784189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8616280" y="3902303"/>
            <a:ext cx="604653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479376" y="4627378"/>
            <a:ext cx="665567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23" name="Object 17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42522729"/>
              </p:ext>
            </p:extLst>
          </p:nvPr>
        </p:nvGraphicFramePr>
        <p:xfrm>
          <a:off x="2187191" y="2072575"/>
          <a:ext cx="2658208" cy="1666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596" name="Visio" r:id="rId3" imgW="1253338" imgH="786140" progId="Visio.Drawing.11">
                  <p:embed/>
                </p:oleObj>
              </mc:Choice>
              <mc:Fallback>
                <p:oleObj name="Visio" r:id="rId3" imgW="1253338" imgH="786140" progId="Visio.Drawing.11">
                  <p:embed/>
                  <p:pic>
                    <p:nvPicPr>
                      <p:cNvPr id="2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191" y="2072575"/>
                        <a:ext cx="2658208" cy="16661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9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58237719"/>
              </p:ext>
            </p:extLst>
          </p:nvPr>
        </p:nvGraphicFramePr>
        <p:xfrm>
          <a:off x="6857543" y="1487350"/>
          <a:ext cx="4122126" cy="2561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8597" name="Visio" r:id="rId5" imgW="2674925" imgH="1662379" progId="Visio.Drawing.11">
                  <p:embed/>
                </p:oleObj>
              </mc:Choice>
              <mc:Fallback>
                <p:oleObj name="Visio" r:id="rId5" imgW="2674925" imgH="1662379" progId="Visio.Drawing.11">
                  <p:embed/>
                  <p:pic>
                    <p:nvPicPr>
                      <p:cNvPr id="24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7543" y="1487350"/>
                        <a:ext cx="4122126" cy="25614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utoShape 8" descr="40%"/>
          <p:cNvSpPr>
            <a:spLocks noChangeArrowheads="1"/>
          </p:cNvSpPr>
          <p:nvPr/>
        </p:nvSpPr>
        <p:spPr bwMode="auto">
          <a:xfrm>
            <a:off x="24958" y="5178598"/>
            <a:ext cx="1417612" cy="770682"/>
          </a:xfrm>
          <a:prstGeom prst="cloudCallout">
            <a:avLst>
              <a:gd name="adj1" fmla="val 76513"/>
              <a:gd name="adj2" fmla="val 41576"/>
            </a:avLst>
          </a:prstGeom>
          <a:blipFill dpi="0" rotWithShape="0">
            <a:blip r:embed="rId7"/>
            <a:srcRect/>
            <a:tile tx="0" ty="0" sx="100000" sy="100000" flip="none" algn="tl"/>
          </a:blipFill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dirty="0">
                <a:solidFill>
                  <a:schemeClr val="bg2"/>
                </a:solidFill>
              </a:rPr>
              <a:t>    </a:t>
            </a:r>
            <a:r>
              <a:rPr lang="zh-CN" altLang="en-US" sz="2800" b="1" dirty="0">
                <a:solidFill>
                  <a:srgbClr val="FF3300"/>
                </a:solidFill>
                <a:ea typeface="楷体_GB2312"/>
              </a:rPr>
              <a:t>注意：</a:t>
            </a:r>
          </a:p>
        </p:txBody>
      </p:sp>
    </p:spTree>
    <p:extLst>
      <p:ext uri="{BB962C8B-B14F-4D97-AF65-F5344CB8AC3E}">
        <p14:creationId xmlns:p14="http://schemas.microsoft.com/office/powerpoint/2010/main" val="171343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 autoUpdateAnimBg="0"/>
      <p:bldP spid="25" grpId="0" animBg="1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6"/>
          <p:cNvSpPr>
            <a:spLocks noChangeArrowheads="1"/>
          </p:cNvSpPr>
          <p:nvPr/>
        </p:nvSpPr>
        <p:spPr bwMode="auto">
          <a:xfrm>
            <a:off x="839416" y="1721225"/>
            <a:ext cx="10729192" cy="159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58775" indent="-358775" algn="just">
              <a:lnSpc>
                <a:spcPct val="120000"/>
              </a:lnSpc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数值分析法：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数值分析法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一般采用逼近的方法，使迭代的点序列逐步逼近非线性方程的解。逼近的方法有牛顿法、共轭梯度法等。本节主要介绍牛顿法。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839416" y="3573016"/>
            <a:ext cx="10729192" cy="2160591"/>
            <a:chOff x="-828601" y="3856845"/>
            <a:chExt cx="10729192" cy="2160591"/>
          </a:xfrm>
        </p:grpSpPr>
        <p:sp>
          <p:nvSpPr>
            <p:cNvPr id="148488" name="Rectangle 8"/>
            <p:cNvSpPr>
              <a:spLocks noChangeArrowheads="1"/>
            </p:cNvSpPr>
            <p:nvPr/>
          </p:nvSpPr>
          <p:spPr bwMode="auto">
            <a:xfrm>
              <a:off x="-828601" y="3856845"/>
              <a:ext cx="10729192" cy="2160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58775" indent="-358775" algn="just">
                <a:lnSpc>
                  <a:spcPct val="120000"/>
                </a:lnSpc>
              </a:pP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思路：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含有一个非线性电阻电路的方程，最终可归结为一个一元非线性方程。假设电路方程的形式为                   ，式中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为待求的电路变量，一般为电压或电流。可以通过数值方法对上述方程求解。</a:t>
              </a:r>
            </a:p>
          </p:txBody>
        </p:sp>
        <p:graphicFrame>
          <p:nvGraphicFramePr>
            <p:cNvPr id="25602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360835"/>
                </p:ext>
              </p:extLst>
            </p:nvPr>
          </p:nvGraphicFramePr>
          <p:xfrm>
            <a:off x="5364087" y="4414852"/>
            <a:ext cx="1763712" cy="522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580" name="Equation" r:id="rId4" imgW="596880" imgH="203040" progId="Equation.DSMT4">
                    <p:embed/>
                  </p:oleObj>
                </mc:Choice>
                <mc:Fallback>
                  <p:oleObj name="Equation" r:id="rId4" imgW="596880" imgH="203040" progId="Equation.DSMT4">
                    <p:embed/>
                    <p:pic>
                      <p:nvPicPr>
                        <p:cNvPr id="25602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4087" y="4414852"/>
                          <a:ext cx="1763712" cy="522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07" name="Rectangle 9"/>
          <p:cNvSpPr>
            <a:spLocks noChangeArrowheads="1"/>
          </p:cNvSpPr>
          <p:nvPr/>
        </p:nvSpPr>
        <p:spPr bwMode="auto">
          <a:xfrm>
            <a:off x="2578711" y="6062896"/>
            <a:ext cx="184638" cy="609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280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4.6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数值分析法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989213" y="980728"/>
            <a:ext cx="2880047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4.6.1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思路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11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12" name="Picture 8" descr="Green and Black Diamon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9" descr="Green and Black Diamon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4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22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5" name="Picture 16" descr="Green and Black Diamon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17" descr="Green and Black Diamon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18" descr="Green and Black Diamon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19" descr="Green and Black Diamon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0" descr="Green and Black Diamon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21" descr="Green and Black Diamon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22" descr="Green and Black Diamon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5884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33" name="Group 22"/>
          <p:cNvGrpSpPr>
            <a:grpSpLocks/>
          </p:cNvGrpSpPr>
          <p:nvPr/>
        </p:nvGrpSpPr>
        <p:grpSpPr bwMode="auto">
          <a:xfrm>
            <a:off x="838726" y="1637809"/>
            <a:ext cx="10801350" cy="1077057"/>
            <a:chOff x="-680" y="480"/>
            <a:chExt cx="7371" cy="735"/>
          </a:xfrm>
        </p:grpSpPr>
        <p:sp>
          <p:nvSpPr>
            <p:cNvPr id="26638" name="Rectangle 11"/>
            <p:cNvSpPr>
              <a:spLocks noChangeArrowheads="1"/>
            </p:cNvSpPr>
            <p:nvPr/>
          </p:nvSpPr>
          <p:spPr bwMode="auto">
            <a:xfrm>
              <a:off x="-680" y="480"/>
              <a:ext cx="7371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58775" indent="-358775" algn="just">
                <a:lnSpc>
                  <a:spcPct val="120000"/>
                </a:lnSpc>
              </a:pP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牛顿法：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基于围绕某一近似解      ，对函数        进行泰勒展开给出的，即</a:t>
              </a:r>
            </a:p>
          </p:txBody>
        </p:sp>
        <p:graphicFrame>
          <p:nvGraphicFramePr>
            <p:cNvPr id="26631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4784719"/>
                </p:ext>
              </p:extLst>
            </p:nvPr>
          </p:nvGraphicFramePr>
          <p:xfrm>
            <a:off x="2753" y="528"/>
            <a:ext cx="505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5041" name="Equation" r:id="rId4" imgW="266400" imgH="203040" progId="Equation.DSMT4">
                    <p:embed/>
                  </p:oleObj>
                </mc:Choice>
                <mc:Fallback>
                  <p:oleObj name="Equation" r:id="rId4" imgW="266400" imgH="203040" progId="Equation.DSMT4">
                    <p:embed/>
                    <p:pic>
                      <p:nvPicPr>
                        <p:cNvPr id="26631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3" y="528"/>
                          <a:ext cx="505" cy="3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2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9627519"/>
                </p:ext>
              </p:extLst>
            </p:nvPr>
          </p:nvGraphicFramePr>
          <p:xfrm>
            <a:off x="4185" y="556"/>
            <a:ext cx="465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5042" name="Equation" r:id="rId6" imgW="368280" imgH="203040" progId="Equation.DSMT4">
                    <p:embed/>
                  </p:oleObj>
                </mc:Choice>
                <mc:Fallback>
                  <p:oleObj name="Equation" r:id="rId6" imgW="368280" imgH="203040" progId="Equation.DSMT4">
                    <p:embed/>
                    <p:pic>
                      <p:nvPicPr>
                        <p:cNvPr id="26632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5" y="556"/>
                          <a:ext cx="465" cy="2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62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59296"/>
              </p:ext>
            </p:extLst>
          </p:nvPr>
        </p:nvGraphicFramePr>
        <p:xfrm>
          <a:off x="1919487" y="2739398"/>
          <a:ext cx="8724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043" name="Equation" r:id="rId8" imgW="4025880" imgH="482400" progId="Equation.DSMT4">
                  <p:embed/>
                </p:oleObj>
              </mc:Choice>
              <mc:Fallback>
                <p:oleObj name="Equation" r:id="rId8" imgW="4025880" imgH="482400" progId="Equation.DSMT4">
                  <p:embed/>
                  <p:pic>
                    <p:nvPicPr>
                      <p:cNvPr id="2662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487" y="2739398"/>
                        <a:ext cx="87249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257500" y="3723564"/>
            <a:ext cx="7639872" cy="560921"/>
            <a:chOff x="800743" y="3686175"/>
            <a:chExt cx="7639872" cy="560921"/>
          </a:xfrm>
        </p:grpSpPr>
        <p:sp>
          <p:nvSpPr>
            <p:cNvPr id="26637" name="Rectangle 14"/>
            <p:cNvSpPr>
              <a:spLocks noChangeArrowheads="1"/>
            </p:cNvSpPr>
            <p:nvPr/>
          </p:nvSpPr>
          <p:spPr bwMode="auto">
            <a:xfrm>
              <a:off x="800743" y="3687199"/>
              <a:ext cx="7639872" cy="559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如果               很小，则可取一阶近似，得到</a:t>
              </a:r>
            </a:p>
          </p:txBody>
        </p:sp>
        <p:graphicFrame>
          <p:nvGraphicFramePr>
            <p:cNvPr id="26630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7103970"/>
                </p:ext>
              </p:extLst>
            </p:nvPr>
          </p:nvGraphicFramePr>
          <p:xfrm>
            <a:off x="1622425" y="3686175"/>
            <a:ext cx="1328738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5044" name="Equation" r:id="rId10" imgW="507960" imgH="203040" progId="Equation.DSMT4">
                    <p:embed/>
                  </p:oleObj>
                </mc:Choice>
                <mc:Fallback>
                  <p:oleObj name="Equation" r:id="rId10" imgW="507960" imgH="203040" progId="Equation.DSMT4">
                    <p:embed/>
                    <p:pic>
                      <p:nvPicPr>
                        <p:cNvPr id="2663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2425" y="3686175"/>
                          <a:ext cx="1328738" cy="523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62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9006725"/>
              </p:ext>
            </p:extLst>
          </p:nvPr>
        </p:nvGraphicFramePr>
        <p:xfrm>
          <a:off x="1940125" y="4335690"/>
          <a:ext cx="5848350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045" name="Equation" r:id="rId12" imgW="2463480" imgH="457200" progId="Equation.DSMT4">
                  <p:embed/>
                </p:oleObj>
              </mc:Choice>
              <mc:Fallback>
                <p:oleObj name="Equation" r:id="rId12" imgW="2463480" imgH="457200" progId="Equation.DSMT4">
                  <p:embed/>
                  <p:pic>
                    <p:nvPicPr>
                      <p:cNvPr id="2662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0125" y="4335690"/>
                        <a:ext cx="5848350" cy="925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35" name="Group 24"/>
          <p:cNvGrpSpPr>
            <a:grpSpLocks/>
          </p:cNvGrpSpPr>
          <p:nvPr/>
        </p:nvGrpSpPr>
        <p:grpSpPr bwMode="auto">
          <a:xfrm>
            <a:off x="1257500" y="5104663"/>
            <a:ext cx="7807569" cy="559778"/>
            <a:chOff x="432" y="3120"/>
            <a:chExt cx="5328" cy="382"/>
          </a:xfrm>
        </p:grpSpPr>
        <p:sp>
          <p:nvSpPr>
            <p:cNvPr id="26636" name="Rectangle 19"/>
            <p:cNvSpPr>
              <a:spLocks noChangeArrowheads="1"/>
            </p:cNvSpPr>
            <p:nvPr/>
          </p:nvSpPr>
          <p:spPr bwMode="auto">
            <a:xfrm>
              <a:off x="432" y="3120"/>
              <a:ext cx="5328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这是一个线性方程，记其解为            ，则有  </a:t>
              </a:r>
            </a:p>
          </p:txBody>
        </p:sp>
        <p:graphicFrame>
          <p:nvGraphicFramePr>
            <p:cNvPr id="26629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9732446"/>
                </p:ext>
              </p:extLst>
            </p:nvPr>
          </p:nvGraphicFramePr>
          <p:xfrm>
            <a:off x="3638" y="3168"/>
            <a:ext cx="809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5046" name="Equation" r:id="rId14" imgW="368280" imgH="203040" progId="Equation.DSMT4">
                    <p:embed/>
                  </p:oleObj>
                </mc:Choice>
                <mc:Fallback>
                  <p:oleObj name="Equation" r:id="rId14" imgW="368280" imgH="203040" progId="Equation.DSMT4">
                    <p:embed/>
                    <p:pic>
                      <p:nvPicPr>
                        <p:cNvPr id="26629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8" y="3168"/>
                          <a:ext cx="809" cy="3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62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845151"/>
              </p:ext>
            </p:extLst>
          </p:nvPr>
        </p:nvGraphicFramePr>
        <p:xfrm>
          <a:off x="1940125" y="5803106"/>
          <a:ext cx="4758729" cy="901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047" name="Equation" r:id="rId16" imgW="1993680" imgH="444240" progId="Equation.DSMT4">
                  <p:embed/>
                </p:oleObj>
              </mc:Choice>
              <mc:Fallback>
                <p:oleObj name="Equation" r:id="rId16" imgW="1993680" imgH="444240" progId="Equation.DSMT4">
                  <p:embed/>
                  <p:pic>
                    <p:nvPicPr>
                      <p:cNvPr id="2662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0125" y="5803106"/>
                        <a:ext cx="4758729" cy="9014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4.6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数值分析法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989213" y="980728"/>
            <a:ext cx="187258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4.6.2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方法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17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18" name="Picture 8" descr="Green and Black Diamond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9" descr="Green and Black Diamond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0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28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1" name="Picture 16" descr="Green and Black Diamond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17" descr="Green and Black Diamond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18" descr="Green and Black Diamond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19" descr="Green and Black Diamond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Picture 20" descr="Green and Black Diamond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21" descr="Green and Black Diamond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22" descr="Green and Black Diamond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402486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10"/>
          <p:cNvSpPr>
            <a:spLocks noChangeArrowheads="1"/>
          </p:cNvSpPr>
          <p:nvPr/>
        </p:nvSpPr>
        <p:spPr bwMode="auto">
          <a:xfrm>
            <a:off x="839416" y="1636731"/>
            <a:ext cx="3580686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牛顿法的几何意义 </a:t>
            </a:r>
          </a:p>
        </p:txBody>
      </p:sp>
      <p:sp>
        <p:nvSpPr>
          <p:cNvPr id="27654" name="Rectangle 12"/>
          <p:cNvSpPr>
            <a:spLocks noChangeArrowheads="1"/>
          </p:cNvSpPr>
          <p:nvPr/>
        </p:nvSpPr>
        <p:spPr bwMode="auto">
          <a:xfrm>
            <a:off x="1247974" y="2253180"/>
            <a:ext cx="7219752" cy="2628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的解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可解释为曲线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轴的交点的横坐标。设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的某个近似值，过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曲线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上横坐标为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的点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作切线，并将该切线与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轴的交点的横坐标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+1)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作为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的新的近似值。注意到切线方程为</a:t>
            </a:r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graphicFrame>
        <p:nvGraphicFramePr>
          <p:cNvPr id="2765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335677"/>
              </p:ext>
            </p:extLst>
          </p:nvPr>
        </p:nvGraphicFramePr>
        <p:xfrm>
          <a:off x="2013943" y="4930836"/>
          <a:ext cx="5557837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700" name="Equation" r:id="rId4" imgW="2006280" imgH="457200" progId="Equation.DSMT4">
                  <p:embed/>
                </p:oleObj>
              </mc:Choice>
              <mc:Fallback>
                <p:oleObj name="Equation" r:id="rId4" imgW="2006280" imgH="457200" progId="Equation.DSMT4">
                  <p:embed/>
                  <p:pic>
                    <p:nvPicPr>
                      <p:cNvPr id="2765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3943" y="4930836"/>
                        <a:ext cx="5557837" cy="1077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Rectangle 16"/>
          <p:cNvSpPr>
            <a:spLocks noChangeArrowheads="1"/>
          </p:cNvSpPr>
          <p:nvPr/>
        </p:nvSpPr>
        <p:spPr bwMode="auto">
          <a:xfrm>
            <a:off x="1257500" y="6181471"/>
            <a:ext cx="6781800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由于这种几何含义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牛顿法也称为切线法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4.6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数值分析法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989213" y="980728"/>
            <a:ext cx="187258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4.6.2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方法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25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26" name="Picture 8" descr="Green and Black Diamon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9" descr="Green and Black Diamon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8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36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8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9" name="Picture 16" descr="Green and Black Diamon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17" descr="Green and Black Diamon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Picture 18" descr="Green and Black Diamon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Picture 19" descr="Green and Black Diamon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" name="Picture 20" descr="Green and Black Diamon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Picture 21" descr="Green and Black Diamon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22" descr="Green and Black Diamon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3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621286"/>
              </p:ext>
            </p:extLst>
          </p:nvPr>
        </p:nvGraphicFramePr>
        <p:xfrm>
          <a:off x="8861748" y="1449958"/>
          <a:ext cx="2954215" cy="280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701" r:id="rId7" imgW="1361846" imgH="1294486" progId="Visio.Drawing.11">
                  <p:embed/>
                </p:oleObj>
              </mc:Choice>
              <mc:Fallback>
                <p:oleObj r:id="rId7" imgW="1361846" imgH="1294486" progId="Visio.Drawing.11">
                  <p:embed/>
                  <p:pic>
                    <p:nvPicPr>
                      <p:cNvPr id="2765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1748" y="1449958"/>
                        <a:ext cx="2954215" cy="280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9934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84" name="Group 36"/>
          <p:cNvGrpSpPr>
            <a:grpSpLocks/>
          </p:cNvGrpSpPr>
          <p:nvPr/>
        </p:nvGrpSpPr>
        <p:grpSpPr bwMode="auto">
          <a:xfrm>
            <a:off x="478655" y="916468"/>
            <a:ext cx="11090030" cy="1077058"/>
            <a:chOff x="-713" y="394"/>
            <a:chExt cx="7568" cy="735"/>
          </a:xfrm>
        </p:grpSpPr>
        <p:sp>
          <p:nvSpPr>
            <p:cNvPr id="28692" name="Rectangle 11"/>
            <p:cNvSpPr>
              <a:spLocks noChangeArrowheads="1"/>
            </p:cNvSpPr>
            <p:nvPr/>
          </p:nvSpPr>
          <p:spPr bwMode="auto">
            <a:xfrm>
              <a:off x="-713" y="394"/>
              <a:ext cx="7568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901700" indent="-901700">
                <a:lnSpc>
                  <a:spcPct val="120000"/>
                </a:lnSpc>
              </a:pP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用牛顿法求解图示电路的电压    和电流    ，其中</a:t>
              </a:r>
              <a:r>
                <a:rPr lang="en-US" altLang="zh-CN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800" baseline="-30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=0.673A，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二极管的电压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电流关系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为         </a:t>
              </a:r>
            </a:p>
          </p:txBody>
        </p:sp>
        <p:graphicFrame>
          <p:nvGraphicFramePr>
            <p:cNvPr id="28681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9878170"/>
                </p:ext>
              </p:extLst>
            </p:nvPr>
          </p:nvGraphicFramePr>
          <p:xfrm>
            <a:off x="3128" y="394"/>
            <a:ext cx="292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318" name="Equation" r:id="rId4" imgW="177480" imgH="228600" progId="Equation.DSMT4">
                    <p:embed/>
                  </p:oleObj>
                </mc:Choice>
                <mc:Fallback>
                  <p:oleObj name="Equation" r:id="rId4" imgW="177480" imgH="228600" progId="Equation.DSMT4">
                    <p:embed/>
                    <p:pic>
                      <p:nvPicPr>
                        <p:cNvPr id="28681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8" y="394"/>
                          <a:ext cx="292" cy="3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2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6295150"/>
                </p:ext>
              </p:extLst>
            </p:nvPr>
          </p:nvGraphicFramePr>
          <p:xfrm>
            <a:off x="4103" y="433"/>
            <a:ext cx="20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319" name="Equation" r:id="rId6" imgW="139680" imgH="228600" progId="Equation.DSMT4">
                    <p:embed/>
                  </p:oleObj>
                </mc:Choice>
                <mc:Fallback>
                  <p:oleObj name="Equation" r:id="rId6" imgW="139680" imgH="228600" progId="Equation.DSMT4">
                    <p:embed/>
                    <p:pic>
                      <p:nvPicPr>
                        <p:cNvPr id="28682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3" y="433"/>
                          <a:ext cx="200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3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1740484"/>
                </p:ext>
              </p:extLst>
            </p:nvPr>
          </p:nvGraphicFramePr>
          <p:xfrm>
            <a:off x="2596" y="782"/>
            <a:ext cx="1552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320" name="Equation" r:id="rId8" imgW="1193760" imgH="253800" progId="Equation.DSMT4">
                    <p:embed/>
                  </p:oleObj>
                </mc:Choice>
                <mc:Fallback>
                  <p:oleObj name="Equation" r:id="rId8" imgW="1193760" imgH="253800" progId="Equation.DSMT4">
                    <p:embed/>
                    <p:pic>
                      <p:nvPicPr>
                        <p:cNvPr id="28683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6" y="782"/>
                          <a:ext cx="1552" cy="3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8737" name="Rectangle 17"/>
          <p:cNvSpPr>
            <a:spLocks noChangeArrowheads="1"/>
          </p:cNvSpPr>
          <p:nvPr/>
        </p:nvSpPr>
        <p:spPr bwMode="auto">
          <a:xfrm>
            <a:off x="1148210" y="2043349"/>
            <a:ext cx="4398553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由电路可得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KCL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</a:t>
            </a:r>
          </a:p>
        </p:txBody>
      </p:sp>
      <p:graphicFrame>
        <p:nvGraphicFramePr>
          <p:cNvPr id="15873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463151"/>
              </p:ext>
            </p:extLst>
          </p:nvPr>
        </p:nvGraphicFramePr>
        <p:xfrm>
          <a:off x="2041568" y="2622225"/>
          <a:ext cx="1755775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321" name="Equation" r:id="rId10" imgW="647640" imgH="228600" progId="Equation.DSMT4">
                  <p:embed/>
                </p:oleObj>
              </mc:Choice>
              <mc:Fallback>
                <p:oleObj name="Equation" r:id="rId10" imgW="647640" imgH="228600" progId="Equation.DSMT4">
                  <p:embed/>
                  <p:pic>
                    <p:nvPicPr>
                      <p:cNvPr id="15873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568" y="2622225"/>
                        <a:ext cx="1755775" cy="617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4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539196"/>
              </p:ext>
            </p:extLst>
          </p:nvPr>
        </p:nvGraphicFramePr>
        <p:xfrm>
          <a:off x="2041568" y="4662544"/>
          <a:ext cx="5668962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322" name="Equation" r:id="rId12" imgW="2552400" imgH="406080" progId="Equation.DSMT4">
                  <p:embed/>
                </p:oleObj>
              </mc:Choice>
              <mc:Fallback>
                <p:oleObj name="Equation" r:id="rId12" imgW="2552400" imgH="406080" progId="Equation.DSMT4">
                  <p:embed/>
                  <p:pic>
                    <p:nvPicPr>
                      <p:cNvPr id="15874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568" y="4662544"/>
                        <a:ext cx="5668962" cy="893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1147937" y="5736441"/>
            <a:ext cx="5906966" cy="975945"/>
            <a:chOff x="240" y="3578"/>
            <a:chExt cx="4031" cy="666"/>
          </a:xfrm>
        </p:grpSpPr>
        <p:sp>
          <p:nvSpPr>
            <p:cNvPr id="28691" name="Rectangle 28"/>
            <p:cNvSpPr>
              <a:spLocks noChangeArrowheads="1"/>
            </p:cNvSpPr>
            <p:nvPr/>
          </p:nvSpPr>
          <p:spPr bwMode="auto">
            <a:xfrm>
              <a:off x="240" y="3600"/>
              <a:ext cx="1947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对 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80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求导，得 </a:t>
              </a:r>
            </a:p>
          </p:txBody>
        </p:sp>
        <p:graphicFrame>
          <p:nvGraphicFramePr>
            <p:cNvPr id="28680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3013895"/>
                </p:ext>
              </p:extLst>
            </p:nvPr>
          </p:nvGraphicFramePr>
          <p:xfrm>
            <a:off x="2247" y="3578"/>
            <a:ext cx="2024" cy="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323" name="Equation" r:id="rId14" imgW="1346040" imgH="444240" progId="Equation.DSMT4">
                    <p:embed/>
                  </p:oleObj>
                </mc:Choice>
                <mc:Fallback>
                  <p:oleObj name="Equation" r:id="rId14" imgW="1346040" imgH="444240" progId="Equation.DSMT4">
                    <p:embed/>
                    <p:pic>
                      <p:nvPicPr>
                        <p:cNvPr id="2868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7" y="3578"/>
                          <a:ext cx="2024" cy="6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67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347041"/>
              </p:ext>
            </p:extLst>
          </p:nvPr>
        </p:nvGraphicFramePr>
        <p:xfrm>
          <a:off x="8410696" y="1809850"/>
          <a:ext cx="3256085" cy="1208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7324" name="Visio" r:id="rId16" imgW="1594714" imgH="593446" progId="Visio.Drawing.11">
                  <p:embed/>
                </p:oleObj>
              </mc:Choice>
              <mc:Fallback>
                <p:oleObj name="Visio" r:id="rId16" imgW="1594714" imgH="593446" progId="Visio.Drawing.11">
                  <p:embed/>
                  <p:pic>
                    <p:nvPicPr>
                      <p:cNvPr id="28676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0696" y="1809850"/>
                        <a:ext cx="3256085" cy="12089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1127422" y="3280793"/>
            <a:ext cx="10440865" cy="1269025"/>
            <a:chOff x="-336" y="1923"/>
            <a:chExt cx="7125" cy="866"/>
          </a:xfrm>
        </p:grpSpPr>
        <p:sp>
          <p:nvSpPr>
            <p:cNvPr id="28690" name="Rectangle 37"/>
            <p:cNvSpPr>
              <a:spLocks noChangeArrowheads="1"/>
            </p:cNvSpPr>
            <p:nvPr/>
          </p:nvSpPr>
          <p:spPr bwMode="auto">
            <a:xfrm>
              <a:off x="-336" y="2407"/>
              <a:ext cx="2248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的非线性电路方程</a:t>
              </a:r>
            </a:p>
          </p:txBody>
        </p:sp>
        <p:sp>
          <p:nvSpPr>
            <p:cNvPr id="28689" name="Rectangle 18"/>
            <p:cNvSpPr>
              <a:spLocks noChangeArrowheads="1"/>
            </p:cNvSpPr>
            <p:nvPr/>
          </p:nvSpPr>
          <p:spPr bwMode="auto">
            <a:xfrm>
              <a:off x="-322" y="1994"/>
              <a:ext cx="7111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将                  和                           代入上式并整理，得到以    为变量</a:t>
              </a:r>
            </a:p>
          </p:txBody>
        </p:sp>
        <p:graphicFrame>
          <p:nvGraphicFramePr>
            <p:cNvPr id="28677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9071861"/>
                </p:ext>
              </p:extLst>
            </p:nvPr>
          </p:nvGraphicFramePr>
          <p:xfrm>
            <a:off x="50" y="1923"/>
            <a:ext cx="945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325" name="Equation" r:id="rId18" imgW="660240" imgH="406080" progId="Equation.DSMT4">
                    <p:embed/>
                  </p:oleObj>
                </mc:Choice>
                <mc:Fallback>
                  <p:oleObj name="Equation" r:id="rId18" imgW="660240" imgH="406080" progId="Equation.DSMT4">
                    <p:embed/>
                    <p:pic>
                      <p:nvPicPr>
                        <p:cNvPr id="28677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" y="1923"/>
                          <a:ext cx="945" cy="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8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9416210"/>
                </p:ext>
              </p:extLst>
            </p:nvPr>
          </p:nvGraphicFramePr>
          <p:xfrm>
            <a:off x="1367" y="2000"/>
            <a:ext cx="1555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326" name="Equation" r:id="rId20" imgW="1066680" imgH="253800" progId="Equation.DSMT4">
                    <p:embed/>
                  </p:oleObj>
                </mc:Choice>
                <mc:Fallback>
                  <p:oleObj name="Equation" r:id="rId20" imgW="1066680" imgH="253800" progId="Equation.DSMT4">
                    <p:embed/>
                    <p:pic>
                      <p:nvPicPr>
                        <p:cNvPr id="28678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7" y="2000"/>
                          <a:ext cx="1555" cy="3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9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7705965"/>
                </p:ext>
              </p:extLst>
            </p:nvPr>
          </p:nvGraphicFramePr>
          <p:xfrm>
            <a:off x="5648" y="2034"/>
            <a:ext cx="25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327" name="Equation" r:id="rId22" imgW="177480" imgH="228600" progId="Equation.DSMT4">
                    <p:embed/>
                  </p:oleObj>
                </mc:Choice>
                <mc:Fallback>
                  <p:oleObj name="Equation" r:id="rId22" imgW="177480" imgH="228600" progId="Equation.DSMT4">
                    <p:embed/>
                    <p:pic>
                      <p:nvPicPr>
                        <p:cNvPr id="28679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8" y="2034"/>
                          <a:ext cx="257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4.6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数值分析法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524215" y="2030622"/>
            <a:ext cx="963274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8379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7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9235252"/>
              </p:ext>
            </p:extLst>
          </p:nvPr>
        </p:nvGraphicFramePr>
        <p:xfrm>
          <a:off x="1825598" y="4392557"/>
          <a:ext cx="18573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118" name="Equation" r:id="rId4" imgW="812520" imgH="228600" progId="Equation.DSMT4">
                  <p:embed/>
                </p:oleObj>
              </mc:Choice>
              <mc:Fallback>
                <p:oleObj name="Equation" r:id="rId4" imgW="812520" imgH="228600" progId="Equation.DSMT4">
                  <p:embed/>
                  <p:pic>
                    <p:nvPicPr>
                      <p:cNvPr id="16077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5598" y="4392557"/>
                        <a:ext cx="1857375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225167" y="5301208"/>
            <a:ext cx="7385538" cy="1241180"/>
            <a:chOff x="384" y="2473"/>
            <a:chExt cx="5040" cy="847"/>
          </a:xfrm>
        </p:grpSpPr>
        <p:sp>
          <p:nvSpPr>
            <p:cNvPr id="29706" name="Rectangle 12"/>
            <p:cNvSpPr>
              <a:spLocks noChangeArrowheads="1"/>
            </p:cNvSpPr>
            <p:nvPr/>
          </p:nvSpPr>
          <p:spPr bwMode="auto">
            <a:xfrm>
              <a:off x="384" y="2496"/>
              <a:ext cx="504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将 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80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的数值代入                                   式，可得</a:t>
              </a:r>
            </a:p>
          </p:txBody>
        </p:sp>
        <p:graphicFrame>
          <p:nvGraphicFramePr>
            <p:cNvPr id="29700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2017765"/>
                </p:ext>
              </p:extLst>
            </p:nvPr>
          </p:nvGraphicFramePr>
          <p:xfrm>
            <a:off x="2300" y="2473"/>
            <a:ext cx="2038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8119" name="Equation" r:id="rId6" imgW="1180800" imgH="253800" progId="Equation.DSMT4">
                    <p:embed/>
                  </p:oleObj>
                </mc:Choice>
                <mc:Fallback>
                  <p:oleObj name="Equation" r:id="rId6" imgW="1180800" imgH="253800" progId="Equation.DSMT4">
                    <p:embed/>
                    <p:pic>
                      <p:nvPicPr>
                        <p:cNvPr id="2970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0" y="2473"/>
                          <a:ext cx="2038" cy="4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1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3364647"/>
                </p:ext>
              </p:extLst>
            </p:nvPr>
          </p:nvGraphicFramePr>
          <p:xfrm>
            <a:off x="2063" y="2935"/>
            <a:ext cx="1537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8120" name="Equation" r:id="rId8" imgW="774360" imgH="228600" progId="Equation.DSMT4">
                    <p:embed/>
                  </p:oleObj>
                </mc:Choice>
                <mc:Fallback>
                  <p:oleObj name="Equation" r:id="rId8" imgW="774360" imgH="228600" progId="Equation.DSMT4">
                    <p:embed/>
                    <p:pic>
                      <p:nvPicPr>
                        <p:cNvPr id="29701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3" y="2935"/>
                          <a:ext cx="1537" cy="3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03" name="Rectangle 13"/>
          <p:cNvSpPr>
            <a:spLocks noChangeArrowheads="1"/>
          </p:cNvSpPr>
          <p:nvPr/>
        </p:nvSpPr>
        <p:spPr bwMode="auto">
          <a:xfrm>
            <a:off x="1225167" y="2043430"/>
            <a:ext cx="45127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因此，牛顿法的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迭代公式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296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6241176"/>
              </p:ext>
            </p:extLst>
          </p:nvPr>
        </p:nvGraphicFramePr>
        <p:xfrm>
          <a:off x="1679134" y="2714860"/>
          <a:ext cx="5147896" cy="930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121" name="Equation" r:id="rId10" imgW="2577960" imgH="469800" progId="Equation.DSMT4">
                  <p:embed/>
                </p:oleObj>
              </mc:Choice>
              <mc:Fallback>
                <p:oleObj name="Equation" r:id="rId10" imgW="2577960" imgH="469800" progId="Equation.DSMT4">
                  <p:embed/>
                  <p:pic>
                    <p:nvPicPr>
                      <p:cNvPr id="2969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134" y="2714860"/>
                        <a:ext cx="5147896" cy="9305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5" name="Rectangle 14"/>
          <p:cNvSpPr>
            <a:spLocks noChangeArrowheads="1"/>
          </p:cNvSpPr>
          <p:nvPr/>
        </p:nvSpPr>
        <p:spPr bwMode="auto">
          <a:xfrm>
            <a:off x="1225167" y="3787937"/>
            <a:ext cx="4857420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取初始值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时的迭代结果为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4.6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数值分析法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29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658954"/>
              </p:ext>
            </p:extLst>
          </p:nvPr>
        </p:nvGraphicFramePr>
        <p:xfrm>
          <a:off x="8410696" y="1809850"/>
          <a:ext cx="3256085" cy="1208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122" name="Visio" r:id="rId12" imgW="1594714" imgH="593446" progId="Visio.Drawing.11">
                  <p:embed/>
                </p:oleObj>
              </mc:Choice>
              <mc:Fallback>
                <p:oleObj name="Visio" r:id="rId12" imgW="1594714" imgH="593446" progId="Visio.Drawing.11">
                  <p:embed/>
                  <p:pic>
                    <p:nvPicPr>
                      <p:cNvPr id="28676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0696" y="1809850"/>
                        <a:ext cx="3256085" cy="12089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17"/>
          <p:cNvSpPr>
            <a:spLocks noChangeArrowheads="1"/>
          </p:cNvSpPr>
          <p:nvPr/>
        </p:nvSpPr>
        <p:spPr bwMode="auto">
          <a:xfrm>
            <a:off x="524215" y="2030622"/>
            <a:ext cx="963274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6"/>
          <p:cNvGrpSpPr>
            <a:grpSpLocks/>
          </p:cNvGrpSpPr>
          <p:nvPr/>
        </p:nvGrpSpPr>
        <p:grpSpPr bwMode="auto">
          <a:xfrm>
            <a:off x="478655" y="916468"/>
            <a:ext cx="11090030" cy="1077058"/>
            <a:chOff x="-713" y="394"/>
            <a:chExt cx="7568" cy="735"/>
          </a:xfrm>
        </p:grpSpPr>
        <p:sp>
          <p:nvSpPr>
            <p:cNvPr id="32" name="Rectangle 11"/>
            <p:cNvSpPr>
              <a:spLocks noChangeArrowheads="1"/>
            </p:cNvSpPr>
            <p:nvPr/>
          </p:nvSpPr>
          <p:spPr bwMode="auto">
            <a:xfrm>
              <a:off x="-713" y="394"/>
              <a:ext cx="7568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901700" indent="-901700">
                <a:lnSpc>
                  <a:spcPct val="120000"/>
                </a:lnSpc>
              </a:pP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用牛顿法求解图示电路的电压    和电流    ，其中</a:t>
              </a:r>
              <a:r>
                <a:rPr lang="en-US" altLang="zh-CN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800" baseline="-30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=0.673A，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二极管的电压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电流关系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为         </a:t>
              </a:r>
            </a:p>
          </p:txBody>
        </p:sp>
        <p:graphicFrame>
          <p:nvGraphicFramePr>
            <p:cNvPr id="33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03243"/>
                </p:ext>
              </p:extLst>
            </p:nvPr>
          </p:nvGraphicFramePr>
          <p:xfrm>
            <a:off x="3128" y="394"/>
            <a:ext cx="292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8123" name="Equation" r:id="rId14" imgW="177480" imgH="228600" progId="Equation.DSMT4">
                    <p:embed/>
                  </p:oleObj>
                </mc:Choice>
                <mc:Fallback>
                  <p:oleObj name="Equation" r:id="rId14" imgW="177480" imgH="228600" progId="Equation.DSMT4">
                    <p:embed/>
                    <p:pic>
                      <p:nvPicPr>
                        <p:cNvPr id="28681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8" y="394"/>
                          <a:ext cx="292" cy="3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7781516"/>
                </p:ext>
              </p:extLst>
            </p:nvPr>
          </p:nvGraphicFramePr>
          <p:xfrm>
            <a:off x="4103" y="433"/>
            <a:ext cx="20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8124" name="Equation" r:id="rId16" imgW="139680" imgH="228600" progId="Equation.DSMT4">
                    <p:embed/>
                  </p:oleObj>
                </mc:Choice>
                <mc:Fallback>
                  <p:oleObj name="Equation" r:id="rId16" imgW="139680" imgH="228600" progId="Equation.DSMT4">
                    <p:embed/>
                    <p:pic>
                      <p:nvPicPr>
                        <p:cNvPr id="28682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3" y="433"/>
                          <a:ext cx="200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12231"/>
                </p:ext>
              </p:extLst>
            </p:nvPr>
          </p:nvGraphicFramePr>
          <p:xfrm>
            <a:off x="2596" y="782"/>
            <a:ext cx="1552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8125" name="Equation" r:id="rId18" imgW="1193760" imgH="253800" progId="Equation.DSMT4">
                    <p:embed/>
                  </p:oleObj>
                </mc:Choice>
                <mc:Fallback>
                  <p:oleObj name="Equation" r:id="rId18" imgW="1193760" imgH="253800" progId="Equation.DSMT4">
                    <p:embed/>
                    <p:pic>
                      <p:nvPicPr>
                        <p:cNvPr id="28683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6" y="782"/>
                          <a:ext cx="1552" cy="3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30876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6" name="Rectangle 10"/>
          <p:cNvSpPr>
            <a:spLocks noChangeArrowheads="1"/>
          </p:cNvSpPr>
          <p:nvPr/>
        </p:nvSpPr>
        <p:spPr bwMode="auto">
          <a:xfrm>
            <a:off x="1247974" y="2158703"/>
            <a:ext cx="10320634" cy="159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对于含有多个非线性电阻电路的方程，最终可归结为一个多元非线性方程组，将一元牛顿法进行推广，可以得到求解多元非线性方程组的牛顿迭代法。假设电路方程的形式为                             </a:t>
            </a:r>
          </a:p>
        </p:txBody>
      </p:sp>
      <p:graphicFrame>
        <p:nvGraphicFramePr>
          <p:cNvPr id="3072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6974918"/>
              </p:ext>
            </p:extLst>
          </p:nvPr>
        </p:nvGraphicFramePr>
        <p:xfrm>
          <a:off x="2878933" y="3781766"/>
          <a:ext cx="1666875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800" name="Equation" r:id="rId4" imgW="723600" imgH="939600" progId="Equation.DSMT4">
                  <p:embed/>
                </p:oleObj>
              </mc:Choice>
              <mc:Fallback>
                <p:oleObj name="Equation" r:id="rId4" imgW="723600" imgH="939600" progId="Equation.DSMT4">
                  <p:embed/>
                  <p:pic>
                    <p:nvPicPr>
                      <p:cNvPr id="3072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933" y="3781766"/>
                        <a:ext cx="1666875" cy="182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1257947" y="5676102"/>
            <a:ext cx="10310599" cy="559776"/>
            <a:chOff x="-874" y="2766"/>
            <a:chExt cx="9752" cy="382"/>
          </a:xfrm>
        </p:grpSpPr>
        <p:sp>
          <p:nvSpPr>
            <p:cNvPr id="30730" name="Rectangle 11"/>
            <p:cNvSpPr>
              <a:spLocks noChangeArrowheads="1"/>
            </p:cNvSpPr>
            <p:nvPr/>
          </p:nvSpPr>
          <p:spPr bwMode="auto">
            <a:xfrm>
              <a:off x="-874" y="2766"/>
              <a:ext cx="9752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式中                        为待求的电路变量，一般为电压或电流</a:t>
              </a:r>
            </a:p>
          </p:txBody>
        </p:sp>
        <p:graphicFrame>
          <p:nvGraphicFramePr>
            <p:cNvPr id="30725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8949208"/>
                </p:ext>
              </p:extLst>
            </p:nvPr>
          </p:nvGraphicFramePr>
          <p:xfrm>
            <a:off x="-10" y="2817"/>
            <a:ext cx="1827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8801" name="Equation" r:id="rId6" imgW="1218960" imgH="241200" progId="Equation.DSMT4">
                    <p:embed/>
                  </p:oleObj>
                </mc:Choice>
                <mc:Fallback>
                  <p:oleObj name="Equation" r:id="rId6" imgW="1218960" imgH="241200" progId="Equation.DSMT4">
                    <p:embed/>
                    <p:pic>
                      <p:nvPicPr>
                        <p:cNvPr id="30725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0" y="2817"/>
                          <a:ext cx="1827" cy="31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839416" y="1636731"/>
            <a:ext cx="3580686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牛顿法的推广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4.6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数值分析法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989213" y="980728"/>
            <a:ext cx="187258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4.6.2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方法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14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15" name="Picture 8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9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25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8" name="Picture 16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17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18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19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20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21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22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511996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965003"/>
              </p:ext>
            </p:extLst>
          </p:nvPr>
        </p:nvGraphicFramePr>
        <p:xfrm>
          <a:off x="1605162" y="4293096"/>
          <a:ext cx="8779146" cy="1784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859" name="Equation" r:id="rId4" imgW="4216320" imgH="1002960" progId="Equation.DSMT4">
                  <p:embed/>
                </p:oleObj>
              </mc:Choice>
              <mc:Fallback>
                <p:oleObj name="Equation" r:id="rId4" imgW="4216320" imgH="1002960" progId="Equation.DSMT4">
                  <p:embed/>
                  <p:pic>
                    <p:nvPicPr>
                      <p:cNvPr id="3174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5162" y="4293096"/>
                        <a:ext cx="8779146" cy="17842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1100505" y="2158701"/>
            <a:ext cx="10540511" cy="1077057"/>
            <a:chOff x="-436" y="3158"/>
            <a:chExt cx="7193" cy="735"/>
          </a:xfrm>
        </p:grpSpPr>
        <p:sp>
          <p:nvSpPr>
            <p:cNvPr id="7" name="Rectangle 16"/>
            <p:cNvSpPr>
              <a:spLocks noChangeArrowheads="1"/>
            </p:cNvSpPr>
            <p:nvPr/>
          </p:nvSpPr>
          <p:spPr bwMode="auto">
            <a:xfrm>
              <a:off x="-436" y="3158"/>
              <a:ext cx="7193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与求解一元非线性方程类似，设       是第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次迭代值，将上式在近似解处进行泰勒展开，并只取一阶近似，得到</a:t>
              </a:r>
            </a:p>
          </p:txBody>
        </p:sp>
        <p:graphicFrame>
          <p:nvGraphicFramePr>
            <p:cNvPr id="8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0814533"/>
                </p:ext>
              </p:extLst>
            </p:nvPr>
          </p:nvGraphicFramePr>
          <p:xfrm>
            <a:off x="3110" y="3222"/>
            <a:ext cx="453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9860" name="Equation" r:id="rId6" imgW="266400" imgH="203040" progId="Equation.DSMT4">
                    <p:embed/>
                  </p:oleObj>
                </mc:Choice>
                <mc:Fallback>
                  <p:oleObj name="Equation" r:id="rId6" imgW="266400" imgH="203040" progId="Equation.DSMT4">
                    <p:embed/>
                    <p:pic>
                      <p:nvPicPr>
                        <p:cNvPr id="30724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0" y="3222"/>
                          <a:ext cx="453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547786"/>
              </p:ext>
            </p:extLst>
          </p:nvPr>
        </p:nvGraphicFramePr>
        <p:xfrm>
          <a:off x="2855318" y="3405684"/>
          <a:ext cx="46132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861" name="Equation" r:id="rId8" imgW="1625400" imgH="241200" progId="Equation.DSMT4">
                  <p:embed/>
                </p:oleObj>
              </mc:Choice>
              <mc:Fallback>
                <p:oleObj name="Equation" r:id="rId8" imgW="1625400" imgH="241200" progId="Equation.DSMT4">
                  <p:embed/>
                  <p:pic>
                    <p:nvPicPr>
                      <p:cNvPr id="16283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318" y="3405684"/>
                        <a:ext cx="4613275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4.6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数值分析法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27" name="Rectangle 10"/>
          <p:cNvSpPr>
            <a:spLocks noChangeArrowheads="1"/>
          </p:cNvSpPr>
          <p:nvPr/>
        </p:nvSpPr>
        <p:spPr bwMode="auto">
          <a:xfrm>
            <a:off x="839416" y="1636731"/>
            <a:ext cx="3580686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牛顿法的推广</a:t>
            </a:r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989213" y="980728"/>
            <a:ext cx="187258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4.6.2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方法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29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30" name="Picture 8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Picture 9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2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40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2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33" name="Picture 16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Picture 17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18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19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20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21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22" descr="Green and Black Diamon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546509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9"/>
          <p:cNvSpPr>
            <a:spLocks noChangeArrowheads="1"/>
          </p:cNvSpPr>
          <p:nvPr/>
        </p:nvSpPr>
        <p:spPr bwMode="auto">
          <a:xfrm>
            <a:off x="1257500" y="3562762"/>
            <a:ext cx="67489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这是一个线性方程组，写出矩阵形式有 </a:t>
            </a:r>
          </a:p>
        </p:txBody>
      </p:sp>
      <p:graphicFrame>
        <p:nvGraphicFramePr>
          <p:cNvPr id="3174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090824"/>
              </p:ext>
            </p:extLst>
          </p:nvPr>
        </p:nvGraphicFramePr>
        <p:xfrm>
          <a:off x="1617738" y="2021056"/>
          <a:ext cx="7758113" cy="157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219" name="Equation" r:id="rId4" imgW="4216320" imgH="1002960" progId="Equation.DSMT4">
                  <p:embed/>
                </p:oleObj>
              </mc:Choice>
              <mc:Fallback>
                <p:oleObj name="Equation" r:id="rId4" imgW="4216320" imgH="1002960" progId="Equation.DSMT4">
                  <p:embed/>
                  <p:pic>
                    <p:nvPicPr>
                      <p:cNvPr id="3174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7738" y="2021056"/>
                        <a:ext cx="7758113" cy="1576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026757"/>
              </p:ext>
            </p:extLst>
          </p:nvPr>
        </p:nvGraphicFramePr>
        <p:xfrm>
          <a:off x="1845668" y="4076700"/>
          <a:ext cx="7080250" cy="278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220" name="Equation" r:id="rId6" imgW="3504960" imgH="1612800" progId="Equation.DSMT4">
                  <p:embed/>
                </p:oleObj>
              </mc:Choice>
              <mc:Fallback>
                <p:oleObj name="Equation" r:id="rId6" imgW="3504960" imgH="1612800" progId="Equation.DSMT4">
                  <p:embed/>
                  <p:pic>
                    <p:nvPicPr>
                      <p:cNvPr id="3174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5668" y="4076700"/>
                        <a:ext cx="7080250" cy="278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4.6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数值分析法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27" name="Rectangle 10"/>
          <p:cNvSpPr>
            <a:spLocks noChangeArrowheads="1"/>
          </p:cNvSpPr>
          <p:nvPr/>
        </p:nvSpPr>
        <p:spPr bwMode="auto">
          <a:xfrm>
            <a:off x="839416" y="1636731"/>
            <a:ext cx="3580686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牛顿法的推广</a:t>
            </a:r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989213" y="980728"/>
            <a:ext cx="187258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4.6.2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方法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29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30" name="Picture 8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Picture 9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2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40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1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2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33" name="Picture 16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Picture 17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18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19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20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21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22" descr="Green and Black Diamond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374014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157263"/>
              </p:ext>
            </p:extLst>
          </p:nvPr>
        </p:nvGraphicFramePr>
        <p:xfrm>
          <a:off x="2424312" y="2176092"/>
          <a:ext cx="55530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134" name="Equation" r:id="rId4" imgW="2082600" imgH="228600" progId="Equation.DSMT4">
                  <p:embed/>
                </p:oleObj>
              </mc:Choice>
              <mc:Fallback>
                <p:oleObj name="Equation" r:id="rId4" imgW="2082600" imgH="228600" progId="Equation.DSMT4">
                  <p:embed/>
                  <p:pic>
                    <p:nvPicPr>
                      <p:cNvPr id="327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312" y="2176092"/>
                        <a:ext cx="555307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7" name="Rectangle 4"/>
          <p:cNvSpPr>
            <a:spLocks noChangeArrowheads="1"/>
          </p:cNvSpPr>
          <p:nvPr/>
        </p:nvSpPr>
        <p:spPr bwMode="auto">
          <a:xfrm>
            <a:off x="1191068" y="2191951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简写成</a:t>
            </a:r>
          </a:p>
        </p:txBody>
      </p:sp>
      <p:graphicFrame>
        <p:nvGraphicFramePr>
          <p:cNvPr id="3277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183997"/>
              </p:ext>
            </p:extLst>
          </p:nvPr>
        </p:nvGraphicFramePr>
        <p:xfrm>
          <a:off x="2486881" y="4862790"/>
          <a:ext cx="5716465" cy="545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135" name="Equation" r:id="rId6" imgW="2031840" imgH="228600" progId="Equation.DSMT4">
                  <p:embed/>
                </p:oleObj>
              </mc:Choice>
              <mc:Fallback>
                <p:oleObj name="Equation" r:id="rId6" imgW="2031840" imgH="228600" progId="Equation.DSMT4">
                  <p:embed/>
                  <p:pic>
                    <p:nvPicPr>
                      <p:cNvPr id="3277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881" y="4862790"/>
                        <a:ext cx="5716465" cy="5451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8" name="Rectangle 12"/>
          <p:cNvSpPr>
            <a:spLocks noChangeArrowheads="1"/>
          </p:cNvSpPr>
          <p:nvPr/>
        </p:nvSpPr>
        <p:spPr bwMode="auto">
          <a:xfrm>
            <a:off x="1202671" y="5776910"/>
            <a:ext cx="63161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上式可看成牛顿法迭代公式的直接推广</a:t>
            </a:r>
          </a:p>
        </p:txBody>
      </p:sp>
      <p:sp>
        <p:nvSpPr>
          <p:cNvPr id="32780" name="Rectangle 11"/>
          <p:cNvSpPr>
            <a:spLocks noChangeArrowheads="1"/>
          </p:cNvSpPr>
          <p:nvPr/>
        </p:nvSpPr>
        <p:spPr bwMode="auto">
          <a:xfrm>
            <a:off x="2246313" y="2807952"/>
            <a:ext cx="8692662" cy="523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其中系数矩阵          称为雅可比矩阵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256037" y="3383390"/>
            <a:ext cx="8042075" cy="559897"/>
            <a:chOff x="1216225" y="3410986"/>
            <a:chExt cx="8042075" cy="559897"/>
          </a:xfrm>
        </p:grpSpPr>
        <p:sp>
          <p:nvSpPr>
            <p:cNvPr id="32782" name="Rectangle 19"/>
            <p:cNvSpPr>
              <a:spLocks noChangeArrowheads="1"/>
            </p:cNvSpPr>
            <p:nvPr/>
          </p:nvSpPr>
          <p:spPr bwMode="auto">
            <a:xfrm>
              <a:off x="1216225" y="3410986"/>
              <a:ext cx="8042075" cy="559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为非线性方程组在       处的函数值向量</a:t>
              </a:r>
            </a:p>
          </p:txBody>
        </p:sp>
        <p:graphicFrame>
          <p:nvGraphicFramePr>
            <p:cNvPr id="32773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978594"/>
                </p:ext>
              </p:extLst>
            </p:nvPr>
          </p:nvGraphicFramePr>
          <p:xfrm>
            <a:off x="1278421" y="3530450"/>
            <a:ext cx="984738" cy="375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136" name="Equation" r:id="rId8" imgW="507960" imgH="228600" progId="Equation.DSMT4">
                    <p:embed/>
                  </p:oleObj>
                </mc:Choice>
                <mc:Fallback>
                  <p:oleObj name="Equation" r:id="rId8" imgW="507960" imgH="228600" progId="Equation.DSMT4">
                    <p:embed/>
                    <p:pic>
                      <p:nvPicPr>
                        <p:cNvPr id="3277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8421" y="3530450"/>
                          <a:ext cx="984738" cy="375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4601302"/>
                </p:ext>
              </p:extLst>
            </p:nvPr>
          </p:nvGraphicFramePr>
          <p:xfrm>
            <a:off x="5158027" y="3457180"/>
            <a:ext cx="597877" cy="448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137" name="Equation" r:id="rId10" imgW="266400" imgH="203040" progId="Equation.DSMT4">
                    <p:embed/>
                  </p:oleObj>
                </mc:Choice>
                <mc:Fallback>
                  <p:oleObj name="Equation" r:id="rId10" imgW="266400" imgH="203040" progId="Equation.DSMT4">
                    <p:embed/>
                    <p:pic>
                      <p:nvPicPr>
                        <p:cNvPr id="32774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8027" y="3457180"/>
                          <a:ext cx="597877" cy="4484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7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328177"/>
              </p:ext>
            </p:extLst>
          </p:nvPr>
        </p:nvGraphicFramePr>
        <p:xfrm>
          <a:off x="4502151" y="2897188"/>
          <a:ext cx="84296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138" name="Equation" r:id="rId12" imgW="545760" imgH="228600" progId="Equation.DSMT4">
                  <p:embed/>
                </p:oleObj>
              </mc:Choice>
              <mc:Fallback>
                <p:oleObj name="Equation" r:id="rId12" imgW="545760" imgH="228600" progId="Equation.DSMT4">
                  <p:embed/>
                  <p:pic>
                    <p:nvPicPr>
                      <p:cNvPr id="327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1" y="2897188"/>
                        <a:ext cx="842963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4.6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数值分析法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32" name="Rectangle 10"/>
          <p:cNvSpPr>
            <a:spLocks noChangeArrowheads="1"/>
          </p:cNvSpPr>
          <p:nvPr/>
        </p:nvSpPr>
        <p:spPr bwMode="auto">
          <a:xfrm>
            <a:off x="839416" y="1636731"/>
            <a:ext cx="3580686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牛顿法的推广</a:t>
            </a:r>
          </a:p>
        </p:txBody>
      </p: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989213" y="980728"/>
            <a:ext cx="187258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4.6.2  </a:t>
            </a:r>
            <a:r>
              <a:rPr lang="zh-CN" altLang="en-US" sz="2800" b="1" dirty="0">
                <a:solidFill>
                  <a:srgbClr val="00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方法</a:t>
            </a:r>
            <a:endParaRPr lang="zh-CN" altLang="en-US" sz="2800" dirty="0">
              <a:solidFill>
                <a:srgbClr val="006600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pSp>
        <p:nvGrpSpPr>
          <p:cNvPr id="34" name="Group 7"/>
          <p:cNvGrpSpPr>
            <a:grpSpLocks/>
          </p:cNvGrpSpPr>
          <p:nvPr/>
        </p:nvGrpSpPr>
        <p:grpSpPr bwMode="auto">
          <a:xfrm>
            <a:off x="911424" y="1483990"/>
            <a:ext cx="2038350" cy="171450"/>
            <a:chOff x="288" y="576"/>
            <a:chExt cx="1284" cy="108"/>
          </a:xfrm>
        </p:grpSpPr>
        <p:pic>
          <p:nvPicPr>
            <p:cNvPr id="35" name="Picture 8" descr="Green and Black Diamon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9" descr="Green and Black Diamon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7" name="Group 12"/>
            <p:cNvGrpSpPr>
              <a:grpSpLocks/>
            </p:cNvGrpSpPr>
            <p:nvPr/>
          </p:nvGrpSpPr>
          <p:grpSpPr bwMode="auto">
            <a:xfrm>
              <a:off x="288" y="576"/>
              <a:ext cx="331" cy="108"/>
              <a:chOff x="395" y="624"/>
              <a:chExt cx="331" cy="108"/>
            </a:xfrm>
          </p:grpSpPr>
          <p:pic>
            <p:nvPicPr>
              <p:cNvPr id="45" name="Picture 13" descr="Green and Black Diamond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6" name="Picture 14" descr="Green and Black Diamond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7" name="Picture 15" descr="Green and Black Diamond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" y="624"/>
                <a:ext cx="119" cy="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38" name="Picture 16" descr="Green and Black Diamon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17" descr="Green and Black Diamon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" name="Picture 18" descr="Green and Black Diamon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" name="Picture 19" descr="Green and Black Diamon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" y="576"/>
              <a:ext cx="120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" name="Picture 20" descr="Green and Black Diamon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5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" name="Picture 21" descr="Green and Black Diamon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" name="Picture 22" descr="Green and Black Diamond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1" y="576"/>
              <a:ext cx="119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" name="组合 4"/>
          <p:cNvGrpSpPr/>
          <p:nvPr/>
        </p:nvGrpSpPr>
        <p:grpSpPr>
          <a:xfrm>
            <a:off x="1202671" y="4048636"/>
            <a:ext cx="8042075" cy="559897"/>
            <a:chOff x="1202671" y="4048636"/>
            <a:chExt cx="8042075" cy="559897"/>
          </a:xfrm>
        </p:grpSpPr>
        <p:sp>
          <p:nvSpPr>
            <p:cNvPr id="48" name="Rectangle 19"/>
            <p:cNvSpPr>
              <a:spLocks noChangeArrowheads="1"/>
            </p:cNvSpPr>
            <p:nvPr/>
          </p:nvSpPr>
          <p:spPr bwMode="auto">
            <a:xfrm>
              <a:off x="1202671" y="4048636"/>
              <a:ext cx="8042075" cy="559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0000"/>
                </a:lnSpc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如果雅可比矩阵            是非奇异的，由上式可解出</a:t>
              </a: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4546325"/>
                </p:ext>
              </p:extLst>
            </p:nvPr>
          </p:nvGraphicFramePr>
          <p:xfrm>
            <a:off x="3845819" y="4068912"/>
            <a:ext cx="1055687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1139" name="Equation" r:id="rId15" imgW="1056319" imgH="444976" progId="Equation.DSMT4">
                    <p:embed/>
                  </p:oleObj>
                </mc:Choice>
                <mc:Fallback>
                  <p:oleObj name="Equation" r:id="rId15" imgW="1056319" imgH="444976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845819" y="4068912"/>
                          <a:ext cx="1055687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691208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00" name="Group 18"/>
          <p:cNvGrpSpPr>
            <a:grpSpLocks/>
          </p:cNvGrpSpPr>
          <p:nvPr/>
        </p:nvGrpSpPr>
        <p:grpSpPr bwMode="auto">
          <a:xfrm>
            <a:off x="479505" y="908720"/>
            <a:ext cx="11088565" cy="1078524"/>
            <a:chOff x="-754" y="346"/>
            <a:chExt cx="7567" cy="736"/>
          </a:xfrm>
        </p:grpSpPr>
        <p:sp>
          <p:nvSpPr>
            <p:cNvPr id="33806" name="Rectangle 5"/>
            <p:cNvSpPr>
              <a:spLocks noChangeArrowheads="1"/>
            </p:cNvSpPr>
            <p:nvPr/>
          </p:nvSpPr>
          <p:spPr bwMode="auto">
            <a:xfrm>
              <a:off x="-754" y="346"/>
              <a:ext cx="7567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901700" indent="-901700" algn="just">
                <a:lnSpc>
                  <a:spcPct val="120000"/>
                </a:lnSpc>
              </a:pP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用牛顿法求解图示电路各支路电流。电路中各非线性电阻的电压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电流关系分别为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</a:p>
          </p:txBody>
        </p:sp>
        <p:graphicFrame>
          <p:nvGraphicFramePr>
            <p:cNvPr id="33797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4567037"/>
                </p:ext>
              </p:extLst>
            </p:nvPr>
          </p:nvGraphicFramePr>
          <p:xfrm>
            <a:off x="1855" y="719"/>
            <a:ext cx="663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2193" name="Equation" r:id="rId4" imgW="431640" imgH="241200" progId="Equation.DSMT4">
                    <p:embed/>
                  </p:oleObj>
                </mc:Choice>
                <mc:Fallback>
                  <p:oleObj name="Equation" r:id="rId4" imgW="431640" imgH="241200" progId="Equation.DSMT4">
                    <p:embed/>
                    <p:pic>
                      <p:nvPicPr>
                        <p:cNvPr id="33797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5" y="719"/>
                          <a:ext cx="663" cy="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79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1350104"/>
                </p:ext>
              </p:extLst>
            </p:nvPr>
          </p:nvGraphicFramePr>
          <p:xfrm>
            <a:off x="2630" y="728"/>
            <a:ext cx="662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2194" name="Equation" r:id="rId6" imgW="444240" imgH="241200" progId="Equation.DSMT4">
                    <p:embed/>
                  </p:oleObj>
                </mc:Choice>
                <mc:Fallback>
                  <p:oleObj name="Equation" r:id="rId6" imgW="444240" imgH="241200" progId="Equation.DSMT4">
                    <p:embed/>
                    <p:pic>
                      <p:nvPicPr>
                        <p:cNvPr id="3379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0" y="728"/>
                          <a:ext cx="662" cy="3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799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3493728"/>
                </p:ext>
              </p:extLst>
            </p:nvPr>
          </p:nvGraphicFramePr>
          <p:xfrm>
            <a:off x="3404" y="736"/>
            <a:ext cx="75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2195" name="Equation" r:id="rId8" imgW="533160" imgH="241200" progId="Equation.DSMT4">
                    <p:embed/>
                  </p:oleObj>
                </mc:Choice>
                <mc:Fallback>
                  <p:oleObj name="Equation" r:id="rId8" imgW="533160" imgH="241200" progId="Equation.DSMT4">
                    <p:embed/>
                    <p:pic>
                      <p:nvPicPr>
                        <p:cNvPr id="33799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4" y="736"/>
                          <a:ext cx="756" cy="3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3069" name="Rectangle 13"/>
          <p:cNvSpPr>
            <a:spLocks noChangeArrowheads="1"/>
          </p:cNvSpPr>
          <p:nvPr/>
        </p:nvSpPr>
        <p:spPr bwMode="auto">
          <a:xfrm>
            <a:off x="1113755" y="2048442"/>
            <a:ext cx="4766222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列节点①、②的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KCL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</a:p>
        </p:txBody>
      </p:sp>
      <p:graphicFrame>
        <p:nvGraphicFramePr>
          <p:cNvPr id="1730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580855"/>
              </p:ext>
            </p:extLst>
          </p:nvPr>
        </p:nvGraphicFramePr>
        <p:xfrm>
          <a:off x="2177346" y="2684686"/>
          <a:ext cx="1639888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196" name="Equation" r:id="rId10" imgW="685800" imgH="457200" progId="Equation.DSMT4">
                  <p:embed/>
                </p:oleObj>
              </mc:Choice>
              <mc:Fallback>
                <p:oleObj name="Equation" r:id="rId10" imgW="685800" imgH="457200" progId="Equation.DSMT4">
                  <p:embed/>
                  <p:pic>
                    <p:nvPicPr>
                      <p:cNvPr id="17306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7346" y="2684686"/>
                        <a:ext cx="1639888" cy="1090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1193488" y="3941984"/>
            <a:ext cx="6822831" cy="1800958"/>
            <a:chOff x="0" y="2736"/>
            <a:chExt cx="4656" cy="1229"/>
          </a:xfrm>
        </p:grpSpPr>
        <p:graphicFrame>
          <p:nvGraphicFramePr>
            <p:cNvPr id="33796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9960755"/>
                </p:ext>
              </p:extLst>
            </p:nvPr>
          </p:nvGraphicFramePr>
          <p:xfrm>
            <a:off x="671" y="3147"/>
            <a:ext cx="1289" cy="8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2197" name="Equation" r:id="rId12" imgW="787320" imgH="495000" progId="Equation.DSMT4">
                    <p:embed/>
                  </p:oleObj>
                </mc:Choice>
                <mc:Fallback>
                  <p:oleObj name="Equation" r:id="rId12" imgW="787320" imgH="495000" progId="Equation.DSMT4">
                    <p:embed/>
                    <p:pic>
                      <p:nvPicPr>
                        <p:cNvPr id="3379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1" y="3147"/>
                          <a:ext cx="1289" cy="8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5" name="Rectangle 14"/>
            <p:cNvSpPr>
              <a:spLocks noChangeArrowheads="1"/>
            </p:cNvSpPr>
            <p:nvPr/>
          </p:nvSpPr>
          <p:spPr bwMode="auto">
            <a:xfrm>
              <a:off x="0" y="2736"/>
              <a:ext cx="4656" cy="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代入非线性电阻的电压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电流关系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，得到</a:t>
              </a:r>
            </a:p>
          </p:txBody>
        </p:sp>
      </p:grpSp>
      <p:graphicFrame>
        <p:nvGraphicFramePr>
          <p:cNvPr id="3379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021965"/>
              </p:ext>
            </p:extLst>
          </p:nvPr>
        </p:nvGraphicFramePr>
        <p:xfrm>
          <a:off x="7324187" y="1558354"/>
          <a:ext cx="4520712" cy="1692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198" name="Visio" r:id="rId14" imgW="2616098" imgH="976884" progId="Visio.Drawing.11">
                  <p:embed/>
                </p:oleObj>
              </mc:Choice>
              <mc:Fallback>
                <p:oleObj name="Visio" r:id="rId14" imgW="2616098" imgH="976884" progId="Visio.Drawing.11">
                  <p:embed/>
                  <p:pic>
                    <p:nvPicPr>
                      <p:cNvPr id="3379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4187" y="1558354"/>
                        <a:ext cx="4520712" cy="16925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4.6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数值分析法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969188"/>
              </p:ext>
            </p:extLst>
          </p:nvPr>
        </p:nvGraphicFramePr>
        <p:xfrm>
          <a:off x="5440377" y="5967323"/>
          <a:ext cx="20701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199" name="Equation" r:id="rId16" imgW="749160" imgH="228600" progId="Equation.DSMT4">
                  <p:embed/>
                </p:oleObj>
              </mc:Choice>
              <mc:Fallback>
                <p:oleObj name="Equation" r:id="rId16" imgW="749160" imgH="228600" progId="Equation.DSMT4">
                  <p:embed/>
                  <p:pic>
                    <p:nvPicPr>
                      <p:cNvPr id="3481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0377" y="5967323"/>
                        <a:ext cx="2070100" cy="58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193698" y="6029891"/>
            <a:ext cx="42162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列出回路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KVL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方程得</a:t>
            </a:r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493545" y="2035602"/>
            <a:ext cx="699943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解: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3112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934716" y="2073357"/>
            <a:ext cx="4134018" cy="1772349"/>
            <a:chOff x="240" y="1632"/>
            <a:chExt cx="2862" cy="1313"/>
          </a:xfrm>
        </p:grpSpPr>
        <p:sp>
          <p:nvSpPr>
            <p:cNvPr id="34826" name="Rectangle 4"/>
            <p:cNvSpPr>
              <a:spLocks noChangeArrowheads="1"/>
            </p:cNvSpPr>
            <p:nvPr/>
          </p:nvSpPr>
          <p:spPr bwMode="auto">
            <a:xfrm>
              <a:off x="240" y="1632"/>
              <a:ext cx="2845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indent="2667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将上式代入前面两式中</a:t>
              </a:r>
            </a:p>
          </p:txBody>
        </p:sp>
        <p:graphicFrame>
          <p:nvGraphicFramePr>
            <p:cNvPr id="34821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160696"/>
                </p:ext>
              </p:extLst>
            </p:nvPr>
          </p:nvGraphicFramePr>
          <p:xfrm>
            <a:off x="972" y="2074"/>
            <a:ext cx="2130" cy="8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128" name="Equation" r:id="rId4" imgW="1218960" imgH="495000" progId="Equation.DSMT4">
                    <p:embed/>
                  </p:oleObj>
                </mc:Choice>
                <mc:Fallback>
                  <p:oleObj name="Equation" r:id="rId4" imgW="1218960" imgH="495000" progId="Equation.DSMT4">
                    <p:embed/>
                    <p:pic>
                      <p:nvPicPr>
                        <p:cNvPr id="34821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2" y="2074"/>
                          <a:ext cx="2130" cy="8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1193488" y="3941603"/>
            <a:ext cx="6957646" cy="1764323"/>
            <a:chOff x="336" y="2976"/>
            <a:chExt cx="4748" cy="1204"/>
          </a:xfrm>
        </p:grpSpPr>
        <p:sp>
          <p:nvSpPr>
            <p:cNvPr id="34825" name="Rectangle 7"/>
            <p:cNvSpPr>
              <a:spLocks noChangeArrowheads="1"/>
            </p:cNvSpPr>
            <p:nvPr/>
          </p:nvSpPr>
          <p:spPr bwMode="auto">
            <a:xfrm>
              <a:off x="336" y="2976"/>
              <a:ext cx="4748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由上式得到关于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80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US" altLang="zh-CN" sz="2800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</a:t>
              </a:r>
              <a:r>
                <a:rPr lang="zh-CN" altLang="en-US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非线性电路方程组</a:t>
              </a:r>
            </a:p>
          </p:txBody>
        </p:sp>
        <p:graphicFrame>
          <p:nvGraphicFramePr>
            <p:cNvPr id="3482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8328156"/>
                </p:ext>
              </p:extLst>
            </p:nvPr>
          </p:nvGraphicFramePr>
          <p:xfrm>
            <a:off x="897" y="3417"/>
            <a:ext cx="3366" cy="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129" name="Equation" r:id="rId6" imgW="2286000" imgH="520560" progId="Equation.DSMT4">
                    <p:embed/>
                  </p:oleObj>
                </mc:Choice>
                <mc:Fallback>
                  <p:oleObj name="Equation" r:id="rId6" imgW="2286000" imgH="520560" progId="Equation.DSMT4">
                    <p:embed/>
                    <p:pic>
                      <p:nvPicPr>
                        <p:cNvPr id="3482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7" y="3417"/>
                          <a:ext cx="3366" cy="7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4.6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数值分析法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2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6273791"/>
              </p:ext>
            </p:extLst>
          </p:nvPr>
        </p:nvGraphicFramePr>
        <p:xfrm>
          <a:off x="7324187" y="1558354"/>
          <a:ext cx="4520712" cy="1692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30" name="Visio" r:id="rId8" imgW="2616098" imgH="976884" progId="Visio.Drawing.11">
                  <p:embed/>
                </p:oleObj>
              </mc:Choice>
              <mc:Fallback>
                <p:oleObj name="Visio" r:id="rId8" imgW="2616098" imgH="976884" progId="Visio.Drawing.11">
                  <p:embed/>
                  <p:pic>
                    <p:nvPicPr>
                      <p:cNvPr id="3379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4187" y="1558354"/>
                        <a:ext cx="4520712" cy="16925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13"/>
          <p:cNvSpPr>
            <a:spLocks noChangeArrowheads="1"/>
          </p:cNvSpPr>
          <p:nvPr/>
        </p:nvSpPr>
        <p:spPr bwMode="auto">
          <a:xfrm>
            <a:off x="493545" y="2035602"/>
            <a:ext cx="699943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解: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18"/>
          <p:cNvGrpSpPr>
            <a:grpSpLocks/>
          </p:cNvGrpSpPr>
          <p:nvPr/>
        </p:nvGrpSpPr>
        <p:grpSpPr bwMode="auto">
          <a:xfrm>
            <a:off x="479505" y="908720"/>
            <a:ext cx="11088565" cy="1078524"/>
            <a:chOff x="-754" y="346"/>
            <a:chExt cx="7567" cy="736"/>
          </a:xfrm>
        </p:grpSpPr>
        <p:sp>
          <p:nvSpPr>
            <p:cNvPr id="32" name="Rectangle 5"/>
            <p:cNvSpPr>
              <a:spLocks noChangeArrowheads="1"/>
            </p:cNvSpPr>
            <p:nvPr/>
          </p:nvSpPr>
          <p:spPr bwMode="auto">
            <a:xfrm>
              <a:off x="-754" y="346"/>
              <a:ext cx="7567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901700" indent="-901700" algn="just">
                <a:lnSpc>
                  <a:spcPct val="120000"/>
                </a:lnSpc>
              </a:pP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用牛顿法求解图示电路各支路电流。电路中各非线性电阻的电压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电流关系分别为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</a:p>
          </p:txBody>
        </p:sp>
        <p:graphicFrame>
          <p:nvGraphicFramePr>
            <p:cNvPr id="33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6211088"/>
                </p:ext>
              </p:extLst>
            </p:nvPr>
          </p:nvGraphicFramePr>
          <p:xfrm>
            <a:off x="1855" y="719"/>
            <a:ext cx="663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131" name="Equation" r:id="rId10" imgW="431640" imgH="241200" progId="Equation.DSMT4">
                    <p:embed/>
                  </p:oleObj>
                </mc:Choice>
                <mc:Fallback>
                  <p:oleObj name="Equation" r:id="rId10" imgW="431640" imgH="241200" progId="Equation.DSMT4">
                    <p:embed/>
                    <p:pic>
                      <p:nvPicPr>
                        <p:cNvPr id="33797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5" y="719"/>
                          <a:ext cx="663" cy="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4743173"/>
                </p:ext>
              </p:extLst>
            </p:nvPr>
          </p:nvGraphicFramePr>
          <p:xfrm>
            <a:off x="2630" y="728"/>
            <a:ext cx="662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132" name="Equation" r:id="rId12" imgW="444240" imgH="241200" progId="Equation.DSMT4">
                    <p:embed/>
                  </p:oleObj>
                </mc:Choice>
                <mc:Fallback>
                  <p:oleObj name="Equation" r:id="rId12" imgW="444240" imgH="241200" progId="Equation.DSMT4">
                    <p:embed/>
                    <p:pic>
                      <p:nvPicPr>
                        <p:cNvPr id="3379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0" y="728"/>
                          <a:ext cx="662" cy="3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6539299"/>
                </p:ext>
              </p:extLst>
            </p:nvPr>
          </p:nvGraphicFramePr>
          <p:xfrm>
            <a:off x="3404" y="736"/>
            <a:ext cx="75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133" name="Equation" r:id="rId14" imgW="533160" imgH="241200" progId="Equation.DSMT4">
                    <p:embed/>
                  </p:oleObj>
                </mc:Choice>
                <mc:Fallback>
                  <p:oleObj name="Equation" r:id="rId14" imgW="533160" imgH="241200" progId="Equation.DSMT4">
                    <p:embed/>
                    <p:pic>
                      <p:nvPicPr>
                        <p:cNvPr id="33799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4" y="736"/>
                          <a:ext cx="756" cy="3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904214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3"/>
          <p:cNvSpPr>
            <a:spLocks noChangeArrowheads="1"/>
          </p:cNvSpPr>
          <p:nvPr/>
        </p:nvSpPr>
        <p:spPr bwMode="auto">
          <a:xfrm>
            <a:off x="1182890" y="2072160"/>
            <a:ext cx="33762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得到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雅可比矩阵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358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683420"/>
              </p:ext>
            </p:extLst>
          </p:nvPr>
        </p:nvGraphicFramePr>
        <p:xfrm>
          <a:off x="139719" y="2824121"/>
          <a:ext cx="7539037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52" name="Equation" r:id="rId4" imgW="3898800" imgH="914400" progId="Equation.DSMT4">
                  <p:embed/>
                </p:oleObj>
              </mc:Choice>
              <mc:Fallback>
                <p:oleObj name="Equation" r:id="rId4" imgW="3898800" imgH="914400" progId="Equation.DSMT4">
                  <p:embed/>
                  <p:pic>
                    <p:nvPicPr>
                      <p:cNvPr id="358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19" y="2824121"/>
                        <a:ext cx="7539037" cy="151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783714"/>
              </p:ext>
            </p:extLst>
          </p:nvPr>
        </p:nvGraphicFramePr>
        <p:xfrm>
          <a:off x="-20216" y="5203373"/>
          <a:ext cx="12253913" cy="153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53" name="Equation" r:id="rId6" imgW="5537160" imgH="812520" progId="Equation.DSMT4">
                  <p:embed/>
                </p:oleObj>
              </mc:Choice>
              <mc:Fallback>
                <p:oleObj name="Equation" r:id="rId6" imgW="5537160" imgH="812520" progId="Equation.DSMT4">
                  <p:embed/>
                  <p:pic>
                    <p:nvPicPr>
                      <p:cNvPr id="3584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0216" y="5203373"/>
                        <a:ext cx="12253913" cy="15319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166474" y="4581128"/>
            <a:ext cx="8313048" cy="524074"/>
            <a:chOff x="605526" y="4240920"/>
            <a:chExt cx="8313048" cy="524074"/>
          </a:xfrm>
        </p:grpSpPr>
        <p:sp>
          <p:nvSpPr>
            <p:cNvPr id="35846" name="Rectangle 5"/>
            <p:cNvSpPr>
              <a:spLocks noChangeArrowheads="1"/>
            </p:cNvSpPr>
            <p:nvPr/>
          </p:nvSpPr>
          <p:spPr bwMode="auto">
            <a:xfrm>
              <a:off x="605526" y="4240920"/>
              <a:ext cx="10374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由式</a:t>
              </a:r>
            </a:p>
          </p:txBody>
        </p:sp>
        <p:graphicFrame>
          <p:nvGraphicFramePr>
            <p:cNvPr id="3584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0567985"/>
                </p:ext>
              </p:extLst>
            </p:nvPr>
          </p:nvGraphicFramePr>
          <p:xfrm>
            <a:off x="1379538" y="4241119"/>
            <a:ext cx="5621337" cy="523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154" name="Equation" r:id="rId8" imgW="2070000" imgH="228600" progId="Equation.DSMT4">
                    <p:embed/>
                  </p:oleObj>
                </mc:Choice>
                <mc:Fallback>
                  <p:oleObj name="Equation" r:id="rId8" imgW="2070000" imgH="228600" progId="Equation.DSMT4">
                    <p:embed/>
                    <p:pic>
                      <p:nvPicPr>
                        <p:cNvPr id="35844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9538" y="4241119"/>
                          <a:ext cx="5621337" cy="523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48" name="Rectangle 10"/>
            <p:cNvSpPr>
              <a:spLocks noChangeArrowheads="1"/>
            </p:cNvSpPr>
            <p:nvPr/>
          </p:nvSpPr>
          <p:spPr bwMode="auto">
            <a:xfrm>
              <a:off x="6786517" y="4240920"/>
              <a:ext cx="213205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得</a:t>
              </a:r>
              <a:r>
                <a:rPr lang="zh-CN" altLang="en-US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迭代公式</a:t>
              </a:r>
            </a:p>
          </p:txBody>
        </p:sp>
      </p:grp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4.6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数值分析法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2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6273791"/>
              </p:ext>
            </p:extLst>
          </p:nvPr>
        </p:nvGraphicFramePr>
        <p:xfrm>
          <a:off x="7324187" y="1558354"/>
          <a:ext cx="4520712" cy="1692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155" name="Visio" r:id="rId10" imgW="2616098" imgH="976884" progId="Visio.Drawing.11">
                  <p:embed/>
                </p:oleObj>
              </mc:Choice>
              <mc:Fallback>
                <p:oleObj name="Visio" r:id="rId10" imgW="2616098" imgH="976884" progId="Visio.Drawing.11">
                  <p:embed/>
                  <p:pic>
                    <p:nvPicPr>
                      <p:cNvPr id="3379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4187" y="1558354"/>
                        <a:ext cx="4520712" cy="16925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493545" y="2035602"/>
            <a:ext cx="699943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解: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Group 18"/>
          <p:cNvGrpSpPr>
            <a:grpSpLocks/>
          </p:cNvGrpSpPr>
          <p:nvPr/>
        </p:nvGrpSpPr>
        <p:grpSpPr bwMode="auto">
          <a:xfrm>
            <a:off x="479505" y="908720"/>
            <a:ext cx="11088565" cy="1078524"/>
            <a:chOff x="-754" y="346"/>
            <a:chExt cx="7567" cy="736"/>
          </a:xfrm>
        </p:grpSpPr>
        <p:sp>
          <p:nvSpPr>
            <p:cNvPr id="30" name="Rectangle 5"/>
            <p:cNvSpPr>
              <a:spLocks noChangeArrowheads="1"/>
            </p:cNvSpPr>
            <p:nvPr/>
          </p:nvSpPr>
          <p:spPr bwMode="auto">
            <a:xfrm>
              <a:off x="-754" y="346"/>
              <a:ext cx="7567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901700" indent="-901700" algn="just">
                <a:lnSpc>
                  <a:spcPct val="120000"/>
                </a:lnSpc>
              </a:pP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用牛顿法求解图示电路各支路电流。电路中各非线性电阻的电压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电流关系分别为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</a:p>
          </p:txBody>
        </p:sp>
        <p:graphicFrame>
          <p:nvGraphicFramePr>
            <p:cNvPr id="31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6211088"/>
                </p:ext>
              </p:extLst>
            </p:nvPr>
          </p:nvGraphicFramePr>
          <p:xfrm>
            <a:off x="1855" y="719"/>
            <a:ext cx="663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156" name="Equation" r:id="rId12" imgW="431640" imgH="241200" progId="Equation.DSMT4">
                    <p:embed/>
                  </p:oleObj>
                </mc:Choice>
                <mc:Fallback>
                  <p:oleObj name="Equation" r:id="rId12" imgW="431640" imgH="241200" progId="Equation.DSMT4">
                    <p:embed/>
                    <p:pic>
                      <p:nvPicPr>
                        <p:cNvPr id="33797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5" y="719"/>
                          <a:ext cx="663" cy="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4743173"/>
                </p:ext>
              </p:extLst>
            </p:nvPr>
          </p:nvGraphicFramePr>
          <p:xfrm>
            <a:off x="2630" y="728"/>
            <a:ext cx="662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157" name="Equation" r:id="rId14" imgW="444240" imgH="241200" progId="Equation.DSMT4">
                    <p:embed/>
                  </p:oleObj>
                </mc:Choice>
                <mc:Fallback>
                  <p:oleObj name="Equation" r:id="rId14" imgW="444240" imgH="241200" progId="Equation.DSMT4">
                    <p:embed/>
                    <p:pic>
                      <p:nvPicPr>
                        <p:cNvPr id="3379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0" y="728"/>
                          <a:ext cx="662" cy="3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6539299"/>
                </p:ext>
              </p:extLst>
            </p:nvPr>
          </p:nvGraphicFramePr>
          <p:xfrm>
            <a:off x="3404" y="736"/>
            <a:ext cx="75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4158" name="Equation" r:id="rId16" imgW="533160" imgH="241200" progId="Equation.DSMT4">
                    <p:embed/>
                  </p:oleObj>
                </mc:Choice>
                <mc:Fallback>
                  <p:oleObj name="Equation" r:id="rId16" imgW="533160" imgH="241200" progId="Equation.DSMT4">
                    <p:embed/>
                    <p:pic>
                      <p:nvPicPr>
                        <p:cNvPr id="33799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4" y="736"/>
                          <a:ext cx="756" cy="3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832040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0" name="Rectangle 4"/>
          <p:cNvSpPr>
            <a:spLocks noChangeArrowheads="1"/>
          </p:cNvSpPr>
          <p:nvPr/>
        </p:nvSpPr>
        <p:spPr bwMode="auto">
          <a:xfrm>
            <a:off x="1231424" y="2045979"/>
            <a:ext cx="6092763" cy="2160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对非线性方程组，可能会出现许多组解的情况，必须取不同的初始值进行迭代试运算。通过不同初始值的迭代运算，得到两组结果</a:t>
            </a:r>
          </a:p>
        </p:txBody>
      </p:sp>
      <p:graphicFrame>
        <p:nvGraphicFramePr>
          <p:cNvPr id="3686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150665"/>
              </p:ext>
            </p:extLst>
          </p:nvPr>
        </p:nvGraphicFramePr>
        <p:xfrm>
          <a:off x="2126474" y="4257371"/>
          <a:ext cx="2593975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227" name="Equation" r:id="rId4" imgW="1054080" imgH="482400" progId="Equation.DSMT4">
                  <p:embed/>
                </p:oleObj>
              </mc:Choice>
              <mc:Fallback>
                <p:oleObj name="Equation" r:id="rId4" imgW="1054080" imgH="482400" progId="Equation.DSMT4">
                  <p:embed/>
                  <p:pic>
                    <p:nvPicPr>
                      <p:cNvPr id="3686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474" y="4257371"/>
                        <a:ext cx="2593975" cy="1009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1867148"/>
              </p:ext>
            </p:extLst>
          </p:nvPr>
        </p:nvGraphicFramePr>
        <p:xfrm>
          <a:off x="6528048" y="4257371"/>
          <a:ext cx="2476399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228" name="Equation" r:id="rId6" imgW="1054080" imgH="482400" progId="Equation.DSMT4">
                  <p:embed/>
                </p:oleObj>
              </mc:Choice>
              <mc:Fallback>
                <p:oleObj name="Equation" r:id="rId6" imgW="1054080" imgH="482400" progId="Equation.DSMT4">
                  <p:embed/>
                  <p:pic>
                    <p:nvPicPr>
                      <p:cNvPr id="3686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8048" y="4257371"/>
                        <a:ext cx="2476399" cy="9636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4.6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数值分析法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6273791"/>
              </p:ext>
            </p:extLst>
          </p:nvPr>
        </p:nvGraphicFramePr>
        <p:xfrm>
          <a:off x="7324187" y="1558354"/>
          <a:ext cx="4520712" cy="1692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229" name="Visio" r:id="rId8" imgW="2616098" imgH="976884" progId="Visio.Drawing.11">
                  <p:embed/>
                </p:oleObj>
              </mc:Choice>
              <mc:Fallback>
                <p:oleObj name="Visio" r:id="rId8" imgW="2616098" imgH="976884" progId="Visio.Drawing.11">
                  <p:embed/>
                  <p:pic>
                    <p:nvPicPr>
                      <p:cNvPr id="3379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4187" y="1558354"/>
                        <a:ext cx="4520712" cy="16925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13"/>
          <p:cNvSpPr>
            <a:spLocks noChangeArrowheads="1"/>
          </p:cNvSpPr>
          <p:nvPr/>
        </p:nvSpPr>
        <p:spPr bwMode="auto">
          <a:xfrm>
            <a:off x="493545" y="2035602"/>
            <a:ext cx="699943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解: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1231424" y="5445224"/>
            <a:ext cx="60927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经过验算，它们都是电路方程的解。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31" name="Group 18"/>
          <p:cNvGrpSpPr>
            <a:grpSpLocks/>
          </p:cNvGrpSpPr>
          <p:nvPr/>
        </p:nvGrpSpPr>
        <p:grpSpPr bwMode="auto">
          <a:xfrm>
            <a:off x="479505" y="908720"/>
            <a:ext cx="11088565" cy="1078524"/>
            <a:chOff x="-754" y="346"/>
            <a:chExt cx="7567" cy="736"/>
          </a:xfrm>
        </p:grpSpPr>
        <p:sp>
          <p:nvSpPr>
            <p:cNvPr id="32" name="Rectangle 5"/>
            <p:cNvSpPr>
              <a:spLocks noChangeArrowheads="1"/>
            </p:cNvSpPr>
            <p:nvPr/>
          </p:nvSpPr>
          <p:spPr bwMode="auto">
            <a:xfrm>
              <a:off x="-754" y="346"/>
              <a:ext cx="7567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901700" indent="-901700" algn="just">
                <a:lnSpc>
                  <a:spcPct val="120000"/>
                </a:lnSpc>
              </a:pP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用牛顿法求解图示电路各支路电流。电路中各非线性电阻的电压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电流关系分别为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</a:p>
          </p:txBody>
        </p:sp>
        <p:graphicFrame>
          <p:nvGraphicFramePr>
            <p:cNvPr id="33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6211088"/>
                </p:ext>
              </p:extLst>
            </p:nvPr>
          </p:nvGraphicFramePr>
          <p:xfrm>
            <a:off x="1855" y="719"/>
            <a:ext cx="663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230" name="Equation" r:id="rId10" imgW="431640" imgH="241200" progId="Equation.DSMT4">
                    <p:embed/>
                  </p:oleObj>
                </mc:Choice>
                <mc:Fallback>
                  <p:oleObj name="Equation" r:id="rId10" imgW="431640" imgH="241200" progId="Equation.DSMT4">
                    <p:embed/>
                    <p:pic>
                      <p:nvPicPr>
                        <p:cNvPr id="33797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5" y="719"/>
                          <a:ext cx="663" cy="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4743173"/>
                </p:ext>
              </p:extLst>
            </p:nvPr>
          </p:nvGraphicFramePr>
          <p:xfrm>
            <a:off x="2630" y="728"/>
            <a:ext cx="662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231" name="Equation" r:id="rId12" imgW="444240" imgH="241200" progId="Equation.DSMT4">
                    <p:embed/>
                  </p:oleObj>
                </mc:Choice>
                <mc:Fallback>
                  <p:oleObj name="Equation" r:id="rId12" imgW="444240" imgH="241200" progId="Equation.DSMT4">
                    <p:embed/>
                    <p:pic>
                      <p:nvPicPr>
                        <p:cNvPr id="3379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0" y="728"/>
                          <a:ext cx="662" cy="3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6539299"/>
                </p:ext>
              </p:extLst>
            </p:nvPr>
          </p:nvGraphicFramePr>
          <p:xfrm>
            <a:off x="3404" y="736"/>
            <a:ext cx="75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5232" name="Equation" r:id="rId14" imgW="533160" imgH="241200" progId="Equation.DSMT4">
                    <p:embed/>
                  </p:oleObj>
                </mc:Choice>
                <mc:Fallback>
                  <p:oleObj name="Equation" r:id="rId14" imgW="533160" imgH="241200" progId="Equation.DSMT4">
                    <p:embed/>
                    <p:pic>
                      <p:nvPicPr>
                        <p:cNvPr id="33799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4" y="736"/>
                          <a:ext cx="756" cy="3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871424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050675"/>
              </p:ext>
            </p:extLst>
          </p:nvPr>
        </p:nvGraphicFramePr>
        <p:xfrm>
          <a:off x="1322531" y="2156158"/>
          <a:ext cx="2593975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722" name="Equation" r:id="rId4" imgW="1054080" imgH="482400" progId="Equation.DSMT4">
                  <p:embed/>
                </p:oleObj>
              </mc:Choice>
              <mc:Fallback>
                <p:oleObj name="Equation" r:id="rId4" imgW="1054080" imgH="482400" progId="Equation.DSMT4">
                  <p:embed/>
                  <p:pic>
                    <p:nvPicPr>
                      <p:cNvPr id="3686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531" y="2156158"/>
                        <a:ext cx="2593975" cy="1009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285826"/>
              </p:ext>
            </p:extLst>
          </p:nvPr>
        </p:nvGraphicFramePr>
        <p:xfrm>
          <a:off x="4439519" y="2133831"/>
          <a:ext cx="2476399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723" name="Equation" r:id="rId6" imgW="1054080" imgH="482400" progId="Equation.DSMT4">
                  <p:embed/>
                </p:oleObj>
              </mc:Choice>
              <mc:Fallback>
                <p:oleObj name="Equation" r:id="rId6" imgW="1054080" imgH="482400" progId="Equation.DSMT4">
                  <p:embed/>
                  <p:pic>
                    <p:nvPicPr>
                      <p:cNvPr id="3686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9519" y="2133831"/>
                        <a:ext cx="2476399" cy="9636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798791"/>
              </p:ext>
            </p:extLst>
          </p:nvPr>
        </p:nvGraphicFramePr>
        <p:xfrm>
          <a:off x="1886147" y="3977302"/>
          <a:ext cx="689451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724" name="Equation" r:id="rId8" imgW="2781000" imgH="241200" progId="Equation.DSMT4">
                  <p:embed/>
                </p:oleObj>
              </mc:Choice>
              <mc:Fallback>
                <p:oleObj name="Equation" r:id="rId8" imgW="2781000" imgH="241200" progId="Equation.DSMT4">
                  <p:embed/>
                  <p:pic>
                    <p:nvPicPr>
                      <p:cNvPr id="3686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6147" y="3977302"/>
                        <a:ext cx="6894512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938129"/>
              </p:ext>
            </p:extLst>
          </p:nvPr>
        </p:nvGraphicFramePr>
        <p:xfrm>
          <a:off x="1886147" y="5373493"/>
          <a:ext cx="7977188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725" name="Equation" r:id="rId10" imgW="3809880" imgH="241200" progId="Equation.DSMT4">
                  <p:embed/>
                </p:oleObj>
              </mc:Choice>
              <mc:Fallback>
                <p:oleObj name="Equation" r:id="rId10" imgW="3809880" imgH="241200" progId="Equation.DSMT4">
                  <p:embed/>
                  <p:pic>
                    <p:nvPicPr>
                      <p:cNvPr id="3686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6147" y="5373493"/>
                        <a:ext cx="7977188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Rectangle 9"/>
          <p:cNvSpPr>
            <a:spLocks noChangeArrowheads="1"/>
          </p:cNvSpPr>
          <p:nvPr/>
        </p:nvSpPr>
        <p:spPr bwMode="auto">
          <a:xfrm>
            <a:off x="1196316" y="4700290"/>
            <a:ext cx="90284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由第二组解，得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0.2641V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从而各支路电流为</a:t>
            </a:r>
          </a:p>
        </p:txBody>
      </p:sp>
      <p:sp>
        <p:nvSpPr>
          <p:cNvPr id="36874" name="Rectangle 10"/>
          <p:cNvSpPr>
            <a:spLocks noChangeArrowheads="1"/>
          </p:cNvSpPr>
          <p:nvPr/>
        </p:nvSpPr>
        <p:spPr bwMode="auto">
          <a:xfrm>
            <a:off x="1193488" y="3371429"/>
            <a:ext cx="82798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由第一组解，得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2V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从而各支路电流为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3367420" y="174544"/>
            <a:ext cx="5752916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4.6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数值分析法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6273791"/>
              </p:ext>
            </p:extLst>
          </p:nvPr>
        </p:nvGraphicFramePr>
        <p:xfrm>
          <a:off x="7324187" y="1558354"/>
          <a:ext cx="4520712" cy="1692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9726" name="Visio" r:id="rId12" imgW="2616098" imgH="976884" progId="Visio.Drawing.11">
                  <p:embed/>
                </p:oleObj>
              </mc:Choice>
              <mc:Fallback>
                <p:oleObj name="Visio" r:id="rId12" imgW="2616098" imgH="976884" progId="Visio.Drawing.11">
                  <p:embed/>
                  <p:pic>
                    <p:nvPicPr>
                      <p:cNvPr id="2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4187" y="1558354"/>
                        <a:ext cx="4520712" cy="16925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13"/>
          <p:cNvSpPr>
            <a:spLocks noChangeArrowheads="1"/>
          </p:cNvSpPr>
          <p:nvPr/>
        </p:nvSpPr>
        <p:spPr bwMode="auto">
          <a:xfrm>
            <a:off x="493545" y="2035602"/>
            <a:ext cx="699943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解: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479505" y="908720"/>
            <a:ext cx="11088565" cy="1078524"/>
            <a:chOff x="-754" y="346"/>
            <a:chExt cx="7567" cy="736"/>
          </a:xfrm>
        </p:grpSpPr>
        <p:sp>
          <p:nvSpPr>
            <p:cNvPr id="20" name="Rectangle 5"/>
            <p:cNvSpPr>
              <a:spLocks noChangeArrowheads="1"/>
            </p:cNvSpPr>
            <p:nvPr/>
          </p:nvSpPr>
          <p:spPr bwMode="auto">
            <a:xfrm>
              <a:off x="-754" y="346"/>
              <a:ext cx="7567" cy="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901700" indent="-901700" algn="just">
                <a:lnSpc>
                  <a:spcPct val="120000"/>
                </a:lnSpc>
              </a:pP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用牛顿法求解图示电路各支路电流。电路中各非线性电阻的电压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电流关系分别为</a:t>
              </a:r>
              <a:r>
                <a: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</a:p>
          </p:txBody>
        </p:sp>
        <p:graphicFrame>
          <p:nvGraphicFramePr>
            <p:cNvPr id="21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6211088"/>
                </p:ext>
              </p:extLst>
            </p:nvPr>
          </p:nvGraphicFramePr>
          <p:xfrm>
            <a:off x="1855" y="719"/>
            <a:ext cx="663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9727" name="Equation" r:id="rId14" imgW="431640" imgH="241200" progId="Equation.DSMT4">
                    <p:embed/>
                  </p:oleObj>
                </mc:Choice>
                <mc:Fallback>
                  <p:oleObj name="Equation" r:id="rId14" imgW="431640" imgH="241200" progId="Equation.DSMT4">
                    <p:embed/>
                    <p:pic>
                      <p:nvPicPr>
                        <p:cNvPr id="33797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5" y="719"/>
                          <a:ext cx="663" cy="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4743173"/>
                </p:ext>
              </p:extLst>
            </p:nvPr>
          </p:nvGraphicFramePr>
          <p:xfrm>
            <a:off x="2630" y="728"/>
            <a:ext cx="662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9728" name="Equation" r:id="rId16" imgW="444240" imgH="241200" progId="Equation.DSMT4">
                    <p:embed/>
                  </p:oleObj>
                </mc:Choice>
                <mc:Fallback>
                  <p:oleObj name="Equation" r:id="rId16" imgW="444240" imgH="241200" progId="Equation.DSMT4">
                    <p:embed/>
                    <p:pic>
                      <p:nvPicPr>
                        <p:cNvPr id="3379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0" y="728"/>
                          <a:ext cx="662" cy="3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6539299"/>
                </p:ext>
              </p:extLst>
            </p:nvPr>
          </p:nvGraphicFramePr>
          <p:xfrm>
            <a:off x="3404" y="736"/>
            <a:ext cx="75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9729" name="Equation" r:id="rId18" imgW="533160" imgH="241200" progId="Equation.DSMT4">
                    <p:embed/>
                  </p:oleObj>
                </mc:Choice>
                <mc:Fallback>
                  <p:oleObj name="Equation" r:id="rId18" imgW="533160" imgH="241200" progId="Equation.DSMT4">
                    <p:embed/>
                    <p:pic>
                      <p:nvPicPr>
                        <p:cNvPr id="33799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4" y="736"/>
                          <a:ext cx="756" cy="3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220979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1724225"/>
              </p:ext>
            </p:extLst>
          </p:nvPr>
        </p:nvGraphicFramePr>
        <p:xfrm>
          <a:off x="5378823" y="894575"/>
          <a:ext cx="6189785" cy="4340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96" r:id="rId4" imgW="3123895" imgH="2194255" progId="Visio.Drawing.11">
                  <p:embed/>
                </p:oleObj>
              </mc:Choice>
              <mc:Fallback>
                <p:oleObj r:id="rId4" imgW="3123895" imgH="2194255" progId="Visio.Drawing.11">
                  <p:embed/>
                  <p:pic>
                    <p:nvPicPr>
                      <p:cNvPr id="3789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823" y="894575"/>
                        <a:ext cx="6189785" cy="43404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4099402"/>
              </p:ext>
            </p:extLst>
          </p:nvPr>
        </p:nvGraphicFramePr>
        <p:xfrm>
          <a:off x="1658503" y="2525125"/>
          <a:ext cx="27543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97" name="Equation" r:id="rId6" imgW="1307880" imgH="228600" progId="Equation.DSMT4">
                  <p:embed/>
                </p:oleObj>
              </mc:Choice>
              <mc:Fallback>
                <p:oleObj name="Equation" r:id="rId6" imgW="1307880" imgH="228600" progId="Equation.DSMT4">
                  <p:embed/>
                  <p:pic>
                    <p:nvPicPr>
                      <p:cNvPr id="3789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503" y="2525125"/>
                        <a:ext cx="2754313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071664" y="174544"/>
            <a:ext cx="668902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4.7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应用实例：温度测量与控制电路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407368" y="886451"/>
            <a:ext cx="4536504" cy="159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68288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1700" indent="-901700" algn="just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如图所示电路，设计电阻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使温度稳定在85～100℃。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127448" y="3055600"/>
            <a:ext cx="3816424" cy="2160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如图所示，理想运算放大器的“虚断”特性（同相输入端电流为零），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的同相端输入电压</a:t>
            </a: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752666"/>
              </p:ext>
            </p:extLst>
          </p:nvPr>
        </p:nvGraphicFramePr>
        <p:xfrm>
          <a:off x="1135956" y="5733256"/>
          <a:ext cx="568007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98" name="Equation" r:id="rId8" imgW="2616120" imgH="444240" progId="Equation.DSMT4">
                  <p:embed/>
                </p:oleObj>
              </mc:Choice>
              <mc:Fallback>
                <p:oleObj name="Equation" r:id="rId8" imgW="2616120" imgH="444240" progId="Equation.DSMT4">
                  <p:embed/>
                  <p:pic>
                    <p:nvPicPr>
                      <p:cNvPr id="3891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5956" y="5733256"/>
                        <a:ext cx="5680075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407368" y="3059405"/>
            <a:ext cx="699943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解: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9064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071664" y="174544"/>
            <a:ext cx="668902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4.7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应用实例：温度测量与控制电路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093890" y="3006138"/>
            <a:ext cx="3849982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由叠加定理，理想运算放大器的“虚断”特性（反相输入端电流为零），可求出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-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的反相端电压</a:t>
            </a:r>
            <a:r>
              <a:rPr lang="en-US" altLang="zh-CN" sz="28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i="1" baseline="-30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i="1" baseline="-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endParaRPr lang="en-US" altLang="zh-CN" sz="2800" baseline="-30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691112"/>
              </p:ext>
            </p:extLst>
          </p:nvPr>
        </p:nvGraphicFramePr>
        <p:xfrm>
          <a:off x="1392622" y="5683794"/>
          <a:ext cx="376872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0295" name="Equation" r:id="rId4" imgW="1701720" imgH="406080" progId="Equation.DSMT4">
                  <p:embed/>
                </p:oleObj>
              </mc:Choice>
              <mc:Fallback>
                <p:oleObj name="Equation" r:id="rId4" imgW="1701720" imgH="406080" progId="Equation.DSMT4">
                  <p:embed/>
                  <p:pic>
                    <p:nvPicPr>
                      <p:cNvPr id="389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622" y="5683794"/>
                        <a:ext cx="3768725" cy="892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2229"/>
              </p:ext>
            </p:extLst>
          </p:nvPr>
        </p:nvGraphicFramePr>
        <p:xfrm>
          <a:off x="5378823" y="894575"/>
          <a:ext cx="6189785" cy="4340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0296" r:id="rId6" imgW="3123895" imgH="2194255" progId="Visio.Drawing.11">
                  <p:embed/>
                </p:oleObj>
              </mc:Choice>
              <mc:Fallback>
                <p:oleObj r:id="rId6" imgW="3123895" imgH="2194255" progId="Visio.Drawing.11">
                  <p:embed/>
                  <p:pic>
                    <p:nvPicPr>
                      <p:cNvPr id="3789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823" y="894575"/>
                        <a:ext cx="6189785" cy="43404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614186"/>
              </p:ext>
            </p:extLst>
          </p:nvPr>
        </p:nvGraphicFramePr>
        <p:xfrm>
          <a:off x="1658503" y="2525125"/>
          <a:ext cx="27543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0297" name="Equation" r:id="rId8" imgW="1307880" imgH="228600" progId="Equation.DSMT4">
                  <p:embed/>
                </p:oleObj>
              </mc:Choice>
              <mc:Fallback>
                <p:oleObj name="Equation" r:id="rId8" imgW="1307880" imgH="228600" progId="Equation.DSMT4">
                  <p:embed/>
                  <p:pic>
                    <p:nvPicPr>
                      <p:cNvPr id="3789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503" y="2525125"/>
                        <a:ext cx="2754313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407368" y="886451"/>
            <a:ext cx="4536504" cy="159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68288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1700" indent="-901700" algn="just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如图所示电路，设计电阻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使温度稳定在85～100℃。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407368" y="3059405"/>
            <a:ext cx="699943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解: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7581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071664" y="174544"/>
            <a:ext cx="668902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4.7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应用实例：温度测量与控制电路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149195" y="3035854"/>
            <a:ext cx="3578653" cy="107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由理想运算放大器的“虚短”特性，得到 </a:t>
            </a:r>
            <a:endParaRPr lang="en-US" altLang="zh-CN" sz="2800" baseline="-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870478"/>
              </p:ext>
            </p:extLst>
          </p:nvPr>
        </p:nvGraphicFramePr>
        <p:xfrm>
          <a:off x="1979479" y="4188832"/>
          <a:ext cx="1918083" cy="580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484" name="Equation" r:id="rId4" imgW="838080" imgH="253800" progId="Equation.DSMT4">
                  <p:embed/>
                </p:oleObj>
              </mc:Choice>
              <mc:Fallback>
                <p:oleObj name="Equation" r:id="rId4" imgW="838080" imgH="253800" progId="Equation.DSMT4">
                  <p:embed/>
                  <p:pic>
                    <p:nvPicPr>
                      <p:cNvPr id="3993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479" y="4188832"/>
                        <a:ext cx="1918083" cy="5800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149195" y="4768927"/>
            <a:ext cx="1828800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5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于是得到</a:t>
            </a:r>
          </a:p>
        </p:txBody>
      </p:sp>
      <p:graphicFrame>
        <p:nvGraphicFramePr>
          <p:cNvPr id="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330857"/>
              </p:ext>
            </p:extLst>
          </p:nvPr>
        </p:nvGraphicFramePr>
        <p:xfrm>
          <a:off x="1708795" y="5310047"/>
          <a:ext cx="2725738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485" name="Equation" r:id="rId6" imgW="1117440" imgH="228600" progId="Equation.DSMT4">
                  <p:embed/>
                </p:oleObj>
              </mc:Choice>
              <mc:Fallback>
                <p:oleObj name="Equation" r:id="rId6" imgW="1117440" imgH="228600" progId="Equation.DSMT4">
                  <p:embed/>
                  <p:pic>
                    <p:nvPicPr>
                      <p:cNvPr id="3993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795" y="5310047"/>
                        <a:ext cx="2725738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1149195" y="6003844"/>
            <a:ext cx="5168286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667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algn="just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代入                                    ，得</a:t>
            </a:r>
          </a:p>
        </p:txBody>
      </p:sp>
      <p:graphicFrame>
        <p:nvGraphicFramePr>
          <p:cNvPr id="1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560956"/>
              </p:ext>
            </p:extLst>
          </p:nvPr>
        </p:nvGraphicFramePr>
        <p:xfrm>
          <a:off x="6023992" y="5779112"/>
          <a:ext cx="6100762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486" name="Equation" r:id="rId8" imgW="2539800" imgH="444240" progId="Equation.DSMT4">
                  <p:embed/>
                </p:oleObj>
              </mc:Choice>
              <mc:Fallback>
                <p:oleObj name="Equation" r:id="rId8" imgW="2539800" imgH="444240" progId="Equation.DSMT4">
                  <p:embed/>
                  <p:pic>
                    <p:nvPicPr>
                      <p:cNvPr id="3994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3992" y="5779112"/>
                        <a:ext cx="6100762" cy="1058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846380"/>
              </p:ext>
            </p:extLst>
          </p:nvPr>
        </p:nvGraphicFramePr>
        <p:xfrm>
          <a:off x="2097172" y="6067272"/>
          <a:ext cx="3042486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487" name="Equation" r:id="rId10" imgW="1307880" imgH="228600" progId="Equation.DSMT4">
                  <p:embed/>
                </p:oleObj>
              </mc:Choice>
              <mc:Fallback>
                <p:oleObj name="Equation" r:id="rId10" imgW="1307880" imgH="228600" progId="Equation.DSMT4">
                  <p:embed/>
                  <p:pic>
                    <p:nvPicPr>
                      <p:cNvPr id="3789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172" y="6067272"/>
                        <a:ext cx="3042486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2229"/>
              </p:ext>
            </p:extLst>
          </p:nvPr>
        </p:nvGraphicFramePr>
        <p:xfrm>
          <a:off x="5378823" y="894575"/>
          <a:ext cx="6189785" cy="4340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488" r:id="rId12" imgW="3123895" imgH="2194255" progId="Visio.Drawing.11">
                  <p:embed/>
                </p:oleObj>
              </mc:Choice>
              <mc:Fallback>
                <p:oleObj r:id="rId12" imgW="3123895" imgH="2194255" progId="Visio.Drawing.11">
                  <p:embed/>
                  <p:pic>
                    <p:nvPicPr>
                      <p:cNvPr id="3789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823" y="894575"/>
                        <a:ext cx="6189785" cy="43404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614186"/>
              </p:ext>
            </p:extLst>
          </p:nvPr>
        </p:nvGraphicFramePr>
        <p:xfrm>
          <a:off x="1658503" y="2525125"/>
          <a:ext cx="27543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489" name="Equation" r:id="rId14" imgW="1307880" imgH="228600" progId="Equation.DSMT4">
                  <p:embed/>
                </p:oleObj>
              </mc:Choice>
              <mc:Fallback>
                <p:oleObj name="Equation" r:id="rId14" imgW="1307880" imgH="228600" progId="Equation.DSMT4">
                  <p:embed/>
                  <p:pic>
                    <p:nvPicPr>
                      <p:cNvPr id="3789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503" y="2525125"/>
                        <a:ext cx="2754313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407368" y="886451"/>
            <a:ext cx="4536504" cy="159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68288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1700" indent="-901700" algn="just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如图所示电路，设计电阻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使温度稳定在85～100℃。</a:t>
            </a:r>
          </a:p>
        </p:txBody>
      </p:sp>
      <p:sp>
        <p:nvSpPr>
          <p:cNvPr id="21" name="Rectangle 13"/>
          <p:cNvSpPr>
            <a:spLocks noChangeArrowheads="1"/>
          </p:cNvSpPr>
          <p:nvPr/>
        </p:nvSpPr>
        <p:spPr bwMode="auto">
          <a:xfrm>
            <a:off x="407368" y="3059405"/>
            <a:ext cx="699943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解: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9675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071664" y="174544"/>
            <a:ext cx="668902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4.7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应用实例：温度测量与控制电路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194808" y="3059405"/>
            <a:ext cx="3677056" cy="2111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=85℃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时，算得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，该电压值应该等于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电压下限值</a:t>
            </a:r>
            <a:r>
              <a:rPr lang="en-US" altLang="zh-CN" sz="28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30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于是有</a:t>
            </a:r>
          </a:p>
        </p:txBody>
      </p:sp>
      <p:graphicFrame>
        <p:nvGraphicFramePr>
          <p:cNvPr id="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1080968"/>
              </p:ext>
            </p:extLst>
          </p:nvPr>
        </p:nvGraphicFramePr>
        <p:xfrm>
          <a:off x="1308143" y="3618617"/>
          <a:ext cx="153035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454" name="Equation" r:id="rId4" imgW="723600" imgH="228600" progId="Equation.DSMT4">
                  <p:embed/>
                </p:oleObj>
              </mc:Choice>
              <mc:Fallback>
                <p:oleObj name="Equation" r:id="rId4" imgW="723600" imgH="228600" progId="Equation.DSMT4">
                  <p:embed/>
                  <p:pic>
                    <p:nvPicPr>
                      <p:cNvPr id="3994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143" y="3618617"/>
                        <a:ext cx="1530350" cy="484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323684"/>
              </p:ext>
            </p:extLst>
          </p:nvPr>
        </p:nvGraphicFramePr>
        <p:xfrm>
          <a:off x="1599680" y="5241010"/>
          <a:ext cx="2436812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455" name="Equation" r:id="rId6" imgW="1066680" imgH="444240" progId="Equation.DSMT4">
                  <p:embed/>
                </p:oleObj>
              </mc:Choice>
              <mc:Fallback>
                <p:oleObj name="Equation" r:id="rId6" imgW="1066680" imgH="444240" progId="Equation.DSMT4">
                  <p:embed/>
                  <p:pic>
                    <p:nvPicPr>
                      <p:cNvPr id="3994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680" y="5241010"/>
                        <a:ext cx="2436812" cy="1004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1107311" y="6245898"/>
            <a:ext cx="984738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得出</a:t>
            </a:r>
          </a:p>
        </p:txBody>
      </p:sp>
      <p:graphicFrame>
        <p:nvGraphicFramePr>
          <p:cNvPr id="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215093"/>
              </p:ext>
            </p:extLst>
          </p:nvPr>
        </p:nvGraphicFramePr>
        <p:xfrm>
          <a:off x="1990673" y="6314764"/>
          <a:ext cx="15367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456" name="Equation" r:id="rId8" imgW="660240" imgH="228600" progId="Equation.DSMT4">
                  <p:embed/>
                </p:oleObj>
              </mc:Choice>
              <mc:Fallback>
                <p:oleObj name="Equation" r:id="rId8" imgW="660240" imgH="228600" progId="Equation.DSMT4">
                  <p:embed/>
                  <p:pic>
                    <p:nvPicPr>
                      <p:cNvPr id="399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673" y="6314764"/>
                        <a:ext cx="1536700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1627341"/>
              </p:ext>
            </p:extLst>
          </p:nvPr>
        </p:nvGraphicFramePr>
        <p:xfrm>
          <a:off x="5378823" y="894575"/>
          <a:ext cx="6189785" cy="4340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457" r:id="rId10" imgW="3123895" imgH="2194255" progId="Visio.Drawing.11">
                  <p:embed/>
                </p:oleObj>
              </mc:Choice>
              <mc:Fallback>
                <p:oleObj r:id="rId10" imgW="3123895" imgH="2194255" progId="Visio.Drawing.11">
                  <p:embed/>
                  <p:pic>
                    <p:nvPicPr>
                      <p:cNvPr id="1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823" y="894575"/>
                        <a:ext cx="6189785" cy="43404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407368" y="886451"/>
            <a:ext cx="4536504" cy="159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68288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1700" indent="-901700" algn="just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如图所示电路，设计电阻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使温度稳定在85～100℃。</a:t>
            </a: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407368" y="3059405"/>
            <a:ext cx="699943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解: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986990"/>
              </p:ext>
            </p:extLst>
          </p:nvPr>
        </p:nvGraphicFramePr>
        <p:xfrm>
          <a:off x="1658503" y="2525125"/>
          <a:ext cx="27543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458" name="Equation" r:id="rId12" imgW="1307880" imgH="228600" progId="Equation.DSMT4">
                  <p:embed/>
                </p:oleObj>
              </mc:Choice>
              <mc:Fallback>
                <p:oleObj name="Equation" r:id="rId12" imgW="1307880" imgH="228600" progId="Equation.DSMT4">
                  <p:embed/>
                  <p:pic>
                    <p:nvPicPr>
                      <p:cNvPr id="1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503" y="2525125"/>
                        <a:ext cx="2754313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00006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071664" y="174544"/>
            <a:ext cx="668902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9263" indent="-449263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SzPct val="120000"/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4.7  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应用实例：温度测量与控制电路</a:t>
            </a:r>
            <a:endParaRPr lang="zh-CN" altLang="en-US" sz="3200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097439" y="3055344"/>
            <a:ext cx="3846433" cy="2160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=100℃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时，算得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，该电压值应该等于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电压上限值</a:t>
            </a:r>
            <a:r>
              <a:rPr lang="en-US" altLang="zh-CN" sz="28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30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REFH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于是有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1099671" y="6151480"/>
            <a:ext cx="984738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得出</a:t>
            </a: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016881"/>
              </p:ext>
            </p:extLst>
          </p:nvPr>
        </p:nvGraphicFramePr>
        <p:xfrm>
          <a:off x="1271464" y="3682877"/>
          <a:ext cx="153193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67" name="Equation" r:id="rId4" imgW="723600" imgH="228600" progId="Equation.DSMT4">
                  <p:embed/>
                </p:oleObj>
              </mc:Choice>
              <mc:Fallback>
                <p:oleObj name="Equation" r:id="rId4" imgW="723600" imgH="228600" progId="Equation.DSMT4">
                  <p:embed/>
                  <p:pic>
                    <p:nvPicPr>
                      <p:cNvPr id="409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3682877"/>
                        <a:ext cx="1531938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051299"/>
              </p:ext>
            </p:extLst>
          </p:nvPr>
        </p:nvGraphicFramePr>
        <p:xfrm>
          <a:off x="1841440" y="5166711"/>
          <a:ext cx="219551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68" name="Equation" r:id="rId6" imgW="1002960" imgH="444240" progId="Equation.DSMT4">
                  <p:embed/>
                </p:oleObj>
              </mc:Choice>
              <mc:Fallback>
                <p:oleObj name="Equation" r:id="rId6" imgW="1002960" imgH="444240" progId="Equation.DSMT4">
                  <p:embed/>
                  <p:pic>
                    <p:nvPicPr>
                      <p:cNvPr id="4096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440" y="5166711"/>
                        <a:ext cx="2195512" cy="968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51887"/>
              </p:ext>
            </p:extLst>
          </p:nvPr>
        </p:nvGraphicFramePr>
        <p:xfrm>
          <a:off x="1989383" y="6204470"/>
          <a:ext cx="17478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69" name="Equation" r:id="rId8" imgW="736560" imgH="228600" progId="Equation.DSMT4">
                  <p:embed/>
                </p:oleObj>
              </mc:Choice>
              <mc:Fallback>
                <p:oleObj name="Equation" r:id="rId8" imgW="736560" imgH="228600" progId="Equation.DSMT4">
                  <p:embed/>
                  <p:pic>
                    <p:nvPicPr>
                      <p:cNvPr id="4096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383" y="6204470"/>
                        <a:ext cx="1747838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7582459"/>
              </p:ext>
            </p:extLst>
          </p:nvPr>
        </p:nvGraphicFramePr>
        <p:xfrm>
          <a:off x="5378823" y="894575"/>
          <a:ext cx="6189785" cy="4340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70" r:id="rId10" imgW="3123895" imgH="2194255" progId="Visio.Drawing.11">
                  <p:embed/>
                </p:oleObj>
              </mc:Choice>
              <mc:Fallback>
                <p:oleObj r:id="rId10" imgW="3123895" imgH="2194255" progId="Visio.Drawing.11">
                  <p:embed/>
                  <p:pic>
                    <p:nvPicPr>
                      <p:cNvPr id="1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823" y="894575"/>
                        <a:ext cx="6189785" cy="43404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407368" y="886451"/>
            <a:ext cx="4536504" cy="159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68288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01700" indent="-901700" algn="just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如图所示电路，设计电阻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使温度稳定在85～100℃。</a:t>
            </a: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407368" y="3059405"/>
            <a:ext cx="699943" cy="55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解: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528396"/>
              </p:ext>
            </p:extLst>
          </p:nvPr>
        </p:nvGraphicFramePr>
        <p:xfrm>
          <a:off x="1658503" y="2525125"/>
          <a:ext cx="27543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71" name="Equation" r:id="rId12" imgW="1307880" imgH="228600" progId="Equation.DSMT4">
                  <p:embed/>
                </p:oleObj>
              </mc:Choice>
              <mc:Fallback>
                <p:oleObj name="Equation" r:id="rId12" imgW="1307880" imgH="228600" progId="Equation.DSMT4">
                  <p:embed/>
                  <p:pic>
                    <p:nvPicPr>
                      <p:cNvPr id="1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503" y="2525125"/>
                        <a:ext cx="2754313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95066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890" y="4581127"/>
            <a:ext cx="2110333" cy="1905000"/>
          </a:xfrm>
          <a:prstGeom prst="rect">
            <a:avLst/>
          </a:prstGeom>
        </p:spPr>
      </p:pic>
      <p:sp>
        <p:nvSpPr>
          <p:cNvPr id="921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19291" y="836613"/>
            <a:ext cx="8353425" cy="23050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6600" dirty="0">
                <a:solidFill>
                  <a:srgbClr val="FF0000"/>
                </a:solidFill>
                <a:latin typeface="Arial Black" panose="020B0A04020102020204" pitchFamily="34" charset="0"/>
              </a:rPr>
              <a:t>THE END</a:t>
            </a:r>
            <a:endParaRPr lang="zh-CN" altLang="en-US" sz="6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1271464" y="3141663"/>
            <a:ext cx="10297144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5521770"/>
      </p:ext>
    </p:extLst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DDDDDD"/>
        </a:solidFill>
        <a:ln w="28575" cap="flat" cmpd="sng" algn="ctr">
          <a:solidFill>
            <a:srgbClr val="92270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DDDDDD"/>
        </a:solidFill>
        <a:ln w="28575" cap="flat" cmpd="sng" algn="ctr">
          <a:solidFill>
            <a:srgbClr val="92270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DDDDDD"/>
        </a:solidFill>
        <a:ln w="28575" cap="flat" cmpd="sng" algn="ctr">
          <a:solidFill>
            <a:srgbClr val="92270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DDDDDD"/>
        </a:solidFill>
        <a:ln w="28575" cap="flat" cmpd="sng" algn="ctr">
          <a:solidFill>
            <a:srgbClr val="92270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黑体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2008电路第2章_4</Template>
  <TotalTime>62159</TotalTime>
  <Words>4175</Words>
  <Application>Microsoft Office PowerPoint</Application>
  <PresentationFormat>宽屏</PresentationFormat>
  <Paragraphs>502</Paragraphs>
  <Slides>70</Slides>
  <Notes>56</Notes>
  <HiddenSlides>2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70</vt:i4>
      </vt:variant>
    </vt:vector>
  </HeadingPairs>
  <TitlesOfParts>
    <vt:vector size="90" baseType="lpstr">
      <vt:lpstr></vt:lpstr>
      <vt:lpstr>黑体</vt:lpstr>
      <vt:lpstr>华文行楷</vt:lpstr>
      <vt:lpstr>华文中宋</vt:lpstr>
      <vt:lpstr>楷体_GB2312</vt:lpstr>
      <vt:lpstr>宋体</vt:lpstr>
      <vt:lpstr>Arial</vt:lpstr>
      <vt:lpstr>Arial Black</vt:lpstr>
      <vt:lpstr>Comic Sans MS</vt:lpstr>
      <vt:lpstr>Times New Roman</vt:lpstr>
      <vt:lpstr>Verdana</vt:lpstr>
      <vt:lpstr>Wingdings</vt:lpstr>
      <vt:lpstr>Wingdings 2</vt:lpstr>
      <vt:lpstr>1_自定义设计方案</vt:lpstr>
      <vt:lpstr>2_自定义设计方案</vt:lpstr>
      <vt:lpstr>Visio</vt:lpstr>
      <vt:lpstr>Equation</vt:lpstr>
      <vt:lpstr>公式</vt:lpstr>
      <vt:lpstr>剪辑</vt:lpstr>
      <vt:lpstr>Microsoft Visio 2003-2010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END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王昕</dc:creator>
  <cp:lastModifiedBy>王昕</cp:lastModifiedBy>
  <cp:revision>1437</cp:revision>
  <cp:lastPrinted>1601-01-01T00:00:00Z</cp:lastPrinted>
  <dcterms:created xsi:type="dcterms:W3CDTF">2000-08-21T12:57:55Z</dcterms:created>
  <dcterms:modified xsi:type="dcterms:W3CDTF">2024-01-07T13:55:30Z</dcterms:modified>
</cp:coreProperties>
</file>