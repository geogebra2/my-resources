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2" r:id="rId1"/>
  </p:sldMasterIdLst>
  <p:notesMasterIdLst>
    <p:notesMasterId r:id="rId108"/>
  </p:notesMasterIdLst>
  <p:handoutMasterIdLst>
    <p:handoutMasterId r:id="rId109"/>
  </p:handoutMasterIdLst>
  <p:sldIdLst>
    <p:sldId id="259" r:id="rId2"/>
    <p:sldId id="370" r:id="rId3"/>
    <p:sldId id="287" r:id="rId4"/>
    <p:sldId id="293" r:id="rId5"/>
    <p:sldId id="294" r:id="rId6"/>
    <p:sldId id="295" r:id="rId7"/>
    <p:sldId id="377" r:id="rId8"/>
    <p:sldId id="296" r:id="rId9"/>
    <p:sldId id="297" r:id="rId10"/>
    <p:sldId id="298" r:id="rId11"/>
    <p:sldId id="299" r:id="rId12"/>
    <p:sldId id="300" r:id="rId13"/>
    <p:sldId id="301" r:id="rId14"/>
    <p:sldId id="302" r:id="rId15"/>
    <p:sldId id="303" r:id="rId16"/>
    <p:sldId id="304" r:id="rId17"/>
    <p:sldId id="305" r:id="rId18"/>
    <p:sldId id="306" r:id="rId19"/>
    <p:sldId id="307" r:id="rId20"/>
    <p:sldId id="378" r:id="rId21"/>
    <p:sldId id="308" r:id="rId22"/>
    <p:sldId id="309" r:id="rId23"/>
    <p:sldId id="310" r:id="rId24"/>
    <p:sldId id="311" r:id="rId25"/>
    <p:sldId id="312" r:id="rId26"/>
    <p:sldId id="313" r:id="rId27"/>
    <p:sldId id="314" r:id="rId28"/>
    <p:sldId id="315" r:id="rId29"/>
    <p:sldId id="379" r:id="rId30"/>
    <p:sldId id="389" r:id="rId31"/>
    <p:sldId id="316" r:id="rId32"/>
    <p:sldId id="317" r:id="rId33"/>
    <p:sldId id="318" r:id="rId34"/>
    <p:sldId id="319" r:id="rId35"/>
    <p:sldId id="320" r:id="rId36"/>
    <p:sldId id="390" r:id="rId37"/>
    <p:sldId id="321" r:id="rId38"/>
    <p:sldId id="322" r:id="rId39"/>
    <p:sldId id="323" r:id="rId40"/>
    <p:sldId id="324" r:id="rId41"/>
    <p:sldId id="325" r:id="rId42"/>
    <p:sldId id="326" r:id="rId43"/>
    <p:sldId id="327" r:id="rId44"/>
    <p:sldId id="328" r:id="rId45"/>
    <p:sldId id="329" r:id="rId46"/>
    <p:sldId id="330" r:id="rId47"/>
    <p:sldId id="331" r:id="rId48"/>
    <p:sldId id="332" r:id="rId49"/>
    <p:sldId id="333" r:id="rId50"/>
    <p:sldId id="334" r:id="rId51"/>
    <p:sldId id="335" r:id="rId52"/>
    <p:sldId id="336" r:id="rId53"/>
    <p:sldId id="337" r:id="rId54"/>
    <p:sldId id="381" r:id="rId55"/>
    <p:sldId id="338" r:id="rId56"/>
    <p:sldId id="339" r:id="rId57"/>
    <p:sldId id="340" r:id="rId58"/>
    <p:sldId id="341" r:id="rId59"/>
    <p:sldId id="391" r:id="rId60"/>
    <p:sldId id="342" r:id="rId61"/>
    <p:sldId id="343" r:id="rId62"/>
    <p:sldId id="344" r:id="rId63"/>
    <p:sldId id="345" r:id="rId64"/>
    <p:sldId id="346" r:id="rId65"/>
    <p:sldId id="347" r:id="rId66"/>
    <p:sldId id="348" r:id="rId67"/>
    <p:sldId id="349" r:id="rId68"/>
    <p:sldId id="350" r:id="rId69"/>
    <p:sldId id="392" r:id="rId70"/>
    <p:sldId id="351" r:id="rId71"/>
    <p:sldId id="352" r:id="rId72"/>
    <p:sldId id="353" r:id="rId73"/>
    <p:sldId id="354" r:id="rId74"/>
    <p:sldId id="355" r:id="rId75"/>
    <p:sldId id="356" r:id="rId76"/>
    <p:sldId id="357" r:id="rId77"/>
    <p:sldId id="358" r:id="rId78"/>
    <p:sldId id="359" r:id="rId79"/>
    <p:sldId id="393" r:id="rId80"/>
    <p:sldId id="360" r:id="rId81"/>
    <p:sldId id="361" r:id="rId82"/>
    <p:sldId id="362" r:id="rId83"/>
    <p:sldId id="363" r:id="rId84"/>
    <p:sldId id="364" r:id="rId85"/>
    <p:sldId id="394" r:id="rId86"/>
    <p:sldId id="365" r:id="rId87"/>
    <p:sldId id="366" r:id="rId88"/>
    <p:sldId id="367" r:id="rId89"/>
    <p:sldId id="368" r:id="rId90"/>
    <p:sldId id="369" r:id="rId91"/>
    <p:sldId id="1508" r:id="rId92"/>
    <p:sldId id="1509" r:id="rId93"/>
    <p:sldId id="1896" r:id="rId94"/>
    <p:sldId id="1897" r:id="rId95"/>
    <p:sldId id="1898" r:id="rId96"/>
    <p:sldId id="1899" r:id="rId97"/>
    <p:sldId id="1900" r:id="rId98"/>
    <p:sldId id="1901" r:id="rId99"/>
    <p:sldId id="1903" r:id="rId100"/>
    <p:sldId id="1904" r:id="rId101"/>
    <p:sldId id="1905" r:id="rId102"/>
    <p:sldId id="1906" r:id="rId103"/>
    <p:sldId id="1907" r:id="rId104"/>
    <p:sldId id="386" r:id="rId105"/>
    <p:sldId id="387" r:id="rId106"/>
    <p:sldId id="388" r:id="rId10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7FB1D8"/>
    <a:srgbClr val="3F6E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08" autoAdjust="0"/>
    <p:restoredTop sz="71115" autoAdjust="0"/>
  </p:normalViewPr>
  <p:slideViewPr>
    <p:cSldViewPr snapToGrid="0">
      <p:cViewPr varScale="1">
        <p:scale>
          <a:sx n="61" d="100"/>
          <a:sy n="61" d="100"/>
        </p:scale>
        <p:origin x="1531" y="53"/>
      </p:cViewPr>
      <p:guideLst/>
    </p:cSldViewPr>
  </p:slideViewPr>
  <p:notesTextViewPr>
    <p:cViewPr>
      <p:scale>
        <a:sx n="1" d="1"/>
        <a:sy n="1" d="1"/>
      </p:scale>
      <p:origin x="0" y="0"/>
    </p:cViewPr>
  </p:notesTextViewPr>
  <p:notesViewPr>
    <p:cSldViewPr snapToGrid="0">
      <p:cViewPr varScale="1">
        <p:scale>
          <a:sx n="60" d="100"/>
          <a:sy n="60" d="100"/>
        </p:scale>
        <p:origin x="1496" y="5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handoutMaster" Target="handoutMasters/handout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2C1FBA-CF23-45CA-A289-03E32D160964}" type="datetimeFigureOut">
              <a:rPr lang="zh-CN" altLang="en-US" smtClean="0"/>
              <a:t>2023/10/8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F2B0C5-C56D-47E9-BCFE-D990A940F17B}" type="slidenum">
              <a:rPr lang="zh-CN" altLang="en-US" smtClean="0"/>
              <a:t>‹#›</a:t>
            </a:fld>
            <a:endParaRPr lang="zh-CN" altLang="en-US"/>
          </a:p>
        </p:txBody>
      </p:sp>
    </p:spTree>
    <p:extLst>
      <p:ext uri="{BB962C8B-B14F-4D97-AF65-F5344CB8AC3E}">
        <p14:creationId xmlns:p14="http://schemas.microsoft.com/office/powerpoint/2010/main" val="2713700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966BD8-0FC1-456F-BDC6-7D0CA8E36566}" type="datetimeFigureOut">
              <a:rPr lang="zh-CN" altLang="en-US" smtClean="0"/>
              <a:t>2023/10/8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CFC841-E2E1-4802-8701-94EA307E94B0}" type="slidenum">
              <a:rPr lang="zh-CN" altLang="en-US" smtClean="0"/>
              <a:t>‹#›</a:t>
            </a:fld>
            <a:endParaRPr lang="zh-CN" altLang="en-US"/>
          </a:p>
        </p:txBody>
      </p:sp>
    </p:spTree>
    <p:extLst>
      <p:ext uri="{BB962C8B-B14F-4D97-AF65-F5344CB8AC3E}">
        <p14:creationId xmlns:p14="http://schemas.microsoft.com/office/powerpoint/2010/main" val="2014598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1</a:t>
            </a:fld>
            <a:endParaRPr lang="zh-CN" altLang="en-US"/>
          </a:p>
        </p:txBody>
      </p:sp>
    </p:spTree>
    <p:extLst>
      <p:ext uri="{BB962C8B-B14F-4D97-AF65-F5344CB8AC3E}">
        <p14:creationId xmlns:p14="http://schemas.microsoft.com/office/powerpoint/2010/main" val="3179656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898596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526062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332471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2734429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8136059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6356397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306271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4454543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9774094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489281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3313759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5929239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7106673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0779015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8378998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845987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5855727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5662236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7021500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29858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6439209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4493803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1760540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9078462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15793328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5092333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5348783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6495674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1720344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254742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5126400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3617155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42927234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399491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686094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5542147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30278424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877961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8286207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8704920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1737701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15000"/>
              </a:lnSpc>
              <a:buFont typeface="Wingdings" panose="05000000000000000000" pitchFamily="2" charset="2"/>
              <a:buChar char="Ø"/>
              <a:defRPr/>
            </a:pPr>
            <a:endParaRPr lang="zh-CN" altLang="zh-CN" sz="1200" b="0" dirty="0">
              <a:latin typeface="华文楷体" pitchFamily="2" charset="-122"/>
              <a:ea typeface="华文楷体" pitchFamily="2" charset="-122"/>
            </a:endParaRPr>
          </a:p>
        </p:txBody>
      </p:sp>
    </p:spTree>
    <p:extLst>
      <p:ext uri="{BB962C8B-B14F-4D97-AF65-F5344CB8AC3E}">
        <p14:creationId xmlns:p14="http://schemas.microsoft.com/office/powerpoint/2010/main" val="18679188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15000"/>
              </a:lnSpc>
              <a:buFont typeface="Wingdings" panose="05000000000000000000" pitchFamily="2" charset="2"/>
              <a:buChar char="Ø"/>
              <a:defRPr/>
            </a:pPr>
            <a:endParaRPr lang="zh-CN" altLang="zh-CN" sz="1200" b="0" dirty="0">
              <a:latin typeface="华文楷体" pitchFamily="2" charset="-122"/>
              <a:ea typeface="华文楷体" pitchFamily="2" charset="-122"/>
            </a:endParaRPr>
          </a:p>
        </p:txBody>
      </p:sp>
    </p:spTree>
    <p:extLst>
      <p:ext uri="{BB962C8B-B14F-4D97-AF65-F5344CB8AC3E}">
        <p14:creationId xmlns:p14="http://schemas.microsoft.com/office/powerpoint/2010/main" val="32515966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15000"/>
              </a:lnSpc>
              <a:buFont typeface="Wingdings" panose="05000000000000000000" pitchFamily="2" charset="2"/>
              <a:buChar char="Ø"/>
              <a:defRPr/>
            </a:pPr>
            <a:endParaRPr lang="zh-CN" altLang="zh-CN" sz="1200" b="0" dirty="0">
              <a:latin typeface="华文楷体" pitchFamily="2" charset="-122"/>
              <a:ea typeface="华文楷体" pitchFamily="2" charset="-122"/>
            </a:endParaRPr>
          </a:p>
        </p:txBody>
      </p:sp>
    </p:spTree>
    <p:extLst>
      <p:ext uri="{BB962C8B-B14F-4D97-AF65-F5344CB8AC3E}">
        <p14:creationId xmlns:p14="http://schemas.microsoft.com/office/powerpoint/2010/main" val="2066554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15000"/>
              </a:lnSpc>
              <a:buFont typeface="Wingdings" panose="05000000000000000000" pitchFamily="2" charset="2"/>
              <a:buChar char="Ø"/>
              <a:defRPr/>
            </a:pPr>
            <a:endParaRPr lang="zh-CN" altLang="zh-CN" sz="1200" b="0" dirty="0">
              <a:latin typeface="华文楷体" pitchFamily="2" charset="-122"/>
              <a:ea typeface="华文楷体" pitchFamily="2" charset="-122"/>
            </a:endParaRPr>
          </a:p>
        </p:txBody>
      </p:sp>
    </p:spTree>
    <p:extLst>
      <p:ext uri="{BB962C8B-B14F-4D97-AF65-F5344CB8AC3E}">
        <p14:creationId xmlns:p14="http://schemas.microsoft.com/office/powerpoint/2010/main" val="404975501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7474839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8655676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87192538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250256191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panose="020B0604020202020204" pitchFamily="34" charset="0"/>
            </a:endParaRPr>
          </a:p>
        </p:txBody>
      </p:sp>
    </p:spTree>
    <p:extLst>
      <p:ext uri="{BB962C8B-B14F-4D97-AF65-F5344CB8AC3E}">
        <p14:creationId xmlns:p14="http://schemas.microsoft.com/office/powerpoint/2010/main" val="81638490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9308253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19279335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7830285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00416131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41838581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46224498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775469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36008443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79240066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24088007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02075973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47791738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59094160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96099914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10023301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59465718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1483253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7829356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74640266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80623839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82796438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78538649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82862171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85084838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45567470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34505374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r>
              <a:rPr lang="zh-CN" altLang="zh-CN" sz="1200" kern="1200" dirty="0">
                <a:solidFill>
                  <a:schemeClr val="tx1"/>
                </a:solidFill>
                <a:effectLst/>
                <a:latin typeface="+mn-lt"/>
                <a:ea typeface="+mn-ea"/>
                <a:cs typeface="+mn-cs"/>
              </a:rPr>
              <a:t>日常生活中，个人手头事务的处理通常采取这样的策略；操作系统中进程的调度、管理也是采用优先队列进行管理的。如在操作系统的进程管理中，每个进程由唯一的进程号、优先级值标识。进程优先级值通常在</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到</a:t>
            </a:r>
            <a:r>
              <a:rPr lang="en-US" altLang="zh-CN" sz="1200" kern="1200" dirty="0">
                <a:solidFill>
                  <a:schemeClr val="tx1"/>
                </a:solidFill>
                <a:effectLst/>
                <a:latin typeface="+mn-lt"/>
                <a:ea typeface="+mn-ea"/>
                <a:cs typeface="+mn-cs"/>
              </a:rPr>
              <a:t>40</a:t>
            </a:r>
            <a:r>
              <a:rPr lang="zh-CN" altLang="zh-CN" sz="1200" kern="1200" dirty="0">
                <a:solidFill>
                  <a:schemeClr val="tx1"/>
                </a:solidFill>
                <a:effectLst/>
                <a:latin typeface="+mn-lt"/>
                <a:ea typeface="+mn-ea"/>
                <a:cs typeface="+mn-cs"/>
              </a:rPr>
              <a:t>之间，</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为优先级最高，</a:t>
            </a:r>
            <a:r>
              <a:rPr lang="en-US" altLang="zh-CN" sz="1200" kern="1200" dirty="0">
                <a:solidFill>
                  <a:schemeClr val="tx1"/>
                </a:solidFill>
                <a:effectLst/>
                <a:latin typeface="+mn-lt"/>
                <a:ea typeface="+mn-ea"/>
                <a:cs typeface="+mn-cs"/>
              </a:rPr>
              <a:t>40</a:t>
            </a:r>
            <a:r>
              <a:rPr lang="zh-CN" altLang="zh-CN" sz="1200" kern="1200" dirty="0">
                <a:solidFill>
                  <a:schemeClr val="tx1"/>
                </a:solidFill>
                <a:effectLst/>
                <a:latin typeface="+mn-lt"/>
                <a:ea typeface="+mn-ea"/>
                <a:cs typeface="+mn-cs"/>
              </a:rPr>
              <a:t>为最低。操作系统一般将打印进程视为最不急需的任务，赋予它最低的优先级。这样，操作系统就可以根据进程的优先级来确定如何对它们进行调度。</a:t>
            </a:r>
            <a:endParaRPr lang="en-US" altLang="zh-CN" dirty="0">
              <a:latin typeface="Arial" panose="020B0604020202020204" pitchFamily="34" charset="0"/>
            </a:endParaRPr>
          </a:p>
        </p:txBody>
      </p:sp>
    </p:spTree>
    <p:extLst>
      <p:ext uri="{BB962C8B-B14F-4D97-AF65-F5344CB8AC3E}">
        <p14:creationId xmlns:p14="http://schemas.microsoft.com/office/powerpoint/2010/main" val="416842628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87844742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91488880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58648250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67544732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51448177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60892998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r>
              <a:rPr lang="en-US" altLang="zh-CN" dirty="0">
                <a:latin typeface="Arial" panose="020B0604020202020204" pitchFamily="34" charset="0"/>
              </a:rPr>
              <a:t>1.</a:t>
            </a:r>
          </a:p>
        </p:txBody>
      </p:sp>
    </p:spTree>
    <p:extLst>
      <p:ext uri="{BB962C8B-B14F-4D97-AF65-F5344CB8AC3E}">
        <p14:creationId xmlns:p14="http://schemas.microsoft.com/office/powerpoint/2010/main" val="308978557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97567791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57781340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51084704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楷体_GB2312" pitchFamily="49" charset="-122"/>
                <a:cs typeface="楷体_GB2312" pitchFamily="49" charset="-122"/>
              </a:rPr>
              <a:t>我们可以在模拟过程中统计客户的排队长度、等待时间、服务员的连续工作时间、空闲时间等统计信息</a:t>
            </a:r>
          </a:p>
          <a:p>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102</a:t>
            </a:fld>
            <a:endParaRPr lang="zh-CN" altLang="en-US"/>
          </a:p>
        </p:txBody>
      </p:sp>
    </p:spTree>
    <p:extLst>
      <p:ext uri="{BB962C8B-B14F-4D97-AF65-F5344CB8AC3E}">
        <p14:creationId xmlns:p14="http://schemas.microsoft.com/office/powerpoint/2010/main" val="113926232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96828667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53324564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50962978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8050959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838200" y="4149566"/>
            <a:ext cx="10515600" cy="899510"/>
          </a:xfrm>
          <a:prstGeom prst="rect">
            <a:avLst/>
          </a:prstGeom>
        </p:spPr>
        <p:txBody>
          <a:bodyPr anchor="ctr">
            <a:noAutofit/>
          </a:bodyPr>
          <a:lstStyle>
            <a:lvl1pPr algn="ctr">
              <a:defRPr sz="4800" b="1">
                <a:solidFill>
                  <a:schemeClr val="bg1"/>
                </a:solidFill>
                <a:latin typeface="+mj-ea"/>
                <a:ea typeface="+mj-ea"/>
              </a:defRPr>
            </a:lvl1pPr>
          </a:lstStyle>
          <a:p>
            <a:r>
              <a:rPr lang="zh-CN" altLang="en-US"/>
              <a:t>单击此处编辑母版标题样式</a:t>
            </a:r>
            <a:endParaRPr lang="zh-CN" altLang="en-US" dirty="0"/>
          </a:p>
        </p:txBody>
      </p:sp>
      <p:sp>
        <p:nvSpPr>
          <p:cNvPr id="6" name="副标题 2"/>
          <p:cNvSpPr>
            <a:spLocks noGrp="1"/>
          </p:cNvSpPr>
          <p:nvPr>
            <p:ph type="subTitle" idx="1"/>
          </p:nvPr>
        </p:nvSpPr>
        <p:spPr>
          <a:xfrm>
            <a:off x="838200" y="5114030"/>
            <a:ext cx="10515600" cy="604299"/>
          </a:xfrm>
        </p:spPr>
        <p:txBody>
          <a:bodyPr anchor="ctr">
            <a:noAutofit/>
          </a:bodyPr>
          <a:lstStyle>
            <a:lvl1pPr algn="ctr">
              <a:defRPr lang="zh-CN" altLang="en-US" sz="2400" b="0">
                <a:solidFill>
                  <a:schemeClr val="bg1"/>
                </a:solidFill>
                <a:latin typeface="+mn-ea"/>
                <a:cs typeface="+mj-cs"/>
              </a:defRPr>
            </a:lvl1pPr>
          </a:lstStyle>
          <a:p>
            <a:pPr lvl="0" algn="ctr">
              <a:lnSpc>
                <a:spcPct val="90000"/>
              </a:lnSpc>
              <a:spcBef>
                <a:spcPct val="0"/>
              </a:spcBef>
              <a:buNone/>
            </a:pPr>
            <a:r>
              <a:rPr lang="zh-CN" altLang="en-US"/>
              <a:t>单击以编辑母版副标题样式</a:t>
            </a:r>
          </a:p>
        </p:txBody>
      </p:sp>
      <p:pic>
        <p:nvPicPr>
          <p:cNvPr id="7" name="图片 6"/>
          <p:cNvPicPr>
            <a:picLocks noChangeAspect="1"/>
          </p:cNvPicPr>
          <p:nvPr/>
        </p:nvPicPr>
        <p:blipFill rotWithShape="1">
          <a:blip r:embed="rId3">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9" name="直接连接符 8"/>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0489643"/>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2160" userDrawn="1">
          <p15:clr>
            <a:srgbClr val="FBAE40"/>
          </p15:clr>
        </p15:guide>
        <p15:guide id="4"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内页">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58701" y="1546578"/>
            <a:ext cx="11162884" cy="5060598"/>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标题 4"/>
          <p:cNvSpPr>
            <a:spLocks noGrp="1"/>
          </p:cNvSpPr>
          <p:nvPr>
            <p:ph type="title"/>
          </p:nvPr>
        </p:nvSpPr>
        <p:spPr>
          <a:xfrm>
            <a:off x="658699" y="754146"/>
            <a:ext cx="11162884" cy="574183"/>
          </a:xfrm>
          <a:prstGeom prst="rect">
            <a:avLst/>
          </a:prstGeom>
        </p:spPr>
        <p:txBody>
          <a:bodyPr/>
          <a:lstStyle>
            <a:lvl1pPr>
              <a:defRPr sz="3200" b="1">
                <a:solidFill>
                  <a:schemeClr val="accent1"/>
                </a:solidFill>
              </a:defRPr>
            </a:lvl1pPr>
          </a:lstStyle>
          <a:p>
            <a:r>
              <a:rPr lang="zh-CN" altLang="en-US" dirty="0"/>
              <a:t>单击此处编辑母版标题样式</a:t>
            </a:r>
          </a:p>
        </p:txBody>
      </p:sp>
    </p:spTree>
    <p:extLst>
      <p:ext uri="{BB962C8B-B14F-4D97-AF65-F5344CB8AC3E}">
        <p14:creationId xmlns:p14="http://schemas.microsoft.com/office/powerpoint/2010/main" val="4905017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内页-有页码">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58701" y="1532050"/>
            <a:ext cx="11162884" cy="5075126"/>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标题 4"/>
          <p:cNvSpPr>
            <a:spLocks noGrp="1"/>
          </p:cNvSpPr>
          <p:nvPr>
            <p:ph type="title"/>
          </p:nvPr>
        </p:nvSpPr>
        <p:spPr>
          <a:xfrm>
            <a:off x="658701" y="772402"/>
            <a:ext cx="11162884" cy="576000"/>
          </a:xfrm>
          <a:prstGeom prst="rect">
            <a:avLst/>
          </a:prstGeom>
        </p:spPr>
        <p:txBody>
          <a:bodyPr/>
          <a:lstStyle>
            <a:lvl1pPr>
              <a:defRPr sz="3200" b="1">
                <a:solidFill>
                  <a:schemeClr val="accent1"/>
                </a:solidFill>
              </a:defRPr>
            </a:lvl1pPr>
          </a:lstStyle>
          <a:p>
            <a:r>
              <a:rPr lang="zh-CN" altLang="en-US"/>
              <a:t>单击此处编辑母版标题样式</a:t>
            </a:r>
          </a:p>
        </p:txBody>
      </p:sp>
      <p:sp>
        <p:nvSpPr>
          <p:cNvPr id="10" name="灯片编号占位符 5"/>
          <p:cNvSpPr txBox="1">
            <a:spLocks/>
          </p:cNvSpPr>
          <p:nvPr/>
        </p:nvSpPr>
        <p:spPr>
          <a:xfrm>
            <a:off x="11596801" y="311755"/>
            <a:ext cx="365165" cy="276999"/>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z="1200" smtClean="0"/>
              <a:pPr lvl="0"/>
              <a:t>‹#›</a:t>
            </a:fld>
            <a:endParaRPr lang="zh-CN" altLang="en-US" sz="1200" dirty="0"/>
          </a:p>
        </p:txBody>
      </p:sp>
      <p:sp>
        <p:nvSpPr>
          <p:cNvPr id="9" name="文本框 8"/>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5974537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目录">
    <p:spTree>
      <p:nvGrpSpPr>
        <p:cNvPr id="1" name=""/>
        <p:cNvGrpSpPr/>
        <p:nvPr/>
      </p:nvGrpSpPr>
      <p:grpSpPr>
        <a:xfrm>
          <a:off x="0" y="0"/>
          <a:ext cx="0" cy="0"/>
          <a:chOff x="0" y="0"/>
          <a:chExt cx="0" cy="0"/>
        </a:xfrm>
      </p:grpSpPr>
      <p:pic>
        <p:nvPicPr>
          <p:cNvPr id="10" name="图片 9"/>
          <p:cNvPicPr>
            <a:picLocks noChangeAspect="1"/>
          </p:cNvPicPr>
          <p:nvPr/>
        </p:nvPicPr>
        <p:blipFill>
          <a:blip r:embed="rId2"/>
          <a:stretch>
            <a:fillRect/>
          </a:stretch>
        </p:blipFill>
        <p:spPr>
          <a:xfrm>
            <a:off x="1" y="0"/>
            <a:ext cx="12193057" cy="664522"/>
          </a:xfrm>
          <a:prstGeom prst="rect">
            <a:avLst/>
          </a:prstGeom>
        </p:spPr>
      </p:pic>
      <p:sp>
        <p:nvSpPr>
          <p:cNvPr id="7" name="矩形 6"/>
          <p:cNvSpPr/>
          <p:nvPr/>
        </p:nvSpPr>
        <p:spPr>
          <a:xfrm>
            <a:off x="0" y="5821680"/>
            <a:ext cx="12192000" cy="1036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5" y="6100772"/>
            <a:ext cx="2611396" cy="518469"/>
          </a:xfrm>
          <a:prstGeom prst="rect">
            <a:avLst/>
          </a:prstGeom>
        </p:spPr>
      </p:pic>
      <p:sp>
        <p:nvSpPr>
          <p:cNvPr id="2" name="标题 1"/>
          <p:cNvSpPr>
            <a:spLocks noGrp="1"/>
          </p:cNvSpPr>
          <p:nvPr>
            <p:ph type="title"/>
          </p:nvPr>
        </p:nvSpPr>
        <p:spPr>
          <a:xfrm>
            <a:off x="431801" y="235137"/>
            <a:ext cx="8632687" cy="337358"/>
          </a:xfrm>
          <a:prstGeom prst="rect">
            <a:avLst/>
          </a:prstGeom>
        </p:spPr>
        <p:txBody>
          <a:bodyPr anchor="ctr"/>
          <a:lstStyle>
            <a:lvl1pPr>
              <a:defRPr sz="2000">
                <a:solidFill>
                  <a:schemeClr val="bg1"/>
                </a:solidFill>
                <a:effectLst/>
              </a:defRPr>
            </a:lvl1pPr>
          </a:lstStyle>
          <a:p>
            <a:r>
              <a:rPr lang="zh-CN" altLang="en-US"/>
              <a:t>单击此处编辑母版标题样式</a:t>
            </a:r>
            <a:endParaRPr lang="zh-CN" altLang="en-US" dirty="0"/>
          </a:p>
        </p:txBody>
      </p:sp>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pic>
        <p:nvPicPr>
          <p:cNvPr id="9" name="图片 8"/>
          <p:cNvPicPr>
            <a:picLocks noChangeAspect="1"/>
          </p:cNvPicPr>
          <p:nvPr userDrawn="1"/>
        </p:nvPicPr>
        <p:blipFill>
          <a:blip r:embed="rId2"/>
          <a:stretch>
            <a:fillRect/>
          </a:stretch>
        </p:blipFill>
        <p:spPr>
          <a:xfrm>
            <a:off x="1" y="0"/>
            <a:ext cx="12193057" cy="664522"/>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spTree>
    <p:extLst>
      <p:ext uri="{BB962C8B-B14F-4D97-AF65-F5344CB8AC3E}">
        <p14:creationId xmlns:p14="http://schemas.microsoft.com/office/powerpoint/2010/main" val="1186249892"/>
      </p:ext>
    </p:extLst>
  </p:cSld>
  <p:clrMapOvr>
    <a:masterClrMapping/>
  </p:clrMapOvr>
  <p:extLst>
    <p:ext uri="{DCECCB84-F9BA-43D5-87BE-67443E8EF086}">
      <p15:sldGuideLst xmlns:p15="http://schemas.microsoft.com/office/powerpoint/2012/main">
        <p15:guide id="1" pos="7408" userDrawn="1">
          <p15:clr>
            <a:srgbClr val="FBAE40"/>
          </p15:clr>
        </p15:guide>
        <p15:guide id="2" pos="272" userDrawn="1">
          <p15:clr>
            <a:srgbClr val="FBAE40"/>
          </p15:clr>
        </p15:guide>
        <p15:guide id="5" pos="4167" userDrawn="1">
          <p15:clr>
            <a:srgbClr val="FBAE40"/>
          </p15:clr>
        </p15:guide>
        <p15:guide id="6" pos="153" userDrawn="1">
          <p15:clr>
            <a:srgbClr val="FBAE40"/>
          </p15:clr>
        </p15:guide>
        <p15:guide id="7" pos="5556" userDrawn="1">
          <p15:clr>
            <a:srgbClr val="FBAE40"/>
          </p15:clr>
        </p15:guide>
        <p15:guide id="8" pos="20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空白-有页码">
    <p:spTree>
      <p:nvGrpSpPr>
        <p:cNvPr id="1" name=""/>
        <p:cNvGrpSpPr/>
        <p:nvPr/>
      </p:nvGrpSpPr>
      <p:grpSpPr>
        <a:xfrm>
          <a:off x="0" y="0"/>
          <a:ext cx="0" cy="0"/>
          <a:chOff x="0" y="0"/>
          <a:chExt cx="0" cy="0"/>
        </a:xfrm>
      </p:grpSpPr>
      <p:pic>
        <p:nvPicPr>
          <p:cNvPr id="14" name="图片 13"/>
          <p:cNvPicPr>
            <a:picLocks noChangeAspect="1"/>
          </p:cNvPicPr>
          <p:nvPr/>
        </p:nvPicPr>
        <p:blipFill>
          <a:blip r:embed="rId2"/>
          <a:stretch>
            <a:fillRect/>
          </a:stretch>
        </p:blipFill>
        <p:spPr>
          <a:xfrm>
            <a:off x="1" y="0"/>
            <a:ext cx="12193057" cy="664522"/>
          </a:xfrm>
          <a:prstGeom prst="rect">
            <a:avLst/>
          </a:prstGeom>
        </p:spPr>
      </p:pic>
      <p:sp>
        <p:nvSpPr>
          <p:cNvPr id="15" name="矩形 14"/>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6" name="图片 15"/>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7" name="矩形 16"/>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文本框 4"/>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7" name="灯片编号占位符 5"/>
          <p:cNvSpPr>
            <a:spLocks noGrp="1"/>
          </p:cNvSpPr>
          <p:nvPr>
            <p:ph type="sldNum" sz="quarter" idx="12"/>
          </p:nvPr>
        </p:nvSpPr>
        <p:spPr>
          <a:xfrm>
            <a:off x="11596801" y="313201"/>
            <a:ext cx="365165" cy="276999"/>
          </a:xfrm>
          <a:prstGeom prst="rect">
            <a:avLst/>
          </a:prstGeom>
          <a:noFill/>
        </p:spPr>
        <p:txBody>
          <a:bodyPr wrap="none" rtlCol="0">
            <a:spAutoFit/>
          </a:bodyPr>
          <a:lstStyle>
            <a:lvl1pPr>
              <a:defRPr lang="zh-CN" altLang="en-US" sz="1200" spc="-60" baseline="0" smtClean="0">
                <a:solidFill>
                  <a:schemeClr val="bg1"/>
                </a:solidFill>
                <a:latin typeface="微软雅黑" panose="020B0503020204020204" pitchFamily="34" charset="-122"/>
                <a:ea typeface="微软雅黑" panose="020B0503020204020204" pitchFamily="34" charset="-122"/>
              </a:defRPr>
            </a:lvl1pPr>
          </a:lstStyle>
          <a:p>
            <a:fld id="{E1703B59-C883-4B8B-974E-AFB30A6C43A7}" type="slidenum">
              <a:rPr lang="en-US" altLang="zh-CN" smtClean="0"/>
              <a:pPr/>
              <a:t>‹#›</a:t>
            </a:fld>
            <a:endParaRPr lang="en-US" altLang="zh-CN"/>
          </a:p>
        </p:txBody>
      </p:sp>
      <p:pic>
        <p:nvPicPr>
          <p:cNvPr id="8" name="图片 7"/>
          <p:cNvPicPr>
            <a:picLocks noChangeAspect="1"/>
          </p:cNvPicPr>
          <p:nvPr userDrawn="1"/>
        </p:nvPicPr>
        <p:blipFill>
          <a:blip r:embed="rId2"/>
          <a:stretch>
            <a:fillRect/>
          </a:stretch>
        </p:blipFill>
        <p:spPr>
          <a:xfrm>
            <a:off x="1" y="0"/>
            <a:ext cx="12193057" cy="664522"/>
          </a:xfrm>
          <a:prstGeom prst="rect">
            <a:avLst/>
          </a:prstGeom>
        </p:spPr>
      </p:pic>
      <p:sp>
        <p:nvSpPr>
          <p:cNvPr id="9" name="矩形 8"/>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0" name="图片 9"/>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2942350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两栏">
    <p:spTree>
      <p:nvGrpSpPr>
        <p:cNvPr id="1" name=""/>
        <p:cNvGrpSpPr/>
        <p:nvPr/>
      </p:nvGrpSpPr>
      <p:grpSpPr>
        <a:xfrm>
          <a:off x="0" y="0"/>
          <a:ext cx="0" cy="0"/>
          <a:chOff x="0" y="0"/>
          <a:chExt cx="0" cy="0"/>
        </a:xfrm>
      </p:grpSpPr>
      <p:sp>
        <p:nvSpPr>
          <p:cNvPr id="12" name="内容占位符 11"/>
          <p:cNvSpPr>
            <a:spLocks noGrp="1"/>
          </p:cNvSpPr>
          <p:nvPr>
            <p:ph sz="quarter" idx="10"/>
          </p:nvPr>
        </p:nvSpPr>
        <p:spPr>
          <a:xfrm>
            <a:off x="349859" y="1717675"/>
            <a:ext cx="5376000"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内容占位符 15"/>
          <p:cNvSpPr>
            <a:spLocks noGrp="1"/>
          </p:cNvSpPr>
          <p:nvPr>
            <p:ph sz="quarter" idx="11"/>
          </p:nvPr>
        </p:nvSpPr>
        <p:spPr>
          <a:xfrm>
            <a:off x="6381751" y="1717675"/>
            <a:ext cx="5376333"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 1"/>
          <p:cNvSpPr>
            <a:spLocks noGrp="1"/>
          </p:cNvSpPr>
          <p:nvPr>
            <p:ph type="title"/>
          </p:nvPr>
        </p:nvSpPr>
        <p:spPr>
          <a:xfrm>
            <a:off x="349858" y="732889"/>
            <a:ext cx="11408225" cy="576000"/>
          </a:xfrm>
          <a:prstGeom prst="rect">
            <a:avLst/>
          </a:prstGeom>
        </p:spPr>
        <p:txBody>
          <a:bodyPr/>
          <a:lstStyle>
            <a:lvl1pPr>
              <a:defRPr lang="zh-CN" altLang="en-US" sz="3200" b="1">
                <a:solidFill>
                  <a:schemeClr val="accent1"/>
                </a:solidFill>
              </a:defRPr>
            </a:lvl1pPr>
          </a:lstStyle>
          <a:p>
            <a:pPr lvl="0"/>
            <a:r>
              <a:rPr lang="zh-CN" altLang="en-US" dirty="0"/>
              <a:t>单击此处编辑母版标题样式</a:t>
            </a:r>
          </a:p>
        </p:txBody>
      </p:sp>
    </p:spTree>
    <p:extLst>
      <p:ext uri="{BB962C8B-B14F-4D97-AF65-F5344CB8AC3E}">
        <p14:creationId xmlns:p14="http://schemas.microsoft.com/office/powerpoint/2010/main" val="1942321589"/>
      </p:ext>
    </p:extLst>
  </p:cSld>
  <p:clrMapOvr>
    <a:masterClrMapping/>
  </p:clrMapOvr>
  <p:extLst>
    <p:ext uri="{DCECCB84-F9BA-43D5-87BE-67443E8EF086}">
      <p15:sldGuideLst xmlns:p15="http://schemas.microsoft.com/office/powerpoint/2012/main">
        <p15:guide id="1" pos="3840" userDrawn="1">
          <p15:clr>
            <a:srgbClr val="FBAE40"/>
          </p15:clr>
        </p15:guide>
        <p15:guide id="3" pos="2160" userDrawn="1">
          <p15:clr>
            <a:srgbClr val="FBAE40"/>
          </p15:clr>
        </p15:guide>
        <p15:guide id="4"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对比">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349859" y="745630"/>
            <a:ext cx="5376000" cy="574183"/>
          </a:xfrm>
          <a:prstGeom prst="rect">
            <a:avLst/>
          </a:prstGeom>
        </p:spPr>
        <p:txBody>
          <a:bodyPr anchor="b">
            <a:normAutofit/>
          </a:bodyPr>
          <a:lstStyle>
            <a:lvl1pPr algn="ctr">
              <a:defRPr sz="2800" b="1">
                <a:solidFill>
                  <a:schemeClr val="accent1"/>
                </a:solidFill>
              </a:defRPr>
            </a:lvl1pPr>
          </a:lstStyle>
          <a:p>
            <a:r>
              <a:rPr lang="zh-CN" altLang="en-US" dirty="0"/>
              <a:t>单击此处编辑标题</a:t>
            </a:r>
          </a:p>
        </p:txBody>
      </p:sp>
      <p:cxnSp>
        <p:nvCxnSpPr>
          <p:cNvPr id="3" name="直接连接符 2"/>
          <p:cNvCxnSpPr/>
          <p:nvPr/>
        </p:nvCxnSpPr>
        <p:spPr>
          <a:xfrm flipV="1">
            <a:off x="0" y="1398107"/>
            <a:ext cx="12192000" cy="7952"/>
          </a:xfrm>
          <a:prstGeom prst="line">
            <a:avLst/>
          </a:prstGeom>
        </p:spPr>
        <p:style>
          <a:lnRef idx="1">
            <a:schemeClr val="accent1"/>
          </a:lnRef>
          <a:fillRef idx="0">
            <a:schemeClr val="accent1"/>
          </a:fillRef>
          <a:effectRef idx="0">
            <a:schemeClr val="accent1"/>
          </a:effectRef>
          <a:fontRef idx="minor">
            <a:schemeClr val="tx1"/>
          </a:fontRef>
        </p:style>
      </p:cxnSp>
      <p:sp>
        <p:nvSpPr>
          <p:cNvPr id="12" name="内容占位符 11"/>
          <p:cNvSpPr>
            <a:spLocks noGrp="1"/>
          </p:cNvSpPr>
          <p:nvPr>
            <p:ph sz="quarter" idx="10"/>
          </p:nvPr>
        </p:nvSpPr>
        <p:spPr>
          <a:xfrm>
            <a:off x="349859" y="1574801"/>
            <a:ext cx="5376000" cy="4969123"/>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内容占位符 15"/>
          <p:cNvSpPr>
            <a:spLocks noGrp="1"/>
          </p:cNvSpPr>
          <p:nvPr>
            <p:ph sz="quarter" idx="11"/>
          </p:nvPr>
        </p:nvSpPr>
        <p:spPr>
          <a:xfrm>
            <a:off x="6381751" y="1574801"/>
            <a:ext cx="5376333" cy="4969123"/>
          </a:xfrm>
        </p:spPr>
        <p:txBody>
          <a:bodyPr>
            <a:normAutofit/>
          </a:bodyPr>
          <a:lstStyle>
            <a:lvl1pPr marL="342900" indent="-3429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8" name="文本占位符 4"/>
          <p:cNvSpPr>
            <a:spLocks noGrp="1"/>
          </p:cNvSpPr>
          <p:nvPr>
            <p:ph type="body" sz="quarter" idx="3" hasCustomPrompt="1"/>
          </p:nvPr>
        </p:nvSpPr>
        <p:spPr>
          <a:xfrm>
            <a:off x="6381751" y="743812"/>
            <a:ext cx="5376000" cy="576000"/>
          </a:xfrm>
        </p:spPr>
        <p:txBody>
          <a:bodyPr anchor="b">
            <a:normAutofit/>
          </a:bodyPr>
          <a:lstStyle>
            <a:lvl1pPr marL="0" indent="0" algn="ctr">
              <a:buNone/>
              <a:defRPr lang="zh-CN" altLang="en-US" sz="2800" b="1" dirty="0" smtClean="0">
                <a:solidFill>
                  <a:schemeClr val="accent1"/>
                </a:solidFill>
                <a:latin typeface="+mj-lt"/>
                <a:ea typeface="+mj-ea"/>
                <a:cs typeface="+mj-cs"/>
              </a:defRPr>
            </a:lvl1pPr>
          </a:lstStyle>
          <a:p>
            <a:pPr marL="228600" lvl="0" indent="-228600" algn="ctr">
              <a:lnSpc>
                <a:spcPct val="90000"/>
              </a:lnSpc>
              <a:spcBef>
                <a:spcPct val="0"/>
              </a:spcBef>
            </a:pPr>
            <a:r>
              <a:rPr lang="zh-CN" altLang="en-US" dirty="0"/>
              <a:t>单击此处编辑标题</a:t>
            </a:r>
          </a:p>
        </p:txBody>
      </p:sp>
      <p:pic>
        <p:nvPicPr>
          <p:cNvPr id="19" name="图片 18"/>
          <p:cNvPicPr>
            <a:picLocks noChangeAspect="1"/>
          </p:cNvPicPr>
          <p:nvPr/>
        </p:nvPicPr>
        <p:blipFill>
          <a:blip r:embed="rId2"/>
          <a:stretch>
            <a:fillRect/>
          </a:stretch>
        </p:blipFill>
        <p:spPr>
          <a:xfrm>
            <a:off x="1" y="0"/>
            <a:ext cx="12193057" cy="664522"/>
          </a:xfrm>
          <a:prstGeom prst="rect">
            <a:avLst/>
          </a:prstGeom>
        </p:spPr>
      </p:pic>
      <p:sp>
        <p:nvSpPr>
          <p:cNvPr id="20" name="矩形 1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21" name="图片 20"/>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22" name="矩形 21"/>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2"/>
          <a:stretch>
            <a:fillRect/>
          </a:stretch>
        </p:blipFill>
        <p:spPr>
          <a:xfrm>
            <a:off x="1" y="0"/>
            <a:ext cx="12193057" cy="664522"/>
          </a:xfrm>
          <a:prstGeom prst="rect">
            <a:avLst/>
          </a:prstGeom>
        </p:spPr>
      </p:pic>
      <p:sp>
        <p:nvSpPr>
          <p:cNvPr id="13" name="矩形 12"/>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5" name="矩形 14"/>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3019475642"/>
      </p:ext>
    </p:extLst>
  </p:cSld>
  <p:clrMapOvr>
    <a:masterClrMapping/>
  </p:clrMapOvr>
  <p:extLst>
    <p:ext uri="{DCECCB84-F9BA-43D5-87BE-67443E8EF086}">
      <p15:sldGuideLst xmlns:p15="http://schemas.microsoft.com/office/powerpoint/2012/main">
        <p15:guide id="1" pos="3840" userDrawn="1">
          <p15:clr>
            <a:srgbClr val="FBAE40"/>
          </p15:clr>
        </p15:guide>
        <p15:guide id="3" pos="2160" userDrawn="1">
          <p15:clr>
            <a:srgbClr val="FBAE40"/>
          </p15:clr>
        </p15:guide>
        <p15:guide id="4"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_封面">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625498" y="4006448"/>
            <a:ext cx="11100025" cy="1114192"/>
          </a:xfrm>
          <a:prstGeom prst="rect">
            <a:avLst/>
          </a:prstGeom>
        </p:spPr>
        <p:txBody>
          <a:bodyPr anchor="ctr">
            <a:noAutofit/>
          </a:bodyPr>
          <a:lstStyle>
            <a:lvl1pPr algn="l">
              <a:lnSpc>
                <a:spcPct val="100000"/>
              </a:lnSpc>
              <a:defRPr sz="4000" b="1">
                <a:solidFill>
                  <a:schemeClr val="bg1"/>
                </a:solidFill>
                <a:latin typeface="+mj-ea"/>
                <a:ea typeface="+mj-ea"/>
              </a:defRPr>
            </a:lvl1pPr>
          </a:lstStyle>
          <a:p>
            <a:r>
              <a:rPr lang="zh-CN" altLang="en-US" dirty="0"/>
              <a:t>单击此处编辑母版标题样式</a:t>
            </a:r>
          </a:p>
        </p:txBody>
      </p:sp>
      <p:sp>
        <p:nvSpPr>
          <p:cNvPr id="6" name="副标题 2"/>
          <p:cNvSpPr>
            <a:spLocks noGrp="1"/>
          </p:cNvSpPr>
          <p:nvPr>
            <p:ph type="subTitle" idx="1"/>
          </p:nvPr>
        </p:nvSpPr>
        <p:spPr>
          <a:xfrm>
            <a:off x="625499" y="5245247"/>
            <a:ext cx="7760477" cy="468179"/>
          </a:xfrm>
        </p:spPr>
        <p:txBody>
          <a:bodyPr anchor="ctr">
            <a:noAutofit/>
          </a:bodyPr>
          <a:lstStyle>
            <a:lvl1pPr marL="0" indent="0" algn="l">
              <a:lnSpc>
                <a:spcPct val="100000"/>
              </a:lnSpc>
              <a:buNone/>
              <a:defRPr lang="zh-CN" altLang="en-US" sz="2400" b="0">
                <a:solidFill>
                  <a:schemeClr val="bg1"/>
                </a:solidFill>
                <a:latin typeface="+mn-ea"/>
                <a:cs typeface="+mj-cs"/>
              </a:defRPr>
            </a:lvl1pPr>
          </a:lstStyle>
          <a:p>
            <a:pPr marL="228600" lvl="0" indent="-228600" algn="ctr">
              <a:lnSpc>
                <a:spcPct val="90000"/>
              </a:lnSpc>
              <a:spcBef>
                <a:spcPct val="0"/>
              </a:spcBef>
            </a:pPr>
            <a:r>
              <a:rPr lang="zh-CN" altLang="en-US"/>
              <a:t>单击以编辑母版副标题样式</a:t>
            </a:r>
            <a:endParaRPr lang="zh-CN" altLang="en-US" dirty="0"/>
          </a:p>
        </p:txBody>
      </p:sp>
      <p:sp>
        <p:nvSpPr>
          <p:cNvPr id="7" name="文本占位符 6"/>
          <p:cNvSpPr>
            <a:spLocks noGrp="1"/>
          </p:cNvSpPr>
          <p:nvPr>
            <p:ph type="body" sz="quarter" idx="10" hasCustomPrompt="1"/>
          </p:nvPr>
        </p:nvSpPr>
        <p:spPr>
          <a:xfrm>
            <a:off x="625499" y="5815087"/>
            <a:ext cx="5545667" cy="499004"/>
          </a:xfrm>
        </p:spPr>
        <p:txBody>
          <a:bodyPr>
            <a:noAutofit/>
          </a:bodyPr>
          <a:lstStyle>
            <a:lvl1pPr marL="0" indent="0">
              <a:lnSpc>
                <a:spcPct val="100000"/>
              </a:lnSpc>
              <a:buNone/>
              <a:defRPr sz="2400">
                <a:solidFill>
                  <a:schemeClr val="bg1"/>
                </a:solidFill>
              </a:defRPr>
            </a:lvl1pPr>
          </a:lstStyle>
          <a:p>
            <a:pPr lvl="0"/>
            <a:r>
              <a:rPr lang="zh-CN" altLang="en-US" dirty="0"/>
              <a:t>单击此处添加日期</a:t>
            </a:r>
          </a:p>
        </p:txBody>
      </p:sp>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11" name="直接连接符 10"/>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userDrawn="1"/>
        </p:nvPicPr>
        <p:blipFill rotWithShape="1">
          <a:blip r:embed="rId3">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9" name="直接连接符 8"/>
          <p:cNvCxnSpPr/>
          <p:nvPr userDrawn="1"/>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2060996"/>
      </p:ext>
    </p:extLst>
  </p:cSld>
  <p:clrMapOvr>
    <a:masterClrMapping/>
  </p:clrMapOvr>
  <p:extLst>
    <p:ext uri="{DCECCB84-F9BA-43D5-87BE-67443E8EF086}">
      <p15:sldGuideLst xmlns:p15="http://schemas.microsoft.com/office/powerpoint/2012/main">
        <p15:guide id="2" pos="393" userDrawn="1">
          <p15:clr>
            <a:srgbClr val="FBAE40"/>
          </p15:clr>
        </p15:guide>
        <p15:guide id="3" orient="horz" pos="2160" userDrawn="1">
          <p15:clr>
            <a:srgbClr val="FBAE40"/>
          </p15:clr>
        </p15:guide>
        <p15:guide id="4" pos="22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封底">
    <p:bg>
      <p:bgPr>
        <a:solidFill>
          <a:schemeClr val="accent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1966" y="3608990"/>
            <a:ext cx="4029124" cy="799946"/>
          </a:xfrm>
          <a:prstGeom prst="rect">
            <a:avLst/>
          </a:prstGeom>
        </p:spPr>
      </p:pic>
      <p:sp>
        <p:nvSpPr>
          <p:cNvPr id="3" name="标题 2"/>
          <p:cNvSpPr>
            <a:spLocks noGrp="1"/>
          </p:cNvSpPr>
          <p:nvPr>
            <p:ph type="title"/>
          </p:nvPr>
        </p:nvSpPr>
        <p:spPr>
          <a:xfrm>
            <a:off x="650528" y="1371600"/>
            <a:ext cx="11213989" cy="926932"/>
          </a:xfrm>
        </p:spPr>
        <p:txBody>
          <a:bodyPr>
            <a:noAutofit/>
          </a:bodyPr>
          <a:lstStyle>
            <a:lvl1pPr algn="ctr">
              <a:defRPr sz="6600" b="1">
                <a:solidFill>
                  <a:schemeClr val="bg1"/>
                </a:solidFill>
              </a:defRPr>
            </a:lvl1pPr>
          </a:lstStyle>
          <a:p>
            <a:r>
              <a:rPr lang="zh-CN" altLang="en-US"/>
              <a:t>单击此处编辑母版标题样式</a:t>
            </a:r>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spTree>
    <p:extLst>
      <p:ext uri="{BB962C8B-B14F-4D97-AF65-F5344CB8AC3E}">
        <p14:creationId xmlns:p14="http://schemas.microsoft.com/office/powerpoint/2010/main" val="1380372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133BA7C0-CFC8-468E-BF58-86F8DBBA5B7D}" type="slidenum">
              <a:rPr lang="en-US" altLang="zh-CN"/>
              <a:pPr>
                <a:defRPr/>
              </a:pPr>
              <a:t>‹#›</a:t>
            </a:fld>
            <a:endParaRPr lang="en-US" altLang="zh-CN"/>
          </a:p>
        </p:txBody>
      </p:sp>
      <p:sp>
        <p:nvSpPr>
          <p:cNvPr id="6"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0223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4946ABC9-62A5-42D5-BF9F-E7A801511394}" type="slidenum">
              <a:rPr lang="en-US" altLang="zh-CN"/>
              <a:pPr>
                <a:defRPr/>
              </a:pPr>
              <a:t>‹#›</a:t>
            </a:fld>
            <a:endParaRPr lang="en-US" altLang="zh-CN"/>
          </a:p>
        </p:txBody>
      </p:sp>
      <p:sp>
        <p:nvSpPr>
          <p:cNvPr id="7"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0134203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C8BDC3BA-0B7C-4A75-9E33-45CB920E7758}" type="slidenum">
              <a:rPr lang="en-US" altLang="zh-CN"/>
              <a:pPr>
                <a:defRPr/>
              </a:pPr>
              <a:t>‹#›</a:t>
            </a:fld>
            <a:endParaRPr lang="en-US" altLang="zh-CN"/>
          </a:p>
        </p:txBody>
      </p:sp>
      <p:sp>
        <p:nvSpPr>
          <p:cNvPr id="7"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2615358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75821406-8699-46F7-BC43-9A0383F1DDB8}" type="slidenum">
              <a:rPr lang="en-US" altLang="zh-CN"/>
              <a:pPr>
                <a:defRPr/>
              </a:pPr>
              <a:t>‹#›</a:t>
            </a:fld>
            <a:endParaRPr lang="en-US" altLang="zh-CN"/>
          </a:p>
        </p:txBody>
      </p:sp>
      <p:sp>
        <p:nvSpPr>
          <p:cNvPr id="4"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314873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p:nvPicPr>
        <p:blipFill>
          <a:blip r:embed="rId15"/>
          <a:stretch>
            <a:fillRect/>
          </a:stretch>
        </p:blipFill>
        <p:spPr>
          <a:xfrm>
            <a:off x="1" y="0"/>
            <a:ext cx="12193057" cy="664522"/>
          </a:xfrm>
          <a:prstGeom prst="rect">
            <a:avLst/>
          </a:prstGeom>
        </p:spPr>
      </p:pic>
      <p:sp>
        <p:nvSpPr>
          <p:cNvPr id="6" name="文本占位符 5"/>
          <p:cNvSpPr>
            <a:spLocks noGrp="1"/>
          </p:cNvSpPr>
          <p:nvPr>
            <p:ph type="body" idx="1"/>
          </p:nvPr>
        </p:nvSpPr>
        <p:spPr>
          <a:xfrm>
            <a:off x="551292" y="1546578"/>
            <a:ext cx="11120561" cy="5126614"/>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矩形 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p:nvPicPr>
        <p:blipFill>
          <a:blip r:embed="rId16" cstate="print">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p:nvPicPr>
        <p:blipFill>
          <a:blip r:embed="rId18"/>
          <a:stretch>
            <a:fillRect/>
          </a:stretch>
        </p:blipFill>
        <p:spPr>
          <a:xfrm>
            <a:off x="0" y="1079287"/>
            <a:ext cx="12192000" cy="332713"/>
          </a:xfrm>
          <a:prstGeom prst="rect">
            <a:avLst/>
          </a:prstGeom>
        </p:spPr>
      </p:pic>
      <p:sp>
        <p:nvSpPr>
          <p:cNvPr id="4" name="标题占位符 3"/>
          <p:cNvSpPr>
            <a:spLocks noGrp="1"/>
          </p:cNvSpPr>
          <p:nvPr>
            <p:ph type="title"/>
          </p:nvPr>
        </p:nvSpPr>
        <p:spPr>
          <a:xfrm>
            <a:off x="551291" y="682405"/>
            <a:ext cx="11213989" cy="701375"/>
          </a:xfrm>
          <a:prstGeom prst="rect">
            <a:avLst/>
          </a:prstGeom>
        </p:spPr>
        <p:txBody>
          <a:bodyPr vert="horz" lIns="91440" tIns="45720" rIns="91440" bIns="45720" rtlCol="0" anchor="ctr">
            <a:normAutofit/>
          </a:bodyPr>
          <a:lstStyle/>
          <a:p>
            <a:r>
              <a:rPr lang="zh-CN" altLang="en-US" dirty="0"/>
              <a:t>单击此处编辑母版标题样式</a:t>
            </a:r>
          </a:p>
        </p:txBody>
      </p:sp>
      <p:pic>
        <p:nvPicPr>
          <p:cNvPr id="9" name="图片 8"/>
          <p:cNvPicPr>
            <a:picLocks noChangeAspect="1"/>
          </p:cNvPicPr>
          <p:nvPr userDrawn="1"/>
        </p:nvPicPr>
        <p:blipFill>
          <a:blip r:embed="rId15"/>
          <a:stretch>
            <a:fillRect/>
          </a:stretch>
        </p:blipFill>
        <p:spPr>
          <a:xfrm>
            <a:off x="1" y="0"/>
            <a:ext cx="12193057" cy="664522"/>
          </a:xfrm>
          <a:prstGeom prst="rect">
            <a:avLst/>
          </a:prstGeom>
        </p:spPr>
      </p:pic>
      <p:sp>
        <p:nvSpPr>
          <p:cNvPr id="11" name="矩形 10"/>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5" name="图片 14"/>
          <p:cNvPicPr>
            <a:picLocks noChangeAspect="1"/>
          </p:cNvPicPr>
          <p:nvPr userDrawn="1"/>
        </p:nvPicPr>
        <p:blipFill>
          <a:blip r:embed="rId16" cstate="print">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6" name="矩形 15"/>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7" name="图片 16"/>
          <p:cNvPicPr>
            <a:picLocks noChangeAspect="1"/>
          </p:cNvPicPr>
          <p:nvPr userDrawn="1"/>
        </p:nvPicPr>
        <p:blipFill>
          <a:blip r:embed="rId18"/>
          <a:stretch>
            <a:fillRect/>
          </a:stretch>
        </p:blipFill>
        <p:spPr>
          <a:xfrm>
            <a:off x="0" y="1079287"/>
            <a:ext cx="12192000" cy="332713"/>
          </a:xfrm>
          <a:prstGeom prst="rect">
            <a:avLst/>
          </a:prstGeom>
        </p:spPr>
      </p:pic>
    </p:spTree>
    <p:extLst>
      <p:ext uri="{BB962C8B-B14F-4D97-AF65-F5344CB8AC3E}">
        <p14:creationId xmlns:p14="http://schemas.microsoft.com/office/powerpoint/2010/main" val="3265737396"/>
      </p:ext>
    </p:extLst>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8" r:id="rId4"/>
    <p:sldLayoutId id="2147483812" r:id="rId5"/>
    <p:sldLayoutId id="2147483813" r:id="rId6"/>
    <p:sldLayoutId id="2147483815" r:id="rId7"/>
    <p:sldLayoutId id="2147483817" r:id="rId8"/>
    <p:sldLayoutId id="2147483818" r:id="rId9"/>
    <p:sldLayoutId id="2147483819" r:id="rId10"/>
    <p:sldLayoutId id="2147483820" r:id="rId11"/>
    <p:sldLayoutId id="2147483821" r:id="rId12"/>
    <p:sldLayoutId id="2147483822" r:id="rId13"/>
  </p:sldLayoutIdLst>
  <p:transition spd="med">
    <p:push/>
  </p:transition>
  <p:txStyles>
    <p:titleStyle>
      <a:lvl1pPr algn="l" defTabSz="914400" rtl="0" eaLnBrk="1" latinLnBrk="0" hangingPunct="1">
        <a:lnSpc>
          <a:spcPct val="90000"/>
        </a:lnSpc>
        <a:spcBef>
          <a:spcPct val="0"/>
        </a:spcBef>
        <a:buNone/>
        <a:defRPr lang="zh-CN" altLang="en-US" sz="3200" b="1" kern="1200" dirty="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第三章 栈和队列</a:t>
            </a:r>
            <a:endParaRPr lang="zh-CN" altLang="en-US" sz="2400" dirty="0">
              <a:latin typeface="华文楷体" panose="02010600040101010101" pitchFamily="2" charset="-122"/>
              <a:ea typeface="华文楷体" panose="02010600040101010101" pitchFamily="2" charset="-122"/>
            </a:endParaRPr>
          </a:p>
        </p:txBody>
      </p:sp>
      <p:sp>
        <p:nvSpPr>
          <p:cNvPr id="5" name="副标题 4">
            <a:extLst>
              <a:ext uri="{FF2B5EF4-FFF2-40B4-BE49-F238E27FC236}">
                <a16:creationId xmlns:a16="http://schemas.microsoft.com/office/drawing/2014/main" id="{92D6EE7D-32F7-4327-A7A9-38D84D82A4AA}"/>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049770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530363" y="2092436"/>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栈</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顺序栈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链式栈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栈的应用</a:t>
            </a:r>
            <a:endParaRPr lang="en-US" altLang="zh-CN" sz="2800" dirty="0">
              <a:latin typeface="华文楷体" pitchFamily="2" charset="-122"/>
              <a:ea typeface="华文楷体" pitchFamily="2" charset="-122"/>
            </a:endParaRPr>
          </a:p>
        </p:txBody>
      </p:sp>
      <p:sp>
        <p:nvSpPr>
          <p:cNvPr id="2" name="文本框 1"/>
          <p:cNvSpPr txBox="1"/>
          <p:nvPr/>
        </p:nvSpPr>
        <p:spPr>
          <a:xfrm>
            <a:off x="6915151" y="2176532"/>
            <a:ext cx="4071937" cy="3082895"/>
          </a:xfrm>
          <a:prstGeom prst="rect">
            <a:avLst/>
          </a:prstGeom>
          <a:noFill/>
        </p:spPr>
        <p:txBody>
          <a:bodyPr wrap="square" rtlCol="0">
            <a:spAutoFit/>
          </a:bodyPr>
          <a:lstStyle/>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顺序循环队列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链式队列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优先队列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队列的应用</a:t>
            </a:r>
          </a:p>
        </p:txBody>
      </p:sp>
    </p:spTree>
    <p:extLst>
      <p:ext uri="{BB962C8B-B14F-4D97-AF65-F5344CB8AC3E}">
        <p14:creationId xmlns:p14="http://schemas.microsoft.com/office/powerpoint/2010/main" val="1271197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205833"/>
          </a:xfrm>
        </p:spPr>
        <p:txBody>
          <a:bodyPr>
            <a:norm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如果元素到达线性结构的时间越晚，离开的时间就越早，这种线性结构称为</a:t>
            </a:r>
            <a:r>
              <a:rPr lang="zh-CN" altLang="zh-CN" sz="2800" dirty="0">
                <a:latin typeface="华文楷体" pitchFamily="2" charset="-122"/>
                <a:ea typeface="华文楷体" pitchFamily="2" charset="-122"/>
              </a:rPr>
              <a:t>栈（</a:t>
            </a:r>
            <a:r>
              <a:rPr lang="en-US" altLang="zh-CN" sz="2800" dirty="0">
                <a:latin typeface="华文楷体" pitchFamily="2" charset="-122"/>
                <a:ea typeface="华文楷体" pitchFamily="2" charset="-122"/>
              </a:rPr>
              <a:t>Stack</a:t>
            </a:r>
            <a:r>
              <a:rPr lang="zh-CN" altLang="zh-CN" sz="2800" dirty="0">
                <a:latin typeface="华文楷体" pitchFamily="2" charset="-122"/>
                <a:ea typeface="华文楷体" pitchFamily="2" charset="-122"/>
              </a:rPr>
              <a:t>）或堆栈</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因为元素之间的关系是由到达、离开的时间决定的，因此栈通常被称为时间有序表。</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而到达和离开的含义就是插入和删除操作，因此栈可以看作是插入和删除操作位置受限的线性表。</a:t>
            </a: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栈的定义：</a:t>
            </a:r>
          </a:p>
        </p:txBody>
      </p:sp>
    </p:spTree>
    <p:extLst>
      <p:ext uri="{BB962C8B-B14F-4D97-AF65-F5344CB8AC3E}">
        <p14:creationId xmlns:p14="http://schemas.microsoft.com/office/powerpoint/2010/main" val="58393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1"/>
            <a:ext cx="11162883" cy="1621660"/>
          </a:xfrm>
        </p:spPr>
        <p:txBody>
          <a:bodyPr>
            <a:norm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乒乓球盒的进球和出球，它遵循了最后进盒的球反而最先出盒，即所谓的后进先出</a:t>
            </a:r>
            <a:r>
              <a:rPr lang="en-US" altLang="zh-CN" sz="2800" b="0" dirty="0">
                <a:latin typeface="华文楷体" pitchFamily="2" charset="-122"/>
                <a:ea typeface="华文楷体" pitchFamily="2" charset="-122"/>
              </a:rPr>
              <a:t>(LIFO, Last In First Out)</a:t>
            </a:r>
            <a:r>
              <a:rPr lang="zh-CN" altLang="zh-CN" sz="2800" b="0" dirty="0">
                <a:latin typeface="华文楷体" pitchFamily="2" charset="-122"/>
                <a:ea typeface="华文楷体" pitchFamily="2" charset="-122"/>
              </a:rPr>
              <a:t>或先进后出</a:t>
            </a:r>
            <a:r>
              <a:rPr lang="en-US" altLang="zh-CN" sz="2800" b="0" dirty="0">
                <a:latin typeface="华文楷体" pitchFamily="2" charset="-122"/>
                <a:ea typeface="华文楷体" pitchFamily="2" charset="-122"/>
              </a:rPr>
              <a:t>(FILO, First In Last Out)</a:t>
            </a:r>
            <a:r>
              <a:rPr lang="zh-CN" altLang="zh-CN" sz="2800" b="0" dirty="0">
                <a:latin typeface="华文楷体" pitchFamily="2" charset="-122"/>
                <a:ea typeface="华文楷体" pitchFamily="2" charset="-122"/>
              </a:rPr>
              <a:t>结构。</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栈的定义：</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3572702" y="3319670"/>
            <a:ext cx="5094219" cy="3220277"/>
          </a:xfrm>
          <a:prstGeom prst="rect">
            <a:avLst/>
          </a:prstGeom>
          <a:noFill/>
          <a:ln>
            <a:noFill/>
          </a:ln>
        </p:spPr>
      </p:pic>
    </p:spTree>
    <p:extLst>
      <p:ext uri="{BB962C8B-B14F-4D97-AF65-F5344CB8AC3E}">
        <p14:creationId xmlns:p14="http://schemas.microsoft.com/office/powerpoint/2010/main" val="3729273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78133"/>
            <a:ext cx="11162883" cy="4623276"/>
          </a:xfrm>
        </p:spPr>
        <p:txBody>
          <a:bodyPr>
            <a:no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栈的首部</a:t>
            </a:r>
            <a:r>
              <a:rPr lang="en-US" altLang="zh-CN"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元素最早到达的部分</a:t>
            </a:r>
            <a:r>
              <a:rPr lang="en-US" altLang="zh-CN"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称为</a:t>
            </a:r>
            <a:r>
              <a:rPr lang="zh-CN" altLang="zh-CN" sz="2800" dirty="0">
                <a:latin typeface="华文楷体" pitchFamily="2" charset="-122"/>
                <a:ea typeface="华文楷体" pitchFamily="2" charset="-122"/>
              </a:rPr>
              <a:t>栈底</a:t>
            </a:r>
            <a:r>
              <a:rPr lang="en-US" altLang="zh-CN" sz="2800" dirty="0">
                <a:latin typeface="华文楷体" pitchFamily="2" charset="-122"/>
                <a:ea typeface="华文楷体" pitchFamily="2" charset="-122"/>
              </a:rPr>
              <a:t>(bottom)</a:t>
            </a:r>
            <a:r>
              <a:rPr lang="zh-CN" altLang="zh-CN" sz="2800" b="0" dirty="0">
                <a:latin typeface="华文楷体" pitchFamily="2" charset="-122"/>
                <a:ea typeface="华文楷体" pitchFamily="2" charset="-122"/>
              </a:rPr>
              <a:t> </a:t>
            </a:r>
            <a:r>
              <a:rPr lang="zh-CN" altLang="en-US"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栈结构的尾部</a:t>
            </a:r>
            <a:r>
              <a:rPr lang="en-US" altLang="zh-CN"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元素最晚到达的部分</a:t>
            </a:r>
            <a:r>
              <a:rPr lang="en-US" altLang="zh-CN"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称为</a:t>
            </a:r>
            <a:r>
              <a:rPr lang="zh-CN" altLang="zh-CN" sz="2800" dirty="0">
                <a:latin typeface="华文楷体" pitchFamily="2" charset="-122"/>
                <a:ea typeface="华文楷体" pitchFamily="2" charset="-122"/>
              </a:rPr>
              <a:t>栈顶（</a:t>
            </a:r>
            <a:r>
              <a:rPr lang="en-US" altLang="zh-CN" sz="2800" dirty="0">
                <a:latin typeface="华文楷体" pitchFamily="2" charset="-122"/>
                <a:ea typeface="华文楷体" pitchFamily="2" charset="-122"/>
              </a:rPr>
              <a:t>top</a:t>
            </a:r>
            <a:r>
              <a:rPr lang="zh-CN" altLang="zh-CN" sz="2800" dirty="0">
                <a:latin typeface="华文楷体" pitchFamily="2" charset="-122"/>
                <a:ea typeface="华文楷体" pitchFamily="2" charset="-122"/>
              </a:rPr>
              <a:t>）</a:t>
            </a:r>
            <a:r>
              <a:rPr lang="zh-CN" altLang="zh-CN" sz="2800" b="0" dirty="0">
                <a:latin typeface="华文楷体" pitchFamily="2" charset="-122"/>
                <a:ea typeface="华文楷体" pitchFamily="2" charset="-122"/>
              </a:rPr>
              <a:t> 。 </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为了保证栈的先进后出或后进先出的特点，元素的插入和删除操作都必须在栈顶进行。元素从栈顶删除的行为，称为</a:t>
            </a:r>
            <a:r>
              <a:rPr lang="zh-CN" altLang="zh-CN" sz="2800" dirty="0">
                <a:latin typeface="华文楷体" pitchFamily="2" charset="-122"/>
                <a:ea typeface="华文楷体" pitchFamily="2" charset="-122"/>
              </a:rPr>
              <a:t>出栈或者弹栈</a:t>
            </a:r>
            <a:r>
              <a:rPr lang="zh-CN" altLang="zh-CN" sz="2800" b="0" dirty="0">
                <a:latin typeface="华文楷体" pitchFamily="2" charset="-122"/>
                <a:ea typeface="华文楷体" pitchFamily="2" charset="-122"/>
              </a:rPr>
              <a:t>操作（</a:t>
            </a:r>
            <a:r>
              <a:rPr lang="en-US" altLang="zh-CN" sz="2800" b="0" dirty="0">
                <a:latin typeface="华文楷体" pitchFamily="2" charset="-122"/>
                <a:ea typeface="华文楷体" pitchFamily="2" charset="-122"/>
              </a:rPr>
              <a:t>pop</a:t>
            </a:r>
            <a:r>
              <a:rPr lang="zh-CN" altLang="zh-CN" sz="2800" b="0" dirty="0">
                <a:latin typeface="华文楷体" pitchFamily="2" charset="-122"/>
                <a:ea typeface="华文楷体" pitchFamily="2" charset="-122"/>
              </a:rPr>
              <a:t>）</a:t>
            </a:r>
            <a:r>
              <a:rPr lang="en-US" altLang="zh-CN" sz="2800" b="0" dirty="0">
                <a:latin typeface="华文楷体" pitchFamily="2" charset="-122"/>
                <a:ea typeface="华文楷体" pitchFamily="2" charset="-122"/>
              </a:rPr>
              <a:t>; </a:t>
            </a:r>
            <a:r>
              <a:rPr lang="zh-CN" altLang="zh-CN" sz="2800" b="0" dirty="0">
                <a:latin typeface="华文楷体" pitchFamily="2" charset="-122"/>
                <a:ea typeface="华文楷体" pitchFamily="2" charset="-122"/>
              </a:rPr>
              <a:t>元素在栈顶位置插入的行为，称为</a:t>
            </a:r>
            <a:r>
              <a:rPr lang="zh-CN" altLang="zh-CN" sz="2800" dirty="0">
                <a:latin typeface="华文楷体" pitchFamily="2" charset="-122"/>
                <a:ea typeface="华文楷体" pitchFamily="2" charset="-122"/>
              </a:rPr>
              <a:t>进栈或者压栈</a:t>
            </a:r>
            <a:r>
              <a:rPr lang="zh-CN" altLang="zh-CN" sz="2800" b="0" dirty="0">
                <a:latin typeface="华文楷体" pitchFamily="2" charset="-122"/>
                <a:ea typeface="华文楷体" pitchFamily="2" charset="-122"/>
              </a:rPr>
              <a:t>操作（</a:t>
            </a:r>
            <a:r>
              <a:rPr lang="en-US" altLang="zh-CN" sz="2800" b="0" dirty="0">
                <a:latin typeface="华文楷体" pitchFamily="2" charset="-122"/>
                <a:ea typeface="华文楷体" pitchFamily="2" charset="-122"/>
              </a:rPr>
              <a:t>push</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en-US" sz="2800" b="0" dirty="0">
                <a:latin typeface="华文楷体" pitchFamily="2" charset="-122"/>
                <a:ea typeface="华文楷体" pitchFamily="2" charset="-122"/>
              </a:rPr>
              <a:t>读</a:t>
            </a:r>
            <a:r>
              <a:rPr lang="zh-CN" altLang="zh-CN" sz="2800" b="0" dirty="0">
                <a:latin typeface="华文楷体" pitchFamily="2" charset="-122"/>
                <a:ea typeface="华文楷体" pitchFamily="2" charset="-122"/>
              </a:rPr>
              <a:t>取栈顶元素数据值的操作，称为</a:t>
            </a:r>
            <a:r>
              <a:rPr lang="zh-CN" altLang="zh-CN" sz="2800" dirty="0">
                <a:latin typeface="华文楷体" pitchFamily="2" charset="-122"/>
                <a:ea typeface="华文楷体" pitchFamily="2" charset="-122"/>
              </a:rPr>
              <a:t>取栈顶</a:t>
            </a:r>
            <a:r>
              <a:rPr lang="zh-CN" altLang="zh-CN" sz="2800" b="0" dirty="0">
                <a:latin typeface="华文楷体" pitchFamily="2" charset="-122"/>
                <a:ea typeface="华文楷体" pitchFamily="2" charset="-122"/>
              </a:rPr>
              <a:t>内容操作</a:t>
            </a:r>
            <a:r>
              <a:rPr lang="en-US" altLang="zh-CN" sz="2800" b="0" dirty="0">
                <a:latin typeface="华文楷体" pitchFamily="2" charset="-122"/>
                <a:ea typeface="华文楷体" pitchFamily="2" charset="-122"/>
              </a:rPr>
              <a:t>(top)</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当栈中元素个数为零时，称为</a:t>
            </a:r>
            <a:r>
              <a:rPr lang="zh-CN" altLang="zh-CN" sz="2800" dirty="0">
                <a:latin typeface="华文楷体" pitchFamily="2" charset="-122"/>
                <a:ea typeface="华文楷体" pitchFamily="2" charset="-122"/>
              </a:rPr>
              <a:t>空栈</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栈相关术语：</a:t>
            </a:r>
          </a:p>
        </p:txBody>
      </p:sp>
    </p:spTree>
    <p:extLst>
      <p:ext uri="{BB962C8B-B14F-4D97-AF65-F5344CB8AC3E}">
        <p14:creationId xmlns:p14="http://schemas.microsoft.com/office/powerpoint/2010/main" val="3777928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栈的抽象数据类型：</a:t>
            </a:r>
          </a:p>
        </p:txBody>
      </p:sp>
      <p:sp>
        <p:nvSpPr>
          <p:cNvPr id="2" name="Rectangle 2"/>
          <p:cNvSpPr>
            <a:spLocks noChangeArrowheads="1"/>
          </p:cNvSpPr>
          <p:nvPr/>
        </p:nvSpPr>
        <p:spPr bwMode="auto">
          <a:xfrm>
            <a:off x="4313581" y="779627"/>
            <a:ext cx="735495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286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28600" algn="l"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栈</a:t>
            </a:r>
            <a:r>
              <a:rPr kumimoji="0" lang="en-US" altLang="zh-CN" sz="28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Stack</a:t>
            </a:r>
            <a:r>
              <a:rPr kumimoji="0" lang="zh-CN" altLang="en-US" sz="28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的</a:t>
            </a:r>
            <a:r>
              <a:rPr kumimoji="0" lang="en-US" altLang="zh-CN" sz="28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ADT</a:t>
            </a:r>
            <a:endParaRPr kumimoji="0" lang="en-US" altLang="zh-CN" sz="36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Rectangle 3"/>
          <p:cNvSpPr>
            <a:spLocks noChangeArrowheads="1"/>
          </p:cNvSpPr>
          <p:nvPr/>
        </p:nvSpPr>
        <p:spPr bwMode="auto">
          <a:xfrm>
            <a:off x="437321" y="1579599"/>
            <a:ext cx="11754679"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286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2860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Data:</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 { x</a:t>
            </a:r>
            <a:r>
              <a:rPr kumimoji="0" lang="en-US" altLang="zh-CN" sz="2400" b="0" i="0" u="none" strike="noStrike" cap="none" normalizeH="0" baseline="-3000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i </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 x</a:t>
            </a:r>
            <a:r>
              <a:rPr kumimoji="0" lang="en-US" altLang="zh-CN" sz="2400" b="0" i="0" u="none" strike="noStrike" cap="none" normalizeH="0" baseline="-3000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i</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kumimoji="0" lang="en-US" altLang="zh-CN" sz="2400" b="0" i="0" u="none" strike="noStrike" cap="none" normalizeH="0" baseline="0" dirty="0" err="1">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ElemSet</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kumimoji="0" lang="en-US" altLang="zh-CN" sz="2400" b="0" i="0" u="none" strike="noStrike" cap="none" normalizeH="0" baseline="0" dirty="0" err="1">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i</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=1,2,3,……n, n &gt; 0} </a:t>
            </a:r>
            <a:r>
              <a:rPr kumimoji="0" lang="zh-CN" altLang="en-US"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或 </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Φ; </a:t>
            </a:r>
            <a:r>
              <a:rPr kumimoji="0" lang="en-US" altLang="zh-CN" sz="2400" b="0" i="0" u="none" strike="noStrike" cap="none" normalizeH="0" baseline="0" dirty="0" err="1">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ElemSet</a:t>
            </a:r>
            <a:r>
              <a:rPr kumimoji="0" lang="zh-CN" altLang="en-US"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为元素集合。</a:t>
            </a:r>
            <a:endParaRPr kumimoji="0" lang="zh-CN" altLang="en-US" sz="36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Relation:</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{&lt;x</a:t>
            </a:r>
            <a:r>
              <a:rPr kumimoji="0" lang="en-US" altLang="zh-CN" sz="2400" b="0" i="0" u="none" strike="noStrike" cap="none" normalizeH="0" baseline="-3000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i</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,x</a:t>
            </a:r>
            <a:r>
              <a:rPr kumimoji="0" lang="en-US" altLang="zh-CN" sz="2400" b="0" i="0" u="none" strike="noStrike" cap="none" normalizeH="0" baseline="-3000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i+1</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&gt;|x</a:t>
            </a:r>
            <a:r>
              <a:rPr kumimoji="0" lang="en-US" altLang="zh-CN" sz="2400" b="0" i="0" u="none" strike="noStrike" cap="none" normalizeH="0" baseline="-3000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i</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,x</a:t>
            </a:r>
            <a:r>
              <a:rPr kumimoji="0" lang="en-US" altLang="zh-CN" sz="2400" b="0" i="0" u="none" strike="noStrike" cap="none" normalizeH="0" baseline="-3000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i+1</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ElemSet, </a:t>
            </a:r>
            <a:r>
              <a:rPr kumimoji="0" lang="en-US" altLang="zh-CN" sz="2400" b="0" i="0" u="none" strike="noStrike" cap="none" normalizeH="0" baseline="0" dirty="0" err="1">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i</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=1,2,3,</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……n-1}, x</a:t>
            </a:r>
            <a:r>
              <a:rPr kumimoji="0" lang="en-US" altLang="zh-CN" sz="2400" b="0" i="0" u="none" strike="noStrike" cap="none" normalizeH="0" baseline="-3000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1</a:t>
            </a:r>
            <a:r>
              <a:rPr kumimoji="0" lang="zh-CN" altLang="en-US"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为栈底，</a:t>
            </a:r>
            <a:r>
              <a:rPr kumimoji="0" lang="en-US" altLang="zh-CN" sz="2400" b="0" i="0" u="none" strike="noStrike" cap="none" normalizeH="0" baseline="0" dirty="0" err="1">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x</a:t>
            </a:r>
            <a:r>
              <a:rPr kumimoji="0" lang="en-US" altLang="zh-CN" sz="2400" b="0" i="0" u="none" strike="noStrike" cap="none" normalizeH="0" baseline="-30000" dirty="0" err="1">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n</a:t>
            </a:r>
            <a:r>
              <a:rPr kumimoji="0" lang="zh-CN" altLang="en-US"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为栈顶。</a:t>
            </a:r>
            <a:endParaRPr kumimoji="0" lang="zh-CN" altLang="en-US" sz="36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Operations:</a:t>
            </a:r>
            <a:endParaRPr kumimoji="0" lang="en-US" altLang="zh-CN" sz="36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initialize</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0" lang="zh-CN" altLang="en-US"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前提：无    结果：栈初始化为一个空栈。</a:t>
            </a:r>
            <a:endParaRPr kumimoji="0" lang="zh-CN" altLang="en-US" sz="36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0" lang="en-US" altLang="zh-CN" sz="2400" b="0" i="0" u="none" strike="noStrike" cap="none" normalizeH="0" baseline="0" dirty="0" err="1">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isEmpty</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0" lang="zh-CN" altLang="en-US"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前提：无    结果：栈</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Stack</a:t>
            </a:r>
            <a:r>
              <a:rPr kumimoji="0" lang="zh-CN" altLang="en-US"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空返回</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true</a:t>
            </a:r>
            <a:r>
              <a:rPr kumimoji="0" lang="zh-CN" altLang="en-US"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，否则返回</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false</a:t>
            </a:r>
            <a:r>
              <a:rPr kumimoji="0" lang="zh-CN" altLang="en-US"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endParaRPr kumimoji="0" lang="zh-CN" altLang="en-US" sz="36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0" lang="en-US" altLang="zh-CN" sz="2400" b="0" i="0" u="none" strike="noStrike" cap="none" normalizeH="0" baseline="0" dirty="0" err="1">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isFull</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0" lang="zh-CN" altLang="en-US"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前提：无 </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0" lang="zh-CN" altLang="en-US"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结果：栈</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Stack</a:t>
            </a:r>
            <a:r>
              <a:rPr kumimoji="0" lang="zh-CN" altLang="en-US"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满返回</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true</a:t>
            </a:r>
            <a:r>
              <a:rPr kumimoji="0" lang="zh-CN" altLang="en-US"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，否则返回</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false</a:t>
            </a:r>
            <a:r>
              <a:rPr kumimoji="0" lang="zh-CN" altLang="en-US"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top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前提：栈</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Stack</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非空。结果：返回栈顶元素的值，栈顶元素不变。</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push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前提：栈</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Stack</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非满，已知待插入的元素。</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结果：将该元素压栈，使其成为新的栈顶元素。</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pop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前提：</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栈</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Stack</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非空。</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结果：</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将栈顶元素弹栈，该元素不再成为栈顶元素。</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destroy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前提</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无。</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结果：释放栈</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Stack</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占用的所有空间。</a:t>
            </a:r>
          </a:p>
          <a:p>
            <a:pPr marL="0" marR="0" lvl="0" indent="228600" algn="l"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p:txBody>
      </p:sp>
      <p:sp>
        <p:nvSpPr>
          <p:cNvPr id="4" name="椭圆 3"/>
          <p:cNvSpPr/>
          <p:nvPr/>
        </p:nvSpPr>
        <p:spPr>
          <a:xfrm>
            <a:off x="11821583" y="6466114"/>
            <a:ext cx="235434" cy="19179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23018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530363" y="2092436"/>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顺序栈</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链式栈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栈的应用</a:t>
            </a:r>
            <a:endParaRPr lang="en-US" altLang="zh-CN" sz="2800" dirty="0">
              <a:latin typeface="华文楷体" pitchFamily="2" charset="-122"/>
              <a:ea typeface="华文楷体" pitchFamily="2" charset="-122"/>
            </a:endParaRPr>
          </a:p>
        </p:txBody>
      </p:sp>
      <p:sp>
        <p:nvSpPr>
          <p:cNvPr id="2" name="文本框 1"/>
          <p:cNvSpPr txBox="1"/>
          <p:nvPr/>
        </p:nvSpPr>
        <p:spPr>
          <a:xfrm>
            <a:off x="6915151" y="2176532"/>
            <a:ext cx="4071937" cy="3082895"/>
          </a:xfrm>
          <a:prstGeom prst="rect">
            <a:avLst/>
          </a:prstGeom>
          <a:noFill/>
        </p:spPr>
        <p:txBody>
          <a:bodyPr wrap="square" rtlCol="0">
            <a:spAutoFit/>
          </a:bodyPr>
          <a:lstStyle/>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顺序循环队列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链式队列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优先队列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队列的应用</a:t>
            </a:r>
          </a:p>
        </p:txBody>
      </p:sp>
    </p:spTree>
    <p:extLst>
      <p:ext uri="{BB962C8B-B14F-4D97-AF65-F5344CB8AC3E}">
        <p14:creationId xmlns:p14="http://schemas.microsoft.com/office/powerpoint/2010/main" val="2652807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1721051"/>
          </a:xfrm>
        </p:spPr>
        <p:txBody>
          <a:bodyPr>
            <a:norm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栈的顺序存储即使用连续的空间存储栈中的元素。可以将栈底放在数组的</a:t>
            </a:r>
            <a:r>
              <a:rPr lang="en-US" altLang="zh-CN" sz="2800" b="0" dirty="0">
                <a:latin typeface="华文楷体" pitchFamily="2" charset="-122"/>
                <a:ea typeface="华文楷体" pitchFamily="2" charset="-122"/>
              </a:rPr>
              <a:t>0</a:t>
            </a:r>
            <a:r>
              <a:rPr lang="zh-CN" altLang="zh-CN" sz="2800" b="0" dirty="0">
                <a:latin typeface="华文楷体" pitchFamily="2" charset="-122"/>
                <a:ea typeface="华文楷体" pitchFamily="2" charset="-122"/>
              </a:rPr>
              <a:t>下标位置，进栈和出栈总是在栈的同一端（栈顶）进行</a:t>
            </a:r>
            <a:r>
              <a:rPr lang="zh-CN" altLang="en-US"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顺序方式存储的栈称为</a:t>
            </a:r>
            <a:r>
              <a:rPr lang="zh-CN" altLang="zh-CN" sz="2800" dirty="0">
                <a:latin typeface="华文楷体" pitchFamily="2" charset="-122"/>
                <a:ea typeface="华文楷体" pitchFamily="2" charset="-122"/>
              </a:rPr>
              <a:t>顺序栈</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en-US" altLang="zh-CN" dirty="0"/>
              <a:t> </a:t>
            </a:r>
            <a:r>
              <a:rPr lang="zh-CN" altLang="en-US" dirty="0">
                <a:latin typeface="华文楷体" panose="02010600040101010101" pitchFamily="2" charset="-122"/>
                <a:ea typeface="华文楷体" panose="02010600040101010101" pitchFamily="2" charset="-122"/>
              </a:rPr>
              <a:t>顺序栈：</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956599" y="3419061"/>
            <a:ext cx="5742375" cy="3180523"/>
          </a:xfrm>
          <a:prstGeom prst="rect">
            <a:avLst/>
          </a:prstGeom>
          <a:noFill/>
          <a:ln>
            <a:noFill/>
          </a:ln>
        </p:spPr>
      </p:pic>
      <p:sp>
        <p:nvSpPr>
          <p:cNvPr id="2" name="文本框 1"/>
          <p:cNvSpPr txBox="1"/>
          <p:nvPr/>
        </p:nvSpPr>
        <p:spPr>
          <a:xfrm>
            <a:off x="7275443" y="4055215"/>
            <a:ext cx="4546139" cy="954107"/>
          </a:xfrm>
          <a:prstGeom prst="rect">
            <a:avLst/>
          </a:prstGeom>
          <a:noFill/>
        </p:spPr>
        <p:txBody>
          <a:bodyPr wrap="square" rtlCol="0">
            <a:spAutoFit/>
          </a:bodyPr>
          <a:lstStyle/>
          <a:p>
            <a:r>
              <a:rPr lang="zh-CN" altLang="en-US" sz="2800" dirty="0">
                <a:latin typeface="华文楷体" pitchFamily="2" charset="-122"/>
                <a:ea typeface="华文楷体" pitchFamily="2" charset="-122"/>
              </a:rPr>
              <a:t>栈空标志：</a:t>
            </a:r>
            <a:r>
              <a:rPr lang="en-US" altLang="zh-CN" sz="2800" dirty="0">
                <a:latin typeface="华文楷体" pitchFamily="2" charset="-122"/>
                <a:ea typeface="华文楷体" pitchFamily="2" charset="-122"/>
              </a:rPr>
              <a:t>top=-1</a:t>
            </a:r>
          </a:p>
          <a:p>
            <a:r>
              <a:rPr lang="zh-CN" altLang="en-US" sz="2800" dirty="0">
                <a:latin typeface="华文楷体" pitchFamily="2" charset="-122"/>
                <a:ea typeface="华文楷体" pitchFamily="2" charset="-122"/>
              </a:rPr>
              <a:t>栈满标志：</a:t>
            </a:r>
            <a:r>
              <a:rPr lang="en-US" altLang="zh-CN" sz="2800" dirty="0">
                <a:latin typeface="华文楷体" pitchFamily="2" charset="-122"/>
                <a:ea typeface="华文楷体" pitchFamily="2" charset="-122"/>
              </a:rPr>
              <a:t>top=maxSize-1</a:t>
            </a:r>
            <a:endParaRPr lang="zh-CN" altLang="en-US" sz="2800" dirty="0">
              <a:latin typeface="华文楷体" pitchFamily="2" charset="-122"/>
              <a:ea typeface="华文楷体" pitchFamily="2" charset="-122"/>
            </a:endParaRPr>
          </a:p>
        </p:txBody>
      </p:sp>
    </p:spTree>
    <p:extLst>
      <p:ext uri="{BB962C8B-B14F-4D97-AF65-F5344CB8AC3E}">
        <p14:creationId xmlns:p14="http://schemas.microsoft.com/office/powerpoint/2010/main" val="2947989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513170"/>
            <a:ext cx="11162883" cy="766894"/>
          </a:xfrm>
        </p:spPr>
        <p:txBody>
          <a:bodyPr>
            <a:normAutofit/>
          </a:bodyPr>
          <a:lstStyle/>
          <a:p>
            <a:pPr>
              <a:buFont typeface="Wingdings" panose="05000000000000000000" pitchFamily="2" charset="2"/>
              <a:buChar char="Ø"/>
            </a:pPr>
            <a:r>
              <a:rPr lang="zh-CN" altLang="en-US" sz="2800" b="0" dirty="0">
                <a:ea typeface="华文楷体" pitchFamily="2" charset="-122"/>
                <a:cs typeface="Times New Roman" panose="02020603050405020304" pitchFamily="18" charset="0"/>
              </a:rPr>
              <a:t>顺序栈的描述：数组指针</a:t>
            </a:r>
            <a:r>
              <a:rPr lang="en-US" altLang="zh-CN" sz="2800" b="0" dirty="0">
                <a:ea typeface="华文楷体" pitchFamily="2" charset="-122"/>
                <a:cs typeface="Times New Roman" panose="02020603050405020304" pitchFamily="18" charset="0"/>
              </a:rPr>
              <a:t>array</a:t>
            </a:r>
            <a:r>
              <a:rPr lang="zh-CN" altLang="en-US" sz="2800" b="0" dirty="0">
                <a:ea typeface="华文楷体" pitchFamily="2" charset="-122"/>
                <a:cs typeface="Times New Roman" panose="02020603050405020304" pitchFamily="18" charset="0"/>
              </a:rPr>
              <a:t>，数组大小</a:t>
            </a:r>
            <a:r>
              <a:rPr lang="en-US" altLang="zh-CN" sz="2800" b="0" dirty="0" err="1">
                <a:ea typeface="华文楷体" pitchFamily="2" charset="-122"/>
                <a:cs typeface="Times New Roman" panose="02020603050405020304" pitchFamily="18" charset="0"/>
              </a:rPr>
              <a:t>maxSize</a:t>
            </a:r>
            <a:r>
              <a:rPr lang="zh-CN" altLang="en-US" sz="2800" b="0" dirty="0">
                <a:ea typeface="华文楷体" pitchFamily="2" charset="-122"/>
                <a:cs typeface="Times New Roman" panose="02020603050405020304" pitchFamily="18" charset="0"/>
              </a:rPr>
              <a:t>，栈顶下标</a:t>
            </a:r>
            <a:r>
              <a:rPr lang="en-US" altLang="zh-CN" sz="2800" b="0" dirty="0">
                <a:ea typeface="华文楷体" pitchFamily="2" charset="-122"/>
                <a:cs typeface="Times New Roman" panose="02020603050405020304" pitchFamily="18" charset="0"/>
              </a:rPr>
              <a:t>Top</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顺序栈类的声明：</a:t>
            </a:r>
          </a:p>
        </p:txBody>
      </p:sp>
      <p:sp>
        <p:nvSpPr>
          <p:cNvPr id="3" name="文本框 2"/>
          <p:cNvSpPr txBox="1"/>
          <p:nvPr/>
        </p:nvSpPr>
        <p:spPr>
          <a:xfrm>
            <a:off x="874643" y="2087218"/>
            <a:ext cx="10614992" cy="4401205"/>
          </a:xfrm>
          <a:prstGeom prst="rect">
            <a:avLst/>
          </a:prstGeom>
          <a:noFill/>
        </p:spPr>
        <p:txBody>
          <a:bodyPr wrap="square" rtlCol="0">
            <a:spAutoFit/>
          </a:body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illegalSize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outOfBound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seqStack</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private: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*array;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栈存储数组，存放实际的数据元素。</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Top;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栈顶下标。</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maxSize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栈中最多能存放的元素个数。</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doubleSpace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654127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en-US" altLang="zh-CN" dirty="0"/>
              <a:t> </a:t>
            </a:r>
            <a:r>
              <a:rPr lang="zh-CN" altLang="en-US" dirty="0">
                <a:latin typeface="华文楷体" panose="02010600040101010101" pitchFamily="2" charset="-122"/>
                <a:ea typeface="华文楷体" panose="02010600040101010101" pitchFamily="2" charset="-122"/>
              </a:rPr>
              <a:t>顺序栈类的声明：</a:t>
            </a:r>
          </a:p>
        </p:txBody>
      </p:sp>
      <p:sp>
        <p:nvSpPr>
          <p:cNvPr id="3" name="文本框 2"/>
          <p:cNvSpPr txBox="1"/>
          <p:nvPr/>
        </p:nvSpPr>
        <p:spPr>
          <a:xfrm>
            <a:off x="134603" y="1605028"/>
            <a:ext cx="11913706" cy="3970318"/>
          </a:xfrm>
          <a:prstGeom prst="rect">
            <a:avLst/>
          </a:prstGeom>
          <a:noFill/>
        </p:spPr>
        <p:txBody>
          <a:bodyPr wrap="square" rtlCol="0">
            <a:spAutoFit/>
          </a:bodyPr>
          <a:lstStyle/>
          <a:p>
            <a:r>
              <a:rPr lang="en-US" altLang="zh-CN" dirty="0"/>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public:</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seqStack</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initSize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100);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初始化顺序栈</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bool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isEmpty</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 return ( Top == -1 ); } ;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栈空返回</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true,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否则返回</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false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bool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isFull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 return (Top == maxSize-1);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栈满返回</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true,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否则返回</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false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top ();//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返回栈顶元素的值，不改变栈顶</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void push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&amp;e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将元素</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压入栈顶，使其成为新的栈顶。</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void pop ();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将栈顶元素弹栈。</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seqStack</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delete []array;};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释放栈占用的动态数组</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478736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3288" y="754146"/>
            <a:ext cx="11162884" cy="574183"/>
          </a:xfrm>
        </p:spPr>
        <p:txBody>
          <a:bodyPr/>
          <a:lstStyle/>
          <a:p>
            <a:pPr marL="838200" indent="-838200">
              <a:defRPr/>
            </a:pPr>
            <a:r>
              <a:rPr lang="en-US" altLang="zh-CN" dirty="0"/>
              <a:t> </a:t>
            </a:r>
            <a:r>
              <a:rPr lang="zh-CN" altLang="en-US" dirty="0">
                <a:latin typeface="华文楷体" panose="02010600040101010101" pitchFamily="2" charset="-122"/>
                <a:ea typeface="华文楷体" panose="02010600040101010101" pitchFamily="2" charset="-122"/>
              </a:rPr>
              <a:t>顺序栈类成员函数的实现：</a:t>
            </a:r>
          </a:p>
        </p:txBody>
      </p:sp>
      <p:sp>
        <p:nvSpPr>
          <p:cNvPr id="3" name="文本框 2"/>
          <p:cNvSpPr txBox="1"/>
          <p:nvPr/>
        </p:nvSpPr>
        <p:spPr>
          <a:xfrm>
            <a:off x="278294" y="1328329"/>
            <a:ext cx="11913706" cy="5262979"/>
          </a:xfrm>
          <a:prstGeom prst="rect">
            <a:avLst/>
          </a:prstGeom>
          <a:noFill/>
        </p:spPr>
        <p:txBody>
          <a:bodyPr wrap="square" rtlCol="0">
            <a:spAutoFit/>
          </a:body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seqStack</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seqStack</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initSize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初始化顺序栈</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array = new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initSize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(!array) throw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illegalSize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Top=-1;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maxSize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initSize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seqStack</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&gt;::top ()//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返回栈顶元素的值，不改变栈顶</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isEmpty</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throw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outOfBound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return array[Top];</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148165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3288" y="754146"/>
            <a:ext cx="11162884" cy="574183"/>
          </a:xfrm>
        </p:spPr>
        <p:txBody>
          <a:bodyPr/>
          <a:lstStyle/>
          <a:p>
            <a:pPr marL="838200" indent="-838200">
              <a:defRPr/>
            </a:pPr>
            <a:r>
              <a:rPr lang="en-US" altLang="zh-CN" dirty="0"/>
              <a:t> </a:t>
            </a:r>
            <a:r>
              <a:rPr lang="zh-CN" altLang="en-US" dirty="0">
                <a:latin typeface="华文楷体" panose="02010600040101010101" pitchFamily="2" charset="-122"/>
                <a:ea typeface="华文楷体" panose="02010600040101010101" pitchFamily="2" charset="-122"/>
              </a:rPr>
              <a:t>顺序栈类成员函数的实现：</a:t>
            </a:r>
          </a:p>
        </p:txBody>
      </p:sp>
      <p:sp>
        <p:nvSpPr>
          <p:cNvPr id="3" name="文本框 2"/>
          <p:cNvSpPr txBox="1"/>
          <p:nvPr/>
        </p:nvSpPr>
        <p:spPr>
          <a:xfrm>
            <a:off x="278294" y="1328329"/>
            <a:ext cx="11913706" cy="5262979"/>
          </a:xfrm>
          <a:prstGeom prst="rect">
            <a:avLst/>
          </a:prstGeom>
          <a:noFill/>
        </p:spPr>
        <p:txBody>
          <a:bodyPr wrap="square" rtlCol="0">
            <a:spAutoFit/>
          </a:body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seqStack</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&gt;::push(</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&amp;e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将元素</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压入栈顶，使其成为新的栈顶元素。</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isFull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doubleSpace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栈满时从新分配</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倍的空间，并将原空间内容拷入</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array[++Top] = e;      	//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新结点放入新的栈顶位置。</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seqStack</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&gt;::pop()//</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将栈顶元素弹栈。</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(Top==-1) throw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outOfBound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Top--;</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947950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66455"/>
            <a:ext cx="11903716" cy="4595805"/>
          </a:xfrm>
        </p:spPr>
        <p:txBody>
          <a:bodyPr>
            <a:normAutofit/>
          </a:bodyPr>
          <a:lstStyle/>
          <a:p>
            <a:pPr marL="0" indent="0">
              <a:lnSpc>
                <a:spcPct val="115000"/>
              </a:lnSpc>
              <a:buNone/>
              <a:defRPr/>
            </a:pPr>
            <a:r>
              <a:rPr lang="zh-CN" altLang="zh-CN" sz="2800" b="0" dirty="0">
                <a:ea typeface="华文楷体" pitchFamily="2" charset="-122"/>
                <a:cs typeface="Times New Roman" panose="02020603050405020304" pitchFamily="18" charset="0"/>
              </a:rPr>
              <a:t>函数</a:t>
            </a:r>
            <a:r>
              <a:rPr lang="en-US" altLang="zh-CN" sz="2800" b="0" dirty="0">
                <a:ea typeface="华文楷体" pitchFamily="2" charset="-122"/>
                <a:cs typeface="Times New Roman" panose="02020603050405020304" pitchFamily="18" charset="0"/>
              </a:rPr>
              <a:t>initialize(</a:t>
            </a:r>
            <a:r>
              <a:rPr lang="en-US" altLang="zh-CN" sz="2800" b="0" dirty="0" err="1">
                <a:ea typeface="华文楷体" pitchFamily="2" charset="-122"/>
                <a:cs typeface="Times New Roman" panose="02020603050405020304" pitchFamily="18" charset="0"/>
              </a:rPr>
              <a:t>seqStack</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isEmpty</a:t>
            </a:r>
            <a:r>
              <a:rPr lang="zh-CN"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isFull</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top</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pop</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destroy</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seqStack</a:t>
            </a:r>
            <a:r>
              <a:rPr lang="zh-CN" altLang="zh-CN" sz="2800" b="0" dirty="0">
                <a:ea typeface="华文楷体" pitchFamily="2" charset="-122"/>
                <a:cs typeface="Times New Roman" panose="02020603050405020304" pitchFamily="18" charset="0"/>
              </a:rPr>
              <a:t>）的时间复杂度均为</a:t>
            </a:r>
            <a:r>
              <a:rPr lang="en-US" altLang="zh-CN" sz="2800" b="0" dirty="0">
                <a:ea typeface="华文楷体" pitchFamily="2" charset="-122"/>
                <a:cs typeface="Times New Roman" panose="02020603050405020304" pitchFamily="18" charset="0"/>
              </a:rPr>
              <a:t>O(1)</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lnSpc>
                <a:spcPct val="115000"/>
              </a:lnSpc>
              <a:buNone/>
              <a:defRPr/>
            </a:pPr>
            <a:r>
              <a:rPr lang="en-US" altLang="zh-CN" sz="2800" b="0" dirty="0">
                <a:ea typeface="华文楷体" pitchFamily="2" charset="-122"/>
                <a:cs typeface="Times New Roman" panose="02020603050405020304" pitchFamily="18" charset="0"/>
              </a:rPr>
              <a:t>push</a:t>
            </a:r>
            <a:r>
              <a:rPr lang="zh-CN" altLang="zh-CN" sz="2800" b="0" dirty="0">
                <a:ea typeface="华文楷体" pitchFamily="2" charset="-122"/>
                <a:cs typeface="Times New Roman" panose="02020603050405020304" pitchFamily="18" charset="0"/>
              </a:rPr>
              <a:t>因某时可能扩大空间，造成</a:t>
            </a:r>
            <a:r>
              <a:rPr lang="en-US" altLang="zh-CN" sz="2800" b="0" dirty="0">
                <a:ea typeface="华文楷体" pitchFamily="2" charset="-122"/>
                <a:cs typeface="Times New Roman" panose="02020603050405020304" pitchFamily="18" charset="0"/>
              </a:rPr>
              <a:t>O(n)</a:t>
            </a:r>
            <a:r>
              <a:rPr lang="zh-CN" altLang="zh-CN" sz="2800" b="0" dirty="0">
                <a:ea typeface="华文楷体" pitchFamily="2" charset="-122"/>
                <a:cs typeface="Times New Roman" panose="02020603050405020304" pitchFamily="18" charset="0"/>
              </a:rPr>
              <a:t>时间消耗，但按照“分期付款式”法，分摊到单次的插入操作，时间复杂度仍为</a:t>
            </a:r>
            <a:r>
              <a:rPr lang="en-US" altLang="zh-CN" sz="2800" b="0" dirty="0">
                <a:ea typeface="华文楷体" pitchFamily="2" charset="-122"/>
                <a:cs typeface="Times New Roman" panose="02020603050405020304" pitchFamily="18" charset="0"/>
              </a:rPr>
              <a:t>O(1)</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lnSpc>
                <a:spcPct val="115000"/>
              </a:lnSpc>
              <a:buNone/>
              <a:defRPr/>
            </a:pPr>
            <a:endParaRPr lang="en-US" altLang="zh-CN" sz="2800" dirty="0">
              <a:ea typeface="华文楷体" pitchFamily="2" charset="-122"/>
              <a:cs typeface="Times New Roman" panose="02020603050405020304" pitchFamily="18" charset="0"/>
            </a:endParaRPr>
          </a:p>
          <a:p>
            <a:pPr marL="1789113"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基本操作效率分析：</a:t>
            </a:r>
          </a:p>
        </p:txBody>
      </p:sp>
    </p:spTree>
    <p:extLst>
      <p:ext uri="{BB962C8B-B14F-4D97-AF65-F5344CB8AC3E}">
        <p14:creationId xmlns:p14="http://schemas.microsoft.com/office/powerpoint/2010/main" val="507840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665847"/>
            <a:ext cx="11903716" cy="2309805"/>
          </a:xfrm>
        </p:spPr>
        <p:txBody>
          <a:bodyPr>
            <a:normAutofit/>
          </a:bodyPr>
          <a:lstStyle/>
          <a:p>
            <a:pPr marL="0" indent="0">
              <a:lnSpc>
                <a:spcPct val="115000"/>
              </a:lnSpc>
              <a:buNone/>
              <a:defRPr/>
            </a:pPr>
            <a:r>
              <a:rPr lang="zh-CN" altLang="zh-CN" sz="2800" b="0" dirty="0">
                <a:latin typeface="华文楷体" pitchFamily="2" charset="-122"/>
                <a:ea typeface="华文楷体" pitchFamily="2" charset="-122"/>
              </a:rPr>
              <a:t>编写程序从键盘上依次输入一串字符（以回车键结束）。要求将该串字符按照输入顺序的逆序在屏幕上输出。</a:t>
            </a:r>
            <a:endParaRPr lang="en-US" altLang="zh-CN" sz="2800" b="0" dirty="0">
              <a:latin typeface="华文楷体" pitchFamily="2" charset="-122"/>
              <a:ea typeface="华文楷体" pitchFamily="2" charset="-122"/>
            </a:endParaRPr>
          </a:p>
          <a:p>
            <a:pPr marL="0" indent="0">
              <a:lnSpc>
                <a:spcPct val="115000"/>
              </a:lnSpc>
              <a:buNone/>
              <a:defRPr/>
            </a:pPr>
            <a:r>
              <a:rPr lang="zh-CN" altLang="zh-CN" sz="2800" b="0" dirty="0">
                <a:latin typeface="华文楷体" pitchFamily="2" charset="-122"/>
                <a:ea typeface="华文楷体" pitchFamily="2" charset="-122"/>
              </a:rPr>
              <a:t>在程序中可以建立一个顺序栈，将输入的字符依次入栈，最后再依次出栈，便能得到逆序结果。</a:t>
            </a:r>
            <a:r>
              <a:rPr lang="zh-CN" altLang="en-US" sz="2800" b="0" dirty="0">
                <a:latin typeface="华文楷体" pitchFamily="2" charset="-122"/>
                <a:ea typeface="华文楷体" pitchFamily="2" charset="-122"/>
              </a:rPr>
              <a:t>  </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051118"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顺序栈的应用（测试）</a:t>
            </a:r>
          </a:p>
        </p:txBody>
      </p:sp>
    </p:spTree>
    <p:extLst>
      <p:ext uri="{BB962C8B-B14F-4D97-AF65-F5344CB8AC3E}">
        <p14:creationId xmlns:p14="http://schemas.microsoft.com/office/powerpoint/2010/main" val="31373540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06821"/>
            <a:ext cx="5158359" cy="4734953"/>
          </a:xfrm>
        </p:spPr>
        <p:txBody>
          <a:bodyPr>
            <a:noAutofit/>
          </a:bodyPr>
          <a:lstStyle/>
          <a:p>
            <a:pPr marL="0" indent="0">
              <a:buNone/>
            </a:pPr>
            <a:r>
              <a:rPr lang="en-US" altLang="zh-CN" sz="2800" b="0" dirty="0">
                <a:ea typeface="华文楷体" panose="02010600040101010101" pitchFamily="2" charset="-122"/>
                <a:cs typeface="Times New Roman" panose="02020603050405020304" pitchFamily="18" charset="0"/>
              </a:rPr>
              <a:t>#include &lt;</a:t>
            </a:r>
            <a:r>
              <a:rPr lang="en-US" altLang="zh-CN" sz="2800" b="0" dirty="0" err="1">
                <a:ea typeface="华文楷体" panose="02010600040101010101" pitchFamily="2" charset="-122"/>
                <a:cs typeface="Times New Roman" panose="02020603050405020304" pitchFamily="18" charset="0"/>
              </a:rPr>
              <a:t>iostream</a:t>
            </a:r>
            <a:r>
              <a:rPr lang="en-US" altLang="zh-CN" sz="2800" b="0" dirty="0">
                <a:ea typeface="华文楷体" panose="02010600040101010101" pitchFamily="2" charset="-122"/>
                <a:cs typeface="Times New Roman" panose="02020603050405020304" pitchFamily="18" charset="0"/>
              </a:rPr>
              <a:t>&gt;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#include "</a:t>
            </a:r>
            <a:r>
              <a:rPr lang="en-US" altLang="zh-CN" sz="2800" b="0" dirty="0" err="1">
                <a:ea typeface="华文楷体" panose="02010600040101010101" pitchFamily="2" charset="-122"/>
                <a:cs typeface="Times New Roman" panose="02020603050405020304" pitchFamily="18" charset="0"/>
              </a:rPr>
              <a:t>seqStack.h</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using namespace </a:t>
            </a:r>
            <a:r>
              <a:rPr lang="en-US" altLang="zh-CN" sz="2800" b="0" dirty="0" err="1">
                <a:ea typeface="华文楷体" panose="02010600040101010101" pitchFamily="2" charset="-122"/>
                <a:cs typeface="Times New Roman" panose="02020603050405020304" pitchFamily="18" charset="0"/>
              </a:rPr>
              <a:t>std</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main()</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 </a:t>
            </a:r>
            <a:r>
              <a:rPr lang="zh-CN" altLang="zh-CN" sz="2800" b="0" dirty="0">
                <a:ea typeface="华文楷体" panose="02010600040101010101" pitchFamily="2" charset="-122"/>
                <a:cs typeface="Times New Roman" panose="02020603050405020304" pitchFamily="18" charset="0"/>
              </a:rPr>
              <a:t>声明一个栈。</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seqStack</a:t>
            </a:r>
            <a:r>
              <a:rPr lang="en-US" altLang="zh-CN" sz="2800" b="0" dirty="0">
                <a:ea typeface="华文楷体" panose="02010600040101010101" pitchFamily="2" charset="-122"/>
                <a:cs typeface="Times New Roman" panose="02020603050405020304" pitchFamily="18" charset="0"/>
              </a:rPr>
              <a:t>&lt;char&gt; s;</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char </a:t>
            </a:r>
            <a:r>
              <a:rPr lang="en-US" altLang="zh-CN" sz="2800" b="0" dirty="0" err="1">
                <a:ea typeface="华文楷体" panose="02010600040101010101" pitchFamily="2" charset="-122"/>
                <a:cs typeface="Times New Roman" panose="02020603050405020304" pitchFamily="18" charset="0"/>
              </a:rPr>
              <a:t>ctemp</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dirty="0">
                <a:ea typeface="华文楷体" panose="02010600040101010101" pitchFamily="2" charset="-122"/>
                <a:cs typeface="Times New Roman" panose="02020603050405020304" pitchFamily="18" charset="0"/>
              </a:rPr>
              <a:t> </a:t>
            </a:r>
            <a:endParaRPr lang="zh-CN" altLang="zh-CN" sz="280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顺序栈结构的应用</a:t>
            </a:r>
            <a:r>
              <a:rPr lang="en-US" altLang="zh-CN" dirty="0">
                <a:latin typeface="华文楷体" panose="02010600040101010101" pitchFamily="2" charset="-122"/>
                <a:ea typeface="华文楷体" panose="02010600040101010101" pitchFamily="2" charset="-122"/>
              </a:rPr>
              <a:t>(main.cpp)</a:t>
            </a:r>
            <a:endParaRPr lang="zh-CN" altLang="en-US" dirty="0">
              <a:latin typeface="华文楷体" panose="02010600040101010101" pitchFamily="2" charset="-122"/>
              <a:ea typeface="华文楷体" panose="02010600040101010101" pitchFamily="2" charset="-122"/>
            </a:endParaRPr>
          </a:p>
        </p:txBody>
      </p:sp>
      <p:sp>
        <p:nvSpPr>
          <p:cNvPr id="4" name="Rectangle 3"/>
          <p:cNvSpPr txBox="1">
            <a:spLocks noChangeArrowheads="1"/>
          </p:cNvSpPr>
          <p:nvPr/>
        </p:nvSpPr>
        <p:spPr>
          <a:xfrm>
            <a:off x="5110002" y="1384449"/>
            <a:ext cx="7081998" cy="535117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altLang="zh-CN" sz="2800" b="0" dirty="0">
                <a:latin typeface="+mn-lt"/>
              </a:rPr>
              <a:t>   </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从键盘输入若干字符（结束用回车），</a:t>
            </a:r>
            <a:endParaRPr lang="en-US" altLang="zh-CN" sz="2800"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依照输入次序分别进栈</a:t>
            </a:r>
          </a:p>
          <a:p>
            <a:pPr marL="0" indent="0">
              <a:buFont typeface="Wingdings" panose="05000000000000000000" pitchFamily="2" charset="2"/>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cout</a:t>
            </a:r>
            <a:r>
              <a:rPr lang="en-US" altLang="zh-CN" sz="2800" b="0" dirty="0">
                <a:ea typeface="华文楷体" panose="02010600040101010101" pitchFamily="2" charset="-122"/>
                <a:cs typeface="Times New Roman" panose="02020603050405020304" pitchFamily="18" charset="0"/>
              </a:rPr>
              <a:t>&lt;&lt;“Input the elements</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a:t>
            </a:r>
          </a:p>
          <a:p>
            <a:pPr marL="0" indent="0">
              <a:buFont typeface="Wingdings" panose="05000000000000000000" pitchFamily="2" charset="2"/>
              <a:buNone/>
            </a:pPr>
            <a:r>
              <a:rPr lang="en-US" altLang="zh-CN" sz="2800" b="0" dirty="0">
                <a:ea typeface="华文楷体" panose="02010600040101010101" pitchFamily="2" charset="-122"/>
                <a:cs typeface="Times New Roman" panose="02020603050405020304" pitchFamily="18" charset="0"/>
              </a:rPr>
              <a:t>          &lt;&lt;press enter to an end: ";</a:t>
            </a:r>
            <a:endParaRPr lang="zh-CN" altLang="zh-CN" sz="2800"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ctemp</a:t>
            </a:r>
            <a:r>
              <a:rPr lang="en-US" altLang="zh-CN" sz="2800" b="0" dirty="0">
                <a:ea typeface="华文楷体" panose="02010600040101010101" pitchFamily="2" charset="-122"/>
                <a:cs typeface="Times New Roman" panose="02020603050405020304" pitchFamily="18" charset="0"/>
              </a:rPr>
              <a:t> = </a:t>
            </a:r>
            <a:r>
              <a:rPr lang="en-US" altLang="zh-CN" sz="2800" b="0" dirty="0" err="1">
                <a:ea typeface="华文楷体" panose="02010600040101010101" pitchFamily="2" charset="-122"/>
                <a:cs typeface="Times New Roman" panose="02020603050405020304" pitchFamily="18" charset="0"/>
              </a:rPr>
              <a:t>cin.get</a:t>
            </a:r>
            <a:r>
              <a:rPr lang="en-US" altLang="zh-CN" sz="2800" b="0" dirty="0">
                <a:ea typeface="华文楷体" panose="02010600040101010101" pitchFamily="2" charset="-122"/>
                <a:cs typeface="Times New Roman" panose="02020603050405020304" pitchFamily="18" charset="0"/>
              </a:rPr>
              <a:t>(); </a:t>
            </a:r>
            <a:endParaRPr lang="zh-CN" altLang="zh-CN" sz="2800"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sz="2800" b="0" dirty="0">
                <a:ea typeface="华文楷体" panose="02010600040101010101" pitchFamily="2" charset="-122"/>
                <a:cs typeface="Times New Roman" panose="02020603050405020304" pitchFamily="18" charset="0"/>
              </a:rPr>
              <a:t>   while ( </a:t>
            </a:r>
            <a:r>
              <a:rPr lang="en-US" altLang="zh-CN" sz="2800" b="0" dirty="0" err="1">
                <a:ea typeface="华文楷体" panose="02010600040101010101" pitchFamily="2" charset="-122"/>
                <a:cs typeface="Times New Roman" panose="02020603050405020304" pitchFamily="18" charset="0"/>
              </a:rPr>
              <a:t>ctemp</a:t>
            </a:r>
            <a:r>
              <a:rPr lang="en-US" altLang="zh-CN" sz="2800" b="0" dirty="0">
                <a:ea typeface="华文楷体" panose="02010600040101010101" pitchFamily="2" charset="-122"/>
                <a:cs typeface="Times New Roman" panose="02020603050405020304" pitchFamily="18" charset="0"/>
              </a:rPr>
              <a:t>!='\n')</a:t>
            </a:r>
            <a:endParaRPr lang="zh-CN" altLang="zh-CN" sz="2800"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sz="2800" b="0" dirty="0">
                <a:ea typeface="华文楷体" panose="02010600040101010101" pitchFamily="2" charset="-122"/>
                <a:cs typeface="Times New Roman" panose="02020603050405020304" pitchFamily="18" charset="0"/>
              </a:rPr>
              <a:t>   { 	</a:t>
            </a:r>
            <a:r>
              <a:rPr lang="en-US" altLang="zh-CN" sz="2800" b="0" dirty="0" err="1">
                <a:ea typeface="华文楷体" panose="02010600040101010101" pitchFamily="2" charset="-122"/>
                <a:cs typeface="Times New Roman" panose="02020603050405020304" pitchFamily="18" charset="0"/>
              </a:rPr>
              <a:t>s.push</a:t>
            </a:r>
            <a:r>
              <a:rPr lang="en-US" altLang="zh-CN" sz="2800" b="0" dirty="0">
                <a:ea typeface="华文楷体" panose="02010600040101010101" pitchFamily="2" charset="-122"/>
                <a:cs typeface="Times New Roman" panose="02020603050405020304" pitchFamily="18" charset="0"/>
              </a:rPr>
              <a:t>(</a:t>
            </a:r>
            <a:r>
              <a:rPr lang="en-US" altLang="zh-CN" sz="2800" b="0" dirty="0" err="1">
                <a:ea typeface="华文楷体" panose="02010600040101010101" pitchFamily="2" charset="-122"/>
                <a:cs typeface="Times New Roman" panose="02020603050405020304" pitchFamily="18" charset="0"/>
              </a:rPr>
              <a:t>ctemp</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ctemp</a:t>
            </a:r>
            <a:r>
              <a:rPr lang="en-US" altLang="zh-CN" sz="2800" b="0" dirty="0">
                <a:ea typeface="华文楷体" panose="02010600040101010101" pitchFamily="2" charset="-122"/>
                <a:cs typeface="Times New Roman" panose="02020603050405020304" pitchFamily="18" charset="0"/>
              </a:rPr>
              <a:t> = </a:t>
            </a:r>
            <a:r>
              <a:rPr lang="en-US" altLang="zh-CN" sz="2800" b="0" dirty="0" err="1">
                <a:ea typeface="华文楷体" panose="02010600040101010101" pitchFamily="2" charset="-122"/>
                <a:cs typeface="Times New Roman" panose="02020603050405020304" pitchFamily="18" charset="0"/>
              </a:rPr>
              <a:t>cin.get</a:t>
            </a:r>
            <a:r>
              <a:rPr lang="en-US" altLang="zh-CN" sz="2800" b="0" dirty="0">
                <a:ea typeface="华文楷体" panose="02010600040101010101" pitchFamily="2" charset="-122"/>
                <a:cs typeface="Times New Roman" panose="02020603050405020304" pitchFamily="18" charset="0"/>
              </a:rPr>
              <a:t>();   }</a:t>
            </a:r>
            <a:endParaRPr lang="zh-CN" altLang="zh-CN" sz="2800" b="0" dirty="0">
              <a:ea typeface="华文楷体" panose="02010600040101010101" pitchFamily="2" charset="-122"/>
              <a:cs typeface="Times New Roman" panose="02020603050405020304" pitchFamily="18" charset="0"/>
            </a:endParaRPr>
          </a:p>
        </p:txBody>
      </p:sp>
      <p:cxnSp>
        <p:nvCxnSpPr>
          <p:cNvPr id="3" name="直接连接符 2"/>
          <p:cNvCxnSpPr/>
          <p:nvPr/>
        </p:nvCxnSpPr>
        <p:spPr>
          <a:xfrm>
            <a:off x="4830417" y="1384449"/>
            <a:ext cx="39757" cy="547355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6321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06821"/>
            <a:ext cx="10525490" cy="5112640"/>
          </a:xfrm>
        </p:spPr>
        <p:txBody>
          <a:bodyPr>
            <a:noAutofit/>
          </a:bodyPr>
          <a:lstStyle/>
          <a:p>
            <a:pPr marL="0" indent="0">
              <a:buNone/>
            </a:pP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将栈中的结点逐个出栈，并输出到屏幕上。</a:t>
            </a: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cout</a:t>
            </a:r>
            <a:r>
              <a:rPr lang="en-US" altLang="zh-CN" sz="2800" b="0" dirty="0">
                <a:ea typeface="华文楷体" panose="02010600040101010101" pitchFamily="2" charset="-122"/>
                <a:cs typeface="Times New Roman" panose="02020603050405020304" pitchFamily="18" charset="0"/>
              </a:rPr>
              <a:t>&lt;&lt;"output the elements in the stack one by one:";</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while ( !</a:t>
            </a:r>
            <a:r>
              <a:rPr lang="en-US" altLang="zh-CN" sz="2800" b="0" dirty="0" err="1">
                <a:ea typeface="华文楷体" panose="02010600040101010101" pitchFamily="2" charset="-122"/>
                <a:cs typeface="Times New Roman" panose="02020603050405020304" pitchFamily="18" charset="0"/>
              </a:rPr>
              <a:t>s.isEmpty</a:t>
            </a:r>
            <a:r>
              <a:rPr lang="en-US" altLang="zh-CN" sz="2800" b="0" dirty="0">
                <a:ea typeface="华文楷体" panose="02010600040101010101" pitchFamily="2" charset="-122"/>
                <a:cs typeface="Times New Roman" panose="02020603050405020304" pitchFamily="18" charset="0"/>
              </a:rPr>
              <a:t>() ) {</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ctemp</a:t>
            </a:r>
            <a:r>
              <a:rPr lang="en-US" altLang="zh-CN" sz="2800" b="0" dirty="0">
                <a:ea typeface="华文楷体" panose="02010600040101010101" pitchFamily="2" charset="-122"/>
                <a:cs typeface="Times New Roman" panose="02020603050405020304" pitchFamily="18" charset="0"/>
              </a:rPr>
              <a:t> = </a:t>
            </a:r>
            <a:r>
              <a:rPr lang="en-US" altLang="zh-CN" sz="2800" b="0" dirty="0" err="1">
                <a:ea typeface="华文楷体" panose="02010600040101010101" pitchFamily="2" charset="-122"/>
                <a:cs typeface="Times New Roman" panose="02020603050405020304" pitchFamily="18" charset="0"/>
              </a:rPr>
              <a:t>s.top</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s.pop</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cout</a:t>
            </a:r>
            <a:r>
              <a:rPr lang="en-US" altLang="zh-CN" sz="2800" b="0" dirty="0">
                <a:ea typeface="华文楷体" panose="02010600040101010101" pitchFamily="2" charset="-122"/>
                <a:cs typeface="Times New Roman" panose="02020603050405020304" pitchFamily="18" charset="0"/>
              </a:rPr>
              <a:t>&lt;&lt;</a:t>
            </a:r>
            <a:r>
              <a:rPr lang="en-US" altLang="zh-CN" sz="2800" b="0" dirty="0" err="1">
                <a:ea typeface="华文楷体" panose="02010600040101010101" pitchFamily="2" charset="-122"/>
                <a:cs typeface="Times New Roman" panose="02020603050405020304" pitchFamily="18" charset="0"/>
              </a:rPr>
              <a:t>ctemp</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 	</a:t>
            </a: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cout</a:t>
            </a:r>
            <a:r>
              <a:rPr lang="en-US" altLang="zh-CN" sz="2800" b="0" dirty="0">
                <a:ea typeface="华文楷体" panose="02010600040101010101" pitchFamily="2" charset="-122"/>
                <a:cs typeface="Times New Roman" panose="02020603050405020304" pitchFamily="18" charset="0"/>
              </a:rPr>
              <a:t>&lt;&lt;</a:t>
            </a:r>
            <a:r>
              <a:rPr lang="en-US" altLang="zh-CN" sz="2800" b="0" dirty="0" err="1">
                <a:ea typeface="华文楷体" panose="02010600040101010101" pitchFamily="2" charset="-122"/>
                <a:cs typeface="Times New Roman" panose="02020603050405020304" pitchFamily="18" charset="0"/>
              </a:rPr>
              <a:t>endl</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return 0;  }</a:t>
            </a:r>
            <a:endParaRPr lang="zh-CN" altLang="zh-CN" sz="2800" b="0" dirty="0">
              <a:ea typeface="华文楷体" panose="02010600040101010101" pitchFamily="2" charset="-122"/>
              <a:cs typeface="Times New Roman" panose="02020603050405020304" pitchFamily="18" charset="0"/>
            </a:endParaRPr>
          </a:p>
          <a:p>
            <a:pPr marL="0" indent="0">
              <a:buNone/>
            </a:pPr>
            <a:endParaRPr lang="zh-CN" altLang="zh-CN" sz="2800" dirty="0">
              <a:latin typeface="+mn-lt"/>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顺序栈结构的应用</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(main.cpp)</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996072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328329"/>
            <a:ext cx="10525490" cy="5112640"/>
          </a:xfrm>
        </p:spPr>
        <p:txBody>
          <a:bodyPr>
            <a:noAutofit/>
          </a:bodyPr>
          <a:lstStyle/>
          <a:p>
            <a:pPr marL="0" indent="0">
              <a:buNone/>
            </a:pPr>
            <a:r>
              <a:rPr lang="zh-CN" altLang="zh-CN" sz="2800" b="0" dirty="0">
                <a:latin typeface="华文楷体" panose="02010600040101010101" pitchFamily="2" charset="-122"/>
                <a:ea typeface="华文楷体" panose="02010600040101010101" pitchFamily="2" charset="-122"/>
                <a:cs typeface="Times New Roman" panose="02020603050405020304" pitchFamily="18" charset="0"/>
              </a:rPr>
              <a:t>在实际应用中，有时需要同时使用多个数据类型相同的栈。</a:t>
            </a:r>
            <a:endParaRPr lang="en-US" altLang="zh-CN" sz="2800" b="0" dirty="0">
              <a:latin typeface="华文楷体" panose="02010600040101010101" pitchFamily="2" charset="-122"/>
              <a:ea typeface="华文楷体" panose="02010600040101010101" pitchFamily="2" charset="-122"/>
              <a:cs typeface="Times New Roman" panose="02020603050405020304" pitchFamily="18" charset="0"/>
            </a:endParaRPr>
          </a:p>
          <a:p>
            <a:pPr marL="0" indent="0">
              <a:buNone/>
            </a:pPr>
            <a:r>
              <a:rPr lang="zh-CN" altLang="zh-CN" sz="2800" b="0" dirty="0">
                <a:latin typeface="华文楷体" panose="02010600040101010101" pitchFamily="2" charset="-122"/>
                <a:ea typeface="华文楷体" panose="02010600040101010101" pitchFamily="2" charset="-122"/>
                <a:cs typeface="Times New Roman" panose="02020603050405020304" pitchFamily="18" charset="0"/>
              </a:rPr>
              <a:t>栈中的元素个数因进栈、出栈操作动态地变化，所有栈不一定同时达到栈满，有时一些栈满而另一些栈尚余空间。</a:t>
            </a:r>
            <a:endParaRPr lang="en-US" altLang="zh-CN" sz="2800" b="0" dirty="0">
              <a:latin typeface="华文楷体" panose="02010600040101010101" pitchFamily="2" charset="-122"/>
              <a:ea typeface="华文楷体" panose="02010600040101010101" pitchFamily="2" charset="-122"/>
              <a:cs typeface="Times New Roman" panose="02020603050405020304" pitchFamily="18" charset="0"/>
            </a:endParaRPr>
          </a:p>
          <a:p>
            <a:pPr marL="0" indent="0">
              <a:buNone/>
            </a:pPr>
            <a:r>
              <a:rPr lang="zh-CN" altLang="zh-CN" sz="2800" b="0" dirty="0">
                <a:latin typeface="华文楷体" panose="02010600040101010101" pitchFamily="2" charset="-122"/>
                <a:ea typeface="华文楷体" panose="02010600040101010101" pitchFamily="2" charset="-122"/>
                <a:cs typeface="Times New Roman" panose="02020603050405020304" pitchFamily="18" charset="0"/>
              </a:rPr>
              <a:t>为了提高空间使用率，可以在同一块连续的空间中设置多个栈。</a:t>
            </a:r>
            <a:endParaRPr lang="en-US" altLang="zh-CN" sz="2800" b="0" dirty="0">
              <a:latin typeface="华文楷体" panose="02010600040101010101" pitchFamily="2" charset="-122"/>
              <a:ea typeface="华文楷体" panose="02010600040101010101" pitchFamily="2" charset="-122"/>
              <a:cs typeface="Times New Roman" panose="02020603050405020304" pitchFamily="18" charset="0"/>
            </a:endParaRPr>
          </a:p>
          <a:p>
            <a:pPr marL="0" indent="0">
              <a:buNone/>
            </a:pPr>
            <a:r>
              <a:rPr lang="zh-CN" altLang="zh-CN" sz="2800" b="0" dirty="0">
                <a:latin typeface="华文楷体" panose="02010600040101010101" pitchFamily="2" charset="-122"/>
                <a:ea typeface="华文楷体" panose="02010600040101010101" pitchFamily="2" charset="-122"/>
                <a:cs typeface="Times New Roman" panose="02020603050405020304" pitchFamily="18" charset="0"/>
              </a:rPr>
              <a:t>多个栈间共享空间，这些栈称为</a:t>
            </a:r>
            <a:r>
              <a:rPr lang="zh-CN" altLang="zh-CN" sz="2800" dirty="0">
                <a:latin typeface="华文楷体" panose="02010600040101010101" pitchFamily="2" charset="-122"/>
                <a:ea typeface="华文楷体" panose="02010600040101010101" pitchFamily="2" charset="-122"/>
                <a:cs typeface="Times New Roman" panose="02020603050405020304" pitchFamily="18" charset="0"/>
              </a:rPr>
              <a:t>“共享栈”</a:t>
            </a:r>
            <a:r>
              <a:rPr lang="zh-CN" altLang="zh-CN" sz="2800" b="0" dirty="0">
                <a:latin typeface="华文楷体" panose="02010600040101010101" pitchFamily="2" charset="-122"/>
                <a:ea typeface="华文楷体" panose="02010600040101010101" pitchFamily="2" charset="-122"/>
                <a:cs typeface="Times New Roman" panose="02020603050405020304" pitchFamily="18" charset="0"/>
              </a:rPr>
              <a:t>。</a:t>
            </a:r>
            <a:endParaRPr lang="en-US" altLang="zh-CN" sz="2800" b="0" dirty="0">
              <a:latin typeface="华文楷体" panose="02010600040101010101" pitchFamily="2" charset="-122"/>
              <a:ea typeface="华文楷体" panose="02010600040101010101" pitchFamily="2" charset="-122"/>
              <a:cs typeface="Times New Roman" panose="02020603050405020304" pitchFamily="18" charset="0"/>
            </a:endParaRPr>
          </a:p>
          <a:p>
            <a:pPr marL="0" indent="0">
              <a:buNone/>
            </a:pPr>
            <a:endParaRPr lang="en-US" altLang="zh-CN" sz="2800" b="0" dirty="0">
              <a:latin typeface="华文楷体" panose="02010600040101010101" pitchFamily="2" charset="-122"/>
              <a:ea typeface="华文楷体" panose="02010600040101010101" pitchFamily="2" charset="-122"/>
              <a:cs typeface="Times New Roman" panose="02020603050405020304" pitchFamily="18" charset="0"/>
            </a:endParaRPr>
          </a:p>
          <a:p>
            <a:pPr marL="0" indent="0">
              <a:buNone/>
            </a:pPr>
            <a:r>
              <a:rPr lang="zh-CN" altLang="zh-CN" sz="2800" b="0" dirty="0">
                <a:latin typeface="华文楷体" panose="02010600040101010101" pitchFamily="2" charset="-122"/>
                <a:ea typeface="华文楷体" panose="02010600040101010101" pitchFamily="2" charset="-122"/>
                <a:cs typeface="Times New Roman" panose="02020603050405020304" pitchFamily="18" charset="0"/>
              </a:rPr>
              <a:t>共享栈的特点是每个栈拥有一个连续的小空间</a:t>
            </a:r>
            <a:r>
              <a:rPr lang="en-US" altLang="zh-CN" sz="2800" b="0" dirty="0">
                <a:latin typeface="华文楷体" panose="02010600040101010101" pitchFamily="2" charset="-122"/>
                <a:ea typeface="华文楷体" panose="02010600040101010101" pitchFamily="2" charset="-122"/>
                <a:cs typeface="Times New Roman" panose="02020603050405020304" pitchFamily="18" charset="0"/>
              </a:rPr>
              <a:t>, </a:t>
            </a:r>
            <a:r>
              <a:rPr lang="zh-CN" altLang="zh-CN" sz="2800" b="0" dirty="0">
                <a:latin typeface="华文楷体" panose="02010600040101010101" pitchFamily="2" charset="-122"/>
                <a:ea typeface="华文楷体" panose="02010600040101010101" pitchFamily="2" charset="-122"/>
                <a:cs typeface="Times New Roman" panose="02020603050405020304" pitchFamily="18" charset="0"/>
              </a:rPr>
              <a:t>所有共享栈拥有一个大的连续空间。 </a:t>
            </a: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共享栈：</a:t>
            </a:r>
          </a:p>
        </p:txBody>
      </p:sp>
    </p:spTree>
    <p:extLst>
      <p:ext uri="{BB962C8B-B14F-4D97-AF65-F5344CB8AC3E}">
        <p14:creationId xmlns:p14="http://schemas.microsoft.com/office/powerpoint/2010/main" val="40569833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59917" y="793902"/>
            <a:ext cx="11162884" cy="574183"/>
          </a:xfrm>
        </p:spPr>
        <p:txBody>
          <a:bodyPr/>
          <a:lstStyle/>
          <a:p>
            <a:r>
              <a:rPr lang="zh-CN" altLang="en-US" dirty="0">
                <a:latin typeface="华文楷体" panose="02010600040101010101" pitchFamily="2" charset="-122"/>
                <a:ea typeface="华文楷体" panose="02010600040101010101" pitchFamily="2" charset="-122"/>
              </a:rPr>
              <a:t>共享栈</a:t>
            </a:r>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bwMode="auto">
          <a:xfrm>
            <a:off x="2907782" y="1708183"/>
            <a:ext cx="7193214" cy="2559740"/>
          </a:xfrm>
          <a:prstGeom prst="rect">
            <a:avLst/>
          </a:prstGeom>
          <a:noFill/>
          <a:ln>
            <a:noFill/>
          </a:ln>
        </p:spPr>
      </p:pic>
      <p:sp>
        <p:nvSpPr>
          <p:cNvPr id="5" name="矩形 4"/>
          <p:cNvSpPr/>
          <p:nvPr/>
        </p:nvSpPr>
        <p:spPr>
          <a:xfrm>
            <a:off x="459917" y="4608021"/>
            <a:ext cx="10751422" cy="1384995"/>
          </a:xfrm>
          <a:prstGeom prst="rect">
            <a:avLst/>
          </a:prstGeom>
        </p:spPr>
        <p:txBody>
          <a:bodyPr wrap="square">
            <a:spAutoFit/>
          </a:bodyPr>
          <a:lstStyle/>
          <a:p>
            <a:r>
              <a:rPr lang="zh-CN" altLang="zh-CN" sz="2800" dirty="0">
                <a:latin typeface="Times New Roman" panose="02020603050405020304" pitchFamily="18" charset="0"/>
                <a:ea typeface="华文楷体" pitchFamily="2" charset="-122"/>
                <a:cs typeface="Times New Roman" panose="02020603050405020304" pitchFamily="18" charset="0"/>
              </a:rPr>
              <a:t>假设有</a:t>
            </a:r>
            <a:r>
              <a:rPr lang="en-US" altLang="zh-CN" sz="2800" dirty="0">
                <a:latin typeface="Times New Roman" panose="02020603050405020304" pitchFamily="18" charset="0"/>
                <a:ea typeface="华文楷体" pitchFamily="2" charset="-122"/>
                <a:cs typeface="Times New Roman" panose="02020603050405020304" pitchFamily="18" charset="0"/>
              </a:rPr>
              <a:t>m</a:t>
            </a:r>
            <a:r>
              <a:rPr lang="zh-CN" altLang="zh-CN" sz="2800" dirty="0">
                <a:latin typeface="Times New Roman" panose="02020603050405020304" pitchFamily="18" charset="0"/>
                <a:ea typeface="华文楷体" pitchFamily="2" charset="-122"/>
                <a:cs typeface="Times New Roman" panose="02020603050405020304" pitchFamily="18" charset="0"/>
              </a:rPr>
              <a:t>个栈，第</a:t>
            </a:r>
            <a:r>
              <a:rPr lang="en-US" altLang="zh-CN" sz="2800" dirty="0" err="1">
                <a:latin typeface="Times New Roman" panose="02020603050405020304" pitchFamily="18" charset="0"/>
                <a:ea typeface="华文楷体" pitchFamily="2" charset="-122"/>
                <a:cs typeface="Times New Roman" panose="02020603050405020304" pitchFamily="18" charset="0"/>
              </a:rPr>
              <a:t>i</a:t>
            </a:r>
            <a:r>
              <a:rPr lang="zh-CN" altLang="zh-CN" sz="2800" dirty="0">
                <a:latin typeface="Times New Roman" panose="02020603050405020304" pitchFamily="18" charset="0"/>
                <a:ea typeface="华文楷体" pitchFamily="2" charset="-122"/>
                <a:cs typeface="Times New Roman" panose="02020603050405020304" pitchFamily="18" charset="0"/>
              </a:rPr>
              <a:t>个栈空的条件：</a:t>
            </a:r>
            <a:r>
              <a:rPr lang="en-US" altLang="zh-CN" sz="2800" dirty="0">
                <a:latin typeface="Times New Roman" panose="02020603050405020304" pitchFamily="18" charset="0"/>
                <a:ea typeface="华文楷体" pitchFamily="2" charset="-122"/>
                <a:cs typeface="Times New Roman" panose="02020603050405020304" pitchFamily="18" charset="0"/>
              </a:rPr>
              <a:t>top[</a:t>
            </a:r>
            <a:r>
              <a:rPr lang="en-US" altLang="zh-CN" sz="2800" dirty="0" err="1">
                <a:latin typeface="Times New Roman" panose="02020603050405020304" pitchFamily="18" charset="0"/>
                <a:ea typeface="华文楷体" pitchFamily="2" charset="-122"/>
                <a:cs typeface="Times New Roman" panose="02020603050405020304" pitchFamily="18" charset="0"/>
              </a:rPr>
              <a:t>i</a:t>
            </a:r>
            <a:r>
              <a:rPr lang="en-US" altLang="zh-CN" sz="2800" dirty="0">
                <a:latin typeface="Times New Roman" panose="02020603050405020304" pitchFamily="18" charset="0"/>
                <a:ea typeface="华文楷体" pitchFamily="2" charset="-122"/>
                <a:cs typeface="Times New Roman" panose="02020603050405020304" pitchFamily="18" charset="0"/>
              </a:rPr>
              <a:t>]=bottom[</a:t>
            </a:r>
            <a:r>
              <a:rPr lang="en-US" altLang="zh-CN" sz="2800" dirty="0" err="1">
                <a:latin typeface="Times New Roman" panose="02020603050405020304" pitchFamily="18" charset="0"/>
                <a:ea typeface="华文楷体" pitchFamily="2" charset="-122"/>
                <a:cs typeface="Times New Roman" panose="02020603050405020304" pitchFamily="18" charset="0"/>
              </a:rPr>
              <a:t>i</a:t>
            </a:r>
            <a:r>
              <a:rPr lang="en-US" altLang="zh-CN" sz="2800" dirty="0">
                <a:latin typeface="Times New Roman" panose="02020603050405020304" pitchFamily="18" charset="0"/>
                <a:ea typeface="华文楷体" pitchFamily="2" charset="-122"/>
                <a:cs typeface="Times New Roman" panose="02020603050405020304" pitchFamily="18" charset="0"/>
              </a:rPr>
              <a:t>]</a:t>
            </a:r>
            <a:r>
              <a:rPr lang="zh-CN" altLang="zh-CN" sz="2800" dirty="0">
                <a:latin typeface="Times New Roman" panose="02020603050405020304" pitchFamily="18" charset="0"/>
                <a:ea typeface="华文楷体" pitchFamily="2" charset="-122"/>
                <a:cs typeface="Times New Roman" panose="02020603050405020304" pitchFamily="18" charset="0"/>
              </a:rPr>
              <a:t>；</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r>
              <a:rPr lang="zh-CN" altLang="zh-CN" sz="2800" dirty="0">
                <a:latin typeface="Times New Roman" panose="02020603050405020304" pitchFamily="18" charset="0"/>
                <a:ea typeface="华文楷体" pitchFamily="2" charset="-122"/>
                <a:cs typeface="Times New Roman" panose="02020603050405020304" pitchFamily="18" charset="0"/>
              </a:rPr>
              <a:t>第</a:t>
            </a:r>
            <a:r>
              <a:rPr lang="en-US" altLang="zh-CN" sz="2800" dirty="0" err="1">
                <a:latin typeface="Times New Roman" panose="02020603050405020304" pitchFamily="18" charset="0"/>
                <a:ea typeface="华文楷体" pitchFamily="2" charset="-122"/>
                <a:cs typeface="Times New Roman" panose="02020603050405020304" pitchFamily="18" charset="0"/>
              </a:rPr>
              <a:t>i</a:t>
            </a:r>
            <a:r>
              <a:rPr lang="zh-CN" altLang="zh-CN" sz="2800" dirty="0">
                <a:latin typeface="Times New Roman" panose="02020603050405020304" pitchFamily="18" charset="0"/>
                <a:ea typeface="华文楷体" pitchFamily="2" charset="-122"/>
                <a:cs typeface="Times New Roman" panose="02020603050405020304" pitchFamily="18" charset="0"/>
              </a:rPr>
              <a:t>个栈栈满条件为</a:t>
            </a:r>
            <a:r>
              <a:rPr lang="en-US" altLang="zh-CN" sz="2800" dirty="0">
                <a:latin typeface="Times New Roman" panose="02020603050405020304" pitchFamily="18" charset="0"/>
                <a:ea typeface="华文楷体" pitchFamily="2" charset="-122"/>
                <a:cs typeface="Times New Roman" panose="02020603050405020304" pitchFamily="18" charset="0"/>
              </a:rPr>
              <a:t>:    </a:t>
            </a:r>
            <a:r>
              <a:rPr lang="zh-CN" altLang="zh-CN" sz="2800" dirty="0">
                <a:latin typeface="Times New Roman" panose="02020603050405020304" pitchFamily="18" charset="0"/>
                <a:ea typeface="华文楷体" pitchFamily="2" charset="-122"/>
                <a:cs typeface="Times New Roman" panose="02020603050405020304" pitchFamily="18" charset="0"/>
              </a:rPr>
              <a:t>当</a:t>
            </a:r>
            <a:r>
              <a:rPr lang="en-US" altLang="zh-CN" sz="2800" dirty="0" err="1">
                <a:latin typeface="Times New Roman" panose="02020603050405020304" pitchFamily="18" charset="0"/>
                <a:ea typeface="华文楷体" pitchFamily="2" charset="-122"/>
                <a:cs typeface="Times New Roman" panose="02020603050405020304" pitchFamily="18" charset="0"/>
              </a:rPr>
              <a:t>i</a:t>
            </a:r>
            <a:r>
              <a:rPr lang="en-US" altLang="zh-CN" sz="2800" dirty="0">
                <a:latin typeface="Times New Roman" panose="02020603050405020304" pitchFamily="18" charset="0"/>
                <a:ea typeface="华文楷体" pitchFamily="2" charset="-122"/>
                <a:cs typeface="Times New Roman" panose="02020603050405020304" pitchFamily="18" charset="0"/>
              </a:rPr>
              <a:t>&lt;m-1</a:t>
            </a:r>
            <a:r>
              <a:rPr lang="zh-CN" altLang="zh-CN" sz="2800" dirty="0">
                <a:latin typeface="Times New Roman" panose="02020603050405020304" pitchFamily="18" charset="0"/>
                <a:ea typeface="华文楷体" pitchFamily="2" charset="-122"/>
                <a:cs typeface="Times New Roman" panose="02020603050405020304" pitchFamily="18" charset="0"/>
              </a:rPr>
              <a:t>时，</a:t>
            </a:r>
            <a:r>
              <a:rPr lang="en-US" altLang="zh-CN" sz="2800" dirty="0">
                <a:latin typeface="Times New Roman" panose="02020603050405020304" pitchFamily="18" charset="0"/>
                <a:ea typeface="华文楷体" pitchFamily="2" charset="-122"/>
                <a:cs typeface="Times New Roman" panose="02020603050405020304" pitchFamily="18" charset="0"/>
              </a:rPr>
              <a:t>top[</a:t>
            </a:r>
            <a:r>
              <a:rPr lang="en-US" altLang="zh-CN" sz="2800" dirty="0" err="1">
                <a:latin typeface="Times New Roman" panose="02020603050405020304" pitchFamily="18" charset="0"/>
                <a:ea typeface="华文楷体" pitchFamily="2" charset="-122"/>
                <a:cs typeface="Times New Roman" panose="02020603050405020304" pitchFamily="18" charset="0"/>
              </a:rPr>
              <a:t>i</a:t>
            </a:r>
            <a:r>
              <a:rPr lang="en-US" altLang="zh-CN" sz="2800" dirty="0">
                <a:latin typeface="Times New Roman" panose="02020603050405020304" pitchFamily="18" charset="0"/>
                <a:ea typeface="华文楷体" pitchFamily="2" charset="-122"/>
                <a:cs typeface="Times New Roman" panose="02020603050405020304" pitchFamily="18" charset="0"/>
              </a:rPr>
              <a:t>]=bottom[i+1]</a:t>
            </a:r>
            <a:r>
              <a:rPr lang="zh-CN" altLang="zh-CN" sz="2800" dirty="0">
                <a:latin typeface="Times New Roman" panose="02020603050405020304" pitchFamily="18" charset="0"/>
                <a:ea typeface="华文楷体" pitchFamily="2" charset="-122"/>
                <a:cs typeface="Times New Roman" panose="02020603050405020304" pitchFamily="18" charset="0"/>
              </a:rPr>
              <a:t>；</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r>
              <a:rPr lang="en-US" altLang="zh-CN" sz="2800" dirty="0">
                <a:latin typeface="Times New Roman" panose="02020603050405020304" pitchFamily="18" charset="0"/>
                <a:ea typeface="华文楷体" pitchFamily="2" charset="-122"/>
                <a:cs typeface="Times New Roman" panose="02020603050405020304" pitchFamily="18" charset="0"/>
              </a:rPr>
              <a:t>                                      </a:t>
            </a:r>
            <a:r>
              <a:rPr lang="zh-CN" altLang="zh-CN" sz="2800" dirty="0">
                <a:latin typeface="Times New Roman" panose="02020603050405020304" pitchFamily="18" charset="0"/>
                <a:ea typeface="华文楷体" pitchFamily="2" charset="-122"/>
                <a:cs typeface="Times New Roman" panose="02020603050405020304" pitchFamily="18" charset="0"/>
              </a:rPr>
              <a:t>当</a:t>
            </a:r>
            <a:r>
              <a:rPr lang="en-US" altLang="zh-CN" sz="2800" dirty="0" err="1">
                <a:latin typeface="Times New Roman" panose="02020603050405020304" pitchFamily="18" charset="0"/>
                <a:ea typeface="华文楷体" pitchFamily="2" charset="-122"/>
                <a:cs typeface="Times New Roman" panose="02020603050405020304" pitchFamily="18" charset="0"/>
              </a:rPr>
              <a:t>i</a:t>
            </a:r>
            <a:r>
              <a:rPr lang="en-US" altLang="zh-CN" sz="2800" dirty="0">
                <a:latin typeface="Times New Roman" panose="02020603050405020304" pitchFamily="18" charset="0"/>
                <a:ea typeface="华文楷体" pitchFamily="2" charset="-122"/>
                <a:cs typeface="Times New Roman" panose="02020603050405020304" pitchFamily="18" charset="0"/>
              </a:rPr>
              <a:t>=m-1</a:t>
            </a:r>
            <a:r>
              <a:rPr lang="zh-CN" altLang="zh-CN" sz="2800" dirty="0">
                <a:latin typeface="Times New Roman" panose="02020603050405020304" pitchFamily="18" charset="0"/>
                <a:ea typeface="华文楷体" pitchFamily="2" charset="-122"/>
                <a:cs typeface="Times New Roman" panose="02020603050405020304" pitchFamily="18" charset="0"/>
              </a:rPr>
              <a:t>时，</a:t>
            </a:r>
            <a:r>
              <a:rPr lang="en-US" altLang="zh-CN" sz="2800" dirty="0">
                <a:latin typeface="Times New Roman" panose="02020603050405020304" pitchFamily="18" charset="0"/>
                <a:ea typeface="华文楷体" pitchFamily="2" charset="-122"/>
                <a:cs typeface="Times New Roman" panose="02020603050405020304" pitchFamily="18" charset="0"/>
              </a:rPr>
              <a:t>top[</a:t>
            </a:r>
            <a:r>
              <a:rPr lang="en-US" altLang="zh-CN" sz="2800" dirty="0" err="1">
                <a:latin typeface="Times New Roman" panose="02020603050405020304" pitchFamily="18" charset="0"/>
                <a:ea typeface="华文楷体" pitchFamily="2" charset="-122"/>
                <a:cs typeface="Times New Roman" panose="02020603050405020304" pitchFamily="18" charset="0"/>
              </a:rPr>
              <a:t>i</a:t>
            </a:r>
            <a:r>
              <a:rPr lang="en-US" altLang="zh-CN" sz="2800" dirty="0">
                <a:latin typeface="Times New Roman" panose="02020603050405020304" pitchFamily="18" charset="0"/>
                <a:ea typeface="华文楷体" pitchFamily="2" charset="-122"/>
                <a:cs typeface="Times New Roman" panose="02020603050405020304" pitchFamily="18" charset="0"/>
              </a:rPr>
              <a:t>]=</a:t>
            </a:r>
            <a:r>
              <a:rPr lang="en-US" altLang="zh-CN" sz="2800" dirty="0" err="1">
                <a:latin typeface="Times New Roman" panose="02020603050405020304" pitchFamily="18" charset="0"/>
                <a:ea typeface="华文楷体" pitchFamily="2" charset="-122"/>
                <a:cs typeface="Times New Roman" panose="02020603050405020304" pitchFamily="18" charset="0"/>
              </a:rPr>
              <a:t>maxSize</a:t>
            </a:r>
            <a:r>
              <a:rPr lang="zh-CN" altLang="zh-CN" sz="2800" dirty="0">
                <a:latin typeface="Times New Roman" panose="02020603050405020304" pitchFamily="18" charset="0"/>
                <a:ea typeface="华文楷体" pitchFamily="2" charset="-122"/>
                <a:cs typeface="Times New Roman" panose="02020603050405020304" pitchFamily="18" charset="0"/>
              </a:rPr>
              <a:t>。</a:t>
            </a:r>
            <a:endParaRPr lang="zh-CN" altLang="en-US" sz="2800" dirty="0">
              <a:latin typeface="Times New Roman" panose="02020603050405020304" pitchFamily="18" charset="0"/>
              <a:ea typeface="华文楷体" pitchFamily="2" charset="-122"/>
              <a:cs typeface="Times New Roman" panose="02020603050405020304" pitchFamily="18" charset="0"/>
            </a:endParaRPr>
          </a:p>
        </p:txBody>
      </p:sp>
      <p:sp>
        <p:nvSpPr>
          <p:cNvPr id="2" name="文本框 1"/>
          <p:cNvSpPr txBox="1"/>
          <p:nvPr/>
        </p:nvSpPr>
        <p:spPr>
          <a:xfrm>
            <a:off x="744583" y="1881052"/>
            <a:ext cx="1632857" cy="1815882"/>
          </a:xfrm>
          <a:prstGeom prst="rect">
            <a:avLst/>
          </a:prstGeom>
          <a:noFill/>
        </p:spPr>
        <p:txBody>
          <a:bodyPr wrap="square" rtlCol="0">
            <a:spAutoFit/>
          </a:bodyPr>
          <a:lstStyle/>
          <a:p>
            <a:r>
              <a:rPr lang="en-US" altLang="zh-CN" sz="2800" dirty="0">
                <a:latin typeface="华文楷体" panose="02010600040101010101" pitchFamily="2" charset="-122"/>
                <a:ea typeface="华文楷体" panose="02010600040101010101" pitchFamily="2" charset="-122"/>
              </a:rPr>
              <a:t>top</a:t>
            </a:r>
            <a:r>
              <a:rPr lang="zh-CN" altLang="en-US" sz="2800" dirty="0">
                <a:latin typeface="华文楷体" panose="02010600040101010101" pitchFamily="2" charset="-122"/>
                <a:ea typeface="华文楷体" panose="02010600040101010101" pitchFamily="2" charset="-122"/>
              </a:rPr>
              <a:t>指向实际栈顶的后一个位置</a:t>
            </a:r>
          </a:p>
        </p:txBody>
      </p:sp>
    </p:spTree>
    <p:extLst>
      <p:ext uri="{BB962C8B-B14F-4D97-AF65-F5344CB8AC3E}">
        <p14:creationId xmlns:p14="http://schemas.microsoft.com/office/powerpoint/2010/main" val="19985911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59917" y="793902"/>
            <a:ext cx="11162884" cy="574183"/>
          </a:xfrm>
        </p:spPr>
        <p:txBody>
          <a:bodyPr/>
          <a:lstStyle/>
          <a:p>
            <a:r>
              <a:rPr lang="zh-CN" altLang="en-US" dirty="0">
                <a:latin typeface="华文楷体" panose="02010600040101010101" pitchFamily="2" charset="-122"/>
                <a:ea typeface="华文楷体" panose="02010600040101010101" pitchFamily="2" charset="-122"/>
              </a:rPr>
              <a:t>双共享栈</a:t>
            </a:r>
          </a:p>
        </p:txBody>
      </p:sp>
      <p:sp>
        <p:nvSpPr>
          <p:cNvPr id="5" name="矩形 4"/>
          <p:cNvSpPr/>
          <p:nvPr/>
        </p:nvSpPr>
        <p:spPr>
          <a:xfrm>
            <a:off x="459917" y="1443861"/>
            <a:ext cx="10115318" cy="954107"/>
          </a:xfrm>
          <a:prstGeom prst="rect">
            <a:avLst/>
          </a:prstGeom>
        </p:spPr>
        <p:txBody>
          <a:bodyPr wrap="square">
            <a:spAutoFit/>
          </a:bodyPr>
          <a:lstStyle/>
          <a:p>
            <a:r>
              <a:rPr lang="zh-CN" altLang="zh-CN" sz="2800" dirty="0">
                <a:latin typeface="华文楷体" pitchFamily="2" charset="-122"/>
                <a:ea typeface="华文楷体" pitchFamily="2" charset="-122"/>
              </a:rPr>
              <a:t>可以将两个栈相向设置，即两个栈的栈底分别设置在连续空间的两个端点。</a:t>
            </a:r>
            <a:endParaRPr lang="zh-CN" altLang="en-US" sz="2800" dirty="0">
              <a:latin typeface="华文楷体" pitchFamily="2" charset="-122"/>
              <a:ea typeface="华文楷体" pitchFamily="2" charset="-122"/>
            </a:endParaRPr>
          </a:p>
        </p:txBody>
      </p:sp>
      <p:pic>
        <p:nvPicPr>
          <p:cNvPr id="6" name="图片 5"/>
          <p:cNvPicPr/>
          <p:nvPr/>
        </p:nvPicPr>
        <p:blipFill>
          <a:blip r:embed="rId2">
            <a:extLst>
              <a:ext uri="{28A0092B-C50C-407E-A947-70E740481C1C}">
                <a14:useLocalDpi xmlns:a14="http://schemas.microsoft.com/office/drawing/2010/main" val="0"/>
              </a:ext>
            </a:extLst>
          </a:blip>
          <a:srcRect/>
          <a:stretch>
            <a:fillRect/>
          </a:stretch>
        </p:blipFill>
        <p:spPr bwMode="auto">
          <a:xfrm>
            <a:off x="2567014" y="2273772"/>
            <a:ext cx="7491387" cy="2855637"/>
          </a:xfrm>
          <a:prstGeom prst="rect">
            <a:avLst/>
          </a:prstGeom>
          <a:noFill/>
          <a:ln>
            <a:noFill/>
          </a:ln>
        </p:spPr>
      </p:pic>
      <p:sp>
        <p:nvSpPr>
          <p:cNvPr id="2" name="文本框 1"/>
          <p:cNvSpPr txBox="1"/>
          <p:nvPr/>
        </p:nvSpPr>
        <p:spPr>
          <a:xfrm>
            <a:off x="587767" y="5159981"/>
            <a:ext cx="10907184" cy="1384995"/>
          </a:xfrm>
          <a:prstGeom prst="rect">
            <a:avLst/>
          </a:prstGeom>
          <a:noFill/>
        </p:spPr>
        <p:txBody>
          <a:bodyPr wrap="square" rtlCol="0">
            <a:spAutoFit/>
          </a:bodyPr>
          <a:lstStyle/>
          <a:p>
            <a:r>
              <a:rPr lang="zh-CN" altLang="zh-CN" sz="2800" dirty="0">
                <a:latin typeface="Times New Roman" panose="02020603050405020304" pitchFamily="18" charset="0"/>
                <a:ea typeface="华文楷体" pitchFamily="2" charset="-122"/>
                <a:cs typeface="Times New Roman" panose="02020603050405020304" pitchFamily="18" charset="0"/>
              </a:rPr>
              <a:t>栈空的条件</a:t>
            </a:r>
            <a:r>
              <a:rPr lang="en-US" altLang="zh-CN" sz="2800" dirty="0">
                <a:latin typeface="Times New Roman" panose="02020603050405020304" pitchFamily="18" charset="0"/>
                <a:ea typeface="华文楷体" pitchFamily="2" charset="-122"/>
                <a:cs typeface="Times New Roman" panose="02020603050405020304" pitchFamily="18" charset="0"/>
              </a:rPr>
              <a:t>top[</a:t>
            </a:r>
            <a:r>
              <a:rPr lang="en-US" altLang="zh-CN" sz="2800" dirty="0" err="1">
                <a:latin typeface="Times New Roman" panose="02020603050405020304" pitchFamily="18" charset="0"/>
                <a:ea typeface="华文楷体" pitchFamily="2" charset="-122"/>
                <a:cs typeface="Times New Roman" panose="02020603050405020304" pitchFamily="18" charset="0"/>
              </a:rPr>
              <a:t>i</a:t>
            </a:r>
            <a:r>
              <a:rPr lang="en-US" altLang="zh-CN" sz="2800" dirty="0">
                <a:latin typeface="Times New Roman" panose="02020603050405020304" pitchFamily="18" charset="0"/>
                <a:ea typeface="华文楷体" pitchFamily="2" charset="-122"/>
                <a:cs typeface="Times New Roman" panose="02020603050405020304" pitchFamily="18" charset="0"/>
              </a:rPr>
              <a:t>]=bottom[</a:t>
            </a:r>
            <a:r>
              <a:rPr lang="en-US" altLang="zh-CN" sz="2800" dirty="0" err="1">
                <a:latin typeface="Times New Roman" panose="02020603050405020304" pitchFamily="18" charset="0"/>
                <a:ea typeface="华文楷体" pitchFamily="2" charset="-122"/>
                <a:cs typeface="Times New Roman" panose="02020603050405020304" pitchFamily="18" charset="0"/>
              </a:rPr>
              <a:t>i</a:t>
            </a:r>
            <a:r>
              <a:rPr lang="en-US" altLang="zh-CN" sz="2800" dirty="0">
                <a:latin typeface="Times New Roman" panose="02020603050405020304" pitchFamily="18" charset="0"/>
                <a:ea typeface="华文楷体" pitchFamily="2" charset="-122"/>
                <a:cs typeface="Times New Roman" panose="02020603050405020304" pitchFamily="18" charset="0"/>
              </a:rPr>
              <a:t>], </a:t>
            </a:r>
            <a:r>
              <a:rPr lang="en-US" altLang="zh-CN" sz="2800" dirty="0" err="1">
                <a:latin typeface="Times New Roman" panose="02020603050405020304" pitchFamily="18" charset="0"/>
                <a:ea typeface="华文楷体" pitchFamily="2" charset="-122"/>
                <a:cs typeface="Times New Roman" panose="02020603050405020304" pitchFamily="18" charset="0"/>
              </a:rPr>
              <a:t>i</a:t>
            </a:r>
            <a:r>
              <a:rPr lang="en-US" altLang="zh-CN" sz="2800" dirty="0">
                <a:latin typeface="Times New Roman" panose="02020603050405020304" pitchFamily="18" charset="0"/>
                <a:ea typeface="华文楷体" pitchFamily="2" charset="-122"/>
                <a:cs typeface="Times New Roman" panose="02020603050405020304" pitchFamily="18" charset="0"/>
              </a:rPr>
              <a:t>=0</a:t>
            </a:r>
            <a:r>
              <a:rPr lang="zh-CN" altLang="zh-CN" sz="2800" dirty="0">
                <a:latin typeface="Times New Roman" panose="02020603050405020304" pitchFamily="18" charset="0"/>
                <a:ea typeface="华文楷体" pitchFamily="2" charset="-122"/>
                <a:cs typeface="Times New Roman" panose="02020603050405020304" pitchFamily="18" charset="0"/>
              </a:rPr>
              <a:t>或</a:t>
            </a:r>
            <a:r>
              <a:rPr lang="en-US" altLang="zh-CN" sz="2800" dirty="0">
                <a:latin typeface="Times New Roman" panose="02020603050405020304" pitchFamily="18" charset="0"/>
                <a:ea typeface="华文楷体" pitchFamily="2" charset="-122"/>
                <a:cs typeface="Times New Roman" panose="02020603050405020304" pitchFamily="18" charset="0"/>
              </a:rPr>
              <a:t>1</a:t>
            </a:r>
            <a:r>
              <a:rPr lang="zh-CN" altLang="zh-CN" sz="2800" dirty="0">
                <a:latin typeface="Times New Roman" panose="02020603050405020304" pitchFamily="18" charset="0"/>
                <a:ea typeface="华文楷体" pitchFamily="2" charset="-122"/>
                <a:cs typeface="Times New Roman" panose="02020603050405020304" pitchFamily="18" charset="0"/>
              </a:rPr>
              <a:t>，两个栈不一定同时为空；</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r>
              <a:rPr lang="zh-CN" altLang="zh-CN" sz="2800" dirty="0">
                <a:latin typeface="Times New Roman" panose="02020603050405020304" pitchFamily="18" charset="0"/>
                <a:ea typeface="华文楷体" pitchFamily="2" charset="-122"/>
                <a:cs typeface="Times New Roman" panose="02020603050405020304" pitchFamily="18" charset="0"/>
              </a:rPr>
              <a:t>栈满的条件</a:t>
            </a:r>
            <a:r>
              <a:rPr lang="en-US" altLang="zh-CN" sz="2800" dirty="0">
                <a:latin typeface="Times New Roman" panose="02020603050405020304" pitchFamily="18" charset="0"/>
                <a:ea typeface="华文楷体" pitchFamily="2" charset="-122"/>
                <a:cs typeface="Times New Roman" panose="02020603050405020304" pitchFamily="18" charset="0"/>
              </a:rPr>
              <a:t>top[0]=top[1]</a:t>
            </a:r>
            <a:r>
              <a:rPr lang="zh-CN" altLang="zh-CN" sz="2800" dirty="0">
                <a:latin typeface="Times New Roman" panose="02020603050405020304" pitchFamily="18" charset="0"/>
                <a:ea typeface="华文楷体" pitchFamily="2" charset="-122"/>
                <a:cs typeface="Times New Roman" panose="02020603050405020304" pitchFamily="18" charset="0"/>
              </a:rPr>
              <a:t>，即两个栈当中只剩下一个空位置的时候栈满，两个栈必定同时栈满。</a:t>
            </a:r>
            <a:endParaRPr lang="zh-CN" altLang="en-US" sz="2800" dirty="0">
              <a:latin typeface="Times New Roman" panose="02020603050405020304" pitchFamily="18" charset="0"/>
              <a:ea typeface="华文楷体" pitchFamily="2" charset="-122"/>
              <a:cs typeface="Times New Roman" panose="02020603050405020304" pitchFamily="18" charset="0"/>
            </a:endParaRPr>
          </a:p>
        </p:txBody>
      </p:sp>
      <p:sp>
        <p:nvSpPr>
          <p:cNvPr id="4" name="椭圆 3"/>
          <p:cNvSpPr/>
          <p:nvPr/>
        </p:nvSpPr>
        <p:spPr>
          <a:xfrm>
            <a:off x="11622801" y="6544976"/>
            <a:ext cx="238273" cy="16933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230520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530363" y="2092436"/>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顺序栈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链式栈</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栈的应用</a:t>
            </a:r>
            <a:endParaRPr lang="en-US" altLang="zh-CN" sz="2800" dirty="0">
              <a:latin typeface="华文楷体" pitchFamily="2" charset="-122"/>
              <a:ea typeface="华文楷体" pitchFamily="2" charset="-122"/>
            </a:endParaRPr>
          </a:p>
        </p:txBody>
      </p:sp>
      <p:sp>
        <p:nvSpPr>
          <p:cNvPr id="2" name="文本框 1"/>
          <p:cNvSpPr txBox="1"/>
          <p:nvPr/>
        </p:nvSpPr>
        <p:spPr>
          <a:xfrm>
            <a:off x="6915151" y="2176532"/>
            <a:ext cx="4071937" cy="3082895"/>
          </a:xfrm>
          <a:prstGeom prst="rect">
            <a:avLst/>
          </a:prstGeom>
          <a:noFill/>
        </p:spPr>
        <p:txBody>
          <a:bodyPr wrap="square" rtlCol="0">
            <a:spAutoFit/>
          </a:bodyPr>
          <a:lstStyle/>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顺序循环队列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链式队列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优先队列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队列的应用</a:t>
            </a:r>
          </a:p>
        </p:txBody>
      </p:sp>
    </p:spTree>
    <p:extLst>
      <p:ext uri="{BB962C8B-B14F-4D97-AF65-F5344CB8AC3E}">
        <p14:creationId xmlns:p14="http://schemas.microsoft.com/office/powerpoint/2010/main" val="3860949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1283729"/>
          </a:xfrm>
        </p:spPr>
        <p:txBody>
          <a:bodyPr>
            <a:norm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用不连续的空间和附加指针来存储元素及元素间的关系。</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栈顶指针</a:t>
            </a:r>
            <a:r>
              <a:rPr lang="en-US" altLang="zh-CN" sz="2800" b="0" dirty="0">
                <a:latin typeface="华文楷体" pitchFamily="2" charset="-122"/>
                <a:ea typeface="华文楷体" pitchFamily="2" charset="-122"/>
              </a:rPr>
              <a:t>top</a:t>
            </a:r>
            <a:r>
              <a:rPr lang="zh-CN" altLang="zh-CN" sz="2800" b="0" dirty="0">
                <a:latin typeface="华文楷体" pitchFamily="2" charset="-122"/>
                <a:ea typeface="华文楷体" pitchFamily="2" charset="-122"/>
              </a:rPr>
              <a:t>指向处于栈顶的结点，即单链表中的首结点。</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en-US" altLang="zh-CN" dirty="0"/>
              <a:t> </a:t>
            </a:r>
            <a:r>
              <a:rPr lang="zh-CN" altLang="en-US" dirty="0">
                <a:latin typeface="华文楷体" panose="02010600040101010101" pitchFamily="2" charset="-122"/>
                <a:ea typeface="华文楷体" panose="02010600040101010101" pitchFamily="2" charset="-122"/>
              </a:rPr>
              <a:t>链式栈：</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3112174" y="3180521"/>
            <a:ext cx="6031825" cy="3319670"/>
          </a:xfrm>
          <a:prstGeom prst="rect">
            <a:avLst/>
          </a:prstGeom>
          <a:noFill/>
          <a:ln>
            <a:noFill/>
          </a:ln>
        </p:spPr>
      </p:pic>
    </p:spTree>
    <p:extLst>
      <p:ext uri="{BB962C8B-B14F-4D97-AF65-F5344CB8AC3E}">
        <p14:creationId xmlns:p14="http://schemas.microsoft.com/office/powerpoint/2010/main" val="3974495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66455"/>
            <a:ext cx="11903716" cy="4595805"/>
          </a:xfrm>
        </p:spPr>
        <p:txBody>
          <a:bodyPr>
            <a:normAutofit fontScale="92500" lnSpcReduction="20000"/>
          </a:bodyPr>
          <a:lstStyle/>
          <a:p>
            <a:pPr marL="0" lvl="0" indent="0">
              <a:buNone/>
            </a:pPr>
            <a:r>
              <a:rPr lang="zh-CN" altLang="zh-CN" sz="3000" b="0" dirty="0">
                <a:ea typeface="华文楷体" pitchFamily="2" charset="-122"/>
                <a:cs typeface="Times New Roman" panose="02020603050405020304" pitchFamily="18" charset="0"/>
              </a:rPr>
              <a:t>进栈操作</a:t>
            </a:r>
            <a:r>
              <a:rPr lang="en-US" altLang="zh-CN" sz="3000" b="0" dirty="0">
                <a:ea typeface="华文楷体" pitchFamily="2" charset="-122"/>
                <a:cs typeface="Times New Roman" panose="02020603050405020304" pitchFamily="18" charset="0"/>
              </a:rPr>
              <a:t>push</a:t>
            </a:r>
            <a:r>
              <a:rPr lang="zh-CN" altLang="zh-CN" sz="3000" b="0" dirty="0">
                <a:ea typeface="华文楷体" pitchFamily="2" charset="-122"/>
                <a:cs typeface="Times New Roman" panose="02020603050405020304" pitchFamily="18" charset="0"/>
              </a:rPr>
              <a:t>的实现，按照以下操作顺序：</a:t>
            </a:r>
          </a:p>
          <a:p>
            <a:pPr marL="0" indent="0">
              <a:buNone/>
            </a:pPr>
            <a:r>
              <a:rPr lang="en-US" altLang="zh-CN" sz="3000" b="0" dirty="0">
                <a:ea typeface="华文楷体" pitchFamily="2" charset="-122"/>
                <a:cs typeface="Times New Roman" panose="02020603050405020304" pitchFamily="18" charset="0"/>
              </a:rPr>
              <a:t>1</a:t>
            </a:r>
            <a:r>
              <a:rPr lang="zh-CN" altLang="zh-CN" sz="3000" b="0" dirty="0">
                <a:ea typeface="华文楷体" pitchFamily="2" charset="-122"/>
                <a:cs typeface="Times New Roman" panose="02020603050405020304" pitchFamily="18" charset="0"/>
              </a:rPr>
              <a:t>）申请新的结点空间，</a:t>
            </a:r>
            <a:r>
              <a:rPr lang="en-US" altLang="zh-CN" sz="3000" b="0" dirty="0">
                <a:ea typeface="华文楷体" pitchFamily="2" charset="-122"/>
                <a:cs typeface="Times New Roman" panose="02020603050405020304" pitchFamily="18" charset="0"/>
              </a:rPr>
              <a:t>data</a:t>
            </a:r>
            <a:r>
              <a:rPr lang="zh-CN" altLang="zh-CN" sz="3000" b="0" dirty="0">
                <a:ea typeface="华文楷体" pitchFamily="2" charset="-122"/>
                <a:cs typeface="Times New Roman" panose="02020603050405020304" pitchFamily="18" charset="0"/>
              </a:rPr>
              <a:t>字段为进栈元素值，</a:t>
            </a:r>
            <a:r>
              <a:rPr lang="en-US" altLang="zh-CN" sz="3000" b="0" dirty="0">
                <a:ea typeface="华文楷体" pitchFamily="2" charset="-122"/>
                <a:cs typeface="Times New Roman" panose="02020603050405020304" pitchFamily="18" charset="0"/>
              </a:rPr>
              <a:t>next</a:t>
            </a:r>
            <a:r>
              <a:rPr lang="zh-CN" altLang="zh-CN" sz="3000" b="0" dirty="0">
                <a:ea typeface="华文楷体" pitchFamily="2" charset="-122"/>
                <a:cs typeface="Times New Roman" panose="02020603050405020304" pitchFamily="18" charset="0"/>
              </a:rPr>
              <a:t>字段指向首结点。 </a:t>
            </a:r>
          </a:p>
          <a:p>
            <a:pPr marL="0" indent="0">
              <a:buNone/>
            </a:pPr>
            <a:r>
              <a:rPr lang="en-US" altLang="zh-CN" sz="3000" b="0" dirty="0">
                <a:ea typeface="华文楷体" pitchFamily="2" charset="-122"/>
                <a:cs typeface="Times New Roman" panose="02020603050405020304" pitchFamily="18" charset="0"/>
              </a:rPr>
              <a:t>2</a:t>
            </a:r>
            <a:r>
              <a:rPr lang="zh-CN" altLang="zh-CN" sz="3000" b="0" dirty="0">
                <a:ea typeface="华文楷体" pitchFamily="2" charset="-122"/>
                <a:cs typeface="Times New Roman" panose="02020603050405020304" pitchFamily="18" charset="0"/>
              </a:rPr>
              <a:t>）栈顶指向新结点。</a:t>
            </a:r>
            <a:endParaRPr lang="en-US" altLang="zh-CN" sz="3000" b="0" dirty="0">
              <a:ea typeface="华文楷体" pitchFamily="2" charset="-122"/>
              <a:cs typeface="Times New Roman" panose="02020603050405020304" pitchFamily="18" charset="0"/>
            </a:endParaRPr>
          </a:p>
          <a:p>
            <a:pPr marL="0" indent="0">
              <a:buNone/>
            </a:pPr>
            <a:endParaRPr lang="zh-CN" altLang="zh-CN" sz="3000" b="0" dirty="0">
              <a:ea typeface="华文楷体" pitchFamily="2" charset="-122"/>
              <a:cs typeface="Times New Roman" panose="02020603050405020304" pitchFamily="18" charset="0"/>
            </a:endParaRPr>
          </a:p>
          <a:p>
            <a:pPr marL="0" lvl="0" indent="0">
              <a:buNone/>
            </a:pPr>
            <a:r>
              <a:rPr lang="zh-CN" altLang="zh-CN" sz="3000" b="0" dirty="0">
                <a:ea typeface="华文楷体" pitchFamily="2" charset="-122"/>
                <a:cs typeface="Times New Roman" panose="02020603050405020304" pitchFamily="18" charset="0"/>
              </a:rPr>
              <a:t>出栈操作</a:t>
            </a:r>
            <a:r>
              <a:rPr lang="en-US" altLang="zh-CN" sz="3000" b="0" dirty="0">
                <a:ea typeface="华文楷体" pitchFamily="2" charset="-122"/>
                <a:cs typeface="Times New Roman" panose="02020603050405020304" pitchFamily="18" charset="0"/>
              </a:rPr>
              <a:t>pop</a:t>
            </a:r>
            <a:r>
              <a:rPr lang="zh-CN" altLang="zh-CN" sz="3000" b="0" dirty="0">
                <a:ea typeface="华文楷体" pitchFamily="2" charset="-122"/>
                <a:cs typeface="Times New Roman" panose="02020603050405020304" pitchFamily="18" charset="0"/>
              </a:rPr>
              <a:t>的实现，按照以下操作顺序：</a:t>
            </a:r>
          </a:p>
          <a:p>
            <a:pPr marL="0" indent="0">
              <a:buNone/>
            </a:pPr>
            <a:r>
              <a:rPr lang="en-US" altLang="zh-CN" sz="3000" b="0" dirty="0">
                <a:ea typeface="华文楷体" pitchFamily="2" charset="-122"/>
                <a:cs typeface="Times New Roman" panose="02020603050405020304" pitchFamily="18" charset="0"/>
              </a:rPr>
              <a:t>1)   </a:t>
            </a:r>
            <a:r>
              <a:rPr lang="zh-CN" altLang="zh-CN" sz="3000" b="0" dirty="0">
                <a:ea typeface="华文楷体" pitchFamily="2" charset="-122"/>
                <a:cs typeface="Times New Roman" panose="02020603050405020304" pitchFamily="18" charset="0"/>
              </a:rPr>
              <a:t>记住栈顶结点的地址。</a:t>
            </a:r>
          </a:p>
          <a:p>
            <a:pPr marL="0" indent="0">
              <a:buNone/>
            </a:pPr>
            <a:r>
              <a:rPr lang="en-US" altLang="zh-CN" sz="3000" b="0" dirty="0">
                <a:ea typeface="华文楷体" pitchFamily="2" charset="-122"/>
                <a:cs typeface="Times New Roman" panose="02020603050405020304" pitchFamily="18" charset="0"/>
              </a:rPr>
              <a:t>2</a:t>
            </a:r>
            <a:r>
              <a:rPr lang="zh-CN" altLang="zh-CN" sz="3000" b="0" dirty="0">
                <a:ea typeface="华文楷体" pitchFamily="2" charset="-122"/>
                <a:cs typeface="Times New Roman" panose="02020603050405020304" pitchFamily="18" charset="0"/>
              </a:rPr>
              <a:t>）将原栈顶的直接后继设为新的栈顶。 </a:t>
            </a:r>
          </a:p>
          <a:p>
            <a:pPr marL="0" indent="0">
              <a:buNone/>
            </a:pPr>
            <a:r>
              <a:rPr lang="en-US" altLang="zh-CN" sz="3000" b="0" dirty="0">
                <a:ea typeface="华文楷体" pitchFamily="2" charset="-122"/>
                <a:cs typeface="Times New Roman" panose="02020603050405020304" pitchFamily="18" charset="0"/>
              </a:rPr>
              <a:t>3</a:t>
            </a:r>
            <a:r>
              <a:rPr lang="zh-CN" altLang="zh-CN" sz="3000" b="0" dirty="0">
                <a:ea typeface="华文楷体" pitchFamily="2" charset="-122"/>
                <a:cs typeface="Times New Roman" panose="02020603050405020304" pitchFamily="18" charset="0"/>
              </a:rPr>
              <a:t>）释放原来栈顶结点空间。</a:t>
            </a:r>
          </a:p>
          <a:p>
            <a:pPr marL="0" indent="0">
              <a:lnSpc>
                <a:spcPct val="115000"/>
              </a:lnSpc>
              <a:buNone/>
              <a:defRPr/>
            </a:pPr>
            <a:endParaRPr lang="en-US" altLang="zh-CN" sz="2800" b="0" dirty="0">
              <a:latin typeface="华文楷体" pitchFamily="2" charset="-122"/>
              <a:ea typeface="华文楷体" pitchFamily="2" charset="-122"/>
            </a:endParaRPr>
          </a:p>
          <a:p>
            <a:pPr marL="0" indent="0">
              <a:lnSpc>
                <a:spcPct val="115000"/>
              </a:lnSpc>
              <a:buNone/>
              <a:defRPr/>
            </a:pPr>
            <a:endParaRPr lang="en-US" altLang="zh-CN" sz="2800" dirty="0">
              <a:latin typeface="华文楷体" pitchFamily="2" charset="-122"/>
              <a:ea typeface="华文楷体" pitchFamily="2" charset="-122"/>
            </a:endParaRPr>
          </a:p>
          <a:p>
            <a:pPr marL="1789113"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链式栈基本操作分析：</a:t>
            </a:r>
          </a:p>
        </p:txBody>
      </p:sp>
    </p:spTree>
    <p:extLst>
      <p:ext uri="{BB962C8B-B14F-4D97-AF65-F5344CB8AC3E}">
        <p14:creationId xmlns:p14="http://schemas.microsoft.com/office/powerpoint/2010/main" val="2117950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586458" y="754146"/>
            <a:ext cx="7305212"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链式栈类的声明</a:t>
            </a: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3"/>
          <p:cNvSpPr>
            <a:spLocks noChangeArrowheads="1"/>
          </p:cNvSpPr>
          <p:nvPr/>
        </p:nvSpPr>
        <p:spPr bwMode="auto">
          <a:xfrm>
            <a:off x="288284" y="1328329"/>
            <a:ext cx="9462052"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84163"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class </a:t>
            </a:r>
            <a:r>
              <a:rPr kumimoji="0" lang="en-US" altLang="zh-CN" sz="24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outOfBound</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9875"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template &lt;class </a:t>
            </a:r>
            <a:r>
              <a:rPr kumimoji="0" lang="en-US" altLang="zh-CN" sz="24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a:t>
            </a:r>
            <a:endParaRPr kumimoji="0" lang="en-US" altLang="zh-CN"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9875"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class </a:t>
            </a:r>
            <a:r>
              <a:rPr kumimoji="0" lang="en-US" altLang="zh-CN" sz="24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linkStack</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9875"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template &lt;class </a:t>
            </a:r>
            <a:r>
              <a:rPr kumimoji="0" lang="en-US" altLang="zh-CN" sz="24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a:t>
            </a:r>
            <a:endParaRPr kumimoji="0" lang="en-US" altLang="zh-CN"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9875"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class Node</a:t>
            </a:r>
            <a:endParaRPr kumimoji="0" lang="en-US" altLang="zh-CN"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9875"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friend class </a:t>
            </a:r>
            <a:r>
              <a:rPr kumimoji="0" lang="en-US" altLang="zh-CN" sz="24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linkStack</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0" lang="en-US" altLang="zh-CN" sz="24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a:t>
            </a:r>
            <a:endParaRPr kumimoji="0" lang="en-US" altLang="zh-CN"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9875"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private:</a:t>
            </a:r>
            <a:endParaRPr kumimoji="0" lang="en-US" altLang="zh-CN"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9875"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data;</a:t>
            </a:r>
            <a:endParaRPr kumimoji="0" lang="en-US" altLang="zh-CN"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9875"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Node *next;</a:t>
            </a:r>
            <a:endParaRPr kumimoji="0" lang="en-US" altLang="zh-CN"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9875"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public:</a:t>
            </a:r>
            <a:endParaRPr kumimoji="0" lang="en-US" altLang="zh-CN"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9875"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Node(){next = NULL;}</a:t>
            </a:r>
            <a:endParaRPr kumimoji="0" lang="en-US" altLang="zh-CN"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9875"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Node(</a:t>
            </a:r>
            <a:r>
              <a:rPr kumimoji="0" lang="en-US" altLang="zh-CN" sz="24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const</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&amp;x, Node *p=NULL)</a:t>
            </a:r>
            <a:endParaRPr kumimoji="0" lang="en-US" altLang="zh-CN"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9875"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data = x; next = p; }</a:t>
            </a:r>
            <a:endParaRPr kumimoji="0" lang="en-US" altLang="zh-CN"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9875"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4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63983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68406" y="754146"/>
            <a:ext cx="7305212"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链式栈类的声明</a:t>
            </a: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3"/>
          <p:cNvSpPr>
            <a:spLocks noChangeArrowheads="1"/>
          </p:cNvSpPr>
          <p:nvPr/>
        </p:nvSpPr>
        <p:spPr bwMode="auto">
          <a:xfrm>
            <a:off x="0" y="1328329"/>
            <a:ext cx="12294655"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linkStack</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private:</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*Top;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public:</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linkStack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Top = NULL; };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初始化栈，使其为空栈</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bool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isEmpty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return (Top==NULL); };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栈为空返回</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true,</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否则返回</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false</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bool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isFull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return false; };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栈满</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true</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，否则</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false</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。结点空间不连续，故总能满足</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top();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void push(</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&amp;e);</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void pop();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linkStack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813465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68406" y="754146"/>
            <a:ext cx="7305212"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链式栈基本操作的实现</a:t>
            </a: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3"/>
          <p:cNvSpPr>
            <a:spLocks noChangeArrowheads="1"/>
          </p:cNvSpPr>
          <p:nvPr/>
        </p:nvSpPr>
        <p:spPr bwMode="auto">
          <a:xfrm>
            <a:off x="0" y="1625275"/>
            <a:ext cx="9919252"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linkStack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&gt;::top()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(!Top) throw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outOfBound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栈空</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return Top-&gt;data;</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linkStack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&gt;::push(</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&amp;e)</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Top = new Node&lt;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&gt;(e, Top);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8291568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68406" y="754146"/>
            <a:ext cx="7305212"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链式栈基本操作的实现</a:t>
            </a: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3"/>
          <p:cNvSpPr>
            <a:spLocks noChangeArrowheads="1"/>
          </p:cNvSpPr>
          <p:nvPr/>
        </p:nvSpPr>
        <p:spPr bwMode="auto">
          <a:xfrm>
            <a:off x="268406" y="1542247"/>
            <a:ext cx="9919252"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linkStack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&gt;::pop()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(!Top) throw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outOfBound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栈空</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Top;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用</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tmp</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记住原栈顶结点空间，用于弹栈后的空间释放</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Top = Top-&gt;next;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实际将栈顶结点弹出栈</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delete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释放原栈顶结点空间</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8613942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68406" y="754146"/>
            <a:ext cx="7305212"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链式栈基本操作的实现</a:t>
            </a: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3"/>
          <p:cNvSpPr>
            <a:spLocks noChangeArrowheads="1"/>
          </p:cNvSpPr>
          <p:nvPr/>
        </p:nvSpPr>
        <p:spPr bwMode="auto">
          <a:xfrm>
            <a:off x="0" y="1625275"/>
            <a:ext cx="9919252"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dirty="0">
                <a:latin typeface="Times New Roman" panose="02020603050405020304" pitchFamily="18" charset="0"/>
                <a:cs typeface="Times New Roman" panose="02020603050405020304" pitchFamily="18" charset="0"/>
              </a:rPr>
              <a:t>template &lt;class </a:t>
            </a:r>
            <a:r>
              <a:rPr lang="en-US" altLang="zh-CN" sz="2400" dirty="0" err="1">
                <a:latin typeface="Times New Roman" panose="02020603050405020304" pitchFamily="18" charset="0"/>
                <a:cs typeface="Times New Roman" panose="02020603050405020304" pitchFamily="18" charset="0"/>
              </a:rPr>
              <a:t>elemType</a:t>
            </a:r>
            <a:r>
              <a:rPr lang="en-US" altLang="zh-CN" sz="2400" dirty="0">
                <a:latin typeface="Times New Roman" panose="02020603050405020304" pitchFamily="18" charset="0"/>
                <a:cs typeface="Times New Roman" panose="02020603050405020304" pitchFamily="18" charset="0"/>
              </a:rPr>
              <a:t>&gt;</a:t>
            </a:r>
            <a:endParaRPr lang="zh-CN" altLang="zh-CN" sz="2400" dirty="0">
              <a:latin typeface="Times New Roman" panose="02020603050405020304" pitchFamily="18" charset="0"/>
              <a:cs typeface="Times New Roman" panose="02020603050405020304" pitchFamily="18" charset="0"/>
            </a:endParaRPr>
          </a:p>
          <a:p>
            <a:r>
              <a:rPr lang="en-US" altLang="zh-CN" sz="2400" dirty="0" err="1">
                <a:latin typeface="Times New Roman" panose="02020603050405020304" pitchFamily="18" charset="0"/>
                <a:cs typeface="Times New Roman" panose="02020603050405020304" pitchFamily="18" charset="0"/>
              </a:rPr>
              <a:t>linkStack</a:t>
            </a:r>
            <a:r>
              <a:rPr lang="en-US" altLang="zh-CN" sz="2400" dirty="0">
                <a:latin typeface="Times New Roman" panose="02020603050405020304" pitchFamily="18" charset="0"/>
                <a:cs typeface="Times New Roman" panose="02020603050405020304" pitchFamily="18" charset="0"/>
              </a:rPr>
              <a:t>&lt;</a:t>
            </a:r>
            <a:r>
              <a:rPr lang="en-US" altLang="zh-CN" sz="2400" dirty="0" err="1">
                <a:latin typeface="Times New Roman" panose="02020603050405020304" pitchFamily="18" charset="0"/>
                <a:cs typeface="Times New Roman" panose="02020603050405020304" pitchFamily="18" charset="0"/>
              </a:rPr>
              <a:t>elemType</a:t>
            </a:r>
            <a:r>
              <a:rPr lang="en-US" altLang="zh-CN" sz="2400" dirty="0">
                <a:latin typeface="Times New Roman" panose="02020603050405020304" pitchFamily="18" charset="0"/>
                <a:cs typeface="Times New Roman" panose="02020603050405020304" pitchFamily="18" charset="0"/>
              </a:rPr>
              <a:t>&gt;::~</a:t>
            </a:r>
            <a:r>
              <a:rPr lang="en-US" altLang="zh-CN" sz="2400" dirty="0" err="1">
                <a:latin typeface="Times New Roman" panose="02020603050405020304" pitchFamily="18" charset="0"/>
                <a:cs typeface="Times New Roman" panose="02020603050405020304" pitchFamily="18" charset="0"/>
              </a:rPr>
              <a:t>linkStack</a:t>
            </a: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Node&lt;</a:t>
            </a:r>
            <a:r>
              <a:rPr lang="en-US" altLang="zh-CN" sz="2400" dirty="0" err="1">
                <a:latin typeface="Times New Roman" panose="02020603050405020304" pitchFamily="18" charset="0"/>
                <a:cs typeface="Times New Roman" panose="02020603050405020304" pitchFamily="18" charset="0"/>
              </a:rPr>
              <a:t>elemType</a:t>
            </a:r>
            <a:r>
              <a:rPr lang="en-US" altLang="zh-CN" sz="2400" dirty="0">
                <a:latin typeface="Times New Roman" panose="02020603050405020304" pitchFamily="18" charset="0"/>
                <a:cs typeface="Times New Roman" panose="02020603050405020304" pitchFamily="18" charset="0"/>
              </a:rPr>
              <a:t>&gt; *</a:t>
            </a:r>
            <a:r>
              <a:rPr lang="en-US" altLang="zh-CN" sz="2400" dirty="0" err="1">
                <a:latin typeface="Times New Roman" panose="02020603050405020304" pitchFamily="18" charset="0"/>
                <a:cs typeface="Times New Roman" panose="02020603050405020304" pitchFamily="18" charset="0"/>
              </a:rPr>
              <a:t>tmp</a:t>
            </a: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while (Top)</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tmp</a:t>
            </a:r>
            <a:r>
              <a:rPr lang="en-US" altLang="zh-CN" sz="2400" dirty="0">
                <a:latin typeface="Times New Roman" panose="02020603050405020304" pitchFamily="18" charset="0"/>
                <a:cs typeface="Times New Roman" panose="02020603050405020304" pitchFamily="18" charset="0"/>
              </a:rPr>
              <a:t> = Top;</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Top=Top-&gt;next;</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delete </a:t>
            </a:r>
            <a:r>
              <a:rPr lang="en-US" altLang="zh-CN" sz="2400" dirty="0" err="1">
                <a:latin typeface="Times New Roman" panose="02020603050405020304" pitchFamily="18" charset="0"/>
                <a:cs typeface="Times New Roman" panose="02020603050405020304" pitchFamily="18" charset="0"/>
              </a:rPr>
              <a:t>tmp</a:t>
            </a: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37179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705604"/>
            <a:ext cx="11903716" cy="4556049"/>
          </a:xfrm>
        </p:spPr>
        <p:txBody>
          <a:bodyPr>
            <a:norm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析构函数将栈中的所有结点清除，</a:t>
            </a:r>
            <a:r>
              <a:rPr lang="zh-CN" altLang="en-US" sz="2800" b="0" dirty="0">
                <a:ea typeface="华文楷体" pitchFamily="2" charset="-122"/>
                <a:cs typeface="Times New Roman" panose="02020603050405020304" pitchFamily="18" charset="0"/>
              </a:rPr>
              <a:t>空间回收，</a:t>
            </a:r>
            <a:r>
              <a:rPr lang="zh-CN" altLang="zh-CN" sz="2800" b="0" dirty="0">
                <a:ea typeface="华文楷体" pitchFamily="2" charset="-122"/>
                <a:cs typeface="Times New Roman" panose="02020603050405020304" pitchFamily="18" charset="0"/>
              </a:rPr>
              <a:t>时间复杂度为</a:t>
            </a:r>
            <a:r>
              <a:rPr lang="en-US" altLang="zh-CN" sz="2800" b="0" dirty="0">
                <a:ea typeface="华文楷体" pitchFamily="2" charset="-122"/>
                <a:cs typeface="Times New Roman" panose="02020603050405020304" pitchFamily="18" charset="0"/>
              </a:rPr>
              <a:t>O(n)</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构造函数、</a:t>
            </a:r>
            <a:r>
              <a:rPr lang="en-US" altLang="zh-CN" sz="2800" b="0" dirty="0" err="1">
                <a:ea typeface="华文楷体" pitchFamily="2" charset="-122"/>
                <a:cs typeface="Times New Roman" panose="02020603050405020304" pitchFamily="18" charset="0"/>
              </a:rPr>
              <a:t>isEmpty</a:t>
            </a:r>
            <a:r>
              <a:rPr lang="zh-CN"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isFull</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top</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push</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pop</a:t>
            </a:r>
            <a:r>
              <a:rPr lang="zh-CN" altLang="zh-CN" sz="2800" b="0" dirty="0">
                <a:ea typeface="华文楷体" pitchFamily="2" charset="-122"/>
                <a:cs typeface="Times New Roman" panose="02020603050405020304" pitchFamily="18" charset="0"/>
              </a:rPr>
              <a:t>的时间复杂度均为</a:t>
            </a:r>
            <a:r>
              <a:rPr lang="en-US" altLang="zh-CN" sz="2800" b="0" dirty="0">
                <a:ea typeface="华文楷体" pitchFamily="2" charset="-122"/>
                <a:cs typeface="Times New Roman" panose="02020603050405020304" pitchFamily="18" charset="0"/>
              </a:rPr>
              <a:t>O(1)</a:t>
            </a:r>
            <a:r>
              <a:rPr lang="zh-CN" altLang="zh-CN" sz="2800" b="0" dirty="0">
                <a:ea typeface="华文楷体" pitchFamily="2" charset="-122"/>
                <a:cs typeface="Times New Roman" panose="02020603050405020304" pitchFamily="18" charset="0"/>
              </a:rPr>
              <a:t>。</a:t>
            </a: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链式栈性能分析：</a:t>
            </a:r>
          </a:p>
        </p:txBody>
      </p:sp>
      <p:sp>
        <p:nvSpPr>
          <p:cNvPr id="2" name="椭圆 1"/>
          <p:cNvSpPr/>
          <p:nvPr/>
        </p:nvSpPr>
        <p:spPr>
          <a:xfrm>
            <a:off x="11451169" y="6261653"/>
            <a:ext cx="253152" cy="25671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296408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530363" y="2092436"/>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顺序栈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链式栈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栈的应用</a:t>
            </a:r>
            <a:endParaRPr lang="en-US" altLang="zh-CN" sz="2800" dirty="0">
              <a:solidFill>
                <a:srgbClr val="FF0000"/>
              </a:solidFill>
              <a:latin typeface="华文楷体" pitchFamily="2" charset="-122"/>
              <a:ea typeface="华文楷体" pitchFamily="2" charset="-122"/>
            </a:endParaRPr>
          </a:p>
        </p:txBody>
      </p:sp>
      <p:sp>
        <p:nvSpPr>
          <p:cNvPr id="2" name="文本框 1"/>
          <p:cNvSpPr txBox="1"/>
          <p:nvPr/>
        </p:nvSpPr>
        <p:spPr>
          <a:xfrm>
            <a:off x="6915151" y="2176532"/>
            <a:ext cx="4071937" cy="3082895"/>
          </a:xfrm>
          <a:prstGeom prst="rect">
            <a:avLst/>
          </a:prstGeom>
          <a:noFill/>
        </p:spPr>
        <p:txBody>
          <a:bodyPr wrap="square" rtlCol="0">
            <a:spAutoFit/>
          </a:bodyPr>
          <a:lstStyle/>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顺序循环队列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链式队列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优先队列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队列的应用</a:t>
            </a:r>
          </a:p>
        </p:txBody>
      </p:sp>
    </p:spTree>
    <p:extLst>
      <p:ext uri="{BB962C8B-B14F-4D97-AF65-F5344CB8AC3E}">
        <p14:creationId xmlns:p14="http://schemas.microsoft.com/office/powerpoint/2010/main" val="39345748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341246" y="2213206"/>
            <a:ext cx="3941876" cy="3251089"/>
          </a:xfrm>
        </p:spPr>
        <p:txBody>
          <a:bodyPr>
            <a:noAutofit/>
          </a:bodyPr>
          <a:lstStyle/>
          <a:p>
            <a:pPr marL="0" indent="0">
              <a:lnSpc>
                <a:spcPct val="115000"/>
              </a:lnSpc>
              <a:buNone/>
              <a:defRPr/>
            </a:pPr>
            <a:r>
              <a:rPr lang="zh-CN" altLang="en-US" sz="2800" dirty="0">
                <a:latin typeface="华文楷体" pitchFamily="2" charset="-122"/>
                <a:ea typeface="华文楷体" pitchFamily="2" charset="-122"/>
              </a:rPr>
              <a:t>栈的应用</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括号匹配</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表达式计算</a:t>
            </a:r>
            <a:endParaRPr lang="en-US" altLang="zh-CN" sz="2800" dirty="0">
              <a:latin typeface="华文楷体" pitchFamily="2" charset="-122"/>
              <a:ea typeface="华文楷体" pitchFamily="2" charset="-122"/>
            </a:endParaRPr>
          </a:p>
        </p:txBody>
      </p:sp>
    </p:spTree>
    <p:extLst>
      <p:ext uri="{BB962C8B-B14F-4D97-AF65-F5344CB8AC3E}">
        <p14:creationId xmlns:p14="http://schemas.microsoft.com/office/powerpoint/2010/main" val="1316226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0647" y="1558862"/>
            <a:ext cx="11162883" cy="1601781"/>
          </a:xfrm>
        </p:spPr>
        <p:txBody>
          <a:bodyPr>
            <a:normAutofit/>
          </a:bodyPr>
          <a:lstStyle/>
          <a:p>
            <a:pPr>
              <a:buFont typeface="Wingdings" panose="05000000000000000000" pitchFamily="2" charset="2"/>
              <a:buChar char="Ø"/>
            </a:pPr>
            <a:r>
              <a:rPr lang="zh-CN" altLang="en-US" b="0" dirty="0">
                <a:latin typeface="华文楷体" pitchFamily="2" charset="-122"/>
                <a:ea typeface="华文楷体" pitchFamily="2" charset="-122"/>
              </a:rPr>
              <a:t>编译器做</a:t>
            </a:r>
            <a:r>
              <a:rPr lang="zh-CN" altLang="zh-CN" b="0" dirty="0">
                <a:latin typeface="华文楷体" pitchFamily="2" charset="-122"/>
                <a:ea typeface="华文楷体" pitchFamily="2" charset="-122"/>
              </a:rPr>
              <a:t>语法检查的任务之一是检查符号是否配对，最简单的符号匹配问题是括号是否匹配，如开括号</a:t>
            </a:r>
            <a:r>
              <a:rPr lang="en-US" altLang="zh-CN" b="0" dirty="0">
                <a:latin typeface="华文楷体" pitchFamily="2" charset="-122"/>
                <a:ea typeface="华文楷体" pitchFamily="2" charset="-122"/>
              </a:rPr>
              <a:t>( </a:t>
            </a:r>
            <a:r>
              <a:rPr lang="zh-CN" altLang="zh-CN" b="0" dirty="0">
                <a:latin typeface="华文楷体" pitchFamily="2" charset="-122"/>
                <a:ea typeface="华文楷体" pitchFamily="2" charset="-122"/>
              </a:rPr>
              <a:t>及</a:t>
            </a:r>
            <a:r>
              <a:rPr lang="en-US" altLang="zh-CN" b="0" dirty="0">
                <a:latin typeface="华文楷体" pitchFamily="2" charset="-122"/>
                <a:ea typeface="华文楷体" pitchFamily="2" charset="-122"/>
              </a:rPr>
              <a:t>{ </a:t>
            </a:r>
            <a:r>
              <a:rPr lang="zh-CN" altLang="zh-CN" b="0" dirty="0">
                <a:latin typeface="华文楷体" pitchFamily="2" charset="-122"/>
                <a:ea typeface="华文楷体" pitchFamily="2" charset="-122"/>
              </a:rPr>
              <a:t>后面必须依次跟随相应的闭括号</a:t>
            </a:r>
            <a:r>
              <a:rPr lang="en-US" altLang="zh-CN" b="0" dirty="0">
                <a:latin typeface="华文楷体" pitchFamily="2" charset="-122"/>
                <a:ea typeface="华文楷体" pitchFamily="2" charset="-122"/>
              </a:rPr>
              <a:t> }</a:t>
            </a:r>
            <a:r>
              <a:rPr lang="zh-CN" altLang="zh-CN" b="0" dirty="0">
                <a:latin typeface="华文楷体" pitchFamily="2" charset="-122"/>
                <a:ea typeface="华文楷体" pitchFamily="2" charset="-122"/>
              </a:rPr>
              <a:t>及</a:t>
            </a:r>
            <a:r>
              <a:rPr lang="en-US" altLang="zh-CN" b="0" dirty="0">
                <a:latin typeface="华文楷体" pitchFamily="2" charset="-122"/>
                <a:ea typeface="华文楷体" pitchFamily="2" charset="-122"/>
              </a:rPr>
              <a:t> )</a:t>
            </a:r>
            <a:r>
              <a:rPr lang="zh-CN" altLang="zh-CN" b="0" dirty="0">
                <a:latin typeface="华文楷体" pitchFamily="2" charset="-122"/>
                <a:ea typeface="华文楷体" pitchFamily="2" charset="-122"/>
              </a:rPr>
              <a:t>。</a:t>
            </a:r>
            <a:endParaRPr lang="en-US" altLang="zh-CN" b="0" dirty="0">
              <a:latin typeface="华文楷体" pitchFamily="2" charset="-122"/>
              <a:ea typeface="华文楷体" pitchFamily="2" charset="-122"/>
            </a:endParaRPr>
          </a:p>
          <a:p>
            <a:pPr>
              <a:buFont typeface="Wingdings" panose="05000000000000000000" pitchFamily="2" charset="2"/>
              <a:buChar char="Ø"/>
            </a:pPr>
            <a:r>
              <a:rPr lang="zh-CN" altLang="zh-CN" b="0" dirty="0">
                <a:latin typeface="华文楷体" pitchFamily="2" charset="-122"/>
                <a:ea typeface="华文楷体" pitchFamily="2" charset="-122"/>
              </a:rPr>
              <a:t>如下段程序中的括号、引号是否匹配。</a:t>
            </a:r>
          </a:p>
        </p:txBody>
      </p:sp>
      <p:sp>
        <p:nvSpPr>
          <p:cNvPr id="8194" name="Rectangle 2"/>
          <p:cNvSpPr>
            <a:spLocks noGrp="1" noRot="1" noChangeArrowheads="1"/>
          </p:cNvSpPr>
          <p:nvPr>
            <p:ph type="title"/>
          </p:nvPr>
        </p:nvSpPr>
        <p:spPr>
          <a:xfrm>
            <a:off x="224093" y="774024"/>
            <a:ext cx="11162884" cy="574183"/>
          </a:xfrm>
        </p:spPr>
        <p:txBody>
          <a:bodyPr/>
          <a:lstStyle/>
          <a:p>
            <a:pPr marL="838200" indent="-838200">
              <a:defRPr/>
            </a:pPr>
            <a:r>
              <a:rPr lang="en-US" altLang="zh-CN" dirty="0"/>
              <a:t> </a:t>
            </a:r>
            <a:r>
              <a:rPr lang="zh-CN" altLang="en-US" dirty="0">
                <a:latin typeface="华文楷体" panose="02010600040101010101" pitchFamily="2" charset="-122"/>
                <a:ea typeface="华文楷体" panose="02010600040101010101" pitchFamily="2" charset="-122"/>
              </a:rPr>
              <a:t>括号配对：</a:t>
            </a:r>
          </a:p>
        </p:txBody>
      </p:sp>
      <p:sp>
        <p:nvSpPr>
          <p:cNvPr id="2" name="文本框 1"/>
          <p:cNvSpPr txBox="1"/>
          <p:nvPr/>
        </p:nvSpPr>
        <p:spPr>
          <a:xfrm>
            <a:off x="644411" y="3160643"/>
            <a:ext cx="9442174" cy="3816429"/>
          </a:xfrm>
          <a:prstGeom prst="rect">
            <a:avLst/>
          </a:prstGeom>
          <a:noFill/>
        </p:spPr>
        <p:txBody>
          <a:bodyPr wrap="square" rtlCol="0">
            <a:spAutoFit/>
          </a:bodyPr>
          <a:lstStyle/>
          <a:p>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main()</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a[20], </a:t>
            </a:r>
            <a:r>
              <a:rPr lang="en-US" altLang="zh-CN" sz="2800" dirty="0" err="1">
                <a:latin typeface="Times New Roman" panose="02020603050405020304" pitchFamily="18" charset="0"/>
                <a:cs typeface="Times New Roman" panose="02020603050405020304" pitchFamily="18" charset="0"/>
              </a:rPr>
              <a:t>i</a:t>
            </a:r>
            <a:r>
              <a:rPr lang="en-US" altLang="zh-CN" sz="2800" dirty="0">
                <a:latin typeface="Times New Roman" panose="02020603050405020304" pitchFamily="18" charset="0"/>
                <a:cs typeface="Times New Roman" panose="02020603050405020304" pitchFamily="18" charset="0"/>
              </a:rPr>
              <a:t>;</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for (</a:t>
            </a:r>
            <a:r>
              <a:rPr lang="en-US" altLang="zh-CN" sz="2800" dirty="0" err="1">
                <a:latin typeface="Times New Roman" panose="02020603050405020304" pitchFamily="18" charset="0"/>
                <a:cs typeface="Times New Roman" panose="02020603050405020304" pitchFamily="18" charset="0"/>
              </a:rPr>
              <a:t>i</a:t>
            </a:r>
            <a:r>
              <a:rPr lang="en-US" altLang="zh-CN" sz="2800" dirty="0">
                <a:latin typeface="Times New Roman" panose="02020603050405020304" pitchFamily="18" charset="0"/>
                <a:cs typeface="Times New Roman" panose="02020603050405020304" pitchFamily="18" charset="0"/>
              </a:rPr>
              <a:t>=0; </a:t>
            </a:r>
            <a:r>
              <a:rPr lang="en-US" altLang="zh-CN" sz="2800" dirty="0" err="1">
                <a:latin typeface="Times New Roman" panose="02020603050405020304" pitchFamily="18" charset="0"/>
                <a:cs typeface="Times New Roman" panose="02020603050405020304" pitchFamily="18" charset="0"/>
              </a:rPr>
              <a:t>i</a:t>
            </a:r>
            <a:r>
              <a:rPr lang="en-US" altLang="zh-CN" sz="2800" dirty="0">
                <a:latin typeface="Times New Roman" panose="02020603050405020304" pitchFamily="18" charset="0"/>
                <a:cs typeface="Times New Roman" panose="02020603050405020304" pitchFamily="18" charset="0"/>
              </a:rPr>
              <a:t>&lt;20; </a:t>
            </a:r>
            <a:r>
              <a:rPr lang="en-US" altLang="zh-CN" sz="2800" dirty="0" err="1">
                <a:latin typeface="Times New Roman" panose="02020603050405020304" pitchFamily="18" charset="0"/>
                <a:cs typeface="Times New Roman" panose="02020603050405020304" pitchFamily="18" charset="0"/>
              </a:rPr>
              <a:t>i</a:t>
            </a:r>
            <a:r>
              <a:rPr lang="en-US" altLang="zh-CN" sz="2800" dirty="0">
                <a:latin typeface="Times New Roman" panose="02020603050405020304" pitchFamily="18" charset="0"/>
                <a:cs typeface="Times New Roman" panose="02020603050405020304" pitchFamily="18" charset="0"/>
              </a:rPr>
              <a:t>++)</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   a[</a:t>
            </a:r>
            <a:r>
              <a:rPr lang="en-US" altLang="zh-CN" sz="2800" dirty="0" err="1">
                <a:latin typeface="Times New Roman" panose="02020603050405020304" pitchFamily="18" charset="0"/>
                <a:cs typeface="Times New Roman" panose="02020603050405020304" pitchFamily="18" charset="0"/>
              </a:rPr>
              <a:t>i</a:t>
            </a:r>
            <a:r>
              <a:rPr lang="en-US" altLang="zh-CN" sz="2800" dirty="0">
                <a:latin typeface="Times New Roman" panose="02020603050405020304" pitchFamily="18" charset="0"/>
                <a:cs typeface="Times New Roman" panose="02020603050405020304" pitchFamily="18" charset="0"/>
              </a:rPr>
              <a:t>]=3*(19-i)/5*(12-6);</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cout</a:t>
            </a:r>
            <a:r>
              <a:rPr lang="en-US" altLang="zh-CN" sz="2800" dirty="0">
                <a:latin typeface="Times New Roman" panose="02020603050405020304" pitchFamily="18" charset="0"/>
                <a:cs typeface="Times New Roman" panose="02020603050405020304" pitchFamily="18" charset="0"/>
              </a:rPr>
              <a:t>&lt;&lt;a[</a:t>
            </a:r>
            <a:r>
              <a:rPr lang="en-US" altLang="zh-CN" sz="2800" dirty="0" err="1">
                <a:latin typeface="Times New Roman" panose="02020603050405020304" pitchFamily="18" charset="0"/>
                <a:cs typeface="Times New Roman" panose="02020603050405020304" pitchFamily="18" charset="0"/>
              </a:rPr>
              <a:t>i</a:t>
            </a:r>
            <a:r>
              <a:rPr lang="en-US" altLang="zh-CN" sz="2800" dirty="0">
                <a:latin typeface="Times New Roman" panose="02020603050405020304" pitchFamily="18" charset="0"/>
                <a:cs typeface="Times New Roman" panose="02020603050405020304" pitchFamily="18" charset="0"/>
              </a:rPr>
              <a:t>]&lt;&lt;</a:t>
            </a:r>
            <a:r>
              <a:rPr lang="zh-CN" altLang="zh-CN"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/t</a:t>
            </a:r>
            <a:r>
              <a:rPr lang="zh-CN" altLang="zh-CN"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return 0;</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a:t>
            </a:r>
            <a:endParaRPr lang="zh-CN" altLang="zh-CN" sz="2800" dirty="0">
              <a:latin typeface="Times New Roman" panose="02020603050405020304" pitchFamily="18" charset="0"/>
              <a:cs typeface="Times New Roman" panose="02020603050405020304" pitchFamily="18" charset="0"/>
            </a:endParaRPr>
          </a:p>
          <a:p>
            <a:endParaRPr lang="zh-C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38827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66455"/>
            <a:ext cx="11903716" cy="4595805"/>
          </a:xfrm>
        </p:spPr>
        <p:txBody>
          <a:bodyPr>
            <a:normAutofit fontScale="92500" lnSpcReduction="10000"/>
          </a:bodyPr>
          <a:lstStyle/>
          <a:p>
            <a:pPr marL="514350" lvl="0" indent="-514350">
              <a:buFont typeface="+mj-lt"/>
              <a:buAutoNum type="arabicPeriod"/>
            </a:pPr>
            <a:r>
              <a:rPr lang="zh-CN" altLang="zh-CN" sz="2800" b="0" dirty="0">
                <a:latin typeface="华文楷体" pitchFamily="2" charset="-122"/>
                <a:ea typeface="华文楷体" pitchFamily="2" charset="-122"/>
              </a:rPr>
              <a:t>首先创建一个字符栈。</a:t>
            </a:r>
          </a:p>
          <a:p>
            <a:pPr marL="514350" lvl="0" indent="-514350">
              <a:buFont typeface="+mj-lt"/>
              <a:buAutoNum type="arabicPeriod"/>
            </a:pPr>
            <a:r>
              <a:rPr lang="zh-CN" altLang="zh-CN" sz="2800" b="0" dirty="0">
                <a:latin typeface="华文楷体" pitchFamily="2" charset="-122"/>
                <a:ea typeface="华文楷体" pitchFamily="2" charset="-122"/>
              </a:rPr>
              <a:t>从源程序中读入字符。</a:t>
            </a:r>
          </a:p>
          <a:p>
            <a:pPr marL="457200" lvl="1" indent="0">
              <a:buNone/>
            </a:pPr>
            <a:r>
              <a:rPr lang="zh-CN" altLang="zh-CN" sz="2400" b="0" dirty="0">
                <a:latin typeface="华文楷体" pitchFamily="2" charset="-122"/>
                <a:ea typeface="华文楷体" pitchFamily="2" charset="-122"/>
              </a:rPr>
              <a:t>如果读入的是开括号，将其进栈。</a:t>
            </a:r>
          </a:p>
          <a:p>
            <a:pPr marL="457200" lvl="1" indent="0">
              <a:buNone/>
            </a:pPr>
            <a:r>
              <a:rPr lang="zh-CN" altLang="zh-CN" sz="2400" b="0" dirty="0">
                <a:latin typeface="华文楷体" pitchFamily="2" charset="-122"/>
                <a:ea typeface="华文楷体" pitchFamily="2" charset="-122"/>
              </a:rPr>
              <a:t>如果读入的是闭括号但栈是空的，说明少开括号，报错并结束。</a:t>
            </a:r>
          </a:p>
          <a:p>
            <a:pPr marL="457200" lvl="1" indent="0">
              <a:buNone/>
            </a:pPr>
            <a:r>
              <a:rPr lang="zh-CN" altLang="zh-CN" sz="2400" b="0" dirty="0">
                <a:latin typeface="华文楷体" pitchFamily="2" charset="-122"/>
                <a:ea typeface="华文楷体" pitchFamily="2" charset="-122"/>
              </a:rPr>
              <a:t>如果读入的是闭括号但栈不空，将栈中的开括号出栈。如果出栈的开括号和读入的闭括号不是同种类型（如一个为小括号，一个为中括号），说明不匹配，报错并结束。</a:t>
            </a:r>
          </a:p>
          <a:p>
            <a:pPr marL="514350" lvl="0" indent="-514350">
              <a:buFont typeface="+mj-lt"/>
              <a:buAutoNum type="arabicPeriod"/>
            </a:pPr>
            <a:r>
              <a:rPr lang="zh-CN" altLang="zh-CN" sz="2800" b="0" dirty="0">
                <a:latin typeface="华文楷体" pitchFamily="2" charset="-122"/>
                <a:ea typeface="华文楷体" pitchFamily="2" charset="-122"/>
              </a:rPr>
              <a:t>继续从文件中读入下一个符号，非结束符则转向</a:t>
            </a:r>
            <a:r>
              <a:rPr lang="en-US" altLang="zh-CN" sz="2800" b="0" dirty="0">
                <a:latin typeface="华文楷体" pitchFamily="2" charset="-122"/>
                <a:ea typeface="华文楷体" pitchFamily="2" charset="-122"/>
              </a:rPr>
              <a:t>2)</a:t>
            </a:r>
            <a:r>
              <a:rPr lang="zh-CN" altLang="zh-CN" sz="2800" b="0" dirty="0">
                <a:latin typeface="华文楷体" pitchFamily="2" charset="-122"/>
                <a:ea typeface="华文楷体" pitchFamily="2" charset="-122"/>
              </a:rPr>
              <a:t>，否则转向</a:t>
            </a:r>
            <a:r>
              <a:rPr lang="en-US" altLang="zh-CN" sz="2800" b="0" dirty="0">
                <a:latin typeface="华文楷体" pitchFamily="2" charset="-122"/>
                <a:ea typeface="华文楷体" pitchFamily="2" charset="-122"/>
              </a:rPr>
              <a:t>4)</a:t>
            </a:r>
            <a:r>
              <a:rPr lang="zh-CN" altLang="zh-CN" sz="2800" b="0" dirty="0">
                <a:latin typeface="华文楷体" pitchFamily="2" charset="-122"/>
                <a:ea typeface="华文楷体" pitchFamily="2" charset="-122"/>
              </a:rPr>
              <a:t>。</a:t>
            </a:r>
          </a:p>
          <a:p>
            <a:pPr marL="514350" lvl="0" indent="-514350">
              <a:buFont typeface="+mj-lt"/>
              <a:buAutoNum type="arabicPeriod"/>
            </a:pPr>
            <a:r>
              <a:rPr lang="zh-CN" altLang="zh-CN" sz="2800" b="0" dirty="0">
                <a:latin typeface="华文楷体" pitchFamily="2" charset="-122"/>
                <a:ea typeface="华文楷体" pitchFamily="2" charset="-122"/>
              </a:rPr>
              <a:t>如果栈非空，说明开括号多了，报错并结束；</a:t>
            </a:r>
          </a:p>
          <a:p>
            <a:pPr marL="514350" indent="-514350">
              <a:buFont typeface="+mj-lt"/>
              <a:buAutoNum type="arabicPeriod"/>
            </a:pPr>
            <a:r>
              <a:rPr lang="zh-CN" altLang="zh-CN" sz="2800" b="0" dirty="0">
                <a:latin typeface="华文楷体" pitchFamily="2" charset="-122"/>
                <a:ea typeface="华文楷体" pitchFamily="2" charset="-122"/>
              </a:rPr>
              <a:t>否则括号配对成功，结束。</a:t>
            </a:r>
            <a:endParaRPr lang="en-US" altLang="zh-CN" sz="2800" dirty="0">
              <a:latin typeface="华文楷体" pitchFamily="2" charset="-122"/>
              <a:ea typeface="华文楷体" pitchFamily="2" charset="-122"/>
            </a:endParaRPr>
          </a:p>
          <a:p>
            <a:pPr marL="1789113"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括号匹配算法：</a:t>
            </a:r>
          </a:p>
        </p:txBody>
      </p:sp>
    </p:spTree>
    <p:extLst>
      <p:ext uri="{BB962C8B-B14F-4D97-AF65-F5344CB8AC3E}">
        <p14:creationId xmlns:p14="http://schemas.microsoft.com/office/powerpoint/2010/main" val="41473226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486942"/>
            <a:ext cx="11903716" cy="5192154"/>
          </a:xfrm>
        </p:spPr>
        <p:txBody>
          <a:bodyPr>
            <a:normAutofit fontScale="77500" lnSpcReduction="20000"/>
          </a:bodyPr>
          <a:lstStyle/>
          <a:p>
            <a:pPr marL="0" indent="0">
              <a:buNone/>
            </a:pPr>
            <a:r>
              <a:rPr lang="en-US" altLang="zh-CN" sz="2600" b="0" dirty="0">
                <a:cs typeface="Times New Roman" panose="02020603050405020304" pitchFamily="18" charset="0"/>
              </a:rPr>
              <a:t>#include &lt;</a:t>
            </a:r>
            <a:r>
              <a:rPr lang="en-US" altLang="zh-CN" sz="2600" b="0" dirty="0" err="1">
                <a:cs typeface="Times New Roman" panose="02020603050405020304" pitchFamily="18" charset="0"/>
              </a:rPr>
              <a:t>iostream</a:t>
            </a:r>
            <a:r>
              <a:rPr lang="en-US" altLang="zh-CN" sz="2600" b="0" dirty="0">
                <a:cs typeface="Times New Roman" panose="02020603050405020304" pitchFamily="18" charset="0"/>
              </a:rPr>
              <a:t>&gt;</a:t>
            </a:r>
            <a:endParaRPr lang="zh-CN" altLang="zh-CN" sz="2600" b="0" dirty="0">
              <a:cs typeface="Times New Roman" panose="02020603050405020304" pitchFamily="18" charset="0"/>
            </a:endParaRPr>
          </a:p>
          <a:p>
            <a:pPr marL="0" indent="0">
              <a:buNone/>
            </a:pPr>
            <a:r>
              <a:rPr lang="en-US" altLang="zh-CN" sz="2600" b="0" dirty="0">
                <a:cs typeface="Times New Roman" panose="02020603050405020304" pitchFamily="18" charset="0"/>
              </a:rPr>
              <a:t>#include "</a:t>
            </a:r>
            <a:r>
              <a:rPr lang="en-US" altLang="zh-CN" sz="2600" b="0" dirty="0" err="1">
                <a:cs typeface="Times New Roman" panose="02020603050405020304" pitchFamily="18" charset="0"/>
              </a:rPr>
              <a:t>linkStack.h</a:t>
            </a:r>
            <a:r>
              <a:rPr lang="en-US" altLang="zh-CN" sz="2600" b="0" dirty="0">
                <a:cs typeface="Times New Roman" panose="02020603050405020304" pitchFamily="18" charset="0"/>
              </a:rPr>
              <a:t>"</a:t>
            </a:r>
            <a:endParaRPr lang="zh-CN" altLang="zh-CN" sz="2600" b="0" dirty="0">
              <a:cs typeface="Times New Roman" panose="02020603050405020304" pitchFamily="18" charset="0"/>
            </a:endParaRPr>
          </a:p>
          <a:p>
            <a:pPr marL="0" indent="0">
              <a:buNone/>
            </a:pPr>
            <a:r>
              <a:rPr lang="en-US" altLang="zh-CN" sz="2600" b="0" dirty="0">
                <a:cs typeface="Times New Roman" panose="02020603050405020304" pitchFamily="18" charset="0"/>
              </a:rPr>
              <a:t>using namespace </a:t>
            </a:r>
            <a:r>
              <a:rPr lang="en-US" altLang="zh-CN" sz="2600" b="0" dirty="0" err="1">
                <a:cs typeface="Times New Roman" panose="02020603050405020304" pitchFamily="18" charset="0"/>
              </a:rPr>
              <a:t>std</a:t>
            </a:r>
            <a:r>
              <a:rPr lang="en-US" altLang="zh-CN" sz="2600" b="0" dirty="0">
                <a:cs typeface="Times New Roman" panose="02020603050405020304" pitchFamily="18" charset="0"/>
              </a:rPr>
              <a:t>;</a:t>
            </a:r>
            <a:endParaRPr lang="zh-CN" altLang="zh-CN" sz="2600" b="0" dirty="0">
              <a:cs typeface="Times New Roman" panose="02020603050405020304" pitchFamily="18" charset="0"/>
            </a:endParaRPr>
          </a:p>
          <a:p>
            <a:pPr marL="0" indent="0">
              <a:buNone/>
            </a:pPr>
            <a:r>
              <a:rPr lang="en-US" altLang="zh-CN" sz="2600" b="0" dirty="0">
                <a:cs typeface="Times New Roman" panose="02020603050405020304" pitchFamily="18" charset="0"/>
              </a:rPr>
              <a:t> </a:t>
            </a:r>
            <a:r>
              <a:rPr lang="en-US" altLang="zh-CN" sz="2600" b="0" dirty="0" err="1">
                <a:cs typeface="Times New Roman" panose="02020603050405020304" pitchFamily="18" charset="0"/>
              </a:rPr>
              <a:t>int</a:t>
            </a:r>
            <a:r>
              <a:rPr lang="en-US" altLang="zh-CN" sz="2600" b="0" dirty="0">
                <a:cs typeface="Times New Roman" panose="02020603050405020304" pitchFamily="18" charset="0"/>
              </a:rPr>
              <a:t> main()</a:t>
            </a:r>
            <a:endParaRPr lang="zh-CN" altLang="zh-CN" sz="2600" b="0" dirty="0">
              <a:cs typeface="Times New Roman" panose="02020603050405020304" pitchFamily="18" charset="0"/>
            </a:endParaRPr>
          </a:p>
          <a:p>
            <a:pPr marL="0" indent="0">
              <a:buNone/>
            </a:pPr>
            <a:r>
              <a:rPr lang="en-US" altLang="zh-CN" sz="2600" b="0" dirty="0">
                <a:cs typeface="Times New Roman" panose="02020603050405020304" pitchFamily="18" charset="0"/>
              </a:rPr>
              <a:t>{   char </a:t>
            </a:r>
            <a:r>
              <a:rPr lang="en-US" altLang="zh-CN" sz="2600" b="0" dirty="0" err="1">
                <a:cs typeface="Times New Roman" panose="02020603050405020304" pitchFamily="18" charset="0"/>
              </a:rPr>
              <a:t>str</a:t>
            </a:r>
            <a:r>
              <a:rPr lang="en-US" altLang="zh-CN" sz="2600" b="0" dirty="0">
                <a:cs typeface="Times New Roman" panose="02020603050405020304" pitchFamily="18" charset="0"/>
              </a:rPr>
              <a:t>[20];</a:t>
            </a:r>
            <a:endParaRPr lang="zh-CN" altLang="zh-CN" sz="2600" b="0" dirty="0">
              <a:cs typeface="Times New Roman" panose="02020603050405020304" pitchFamily="18" charset="0"/>
            </a:endParaRPr>
          </a:p>
          <a:p>
            <a:pPr marL="0" indent="0">
              <a:buNone/>
            </a:pPr>
            <a:r>
              <a:rPr lang="en-US" altLang="zh-CN" sz="2600" b="0" dirty="0">
                <a:cs typeface="Times New Roman" panose="02020603050405020304" pitchFamily="18" charset="0"/>
              </a:rPr>
              <a:t>    </a:t>
            </a:r>
            <a:r>
              <a:rPr lang="en-US" altLang="zh-CN" sz="2600" b="0" dirty="0" err="1">
                <a:cs typeface="Times New Roman" panose="02020603050405020304" pitchFamily="18" charset="0"/>
              </a:rPr>
              <a:t>linkStack</a:t>
            </a:r>
            <a:r>
              <a:rPr lang="en-US" altLang="zh-CN" sz="2600" b="0" dirty="0">
                <a:cs typeface="Times New Roman" panose="02020603050405020304" pitchFamily="18" charset="0"/>
              </a:rPr>
              <a:t>&lt;char&gt; s;  //</a:t>
            </a:r>
            <a:r>
              <a:rPr lang="zh-CN" altLang="zh-CN" sz="2600" b="0" dirty="0">
                <a:cs typeface="Times New Roman" panose="02020603050405020304" pitchFamily="18" charset="0"/>
              </a:rPr>
              <a:t>建立一个字符栈</a:t>
            </a:r>
          </a:p>
          <a:p>
            <a:pPr marL="0" indent="0">
              <a:buNone/>
            </a:pPr>
            <a:r>
              <a:rPr lang="en-US" altLang="zh-CN" sz="2600" b="0" dirty="0">
                <a:cs typeface="Times New Roman" panose="02020603050405020304" pitchFamily="18" charset="0"/>
              </a:rPr>
              <a:t>    char </a:t>
            </a:r>
            <a:r>
              <a:rPr lang="en-US" altLang="zh-CN" sz="2600" b="0" dirty="0" err="1">
                <a:cs typeface="Times New Roman" panose="02020603050405020304" pitchFamily="18" charset="0"/>
              </a:rPr>
              <a:t>ch</a:t>
            </a:r>
            <a:r>
              <a:rPr lang="en-US" altLang="zh-CN" sz="2600" b="0" dirty="0">
                <a:cs typeface="Times New Roman" panose="02020603050405020304" pitchFamily="18" charset="0"/>
              </a:rPr>
              <a:t>;</a:t>
            </a:r>
            <a:endParaRPr lang="zh-CN" altLang="zh-CN" sz="2600" b="0" dirty="0">
              <a:cs typeface="Times New Roman" panose="02020603050405020304" pitchFamily="18" charset="0"/>
            </a:endParaRPr>
          </a:p>
          <a:p>
            <a:pPr marL="0" indent="0">
              <a:buNone/>
            </a:pPr>
            <a:r>
              <a:rPr lang="en-US" altLang="zh-CN" sz="2600" b="0" dirty="0">
                <a:cs typeface="Times New Roman" panose="02020603050405020304" pitchFamily="18" charset="0"/>
              </a:rPr>
              <a:t>    </a:t>
            </a:r>
            <a:r>
              <a:rPr lang="en-US" altLang="zh-CN" sz="2600" b="0" dirty="0" err="1">
                <a:cs typeface="Times New Roman" panose="02020603050405020304" pitchFamily="18" charset="0"/>
              </a:rPr>
              <a:t>int</a:t>
            </a:r>
            <a:r>
              <a:rPr lang="en-US" altLang="zh-CN" sz="2600" b="0" dirty="0">
                <a:cs typeface="Times New Roman" panose="02020603050405020304" pitchFamily="18" charset="0"/>
              </a:rPr>
              <a:t> </a:t>
            </a:r>
            <a:r>
              <a:rPr lang="en-US" altLang="zh-CN" sz="2600" b="0" dirty="0" err="1">
                <a:cs typeface="Times New Roman" panose="02020603050405020304" pitchFamily="18" charset="0"/>
              </a:rPr>
              <a:t>i</a:t>
            </a:r>
            <a:r>
              <a:rPr lang="en-US" altLang="zh-CN" sz="2600" b="0" dirty="0">
                <a:cs typeface="Times New Roman" panose="02020603050405020304" pitchFamily="18" charset="0"/>
              </a:rPr>
              <a:t>;</a:t>
            </a:r>
          </a:p>
          <a:p>
            <a:pPr marL="0" indent="0">
              <a:buNone/>
            </a:pPr>
            <a:endParaRPr lang="zh-CN" altLang="zh-CN" sz="2600" b="0" dirty="0">
              <a:cs typeface="Times New Roman" panose="02020603050405020304" pitchFamily="18" charset="0"/>
            </a:endParaRPr>
          </a:p>
          <a:p>
            <a:pPr marL="0" indent="0">
              <a:buNone/>
            </a:pPr>
            <a:r>
              <a:rPr lang="en-US" altLang="zh-CN" sz="2600" b="0" dirty="0">
                <a:cs typeface="Times New Roman" panose="02020603050405020304" pitchFamily="18" charset="0"/>
              </a:rPr>
              <a:t>    </a:t>
            </a:r>
            <a:r>
              <a:rPr lang="en-US" altLang="zh-CN" sz="2600" b="0" dirty="0" err="1">
                <a:cs typeface="Times New Roman" panose="02020603050405020304" pitchFamily="18" charset="0"/>
              </a:rPr>
              <a:t>cout</a:t>
            </a:r>
            <a:r>
              <a:rPr lang="en-US" altLang="zh-CN" sz="2600" b="0" dirty="0">
                <a:cs typeface="Times New Roman" panose="02020603050405020304" pitchFamily="18" charset="0"/>
              </a:rPr>
              <a:t>&lt;&lt;"Input the string: ";</a:t>
            </a:r>
            <a:endParaRPr lang="zh-CN" altLang="zh-CN" sz="2600" b="0" dirty="0">
              <a:cs typeface="Times New Roman" panose="02020603050405020304" pitchFamily="18" charset="0"/>
            </a:endParaRPr>
          </a:p>
          <a:p>
            <a:pPr marL="0" indent="0">
              <a:buNone/>
            </a:pPr>
            <a:r>
              <a:rPr lang="en-US" altLang="zh-CN" sz="2600" b="0" dirty="0">
                <a:cs typeface="Times New Roman" panose="02020603050405020304" pitchFamily="18" charset="0"/>
              </a:rPr>
              <a:t>    </a:t>
            </a:r>
            <a:r>
              <a:rPr lang="en-US" altLang="zh-CN" sz="2600" b="0" dirty="0" err="1">
                <a:cs typeface="Times New Roman" panose="02020603050405020304" pitchFamily="18" charset="0"/>
              </a:rPr>
              <a:t>cin.getline</a:t>
            </a:r>
            <a:r>
              <a:rPr lang="en-US" altLang="zh-CN" sz="2600" b="0" dirty="0">
                <a:cs typeface="Times New Roman" panose="02020603050405020304" pitchFamily="18" charset="0"/>
              </a:rPr>
              <a:t>(</a:t>
            </a:r>
            <a:r>
              <a:rPr lang="en-US" altLang="zh-CN" sz="2600" b="0" dirty="0" err="1">
                <a:cs typeface="Times New Roman" panose="02020603050405020304" pitchFamily="18" charset="0"/>
              </a:rPr>
              <a:t>str</a:t>
            </a:r>
            <a:r>
              <a:rPr lang="en-US" altLang="zh-CN" sz="2600" b="0" dirty="0">
                <a:cs typeface="Times New Roman" panose="02020603050405020304" pitchFamily="18" charset="0"/>
              </a:rPr>
              <a:t>, 20, '\n');</a:t>
            </a:r>
            <a:endParaRPr lang="zh-CN" altLang="zh-CN" sz="2600" b="0" dirty="0">
              <a:cs typeface="Times New Roman" panose="02020603050405020304" pitchFamily="18" charset="0"/>
            </a:endParaRPr>
          </a:p>
          <a:p>
            <a:pPr marL="0" indent="0">
              <a:buNone/>
            </a:pPr>
            <a:r>
              <a:rPr lang="en-US" altLang="zh-CN" sz="2600" b="0" dirty="0">
                <a:cs typeface="Times New Roman" panose="02020603050405020304" pitchFamily="18" charset="0"/>
              </a:rPr>
              <a:t>    </a:t>
            </a:r>
            <a:r>
              <a:rPr lang="en-US" altLang="zh-CN" sz="2600" b="0" dirty="0" err="1">
                <a:cs typeface="Times New Roman" panose="02020603050405020304" pitchFamily="18" charset="0"/>
              </a:rPr>
              <a:t>cout</a:t>
            </a:r>
            <a:r>
              <a:rPr lang="en-US" altLang="zh-CN" sz="2600" b="0" dirty="0">
                <a:cs typeface="Times New Roman" panose="02020603050405020304" pitchFamily="18" charset="0"/>
              </a:rPr>
              <a:t>&lt;&lt;"</a:t>
            </a:r>
            <a:r>
              <a:rPr lang="en-US" altLang="zh-CN" sz="2600" b="0" dirty="0" err="1">
                <a:cs typeface="Times New Roman" panose="02020603050405020304" pitchFamily="18" charset="0"/>
              </a:rPr>
              <a:t>str</a:t>
            </a:r>
            <a:r>
              <a:rPr lang="en-US" altLang="zh-CN" sz="2600" b="0" dirty="0">
                <a:cs typeface="Times New Roman" panose="02020603050405020304" pitchFamily="18" charset="0"/>
              </a:rPr>
              <a:t>: "&lt;&lt;</a:t>
            </a:r>
            <a:r>
              <a:rPr lang="en-US" altLang="zh-CN" sz="2600" b="0" dirty="0" err="1">
                <a:cs typeface="Times New Roman" panose="02020603050405020304" pitchFamily="18" charset="0"/>
              </a:rPr>
              <a:t>str</a:t>
            </a:r>
            <a:r>
              <a:rPr lang="en-US" altLang="zh-CN" sz="2600" b="0" dirty="0">
                <a:cs typeface="Times New Roman" panose="02020603050405020304" pitchFamily="18" charset="0"/>
              </a:rPr>
              <a:t>&lt;&lt;</a:t>
            </a:r>
            <a:r>
              <a:rPr lang="en-US" altLang="zh-CN" sz="2600" b="0" dirty="0" err="1">
                <a:cs typeface="Times New Roman" panose="02020603050405020304" pitchFamily="18" charset="0"/>
              </a:rPr>
              <a:t>endl</a:t>
            </a:r>
            <a:r>
              <a:rPr lang="en-US" altLang="zh-CN" sz="2600" b="0" dirty="0">
                <a:cs typeface="Times New Roman" panose="02020603050405020304" pitchFamily="18" charset="0"/>
              </a:rPr>
              <a:t>;</a:t>
            </a:r>
            <a:endParaRPr lang="zh-CN" altLang="zh-CN" sz="2600" b="0" dirty="0">
              <a:cs typeface="Times New Roman" panose="02020603050405020304" pitchFamily="18" charset="0"/>
            </a:endParaRPr>
          </a:p>
          <a:p>
            <a:pPr marL="1789113"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核心而简单的算术表达式中括号匹配检测程序</a:t>
            </a:r>
            <a:r>
              <a:rPr lang="zh-CN" altLang="en-US" dirty="0">
                <a:latin typeface="华文楷体" panose="02010600040101010101" pitchFamily="2" charset="-122"/>
                <a:ea typeface="华文楷体" panose="02010600040101010101" pitchFamily="2" charset="-122"/>
              </a:rPr>
              <a:t>：</a:t>
            </a:r>
          </a:p>
        </p:txBody>
      </p:sp>
      <p:sp>
        <p:nvSpPr>
          <p:cNvPr id="2" name="矩形 1"/>
          <p:cNvSpPr/>
          <p:nvPr/>
        </p:nvSpPr>
        <p:spPr>
          <a:xfrm>
            <a:off x="7081104" y="1872734"/>
            <a:ext cx="4852610" cy="523220"/>
          </a:xfrm>
          <a:prstGeom prst="rect">
            <a:avLst/>
          </a:prstGeom>
        </p:spPr>
        <p:txBody>
          <a:bodyPr wrap="none">
            <a:spAutoFit/>
          </a:bodyPr>
          <a:lstStyle/>
          <a:p>
            <a:r>
              <a:rPr lang="zh-CN" altLang="en-US" sz="2800" b="1" dirty="0">
                <a:latin typeface="华文楷体" panose="02010600040101010101" pitchFamily="2" charset="-122"/>
                <a:ea typeface="华文楷体" panose="02010600040101010101" pitchFamily="2" charset="-122"/>
              </a:rPr>
              <a:t>（为简化，假设只有小括号）</a:t>
            </a:r>
          </a:p>
        </p:txBody>
      </p:sp>
    </p:spTree>
    <p:extLst>
      <p:ext uri="{BB962C8B-B14F-4D97-AF65-F5344CB8AC3E}">
        <p14:creationId xmlns:p14="http://schemas.microsoft.com/office/powerpoint/2010/main" val="13717638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0" y="1586333"/>
            <a:ext cx="11903716" cy="4635562"/>
          </a:xfrm>
        </p:spPr>
        <p:txBody>
          <a:bodyPr>
            <a:noAutofit/>
          </a:bodyPr>
          <a:lstStyle/>
          <a:p>
            <a:pPr marL="0" indent="0">
              <a:buNone/>
            </a:pPr>
            <a:r>
              <a:rPr lang="en-US" altLang="zh-CN" sz="1600" b="0" dirty="0">
                <a:cs typeface="Times New Roman" panose="02020603050405020304" pitchFamily="18" charset="0"/>
              </a:rPr>
              <a:t>      </a:t>
            </a:r>
            <a:r>
              <a:rPr lang="en-US" altLang="zh-CN" sz="2000" b="0" dirty="0" err="1">
                <a:cs typeface="Times New Roman" panose="02020603050405020304" pitchFamily="18" charset="0"/>
              </a:rPr>
              <a:t>i</a:t>
            </a:r>
            <a:r>
              <a:rPr lang="en-US" altLang="zh-CN" sz="2000" b="0" dirty="0">
                <a:cs typeface="Times New Roman" panose="02020603050405020304" pitchFamily="18" charset="0"/>
              </a:rPr>
              <a:t>=0;    </a:t>
            </a:r>
            <a:r>
              <a:rPr lang="en-US" altLang="zh-CN" sz="2000" b="0" dirty="0" err="1">
                <a:cs typeface="Times New Roman" panose="02020603050405020304" pitchFamily="18" charset="0"/>
              </a:rPr>
              <a:t>ch</a:t>
            </a:r>
            <a:r>
              <a:rPr lang="en-US" altLang="zh-CN" sz="2000" b="0" dirty="0">
                <a:cs typeface="Times New Roman" panose="02020603050405020304" pitchFamily="18" charset="0"/>
              </a:rPr>
              <a:t>=</a:t>
            </a:r>
            <a:r>
              <a:rPr lang="en-US" altLang="zh-CN" sz="2000" b="0" dirty="0" err="1">
                <a:cs typeface="Times New Roman" panose="02020603050405020304" pitchFamily="18" charset="0"/>
              </a:rPr>
              <a:t>str</a:t>
            </a:r>
            <a:r>
              <a:rPr lang="en-US" altLang="zh-CN" sz="2000" b="0" dirty="0">
                <a:cs typeface="Times New Roman" panose="02020603050405020304" pitchFamily="18" charset="0"/>
              </a:rPr>
              <a:t>[</a:t>
            </a:r>
            <a:r>
              <a:rPr lang="en-US" altLang="zh-CN" sz="2000" b="0" dirty="0" err="1">
                <a:cs typeface="Times New Roman" panose="02020603050405020304" pitchFamily="18" charset="0"/>
              </a:rPr>
              <a:t>i</a:t>
            </a:r>
            <a:r>
              <a:rPr lang="en-US" altLang="zh-CN" sz="2000" b="0" dirty="0">
                <a:cs typeface="Times New Roman" panose="02020603050405020304" pitchFamily="18" charset="0"/>
              </a:rPr>
              <a:t>++];</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while (</a:t>
            </a:r>
            <a:r>
              <a:rPr lang="en-US" altLang="zh-CN" sz="2000" b="0" dirty="0" err="1">
                <a:cs typeface="Times New Roman" panose="02020603050405020304" pitchFamily="18" charset="0"/>
              </a:rPr>
              <a:t>ch</a:t>
            </a:r>
            <a:r>
              <a:rPr lang="en-US" altLang="zh-CN" sz="2000" b="0" dirty="0">
                <a:cs typeface="Times New Roman" panose="02020603050405020304" pitchFamily="18" charset="0"/>
              </a:rPr>
              <a:t>!='\0')</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   switch(</a:t>
            </a:r>
            <a:r>
              <a:rPr lang="en-US" altLang="zh-CN" sz="2000" b="0" dirty="0" err="1">
                <a:cs typeface="Times New Roman" panose="02020603050405020304" pitchFamily="18" charset="0"/>
              </a:rPr>
              <a:t>ch</a:t>
            </a:r>
            <a:r>
              <a:rPr lang="en-US" altLang="zh-CN" sz="2000" b="0" dirty="0">
                <a:cs typeface="Times New Roman" panose="02020603050405020304" pitchFamily="18" charset="0"/>
              </a:rPr>
              <a:t>)</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  case '(':      </a:t>
            </a:r>
            <a:r>
              <a:rPr lang="en-US" altLang="zh-CN" sz="2000" b="0" dirty="0" err="1">
                <a:cs typeface="Times New Roman" panose="02020603050405020304" pitchFamily="18" charset="0"/>
              </a:rPr>
              <a:t>s.push</a:t>
            </a:r>
            <a:r>
              <a:rPr lang="en-US" altLang="zh-CN" sz="2000" b="0" dirty="0">
                <a:cs typeface="Times New Roman" panose="02020603050405020304" pitchFamily="18" charset="0"/>
              </a:rPr>
              <a:t>(</a:t>
            </a:r>
            <a:r>
              <a:rPr lang="en-US" altLang="zh-CN" sz="2000" b="0" dirty="0" err="1">
                <a:cs typeface="Times New Roman" panose="02020603050405020304" pitchFamily="18" charset="0"/>
              </a:rPr>
              <a:t>ch</a:t>
            </a:r>
            <a:r>
              <a:rPr lang="en-US" altLang="zh-CN" sz="2000" b="0" dirty="0">
                <a:cs typeface="Times New Roman" panose="02020603050405020304" pitchFamily="18" charset="0"/>
              </a:rPr>
              <a:t>);    break;</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case ')':      if (</a:t>
            </a:r>
            <a:r>
              <a:rPr lang="en-US" altLang="zh-CN" sz="2000" b="0" dirty="0" err="1">
                <a:cs typeface="Times New Roman" panose="02020603050405020304" pitchFamily="18" charset="0"/>
              </a:rPr>
              <a:t>s.isEmpty</a:t>
            </a:r>
            <a:r>
              <a:rPr lang="en-US" altLang="zh-CN" sz="2000" b="0" dirty="0">
                <a:cs typeface="Times New Roman" panose="02020603050405020304" pitchFamily="18" charset="0"/>
              </a:rPr>
              <a:t>())</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    //</a:t>
            </a:r>
            <a:r>
              <a:rPr lang="zh-CN" altLang="zh-CN" sz="2000" b="0" dirty="0">
                <a:cs typeface="Times New Roman" panose="02020603050405020304" pitchFamily="18" charset="0"/>
              </a:rPr>
              <a:t>读入一个闭括号，栈却空，找不到匹配的开括号</a:t>
            </a:r>
          </a:p>
          <a:p>
            <a:pPr marL="0" indent="0">
              <a:buNone/>
            </a:pPr>
            <a:r>
              <a:rPr lang="en-US" altLang="zh-CN" sz="2000" b="0" dirty="0">
                <a:cs typeface="Times New Roman" panose="02020603050405020304" pitchFamily="18" charset="0"/>
              </a:rPr>
              <a:t>                                   </a:t>
            </a:r>
            <a:r>
              <a:rPr lang="en-US" altLang="zh-CN" sz="2000" b="0" dirty="0" err="1">
                <a:cs typeface="Times New Roman" panose="02020603050405020304" pitchFamily="18" charset="0"/>
              </a:rPr>
              <a:t>cout</a:t>
            </a:r>
            <a:r>
              <a:rPr lang="en-US" altLang="zh-CN" sz="2000" b="0" dirty="0">
                <a:cs typeface="Times New Roman" panose="02020603050405020304" pitchFamily="18" charset="0"/>
              </a:rPr>
              <a:t>&lt;&lt;"An opening bracket '(' is expected!\n";</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return 1;</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核心而简单的算术表达式中括号匹配检测程序</a:t>
            </a:r>
            <a:r>
              <a:rPr lang="zh-CN" altLang="en-US" dirty="0">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20158325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46577"/>
            <a:ext cx="11903716" cy="4635562"/>
          </a:xfrm>
        </p:spPr>
        <p:txBody>
          <a:bodyPr>
            <a:noAutofit/>
          </a:bodyPr>
          <a:lstStyle/>
          <a:p>
            <a:pPr marL="0" indent="0">
              <a:buNone/>
            </a:pPr>
            <a:r>
              <a:rPr lang="en-US" altLang="zh-CN" sz="1600" b="0" dirty="0">
                <a:cs typeface="Times New Roman" panose="02020603050405020304" pitchFamily="18" charset="0"/>
              </a:rPr>
              <a:t>      </a:t>
            </a:r>
            <a:r>
              <a:rPr lang="en-US" altLang="zh-CN" dirty="0">
                <a:cs typeface="Times New Roman" panose="02020603050405020304" pitchFamily="18" charset="0"/>
              </a:rPr>
              <a:t>             </a:t>
            </a:r>
            <a:r>
              <a:rPr lang="en-US" altLang="zh-CN" sz="2000" b="0" dirty="0">
                <a:cs typeface="Times New Roman" panose="02020603050405020304" pitchFamily="18" charset="0"/>
              </a:rPr>
              <a:t>else      </a:t>
            </a:r>
            <a:r>
              <a:rPr lang="en-US" altLang="zh-CN" sz="2000" b="0" dirty="0" err="1">
                <a:cs typeface="Times New Roman" panose="02020603050405020304" pitchFamily="18" charset="0"/>
              </a:rPr>
              <a:t>s.pop</a:t>
            </a:r>
            <a:r>
              <a:rPr lang="en-US" altLang="zh-CN" sz="2000" b="0" dirty="0">
                <a:cs typeface="Times New Roman" panose="02020603050405020304" pitchFamily="18" charset="0"/>
              </a:rPr>
              <a:t>();</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break;</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a:t>
            </a:r>
            <a:r>
              <a:rPr lang="en-US" altLang="zh-CN" sz="2000" b="0" dirty="0" err="1">
                <a:cs typeface="Times New Roman" panose="02020603050405020304" pitchFamily="18" charset="0"/>
              </a:rPr>
              <a:t>ch</a:t>
            </a:r>
            <a:r>
              <a:rPr lang="en-US" altLang="zh-CN" sz="2000" b="0" dirty="0">
                <a:cs typeface="Times New Roman" panose="02020603050405020304" pitchFamily="18" charset="0"/>
              </a:rPr>
              <a:t>=</a:t>
            </a:r>
            <a:r>
              <a:rPr lang="en-US" altLang="zh-CN" sz="2000" b="0" dirty="0" err="1">
                <a:cs typeface="Times New Roman" panose="02020603050405020304" pitchFamily="18" charset="0"/>
              </a:rPr>
              <a:t>str</a:t>
            </a:r>
            <a:r>
              <a:rPr lang="en-US" altLang="zh-CN" sz="2000" b="0" dirty="0">
                <a:cs typeface="Times New Roman" panose="02020603050405020304" pitchFamily="18" charset="0"/>
              </a:rPr>
              <a:t>[</a:t>
            </a:r>
            <a:r>
              <a:rPr lang="en-US" altLang="zh-CN" sz="2000" b="0" dirty="0" err="1">
                <a:cs typeface="Times New Roman" panose="02020603050405020304" pitchFamily="18" charset="0"/>
              </a:rPr>
              <a:t>i</a:t>
            </a:r>
            <a:r>
              <a:rPr lang="en-US" altLang="zh-CN" sz="2000" b="0" dirty="0">
                <a:cs typeface="Times New Roman" panose="02020603050405020304" pitchFamily="18" charset="0"/>
              </a:rPr>
              <a:t>++];</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if (!</a:t>
            </a:r>
            <a:r>
              <a:rPr lang="en-US" altLang="zh-CN" sz="2000" b="0" dirty="0" err="1">
                <a:cs typeface="Times New Roman" panose="02020603050405020304" pitchFamily="18" charset="0"/>
              </a:rPr>
              <a:t>s.isEmpty</a:t>
            </a:r>
            <a:r>
              <a:rPr lang="en-US" altLang="zh-CN" sz="2000" b="0" dirty="0">
                <a:cs typeface="Times New Roman" panose="02020603050405020304" pitchFamily="18" charset="0"/>
              </a:rPr>
              <a:t>()) //</a:t>
            </a:r>
            <a:r>
              <a:rPr lang="zh-CN" altLang="zh-CN" sz="2000" b="0" dirty="0">
                <a:cs typeface="Times New Roman" panose="02020603050405020304" pitchFamily="18" charset="0"/>
              </a:rPr>
              <a:t>式子读入结束，发现栈中还有多余的开括号</a:t>
            </a:r>
          </a:p>
          <a:p>
            <a:pPr marL="0" indent="0">
              <a:buNone/>
            </a:pPr>
            <a:r>
              <a:rPr lang="en-US" altLang="zh-CN" sz="2000" b="0" dirty="0">
                <a:cs typeface="Times New Roman" panose="02020603050405020304" pitchFamily="18" charset="0"/>
              </a:rPr>
              <a:t>       	</a:t>
            </a:r>
            <a:r>
              <a:rPr lang="en-US" altLang="zh-CN" sz="2000" b="0" dirty="0" err="1">
                <a:cs typeface="Times New Roman" panose="02020603050405020304" pitchFamily="18" charset="0"/>
              </a:rPr>
              <a:t>cout</a:t>
            </a:r>
            <a:r>
              <a:rPr lang="en-US" altLang="zh-CN" sz="2000" b="0" dirty="0">
                <a:cs typeface="Times New Roman" panose="02020603050405020304" pitchFamily="18" charset="0"/>
              </a:rPr>
              <a:t>&lt;&lt;"A closing bracket ')' is expected!\n";</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return 0;</a:t>
            </a:r>
          </a:p>
          <a:p>
            <a:pPr marL="0" indent="0">
              <a:buNone/>
            </a:pPr>
            <a:r>
              <a:rPr lang="en-US" altLang="zh-CN" sz="2000" b="0" dirty="0">
                <a:cs typeface="Times New Roman" panose="02020603050405020304" pitchFamily="18" charset="0"/>
              </a:rPr>
              <a:t>}</a:t>
            </a:r>
            <a:endParaRPr lang="en-US" altLang="zh-CN"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核心而简单的算术表达式中括号匹配检测程序</a:t>
            </a:r>
            <a:r>
              <a:rPr lang="zh-CN" altLang="en-US" dirty="0">
                <a:latin typeface="华文楷体" panose="02010600040101010101" pitchFamily="2" charset="-122"/>
                <a:ea typeface="华文楷体" panose="02010600040101010101" pitchFamily="2" charset="-122"/>
              </a:rPr>
              <a:t>：</a:t>
            </a:r>
          </a:p>
        </p:txBody>
      </p:sp>
      <p:sp>
        <p:nvSpPr>
          <p:cNvPr id="2" name="椭圆 1"/>
          <p:cNvSpPr/>
          <p:nvPr/>
        </p:nvSpPr>
        <p:spPr>
          <a:xfrm>
            <a:off x="11652069" y="6296297"/>
            <a:ext cx="182880" cy="2481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949920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341246" y="2213206"/>
            <a:ext cx="3941876" cy="3251089"/>
          </a:xfrm>
        </p:spPr>
        <p:txBody>
          <a:bodyPr>
            <a:noAutofit/>
          </a:bodyPr>
          <a:lstStyle/>
          <a:p>
            <a:pPr marL="0" indent="0">
              <a:lnSpc>
                <a:spcPct val="115000"/>
              </a:lnSpc>
              <a:buNone/>
              <a:defRPr/>
            </a:pPr>
            <a:r>
              <a:rPr lang="zh-CN" altLang="en-US" sz="2800" dirty="0">
                <a:latin typeface="华文楷体" pitchFamily="2" charset="-122"/>
                <a:ea typeface="华文楷体" pitchFamily="2" charset="-122"/>
              </a:rPr>
              <a:t>栈的应用</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括号匹配</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表达式计算</a:t>
            </a:r>
            <a:endParaRPr lang="en-US" altLang="zh-CN" sz="2800" dirty="0">
              <a:solidFill>
                <a:srgbClr val="FF0000"/>
              </a:solidFill>
              <a:latin typeface="华文楷体" pitchFamily="2" charset="-122"/>
              <a:ea typeface="华文楷体" pitchFamily="2" charset="-122"/>
            </a:endParaRPr>
          </a:p>
        </p:txBody>
      </p:sp>
    </p:spTree>
    <p:extLst>
      <p:ext uri="{BB962C8B-B14F-4D97-AF65-F5344CB8AC3E}">
        <p14:creationId xmlns:p14="http://schemas.microsoft.com/office/powerpoint/2010/main" val="31215954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17848" y="1539551"/>
            <a:ext cx="11303735" cy="5083317"/>
          </a:xfrm>
        </p:spPr>
        <p:txBody>
          <a:bodyPr>
            <a:normAutofit fontScale="85000" lnSpcReduction="10000"/>
          </a:bodyPr>
          <a:lstStyle/>
          <a:p>
            <a:pPr marL="0" indent="0">
              <a:buNone/>
            </a:pPr>
            <a:r>
              <a:rPr lang="zh-CN" altLang="zh-CN" sz="2800" b="0" dirty="0">
                <a:ea typeface="华文楷体" pitchFamily="2" charset="-122"/>
                <a:cs typeface="Times New Roman" panose="02020603050405020304" pitchFamily="18" charset="0"/>
              </a:rPr>
              <a:t>算术表达式是</a:t>
            </a:r>
            <a:r>
              <a:rPr lang="zh-CN" altLang="en-US" sz="2800" b="0" dirty="0">
                <a:ea typeface="华文楷体" pitchFamily="2" charset="-122"/>
                <a:cs typeface="Times New Roman" panose="02020603050405020304" pitchFamily="18" charset="0"/>
              </a:rPr>
              <a:t>编程语言中一个</a:t>
            </a:r>
            <a:r>
              <a:rPr lang="zh-CN" altLang="zh-CN" sz="2800" b="0" dirty="0">
                <a:ea typeface="华文楷体" pitchFamily="2" charset="-122"/>
                <a:cs typeface="Times New Roman" panose="02020603050405020304" pitchFamily="18" charset="0"/>
              </a:rPr>
              <a:t>最基本的组成元素，由操作数、运算符及括号构成。</a:t>
            </a:r>
            <a:endParaRPr lang="en-US" altLang="zh-CN" sz="2800" b="0" dirty="0">
              <a:ea typeface="华文楷体" pitchFamily="2" charset="-122"/>
              <a:cs typeface="Times New Roman" panose="02020603050405020304" pitchFamily="18" charset="0"/>
            </a:endParaRPr>
          </a:p>
          <a:p>
            <a:pPr marL="0" indent="0">
              <a:buNone/>
            </a:pPr>
            <a:r>
              <a:rPr lang="zh-CN" altLang="en-US" sz="2800" b="0" dirty="0">
                <a:ea typeface="华文楷体" pitchFamily="2" charset="-122"/>
                <a:cs typeface="Times New Roman" panose="02020603050405020304" pitchFamily="18" charset="0"/>
              </a:rPr>
              <a:t>以下分析中，</a:t>
            </a:r>
            <a:r>
              <a:rPr lang="zh-CN" altLang="zh-CN" sz="2800" b="0" dirty="0">
                <a:ea typeface="华文楷体" pitchFamily="2" charset="-122"/>
                <a:cs typeface="Times New Roman" panose="02020603050405020304" pitchFamily="18" charset="0"/>
              </a:rPr>
              <a:t>为了简化，限定操作数为一位整数；运算符为加、减、乘、除四种二元运算符；括号仅含有小括号，如：</a:t>
            </a:r>
            <a:r>
              <a:rPr lang="en-US" altLang="zh-CN" sz="2800" b="0" dirty="0">
                <a:ea typeface="华文楷体" pitchFamily="2" charset="-122"/>
                <a:cs typeface="Times New Roman" panose="02020603050405020304" pitchFamily="18" charset="0"/>
              </a:rPr>
              <a:t>5*(7-2*3)+8/2</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算术表达式中运算符出现在两个操作数之间，这种形式称为</a:t>
            </a:r>
            <a:r>
              <a:rPr lang="zh-CN" altLang="zh-CN" sz="2800" dirty="0">
                <a:ea typeface="华文楷体" pitchFamily="2" charset="-122"/>
                <a:cs typeface="Times New Roman" panose="02020603050405020304" pitchFamily="18" charset="0"/>
              </a:rPr>
              <a:t>中缀式</a:t>
            </a:r>
            <a:r>
              <a:rPr lang="zh-CN" altLang="en-US" sz="2800" b="0" dirty="0">
                <a:ea typeface="华文楷体" pitchFamily="2" charset="-122"/>
                <a:cs typeface="Times New Roman" panose="02020603050405020304" pitchFamily="18" charset="0"/>
              </a:rPr>
              <a:t>，运算符在前称为</a:t>
            </a:r>
            <a:r>
              <a:rPr lang="zh-CN" altLang="en-US" sz="2800" dirty="0">
                <a:ea typeface="华文楷体" pitchFamily="2" charset="-122"/>
                <a:cs typeface="Times New Roman" panose="02020603050405020304" pitchFamily="18" charset="0"/>
              </a:rPr>
              <a:t>前缀式或波兰式</a:t>
            </a:r>
            <a:r>
              <a:rPr lang="zh-CN" altLang="en-US" sz="2800" b="0" dirty="0">
                <a:ea typeface="华文楷体" pitchFamily="2" charset="-122"/>
                <a:cs typeface="Times New Roman" panose="02020603050405020304" pitchFamily="18" charset="0"/>
              </a:rPr>
              <a:t>，运算符在后称</a:t>
            </a:r>
            <a:r>
              <a:rPr lang="zh-CN" altLang="en-US" sz="2800" dirty="0">
                <a:ea typeface="华文楷体" pitchFamily="2" charset="-122"/>
                <a:cs typeface="Times New Roman" panose="02020603050405020304" pitchFamily="18" charset="0"/>
              </a:rPr>
              <a:t>后缀式或逆波兰式</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258763" indent="0">
              <a:buNone/>
            </a:pPr>
            <a:r>
              <a:rPr lang="zh-CN" altLang="zh-CN" sz="2800" b="0" dirty="0">
                <a:ea typeface="华文楷体" pitchFamily="2" charset="-122"/>
                <a:cs typeface="Times New Roman" panose="02020603050405020304" pitchFamily="18" charset="0"/>
              </a:rPr>
              <a:t>中缀式有利于人的理解，但不便于计算机处理</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258763" indent="0">
              <a:buNone/>
            </a:pPr>
            <a:r>
              <a:rPr lang="zh-CN" altLang="en-US" sz="2800" b="0" dirty="0">
                <a:ea typeface="华文楷体" pitchFamily="2" charset="-122"/>
                <a:cs typeface="Times New Roman" panose="02020603050405020304" pitchFamily="18" charset="0"/>
              </a:rPr>
              <a:t>前缀式不便于人理解，但可去掉括号；</a:t>
            </a:r>
            <a:endParaRPr lang="en-US" altLang="zh-CN" sz="2800" b="0" dirty="0">
              <a:ea typeface="华文楷体" pitchFamily="2" charset="-122"/>
              <a:cs typeface="Times New Roman" panose="02020603050405020304" pitchFamily="18" charset="0"/>
            </a:endParaRPr>
          </a:p>
          <a:p>
            <a:pPr marL="258763" indent="0">
              <a:buNone/>
            </a:pPr>
            <a:r>
              <a:rPr lang="zh-CN" altLang="en-US" sz="2800" b="0" dirty="0">
                <a:ea typeface="华文楷体" pitchFamily="2" charset="-122"/>
                <a:cs typeface="Times New Roman" panose="02020603050405020304" pitchFamily="18" charset="0"/>
              </a:rPr>
              <a:t>后缀式不便于人理解，可去掉括号，更便于计算机计算。</a:t>
            </a:r>
            <a:endParaRPr lang="en-US" altLang="zh-CN" sz="2800" b="0" dirty="0">
              <a:ea typeface="华文楷体" pitchFamily="2" charset="-122"/>
              <a:cs typeface="Times New Roman" panose="02020603050405020304" pitchFamily="18" charset="0"/>
            </a:endParaRPr>
          </a:p>
          <a:p>
            <a:pPr marL="258763" indent="0">
              <a:buNone/>
            </a:pPr>
            <a:r>
              <a:rPr lang="zh-CN" altLang="zh-CN" sz="2800" b="0" dirty="0">
                <a:ea typeface="华文楷体" pitchFamily="2" charset="-122"/>
                <a:cs typeface="Times New Roman" panose="02020603050405020304" pitchFamily="18" charset="0"/>
              </a:rPr>
              <a:t>在编译时，编译器首先要把中缀式转换成后缀式</a:t>
            </a:r>
            <a:r>
              <a:rPr lang="zh-CN" altLang="en-US" sz="2800" b="0" dirty="0">
                <a:ea typeface="华文楷体" pitchFamily="2" charset="-122"/>
                <a:cs typeface="Times New Roman" panose="02020603050405020304" pitchFamily="18" charset="0"/>
              </a:rPr>
              <a:t>。</a:t>
            </a:r>
            <a:endParaRPr lang="zh-CN"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en-US" altLang="zh-CN" dirty="0"/>
              <a:t> </a:t>
            </a:r>
            <a:r>
              <a:rPr lang="zh-CN" altLang="en-US" dirty="0">
                <a:latin typeface="华文楷体" panose="02010600040101010101" pitchFamily="2" charset="-122"/>
                <a:ea typeface="华文楷体" panose="02010600040101010101" pitchFamily="2" charset="-122"/>
              </a:rPr>
              <a:t>表达式计算：</a:t>
            </a:r>
          </a:p>
        </p:txBody>
      </p:sp>
    </p:spTree>
    <p:extLst>
      <p:ext uri="{BB962C8B-B14F-4D97-AF65-F5344CB8AC3E}">
        <p14:creationId xmlns:p14="http://schemas.microsoft.com/office/powerpoint/2010/main" val="28206453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66455"/>
            <a:ext cx="11337659" cy="4595805"/>
          </a:xfrm>
        </p:spPr>
        <p:txBody>
          <a:bodyPr>
            <a:normAutofit fontScale="77500" lnSpcReduction="20000"/>
          </a:bodyPr>
          <a:lstStyle/>
          <a:p>
            <a:pPr marL="0" indent="0">
              <a:lnSpc>
                <a:spcPct val="115000"/>
              </a:lnSpc>
              <a:buNone/>
              <a:defRPr/>
            </a:pPr>
            <a:r>
              <a:rPr lang="zh-CN" altLang="en-US" sz="2800" b="0" dirty="0">
                <a:ea typeface="华文楷体" pitchFamily="2" charset="-122"/>
                <a:cs typeface="Times New Roman" panose="02020603050405020304" pitchFamily="18" charset="0"/>
              </a:rPr>
              <a:t>表达式计算涉及到两个方面的工作：</a:t>
            </a:r>
            <a:endParaRPr lang="en-US" altLang="zh-CN" sz="2800" b="0" dirty="0">
              <a:ea typeface="华文楷体" pitchFamily="2" charset="-122"/>
              <a:cs typeface="Times New Roman" panose="02020603050405020304" pitchFamily="18" charset="0"/>
            </a:endParaRPr>
          </a:p>
          <a:p>
            <a:pPr>
              <a:lnSpc>
                <a:spcPct val="115000"/>
              </a:lnSpc>
              <a:buFont typeface="Wingdings" panose="05000000000000000000" pitchFamily="2" charset="2"/>
              <a:buChar char="Ø"/>
              <a:defRPr/>
            </a:pPr>
            <a:r>
              <a:rPr lang="zh-CN" altLang="en-US" sz="2800" b="0" dirty="0">
                <a:ea typeface="华文楷体" pitchFamily="2" charset="-122"/>
                <a:cs typeface="Times New Roman" panose="02020603050405020304" pitchFamily="18" charset="0"/>
              </a:rPr>
              <a:t>中缀式转换为后缀式</a:t>
            </a:r>
            <a:endParaRPr lang="en-US" altLang="zh-CN" sz="2800" b="0" dirty="0">
              <a:ea typeface="华文楷体" pitchFamily="2" charset="-122"/>
              <a:cs typeface="Times New Roman" panose="02020603050405020304" pitchFamily="18" charset="0"/>
            </a:endParaRPr>
          </a:p>
          <a:p>
            <a:pPr>
              <a:lnSpc>
                <a:spcPct val="115000"/>
              </a:lnSpc>
              <a:buFont typeface="Wingdings" panose="05000000000000000000" pitchFamily="2" charset="2"/>
              <a:buChar char="Ø"/>
              <a:defRPr/>
            </a:pPr>
            <a:r>
              <a:rPr lang="zh-CN" altLang="en-US" sz="2800" b="0" dirty="0">
                <a:ea typeface="华文楷体" pitchFamily="2" charset="-122"/>
                <a:cs typeface="Times New Roman" panose="02020603050405020304" pitchFamily="18" charset="0"/>
              </a:rPr>
              <a:t>后缀式计算</a:t>
            </a:r>
            <a:endParaRPr lang="en-US" altLang="zh-CN" sz="2800" b="0" dirty="0">
              <a:ea typeface="华文楷体" pitchFamily="2" charset="-122"/>
              <a:cs typeface="Times New Roman" panose="02020603050405020304" pitchFamily="18" charset="0"/>
            </a:endParaRPr>
          </a:p>
          <a:p>
            <a:pPr marL="0" indent="0">
              <a:lnSpc>
                <a:spcPct val="115000"/>
              </a:lnSpc>
              <a:buNone/>
              <a:defRPr/>
            </a:pPr>
            <a:endParaRPr lang="en-US" altLang="zh-CN" sz="2800" b="0" dirty="0">
              <a:ea typeface="华文楷体" pitchFamily="2" charset="-122"/>
              <a:cs typeface="Times New Roman" panose="02020603050405020304" pitchFamily="18" charset="0"/>
            </a:endParaRPr>
          </a:p>
          <a:p>
            <a:pPr marL="0" indent="0">
              <a:lnSpc>
                <a:spcPct val="115000"/>
              </a:lnSpc>
              <a:buNone/>
              <a:defRPr/>
            </a:pPr>
            <a:r>
              <a:rPr lang="zh-CN" altLang="zh-CN" sz="2800" b="0" dirty="0">
                <a:ea typeface="华文楷体" pitchFamily="2" charset="-122"/>
                <a:cs typeface="Times New Roman" panose="02020603050405020304" pitchFamily="18" charset="0"/>
              </a:rPr>
              <a:t>如，表达式</a:t>
            </a:r>
            <a:r>
              <a:rPr lang="en-US" altLang="zh-CN" sz="2800" b="0" dirty="0">
                <a:ea typeface="华文楷体" pitchFamily="2" charset="-122"/>
                <a:cs typeface="Times New Roman" panose="02020603050405020304" pitchFamily="18" charset="0"/>
              </a:rPr>
              <a:t>5*(7-2*3)+8/2</a:t>
            </a:r>
            <a:r>
              <a:rPr lang="zh-CN" altLang="zh-CN" sz="2800" b="0" dirty="0">
                <a:ea typeface="华文楷体" pitchFamily="2" charset="-122"/>
                <a:cs typeface="Times New Roman" panose="02020603050405020304" pitchFamily="18" charset="0"/>
              </a:rPr>
              <a:t>转换为后缀式为： </a:t>
            </a:r>
            <a:r>
              <a:rPr lang="en-US" altLang="zh-CN" sz="2800" b="0" dirty="0">
                <a:ea typeface="华文楷体" pitchFamily="2" charset="-122"/>
                <a:cs typeface="Times New Roman" panose="02020603050405020304" pitchFamily="18" charset="0"/>
              </a:rPr>
              <a:t>5 7 2 3*-*8 2/+</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lnSpc>
                <a:spcPct val="115000"/>
              </a:lnSpc>
              <a:buNone/>
              <a:defRPr/>
            </a:pPr>
            <a:r>
              <a:rPr lang="zh-CN" altLang="en-US" sz="2800" b="0" dirty="0">
                <a:ea typeface="华文楷体" pitchFamily="2" charset="-122"/>
                <a:cs typeface="Times New Roman" panose="02020603050405020304" pitchFamily="18" charset="0"/>
              </a:rPr>
              <a:t>手工转换时，先计算的先转换。</a:t>
            </a:r>
            <a:endParaRPr lang="en-US" altLang="zh-CN" sz="2800" b="0" dirty="0">
              <a:ea typeface="华文楷体" pitchFamily="2" charset="-122"/>
              <a:cs typeface="Times New Roman" panose="02020603050405020304" pitchFamily="18" charset="0"/>
            </a:endParaRPr>
          </a:p>
          <a:p>
            <a:pPr marL="0" indent="0">
              <a:lnSpc>
                <a:spcPct val="115000"/>
              </a:lnSpc>
              <a:buNone/>
              <a:defRPr/>
            </a:pPr>
            <a:endParaRPr lang="en-US" altLang="zh-CN" sz="2800" b="0" dirty="0">
              <a:ea typeface="华文楷体" pitchFamily="2" charset="-122"/>
              <a:cs typeface="Times New Roman" panose="02020603050405020304" pitchFamily="18" charset="0"/>
            </a:endParaRPr>
          </a:p>
          <a:p>
            <a:pPr marL="0" indent="0">
              <a:lnSpc>
                <a:spcPct val="115000"/>
              </a:lnSpc>
              <a:buNone/>
              <a:defRPr/>
            </a:pPr>
            <a:r>
              <a:rPr lang="zh-CN" altLang="en-US" sz="2800" b="0" dirty="0">
                <a:ea typeface="华文楷体" pitchFamily="2" charset="-122"/>
                <a:cs typeface="Times New Roman" panose="02020603050405020304" pitchFamily="18" charset="0"/>
              </a:rPr>
              <a:t>可以看出：</a:t>
            </a:r>
            <a:endParaRPr lang="en-US" altLang="zh-CN" sz="2800" b="0" dirty="0">
              <a:ea typeface="华文楷体" pitchFamily="2" charset="-122"/>
              <a:cs typeface="Times New Roman" panose="02020603050405020304" pitchFamily="18" charset="0"/>
            </a:endParaRPr>
          </a:p>
          <a:p>
            <a:pPr marL="0" indent="0">
              <a:lnSpc>
                <a:spcPct val="115000"/>
              </a:lnSpc>
              <a:buNone/>
              <a:defRPr/>
            </a:pPr>
            <a:r>
              <a:rPr lang="zh-CN" altLang="en-US" sz="2800" b="0" dirty="0">
                <a:ea typeface="华文楷体" pitchFamily="2" charset="-122"/>
                <a:cs typeface="Times New Roman" panose="02020603050405020304" pitchFamily="18" charset="0"/>
              </a:rPr>
              <a:t>从左至右，操作数保持原来的相对位置，操作符是先计算的先出现。</a:t>
            </a:r>
            <a:endParaRPr lang="en-US" altLang="zh-CN" sz="2800" b="0" dirty="0">
              <a:ea typeface="华文楷体" pitchFamily="2" charset="-122"/>
              <a:cs typeface="Times New Roman" panose="02020603050405020304" pitchFamily="18" charset="0"/>
            </a:endParaRPr>
          </a:p>
          <a:p>
            <a:pPr marL="0" indent="0">
              <a:lnSpc>
                <a:spcPct val="115000"/>
              </a:lnSpc>
              <a:buNone/>
              <a:defRPr/>
            </a:pPr>
            <a:r>
              <a:rPr lang="zh-CN" altLang="en-US" sz="2800" b="0" dirty="0">
                <a:ea typeface="华文楷体" pitchFamily="2" charset="-122"/>
                <a:cs typeface="Times New Roman" panose="02020603050405020304" pitchFamily="18" charset="0"/>
              </a:rPr>
              <a:t>后缀式经过一次从左到右的扫描即可计算出结果。</a:t>
            </a:r>
            <a:endParaRPr lang="en-US" altLang="zh-CN" sz="2800" b="0" dirty="0">
              <a:ea typeface="华文楷体" pitchFamily="2" charset="-122"/>
              <a:cs typeface="Times New Roman" panose="02020603050405020304" pitchFamily="18" charset="0"/>
            </a:endParaRPr>
          </a:p>
          <a:p>
            <a:pPr marL="0" indent="0">
              <a:lnSpc>
                <a:spcPct val="115000"/>
              </a:lnSpc>
              <a:buNone/>
              <a:defRPr/>
            </a:pPr>
            <a:endParaRPr lang="en-US" altLang="zh-CN" sz="2800" dirty="0">
              <a:latin typeface="华文楷体" pitchFamily="2" charset="-122"/>
              <a:ea typeface="华文楷体" pitchFamily="2" charset="-122"/>
            </a:endParaRPr>
          </a:p>
          <a:p>
            <a:pPr marL="1789113"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表达式计算</a:t>
            </a:r>
          </a:p>
        </p:txBody>
      </p:sp>
      <p:sp>
        <p:nvSpPr>
          <p:cNvPr id="2" name="椭圆 1"/>
          <p:cNvSpPr/>
          <p:nvPr/>
        </p:nvSpPr>
        <p:spPr>
          <a:xfrm>
            <a:off x="11194869" y="5995851"/>
            <a:ext cx="256299" cy="30044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826148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66455"/>
            <a:ext cx="11337659" cy="3462745"/>
          </a:xfrm>
        </p:spPr>
        <p:txBody>
          <a:bodyPr>
            <a:normAutofit/>
          </a:bodyPr>
          <a:lstStyle/>
          <a:p>
            <a:pPr marL="0" indent="0">
              <a:lnSpc>
                <a:spcPct val="115000"/>
              </a:lnSpc>
              <a:buNone/>
              <a:defRPr/>
            </a:pPr>
            <a:r>
              <a:rPr lang="zh-CN" altLang="zh-CN" sz="2800" b="0" dirty="0">
                <a:ea typeface="华文楷体" pitchFamily="2" charset="-122"/>
                <a:cs typeface="Times New Roman" panose="02020603050405020304" pitchFamily="18" charset="0"/>
              </a:rPr>
              <a:t>如，表达式</a:t>
            </a:r>
            <a:r>
              <a:rPr lang="en-US" altLang="zh-CN" sz="2800" b="0" dirty="0">
                <a:ea typeface="华文楷体" pitchFamily="2" charset="-122"/>
                <a:cs typeface="Times New Roman" panose="02020603050405020304" pitchFamily="18" charset="0"/>
              </a:rPr>
              <a:t>5*(7-2*3)+8/2</a:t>
            </a:r>
            <a:r>
              <a:rPr lang="zh-CN" altLang="zh-CN" sz="2800" b="0" dirty="0">
                <a:ea typeface="华文楷体" pitchFamily="2" charset="-122"/>
                <a:cs typeface="Times New Roman" panose="02020603050405020304" pitchFamily="18" charset="0"/>
              </a:rPr>
              <a:t>转换为后缀式为： </a:t>
            </a:r>
            <a:r>
              <a:rPr lang="en-US" altLang="zh-CN" sz="2800" b="0" dirty="0">
                <a:ea typeface="华文楷体" pitchFamily="2" charset="-122"/>
                <a:cs typeface="Times New Roman" panose="02020603050405020304" pitchFamily="18" charset="0"/>
              </a:rPr>
              <a:t>5 7 2 3*-*8 2/+</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lnSpc>
                <a:spcPct val="115000"/>
              </a:lnSpc>
              <a:buNone/>
              <a:defRPr/>
            </a:pPr>
            <a:r>
              <a:rPr lang="zh-CN" altLang="en-US" sz="2800" b="0" dirty="0">
                <a:ea typeface="华文楷体" pitchFamily="2" charset="-122"/>
                <a:cs typeface="Times New Roman" panose="02020603050405020304" pitchFamily="18" charset="0"/>
              </a:rPr>
              <a:t>手工转换时，先计算的先转换。</a:t>
            </a:r>
            <a:endParaRPr lang="en-US" altLang="zh-CN" sz="2800" b="0" dirty="0">
              <a:ea typeface="华文楷体" pitchFamily="2" charset="-122"/>
              <a:cs typeface="Times New Roman" panose="02020603050405020304" pitchFamily="18" charset="0"/>
            </a:endParaRPr>
          </a:p>
          <a:p>
            <a:pPr marL="0" indent="0">
              <a:lnSpc>
                <a:spcPct val="115000"/>
              </a:lnSpc>
              <a:buNone/>
              <a:defRPr/>
            </a:pPr>
            <a:endParaRPr lang="en-US" altLang="zh-CN" sz="2800" b="0" dirty="0">
              <a:ea typeface="华文楷体" pitchFamily="2" charset="-122"/>
              <a:cs typeface="Times New Roman" panose="02020603050405020304" pitchFamily="18" charset="0"/>
            </a:endParaRPr>
          </a:p>
          <a:p>
            <a:pPr marL="0" indent="0">
              <a:lnSpc>
                <a:spcPct val="115000"/>
              </a:lnSpc>
              <a:buNone/>
              <a:defRPr/>
            </a:pPr>
            <a:r>
              <a:rPr lang="zh-CN" altLang="en-US" sz="2800" b="0" dirty="0">
                <a:ea typeface="华文楷体" pitchFamily="2" charset="-122"/>
                <a:cs typeface="Times New Roman" panose="02020603050405020304" pitchFamily="18" charset="0"/>
              </a:rPr>
              <a:t>在后缀式中可以看出：</a:t>
            </a:r>
            <a:endParaRPr lang="en-US" altLang="zh-CN" sz="2800" b="0" dirty="0">
              <a:ea typeface="华文楷体" pitchFamily="2" charset="-122"/>
              <a:cs typeface="Times New Roman" panose="02020603050405020304" pitchFamily="18" charset="0"/>
            </a:endParaRPr>
          </a:p>
          <a:p>
            <a:pPr marL="0" indent="0">
              <a:lnSpc>
                <a:spcPct val="115000"/>
              </a:lnSpc>
              <a:buNone/>
              <a:defRPr/>
            </a:pPr>
            <a:r>
              <a:rPr lang="zh-CN" altLang="en-US" sz="2800" b="0" dirty="0">
                <a:ea typeface="华文楷体" pitchFamily="2" charset="-122"/>
                <a:cs typeface="Times New Roman" panose="02020603050405020304" pitchFamily="18" charset="0"/>
              </a:rPr>
              <a:t>从左至右，操作数保持原来的相对位置，操作符是先计算的先出现。</a:t>
            </a:r>
            <a:endParaRPr lang="en-US" altLang="zh-CN" sz="2800" b="0" dirty="0">
              <a:ea typeface="华文楷体" pitchFamily="2" charset="-122"/>
              <a:cs typeface="Times New Roman" panose="02020603050405020304" pitchFamily="18" charset="0"/>
            </a:endParaRPr>
          </a:p>
          <a:p>
            <a:pPr marL="0" indent="0">
              <a:lnSpc>
                <a:spcPct val="115000"/>
              </a:lnSpc>
              <a:buNone/>
              <a:defRPr/>
            </a:pPr>
            <a:endParaRPr lang="en-US" altLang="zh-CN" sz="2800" dirty="0">
              <a:ea typeface="华文楷体" pitchFamily="2" charset="-122"/>
              <a:cs typeface="Times New Roman" panose="02020603050405020304" pitchFamily="18" charset="0"/>
            </a:endParaRPr>
          </a:p>
          <a:p>
            <a:pPr marL="1789113"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后缀式的计算</a:t>
            </a:r>
          </a:p>
        </p:txBody>
      </p:sp>
    </p:spTree>
    <p:extLst>
      <p:ext uri="{BB962C8B-B14F-4D97-AF65-F5344CB8AC3E}">
        <p14:creationId xmlns:p14="http://schemas.microsoft.com/office/powerpoint/2010/main" val="293250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665846"/>
            <a:ext cx="11903716" cy="4913857"/>
          </a:xfrm>
        </p:spPr>
        <p:txBody>
          <a:bodyPr>
            <a:normAutofit lnSpcReduction="10000"/>
          </a:bodyPr>
          <a:lstStyle/>
          <a:p>
            <a:pPr marL="514350" indent="-514350">
              <a:lnSpc>
                <a:spcPct val="115000"/>
              </a:lnSpc>
              <a:buFont typeface="+mj-lt"/>
              <a:buAutoNum type="arabicPeriod"/>
              <a:defRPr/>
            </a:pPr>
            <a:r>
              <a:rPr lang="zh-CN" altLang="zh-CN" sz="2800" b="0" dirty="0">
                <a:latin typeface="华文楷体" pitchFamily="2" charset="-122"/>
                <a:ea typeface="华文楷体" pitchFamily="2" charset="-122"/>
              </a:rPr>
              <a:t>声明一个操作数栈，依次读入后缀式中的字符。</a:t>
            </a:r>
            <a:endParaRPr lang="en-US" altLang="zh-CN" sz="2800" b="0" dirty="0">
              <a:latin typeface="华文楷体" pitchFamily="2" charset="-122"/>
              <a:ea typeface="华文楷体" pitchFamily="2" charset="-122"/>
            </a:endParaRPr>
          </a:p>
          <a:p>
            <a:pPr marL="514350" indent="-514350">
              <a:lnSpc>
                <a:spcPct val="115000"/>
              </a:lnSpc>
              <a:buFont typeface="+mj-lt"/>
              <a:buAutoNum type="arabicPeriod"/>
              <a:defRPr/>
            </a:pPr>
            <a:r>
              <a:rPr lang="zh-CN" altLang="zh-CN" sz="2800" b="0" dirty="0">
                <a:latin typeface="华文楷体" pitchFamily="2" charset="-122"/>
                <a:ea typeface="华文楷体" pitchFamily="2" charset="-122"/>
              </a:rPr>
              <a:t>若读到的是操作数，将其进栈；</a:t>
            </a:r>
            <a:endParaRPr lang="en-US" altLang="zh-CN" sz="2800" b="0" dirty="0">
              <a:latin typeface="华文楷体" pitchFamily="2" charset="-122"/>
              <a:ea typeface="华文楷体" pitchFamily="2" charset="-122"/>
            </a:endParaRPr>
          </a:p>
          <a:p>
            <a:pPr marL="514350" indent="-514350">
              <a:lnSpc>
                <a:spcPct val="115000"/>
              </a:lnSpc>
              <a:buFont typeface="+mj-lt"/>
              <a:buAutoNum type="arabicPeriod"/>
              <a:defRPr/>
            </a:pPr>
            <a:r>
              <a:rPr lang="zh-CN" altLang="zh-CN" sz="2800" b="0" dirty="0">
                <a:latin typeface="华文楷体" pitchFamily="2" charset="-122"/>
                <a:ea typeface="华文楷体" pitchFamily="2" charset="-122"/>
              </a:rPr>
              <a:t>若读到的是运算符，将栈顶的两个操作数出栈。后弹出的操作数为被操作数，先弹出的为操作数。将出栈的两个操作数完成运算符所规定的运算后将结果进栈。</a:t>
            </a:r>
            <a:endParaRPr lang="en-US" altLang="zh-CN" sz="2800" b="0" dirty="0">
              <a:latin typeface="华文楷体" pitchFamily="2" charset="-122"/>
              <a:ea typeface="华文楷体" pitchFamily="2" charset="-122"/>
            </a:endParaRPr>
          </a:p>
          <a:p>
            <a:pPr marL="514350" indent="-514350">
              <a:lnSpc>
                <a:spcPct val="115000"/>
              </a:lnSpc>
              <a:buFont typeface="+mj-lt"/>
              <a:buAutoNum type="arabicPeriod"/>
              <a:defRPr/>
            </a:pPr>
            <a:r>
              <a:rPr lang="zh-CN" altLang="zh-CN" sz="2800" b="0" dirty="0">
                <a:latin typeface="华文楷体" pitchFamily="2" charset="-122"/>
                <a:ea typeface="华文楷体" pitchFamily="2" charset="-122"/>
              </a:rPr>
              <a:t>继续读入后缀式中的字符，如上处理，最后直到后缀式中所有字符读入完毕。</a:t>
            </a:r>
            <a:endParaRPr lang="en-US" altLang="zh-CN" sz="2800" b="0" dirty="0">
              <a:latin typeface="华文楷体" pitchFamily="2" charset="-122"/>
              <a:ea typeface="华文楷体" pitchFamily="2" charset="-122"/>
            </a:endParaRPr>
          </a:p>
          <a:p>
            <a:pPr marL="514350" indent="-514350">
              <a:lnSpc>
                <a:spcPct val="115000"/>
              </a:lnSpc>
              <a:buFont typeface="+mj-lt"/>
              <a:buAutoNum type="arabicPeriod"/>
              <a:defRPr/>
            </a:pPr>
            <a:r>
              <a:rPr lang="zh-CN" altLang="zh-CN" sz="2800" b="0" dirty="0">
                <a:latin typeface="华文楷体" pitchFamily="2" charset="-122"/>
                <a:ea typeface="华文楷体" pitchFamily="2" charset="-122"/>
              </a:rPr>
              <a:t>当完成以上操作后，栈中只剩一个操作数，弹出该操作数，它就是表达式的计算结果。</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计算后缀式：</a:t>
            </a:r>
          </a:p>
        </p:txBody>
      </p:sp>
    </p:spTree>
    <p:extLst>
      <p:ext uri="{BB962C8B-B14F-4D97-AF65-F5344CB8AC3E}">
        <p14:creationId xmlns:p14="http://schemas.microsoft.com/office/powerpoint/2010/main" val="31418513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计算后缀式：</a:t>
            </a:r>
            <a:r>
              <a:rPr lang="en-US" altLang="zh-CN" b="0" dirty="0">
                <a:latin typeface="华文楷体" pitchFamily="2" charset="-122"/>
                <a:ea typeface="华文楷体" pitchFamily="2" charset="-122"/>
              </a:rPr>
              <a:t> </a:t>
            </a:r>
            <a:r>
              <a:rPr lang="zh-CN" altLang="en-US" dirty="0">
                <a:latin typeface="华文楷体" panose="02010600040101010101" pitchFamily="2" charset="-122"/>
                <a:ea typeface="华文楷体" panose="02010600040101010101" pitchFamily="2" charset="-122"/>
              </a:rPr>
              <a:t>以</a:t>
            </a:r>
            <a:r>
              <a:rPr lang="en-US" altLang="zh-CN" dirty="0">
                <a:latin typeface="华文楷体" panose="02010600040101010101" pitchFamily="2" charset="-122"/>
                <a:ea typeface="华文楷体" panose="02010600040101010101" pitchFamily="2" charset="-122"/>
              </a:rPr>
              <a:t>5 7 2 3*-*8 2/+</a:t>
            </a:r>
            <a:r>
              <a:rPr lang="zh-CN" altLang="en-US" dirty="0">
                <a:latin typeface="华文楷体" panose="02010600040101010101" pitchFamily="2" charset="-122"/>
                <a:ea typeface="华文楷体" panose="02010600040101010101" pitchFamily="2" charset="-122"/>
              </a:rPr>
              <a:t>为例</a:t>
            </a:r>
          </a:p>
        </p:txBody>
      </p:sp>
      <p:graphicFrame>
        <p:nvGraphicFramePr>
          <p:cNvPr id="7" name="表格 6"/>
          <p:cNvGraphicFramePr>
            <a:graphicFrameLocks noGrp="1"/>
          </p:cNvGraphicFramePr>
          <p:nvPr>
            <p:extLst/>
          </p:nvPr>
        </p:nvGraphicFramePr>
        <p:xfrm>
          <a:off x="447309" y="1590261"/>
          <a:ext cx="10088168" cy="4909930"/>
        </p:xfrm>
        <a:graphic>
          <a:graphicData uri="http://schemas.openxmlformats.org/drawingml/2006/table">
            <a:tbl>
              <a:tblPr>
                <a:tableStyleId>{5C22544A-7EE6-4342-B048-85BDC9FD1C3A}</a:tableStyleId>
              </a:tblPr>
              <a:tblGrid>
                <a:gridCol w="536829">
                  <a:extLst>
                    <a:ext uri="{9D8B030D-6E8A-4147-A177-3AD203B41FA5}">
                      <a16:colId xmlns:a16="http://schemas.microsoft.com/office/drawing/2014/main" val="2147569652"/>
                    </a:ext>
                  </a:extLst>
                </a:gridCol>
                <a:gridCol w="2658748">
                  <a:extLst>
                    <a:ext uri="{9D8B030D-6E8A-4147-A177-3AD203B41FA5}">
                      <a16:colId xmlns:a16="http://schemas.microsoft.com/office/drawing/2014/main" val="3614013973"/>
                    </a:ext>
                  </a:extLst>
                </a:gridCol>
                <a:gridCol w="1722803">
                  <a:extLst>
                    <a:ext uri="{9D8B030D-6E8A-4147-A177-3AD203B41FA5}">
                      <a16:colId xmlns:a16="http://schemas.microsoft.com/office/drawing/2014/main" val="2119936203"/>
                    </a:ext>
                  </a:extLst>
                </a:gridCol>
                <a:gridCol w="858640">
                  <a:extLst>
                    <a:ext uri="{9D8B030D-6E8A-4147-A177-3AD203B41FA5}">
                      <a16:colId xmlns:a16="http://schemas.microsoft.com/office/drawing/2014/main" val="2354335855"/>
                    </a:ext>
                  </a:extLst>
                </a:gridCol>
                <a:gridCol w="2586965">
                  <a:extLst>
                    <a:ext uri="{9D8B030D-6E8A-4147-A177-3AD203B41FA5}">
                      <a16:colId xmlns:a16="http://schemas.microsoft.com/office/drawing/2014/main" val="4100271397"/>
                    </a:ext>
                  </a:extLst>
                </a:gridCol>
                <a:gridCol w="1724183">
                  <a:extLst>
                    <a:ext uri="{9D8B030D-6E8A-4147-A177-3AD203B41FA5}">
                      <a16:colId xmlns:a16="http://schemas.microsoft.com/office/drawing/2014/main" val="400103855"/>
                    </a:ext>
                  </a:extLst>
                </a:gridCol>
              </a:tblGrid>
              <a:tr h="797006">
                <a:tc>
                  <a:txBody>
                    <a:bodyPr/>
                    <a:lstStyle/>
                    <a:p>
                      <a:pPr algn="ctr">
                        <a:spcAft>
                          <a:spcPts val="0"/>
                        </a:spcAft>
                      </a:pPr>
                      <a:r>
                        <a:rPr lang="zh-CN" sz="2400" kern="100" dirty="0">
                          <a:effectLst/>
                        </a:rPr>
                        <a:t>步骤</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spcAft>
                          <a:spcPts val="0"/>
                        </a:spcAft>
                      </a:pPr>
                      <a:r>
                        <a:rPr lang="zh-CN" sz="2400" kern="100" dirty="0">
                          <a:effectLst/>
                        </a:rPr>
                        <a:t>读剩的后缀式</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spcAft>
                          <a:spcPts val="0"/>
                        </a:spcAft>
                      </a:pPr>
                      <a:r>
                        <a:rPr lang="zh-CN" sz="2400" kern="100">
                          <a:effectLst/>
                        </a:rPr>
                        <a:t>栈中内容</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spcAft>
                          <a:spcPts val="0"/>
                        </a:spcAft>
                      </a:pPr>
                      <a:r>
                        <a:rPr lang="zh-CN" sz="2400" kern="100">
                          <a:effectLst/>
                        </a:rPr>
                        <a:t>步骤</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spcAft>
                          <a:spcPts val="0"/>
                        </a:spcAft>
                      </a:pPr>
                      <a:r>
                        <a:rPr lang="zh-CN" sz="2400" kern="100">
                          <a:effectLst/>
                        </a:rPr>
                        <a:t>读剩的后缀式</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spcAft>
                          <a:spcPts val="0"/>
                        </a:spcAft>
                      </a:pPr>
                      <a:r>
                        <a:rPr lang="zh-CN" sz="2400" kern="100">
                          <a:effectLst/>
                        </a:rPr>
                        <a:t>栈中内容</a:t>
                      </a:r>
                      <a:endParaRPr lang="zh-CN" sz="2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669270239"/>
                  </a:ext>
                </a:extLst>
              </a:tr>
              <a:tr h="466872">
                <a:tc>
                  <a:txBody>
                    <a:bodyPr/>
                    <a:lstStyle/>
                    <a:p>
                      <a:pPr algn="ctr">
                        <a:spcAft>
                          <a:spcPts val="0"/>
                        </a:spcAft>
                      </a:pPr>
                      <a:r>
                        <a:rPr lang="en-US" sz="2400" kern="100" dirty="0">
                          <a:effectLst/>
                        </a:rPr>
                        <a:t>1</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r">
                        <a:spcAft>
                          <a:spcPts val="0"/>
                        </a:spcAft>
                      </a:pPr>
                      <a:r>
                        <a:rPr lang="en-US" sz="2400" u="sng" kern="100">
                          <a:effectLst/>
                        </a:rPr>
                        <a:t>5</a:t>
                      </a:r>
                      <a:r>
                        <a:rPr lang="en-US" sz="2400" kern="100">
                          <a:effectLst/>
                        </a:rPr>
                        <a:t> </a:t>
                      </a:r>
                      <a:r>
                        <a:rPr lang="en-US" sz="2400" u="sng" kern="100">
                          <a:effectLst/>
                        </a:rPr>
                        <a:t>7</a:t>
                      </a:r>
                      <a:r>
                        <a:rPr lang="en-US" sz="2400" kern="100">
                          <a:effectLst/>
                        </a:rPr>
                        <a:t> </a:t>
                      </a:r>
                      <a:r>
                        <a:rPr lang="en-US" sz="2400" u="sng" kern="100">
                          <a:effectLst/>
                        </a:rPr>
                        <a:t>2</a:t>
                      </a:r>
                      <a:r>
                        <a:rPr lang="en-US" sz="2400" kern="100">
                          <a:effectLst/>
                        </a:rPr>
                        <a:t> </a:t>
                      </a:r>
                      <a:r>
                        <a:rPr lang="en-US" sz="2400" u="sng" kern="100">
                          <a:effectLst/>
                        </a:rPr>
                        <a:t>3</a:t>
                      </a:r>
                      <a:r>
                        <a:rPr lang="en-US" sz="2400" kern="100">
                          <a:effectLst/>
                        </a:rPr>
                        <a:t>*-*</a:t>
                      </a:r>
                      <a:r>
                        <a:rPr lang="en-US" sz="2400" u="sng" kern="100">
                          <a:effectLst/>
                        </a:rPr>
                        <a:t>8</a:t>
                      </a:r>
                      <a:r>
                        <a:rPr lang="en-US" sz="2400" kern="100">
                          <a:effectLst/>
                        </a:rPr>
                        <a:t> </a:t>
                      </a:r>
                      <a:r>
                        <a:rPr lang="en-US" sz="2400" u="sng" kern="100">
                          <a:effectLst/>
                        </a:rPr>
                        <a:t>2</a:t>
                      </a:r>
                      <a:r>
                        <a:rPr lang="en-US" sz="2400" kern="100">
                          <a:effectLst/>
                        </a:rPr>
                        <a:t>/+</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2400" kern="100">
                          <a:effectLst/>
                        </a:rPr>
                        <a:t> </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spcAft>
                          <a:spcPts val="0"/>
                        </a:spcAft>
                      </a:pPr>
                      <a:r>
                        <a:rPr lang="en-US" sz="2400" kern="100">
                          <a:effectLst/>
                        </a:rPr>
                        <a:t>10</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r">
                        <a:spcAft>
                          <a:spcPts val="0"/>
                        </a:spcAft>
                      </a:pPr>
                      <a:r>
                        <a:rPr lang="en-US" sz="2400" kern="100">
                          <a:effectLst/>
                        </a:rPr>
                        <a:t>/+</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2400" u="sng" kern="100">
                          <a:effectLst/>
                        </a:rPr>
                        <a:t>5</a:t>
                      </a:r>
                      <a:r>
                        <a:rPr lang="en-US" sz="2400" kern="100">
                          <a:effectLst/>
                        </a:rPr>
                        <a:t> </a:t>
                      </a:r>
                      <a:r>
                        <a:rPr lang="en-US" sz="2400" u="sng" kern="100">
                          <a:effectLst/>
                        </a:rPr>
                        <a:t>8</a:t>
                      </a:r>
                      <a:r>
                        <a:rPr lang="en-US" sz="2400" kern="100">
                          <a:effectLst/>
                        </a:rPr>
                        <a:t> </a:t>
                      </a:r>
                      <a:r>
                        <a:rPr lang="en-US" sz="2400" u="sng" kern="100">
                          <a:effectLst/>
                        </a:rPr>
                        <a:t>2</a:t>
                      </a:r>
                      <a:endParaRPr lang="zh-CN" sz="2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838913485"/>
                  </a:ext>
                </a:extLst>
              </a:tr>
              <a:tr h="444641">
                <a:tc>
                  <a:txBody>
                    <a:bodyPr/>
                    <a:lstStyle/>
                    <a:p>
                      <a:pPr algn="ctr">
                        <a:spcAft>
                          <a:spcPts val="0"/>
                        </a:spcAft>
                      </a:pPr>
                      <a:r>
                        <a:rPr lang="en-US" sz="2400" kern="100" dirty="0">
                          <a:effectLst/>
                        </a:rPr>
                        <a:t>2</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r">
                        <a:spcAft>
                          <a:spcPts val="0"/>
                        </a:spcAft>
                      </a:pPr>
                      <a:r>
                        <a:rPr lang="en-US" sz="2400" u="sng" kern="100">
                          <a:effectLst/>
                        </a:rPr>
                        <a:t>7</a:t>
                      </a:r>
                      <a:r>
                        <a:rPr lang="en-US" sz="2400" kern="100">
                          <a:effectLst/>
                        </a:rPr>
                        <a:t> </a:t>
                      </a:r>
                      <a:r>
                        <a:rPr lang="en-US" sz="2400" u="sng" kern="100">
                          <a:effectLst/>
                        </a:rPr>
                        <a:t>2</a:t>
                      </a:r>
                      <a:r>
                        <a:rPr lang="en-US" sz="2400" kern="100">
                          <a:effectLst/>
                        </a:rPr>
                        <a:t> </a:t>
                      </a:r>
                      <a:r>
                        <a:rPr lang="en-US" sz="2400" u="sng" kern="100">
                          <a:effectLst/>
                        </a:rPr>
                        <a:t>3</a:t>
                      </a:r>
                      <a:r>
                        <a:rPr lang="en-US" sz="2400" kern="100">
                          <a:effectLst/>
                        </a:rPr>
                        <a:t>*-*</a:t>
                      </a:r>
                      <a:r>
                        <a:rPr lang="en-US" sz="2400" u="sng" kern="100">
                          <a:effectLst/>
                        </a:rPr>
                        <a:t>8</a:t>
                      </a:r>
                      <a:r>
                        <a:rPr lang="en-US" sz="2400" kern="100">
                          <a:effectLst/>
                        </a:rPr>
                        <a:t> </a:t>
                      </a:r>
                      <a:r>
                        <a:rPr lang="en-US" sz="2400" u="sng" kern="100">
                          <a:effectLst/>
                        </a:rPr>
                        <a:t>2</a:t>
                      </a:r>
                      <a:r>
                        <a:rPr lang="en-US" sz="2400" kern="100">
                          <a:effectLst/>
                        </a:rPr>
                        <a:t>/+</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2400" u="sng" kern="100">
                          <a:effectLst/>
                        </a:rPr>
                        <a:t>5</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spcAft>
                          <a:spcPts val="0"/>
                        </a:spcAft>
                      </a:pPr>
                      <a:r>
                        <a:rPr lang="en-US" sz="2400" kern="100">
                          <a:effectLst/>
                        </a:rPr>
                        <a:t>11</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r">
                        <a:spcAft>
                          <a:spcPts val="0"/>
                        </a:spcAft>
                      </a:pPr>
                      <a:r>
                        <a:rPr lang="en-US" sz="2400" kern="100">
                          <a:effectLst/>
                        </a:rPr>
                        <a:t>+</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2400" u="sng" kern="100">
                          <a:effectLst/>
                        </a:rPr>
                        <a:t>5</a:t>
                      </a:r>
                      <a:r>
                        <a:rPr lang="en-US" sz="2400" kern="100">
                          <a:effectLst/>
                        </a:rPr>
                        <a:t> </a:t>
                      </a:r>
                      <a:r>
                        <a:rPr lang="en-US" sz="2400" u="sng" kern="100">
                          <a:effectLst/>
                        </a:rPr>
                        <a:t>4</a:t>
                      </a:r>
                      <a:endParaRPr lang="zh-CN" sz="2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667238176"/>
                  </a:ext>
                </a:extLst>
              </a:tr>
              <a:tr h="466872">
                <a:tc>
                  <a:txBody>
                    <a:bodyPr/>
                    <a:lstStyle/>
                    <a:p>
                      <a:pPr algn="ctr">
                        <a:spcAft>
                          <a:spcPts val="0"/>
                        </a:spcAft>
                      </a:pPr>
                      <a:r>
                        <a:rPr lang="en-US" sz="2400" kern="100" dirty="0">
                          <a:effectLst/>
                        </a:rPr>
                        <a:t>3</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r">
                        <a:spcAft>
                          <a:spcPts val="0"/>
                        </a:spcAft>
                      </a:pPr>
                      <a:r>
                        <a:rPr lang="en-US" sz="2400" u="sng" kern="100">
                          <a:effectLst/>
                        </a:rPr>
                        <a:t>2</a:t>
                      </a:r>
                      <a:r>
                        <a:rPr lang="en-US" sz="2400" kern="100">
                          <a:effectLst/>
                        </a:rPr>
                        <a:t> </a:t>
                      </a:r>
                      <a:r>
                        <a:rPr lang="en-US" sz="2400" u="sng" kern="100">
                          <a:effectLst/>
                        </a:rPr>
                        <a:t>3</a:t>
                      </a:r>
                      <a:r>
                        <a:rPr lang="en-US" sz="2400" kern="100">
                          <a:effectLst/>
                        </a:rPr>
                        <a:t>*-*</a:t>
                      </a:r>
                      <a:r>
                        <a:rPr lang="en-US" sz="2400" u="sng" kern="100">
                          <a:effectLst/>
                        </a:rPr>
                        <a:t>8</a:t>
                      </a:r>
                      <a:r>
                        <a:rPr lang="en-US" sz="2400" kern="100">
                          <a:effectLst/>
                        </a:rPr>
                        <a:t> </a:t>
                      </a:r>
                      <a:r>
                        <a:rPr lang="en-US" sz="2400" u="sng" kern="100">
                          <a:effectLst/>
                        </a:rPr>
                        <a:t>2</a:t>
                      </a:r>
                      <a:r>
                        <a:rPr lang="en-US" sz="2400" kern="100">
                          <a:effectLst/>
                        </a:rPr>
                        <a:t>/+</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2400" u="sng" kern="100">
                          <a:effectLst/>
                        </a:rPr>
                        <a:t>5</a:t>
                      </a:r>
                      <a:r>
                        <a:rPr lang="en-US" sz="2400" kern="100">
                          <a:effectLst/>
                        </a:rPr>
                        <a:t> </a:t>
                      </a:r>
                      <a:r>
                        <a:rPr lang="en-US" sz="2400" u="sng" kern="100">
                          <a:effectLst/>
                        </a:rPr>
                        <a:t>7</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spcAft>
                          <a:spcPts val="0"/>
                        </a:spcAft>
                      </a:pPr>
                      <a:r>
                        <a:rPr lang="en-US" sz="2400" kern="100" dirty="0">
                          <a:effectLst/>
                        </a:rPr>
                        <a:t>12</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r">
                        <a:spcAft>
                          <a:spcPts val="0"/>
                        </a:spcAft>
                      </a:pPr>
                      <a:r>
                        <a:rPr lang="en-US" sz="2400" kern="100">
                          <a:effectLst/>
                        </a:rPr>
                        <a:t> </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2400" u="sng" kern="100">
                          <a:effectLst/>
                        </a:rPr>
                        <a:t>9</a:t>
                      </a:r>
                      <a:endParaRPr lang="zh-CN" sz="2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4190378567"/>
                  </a:ext>
                </a:extLst>
              </a:tr>
              <a:tr h="444641">
                <a:tc>
                  <a:txBody>
                    <a:bodyPr/>
                    <a:lstStyle/>
                    <a:p>
                      <a:pPr algn="ctr">
                        <a:spcAft>
                          <a:spcPts val="0"/>
                        </a:spcAft>
                      </a:pPr>
                      <a:r>
                        <a:rPr lang="en-US" sz="2400" kern="100" dirty="0">
                          <a:effectLst/>
                        </a:rPr>
                        <a:t>4</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r">
                        <a:spcAft>
                          <a:spcPts val="0"/>
                        </a:spcAft>
                      </a:pPr>
                      <a:r>
                        <a:rPr lang="en-US" sz="2400" u="sng" kern="100">
                          <a:effectLst/>
                        </a:rPr>
                        <a:t>3</a:t>
                      </a:r>
                      <a:r>
                        <a:rPr lang="en-US" sz="2400" kern="100">
                          <a:effectLst/>
                        </a:rPr>
                        <a:t>*-*</a:t>
                      </a:r>
                      <a:r>
                        <a:rPr lang="en-US" sz="2400" u="sng" kern="100">
                          <a:effectLst/>
                        </a:rPr>
                        <a:t>8</a:t>
                      </a:r>
                      <a:r>
                        <a:rPr lang="en-US" sz="2400" kern="100">
                          <a:effectLst/>
                        </a:rPr>
                        <a:t> </a:t>
                      </a:r>
                      <a:r>
                        <a:rPr lang="en-US" sz="2400" u="sng" kern="100">
                          <a:effectLst/>
                        </a:rPr>
                        <a:t>2</a:t>
                      </a:r>
                      <a:r>
                        <a:rPr lang="en-US" sz="2400" kern="100">
                          <a:effectLst/>
                        </a:rPr>
                        <a:t>/+</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2400" u="sng" kern="100">
                          <a:effectLst/>
                        </a:rPr>
                        <a:t>5</a:t>
                      </a:r>
                      <a:r>
                        <a:rPr lang="en-US" sz="2400" kern="100">
                          <a:effectLst/>
                        </a:rPr>
                        <a:t> </a:t>
                      </a:r>
                      <a:r>
                        <a:rPr lang="en-US" sz="2400" u="sng" kern="100">
                          <a:effectLst/>
                        </a:rPr>
                        <a:t>7</a:t>
                      </a:r>
                      <a:r>
                        <a:rPr lang="en-US" sz="2400" kern="100">
                          <a:effectLst/>
                        </a:rPr>
                        <a:t> </a:t>
                      </a:r>
                      <a:r>
                        <a:rPr lang="en-US" sz="2400" u="sng" kern="100">
                          <a:effectLst/>
                        </a:rPr>
                        <a:t>2</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spcAft>
                          <a:spcPts val="0"/>
                        </a:spcAft>
                      </a:pPr>
                      <a:r>
                        <a:rPr lang="en-US" sz="2400" kern="100">
                          <a:effectLst/>
                        </a:rPr>
                        <a:t>13</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r">
                        <a:spcAft>
                          <a:spcPts val="0"/>
                        </a:spcAft>
                      </a:pPr>
                      <a:r>
                        <a:rPr lang="en-US" sz="2400" kern="100">
                          <a:effectLst/>
                        </a:rPr>
                        <a:t> </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2400" kern="100">
                          <a:effectLst/>
                        </a:rPr>
                        <a:t> </a:t>
                      </a:r>
                      <a:endParaRPr lang="zh-CN" sz="2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371972207"/>
                  </a:ext>
                </a:extLst>
              </a:tr>
              <a:tr h="444641">
                <a:tc>
                  <a:txBody>
                    <a:bodyPr/>
                    <a:lstStyle/>
                    <a:p>
                      <a:pPr algn="ctr">
                        <a:spcAft>
                          <a:spcPts val="0"/>
                        </a:spcAft>
                      </a:pPr>
                      <a:r>
                        <a:rPr lang="en-US" sz="2400" kern="100" dirty="0">
                          <a:effectLst/>
                        </a:rPr>
                        <a:t>5</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r">
                        <a:spcAft>
                          <a:spcPts val="0"/>
                        </a:spcAft>
                      </a:pPr>
                      <a:r>
                        <a:rPr lang="en-US" sz="2400" kern="100" dirty="0">
                          <a:effectLst/>
                        </a:rPr>
                        <a:t>*-*</a:t>
                      </a:r>
                      <a:r>
                        <a:rPr lang="en-US" sz="2400" u="sng" kern="100" dirty="0">
                          <a:effectLst/>
                        </a:rPr>
                        <a:t>8</a:t>
                      </a:r>
                      <a:r>
                        <a:rPr lang="en-US" sz="2400" kern="100" dirty="0">
                          <a:effectLst/>
                        </a:rPr>
                        <a:t> </a:t>
                      </a:r>
                      <a:r>
                        <a:rPr lang="en-US" sz="2400" u="sng" kern="100" dirty="0">
                          <a:effectLst/>
                        </a:rPr>
                        <a:t>2</a:t>
                      </a:r>
                      <a:r>
                        <a:rPr lang="en-US" sz="2400" kern="100" dirty="0">
                          <a:effectLst/>
                        </a:rPr>
                        <a:t>/+</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2400" u="sng" kern="100">
                          <a:effectLst/>
                        </a:rPr>
                        <a:t>5</a:t>
                      </a:r>
                      <a:r>
                        <a:rPr lang="en-US" sz="2400" kern="100">
                          <a:effectLst/>
                        </a:rPr>
                        <a:t> </a:t>
                      </a:r>
                      <a:r>
                        <a:rPr lang="en-US" sz="2400" u="sng" kern="100">
                          <a:effectLst/>
                        </a:rPr>
                        <a:t>7</a:t>
                      </a:r>
                      <a:r>
                        <a:rPr lang="en-US" sz="2400" kern="100">
                          <a:effectLst/>
                        </a:rPr>
                        <a:t> </a:t>
                      </a:r>
                      <a:r>
                        <a:rPr lang="en-US" sz="2400" u="sng" kern="100">
                          <a:effectLst/>
                        </a:rPr>
                        <a:t>2</a:t>
                      </a:r>
                      <a:r>
                        <a:rPr lang="en-US" sz="2400" kern="100">
                          <a:effectLst/>
                        </a:rPr>
                        <a:t> </a:t>
                      </a:r>
                      <a:r>
                        <a:rPr lang="en-US" sz="2400" u="sng" kern="100">
                          <a:effectLst/>
                        </a:rPr>
                        <a:t>3</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spcAft>
                          <a:spcPts val="0"/>
                        </a:spcAft>
                      </a:pPr>
                      <a:r>
                        <a:rPr lang="en-US" sz="2400" kern="100">
                          <a:effectLst/>
                        </a:rPr>
                        <a:t>14</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r">
                        <a:spcAft>
                          <a:spcPts val="0"/>
                        </a:spcAft>
                      </a:pPr>
                      <a:r>
                        <a:rPr lang="en-US" sz="2400" kern="100">
                          <a:effectLst/>
                        </a:rPr>
                        <a:t> </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2400" kern="100">
                          <a:effectLst/>
                        </a:rPr>
                        <a:t> </a:t>
                      </a:r>
                      <a:endParaRPr lang="zh-CN" sz="2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471353223"/>
                  </a:ext>
                </a:extLst>
              </a:tr>
              <a:tr h="466872">
                <a:tc>
                  <a:txBody>
                    <a:bodyPr/>
                    <a:lstStyle/>
                    <a:p>
                      <a:pPr algn="ctr">
                        <a:spcAft>
                          <a:spcPts val="0"/>
                        </a:spcAft>
                      </a:pPr>
                      <a:r>
                        <a:rPr lang="en-US" sz="2400" kern="100" dirty="0">
                          <a:effectLst/>
                        </a:rPr>
                        <a:t>6</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r">
                        <a:spcAft>
                          <a:spcPts val="0"/>
                        </a:spcAft>
                      </a:pPr>
                      <a:r>
                        <a:rPr lang="en-US" sz="2400" kern="100">
                          <a:effectLst/>
                        </a:rPr>
                        <a:t>-*</a:t>
                      </a:r>
                      <a:r>
                        <a:rPr lang="en-US" sz="2400" u="sng" kern="100">
                          <a:effectLst/>
                        </a:rPr>
                        <a:t>8</a:t>
                      </a:r>
                      <a:r>
                        <a:rPr lang="en-US" sz="2400" kern="100">
                          <a:effectLst/>
                        </a:rPr>
                        <a:t> </a:t>
                      </a:r>
                      <a:r>
                        <a:rPr lang="en-US" sz="2400" u="sng" kern="100">
                          <a:effectLst/>
                        </a:rPr>
                        <a:t>2</a:t>
                      </a:r>
                      <a:r>
                        <a:rPr lang="en-US" sz="2400" kern="100">
                          <a:effectLst/>
                        </a:rPr>
                        <a:t>/+</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2400" u="sng" kern="100">
                          <a:effectLst/>
                        </a:rPr>
                        <a:t>5</a:t>
                      </a:r>
                      <a:r>
                        <a:rPr lang="en-US" sz="2400" kern="100">
                          <a:effectLst/>
                        </a:rPr>
                        <a:t> </a:t>
                      </a:r>
                      <a:r>
                        <a:rPr lang="en-US" sz="2400" u="sng" kern="100">
                          <a:effectLst/>
                        </a:rPr>
                        <a:t>7</a:t>
                      </a:r>
                      <a:r>
                        <a:rPr lang="en-US" sz="2400" kern="100">
                          <a:effectLst/>
                        </a:rPr>
                        <a:t> </a:t>
                      </a:r>
                      <a:r>
                        <a:rPr lang="en-US" sz="2400" u="sng" kern="100">
                          <a:effectLst/>
                        </a:rPr>
                        <a:t>6</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spcAft>
                          <a:spcPts val="0"/>
                        </a:spcAft>
                      </a:pPr>
                      <a:r>
                        <a:rPr lang="en-US" sz="2400" kern="100">
                          <a:effectLst/>
                        </a:rPr>
                        <a:t>15</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r">
                        <a:spcAft>
                          <a:spcPts val="0"/>
                        </a:spcAft>
                      </a:pPr>
                      <a:r>
                        <a:rPr lang="en-US" sz="2400" kern="100">
                          <a:effectLst/>
                        </a:rPr>
                        <a:t> </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2400" kern="100">
                          <a:effectLst/>
                        </a:rPr>
                        <a:t> </a:t>
                      </a:r>
                      <a:endParaRPr lang="zh-CN" sz="2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53481524"/>
                  </a:ext>
                </a:extLst>
              </a:tr>
              <a:tr h="444641">
                <a:tc>
                  <a:txBody>
                    <a:bodyPr/>
                    <a:lstStyle/>
                    <a:p>
                      <a:pPr algn="ctr">
                        <a:spcAft>
                          <a:spcPts val="0"/>
                        </a:spcAft>
                      </a:pPr>
                      <a:r>
                        <a:rPr lang="en-US" sz="2400" kern="100" dirty="0">
                          <a:effectLst/>
                        </a:rPr>
                        <a:t>7</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r">
                        <a:spcAft>
                          <a:spcPts val="0"/>
                        </a:spcAft>
                      </a:pPr>
                      <a:r>
                        <a:rPr lang="en-US" sz="2400" kern="100">
                          <a:effectLst/>
                        </a:rPr>
                        <a:t>*</a:t>
                      </a:r>
                      <a:r>
                        <a:rPr lang="en-US" sz="2400" u="sng" kern="100">
                          <a:effectLst/>
                        </a:rPr>
                        <a:t>8</a:t>
                      </a:r>
                      <a:r>
                        <a:rPr lang="en-US" sz="2400" kern="100">
                          <a:effectLst/>
                        </a:rPr>
                        <a:t> </a:t>
                      </a:r>
                      <a:r>
                        <a:rPr lang="en-US" sz="2400" u="sng" kern="100">
                          <a:effectLst/>
                        </a:rPr>
                        <a:t>2</a:t>
                      </a:r>
                      <a:r>
                        <a:rPr lang="en-US" sz="2400" kern="100">
                          <a:effectLst/>
                        </a:rPr>
                        <a:t>/+</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2400" u="sng" kern="100">
                          <a:effectLst/>
                        </a:rPr>
                        <a:t>5</a:t>
                      </a:r>
                      <a:r>
                        <a:rPr lang="en-US" sz="2400" kern="100">
                          <a:effectLst/>
                        </a:rPr>
                        <a:t> </a:t>
                      </a:r>
                      <a:r>
                        <a:rPr lang="en-US" sz="2400" u="sng" kern="100">
                          <a:effectLst/>
                        </a:rPr>
                        <a:t>1</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spcAft>
                          <a:spcPts val="0"/>
                        </a:spcAft>
                      </a:pPr>
                      <a:r>
                        <a:rPr lang="en-US" sz="2400" kern="100">
                          <a:effectLst/>
                        </a:rPr>
                        <a:t>16</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r">
                        <a:spcAft>
                          <a:spcPts val="0"/>
                        </a:spcAft>
                      </a:pPr>
                      <a:r>
                        <a:rPr lang="en-US" sz="2400" kern="100">
                          <a:effectLst/>
                        </a:rPr>
                        <a:t> </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2400" kern="100">
                          <a:effectLst/>
                        </a:rPr>
                        <a:t> </a:t>
                      </a:r>
                      <a:endParaRPr lang="zh-CN" sz="2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479174463"/>
                  </a:ext>
                </a:extLst>
              </a:tr>
              <a:tr h="466872">
                <a:tc>
                  <a:txBody>
                    <a:bodyPr/>
                    <a:lstStyle/>
                    <a:p>
                      <a:pPr algn="ctr">
                        <a:spcAft>
                          <a:spcPts val="0"/>
                        </a:spcAft>
                      </a:pPr>
                      <a:r>
                        <a:rPr lang="en-US" sz="2400" kern="100" dirty="0">
                          <a:effectLst/>
                        </a:rPr>
                        <a:t>8</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r">
                        <a:spcAft>
                          <a:spcPts val="0"/>
                        </a:spcAft>
                      </a:pPr>
                      <a:r>
                        <a:rPr lang="en-US" sz="2400" u="sng" kern="100">
                          <a:effectLst/>
                        </a:rPr>
                        <a:t>8</a:t>
                      </a:r>
                      <a:r>
                        <a:rPr lang="en-US" sz="2400" kern="100">
                          <a:effectLst/>
                        </a:rPr>
                        <a:t> </a:t>
                      </a:r>
                      <a:r>
                        <a:rPr lang="en-US" sz="2400" u="sng" kern="100">
                          <a:effectLst/>
                        </a:rPr>
                        <a:t>2</a:t>
                      </a:r>
                      <a:r>
                        <a:rPr lang="en-US" sz="2400" kern="100">
                          <a:effectLst/>
                        </a:rPr>
                        <a:t>/+</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2400" u="sng" kern="100">
                          <a:effectLst/>
                        </a:rPr>
                        <a:t>5</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spcAft>
                          <a:spcPts val="0"/>
                        </a:spcAft>
                      </a:pPr>
                      <a:r>
                        <a:rPr lang="en-US" sz="2400" kern="100">
                          <a:effectLst/>
                        </a:rPr>
                        <a:t>17</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r">
                        <a:spcAft>
                          <a:spcPts val="0"/>
                        </a:spcAft>
                      </a:pPr>
                      <a:r>
                        <a:rPr lang="en-US" sz="2400" kern="100">
                          <a:effectLst/>
                        </a:rPr>
                        <a:t> </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2400" kern="100">
                          <a:effectLst/>
                        </a:rPr>
                        <a:t> </a:t>
                      </a:r>
                      <a:endParaRPr lang="zh-CN" sz="2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281814345"/>
                  </a:ext>
                </a:extLst>
              </a:tr>
              <a:tr h="466872">
                <a:tc>
                  <a:txBody>
                    <a:bodyPr/>
                    <a:lstStyle/>
                    <a:p>
                      <a:pPr algn="ctr">
                        <a:spcAft>
                          <a:spcPts val="0"/>
                        </a:spcAft>
                      </a:pPr>
                      <a:r>
                        <a:rPr lang="en-US" sz="2400" kern="100" dirty="0">
                          <a:effectLst/>
                        </a:rPr>
                        <a:t>9</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r">
                        <a:spcAft>
                          <a:spcPts val="0"/>
                        </a:spcAft>
                      </a:pPr>
                      <a:r>
                        <a:rPr lang="en-US" sz="2400" u="sng" kern="100" dirty="0">
                          <a:effectLst/>
                        </a:rPr>
                        <a:t>2</a:t>
                      </a:r>
                      <a:r>
                        <a:rPr lang="en-US" sz="2400" kern="100" dirty="0">
                          <a:effectLst/>
                        </a:rPr>
                        <a:t>/+</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2400" u="sng" kern="100" dirty="0">
                          <a:effectLst/>
                        </a:rPr>
                        <a:t>5</a:t>
                      </a:r>
                      <a:r>
                        <a:rPr lang="en-US" sz="2400" kern="100" dirty="0">
                          <a:effectLst/>
                        </a:rPr>
                        <a:t> </a:t>
                      </a:r>
                      <a:r>
                        <a:rPr lang="en-US" sz="2400" u="sng" kern="100" dirty="0">
                          <a:effectLst/>
                        </a:rPr>
                        <a:t>8</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spcAft>
                          <a:spcPts val="0"/>
                        </a:spcAft>
                      </a:pPr>
                      <a:r>
                        <a:rPr lang="en-US" sz="2400" kern="100" dirty="0">
                          <a:effectLst/>
                        </a:rPr>
                        <a:t>18</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r">
                        <a:spcAft>
                          <a:spcPts val="0"/>
                        </a:spcAft>
                      </a:pPr>
                      <a:r>
                        <a:rPr lang="en-US" sz="2400" kern="100" dirty="0">
                          <a:effectLst/>
                        </a:rPr>
                        <a:t> </a:t>
                      </a:r>
                      <a:endParaRPr lang="zh-CN" sz="2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2400" kern="100" dirty="0">
                          <a:effectLst/>
                        </a:rPr>
                        <a:t> </a:t>
                      </a:r>
                      <a:endParaRPr lang="zh-CN" sz="240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042255738"/>
                  </a:ext>
                </a:extLst>
              </a:tr>
            </a:tbl>
          </a:graphicData>
        </a:graphic>
      </p:graphicFrame>
    </p:spTree>
    <p:extLst>
      <p:ext uri="{BB962C8B-B14F-4D97-AF65-F5344CB8AC3E}">
        <p14:creationId xmlns:p14="http://schemas.microsoft.com/office/powerpoint/2010/main" val="9258481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06821"/>
            <a:ext cx="11903716" cy="5112640"/>
          </a:xfrm>
        </p:spPr>
        <p:txBody>
          <a:bodyPr>
            <a:noAutofit/>
          </a:bodyPr>
          <a:lstStyle/>
          <a:p>
            <a:pPr marL="0" indent="0">
              <a:buNone/>
            </a:pPr>
            <a:r>
              <a:rPr lang="en-US" altLang="zh-CN" sz="2000" b="0" dirty="0" err="1">
                <a:cs typeface="Times New Roman" panose="02020603050405020304" pitchFamily="18" charset="0"/>
              </a:rPr>
              <a:t>int</a:t>
            </a:r>
            <a:r>
              <a:rPr lang="en-US" altLang="zh-CN" sz="2000" b="0" dirty="0">
                <a:cs typeface="Times New Roman" panose="02020603050405020304" pitchFamily="18" charset="0"/>
              </a:rPr>
              <a:t> </a:t>
            </a:r>
            <a:r>
              <a:rPr lang="en-US" altLang="zh-CN" sz="2000" b="0" dirty="0" err="1">
                <a:cs typeface="Times New Roman" panose="02020603050405020304" pitchFamily="18" charset="0"/>
              </a:rPr>
              <a:t>calcPost</a:t>
            </a:r>
            <a:r>
              <a:rPr lang="en-US" altLang="zh-CN" sz="2000" b="0" dirty="0">
                <a:cs typeface="Times New Roman" panose="02020603050405020304" pitchFamily="18" charset="0"/>
              </a:rPr>
              <a:t>(char *</a:t>
            </a:r>
            <a:r>
              <a:rPr lang="en-US" altLang="zh-CN" sz="2000" b="0" dirty="0" err="1">
                <a:cs typeface="Times New Roman" panose="02020603050405020304" pitchFamily="18" charset="0"/>
              </a:rPr>
              <a:t>sufStr</a:t>
            </a:r>
            <a:r>
              <a:rPr lang="en-US" altLang="zh-CN" sz="2000" b="0" dirty="0">
                <a:cs typeface="Times New Roman" panose="02020603050405020304" pitchFamily="18" charset="0"/>
              </a:rPr>
              <a:t>)</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a:t>
            </a:r>
            <a:r>
              <a:rPr lang="en-US" altLang="zh-CN" sz="2000" b="0" dirty="0" err="1">
                <a:cs typeface="Times New Roman" panose="02020603050405020304" pitchFamily="18" charset="0"/>
              </a:rPr>
              <a:t>int</a:t>
            </a:r>
            <a:r>
              <a:rPr lang="en-US" altLang="zh-CN" sz="2000" b="0" dirty="0">
                <a:cs typeface="Times New Roman" panose="02020603050405020304" pitchFamily="18" charset="0"/>
              </a:rPr>
              <a:t> op1, op2, op;   </a:t>
            </a:r>
            <a:r>
              <a:rPr lang="en-US" altLang="zh-CN" sz="2000" b="0" dirty="0" err="1">
                <a:cs typeface="Times New Roman" panose="02020603050405020304" pitchFamily="18" charset="0"/>
              </a:rPr>
              <a:t>int</a:t>
            </a:r>
            <a:r>
              <a:rPr lang="en-US" altLang="zh-CN" sz="2000" b="0" dirty="0">
                <a:cs typeface="Times New Roman" panose="02020603050405020304" pitchFamily="18" charset="0"/>
              </a:rPr>
              <a:t> </a:t>
            </a:r>
            <a:r>
              <a:rPr lang="en-US" altLang="zh-CN" sz="2000" b="0" dirty="0" err="1">
                <a:cs typeface="Times New Roman" panose="02020603050405020304" pitchFamily="18" charset="0"/>
              </a:rPr>
              <a:t>tmp</a:t>
            </a:r>
            <a:r>
              <a:rPr lang="en-US" altLang="zh-CN" sz="2000" b="0" dirty="0">
                <a:cs typeface="Times New Roman" panose="02020603050405020304" pitchFamily="18" charset="0"/>
              </a:rPr>
              <a:t>, </a:t>
            </a:r>
            <a:r>
              <a:rPr lang="en-US" altLang="zh-CN" sz="2000" b="0" dirty="0" err="1">
                <a:cs typeface="Times New Roman" panose="02020603050405020304" pitchFamily="18" charset="0"/>
              </a:rPr>
              <a:t>i</a:t>
            </a:r>
            <a:r>
              <a:rPr lang="en-US" altLang="zh-CN" sz="2000" b="0" dirty="0">
                <a:cs typeface="Times New Roman" panose="02020603050405020304" pitchFamily="18" charset="0"/>
              </a:rPr>
              <a:t>;   </a:t>
            </a:r>
            <a:r>
              <a:rPr lang="en-US" altLang="zh-CN" sz="2000" b="0" dirty="0" err="1">
                <a:cs typeface="Times New Roman" panose="02020603050405020304" pitchFamily="18" charset="0"/>
              </a:rPr>
              <a:t>linkStack</a:t>
            </a:r>
            <a:r>
              <a:rPr lang="en-US" altLang="zh-CN" sz="2000" b="0" dirty="0">
                <a:cs typeface="Times New Roman" panose="02020603050405020304" pitchFamily="18" charset="0"/>
              </a:rPr>
              <a:t>&lt;</a:t>
            </a:r>
            <a:r>
              <a:rPr lang="en-US" altLang="zh-CN" sz="2000" b="0" dirty="0" err="1">
                <a:cs typeface="Times New Roman" panose="02020603050405020304" pitchFamily="18" charset="0"/>
              </a:rPr>
              <a:t>int</a:t>
            </a:r>
            <a:r>
              <a:rPr lang="en-US" altLang="zh-CN" sz="2000" b="0" dirty="0">
                <a:cs typeface="Times New Roman" panose="02020603050405020304" pitchFamily="18" charset="0"/>
              </a:rPr>
              <a:t>&gt; s;</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a:t>
            </a:r>
            <a:r>
              <a:rPr lang="en-US" altLang="zh-CN" sz="2000" b="0" dirty="0" err="1">
                <a:cs typeface="Times New Roman" panose="02020603050405020304" pitchFamily="18" charset="0"/>
              </a:rPr>
              <a:t>i</a:t>
            </a:r>
            <a:r>
              <a:rPr lang="en-US" altLang="zh-CN" sz="2000" b="0" dirty="0">
                <a:cs typeface="Times New Roman" panose="02020603050405020304" pitchFamily="18" charset="0"/>
              </a:rPr>
              <a:t>=0;</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while (</a:t>
            </a:r>
            <a:r>
              <a:rPr lang="en-US" altLang="zh-CN" sz="2000" b="0" dirty="0" err="1">
                <a:cs typeface="Times New Roman" panose="02020603050405020304" pitchFamily="18" charset="0"/>
              </a:rPr>
              <a:t>sufStr</a:t>
            </a:r>
            <a:r>
              <a:rPr lang="en-US" altLang="zh-CN" sz="2000" b="0" dirty="0">
                <a:cs typeface="Times New Roman" panose="02020603050405020304" pitchFamily="18" charset="0"/>
              </a:rPr>
              <a:t>[</a:t>
            </a:r>
            <a:r>
              <a:rPr lang="en-US" altLang="zh-CN" sz="2000" b="0" dirty="0" err="1">
                <a:cs typeface="Times New Roman" panose="02020603050405020304" pitchFamily="18" charset="0"/>
              </a:rPr>
              <a:t>i</a:t>
            </a:r>
            <a:r>
              <a:rPr lang="en-US" altLang="zh-CN" sz="2000" b="0" dirty="0">
                <a:cs typeface="Times New Roman" panose="02020603050405020304" pitchFamily="18" charset="0"/>
              </a:rPr>
              <a:t>]!='\0')</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   if ((</a:t>
            </a:r>
            <a:r>
              <a:rPr lang="en-US" altLang="zh-CN" sz="2000" b="0" dirty="0" err="1">
                <a:cs typeface="Times New Roman" panose="02020603050405020304" pitchFamily="18" charset="0"/>
              </a:rPr>
              <a:t>sufStr</a:t>
            </a:r>
            <a:r>
              <a:rPr lang="en-US" altLang="zh-CN" sz="2000" b="0" dirty="0">
                <a:cs typeface="Times New Roman" panose="02020603050405020304" pitchFamily="18" charset="0"/>
              </a:rPr>
              <a:t>[</a:t>
            </a:r>
            <a:r>
              <a:rPr lang="en-US" altLang="zh-CN" sz="2000" b="0" dirty="0" err="1">
                <a:cs typeface="Times New Roman" panose="02020603050405020304" pitchFamily="18" charset="0"/>
              </a:rPr>
              <a:t>i</a:t>
            </a:r>
            <a:r>
              <a:rPr lang="en-US" altLang="zh-CN" sz="2000" b="0" dirty="0">
                <a:cs typeface="Times New Roman" panose="02020603050405020304" pitchFamily="18" charset="0"/>
              </a:rPr>
              <a:t>]&gt;='0')&amp;&amp;(</a:t>
            </a:r>
            <a:r>
              <a:rPr lang="en-US" altLang="zh-CN" sz="2000" b="0" dirty="0" err="1">
                <a:cs typeface="Times New Roman" panose="02020603050405020304" pitchFamily="18" charset="0"/>
              </a:rPr>
              <a:t>sufStr</a:t>
            </a:r>
            <a:r>
              <a:rPr lang="en-US" altLang="zh-CN" sz="2000" b="0" dirty="0">
                <a:cs typeface="Times New Roman" panose="02020603050405020304" pitchFamily="18" charset="0"/>
              </a:rPr>
              <a:t>[</a:t>
            </a:r>
            <a:r>
              <a:rPr lang="en-US" altLang="zh-CN" sz="2000" b="0" dirty="0" err="1">
                <a:cs typeface="Times New Roman" panose="02020603050405020304" pitchFamily="18" charset="0"/>
              </a:rPr>
              <a:t>i</a:t>
            </a:r>
            <a:r>
              <a:rPr lang="en-US" altLang="zh-CN" sz="2000" b="0" dirty="0">
                <a:cs typeface="Times New Roman" panose="02020603050405020304" pitchFamily="18" charset="0"/>
              </a:rPr>
              <a:t>]&lt;='9')) //</a:t>
            </a:r>
            <a:r>
              <a:rPr lang="zh-CN" altLang="zh-CN" sz="2000" b="0" dirty="0">
                <a:cs typeface="Times New Roman" panose="02020603050405020304" pitchFamily="18" charset="0"/>
              </a:rPr>
              <a:t>数字转为整数后进栈</a:t>
            </a:r>
          </a:p>
          <a:p>
            <a:pPr marL="0" indent="0">
              <a:buNone/>
            </a:pPr>
            <a:r>
              <a:rPr lang="en-US" altLang="zh-CN" sz="2000" b="0" dirty="0">
                <a:cs typeface="Times New Roman" panose="02020603050405020304" pitchFamily="18" charset="0"/>
              </a:rPr>
              <a:t>        {  </a:t>
            </a:r>
            <a:r>
              <a:rPr lang="en-US" altLang="zh-CN" sz="2000" b="0" dirty="0" err="1">
                <a:cs typeface="Times New Roman" panose="02020603050405020304" pitchFamily="18" charset="0"/>
              </a:rPr>
              <a:t>tmp</a:t>
            </a:r>
            <a:r>
              <a:rPr lang="en-US" altLang="zh-CN" sz="2000" b="0" dirty="0">
                <a:cs typeface="Times New Roman" panose="02020603050405020304" pitchFamily="18" charset="0"/>
              </a:rPr>
              <a:t> = </a:t>
            </a:r>
            <a:r>
              <a:rPr lang="en-US" altLang="zh-CN" sz="2000" b="0" dirty="0" err="1">
                <a:cs typeface="Times New Roman" panose="02020603050405020304" pitchFamily="18" charset="0"/>
              </a:rPr>
              <a:t>sufStr</a:t>
            </a:r>
            <a:r>
              <a:rPr lang="en-US" altLang="zh-CN" sz="2000" b="0" dirty="0">
                <a:cs typeface="Times New Roman" panose="02020603050405020304" pitchFamily="18" charset="0"/>
              </a:rPr>
              <a:t>[</a:t>
            </a:r>
            <a:r>
              <a:rPr lang="en-US" altLang="zh-CN" sz="2000" b="0" dirty="0" err="1">
                <a:cs typeface="Times New Roman" panose="02020603050405020304" pitchFamily="18" charset="0"/>
              </a:rPr>
              <a:t>i</a:t>
            </a:r>
            <a:r>
              <a:rPr lang="en-US" altLang="zh-CN" sz="2000" b="0" dirty="0">
                <a:cs typeface="Times New Roman" panose="02020603050405020304" pitchFamily="18" charset="0"/>
              </a:rPr>
              <a:t>] - '0';</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a:t>
            </a:r>
            <a:r>
              <a:rPr lang="en-US" altLang="zh-CN" sz="2000" b="0" dirty="0" err="1">
                <a:cs typeface="Times New Roman" panose="02020603050405020304" pitchFamily="18" charset="0"/>
              </a:rPr>
              <a:t>s.push</a:t>
            </a:r>
            <a:r>
              <a:rPr lang="en-US" altLang="zh-CN" sz="2000" b="0" dirty="0">
                <a:cs typeface="Times New Roman" panose="02020603050405020304" pitchFamily="18" charset="0"/>
              </a:rPr>
              <a:t>(</a:t>
            </a:r>
            <a:r>
              <a:rPr lang="en-US" altLang="zh-CN" sz="2000" b="0" dirty="0" err="1">
                <a:cs typeface="Times New Roman" panose="02020603050405020304" pitchFamily="18" charset="0"/>
              </a:rPr>
              <a:t>tmp</a:t>
            </a:r>
            <a:r>
              <a:rPr lang="en-US" altLang="zh-CN" sz="2000" b="0" dirty="0">
                <a:cs typeface="Times New Roman" panose="02020603050405020304" pitchFamily="18" charset="0"/>
              </a:rPr>
              <a:t>);</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a:t>
            </a:r>
          </a:p>
          <a:p>
            <a:pPr marL="0" indent="0">
              <a:buNone/>
            </a:pPr>
            <a:r>
              <a:rPr lang="en-US" altLang="zh-CN" sz="2000" b="0" dirty="0">
                <a:cs typeface="Times New Roman" panose="02020603050405020304" pitchFamily="18" charset="0"/>
              </a:rPr>
              <a:t>        else</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     op2 = </a:t>
            </a:r>
            <a:r>
              <a:rPr lang="en-US" altLang="zh-CN" sz="2000" b="0" dirty="0" err="1">
                <a:cs typeface="Times New Roman" panose="02020603050405020304" pitchFamily="18" charset="0"/>
              </a:rPr>
              <a:t>s.top</a:t>
            </a:r>
            <a:r>
              <a:rPr lang="en-US" altLang="zh-CN" sz="2000" b="0" dirty="0">
                <a:cs typeface="Times New Roman" panose="02020603050405020304" pitchFamily="18" charset="0"/>
              </a:rPr>
              <a:t>(); </a:t>
            </a:r>
            <a:r>
              <a:rPr lang="en-US" altLang="zh-CN" sz="2000" b="0" dirty="0" err="1">
                <a:cs typeface="Times New Roman" panose="02020603050405020304" pitchFamily="18" charset="0"/>
              </a:rPr>
              <a:t>s.pop</a:t>
            </a:r>
            <a:r>
              <a:rPr lang="en-US" altLang="zh-CN" sz="2000" b="0" dirty="0">
                <a:cs typeface="Times New Roman" panose="02020603050405020304" pitchFamily="18" charset="0"/>
              </a:rPr>
              <a:t>(); //</a:t>
            </a:r>
            <a:r>
              <a:rPr lang="zh-CN" altLang="zh-CN" sz="2000" b="0" dirty="0">
                <a:cs typeface="Times New Roman" panose="02020603050405020304" pitchFamily="18" charset="0"/>
              </a:rPr>
              <a:t>栈顶整数出栈</a:t>
            </a:r>
            <a:r>
              <a:rPr lang="en-US" altLang="zh-CN" sz="2000" b="0" dirty="0">
                <a:cs typeface="Times New Roman" panose="02020603050405020304" pitchFamily="18" charset="0"/>
              </a:rPr>
              <a:t>      op1 = </a:t>
            </a:r>
            <a:r>
              <a:rPr lang="en-US" altLang="zh-CN" sz="2000" b="0" dirty="0" err="1">
                <a:cs typeface="Times New Roman" panose="02020603050405020304" pitchFamily="18" charset="0"/>
              </a:rPr>
              <a:t>s.top</a:t>
            </a:r>
            <a:r>
              <a:rPr lang="en-US" altLang="zh-CN" sz="2000" b="0" dirty="0">
                <a:cs typeface="Times New Roman" panose="02020603050405020304" pitchFamily="18" charset="0"/>
              </a:rPr>
              <a:t>(); </a:t>
            </a:r>
            <a:r>
              <a:rPr lang="en-US" altLang="zh-CN" sz="2000" b="0" dirty="0" err="1">
                <a:cs typeface="Times New Roman" panose="02020603050405020304" pitchFamily="18" charset="0"/>
              </a:rPr>
              <a:t>s.pop</a:t>
            </a:r>
            <a:r>
              <a:rPr lang="en-US" altLang="zh-CN" sz="2000" b="0" dirty="0">
                <a:cs typeface="Times New Roman" panose="02020603050405020304" pitchFamily="18" charset="0"/>
              </a:rPr>
              <a:t>();</a:t>
            </a:r>
            <a:endParaRPr lang="en-US" altLang="zh-CN"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计算后缀式算法实现</a:t>
            </a:r>
          </a:p>
        </p:txBody>
      </p:sp>
    </p:spTree>
    <p:extLst>
      <p:ext uri="{BB962C8B-B14F-4D97-AF65-F5344CB8AC3E}">
        <p14:creationId xmlns:p14="http://schemas.microsoft.com/office/powerpoint/2010/main" val="40134367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8041" y="870717"/>
            <a:ext cx="10227315" cy="5669232"/>
          </a:xfrm>
        </p:spPr>
        <p:txBody>
          <a:bodyPr>
            <a:noAutofit/>
          </a:bodyPr>
          <a:lstStyle/>
          <a:p>
            <a:pPr marL="0" indent="0">
              <a:buNone/>
            </a:pPr>
            <a:r>
              <a:rPr lang="en-US" altLang="zh-CN" sz="2000" b="0" dirty="0">
                <a:cs typeface="Times New Roman" panose="02020603050405020304" pitchFamily="18" charset="0"/>
              </a:rPr>
              <a:t>            switch (</a:t>
            </a:r>
            <a:r>
              <a:rPr lang="en-US" altLang="zh-CN" sz="2000" b="0" dirty="0" err="1">
                <a:cs typeface="Times New Roman" panose="02020603050405020304" pitchFamily="18" charset="0"/>
              </a:rPr>
              <a:t>sufStr</a:t>
            </a:r>
            <a:r>
              <a:rPr lang="en-US" altLang="zh-CN" sz="2000" b="0" dirty="0">
                <a:cs typeface="Times New Roman" panose="02020603050405020304" pitchFamily="18" charset="0"/>
              </a:rPr>
              <a:t>[</a:t>
            </a:r>
            <a:r>
              <a:rPr lang="en-US" altLang="zh-CN" sz="2000" b="0" dirty="0" err="1">
                <a:cs typeface="Times New Roman" panose="02020603050405020304" pitchFamily="18" charset="0"/>
              </a:rPr>
              <a:t>i</a:t>
            </a:r>
            <a:r>
              <a:rPr lang="en-US" altLang="zh-CN" sz="2000" b="0" dirty="0">
                <a:cs typeface="Times New Roman" panose="02020603050405020304" pitchFamily="18" charset="0"/>
              </a:rPr>
              <a:t>])</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  case '*': op = op1*op2; break; //</a:t>
            </a:r>
            <a:r>
              <a:rPr lang="zh-CN" altLang="zh-CN" sz="2000" b="0" dirty="0">
                <a:cs typeface="Times New Roman" panose="02020603050405020304" pitchFamily="18" charset="0"/>
              </a:rPr>
              <a:t>如果是运算符为</a:t>
            </a:r>
            <a:r>
              <a:rPr lang="en-US" altLang="zh-CN" sz="2000" b="0" dirty="0">
                <a:cs typeface="Times New Roman" panose="02020603050405020304" pitchFamily="18" charset="0"/>
              </a:rPr>
              <a:t>'*',</a:t>
            </a:r>
            <a:r>
              <a:rPr lang="zh-CN" altLang="zh-CN" sz="2000" b="0" dirty="0">
                <a:cs typeface="Times New Roman" panose="02020603050405020304" pitchFamily="18" charset="0"/>
              </a:rPr>
              <a:t>则做</a:t>
            </a:r>
            <a:r>
              <a:rPr lang="en-US" altLang="zh-CN" sz="2000" b="0" dirty="0">
                <a:cs typeface="Times New Roman" panose="02020603050405020304" pitchFamily="18" charset="0"/>
              </a:rPr>
              <a:t>*</a:t>
            </a:r>
            <a:r>
              <a:rPr lang="zh-CN" altLang="zh-CN" sz="2000" b="0" dirty="0">
                <a:cs typeface="Times New Roman" panose="02020603050405020304" pitchFamily="18" charset="0"/>
              </a:rPr>
              <a:t>运算</a:t>
            </a:r>
          </a:p>
          <a:p>
            <a:pPr marL="0" indent="0">
              <a:buNone/>
            </a:pPr>
            <a:r>
              <a:rPr lang="en-US" altLang="zh-CN" sz="2000" b="0" dirty="0">
                <a:cs typeface="Times New Roman" panose="02020603050405020304" pitchFamily="18" charset="0"/>
              </a:rPr>
              <a:t>                case '/': op = op1/op2; break;</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case '+': op = op1+op2; break;</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case '-': op = op1-op2; break;      </a:t>
            </a:r>
          </a:p>
          <a:p>
            <a:pPr marL="0" indent="0">
              <a:buNone/>
            </a:pPr>
            <a:r>
              <a:rPr lang="en-US" altLang="zh-CN" sz="2000" b="0" dirty="0">
                <a:cs typeface="Times New Roman" panose="02020603050405020304" pitchFamily="18" charset="0"/>
              </a:rPr>
              <a:t>            };</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a:t>
            </a:r>
            <a:r>
              <a:rPr lang="en-US" altLang="zh-CN" sz="2000" b="0" dirty="0" err="1">
                <a:cs typeface="Times New Roman" panose="02020603050405020304" pitchFamily="18" charset="0"/>
              </a:rPr>
              <a:t>s.push</a:t>
            </a:r>
            <a:r>
              <a:rPr lang="en-US" altLang="zh-CN" sz="2000" b="0" dirty="0">
                <a:cs typeface="Times New Roman" panose="02020603050405020304" pitchFamily="18" charset="0"/>
              </a:rPr>
              <a:t>(op); //</a:t>
            </a:r>
            <a:r>
              <a:rPr lang="zh-CN" altLang="zh-CN" sz="2000" b="0" dirty="0">
                <a:cs typeface="Times New Roman" panose="02020603050405020304" pitchFamily="18" charset="0"/>
              </a:rPr>
              <a:t>每一步计算结果进栈</a:t>
            </a:r>
          </a:p>
          <a:p>
            <a:pPr marL="0" indent="0">
              <a:buNone/>
            </a:pPr>
            <a:r>
              <a:rPr lang="en-US" altLang="zh-CN" sz="2000" b="0" dirty="0">
                <a:cs typeface="Times New Roman" panose="02020603050405020304" pitchFamily="18" charset="0"/>
              </a:rPr>
              <a:t>        }    </a:t>
            </a:r>
            <a:r>
              <a:rPr lang="en-US" altLang="zh-CN" sz="2000" b="0" dirty="0" err="1">
                <a:cs typeface="Times New Roman" panose="02020603050405020304" pitchFamily="18" charset="0"/>
              </a:rPr>
              <a:t>i</a:t>
            </a:r>
            <a:r>
              <a:rPr lang="en-US" altLang="zh-CN" sz="2000" b="0" dirty="0">
                <a:cs typeface="Times New Roman" panose="02020603050405020304" pitchFamily="18" charset="0"/>
              </a:rPr>
              <a:t>++;</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 </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op = </a:t>
            </a:r>
            <a:r>
              <a:rPr lang="en-US" altLang="zh-CN" sz="2000" b="0" dirty="0" err="1">
                <a:cs typeface="Times New Roman" panose="02020603050405020304" pitchFamily="18" charset="0"/>
              </a:rPr>
              <a:t>s.top</a:t>
            </a:r>
            <a:r>
              <a:rPr lang="en-US" altLang="zh-CN" sz="2000" b="0" dirty="0">
                <a:cs typeface="Times New Roman" panose="02020603050405020304" pitchFamily="18" charset="0"/>
              </a:rPr>
              <a:t>(); </a:t>
            </a:r>
            <a:r>
              <a:rPr lang="en-US" altLang="zh-CN" sz="2000" b="0" dirty="0" err="1">
                <a:cs typeface="Times New Roman" panose="02020603050405020304" pitchFamily="18" charset="0"/>
              </a:rPr>
              <a:t>s.pop</a:t>
            </a:r>
            <a:r>
              <a:rPr lang="en-US" altLang="zh-CN" sz="2000" b="0" dirty="0">
                <a:cs typeface="Times New Roman" panose="02020603050405020304" pitchFamily="18" charset="0"/>
              </a:rPr>
              <a:t>();</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return op;        }</a:t>
            </a:r>
          </a:p>
        </p:txBody>
      </p:sp>
      <p:sp>
        <p:nvSpPr>
          <p:cNvPr id="3" name="文本框 2"/>
          <p:cNvSpPr txBox="1"/>
          <p:nvPr/>
        </p:nvSpPr>
        <p:spPr>
          <a:xfrm>
            <a:off x="6738730" y="2862470"/>
            <a:ext cx="4711148" cy="1384995"/>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从算法中可以看出，对后缀式字符串从左到右一次扫描即可计算完毕。</a:t>
            </a:r>
          </a:p>
        </p:txBody>
      </p:sp>
      <p:sp>
        <p:nvSpPr>
          <p:cNvPr id="2" name="椭圆 1"/>
          <p:cNvSpPr/>
          <p:nvPr/>
        </p:nvSpPr>
        <p:spPr>
          <a:xfrm>
            <a:off x="11449878" y="6309360"/>
            <a:ext cx="189128" cy="23058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144323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66456"/>
            <a:ext cx="11903716" cy="3619498"/>
          </a:xfrm>
        </p:spPr>
        <p:txBody>
          <a:bodyPr>
            <a:normAutofit/>
          </a:bodyPr>
          <a:lstStyle/>
          <a:p>
            <a:pPr marL="0" indent="0">
              <a:lnSpc>
                <a:spcPct val="115000"/>
              </a:lnSpc>
              <a:buNone/>
              <a:defRPr/>
            </a:pPr>
            <a:r>
              <a:rPr lang="zh-CN" altLang="zh-CN" sz="2800" b="0" dirty="0">
                <a:ea typeface="华文楷体" pitchFamily="2" charset="-122"/>
                <a:cs typeface="Times New Roman" panose="02020603050405020304" pitchFamily="18" charset="0"/>
              </a:rPr>
              <a:t>表达式</a:t>
            </a:r>
            <a:r>
              <a:rPr lang="en-US" altLang="zh-CN" sz="2800" b="0" dirty="0">
                <a:ea typeface="华文楷体" pitchFamily="2" charset="-122"/>
                <a:cs typeface="Times New Roman" panose="02020603050405020304" pitchFamily="18" charset="0"/>
              </a:rPr>
              <a:t>5*(7-2*3)+8/2</a:t>
            </a:r>
            <a:r>
              <a:rPr lang="zh-CN" altLang="zh-CN" sz="2800" b="0" dirty="0">
                <a:ea typeface="华文楷体" pitchFamily="2" charset="-122"/>
                <a:cs typeface="Times New Roman" panose="02020603050405020304" pitchFamily="18" charset="0"/>
              </a:rPr>
              <a:t>转换为后缀式为： </a:t>
            </a:r>
            <a:r>
              <a:rPr lang="en-US" altLang="zh-CN" sz="2800" b="0" dirty="0">
                <a:ea typeface="华文楷体" pitchFamily="2" charset="-122"/>
                <a:cs typeface="Times New Roman" panose="02020603050405020304" pitchFamily="18" charset="0"/>
              </a:rPr>
              <a:t>5 7 2 3*-*8 2/+</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lnSpc>
                <a:spcPct val="115000"/>
              </a:lnSpc>
              <a:buNone/>
              <a:defRPr/>
            </a:pPr>
            <a:r>
              <a:rPr lang="zh-CN" altLang="en-US" sz="2800" b="0" dirty="0">
                <a:ea typeface="华文楷体" pitchFamily="2" charset="-122"/>
                <a:cs typeface="Times New Roman" panose="02020603050405020304" pitchFamily="18" charset="0"/>
              </a:rPr>
              <a:t>手工转换时，先计算的先转换，即按照计算的优先级来。</a:t>
            </a:r>
            <a:endParaRPr lang="en-US" altLang="zh-CN" sz="2800" b="0" dirty="0">
              <a:ea typeface="华文楷体" pitchFamily="2" charset="-122"/>
              <a:cs typeface="Times New Roman" panose="02020603050405020304" pitchFamily="18" charset="0"/>
            </a:endParaRPr>
          </a:p>
          <a:p>
            <a:pPr marL="0" indent="0">
              <a:lnSpc>
                <a:spcPct val="115000"/>
              </a:lnSpc>
              <a:buNone/>
              <a:defRPr/>
            </a:pPr>
            <a:endParaRPr lang="en-US" altLang="zh-CN" sz="2800" b="0" dirty="0">
              <a:ea typeface="华文楷体" pitchFamily="2" charset="-122"/>
              <a:cs typeface="Times New Roman" panose="02020603050405020304" pitchFamily="18" charset="0"/>
            </a:endParaRPr>
          </a:p>
          <a:p>
            <a:pPr marL="0" indent="0">
              <a:lnSpc>
                <a:spcPct val="115000"/>
              </a:lnSpc>
              <a:buNone/>
              <a:defRPr/>
            </a:pPr>
            <a:r>
              <a:rPr lang="zh-CN" altLang="en-US" sz="2800" b="0" dirty="0">
                <a:ea typeface="华文楷体" pitchFamily="2" charset="-122"/>
                <a:cs typeface="Times New Roman" panose="02020603050405020304" pitchFamily="18" charset="0"/>
              </a:rPr>
              <a:t>观察后缀式，可以看出：</a:t>
            </a:r>
            <a:endParaRPr lang="en-US" altLang="zh-CN" sz="2800" b="0" dirty="0">
              <a:ea typeface="华文楷体" pitchFamily="2" charset="-122"/>
              <a:cs typeface="Times New Roman" panose="02020603050405020304" pitchFamily="18" charset="0"/>
            </a:endParaRPr>
          </a:p>
          <a:p>
            <a:pPr marL="0" indent="0">
              <a:lnSpc>
                <a:spcPct val="115000"/>
              </a:lnSpc>
              <a:buNone/>
              <a:defRPr/>
            </a:pPr>
            <a:r>
              <a:rPr lang="zh-CN" altLang="en-US" sz="2800" b="0" dirty="0">
                <a:ea typeface="华文楷体" pitchFamily="2" charset="-122"/>
                <a:cs typeface="Times New Roman" panose="02020603050405020304" pitchFamily="18" charset="0"/>
              </a:rPr>
              <a:t>从左至右，操作数保持原来的相对位置，操作符是先计算的先出现。</a:t>
            </a:r>
            <a:endParaRPr lang="en-US" altLang="zh-CN" sz="2800" b="0" dirty="0">
              <a:ea typeface="华文楷体" pitchFamily="2" charset="-122"/>
              <a:cs typeface="Times New Roman" panose="02020603050405020304" pitchFamily="18" charset="0"/>
            </a:endParaRPr>
          </a:p>
          <a:p>
            <a:pPr marL="0" indent="0">
              <a:lnSpc>
                <a:spcPct val="115000"/>
              </a:lnSpc>
              <a:buNone/>
              <a:defRPr/>
            </a:pPr>
            <a:endParaRPr lang="en-US" altLang="zh-CN" sz="2800" dirty="0">
              <a:ea typeface="华文楷体" pitchFamily="2" charset="-122"/>
              <a:cs typeface="Times New Roman" panose="02020603050405020304" pitchFamily="18" charset="0"/>
            </a:endParaRPr>
          </a:p>
          <a:p>
            <a:pPr marL="1789113"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中缀式转后缀式</a:t>
            </a:r>
          </a:p>
        </p:txBody>
      </p:sp>
    </p:spTree>
    <p:extLst>
      <p:ext uri="{BB962C8B-B14F-4D97-AF65-F5344CB8AC3E}">
        <p14:creationId xmlns:p14="http://schemas.microsoft.com/office/powerpoint/2010/main" val="41809163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66455"/>
            <a:ext cx="11903716" cy="5291545"/>
          </a:xfrm>
        </p:spPr>
        <p:txBody>
          <a:bodyPr>
            <a:normAutofit/>
          </a:bodyPr>
          <a:lstStyle/>
          <a:p>
            <a:pPr>
              <a:lnSpc>
                <a:spcPct val="115000"/>
              </a:lnSpc>
              <a:buFont typeface="Wingdings" panose="05000000000000000000" pitchFamily="2" charset="2"/>
              <a:buChar char="Ø"/>
              <a:defRPr/>
            </a:pPr>
            <a:r>
              <a:rPr lang="zh-CN" altLang="zh-CN" sz="2800" b="0" dirty="0">
                <a:latin typeface="华文楷体" pitchFamily="2" charset="-122"/>
                <a:ea typeface="华文楷体" pitchFamily="2" charset="-122"/>
              </a:rPr>
              <a:t>对一个中缀表达式，从左至右顺序读入各操作数、运算符。</a:t>
            </a:r>
            <a:endParaRPr lang="en-US" altLang="zh-CN" sz="2800" b="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zh-CN" sz="2800" b="0" dirty="0">
                <a:latin typeface="华文楷体" pitchFamily="2" charset="-122"/>
                <a:ea typeface="华文楷体" pitchFamily="2" charset="-122"/>
              </a:rPr>
              <a:t>当读入的是操作数时，直接输出 </a:t>
            </a:r>
            <a:r>
              <a:rPr lang="en-US" altLang="zh-CN"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如：输出到屏幕或追加到保存后缀式的字符串中</a:t>
            </a:r>
            <a:r>
              <a:rPr lang="en-US" altLang="zh-CN"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zh-CN" sz="2800" b="0" dirty="0">
                <a:latin typeface="华文楷体" pitchFamily="2" charset="-122"/>
                <a:ea typeface="华文楷体" pitchFamily="2" charset="-122"/>
              </a:rPr>
              <a:t>当读入的是操作符时，当读入的运算符优先级高时，</a:t>
            </a:r>
            <a:r>
              <a:rPr lang="zh-CN" altLang="en-US" sz="2800" b="0" dirty="0">
                <a:latin typeface="华文楷体" pitchFamily="2" charset="-122"/>
                <a:ea typeface="华文楷体" pitchFamily="2" charset="-122"/>
              </a:rPr>
              <a:t>因不知是否后续读入的操作符优先级更高，</a:t>
            </a:r>
            <a:r>
              <a:rPr lang="zh-CN" altLang="zh-CN" sz="2800" b="0" dirty="0">
                <a:latin typeface="华文楷体" pitchFamily="2" charset="-122"/>
                <a:ea typeface="华文楷体" pitchFamily="2" charset="-122"/>
              </a:rPr>
              <a:t>只能将本次读入的运算符暂存，继续读入中缀式。当读入的运算符优先级低时，才可能计算刚才暂存的运算符</a:t>
            </a:r>
            <a:r>
              <a:rPr lang="en-US" altLang="zh-CN"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即输出</a:t>
            </a:r>
            <a:r>
              <a:rPr lang="en-US" altLang="zh-CN"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；在暂存机构中，越是后面存入的操作符，优先级越高，越先出来进行计算，这种结构就是</a:t>
            </a:r>
            <a:r>
              <a:rPr lang="zh-CN" altLang="zh-CN" sz="2800" dirty="0">
                <a:latin typeface="华文楷体" pitchFamily="2" charset="-122"/>
                <a:ea typeface="华文楷体" pitchFamily="2" charset="-122"/>
              </a:rPr>
              <a:t>栈</a:t>
            </a:r>
            <a:r>
              <a:rPr lang="zh-CN" altLang="zh-CN" sz="2800" b="0" dirty="0">
                <a:latin typeface="华文楷体" pitchFamily="2" charset="-122"/>
                <a:ea typeface="华文楷体" pitchFamily="2" charset="-122"/>
              </a:rPr>
              <a:t>，处于栈顶的运算符的优先级最高。</a:t>
            </a:r>
            <a:endParaRPr lang="en-US" altLang="zh-CN" sz="2800" b="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b="0" dirty="0">
                <a:latin typeface="华文楷体" pitchFamily="2" charset="-122"/>
                <a:ea typeface="华文楷体" pitchFamily="2" charset="-122"/>
              </a:rPr>
              <a:t>相同运算符，先进栈的优先级高于后进栈的。</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中缀式转后缀式算法分析：</a:t>
            </a:r>
          </a:p>
        </p:txBody>
      </p:sp>
    </p:spTree>
    <p:extLst>
      <p:ext uri="{BB962C8B-B14F-4D97-AF65-F5344CB8AC3E}">
        <p14:creationId xmlns:p14="http://schemas.microsoft.com/office/powerpoint/2010/main" val="40245191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66456"/>
            <a:ext cx="11903716" cy="3083922"/>
          </a:xfrm>
        </p:spPr>
        <p:txBody>
          <a:bodyPr>
            <a:normAutofit/>
          </a:bodyPr>
          <a:lstStyle/>
          <a:p>
            <a:pPr>
              <a:lnSpc>
                <a:spcPct val="115000"/>
              </a:lnSpc>
              <a:buFont typeface="Wingdings" panose="05000000000000000000" pitchFamily="2" charset="2"/>
              <a:buChar char="Ø"/>
              <a:defRPr/>
            </a:pPr>
            <a:r>
              <a:rPr lang="zh-CN" altLang="zh-CN" sz="2800" b="0" dirty="0">
                <a:latin typeface="华文楷体" pitchFamily="2" charset="-122"/>
                <a:ea typeface="华文楷体" pitchFamily="2" charset="-122"/>
              </a:rPr>
              <a:t>表达式中的括号也可以看作是一种操作符，其中开括号具有两面性：即将进入栈的开括号，优先级最高；已经在栈顶的开括号，优先级最低。括号在后缀式中是要消失的，消失靠闭括号。当读入一个闭括号时，计算之前进栈的运算符，直到遇到一个开括号，然后开闭括号双双消失即可。</a:t>
            </a:r>
          </a:p>
          <a:p>
            <a:pPr marL="1789113"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中缀式转后缀式算法分析：</a:t>
            </a:r>
          </a:p>
        </p:txBody>
      </p:sp>
    </p:spTree>
    <p:extLst>
      <p:ext uri="{BB962C8B-B14F-4D97-AF65-F5344CB8AC3E}">
        <p14:creationId xmlns:p14="http://schemas.microsoft.com/office/powerpoint/2010/main" val="36108544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66455"/>
            <a:ext cx="11903716" cy="5291545"/>
          </a:xfrm>
        </p:spPr>
        <p:txBody>
          <a:bodyPr>
            <a:normAutofit/>
          </a:bodyPr>
          <a:lstStyle/>
          <a:p>
            <a:pPr marL="0" indent="0">
              <a:lnSpc>
                <a:spcPct val="115000"/>
              </a:lnSpc>
              <a:buNone/>
              <a:defRPr/>
            </a:pPr>
            <a:r>
              <a:rPr lang="zh-CN" altLang="zh-CN" sz="2800" b="0" dirty="0">
                <a:latin typeface="华文楷体" pitchFamily="2" charset="-122"/>
                <a:ea typeface="华文楷体" pitchFamily="2" charset="-122"/>
              </a:rPr>
              <a:t>对一个中缀表达式，从左至右顺序读入各操作数、运算符。</a:t>
            </a:r>
            <a:endParaRPr lang="en-US" altLang="zh-CN" sz="2800" b="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zh-CN" sz="2800" b="0" dirty="0">
                <a:latin typeface="华文楷体" pitchFamily="2" charset="-122"/>
                <a:ea typeface="华文楷体" pitchFamily="2" charset="-122"/>
              </a:rPr>
              <a:t>当读入的是操作数时，直接输出 </a:t>
            </a:r>
            <a:r>
              <a:rPr lang="zh-CN" altLang="en-US"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b="0" dirty="0">
                <a:latin typeface="华文楷体" pitchFamily="2" charset="-122"/>
                <a:ea typeface="华文楷体" pitchFamily="2" charset="-122"/>
              </a:rPr>
              <a:t>当读入的符号是开括号，直接进栈。</a:t>
            </a:r>
            <a:endParaRPr lang="en-US" altLang="zh-CN" sz="2800" b="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b="0" dirty="0">
                <a:latin typeface="华文楷体" pitchFamily="2" charset="-122"/>
                <a:ea typeface="华文楷体" pitchFamily="2" charset="-122"/>
              </a:rPr>
              <a:t>当读入的符号是闭括号，反复进行栈顶元素出栈、输出，直到弹栈的是开括号。</a:t>
            </a:r>
            <a:endParaRPr lang="en-US" altLang="zh-CN" sz="2800" b="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zh-CN" sz="2800" b="0" dirty="0">
                <a:latin typeface="华文楷体" pitchFamily="2" charset="-122"/>
                <a:ea typeface="华文楷体" pitchFamily="2" charset="-122"/>
              </a:rPr>
              <a:t>当读入的是操作符时，</a:t>
            </a:r>
            <a:r>
              <a:rPr lang="zh-CN" altLang="en-US" sz="2800" b="0" dirty="0">
                <a:latin typeface="华文楷体" pitchFamily="2" charset="-122"/>
                <a:ea typeface="华文楷体" pitchFamily="2" charset="-122"/>
              </a:rPr>
              <a:t>如果栈顶操作符的优先级更高，反复弹栈、输出直到栈顶元素优先级低于读入操作符的优先级，读入操作符压栈；如果栈顶操作符的优先级低，</a:t>
            </a:r>
            <a:r>
              <a:rPr lang="zh-CN" altLang="zh-CN" sz="2800" b="0" dirty="0">
                <a:latin typeface="华文楷体" pitchFamily="2" charset="-122"/>
                <a:ea typeface="华文楷体" pitchFamily="2" charset="-122"/>
              </a:rPr>
              <a:t>读入的运算符</a:t>
            </a:r>
            <a:r>
              <a:rPr lang="zh-CN" altLang="en-US" sz="2800" b="0" dirty="0">
                <a:latin typeface="华文楷体" pitchFamily="2" charset="-122"/>
                <a:ea typeface="华文楷体" pitchFamily="2" charset="-122"/>
              </a:rPr>
              <a:t>进栈。</a:t>
            </a:r>
            <a:endParaRPr lang="en-US" altLang="zh-CN" sz="2800" b="0" dirty="0">
              <a:latin typeface="华文楷体" pitchFamily="2" charset="-122"/>
              <a:ea typeface="华文楷体" pitchFamily="2" charset="-122"/>
            </a:endParaRPr>
          </a:p>
          <a:p>
            <a:pPr marL="1789113"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中缀式转后缀式算法：</a:t>
            </a:r>
          </a:p>
        </p:txBody>
      </p:sp>
    </p:spTree>
    <p:extLst>
      <p:ext uri="{BB962C8B-B14F-4D97-AF65-F5344CB8AC3E}">
        <p14:creationId xmlns:p14="http://schemas.microsoft.com/office/powerpoint/2010/main" val="6978036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66456"/>
            <a:ext cx="11903716" cy="481005"/>
          </a:xfrm>
        </p:spPr>
        <p:txBody>
          <a:bodyPr>
            <a:noAutofit/>
          </a:bodyPr>
          <a:lstStyle/>
          <a:p>
            <a:pPr marL="0" indent="0">
              <a:lnSpc>
                <a:spcPct val="115000"/>
              </a:lnSpc>
              <a:buNone/>
              <a:defRPr/>
            </a:pPr>
            <a:r>
              <a:rPr lang="zh-CN" altLang="zh-CN" b="0" dirty="0">
                <a:ea typeface="华文楷体" pitchFamily="2" charset="-122"/>
                <a:cs typeface="Times New Roman" panose="02020603050405020304" pitchFamily="18" charset="0"/>
              </a:rPr>
              <a:t>设立一个用于保存运算符的堆栈，先将一个底垫</a:t>
            </a:r>
            <a:r>
              <a:rPr lang="en-US" altLang="zh-CN" b="0" dirty="0">
                <a:ea typeface="华文楷体" pitchFamily="2" charset="-122"/>
                <a:cs typeface="Times New Roman" panose="02020603050405020304" pitchFamily="18" charset="0"/>
              </a:rPr>
              <a:t>’#’</a:t>
            </a:r>
            <a:r>
              <a:rPr lang="zh-CN" altLang="zh-CN" b="0" dirty="0">
                <a:ea typeface="华文楷体" pitchFamily="2" charset="-122"/>
                <a:cs typeface="Times New Roman" panose="02020603050405020304" pitchFamily="18" charset="0"/>
              </a:rPr>
              <a:t>压栈，设其优先级为最低。</a:t>
            </a:r>
            <a:endParaRPr lang="en-US" altLang="zh-CN"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838200" indent="-838200">
              <a:defRP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中缀式转后缀式算法示例：</a:t>
            </a:r>
            <a:r>
              <a:rPr lang="en-US" altLang="zh-CN" b="0" dirty="0">
                <a:latin typeface="Times New Roman" panose="02020603050405020304" pitchFamily="18" charset="0"/>
                <a:ea typeface="华文楷体" pitchFamily="2" charset="-122"/>
                <a:cs typeface="Times New Roman" panose="02020603050405020304" pitchFamily="18" charset="0"/>
              </a:rPr>
              <a:t>5*(7-2*3)+8/2</a:t>
            </a:r>
            <a:r>
              <a:rPr lang="zh-CN" altLang="zh-CN" b="0" dirty="0">
                <a:latin typeface="Times New Roman" panose="02020603050405020304" pitchFamily="18" charset="0"/>
                <a:ea typeface="华文楷体" pitchFamily="2" charset="-122"/>
                <a:cs typeface="Times New Roman" panose="02020603050405020304" pitchFamily="18" charset="0"/>
              </a:rPr>
              <a:t>转换为 </a:t>
            </a:r>
            <a:r>
              <a:rPr lang="en-US" altLang="zh-CN" b="0" dirty="0">
                <a:latin typeface="Times New Roman" panose="02020603050405020304" pitchFamily="18" charset="0"/>
                <a:ea typeface="华文楷体" pitchFamily="2" charset="-122"/>
                <a:cs typeface="Times New Roman" panose="02020603050405020304" pitchFamily="18" charset="0"/>
              </a:rPr>
              <a:t>5 7 2 3*-*8 2/+</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3104735" y="2285588"/>
            <a:ext cx="4866447" cy="4294116"/>
          </a:xfrm>
          <a:prstGeom prst="rect">
            <a:avLst/>
          </a:prstGeom>
          <a:noFill/>
          <a:ln>
            <a:noFill/>
          </a:ln>
        </p:spPr>
      </p:pic>
    </p:spTree>
    <p:extLst>
      <p:ext uri="{BB962C8B-B14F-4D97-AF65-F5344CB8AC3E}">
        <p14:creationId xmlns:p14="http://schemas.microsoft.com/office/powerpoint/2010/main" val="26050765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486943"/>
            <a:ext cx="8815959" cy="4556049"/>
          </a:xfrm>
        </p:spPr>
        <p:txBody>
          <a:bodyPr>
            <a:normAutofit/>
          </a:bodyPr>
          <a:lstStyle/>
          <a:p>
            <a:pPr marL="0" indent="0">
              <a:buNone/>
            </a:pPr>
            <a:r>
              <a:rPr lang="en-US" altLang="zh-CN" b="0" dirty="0"/>
              <a:t>void </a:t>
            </a:r>
            <a:r>
              <a:rPr lang="en-US" altLang="zh-CN" b="0" dirty="0" err="1"/>
              <a:t>inToSufForm</a:t>
            </a:r>
            <a:r>
              <a:rPr lang="en-US" altLang="zh-CN" b="0" dirty="0"/>
              <a:t>(char *</a:t>
            </a:r>
            <a:r>
              <a:rPr lang="en-US" altLang="zh-CN" b="0" dirty="0" err="1"/>
              <a:t>inStr</a:t>
            </a:r>
            <a:r>
              <a:rPr lang="en-US" altLang="zh-CN" b="0" dirty="0"/>
              <a:t>, char *</a:t>
            </a:r>
            <a:r>
              <a:rPr lang="en-US" altLang="zh-CN" b="0" dirty="0" err="1"/>
              <a:t>sufStr</a:t>
            </a:r>
            <a:r>
              <a:rPr lang="en-US" altLang="zh-CN" b="0" dirty="0"/>
              <a:t>)</a:t>
            </a:r>
            <a:endParaRPr lang="zh-CN" altLang="zh-CN" b="0" dirty="0"/>
          </a:p>
          <a:p>
            <a:pPr marL="0" indent="0">
              <a:buNone/>
            </a:pPr>
            <a:r>
              <a:rPr lang="en-US" altLang="zh-CN" b="0" dirty="0"/>
              <a:t>{  </a:t>
            </a:r>
            <a:r>
              <a:rPr lang="en-US" altLang="zh-CN" b="0" dirty="0" err="1"/>
              <a:t>linkStack</a:t>
            </a:r>
            <a:r>
              <a:rPr lang="en-US" altLang="zh-CN" b="0" dirty="0"/>
              <a:t>&lt;char&gt; s; //</a:t>
            </a:r>
            <a:r>
              <a:rPr lang="zh-CN" altLang="zh-CN" b="0" dirty="0"/>
              <a:t>用字符栈</a:t>
            </a:r>
            <a:r>
              <a:rPr lang="en-US" altLang="zh-CN" b="0" dirty="0"/>
              <a:t>         </a:t>
            </a:r>
            <a:r>
              <a:rPr lang="en-US" altLang="zh-CN" b="0" dirty="0" err="1"/>
              <a:t>int</a:t>
            </a:r>
            <a:r>
              <a:rPr lang="en-US" altLang="zh-CN" b="0" dirty="0"/>
              <a:t> </a:t>
            </a:r>
            <a:r>
              <a:rPr lang="en-US" altLang="zh-CN" b="0" dirty="0" err="1"/>
              <a:t>i,j</a:t>
            </a:r>
            <a:r>
              <a:rPr lang="en-US" altLang="zh-CN" b="0" dirty="0"/>
              <a:t>;   char </a:t>
            </a:r>
            <a:r>
              <a:rPr lang="en-US" altLang="zh-CN" b="0" dirty="0" err="1"/>
              <a:t>topCh</a:t>
            </a:r>
            <a:r>
              <a:rPr lang="en-US" altLang="zh-CN" b="0" dirty="0"/>
              <a:t>;</a:t>
            </a:r>
            <a:endParaRPr lang="zh-CN" altLang="zh-CN" b="0" dirty="0"/>
          </a:p>
          <a:p>
            <a:pPr marL="0" indent="0">
              <a:buNone/>
            </a:pPr>
            <a:r>
              <a:rPr lang="en-US" altLang="zh-CN" b="0" dirty="0"/>
              <a:t>    </a:t>
            </a:r>
          </a:p>
          <a:p>
            <a:pPr marL="0" indent="0">
              <a:buNone/>
            </a:pPr>
            <a:r>
              <a:rPr lang="en-US" altLang="zh-CN" b="0" dirty="0"/>
              <a:t>    </a:t>
            </a:r>
            <a:r>
              <a:rPr lang="en-US" altLang="zh-CN" b="0" dirty="0" err="1"/>
              <a:t>s.push</a:t>
            </a:r>
            <a:r>
              <a:rPr lang="en-US" altLang="zh-CN" b="0" dirty="0"/>
              <a:t>('#'); //</a:t>
            </a:r>
            <a:r>
              <a:rPr lang="zh-CN" altLang="zh-CN" b="0" dirty="0"/>
              <a:t>铺垫一个底垫</a:t>
            </a:r>
            <a:r>
              <a:rPr lang="en-US" altLang="zh-CN" b="0" dirty="0"/>
              <a:t>               </a:t>
            </a:r>
            <a:r>
              <a:rPr lang="en-US" altLang="zh-CN" b="0" dirty="0" err="1"/>
              <a:t>i</a:t>
            </a:r>
            <a:r>
              <a:rPr lang="en-US" altLang="zh-CN" b="0" dirty="0"/>
              <a:t>=0;j=0</a:t>
            </a:r>
          </a:p>
          <a:p>
            <a:pPr marL="0" indent="0">
              <a:buNone/>
            </a:pPr>
            <a:r>
              <a:rPr lang="en-US" altLang="zh-CN" b="0" dirty="0"/>
              <a:t>    while (</a:t>
            </a:r>
            <a:r>
              <a:rPr lang="en-US" altLang="zh-CN" b="0" dirty="0" err="1"/>
              <a:t>inStr</a:t>
            </a:r>
            <a:r>
              <a:rPr lang="en-US" altLang="zh-CN" b="0" dirty="0"/>
              <a:t>[</a:t>
            </a:r>
            <a:r>
              <a:rPr lang="en-US" altLang="zh-CN" b="0" dirty="0" err="1"/>
              <a:t>i</a:t>
            </a:r>
            <a:r>
              <a:rPr lang="en-US" altLang="zh-CN" b="0" dirty="0"/>
              <a:t>]!='\0')</a:t>
            </a:r>
            <a:endParaRPr lang="zh-CN" altLang="zh-CN" b="0" dirty="0"/>
          </a:p>
          <a:p>
            <a:pPr marL="0" indent="0">
              <a:buNone/>
            </a:pPr>
            <a:r>
              <a:rPr lang="en-US" altLang="zh-CN" b="0" dirty="0"/>
              <a:t>    {      if ((</a:t>
            </a:r>
            <a:r>
              <a:rPr lang="en-US" altLang="zh-CN" b="0" dirty="0" err="1"/>
              <a:t>inStr</a:t>
            </a:r>
            <a:r>
              <a:rPr lang="en-US" altLang="zh-CN" b="0" dirty="0"/>
              <a:t>[</a:t>
            </a:r>
            <a:r>
              <a:rPr lang="en-US" altLang="zh-CN" b="0" dirty="0" err="1"/>
              <a:t>i</a:t>
            </a:r>
            <a:r>
              <a:rPr lang="en-US" altLang="zh-CN" b="0" dirty="0"/>
              <a:t>]&gt;='0')&amp;&amp;(</a:t>
            </a:r>
            <a:r>
              <a:rPr lang="en-US" altLang="zh-CN" b="0" dirty="0" err="1"/>
              <a:t>inStr</a:t>
            </a:r>
            <a:r>
              <a:rPr lang="en-US" altLang="zh-CN" b="0" dirty="0"/>
              <a:t>[</a:t>
            </a:r>
            <a:r>
              <a:rPr lang="en-US" altLang="zh-CN" b="0" dirty="0" err="1"/>
              <a:t>i</a:t>
            </a:r>
            <a:r>
              <a:rPr lang="en-US" altLang="zh-CN" b="0" dirty="0"/>
              <a:t>]&lt;='9'))</a:t>
            </a:r>
            <a:endParaRPr lang="zh-CN" altLang="zh-CN" b="0" dirty="0"/>
          </a:p>
          <a:p>
            <a:pPr marL="0" indent="0">
              <a:buNone/>
            </a:pPr>
            <a:r>
              <a:rPr lang="en-US" altLang="zh-CN" b="0" dirty="0"/>
              <a:t>            </a:t>
            </a:r>
            <a:r>
              <a:rPr lang="en-US" altLang="zh-CN" b="0" dirty="0" err="1"/>
              <a:t>sufStr</a:t>
            </a:r>
            <a:r>
              <a:rPr lang="en-US" altLang="zh-CN" b="0" dirty="0"/>
              <a:t>[</a:t>
            </a:r>
            <a:r>
              <a:rPr lang="en-US" altLang="zh-CN" b="0" dirty="0" err="1"/>
              <a:t>j++</a:t>
            </a:r>
            <a:r>
              <a:rPr lang="en-US" altLang="zh-CN" b="0" dirty="0"/>
              <a:t>]=</a:t>
            </a:r>
            <a:r>
              <a:rPr lang="en-US" altLang="zh-CN" b="0" dirty="0" err="1"/>
              <a:t>inStr</a:t>
            </a:r>
            <a:r>
              <a:rPr lang="en-US" altLang="zh-CN" b="0" dirty="0"/>
              <a:t>[</a:t>
            </a:r>
            <a:r>
              <a:rPr lang="en-US" altLang="zh-CN" b="0" dirty="0" err="1"/>
              <a:t>i</a:t>
            </a:r>
            <a:r>
              <a:rPr lang="en-US" altLang="zh-CN" b="0" dirty="0"/>
              <a:t>++];;</a:t>
            </a:r>
            <a:endParaRPr lang="zh-CN" altLang="zh-CN" b="0" dirty="0"/>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中缀转后缀式算法实现</a:t>
            </a:r>
          </a:p>
        </p:txBody>
      </p:sp>
    </p:spTree>
    <p:extLst>
      <p:ext uri="{BB962C8B-B14F-4D97-AF65-F5344CB8AC3E}">
        <p14:creationId xmlns:p14="http://schemas.microsoft.com/office/powerpoint/2010/main" val="15649132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328329"/>
            <a:ext cx="11903716" cy="5251375"/>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else {   switch (</a:t>
            </a:r>
            <a:r>
              <a:rPr lang="en-US" altLang="zh-CN" b="0" dirty="0" err="1">
                <a:ea typeface="华文楷体" panose="02010600040101010101" pitchFamily="2" charset="-122"/>
                <a:cs typeface="Times New Roman" panose="02020603050405020304" pitchFamily="18" charset="0"/>
              </a:rPr>
              <a:t>inStr</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case '(':   </a:t>
            </a:r>
            <a:r>
              <a:rPr lang="en-US" altLang="zh-CN" b="0" dirty="0" err="1">
                <a:ea typeface="华文楷体" panose="02010600040101010101" pitchFamily="2" charset="-122"/>
                <a:cs typeface="Times New Roman" panose="02020603050405020304" pitchFamily="18" charset="0"/>
              </a:rPr>
              <a:t>s.push</a:t>
            </a:r>
            <a:r>
              <a:rPr lang="en-US" altLang="zh-CN" b="0" dirty="0">
                <a:ea typeface="华文楷体" panose="02010600040101010101" pitchFamily="2" charset="-122"/>
                <a:cs typeface="Times New Roman" panose="02020603050405020304" pitchFamily="18" charset="0"/>
              </a:rPr>
              <a:t>('('); break; //</a:t>
            </a:r>
            <a:r>
              <a:rPr lang="zh-CN" altLang="zh-CN" b="0" dirty="0">
                <a:ea typeface="华文楷体" panose="02010600040101010101" pitchFamily="2" charset="-122"/>
                <a:cs typeface="Times New Roman" panose="02020603050405020304" pitchFamily="18" charset="0"/>
              </a:rPr>
              <a:t>优先级最高，直接入栈</a:t>
            </a:r>
          </a:p>
          <a:p>
            <a:pPr marL="0" indent="0">
              <a:buNone/>
            </a:pPr>
            <a:r>
              <a:rPr lang="en-US" altLang="zh-CN" b="0" dirty="0">
                <a:ea typeface="华文楷体" panose="02010600040101010101" pitchFamily="2" charset="-122"/>
                <a:cs typeface="Times New Roman" panose="02020603050405020304" pitchFamily="18" charset="0"/>
              </a:rPr>
              <a:t>                 case ')':   //</a:t>
            </a:r>
            <a:r>
              <a:rPr lang="zh-CN" altLang="zh-CN" b="0" dirty="0">
                <a:ea typeface="华文楷体" panose="02010600040101010101" pitchFamily="2" charset="-122"/>
                <a:cs typeface="Times New Roman" panose="02020603050405020304" pitchFamily="18" charset="0"/>
              </a:rPr>
              <a:t>弹栈，弹出元素进入后缀式，直到弹出一个左括号</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topCh</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s.top</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s.pop</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a:t>
            </a:r>
            <a:r>
              <a:rPr lang="en-US" altLang="zh-CN" b="0" dirty="0" err="1">
                <a:ea typeface="华文楷体" panose="02010600040101010101" pitchFamily="2" charset="-122"/>
                <a:cs typeface="Times New Roman" panose="02020603050405020304" pitchFamily="18" charset="0"/>
              </a:rPr>
              <a:t>topCh</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sufStr</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j++</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topCh</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topCh</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s.top</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s.pop</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字符不入栈</a:t>
            </a:r>
          </a:p>
          <a:p>
            <a:pPr marL="0" indent="0">
              <a:buNone/>
            </a:pPr>
            <a:r>
              <a:rPr lang="en-US" altLang="zh-CN" b="0" dirty="0">
                <a:ea typeface="华文楷体" panose="02010600040101010101" pitchFamily="2" charset="-122"/>
                <a:cs typeface="Times New Roman" panose="02020603050405020304" pitchFamily="18" charset="0"/>
              </a:rPr>
              <a:t>                         break;</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中缀转后缀式算法实现</a:t>
            </a:r>
          </a:p>
        </p:txBody>
      </p:sp>
    </p:spTree>
    <p:extLst>
      <p:ext uri="{BB962C8B-B14F-4D97-AF65-F5344CB8AC3E}">
        <p14:creationId xmlns:p14="http://schemas.microsoft.com/office/powerpoint/2010/main" val="18920942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328329"/>
            <a:ext cx="11903716" cy="5251375"/>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case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case '/':   </a:t>
            </a:r>
            <a:r>
              <a:rPr lang="en-US" altLang="zh-CN" b="0" dirty="0" err="1">
                <a:ea typeface="华文楷体" panose="02010600040101010101" pitchFamily="2" charset="-122"/>
                <a:cs typeface="Times New Roman" panose="02020603050405020304" pitchFamily="18" charset="0"/>
              </a:rPr>
              <a:t>topCh</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s.top</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a:t>
            </a:r>
            <a:r>
              <a:rPr lang="en-US" altLang="zh-CN" b="0" dirty="0" err="1">
                <a:ea typeface="华文楷体" panose="02010600040101010101" pitchFamily="2" charset="-122"/>
                <a:cs typeface="Times New Roman" panose="02020603050405020304" pitchFamily="18" charset="0"/>
              </a:rPr>
              <a:t>topCh</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topCh</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为左结合，故后来者优先级低</a:t>
            </a: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s.pop</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sufStr</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j++</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topCh</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topCh</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s.top</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s.push</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inStr</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break;</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中缀转后缀式算法实现</a:t>
            </a:r>
          </a:p>
        </p:txBody>
      </p:sp>
    </p:spTree>
    <p:extLst>
      <p:ext uri="{BB962C8B-B14F-4D97-AF65-F5344CB8AC3E}">
        <p14:creationId xmlns:p14="http://schemas.microsoft.com/office/powerpoint/2010/main" val="21027282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0" y="612712"/>
            <a:ext cx="11903716" cy="624528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case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case '-':   </a:t>
            </a:r>
            <a:r>
              <a:rPr lang="en-US" altLang="zh-CN" b="0" dirty="0" err="1">
                <a:ea typeface="华文楷体" panose="02010600040101010101" pitchFamily="2" charset="-122"/>
                <a:cs typeface="Times New Roman" panose="02020603050405020304" pitchFamily="18" charset="0"/>
              </a:rPr>
              <a:t>topCh</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s.top</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a:t>
            </a:r>
            <a:r>
              <a:rPr lang="en-US" altLang="zh-CN" b="0" dirty="0" err="1">
                <a:ea typeface="华文楷体" panose="02010600040101010101" pitchFamily="2" charset="-122"/>
                <a:cs typeface="Times New Roman" panose="02020603050405020304" pitchFamily="18" charset="0"/>
              </a:rPr>
              <a:t>topCh</a:t>
            </a:r>
            <a:r>
              <a:rPr lang="en-US" altLang="zh-CN" b="0" dirty="0">
                <a:ea typeface="华文楷体" panose="02010600040101010101" pitchFamily="2" charset="-122"/>
                <a:cs typeface="Times New Roman" panose="02020603050405020304" pitchFamily="18" charset="0"/>
              </a:rPr>
              <a:t>!='(')&amp;&amp;(</a:t>
            </a:r>
            <a:r>
              <a:rPr lang="en-US" altLang="zh-CN" b="0" dirty="0" err="1">
                <a:ea typeface="华文楷体" panose="02010600040101010101" pitchFamily="2" charset="-122"/>
                <a:cs typeface="Times New Roman" panose="02020603050405020304" pitchFamily="18" charset="0"/>
              </a:rPr>
              <a:t>topCh</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只有左括号和底垫优先级比</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低</a:t>
            </a: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s.pop</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sufStr</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j++</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topCh</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topCh</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s.top</a:t>
            </a: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s.push</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inStr</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break;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}//switch</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}//else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5537618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77078" y="612712"/>
            <a:ext cx="7832035" cy="624528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将栈中还没有弹出的操作符弹空</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topCh</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s.top</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a:t>
            </a:r>
            <a:r>
              <a:rPr lang="en-US" altLang="zh-CN" b="0" dirty="0" err="1">
                <a:ea typeface="华文楷体" panose="02010600040101010101" pitchFamily="2" charset="-122"/>
                <a:cs typeface="Times New Roman" panose="02020603050405020304" pitchFamily="18" charset="0"/>
              </a:rPr>
              <a:t>topCh</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sufStr</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j++</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topCh</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s.pop</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topCh</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s.top</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sufStr</a:t>
            </a:r>
            <a:r>
              <a:rPr lang="en-US" altLang="zh-CN" b="0" dirty="0">
                <a:ea typeface="华文楷体" panose="02010600040101010101" pitchFamily="2" charset="-122"/>
                <a:cs typeface="Times New Roman" panose="02020603050405020304" pitchFamily="18" charset="0"/>
              </a:rPr>
              <a:t>[j]='\0'; //</a:t>
            </a:r>
            <a:r>
              <a:rPr lang="zh-CN" altLang="zh-CN" b="0" dirty="0">
                <a:ea typeface="华文楷体" panose="02010600040101010101" pitchFamily="2" charset="-122"/>
                <a:cs typeface="Times New Roman" panose="02020603050405020304" pitchFamily="18" charset="0"/>
              </a:rPr>
              <a:t>后缀字符串加结束符</a:t>
            </a:r>
            <a:r>
              <a:rPr lang="en-US" altLang="zh-CN" b="0" dirty="0">
                <a:ea typeface="华文楷体" panose="02010600040101010101" pitchFamily="2" charset="-122"/>
                <a:cs typeface="Times New Roman" panose="02020603050405020304" pitchFamily="18" charset="0"/>
              </a:rPr>
              <a:t>'\0'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
        <p:nvSpPr>
          <p:cNvPr id="2" name="椭圆 1"/>
          <p:cNvSpPr/>
          <p:nvPr/>
        </p:nvSpPr>
        <p:spPr>
          <a:xfrm>
            <a:off x="11325497" y="6309360"/>
            <a:ext cx="300446" cy="23513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959318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530363" y="2092436"/>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顺序栈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链式栈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栈的应用</a:t>
            </a:r>
            <a:endParaRPr lang="en-US" altLang="zh-CN" sz="2800" dirty="0">
              <a:latin typeface="华文楷体" pitchFamily="2" charset="-122"/>
              <a:ea typeface="华文楷体" pitchFamily="2" charset="-122"/>
            </a:endParaRPr>
          </a:p>
        </p:txBody>
      </p:sp>
      <p:sp>
        <p:nvSpPr>
          <p:cNvPr id="2" name="文本框 1"/>
          <p:cNvSpPr txBox="1"/>
          <p:nvPr/>
        </p:nvSpPr>
        <p:spPr>
          <a:xfrm>
            <a:off x="6915151" y="2176532"/>
            <a:ext cx="4071937" cy="3082895"/>
          </a:xfrm>
          <a:prstGeom prst="rect">
            <a:avLst/>
          </a:prstGeom>
          <a:noFill/>
        </p:spPr>
        <p:txBody>
          <a:bodyPr wrap="square" rtlCol="0">
            <a:spAutoFit/>
          </a:bodyPr>
          <a:lstStyle/>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solidFill>
                  <a:srgbClr val="FF0000"/>
                </a:solidFill>
                <a:latin typeface="华文楷体" pitchFamily="2" charset="-122"/>
                <a:ea typeface="华文楷体" pitchFamily="2" charset="-122"/>
              </a:rPr>
              <a:t>队列</a:t>
            </a:r>
            <a:endParaRPr lang="en-US" altLang="zh-CN" sz="2800" b="1" dirty="0">
              <a:solidFill>
                <a:srgbClr val="FF0000"/>
              </a:solidFill>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顺序循环队列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链式队列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优先队列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队列的应用</a:t>
            </a:r>
          </a:p>
        </p:txBody>
      </p:sp>
    </p:spTree>
    <p:extLst>
      <p:ext uri="{BB962C8B-B14F-4D97-AF65-F5344CB8AC3E}">
        <p14:creationId xmlns:p14="http://schemas.microsoft.com/office/powerpoint/2010/main" val="21476698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205833"/>
          </a:xfrm>
        </p:spPr>
        <p:txBody>
          <a:bodyPr>
            <a:norm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如果元素到达线性结构的时间越早，离开</a:t>
            </a:r>
            <a:r>
              <a:rPr lang="zh-CN" altLang="en-US" sz="2800" b="0" dirty="0">
                <a:latin typeface="华文楷体" pitchFamily="2" charset="-122"/>
                <a:ea typeface="华文楷体" pitchFamily="2" charset="-122"/>
              </a:rPr>
              <a:t>的</a:t>
            </a:r>
            <a:r>
              <a:rPr lang="zh-CN" altLang="zh-CN" sz="2800" b="0" dirty="0">
                <a:latin typeface="华文楷体" pitchFamily="2" charset="-122"/>
                <a:ea typeface="华文楷体" pitchFamily="2" charset="-122"/>
              </a:rPr>
              <a:t>时间就越早，这种线性结构称为</a:t>
            </a:r>
            <a:r>
              <a:rPr lang="zh-CN" altLang="zh-CN" sz="2800" dirty="0">
                <a:latin typeface="华文楷体" pitchFamily="2" charset="-122"/>
                <a:ea typeface="华文楷体" pitchFamily="2" charset="-122"/>
              </a:rPr>
              <a:t>队（</a:t>
            </a:r>
            <a:r>
              <a:rPr lang="en-US" altLang="zh-CN" sz="2800" dirty="0">
                <a:latin typeface="华文楷体" pitchFamily="2" charset="-122"/>
                <a:ea typeface="华文楷体" pitchFamily="2" charset="-122"/>
              </a:rPr>
              <a:t>Queue</a:t>
            </a:r>
            <a:r>
              <a:rPr lang="zh-CN" altLang="zh-CN" sz="2800" dirty="0">
                <a:latin typeface="华文楷体" pitchFamily="2" charset="-122"/>
                <a:ea typeface="华文楷体" pitchFamily="2" charset="-122"/>
              </a:rPr>
              <a:t>）或者队列</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因为元素之间的关系是由到达、离开的时间决定的，因此队列通常被称为时间有序表。</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而到达和离开的含义就是插入和删除操作，因此队列可以看作是插入和删除操作位置受限的线性表。</a:t>
            </a: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队列的定义：</a:t>
            </a:r>
          </a:p>
        </p:txBody>
      </p:sp>
    </p:spTree>
    <p:extLst>
      <p:ext uri="{BB962C8B-B14F-4D97-AF65-F5344CB8AC3E}">
        <p14:creationId xmlns:p14="http://schemas.microsoft.com/office/powerpoint/2010/main" val="5940116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2734841"/>
          </a:xfrm>
        </p:spPr>
        <p:txBody>
          <a:bodyPr>
            <a:normAutofit fontScale="85000" lnSpcReduction="20000"/>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客户在银行窗口前排队存取款、计算机系统中打印管理器对打印队列的处理都采用了先来先服务</a:t>
            </a:r>
            <a:r>
              <a:rPr lang="en-US" altLang="zh-CN" sz="2800" b="0" dirty="0">
                <a:ea typeface="华文楷体" pitchFamily="2" charset="-122"/>
                <a:cs typeface="Times New Roman" panose="02020603050405020304" pitchFamily="18" charset="0"/>
              </a:rPr>
              <a:t>(FIFO, First In First Out)</a:t>
            </a:r>
            <a:r>
              <a:rPr lang="zh-CN" altLang="zh-CN" sz="2800" b="0" dirty="0">
                <a:ea typeface="华文楷体" pitchFamily="2" charset="-122"/>
                <a:cs typeface="Times New Roman" panose="02020603050405020304" pitchFamily="18" charset="0"/>
              </a:rPr>
              <a:t>的方式。</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可以将队列想象为一段管道，元素从一端流入，从另一端流出。流入端称为</a:t>
            </a:r>
            <a:r>
              <a:rPr lang="zh-CN" altLang="zh-CN" sz="2800" dirty="0">
                <a:ea typeface="华文楷体" pitchFamily="2" charset="-122"/>
                <a:cs typeface="Times New Roman" panose="02020603050405020304" pitchFamily="18" charset="0"/>
              </a:rPr>
              <a:t>队尾</a:t>
            </a:r>
            <a:r>
              <a:rPr lang="zh-CN" altLang="zh-CN" sz="2800" b="0" dirty="0">
                <a:ea typeface="华文楷体" pitchFamily="2" charset="-122"/>
                <a:cs typeface="Times New Roman" panose="02020603050405020304" pitchFamily="18" charset="0"/>
              </a:rPr>
              <a:t>，流出端称为</a:t>
            </a:r>
            <a:r>
              <a:rPr lang="zh-CN" altLang="zh-CN" sz="2800" dirty="0">
                <a:ea typeface="华文楷体" pitchFamily="2" charset="-122"/>
                <a:cs typeface="Times New Roman" panose="02020603050405020304" pitchFamily="18" charset="0"/>
              </a:rPr>
              <a:t>队首</a:t>
            </a:r>
            <a:r>
              <a:rPr lang="zh-CN" altLang="zh-CN" dirty="0">
                <a:ea typeface="华文楷体" panose="02010600040101010101" pitchFamily="2" charset="-122"/>
                <a:cs typeface="Times New Roman" panose="02020603050405020304" pitchFamily="18" charset="0"/>
              </a:rPr>
              <a:t>。</a:t>
            </a:r>
            <a:endParaRPr lang="en-US" altLang="zh-CN"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900" b="0" dirty="0">
                <a:ea typeface="华文楷体" pitchFamily="2" charset="-122"/>
                <a:cs typeface="Times New Roman" panose="02020603050405020304" pitchFamily="18" charset="0"/>
              </a:rPr>
              <a:t>元素从队首删除的操作，称为</a:t>
            </a:r>
            <a:r>
              <a:rPr lang="zh-CN" altLang="zh-CN" sz="2900" dirty="0">
                <a:ea typeface="华文楷体" pitchFamily="2" charset="-122"/>
                <a:cs typeface="Times New Roman" panose="02020603050405020304" pitchFamily="18" charset="0"/>
              </a:rPr>
              <a:t>出队</a:t>
            </a:r>
            <a:r>
              <a:rPr lang="zh-CN" altLang="zh-CN" sz="2900" b="0" dirty="0">
                <a:ea typeface="华文楷体" pitchFamily="2" charset="-122"/>
                <a:cs typeface="Times New Roman" panose="02020603050405020304" pitchFamily="18" charset="0"/>
              </a:rPr>
              <a:t>（</a:t>
            </a:r>
            <a:r>
              <a:rPr lang="en-US" altLang="zh-CN" sz="2900" b="0" dirty="0" err="1">
                <a:ea typeface="华文楷体" pitchFamily="2" charset="-122"/>
                <a:cs typeface="Times New Roman" panose="02020603050405020304" pitchFamily="18" charset="0"/>
              </a:rPr>
              <a:t>deQueue</a:t>
            </a:r>
            <a:r>
              <a:rPr lang="zh-CN" altLang="zh-CN" sz="2900" b="0" dirty="0">
                <a:ea typeface="华文楷体" pitchFamily="2" charset="-122"/>
                <a:cs typeface="Times New Roman" panose="02020603050405020304" pitchFamily="18" charset="0"/>
              </a:rPr>
              <a:t>）；元素在队尾位置插入的操作，称为</a:t>
            </a:r>
            <a:r>
              <a:rPr lang="zh-CN" altLang="zh-CN" sz="2900" dirty="0">
                <a:ea typeface="华文楷体" pitchFamily="2" charset="-122"/>
                <a:cs typeface="Times New Roman" panose="02020603050405020304" pitchFamily="18" charset="0"/>
              </a:rPr>
              <a:t>进队</a:t>
            </a:r>
            <a:r>
              <a:rPr lang="zh-CN" altLang="zh-CN" sz="2900" b="0" dirty="0">
                <a:ea typeface="华文楷体" pitchFamily="2" charset="-122"/>
                <a:cs typeface="Times New Roman" panose="02020603050405020304" pitchFamily="18" charset="0"/>
              </a:rPr>
              <a:t>（</a:t>
            </a:r>
            <a:r>
              <a:rPr lang="en-US" altLang="zh-CN" sz="2900" b="0" dirty="0" err="1">
                <a:ea typeface="华文楷体" pitchFamily="2" charset="-122"/>
                <a:cs typeface="Times New Roman" panose="02020603050405020304" pitchFamily="18" charset="0"/>
              </a:rPr>
              <a:t>enQueue</a:t>
            </a:r>
            <a:r>
              <a:rPr lang="zh-CN" altLang="zh-CN" sz="2900" b="0" dirty="0">
                <a:ea typeface="华文楷体" pitchFamily="2" charset="-122"/>
                <a:cs typeface="Times New Roman" panose="02020603050405020304" pitchFamily="18" charset="0"/>
              </a:rPr>
              <a:t>）。</a:t>
            </a:r>
            <a:endParaRPr lang="en-US" altLang="zh-CN" sz="29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队列的定义：</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3286332" y="4657518"/>
            <a:ext cx="4863756" cy="1663769"/>
          </a:xfrm>
          <a:prstGeom prst="rect">
            <a:avLst/>
          </a:prstGeom>
          <a:noFill/>
          <a:ln>
            <a:noFill/>
          </a:ln>
        </p:spPr>
      </p:pic>
    </p:spTree>
    <p:extLst>
      <p:ext uri="{BB962C8B-B14F-4D97-AF65-F5344CB8AC3E}">
        <p14:creationId xmlns:p14="http://schemas.microsoft.com/office/powerpoint/2010/main" val="37105535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66456"/>
            <a:ext cx="11903716" cy="2130902"/>
          </a:xfrm>
        </p:spPr>
        <p:txBody>
          <a:bodyPr>
            <a:normAutofit/>
          </a:bodyPr>
          <a:lstStyle/>
          <a:p>
            <a:pPr marL="0" indent="0">
              <a:lnSpc>
                <a:spcPct val="115000"/>
              </a:lnSpc>
              <a:buNone/>
              <a:defRPr/>
            </a:pPr>
            <a:r>
              <a:rPr lang="zh-CN" altLang="zh-CN" sz="2800" b="0" dirty="0">
                <a:ea typeface="华文楷体" pitchFamily="2" charset="-122"/>
                <a:cs typeface="Times New Roman" panose="02020603050405020304" pitchFamily="18" charset="0"/>
              </a:rPr>
              <a:t>队列的基本操作包括</a:t>
            </a:r>
            <a:r>
              <a:rPr lang="en-US" altLang="zh-CN" sz="2800" b="0" dirty="0">
                <a:ea typeface="华文楷体" pitchFamily="2" charset="-122"/>
                <a:cs typeface="Times New Roman" panose="02020603050405020304" pitchFamily="18" charset="0"/>
              </a:rPr>
              <a:t>:</a:t>
            </a:r>
          </a:p>
          <a:p>
            <a:pPr marL="0" indent="0">
              <a:lnSpc>
                <a:spcPct val="115000"/>
              </a:lnSpc>
              <a:buNone/>
              <a:defRPr/>
            </a:pPr>
            <a:r>
              <a:rPr lang="zh-CN" altLang="zh-CN" sz="2800" b="0" dirty="0">
                <a:ea typeface="华文楷体" pitchFamily="2" charset="-122"/>
                <a:cs typeface="Times New Roman" panose="02020603050405020304" pitchFamily="18" charset="0"/>
              </a:rPr>
              <a:t>构造队列</a:t>
            </a:r>
            <a:r>
              <a:rPr lang="en-US" altLang="zh-CN" sz="2800" b="0" dirty="0">
                <a:ea typeface="华文楷体" pitchFamily="2" charset="-122"/>
                <a:cs typeface="Times New Roman" panose="02020603050405020304" pitchFamily="18" charset="0"/>
              </a:rPr>
              <a:t>initialize</a:t>
            </a:r>
            <a:r>
              <a:rPr lang="zh-CN" altLang="zh-CN" sz="2800" b="0" dirty="0">
                <a:ea typeface="华文楷体" pitchFamily="2" charset="-122"/>
                <a:cs typeface="Times New Roman" panose="02020603050405020304" pitchFamily="18" charset="0"/>
              </a:rPr>
              <a:t>、判队空</a:t>
            </a:r>
            <a:r>
              <a:rPr lang="en-US" altLang="zh-CN" sz="2800" b="0" dirty="0" err="1">
                <a:ea typeface="华文楷体" pitchFamily="2" charset="-122"/>
                <a:cs typeface="Times New Roman" panose="02020603050405020304" pitchFamily="18" charset="0"/>
              </a:rPr>
              <a:t>isEmpty</a:t>
            </a:r>
            <a:r>
              <a:rPr lang="zh-CN" altLang="zh-CN" sz="2800" b="0" dirty="0">
                <a:ea typeface="华文楷体" pitchFamily="2" charset="-122"/>
                <a:cs typeface="Times New Roman" panose="02020603050405020304" pitchFamily="18" charset="0"/>
              </a:rPr>
              <a:t>、判队满</a:t>
            </a:r>
            <a:r>
              <a:rPr lang="en-US" altLang="zh-CN" sz="2800" b="0" dirty="0" err="1">
                <a:ea typeface="华文楷体" pitchFamily="2" charset="-122"/>
                <a:cs typeface="Times New Roman" panose="02020603050405020304" pitchFamily="18" charset="0"/>
              </a:rPr>
              <a:t>isFull</a:t>
            </a:r>
            <a:r>
              <a:rPr lang="zh-CN" altLang="zh-CN" sz="2800" b="0" dirty="0">
                <a:ea typeface="华文楷体" pitchFamily="2" charset="-122"/>
                <a:cs typeface="Times New Roman" panose="02020603050405020304" pitchFamily="18" charset="0"/>
              </a:rPr>
              <a:t>、读队首元素</a:t>
            </a:r>
            <a:r>
              <a:rPr lang="en-US" altLang="zh-CN" sz="2800" b="0" dirty="0">
                <a:ea typeface="华文楷体" pitchFamily="2" charset="-122"/>
                <a:cs typeface="Times New Roman" panose="02020603050405020304" pitchFamily="18" charset="0"/>
              </a:rPr>
              <a:t>front</a:t>
            </a:r>
            <a:r>
              <a:rPr lang="zh-CN" altLang="en-US"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 </a:t>
            </a:r>
            <a:endParaRPr lang="en-US" altLang="zh-CN" sz="2800" b="0" dirty="0">
              <a:ea typeface="华文楷体" pitchFamily="2" charset="-122"/>
              <a:cs typeface="Times New Roman" panose="02020603050405020304" pitchFamily="18" charset="0"/>
            </a:endParaRPr>
          </a:p>
          <a:p>
            <a:pPr marL="0" indent="0">
              <a:lnSpc>
                <a:spcPct val="115000"/>
              </a:lnSpc>
              <a:buNone/>
              <a:defRPr/>
            </a:pPr>
            <a:r>
              <a:rPr lang="zh-CN" altLang="zh-CN" sz="2800" b="0" dirty="0">
                <a:ea typeface="华文楷体" pitchFamily="2" charset="-122"/>
                <a:cs typeface="Times New Roman" panose="02020603050405020304" pitchFamily="18" charset="0"/>
              </a:rPr>
              <a:t>进</a:t>
            </a:r>
            <a:r>
              <a:rPr lang="zh-CN" altLang="en-US" sz="2800" b="0" dirty="0">
                <a:ea typeface="华文楷体" pitchFamily="2" charset="-122"/>
                <a:cs typeface="Times New Roman" panose="02020603050405020304" pitchFamily="18" charset="0"/>
              </a:rPr>
              <a:t>队</a:t>
            </a:r>
            <a:r>
              <a:rPr lang="en-US" altLang="zh-CN" sz="2800" b="0" dirty="0" err="1">
                <a:ea typeface="华文楷体" pitchFamily="2" charset="-122"/>
                <a:cs typeface="Times New Roman" panose="02020603050405020304" pitchFamily="18" charset="0"/>
              </a:rPr>
              <a:t>enQueue</a:t>
            </a:r>
            <a:r>
              <a:rPr lang="zh-CN" altLang="zh-CN" sz="2800" b="0" dirty="0">
                <a:ea typeface="华文楷体" pitchFamily="2" charset="-122"/>
                <a:cs typeface="Times New Roman" panose="02020603050405020304" pitchFamily="18" charset="0"/>
              </a:rPr>
              <a:t>、出队</a:t>
            </a:r>
            <a:r>
              <a:rPr lang="en-US" altLang="zh-CN" sz="2800" b="0" dirty="0" err="1">
                <a:ea typeface="华文楷体" pitchFamily="2" charset="-122"/>
                <a:cs typeface="Times New Roman" panose="02020603050405020304" pitchFamily="18" charset="0"/>
              </a:rPr>
              <a:t>deQueue</a:t>
            </a:r>
            <a:r>
              <a:rPr lang="zh-CN" altLang="en-US"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销毁队列</a:t>
            </a:r>
            <a:r>
              <a:rPr lang="en-US" altLang="zh-CN" sz="2800" b="0" dirty="0">
                <a:ea typeface="华文楷体" pitchFamily="2" charset="-122"/>
                <a:cs typeface="Times New Roman" panose="02020603050405020304" pitchFamily="18" charset="0"/>
              </a:rPr>
              <a:t>destroy</a:t>
            </a:r>
            <a:r>
              <a:rPr lang="zh-CN" altLang="zh-CN" sz="2800" b="0" dirty="0">
                <a:ea typeface="华文楷体" pitchFamily="2" charset="-122"/>
                <a:cs typeface="Times New Roman" panose="02020603050405020304" pitchFamily="18" charset="0"/>
              </a:rPr>
              <a:t>。 </a:t>
            </a:r>
            <a:endParaRPr lang="en-US" altLang="zh-CN" sz="2800" b="0" dirty="0">
              <a:ea typeface="华文楷体" pitchFamily="2" charset="-122"/>
              <a:cs typeface="Times New Roman" panose="02020603050405020304" pitchFamily="18" charset="0"/>
            </a:endParaRPr>
          </a:p>
          <a:p>
            <a:pPr marL="0"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队列的基本操作：</a:t>
            </a:r>
          </a:p>
        </p:txBody>
      </p:sp>
    </p:spTree>
    <p:extLst>
      <p:ext uri="{BB962C8B-B14F-4D97-AF65-F5344CB8AC3E}">
        <p14:creationId xmlns:p14="http://schemas.microsoft.com/office/powerpoint/2010/main" val="4338146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0" y="1328329"/>
            <a:ext cx="11903716" cy="5371057"/>
          </a:xfrm>
        </p:spPr>
        <p:txBody>
          <a:bodyPr>
            <a:noAutofit/>
          </a:bodyPr>
          <a:lstStyle/>
          <a:p>
            <a:pPr marL="0" indent="0">
              <a:buNone/>
            </a:pPr>
            <a:r>
              <a:rPr lang="en-US" altLang="zh-CN" sz="2000" dirty="0">
                <a:ea typeface="华文楷体" panose="02010600040101010101" pitchFamily="2" charset="-122"/>
                <a:cs typeface="Times New Roman" panose="02020603050405020304" pitchFamily="18" charset="0"/>
              </a:rPr>
              <a:t>     </a:t>
            </a:r>
            <a:r>
              <a:rPr lang="en-US" altLang="zh-CN" sz="2000" b="0" dirty="0">
                <a:ea typeface="华文楷体" panose="02010600040101010101" pitchFamily="2" charset="-122"/>
                <a:cs typeface="Times New Roman" panose="02020603050405020304" pitchFamily="18" charset="0"/>
              </a:rPr>
              <a:t>Data: { x</a:t>
            </a:r>
            <a:r>
              <a:rPr lang="en-US" altLang="zh-CN" sz="2000" b="0" baseline="-25000" dirty="0">
                <a:ea typeface="华文楷体" panose="02010600040101010101" pitchFamily="2" charset="-122"/>
                <a:cs typeface="Times New Roman" panose="02020603050405020304" pitchFamily="18" charset="0"/>
              </a:rPr>
              <a:t>i </a:t>
            </a:r>
            <a:r>
              <a:rPr lang="en-US" altLang="zh-CN" sz="2000" b="0" dirty="0">
                <a:ea typeface="华文楷体" panose="02010600040101010101" pitchFamily="2" charset="-122"/>
                <a:cs typeface="Times New Roman" panose="02020603050405020304" pitchFamily="18" charset="0"/>
              </a:rPr>
              <a:t>| x</a:t>
            </a:r>
            <a:r>
              <a:rPr lang="en-US" altLang="zh-CN" sz="2000" b="0" baseline="-25000" dirty="0">
                <a:ea typeface="华文楷体" panose="02010600040101010101" pitchFamily="2" charset="-122"/>
                <a:cs typeface="Times New Roman" panose="02020603050405020304" pitchFamily="18" charset="0"/>
              </a:rPr>
              <a:t>i</a:t>
            </a:r>
            <a:r>
              <a:rPr lang="en-US" altLang="zh-CN" sz="2000" b="0" dirty="0">
                <a:ea typeface="华文楷体" panose="02010600040101010101" pitchFamily="2" charset="-122"/>
                <a:cs typeface="Times New Roman" panose="02020603050405020304" pitchFamily="18" charset="0"/>
                <a:sym typeface="Symbol" panose="05050102010706020507" pitchFamily="18" charset="2"/>
              </a:rPr>
              <a:t></a:t>
            </a:r>
            <a:r>
              <a:rPr lang="en-US" altLang="zh-CN" sz="2000" b="0" dirty="0">
                <a:ea typeface="华文楷体" panose="02010600040101010101" pitchFamily="2" charset="-122"/>
                <a:cs typeface="Times New Roman" panose="02020603050405020304" pitchFamily="18" charset="0"/>
              </a:rPr>
              <a:t> </a:t>
            </a:r>
            <a:r>
              <a:rPr lang="en-US" altLang="zh-CN" sz="2000" b="0" dirty="0" err="1">
                <a:ea typeface="华文楷体" panose="02010600040101010101" pitchFamily="2" charset="-122"/>
                <a:cs typeface="Times New Roman" panose="02020603050405020304" pitchFamily="18" charset="0"/>
              </a:rPr>
              <a:t>ElemSet</a:t>
            </a:r>
            <a:r>
              <a:rPr lang="en-US" altLang="zh-CN" sz="2000" b="0" dirty="0">
                <a:ea typeface="华文楷体" panose="02010600040101010101" pitchFamily="2" charset="-122"/>
                <a:cs typeface="Times New Roman" panose="02020603050405020304" pitchFamily="18" charset="0"/>
              </a:rPr>
              <a:t>, </a:t>
            </a:r>
            <a:r>
              <a:rPr lang="en-US" altLang="zh-CN" sz="2000" b="0" dirty="0" err="1">
                <a:ea typeface="华文楷体" panose="02010600040101010101" pitchFamily="2" charset="-122"/>
                <a:cs typeface="Times New Roman" panose="02020603050405020304" pitchFamily="18" charset="0"/>
              </a:rPr>
              <a:t>i</a:t>
            </a:r>
            <a:r>
              <a:rPr lang="en-US" altLang="zh-CN" sz="2000" b="0" dirty="0">
                <a:ea typeface="华文楷体" panose="02010600040101010101" pitchFamily="2" charset="-122"/>
                <a:cs typeface="Times New Roman" panose="02020603050405020304" pitchFamily="18" charset="0"/>
              </a:rPr>
              <a:t>=1,2,3,……n, n &gt; 0} </a:t>
            </a:r>
            <a:r>
              <a:rPr lang="zh-CN" altLang="zh-CN" sz="2000" b="0" dirty="0">
                <a:ea typeface="华文楷体" panose="02010600040101010101" pitchFamily="2" charset="-122"/>
                <a:cs typeface="Times New Roman" panose="02020603050405020304" pitchFamily="18" charset="0"/>
              </a:rPr>
              <a:t>或 </a:t>
            </a:r>
            <a:r>
              <a:rPr lang="en-US" altLang="zh-CN" sz="2000" b="0" dirty="0">
                <a:ea typeface="华文楷体" panose="02010600040101010101" pitchFamily="2" charset="-122"/>
                <a:cs typeface="Times New Roman" panose="02020603050405020304" pitchFamily="18" charset="0"/>
              </a:rPr>
              <a:t>Φ; </a:t>
            </a:r>
            <a:r>
              <a:rPr lang="en-US" altLang="zh-CN" sz="2000" b="0" dirty="0" err="1">
                <a:ea typeface="华文楷体" panose="02010600040101010101" pitchFamily="2" charset="-122"/>
                <a:cs typeface="Times New Roman" panose="02020603050405020304" pitchFamily="18" charset="0"/>
              </a:rPr>
              <a:t>ElemSet</a:t>
            </a:r>
            <a:r>
              <a:rPr lang="zh-CN" altLang="zh-CN" sz="2000" b="0" dirty="0">
                <a:ea typeface="华文楷体" panose="02010600040101010101" pitchFamily="2" charset="-122"/>
                <a:cs typeface="Times New Roman" panose="02020603050405020304" pitchFamily="18" charset="0"/>
              </a:rPr>
              <a:t>为元素集合。</a:t>
            </a:r>
          </a:p>
          <a:p>
            <a:pPr marL="0" indent="0">
              <a:buNone/>
            </a:pPr>
            <a:r>
              <a:rPr lang="en-US" altLang="zh-CN" sz="2000" b="0" dirty="0">
                <a:ea typeface="华文楷体" panose="02010600040101010101" pitchFamily="2" charset="-122"/>
                <a:cs typeface="Times New Roman" panose="02020603050405020304" pitchFamily="18" charset="0"/>
              </a:rPr>
              <a:t>     Relation: {&lt;x</a:t>
            </a:r>
            <a:r>
              <a:rPr lang="en-US" altLang="zh-CN" sz="2000" b="0" baseline="-25000" dirty="0">
                <a:ea typeface="华文楷体" panose="02010600040101010101" pitchFamily="2" charset="-122"/>
                <a:cs typeface="Times New Roman" panose="02020603050405020304" pitchFamily="18" charset="0"/>
              </a:rPr>
              <a:t>i</a:t>
            </a:r>
            <a:r>
              <a:rPr lang="en-US" altLang="zh-CN" sz="2000" b="0" dirty="0">
                <a:ea typeface="华文楷体" panose="02010600040101010101" pitchFamily="2" charset="-122"/>
                <a:cs typeface="Times New Roman" panose="02020603050405020304" pitchFamily="18" charset="0"/>
              </a:rPr>
              <a:t>,x</a:t>
            </a:r>
            <a:r>
              <a:rPr lang="en-US" altLang="zh-CN" sz="2000" b="0" baseline="-25000" dirty="0">
                <a:ea typeface="华文楷体" panose="02010600040101010101" pitchFamily="2" charset="-122"/>
                <a:cs typeface="Times New Roman" panose="02020603050405020304" pitchFamily="18" charset="0"/>
              </a:rPr>
              <a:t>i+1</a:t>
            </a:r>
            <a:r>
              <a:rPr lang="en-US" altLang="zh-CN" sz="2000" b="0" dirty="0">
                <a:ea typeface="华文楷体" panose="02010600040101010101" pitchFamily="2" charset="-122"/>
                <a:cs typeface="Times New Roman" panose="02020603050405020304" pitchFamily="18" charset="0"/>
              </a:rPr>
              <a:t>&gt;|x</a:t>
            </a:r>
            <a:r>
              <a:rPr lang="en-US" altLang="zh-CN" sz="2000" b="0" baseline="-25000" dirty="0">
                <a:ea typeface="华文楷体" panose="02010600040101010101" pitchFamily="2" charset="-122"/>
                <a:cs typeface="Times New Roman" panose="02020603050405020304" pitchFamily="18" charset="0"/>
              </a:rPr>
              <a:t>i</a:t>
            </a:r>
            <a:r>
              <a:rPr lang="en-US" altLang="zh-CN" sz="2000" b="0" dirty="0">
                <a:ea typeface="华文楷体" panose="02010600040101010101" pitchFamily="2" charset="-122"/>
                <a:cs typeface="Times New Roman" panose="02020603050405020304" pitchFamily="18" charset="0"/>
              </a:rPr>
              <a:t>,x</a:t>
            </a:r>
            <a:r>
              <a:rPr lang="en-US" altLang="zh-CN" sz="2000" b="0" baseline="-25000" dirty="0">
                <a:ea typeface="华文楷体" panose="02010600040101010101" pitchFamily="2" charset="-122"/>
                <a:cs typeface="Times New Roman" panose="02020603050405020304" pitchFamily="18" charset="0"/>
              </a:rPr>
              <a:t>i+1</a:t>
            </a:r>
            <a:r>
              <a:rPr lang="en-US" altLang="zh-CN" sz="2000" b="0" dirty="0">
                <a:ea typeface="华文楷体" panose="02010600040101010101" pitchFamily="2" charset="-122"/>
                <a:cs typeface="Times New Roman" panose="02020603050405020304" pitchFamily="18" charset="0"/>
                <a:sym typeface="Symbol" panose="05050102010706020507" pitchFamily="18" charset="2"/>
              </a:rPr>
              <a:t></a:t>
            </a:r>
            <a:r>
              <a:rPr lang="en-US" altLang="zh-CN" sz="2000" b="0" dirty="0">
                <a:ea typeface="华文楷体" panose="02010600040101010101" pitchFamily="2" charset="-122"/>
                <a:cs typeface="Times New Roman" panose="02020603050405020304" pitchFamily="18" charset="0"/>
              </a:rPr>
              <a:t>ElemSet, </a:t>
            </a:r>
            <a:r>
              <a:rPr lang="en-US" altLang="zh-CN" sz="2000" b="0" dirty="0" err="1">
                <a:ea typeface="华文楷体" panose="02010600040101010101" pitchFamily="2" charset="-122"/>
                <a:cs typeface="Times New Roman" panose="02020603050405020304" pitchFamily="18" charset="0"/>
              </a:rPr>
              <a:t>i</a:t>
            </a:r>
            <a:r>
              <a:rPr lang="en-US" altLang="zh-CN" sz="2000" b="0" dirty="0">
                <a:ea typeface="华文楷体" panose="02010600040101010101" pitchFamily="2" charset="-122"/>
                <a:cs typeface="Times New Roman" panose="02020603050405020304" pitchFamily="18" charset="0"/>
              </a:rPr>
              <a:t>=1,2,3,</a:t>
            </a:r>
            <a:r>
              <a:rPr lang="zh-CN" altLang="zh-CN" sz="2000" b="0" dirty="0">
                <a:ea typeface="华文楷体" panose="02010600040101010101" pitchFamily="2" charset="-122"/>
                <a:cs typeface="Times New Roman" panose="02020603050405020304" pitchFamily="18" charset="0"/>
              </a:rPr>
              <a:t>……</a:t>
            </a:r>
            <a:r>
              <a:rPr lang="en-US" altLang="zh-CN" sz="2000" b="0" dirty="0">
                <a:ea typeface="华文楷体" panose="02010600040101010101" pitchFamily="2" charset="-122"/>
                <a:cs typeface="Times New Roman" panose="02020603050405020304" pitchFamily="18" charset="0"/>
              </a:rPr>
              <a:t>n-1}, x</a:t>
            </a:r>
            <a:r>
              <a:rPr lang="en-US" altLang="zh-CN" sz="2000" b="0" baseline="-25000" dirty="0">
                <a:ea typeface="华文楷体" panose="02010600040101010101" pitchFamily="2" charset="-122"/>
                <a:cs typeface="Times New Roman" panose="02020603050405020304" pitchFamily="18" charset="0"/>
              </a:rPr>
              <a:t>1</a:t>
            </a:r>
            <a:r>
              <a:rPr lang="zh-CN" altLang="zh-CN" sz="2000" b="0" dirty="0">
                <a:ea typeface="华文楷体" panose="02010600040101010101" pitchFamily="2" charset="-122"/>
                <a:cs typeface="Times New Roman" panose="02020603050405020304" pitchFamily="18" charset="0"/>
              </a:rPr>
              <a:t>为队首，</a:t>
            </a:r>
            <a:r>
              <a:rPr lang="en-US" altLang="zh-CN" sz="2000" b="0" dirty="0" err="1">
                <a:ea typeface="华文楷体" panose="02010600040101010101" pitchFamily="2" charset="-122"/>
                <a:cs typeface="Times New Roman" panose="02020603050405020304" pitchFamily="18" charset="0"/>
              </a:rPr>
              <a:t>x</a:t>
            </a:r>
            <a:r>
              <a:rPr lang="en-US" altLang="zh-CN" sz="2000" b="0" baseline="-25000" dirty="0" err="1">
                <a:ea typeface="华文楷体" panose="02010600040101010101" pitchFamily="2" charset="-122"/>
                <a:cs typeface="Times New Roman" panose="02020603050405020304" pitchFamily="18" charset="0"/>
              </a:rPr>
              <a:t>n</a:t>
            </a:r>
            <a:r>
              <a:rPr lang="zh-CN" altLang="zh-CN" sz="2000" b="0" dirty="0">
                <a:ea typeface="华文楷体" panose="02010600040101010101" pitchFamily="2" charset="-122"/>
                <a:cs typeface="Times New Roman" panose="02020603050405020304" pitchFamily="18" charset="0"/>
              </a:rPr>
              <a:t>为队尾。</a:t>
            </a:r>
          </a:p>
          <a:p>
            <a:pPr marL="0" indent="0">
              <a:buNone/>
            </a:pPr>
            <a:r>
              <a:rPr lang="en-US" altLang="zh-CN" sz="2000" b="0" dirty="0">
                <a:ea typeface="华文楷体" panose="02010600040101010101" pitchFamily="2" charset="-122"/>
                <a:cs typeface="Times New Roman" panose="02020603050405020304" pitchFamily="18" charset="0"/>
              </a:rPr>
              <a:t>     Operations:</a:t>
            </a:r>
            <a:endParaRPr lang="zh-CN" altLang="zh-CN" sz="2000" b="0" dirty="0">
              <a:ea typeface="华文楷体" panose="02010600040101010101" pitchFamily="2" charset="-122"/>
              <a:cs typeface="Times New Roman" panose="02020603050405020304" pitchFamily="18" charset="0"/>
            </a:endParaRPr>
          </a:p>
          <a:p>
            <a:pPr marL="0" indent="0">
              <a:buNone/>
            </a:pPr>
            <a:r>
              <a:rPr lang="en-US" altLang="zh-CN" sz="2000" b="0" dirty="0">
                <a:ea typeface="华文楷体" panose="02010600040101010101" pitchFamily="2" charset="-122"/>
                <a:cs typeface="Times New Roman" panose="02020603050405020304" pitchFamily="18" charset="0"/>
              </a:rPr>
              <a:t>	initialize    </a:t>
            </a:r>
            <a:r>
              <a:rPr lang="zh-CN" altLang="zh-CN" sz="2000" b="0" dirty="0">
                <a:ea typeface="华文楷体" panose="02010600040101010101" pitchFamily="2" charset="-122"/>
                <a:cs typeface="Times New Roman" panose="02020603050405020304" pitchFamily="18" charset="0"/>
              </a:rPr>
              <a:t>前提</a:t>
            </a:r>
            <a:r>
              <a:rPr lang="zh-CN" altLang="en-US" sz="2000" b="0" dirty="0">
                <a:ea typeface="华文楷体" panose="02010600040101010101" pitchFamily="2" charset="-122"/>
                <a:cs typeface="Times New Roman" panose="02020603050405020304" pitchFamily="18" charset="0"/>
              </a:rPr>
              <a:t>：</a:t>
            </a:r>
            <a:r>
              <a:rPr lang="zh-CN" altLang="zh-CN" sz="2000" b="0" dirty="0">
                <a:ea typeface="华文楷体" panose="02010600040101010101" pitchFamily="2" charset="-122"/>
                <a:cs typeface="Times New Roman" panose="02020603050405020304" pitchFamily="18" charset="0"/>
              </a:rPr>
              <a:t>无</a:t>
            </a:r>
            <a:r>
              <a:rPr lang="en-US" altLang="zh-CN" sz="2000" b="0" dirty="0">
                <a:ea typeface="华文楷体" panose="02010600040101010101" pitchFamily="2" charset="-122"/>
                <a:cs typeface="Times New Roman" panose="02020603050405020304" pitchFamily="18" charset="0"/>
              </a:rPr>
              <a:t>	</a:t>
            </a:r>
            <a:r>
              <a:rPr lang="zh-CN" altLang="zh-CN" sz="2000" b="0" dirty="0">
                <a:ea typeface="华文楷体" panose="02010600040101010101" pitchFamily="2" charset="-122"/>
                <a:cs typeface="Times New Roman" panose="02020603050405020304" pitchFamily="18" charset="0"/>
              </a:rPr>
              <a:t>结果</a:t>
            </a:r>
            <a:r>
              <a:rPr lang="en-US" altLang="zh-CN" sz="2000" b="0" dirty="0">
                <a:ea typeface="华文楷体" panose="02010600040101010101" pitchFamily="2" charset="-122"/>
                <a:cs typeface="Times New Roman" panose="02020603050405020304" pitchFamily="18" charset="0"/>
              </a:rPr>
              <a:t>:  </a:t>
            </a:r>
            <a:r>
              <a:rPr lang="zh-CN" altLang="zh-CN" sz="2000" b="0" dirty="0">
                <a:ea typeface="华文楷体" panose="02010600040101010101" pitchFamily="2" charset="-122"/>
                <a:cs typeface="Times New Roman" panose="02020603050405020304" pitchFamily="18" charset="0"/>
              </a:rPr>
              <a:t>分配相应空间及初始化。</a:t>
            </a:r>
          </a:p>
          <a:p>
            <a:pPr marL="0" indent="0">
              <a:buNone/>
            </a:pPr>
            <a:r>
              <a:rPr lang="en-US" altLang="zh-CN" sz="2000" b="0" dirty="0">
                <a:ea typeface="华文楷体" panose="02010600040101010101" pitchFamily="2" charset="-122"/>
                <a:cs typeface="Times New Roman" panose="02020603050405020304" pitchFamily="18" charset="0"/>
              </a:rPr>
              <a:t>	</a:t>
            </a:r>
            <a:r>
              <a:rPr lang="en-US" altLang="zh-CN" sz="2000" b="0" dirty="0" err="1">
                <a:ea typeface="华文楷体" panose="02010600040101010101" pitchFamily="2" charset="-122"/>
                <a:cs typeface="Times New Roman" panose="02020603050405020304" pitchFamily="18" charset="0"/>
              </a:rPr>
              <a:t>isEmpty</a:t>
            </a:r>
            <a:r>
              <a:rPr lang="en-US" altLang="zh-CN" sz="2000" b="0" dirty="0">
                <a:ea typeface="华文楷体" panose="02010600040101010101" pitchFamily="2" charset="-122"/>
                <a:cs typeface="Times New Roman" panose="02020603050405020304" pitchFamily="18" charset="0"/>
              </a:rPr>
              <a:t>     </a:t>
            </a:r>
            <a:r>
              <a:rPr lang="zh-CN" altLang="zh-CN" sz="2000" b="0" dirty="0">
                <a:ea typeface="华文楷体" panose="02010600040101010101" pitchFamily="2" charset="-122"/>
                <a:cs typeface="Times New Roman" panose="02020603050405020304" pitchFamily="18" charset="0"/>
              </a:rPr>
              <a:t>前提</a:t>
            </a:r>
            <a:r>
              <a:rPr lang="zh-CN" altLang="en-US" sz="2000" b="0" dirty="0">
                <a:ea typeface="华文楷体" panose="02010600040101010101" pitchFamily="2" charset="-122"/>
                <a:cs typeface="Times New Roman" panose="02020603050405020304" pitchFamily="18" charset="0"/>
              </a:rPr>
              <a:t>：</a:t>
            </a:r>
            <a:r>
              <a:rPr lang="zh-CN" altLang="zh-CN" sz="2000" b="0" dirty="0">
                <a:ea typeface="华文楷体" panose="02010600040101010101" pitchFamily="2" charset="-122"/>
                <a:cs typeface="Times New Roman" panose="02020603050405020304" pitchFamily="18" charset="0"/>
              </a:rPr>
              <a:t>无</a:t>
            </a:r>
            <a:r>
              <a:rPr lang="en-US" altLang="zh-CN" sz="2000" b="0" dirty="0">
                <a:ea typeface="华文楷体" panose="02010600040101010101" pitchFamily="2" charset="-122"/>
                <a:cs typeface="Times New Roman" panose="02020603050405020304" pitchFamily="18" charset="0"/>
              </a:rPr>
              <a:t>	</a:t>
            </a:r>
            <a:r>
              <a:rPr lang="zh-CN" altLang="zh-CN" sz="2000" b="0" dirty="0">
                <a:ea typeface="华文楷体" panose="02010600040101010101" pitchFamily="2" charset="-122"/>
                <a:cs typeface="Times New Roman" panose="02020603050405020304" pitchFamily="18" charset="0"/>
              </a:rPr>
              <a:t>结果：</a:t>
            </a:r>
            <a:r>
              <a:rPr lang="en-US" altLang="zh-CN" sz="2000" b="0" dirty="0">
                <a:ea typeface="华文楷体" panose="02010600040101010101" pitchFamily="2" charset="-122"/>
                <a:cs typeface="Times New Roman" panose="02020603050405020304" pitchFamily="18" charset="0"/>
              </a:rPr>
              <a:t>	</a:t>
            </a:r>
            <a:r>
              <a:rPr lang="zh-CN" altLang="zh-CN" sz="2000" b="0" dirty="0">
                <a:ea typeface="华文楷体" panose="02010600040101010101" pitchFamily="2" charset="-122"/>
                <a:cs typeface="Times New Roman" panose="02020603050405020304" pitchFamily="18" charset="0"/>
              </a:rPr>
              <a:t>队</a:t>
            </a:r>
            <a:r>
              <a:rPr lang="en-US" altLang="zh-CN" sz="2000" b="0" dirty="0">
                <a:ea typeface="华文楷体" panose="02010600040101010101" pitchFamily="2" charset="-122"/>
                <a:cs typeface="Times New Roman" panose="02020603050405020304" pitchFamily="18" charset="0"/>
              </a:rPr>
              <a:t>Queue</a:t>
            </a:r>
            <a:r>
              <a:rPr lang="zh-CN" altLang="zh-CN" sz="2000" b="0" dirty="0">
                <a:ea typeface="华文楷体" panose="02010600040101010101" pitchFamily="2" charset="-122"/>
                <a:cs typeface="Times New Roman" panose="02020603050405020304" pitchFamily="18" charset="0"/>
              </a:rPr>
              <a:t>为空返回</a:t>
            </a:r>
            <a:r>
              <a:rPr lang="en-US" altLang="zh-CN" sz="2000" b="0" dirty="0">
                <a:ea typeface="华文楷体" panose="02010600040101010101" pitchFamily="2" charset="-122"/>
                <a:cs typeface="Times New Roman" panose="02020603050405020304" pitchFamily="18" charset="0"/>
              </a:rPr>
              <a:t>true</a:t>
            </a:r>
            <a:r>
              <a:rPr lang="zh-CN" altLang="zh-CN" sz="2000" b="0" dirty="0">
                <a:ea typeface="华文楷体" panose="02010600040101010101" pitchFamily="2" charset="-122"/>
                <a:cs typeface="Times New Roman" panose="02020603050405020304" pitchFamily="18" charset="0"/>
              </a:rPr>
              <a:t>，否则返回</a:t>
            </a:r>
            <a:r>
              <a:rPr lang="en-US" altLang="zh-CN" sz="2000" b="0" dirty="0">
                <a:ea typeface="华文楷体" panose="02010600040101010101" pitchFamily="2" charset="-122"/>
                <a:cs typeface="Times New Roman" panose="02020603050405020304" pitchFamily="18" charset="0"/>
              </a:rPr>
              <a:t>false</a:t>
            </a:r>
            <a:r>
              <a:rPr lang="zh-CN" altLang="zh-CN" sz="2000" b="0" dirty="0">
                <a:ea typeface="华文楷体" panose="02010600040101010101" pitchFamily="2" charset="-122"/>
                <a:cs typeface="Times New Roman" panose="02020603050405020304" pitchFamily="18" charset="0"/>
              </a:rPr>
              <a:t>。</a:t>
            </a:r>
          </a:p>
          <a:p>
            <a:pPr marL="0" indent="0">
              <a:buNone/>
            </a:pPr>
            <a:r>
              <a:rPr lang="en-US" altLang="zh-CN" sz="2000" b="0" dirty="0">
                <a:ea typeface="华文楷体" panose="02010600040101010101" pitchFamily="2" charset="-122"/>
                <a:cs typeface="Times New Roman" panose="02020603050405020304" pitchFamily="18" charset="0"/>
              </a:rPr>
              <a:t>	</a:t>
            </a:r>
            <a:r>
              <a:rPr lang="en-US" altLang="zh-CN" sz="2000" b="0" dirty="0" err="1">
                <a:ea typeface="华文楷体" panose="02010600040101010101" pitchFamily="2" charset="-122"/>
                <a:cs typeface="Times New Roman" panose="02020603050405020304" pitchFamily="18" charset="0"/>
              </a:rPr>
              <a:t>isFull</a:t>
            </a:r>
            <a:r>
              <a:rPr lang="en-US" altLang="zh-CN" sz="2000" b="0" dirty="0">
                <a:ea typeface="华文楷体" panose="02010600040101010101" pitchFamily="2" charset="-122"/>
                <a:cs typeface="Times New Roman" panose="02020603050405020304" pitchFamily="18" charset="0"/>
              </a:rPr>
              <a:t>          </a:t>
            </a:r>
            <a:r>
              <a:rPr lang="zh-CN" altLang="zh-CN" sz="2000" b="0" dirty="0">
                <a:ea typeface="华文楷体" panose="02010600040101010101" pitchFamily="2" charset="-122"/>
                <a:cs typeface="Times New Roman" panose="02020603050405020304" pitchFamily="18" charset="0"/>
              </a:rPr>
              <a:t>前提：无</a:t>
            </a:r>
            <a:r>
              <a:rPr lang="en-US" altLang="zh-CN" sz="2000" b="0" dirty="0">
                <a:ea typeface="华文楷体" panose="02010600040101010101" pitchFamily="2" charset="-122"/>
                <a:cs typeface="Times New Roman" panose="02020603050405020304" pitchFamily="18" charset="0"/>
              </a:rPr>
              <a:t>	</a:t>
            </a:r>
            <a:r>
              <a:rPr lang="zh-CN" altLang="zh-CN" sz="2000" b="0" dirty="0">
                <a:ea typeface="华文楷体" panose="02010600040101010101" pitchFamily="2" charset="-122"/>
                <a:cs typeface="Times New Roman" panose="02020603050405020304" pitchFamily="18" charset="0"/>
              </a:rPr>
              <a:t>结果：</a:t>
            </a:r>
            <a:r>
              <a:rPr lang="en-US" altLang="zh-CN" sz="2000" b="0" dirty="0">
                <a:ea typeface="华文楷体" panose="02010600040101010101" pitchFamily="2" charset="-122"/>
                <a:cs typeface="Times New Roman" panose="02020603050405020304" pitchFamily="18" charset="0"/>
              </a:rPr>
              <a:t>	</a:t>
            </a:r>
            <a:r>
              <a:rPr lang="zh-CN" altLang="zh-CN" sz="2000" b="0" dirty="0">
                <a:ea typeface="华文楷体" panose="02010600040101010101" pitchFamily="2" charset="-122"/>
                <a:cs typeface="Times New Roman" panose="02020603050405020304" pitchFamily="18" charset="0"/>
              </a:rPr>
              <a:t>队</a:t>
            </a:r>
            <a:r>
              <a:rPr lang="en-US" altLang="zh-CN" sz="2000" b="0" dirty="0">
                <a:ea typeface="华文楷体" panose="02010600040101010101" pitchFamily="2" charset="-122"/>
                <a:cs typeface="Times New Roman" panose="02020603050405020304" pitchFamily="18" charset="0"/>
              </a:rPr>
              <a:t>Queue</a:t>
            </a:r>
            <a:r>
              <a:rPr lang="zh-CN" altLang="zh-CN" sz="2000" b="0" dirty="0">
                <a:ea typeface="华文楷体" panose="02010600040101010101" pitchFamily="2" charset="-122"/>
                <a:cs typeface="Times New Roman" panose="02020603050405020304" pitchFamily="18" charset="0"/>
              </a:rPr>
              <a:t>为满返回</a:t>
            </a:r>
            <a:r>
              <a:rPr lang="en-US" altLang="zh-CN" sz="2000" b="0" dirty="0">
                <a:ea typeface="华文楷体" panose="02010600040101010101" pitchFamily="2" charset="-122"/>
                <a:cs typeface="Times New Roman" panose="02020603050405020304" pitchFamily="18" charset="0"/>
              </a:rPr>
              <a:t>true</a:t>
            </a:r>
            <a:r>
              <a:rPr lang="zh-CN" altLang="zh-CN" sz="2000" b="0" dirty="0">
                <a:ea typeface="华文楷体" panose="02010600040101010101" pitchFamily="2" charset="-122"/>
                <a:cs typeface="Times New Roman" panose="02020603050405020304" pitchFamily="18" charset="0"/>
              </a:rPr>
              <a:t>，否则返回</a:t>
            </a:r>
            <a:r>
              <a:rPr lang="en-US" altLang="zh-CN" sz="2000" b="0" dirty="0">
                <a:ea typeface="华文楷体" panose="02010600040101010101" pitchFamily="2" charset="-122"/>
                <a:cs typeface="Times New Roman" panose="02020603050405020304" pitchFamily="18" charset="0"/>
              </a:rPr>
              <a:t>false</a:t>
            </a:r>
            <a:r>
              <a:rPr lang="zh-CN" altLang="zh-CN" sz="2000" b="0" dirty="0">
                <a:ea typeface="华文楷体" panose="02010600040101010101" pitchFamily="2" charset="-122"/>
                <a:cs typeface="Times New Roman" panose="02020603050405020304" pitchFamily="18" charset="0"/>
              </a:rPr>
              <a:t>。</a:t>
            </a:r>
          </a:p>
          <a:p>
            <a:pPr marL="0" indent="0">
              <a:buNone/>
            </a:pPr>
            <a:r>
              <a:rPr lang="en-US" altLang="zh-CN" sz="2000" b="0" dirty="0">
                <a:ea typeface="华文楷体" panose="02010600040101010101" pitchFamily="2" charset="-122"/>
                <a:cs typeface="Times New Roman" panose="02020603050405020304" pitchFamily="18" charset="0"/>
              </a:rPr>
              <a:t>	front           </a:t>
            </a:r>
            <a:r>
              <a:rPr lang="zh-CN" altLang="zh-CN" sz="2000" b="0" dirty="0">
                <a:ea typeface="华文楷体" panose="02010600040101010101" pitchFamily="2" charset="-122"/>
                <a:cs typeface="Times New Roman" panose="02020603050405020304" pitchFamily="18" charset="0"/>
              </a:rPr>
              <a:t>前提：队</a:t>
            </a:r>
            <a:r>
              <a:rPr lang="en-US" altLang="zh-CN" sz="2000" b="0" dirty="0">
                <a:ea typeface="华文楷体" panose="02010600040101010101" pitchFamily="2" charset="-122"/>
                <a:cs typeface="Times New Roman" panose="02020603050405020304" pitchFamily="18" charset="0"/>
              </a:rPr>
              <a:t>Queue</a:t>
            </a:r>
            <a:r>
              <a:rPr lang="zh-CN" altLang="zh-CN" sz="2000" b="0" dirty="0">
                <a:ea typeface="华文楷体" panose="02010600040101010101" pitchFamily="2" charset="-122"/>
                <a:cs typeface="Times New Roman" panose="02020603050405020304" pitchFamily="18" charset="0"/>
              </a:rPr>
              <a:t>非空。</a:t>
            </a:r>
            <a:r>
              <a:rPr lang="zh-CN" altLang="en-US" sz="2000" b="0" dirty="0">
                <a:ea typeface="华文楷体" panose="02010600040101010101" pitchFamily="2" charset="-122"/>
                <a:cs typeface="Times New Roman" panose="02020603050405020304" pitchFamily="18" charset="0"/>
              </a:rPr>
              <a:t>结果</a:t>
            </a:r>
            <a:r>
              <a:rPr lang="zh-CN" altLang="zh-CN" sz="2000" b="0" dirty="0">
                <a:ea typeface="华文楷体" panose="02010600040101010101" pitchFamily="2" charset="-122"/>
                <a:cs typeface="Times New Roman" panose="02020603050405020304" pitchFamily="18" charset="0"/>
              </a:rPr>
              <a:t>：</a:t>
            </a:r>
            <a:r>
              <a:rPr lang="en-US" altLang="zh-CN" sz="2000" b="0" dirty="0">
                <a:ea typeface="华文楷体" panose="02010600040101010101" pitchFamily="2" charset="-122"/>
                <a:cs typeface="Times New Roman" panose="02020603050405020304" pitchFamily="18" charset="0"/>
              </a:rPr>
              <a:t>	</a:t>
            </a:r>
            <a:r>
              <a:rPr lang="zh-CN" altLang="zh-CN" sz="2000" b="0" dirty="0">
                <a:ea typeface="华文楷体" panose="02010600040101010101" pitchFamily="2" charset="-122"/>
                <a:cs typeface="Times New Roman" panose="02020603050405020304" pitchFamily="18" charset="0"/>
              </a:rPr>
              <a:t>返回相应队首元素的数据值，队首元素不变。</a:t>
            </a:r>
            <a:endParaRPr lang="en-US" altLang="zh-CN" sz="2000" b="0" dirty="0">
              <a:ea typeface="华文楷体" panose="02010600040101010101" pitchFamily="2" charset="-122"/>
              <a:cs typeface="Times New Roman" panose="02020603050405020304" pitchFamily="18" charset="0"/>
            </a:endParaRPr>
          </a:p>
          <a:p>
            <a:pPr marL="0" lvl="0" indent="0" fontAlgn="base">
              <a:spcAft>
                <a:spcPct val="0"/>
              </a:spcAft>
              <a:buNone/>
              <a:tabLst>
                <a:tab pos="266700" algn="l"/>
                <a:tab pos="533400" algn="l"/>
                <a:tab pos="800100" algn="l"/>
                <a:tab pos="1066800" algn="l"/>
                <a:tab pos="1333500" algn="l"/>
                <a:tab pos="1600200" algn="l"/>
                <a:tab pos="1866900" algn="l"/>
                <a:tab pos="2133600" algn="l"/>
                <a:tab pos="2400300" algn="l"/>
                <a:tab pos="4819650" algn="l"/>
              </a:tabLst>
            </a:pPr>
            <a:r>
              <a:rPr lang="zh-CN" altLang="en-US" sz="2000" b="0" dirty="0">
                <a:ea typeface="华文楷体" panose="02010600040101010101" pitchFamily="2" charset="-122"/>
                <a:cs typeface="Times New Roman" panose="02020603050405020304" pitchFamily="18" charset="0"/>
                <a:sym typeface="Symbol" panose="05050102010706020507" pitchFamily="18" charset="2"/>
              </a:rPr>
              <a:t>			  </a:t>
            </a:r>
            <a:r>
              <a:rPr lang="en-US" altLang="zh-CN" sz="2000" b="0" dirty="0" err="1">
                <a:ea typeface="华文楷体" panose="02010600040101010101" pitchFamily="2" charset="-122"/>
                <a:cs typeface="Times New Roman" panose="02020603050405020304" pitchFamily="18" charset="0"/>
                <a:sym typeface="Symbol" panose="05050102010706020507" pitchFamily="18" charset="2"/>
              </a:rPr>
              <a:t>enqueue</a:t>
            </a:r>
            <a:r>
              <a:rPr lang="en-US" altLang="zh-CN" sz="2000" b="0" dirty="0">
                <a:ea typeface="华文楷体" panose="02010600040101010101" pitchFamily="2" charset="-122"/>
                <a:cs typeface="Times New Roman" panose="02020603050405020304" pitchFamily="18" charset="0"/>
                <a:sym typeface="Symbol" panose="05050102010706020507" pitchFamily="18" charset="2"/>
              </a:rPr>
              <a:t>      </a:t>
            </a:r>
            <a:r>
              <a:rPr lang="zh-CN" altLang="en-US" sz="2000" b="0" dirty="0">
                <a:ea typeface="华文楷体" panose="02010600040101010101" pitchFamily="2" charset="-122"/>
                <a:cs typeface="Times New Roman" panose="02020603050405020304" pitchFamily="18" charset="0"/>
                <a:sym typeface="Symbol" panose="05050102010706020507" pitchFamily="18" charset="2"/>
              </a:rPr>
              <a:t>前提：队</a:t>
            </a:r>
            <a:r>
              <a:rPr lang="en-US" altLang="zh-CN" sz="2000" b="0" dirty="0">
                <a:ea typeface="华文楷体" panose="02010600040101010101" pitchFamily="2" charset="-122"/>
                <a:cs typeface="Times New Roman" panose="02020603050405020304" pitchFamily="18" charset="0"/>
                <a:sym typeface="Symbol" panose="05050102010706020507" pitchFamily="18" charset="2"/>
              </a:rPr>
              <a:t>Queue</a:t>
            </a:r>
            <a:r>
              <a:rPr lang="zh-CN" altLang="en-US" sz="2000" b="0" dirty="0">
                <a:ea typeface="华文楷体" panose="02010600040101010101" pitchFamily="2" charset="-122"/>
                <a:cs typeface="Times New Roman" panose="02020603050405020304" pitchFamily="18" charset="0"/>
                <a:sym typeface="Symbol" panose="05050102010706020507" pitchFamily="18" charset="2"/>
              </a:rPr>
              <a:t>非满，已知待进队的数据值。</a:t>
            </a:r>
          </a:p>
          <a:p>
            <a:pPr marL="0" lvl="0" indent="0" fontAlgn="base">
              <a:spcAft>
                <a:spcPct val="0"/>
              </a:spcAft>
              <a:buNone/>
              <a:tabLst>
                <a:tab pos="266700" algn="l"/>
                <a:tab pos="533400" algn="l"/>
                <a:tab pos="800100" algn="l"/>
                <a:tab pos="1066800" algn="l"/>
                <a:tab pos="1333500" algn="l"/>
                <a:tab pos="1600200" algn="l"/>
                <a:tab pos="1866900" algn="l"/>
                <a:tab pos="2133600" algn="l"/>
                <a:tab pos="2400300" algn="l"/>
                <a:tab pos="4819650" algn="l"/>
              </a:tabLst>
            </a:pPr>
            <a:r>
              <a:rPr lang="zh-CN" altLang="en-US" sz="2000" b="0" dirty="0">
                <a:ea typeface="华文楷体" panose="02010600040101010101" pitchFamily="2" charset="-122"/>
                <a:cs typeface="Times New Roman" panose="02020603050405020304" pitchFamily="18" charset="0"/>
                <a:sym typeface="Symbol" panose="05050102010706020507" pitchFamily="18" charset="2"/>
              </a:rPr>
              <a:t>                                   结果：将该数据值的元素队进队，使其成为新的队尾元素。</a:t>
            </a:r>
            <a:endParaRPr lang="en-US" altLang="zh-CN" sz="2000" b="0" dirty="0">
              <a:ea typeface="华文楷体" panose="02010600040101010101" pitchFamily="2" charset="-122"/>
              <a:cs typeface="Times New Roman" panose="02020603050405020304" pitchFamily="18" charset="0"/>
              <a:sym typeface="Symbol" panose="05050102010706020507" pitchFamily="18" charset="2"/>
            </a:endParaRPr>
          </a:p>
          <a:p>
            <a:pPr marL="0" lvl="0" indent="0" fontAlgn="base">
              <a:spcAft>
                <a:spcPct val="0"/>
              </a:spcAft>
              <a:buNone/>
              <a:tabLst>
                <a:tab pos="266700" algn="l"/>
                <a:tab pos="533400" algn="l"/>
                <a:tab pos="800100" algn="l"/>
                <a:tab pos="1066800" algn="l"/>
                <a:tab pos="1333500" algn="l"/>
                <a:tab pos="1600200" algn="l"/>
                <a:tab pos="1866900" algn="l"/>
                <a:tab pos="2133600" algn="l"/>
                <a:tab pos="2400300" algn="l"/>
                <a:tab pos="4819650" algn="l"/>
              </a:tabLst>
            </a:pPr>
            <a:r>
              <a:rPr lang="en-US" altLang="zh-CN" sz="2000" b="0" dirty="0">
                <a:ea typeface="华文楷体" panose="02010600040101010101" pitchFamily="2" charset="-122"/>
                <a:cs typeface="Times New Roman" panose="02020603050405020304" pitchFamily="18" charset="0"/>
                <a:sym typeface="Symbol" panose="05050102010706020507" pitchFamily="18" charset="2"/>
              </a:rPr>
              <a:t>              </a:t>
            </a:r>
            <a:r>
              <a:rPr lang="en-US" altLang="zh-CN" sz="2000" b="0" dirty="0" err="1">
                <a:ea typeface="华文楷体" panose="02010600040101010101" pitchFamily="2" charset="-122"/>
                <a:cs typeface="Times New Roman" panose="02020603050405020304" pitchFamily="18" charset="0"/>
                <a:sym typeface="Symbol" panose="05050102010706020507" pitchFamily="18" charset="2"/>
              </a:rPr>
              <a:t>dequeue</a:t>
            </a:r>
            <a:r>
              <a:rPr lang="en-US" altLang="zh-CN" sz="2000" b="0" dirty="0">
                <a:ea typeface="华文楷体" panose="02010600040101010101" pitchFamily="2" charset="-122"/>
                <a:cs typeface="Times New Roman" panose="02020603050405020304" pitchFamily="18" charset="0"/>
                <a:sym typeface="Symbol" panose="05050102010706020507" pitchFamily="18" charset="2"/>
              </a:rPr>
              <a:t>      </a:t>
            </a:r>
            <a:r>
              <a:rPr lang="zh-CN" altLang="en-US" sz="2000" b="0" dirty="0">
                <a:ea typeface="华文楷体" panose="02010600040101010101" pitchFamily="2" charset="-122"/>
                <a:cs typeface="Times New Roman" panose="02020603050405020304" pitchFamily="18" charset="0"/>
                <a:sym typeface="Symbol" panose="05050102010706020507" pitchFamily="18" charset="2"/>
              </a:rPr>
              <a:t>前提：队</a:t>
            </a:r>
            <a:r>
              <a:rPr lang="en-US" altLang="zh-CN" sz="2000" b="0" dirty="0">
                <a:ea typeface="华文楷体" panose="02010600040101010101" pitchFamily="2" charset="-122"/>
                <a:cs typeface="Times New Roman" panose="02020603050405020304" pitchFamily="18" charset="0"/>
                <a:sym typeface="Symbol" panose="05050102010706020507" pitchFamily="18" charset="2"/>
              </a:rPr>
              <a:t>Queue</a:t>
            </a:r>
            <a:r>
              <a:rPr lang="zh-CN" altLang="en-US" sz="2000" b="0" dirty="0">
                <a:ea typeface="华文楷体" panose="02010600040101010101" pitchFamily="2" charset="-122"/>
                <a:cs typeface="Times New Roman" panose="02020603050405020304" pitchFamily="18" charset="0"/>
                <a:sym typeface="Symbol" panose="05050102010706020507" pitchFamily="18" charset="2"/>
              </a:rPr>
              <a:t>非空。结果：	将队首元素出队，该元素不再成为队首元素。</a:t>
            </a:r>
          </a:p>
          <a:p>
            <a:pPr marL="0" lvl="0" indent="0" fontAlgn="base">
              <a:spcAft>
                <a:spcPct val="0"/>
              </a:spcAft>
              <a:buNone/>
              <a:tabLst>
                <a:tab pos="266700" algn="l"/>
                <a:tab pos="533400" algn="l"/>
                <a:tab pos="800100" algn="l"/>
                <a:tab pos="1066800" algn="l"/>
                <a:tab pos="1333500" algn="l"/>
                <a:tab pos="1600200" algn="l"/>
                <a:tab pos="1866900" algn="l"/>
                <a:tab pos="2133600" algn="l"/>
                <a:tab pos="2400300" algn="l"/>
                <a:tab pos="4819650" algn="l"/>
              </a:tabLst>
            </a:pPr>
            <a:r>
              <a:rPr lang="zh-CN" altLang="en-US" sz="2000" b="0" dirty="0">
                <a:ea typeface="华文楷体" panose="02010600040101010101" pitchFamily="2" charset="-122"/>
                <a:cs typeface="Times New Roman" panose="02020603050405020304" pitchFamily="18" charset="0"/>
                <a:sym typeface="Symbol" panose="05050102010706020507" pitchFamily="18" charset="2"/>
              </a:rPr>
              <a:t>			 </a:t>
            </a:r>
            <a:r>
              <a:rPr lang="en-US" altLang="zh-CN" sz="2000" b="0" dirty="0">
                <a:ea typeface="华文楷体" panose="02010600040101010101" pitchFamily="2" charset="-122"/>
                <a:cs typeface="Times New Roman" panose="02020603050405020304" pitchFamily="18" charset="0"/>
                <a:sym typeface="Symbol" panose="05050102010706020507" pitchFamily="18" charset="2"/>
              </a:rPr>
              <a:t>destroy        </a:t>
            </a:r>
            <a:r>
              <a:rPr lang="zh-CN" altLang="en-US" sz="2000" b="0" dirty="0">
                <a:ea typeface="华文楷体" panose="02010600040101010101" pitchFamily="2" charset="-122"/>
                <a:cs typeface="Times New Roman" panose="02020603050405020304" pitchFamily="18" charset="0"/>
                <a:sym typeface="Symbol" panose="05050102010706020507" pitchFamily="18" charset="2"/>
              </a:rPr>
              <a:t>前提：无。结果：销毁并释放队</a:t>
            </a:r>
            <a:r>
              <a:rPr lang="en-US" altLang="zh-CN" sz="2000" b="0" dirty="0">
                <a:ea typeface="华文楷体" panose="02010600040101010101" pitchFamily="2" charset="-122"/>
                <a:cs typeface="Times New Roman" panose="02020603050405020304" pitchFamily="18" charset="0"/>
                <a:sym typeface="Symbol" panose="05050102010706020507" pitchFamily="18" charset="2"/>
              </a:rPr>
              <a:t>Queue</a:t>
            </a:r>
            <a:r>
              <a:rPr lang="zh-CN" altLang="en-US" sz="2000" b="0" dirty="0">
                <a:ea typeface="华文楷体" panose="02010600040101010101" pitchFamily="2" charset="-122"/>
                <a:cs typeface="Times New Roman" panose="02020603050405020304" pitchFamily="18" charset="0"/>
                <a:sym typeface="Symbol" panose="05050102010706020507" pitchFamily="18" charset="2"/>
              </a:rPr>
              <a:t>占用的空间。 </a:t>
            </a:r>
          </a:p>
          <a:p>
            <a:pPr marL="0" indent="0">
              <a:buNone/>
            </a:pPr>
            <a:endParaRPr lang="zh-CN" altLang="zh-CN" sz="2000" dirty="0">
              <a:ea typeface="华文楷体" panose="02010600040101010101" pitchFamily="2" charset="-122"/>
              <a:cs typeface="Times New Roman" panose="02020603050405020304" pitchFamily="18" charset="0"/>
            </a:endParaRPr>
          </a:p>
          <a:p>
            <a:pPr marL="0" indent="0">
              <a:buNone/>
              <a:defRPr/>
            </a:pPr>
            <a:endParaRPr lang="en-US" altLang="zh-CN" sz="200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队列的抽象数据类型：</a:t>
            </a:r>
          </a:p>
        </p:txBody>
      </p:sp>
      <p:sp>
        <p:nvSpPr>
          <p:cNvPr id="2" name="椭圆 1"/>
          <p:cNvSpPr/>
          <p:nvPr/>
        </p:nvSpPr>
        <p:spPr>
          <a:xfrm>
            <a:off x="11573691" y="6413863"/>
            <a:ext cx="222069" cy="28552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107237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530363" y="2092436"/>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顺序栈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链式栈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栈的应用</a:t>
            </a:r>
            <a:endParaRPr lang="en-US" altLang="zh-CN" sz="2800" dirty="0">
              <a:latin typeface="华文楷体" pitchFamily="2" charset="-122"/>
              <a:ea typeface="华文楷体" pitchFamily="2" charset="-122"/>
            </a:endParaRPr>
          </a:p>
        </p:txBody>
      </p:sp>
      <p:sp>
        <p:nvSpPr>
          <p:cNvPr id="2" name="文本框 1"/>
          <p:cNvSpPr txBox="1"/>
          <p:nvPr/>
        </p:nvSpPr>
        <p:spPr>
          <a:xfrm>
            <a:off x="6915151" y="2176532"/>
            <a:ext cx="4071937" cy="3082895"/>
          </a:xfrm>
          <a:prstGeom prst="rect">
            <a:avLst/>
          </a:prstGeom>
          <a:noFill/>
        </p:spPr>
        <p:txBody>
          <a:bodyPr wrap="square" rtlCol="0">
            <a:spAutoFit/>
          </a:bodyPr>
          <a:lstStyle/>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solidFill>
                  <a:srgbClr val="FF0000"/>
                </a:solidFill>
                <a:latin typeface="华文楷体" pitchFamily="2" charset="-122"/>
                <a:ea typeface="华文楷体" pitchFamily="2" charset="-122"/>
              </a:rPr>
              <a:t>顺序循环队列</a:t>
            </a:r>
            <a:endParaRPr lang="en-US" altLang="zh-CN" sz="2800" b="1" dirty="0">
              <a:solidFill>
                <a:srgbClr val="FF0000"/>
              </a:solidFill>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链式队列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优先队列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队列的应用</a:t>
            </a:r>
          </a:p>
        </p:txBody>
      </p:sp>
    </p:spTree>
    <p:extLst>
      <p:ext uri="{BB962C8B-B14F-4D97-AF65-F5344CB8AC3E}">
        <p14:creationId xmlns:p14="http://schemas.microsoft.com/office/powerpoint/2010/main" val="41045893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205833"/>
          </a:xfrm>
        </p:spPr>
        <p:txBody>
          <a:bodyPr>
            <a:normAutofit/>
          </a:bodyPr>
          <a:lstStyle/>
          <a:p>
            <a:pPr marL="0" indent="0">
              <a:buNone/>
            </a:pPr>
            <a:r>
              <a:rPr lang="zh-CN" altLang="zh-CN" sz="2800" b="0" dirty="0">
                <a:ea typeface="华文楷体" pitchFamily="2" charset="-122"/>
                <a:cs typeface="Times New Roman" panose="02020603050405020304" pitchFamily="18" charset="0"/>
              </a:rPr>
              <a:t>用一组连续的空间存储队列中的元素及元素间关系，这样存储的队列称</a:t>
            </a:r>
            <a:r>
              <a:rPr lang="zh-CN" altLang="zh-CN" sz="2800" dirty="0">
                <a:ea typeface="华文楷体" pitchFamily="2" charset="-122"/>
                <a:cs typeface="Times New Roman" panose="02020603050405020304" pitchFamily="18" charset="0"/>
              </a:rPr>
              <a:t>顺序队列</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队列中的元素个数最多为 </a:t>
            </a:r>
            <a:r>
              <a:rPr lang="en-US" altLang="zh-CN" sz="2800" b="0" dirty="0" err="1">
                <a:ea typeface="华文楷体" pitchFamily="2" charset="-122"/>
                <a:cs typeface="Times New Roman" panose="02020603050405020304" pitchFamily="18" charset="0"/>
              </a:rPr>
              <a:t>maxSize</a:t>
            </a:r>
            <a:r>
              <a:rPr lang="zh-CN" altLang="zh-CN" sz="2800" b="0" dirty="0">
                <a:ea typeface="华文楷体" pitchFamily="2" charset="-122"/>
                <a:cs typeface="Times New Roman" panose="02020603050405020304" pitchFamily="18" charset="0"/>
              </a:rPr>
              <a:t>个，其下标的范围从</a:t>
            </a:r>
            <a:r>
              <a:rPr lang="en-US" altLang="zh-CN" sz="2800" b="0" dirty="0">
                <a:ea typeface="华文楷体" pitchFamily="2" charset="-122"/>
                <a:cs typeface="Times New Roman" panose="02020603050405020304" pitchFamily="18" charset="0"/>
              </a:rPr>
              <a:t>0</a:t>
            </a:r>
            <a:r>
              <a:rPr lang="zh-CN" altLang="zh-CN" sz="2800" b="0" dirty="0">
                <a:ea typeface="华文楷体" pitchFamily="2" charset="-122"/>
                <a:cs typeface="Times New Roman" panose="02020603050405020304" pitchFamily="18" charset="0"/>
              </a:rPr>
              <a:t>到</a:t>
            </a:r>
            <a:r>
              <a:rPr lang="en-US" altLang="zh-CN" sz="2800" b="0" dirty="0">
                <a:ea typeface="华文楷体" pitchFamily="2" charset="-122"/>
                <a:cs typeface="Times New Roman" panose="02020603050405020304" pitchFamily="18" charset="0"/>
              </a:rPr>
              <a:t>maxSize-1</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使用队首指针</a:t>
            </a:r>
            <a:r>
              <a:rPr lang="en-US" altLang="zh-CN" sz="2800" b="0" dirty="0">
                <a:ea typeface="华文楷体" pitchFamily="2" charset="-122"/>
                <a:cs typeface="Times New Roman" panose="02020603050405020304" pitchFamily="18" charset="0"/>
              </a:rPr>
              <a:t>Front</a:t>
            </a:r>
            <a:r>
              <a:rPr lang="zh-CN" altLang="zh-CN" sz="2800" b="0" dirty="0">
                <a:ea typeface="华文楷体" pitchFamily="2" charset="-122"/>
                <a:cs typeface="Times New Roman" panose="02020603050405020304" pitchFamily="18" charset="0"/>
              </a:rPr>
              <a:t>指示队首元素</a:t>
            </a:r>
            <a:r>
              <a:rPr lang="zh-CN" altLang="en-US" sz="2800" b="0" dirty="0">
                <a:ea typeface="华文楷体" pitchFamily="2" charset="-122"/>
                <a:cs typeface="Times New Roman" panose="02020603050405020304" pitchFamily="18" charset="0"/>
              </a:rPr>
              <a:t>，使用</a:t>
            </a:r>
            <a:r>
              <a:rPr lang="zh-CN" altLang="zh-CN" sz="2800" b="0" dirty="0">
                <a:ea typeface="华文楷体" pitchFamily="2" charset="-122"/>
                <a:cs typeface="Times New Roman" panose="02020603050405020304" pitchFamily="18" charset="0"/>
              </a:rPr>
              <a:t>队尾指针</a:t>
            </a:r>
            <a:r>
              <a:rPr lang="en-US" altLang="zh-CN" sz="2800" b="0" dirty="0">
                <a:ea typeface="华文楷体" pitchFamily="2" charset="-122"/>
                <a:cs typeface="Times New Roman" panose="02020603050405020304" pitchFamily="18" charset="0"/>
              </a:rPr>
              <a:t>Rear</a:t>
            </a:r>
            <a:r>
              <a:rPr lang="zh-CN" altLang="en-US" sz="2800" b="0" dirty="0">
                <a:ea typeface="华文楷体" pitchFamily="2" charset="-122"/>
                <a:cs typeface="Times New Roman" panose="02020603050405020304" pitchFamily="18" charset="0"/>
              </a:rPr>
              <a:t>指示队尾元素</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   </a:t>
            </a:r>
            <a:r>
              <a:rPr lang="zh-CN" altLang="en-US" sz="2800" b="0" dirty="0">
                <a:ea typeface="华文楷体" pitchFamily="2" charset="-122"/>
                <a:cs typeface="Times New Roman" panose="02020603050405020304" pitchFamily="18" charset="0"/>
              </a:rPr>
              <a:t>便于出队进队操作。</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en-US" altLang="zh-CN" dirty="0"/>
              <a:t> </a:t>
            </a:r>
            <a:r>
              <a:rPr lang="zh-CN" altLang="en-US" dirty="0">
                <a:latin typeface="华文楷体" panose="02010600040101010101" pitchFamily="2" charset="-122"/>
                <a:ea typeface="华文楷体" panose="02010600040101010101" pitchFamily="2" charset="-122"/>
              </a:rPr>
              <a:t>顺序队列：</a:t>
            </a:r>
          </a:p>
        </p:txBody>
      </p:sp>
    </p:spTree>
    <p:extLst>
      <p:ext uri="{BB962C8B-B14F-4D97-AF65-F5344CB8AC3E}">
        <p14:creationId xmlns:p14="http://schemas.microsoft.com/office/powerpoint/2010/main" val="28213501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1"/>
            <a:ext cx="11162883" cy="2476424"/>
          </a:xfrm>
        </p:spPr>
        <p:txBody>
          <a:bodyPr>
            <a:norm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判断队空或队满可以利用队首指针</a:t>
            </a:r>
            <a:r>
              <a:rPr lang="en-US" altLang="zh-CN" sz="2800" b="0" dirty="0">
                <a:ea typeface="华文楷体" pitchFamily="2" charset="-122"/>
                <a:cs typeface="Times New Roman" panose="02020603050405020304" pitchFamily="18" charset="0"/>
              </a:rPr>
              <a:t>Front</a:t>
            </a:r>
            <a:r>
              <a:rPr lang="zh-CN" altLang="zh-CN" sz="2800" b="0" dirty="0">
                <a:ea typeface="华文楷体" pitchFamily="2" charset="-122"/>
                <a:cs typeface="Times New Roman" panose="02020603050405020304" pitchFamily="18" charset="0"/>
              </a:rPr>
              <a:t>和队尾指针</a:t>
            </a:r>
            <a:r>
              <a:rPr lang="en-US" altLang="zh-CN" sz="2800" b="0" dirty="0">
                <a:ea typeface="华文楷体" pitchFamily="2" charset="-122"/>
                <a:cs typeface="Times New Roman" panose="02020603050405020304" pitchFamily="18" charset="0"/>
              </a:rPr>
              <a:t>Rear</a:t>
            </a:r>
            <a:r>
              <a:rPr lang="zh-CN" altLang="zh-CN" sz="2800" b="0" dirty="0">
                <a:ea typeface="华文楷体" pitchFamily="2" charset="-122"/>
                <a:cs typeface="Times New Roman" panose="02020603050405020304" pitchFamily="18" charset="0"/>
              </a:rPr>
              <a:t>的关系</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en-US" sz="2800" b="0" dirty="0">
                <a:ea typeface="华文楷体" pitchFamily="2" charset="-122"/>
                <a:cs typeface="Times New Roman" panose="02020603050405020304" pitchFamily="18" charset="0"/>
              </a:rPr>
              <a:t>有</a:t>
            </a:r>
            <a:r>
              <a:rPr lang="en-US" altLang="zh-CN" sz="2800" b="0" dirty="0">
                <a:ea typeface="华文楷体" pitchFamily="2" charset="-122"/>
                <a:cs typeface="Times New Roman" panose="02020603050405020304" pitchFamily="18" charset="0"/>
              </a:rPr>
              <a:t>2</a:t>
            </a:r>
            <a:r>
              <a:rPr lang="zh-CN" altLang="en-US" sz="2800" b="0" dirty="0">
                <a:ea typeface="华文楷体" pitchFamily="2" charset="-122"/>
                <a:cs typeface="Times New Roman" panose="02020603050405020304" pitchFamily="18" charset="0"/>
              </a:rPr>
              <a:t>种方案：</a:t>
            </a:r>
            <a:endParaRPr lang="en-US"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1</a:t>
            </a:r>
            <a:r>
              <a:rPr lang="zh-CN" altLang="en-US"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队首指针</a:t>
            </a:r>
            <a:r>
              <a:rPr lang="en-US" altLang="zh-CN" sz="2800" b="0" dirty="0">
                <a:ea typeface="华文楷体" pitchFamily="2" charset="-122"/>
                <a:cs typeface="Times New Roman" panose="02020603050405020304" pitchFamily="18" charset="0"/>
              </a:rPr>
              <a:t>Front</a:t>
            </a:r>
            <a:r>
              <a:rPr lang="zh-CN" altLang="zh-CN" sz="2800" b="0" dirty="0">
                <a:ea typeface="华文楷体" pitchFamily="2" charset="-122"/>
                <a:cs typeface="Times New Roman" panose="02020603050405020304" pitchFamily="18" charset="0"/>
              </a:rPr>
              <a:t>给出的是实际队首元素的地址，队尾指针</a:t>
            </a:r>
            <a:r>
              <a:rPr lang="en-US" altLang="zh-CN" sz="2800" b="0" dirty="0">
                <a:ea typeface="华文楷体" pitchFamily="2" charset="-122"/>
                <a:cs typeface="Times New Roman" panose="02020603050405020304" pitchFamily="18" charset="0"/>
              </a:rPr>
              <a:t>Rear</a:t>
            </a:r>
            <a:r>
              <a:rPr lang="zh-CN" altLang="zh-CN" sz="2800" b="0" dirty="0">
                <a:ea typeface="华文楷体" pitchFamily="2" charset="-122"/>
                <a:cs typeface="Times New Roman" panose="02020603050405020304" pitchFamily="18" charset="0"/>
              </a:rPr>
              <a:t>给出的是实际队尾元素的地址。</a:t>
            </a:r>
            <a:r>
              <a:rPr lang="zh-CN" altLang="en-US" sz="2800" b="0" dirty="0">
                <a:ea typeface="华文楷体" pitchFamily="2" charset="-122"/>
                <a:cs typeface="Times New Roman" panose="02020603050405020304" pitchFamily="18" charset="0"/>
              </a:rPr>
              <a:t>特点：无法用</a:t>
            </a:r>
            <a:r>
              <a:rPr lang="en-US" altLang="zh-CN" sz="2800" b="0" dirty="0">
                <a:ea typeface="华文楷体" pitchFamily="2" charset="-122"/>
                <a:cs typeface="Times New Roman" panose="02020603050405020304" pitchFamily="18" charset="0"/>
              </a:rPr>
              <a:t>Front==Rear</a:t>
            </a:r>
            <a:r>
              <a:rPr lang="zh-CN" altLang="en-US" sz="2800" b="0" dirty="0">
                <a:ea typeface="华文楷体" pitchFamily="2" charset="-122"/>
                <a:cs typeface="Times New Roman" panose="02020603050405020304" pitchFamily="18" charset="0"/>
              </a:rPr>
              <a:t>作为队空标志</a:t>
            </a: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en-US" altLang="zh-CN" dirty="0"/>
              <a:t> </a:t>
            </a:r>
            <a:r>
              <a:rPr lang="zh-CN" altLang="en-US" dirty="0">
                <a:latin typeface="华文楷体" panose="02010600040101010101" pitchFamily="2" charset="-122"/>
                <a:ea typeface="华文楷体" panose="02010600040101010101" pitchFamily="2" charset="-122"/>
              </a:rPr>
              <a:t>顺序队列：</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2425286" y="4778236"/>
            <a:ext cx="6221758" cy="1384024"/>
          </a:xfrm>
          <a:prstGeom prst="rect">
            <a:avLst/>
          </a:prstGeom>
          <a:noFill/>
          <a:ln>
            <a:noFill/>
          </a:ln>
        </p:spPr>
      </p:pic>
    </p:spTree>
    <p:extLst>
      <p:ext uri="{BB962C8B-B14F-4D97-AF65-F5344CB8AC3E}">
        <p14:creationId xmlns:p14="http://schemas.microsoft.com/office/powerpoint/2010/main" val="14983290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523885"/>
          </a:xfrm>
        </p:spPr>
        <p:txBody>
          <a:bodyPr>
            <a:normAutofit lnSpcReduction="10000"/>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判断队空或队满可以利用队首指针</a:t>
            </a:r>
            <a:r>
              <a:rPr lang="en-US" altLang="zh-CN" sz="2800" b="0" dirty="0">
                <a:ea typeface="华文楷体" pitchFamily="2" charset="-122"/>
                <a:cs typeface="Times New Roman" panose="02020603050405020304" pitchFamily="18" charset="0"/>
              </a:rPr>
              <a:t>Front</a:t>
            </a:r>
            <a:r>
              <a:rPr lang="zh-CN" altLang="zh-CN" sz="2800" b="0" dirty="0">
                <a:ea typeface="华文楷体" pitchFamily="2" charset="-122"/>
                <a:cs typeface="Times New Roman" panose="02020603050405020304" pitchFamily="18" charset="0"/>
              </a:rPr>
              <a:t>和队尾指针</a:t>
            </a:r>
            <a:r>
              <a:rPr lang="en-US" altLang="zh-CN" sz="2800" b="0" dirty="0">
                <a:ea typeface="华文楷体" pitchFamily="2" charset="-122"/>
                <a:cs typeface="Times New Roman" panose="02020603050405020304" pitchFamily="18" charset="0"/>
              </a:rPr>
              <a:t>Rear</a:t>
            </a:r>
            <a:r>
              <a:rPr lang="zh-CN" altLang="zh-CN" sz="2800" b="0" dirty="0">
                <a:ea typeface="华文楷体" pitchFamily="2" charset="-122"/>
                <a:cs typeface="Times New Roman" panose="02020603050405020304" pitchFamily="18" charset="0"/>
              </a:rPr>
              <a:t>的关系</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en-US" sz="2800" b="0" dirty="0">
                <a:ea typeface="华文楷体" pitchFamily="2" charset="-122"/>
                <a:cs typeface="Times New Roman" panose="02020603050405020304" pitchFamily="18" charset="0"/>
              </a:rPr>
              <a:t>有</a:t>
            </a:r>
            <a:r>
              <a:rPr lang="en-US" altLang="zh-CN" sz="2800" b="0" dirty="0">
                <a:ea typeface="华文楷体" pitchFamily="2" charset="-122"/>
                <a:cs typeface="Times New Roman" panose="02020603050405020304" pitchFamily="18" charset="0"/>
              </a:rPr>
              <a:t>2</a:t>
            </a:r>
            <a:r>
              <a:rPr lang="zh-CN" altLang="en-US" sz="2800" b="0" dirty="0">
                <a:ea typeface="华文楷体" pitchFamily="2" charset="-122"/>
                <a:cs typeface="Times New Roman" panose="02020603050405020304" pitchFamily="18" charset="0"/>
              </a:rPr>
              <a:t>种方案：</a:t>
            </a:r>
            <a:endParaRPr lang="en-US"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2</a:t>
            </a:r>
            <a:r>
              <a:rPr lang="zh-CN" altLang="en-US"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队首指针</a:t>
            </a:r>
            <a:r>
              <a:rPr lang="en-US" altLang="zh-CN" sz="2800" b="0" dirty="0">
                <a:ea typeface="华文楷体" pitchFamily="2" charset="-122"/>
                <a:cs typeface="Times New Roman" panose="02020603050405020304" pitchFamily="18" charset="0"/>
              </a:rPr>
              <a:t>Front</a:t>
            </a:r>
            <a:r>
              <a:rPr lang="zh-CN" altLang="zh-CN" sz="2800" b="0" dirty="0">
                <a:ea typeface="华文楷体" pitchFamily="2" charset="-122"/>
                <a:cs typeface="Times New Roman" panose="02020603050405020304" pitchFamily="18" charset="0"/>
              </a:rPr>
              <a:t>给出的是实际队首元素的地址，队尾指针</a:t>
            </a:r>
            <a:r>
              <a:rPr lang="en-US" altLang="zh-CN" sz="2800" b="0" dirty="0">
                <a:ea typeface="华文楷体" pitchFamily="2" charset="-122"/>
                <a:cs typeface="Times New Roman" panose="02020603050405020304" pitchFamily="18" charset="0"/>
              </a:rPr>
              <a:t>Rear</a:t>
            </a:r>
            <a:r>
              <a:rPr lang="zh-CN" altLang="zh-CN" sz="2800" b="0" dirty="0">
                <a:ea typeface="华文楷体" pitchFamily="2" charset="-122"/>
                <a:cs typeface="Times New Roman" panose="02020603050405020304" pitchFamily="18" charset="0"/>
              </a:rPr>
              <a:t>给出的是实际队尾元素的</a:t>
            </a:r>
            <a:r>
              <a:rPr lang="zh-CN" altLang="en-US" sz="2800" b="0" dirty="0">
                <a:solidFill>
                  <a:srgbClr val="0070C0"/>
                </a:solidFill>
                <a:ea typeface="华文楷体" pitchFamily="2" charset="-122"/>
                <a:cs typeface="Times New Roman" panose="02020603050405020304" pitchFamily="18" charset="0"/>
              </a:rPr>
              <a:t>下</a:t>
            </a:r>
            <a:r>
              <a:rPr lang="zh-CN" altLang="en-US" sz="2800" b="0" dirty="0">
                <a:ea typeface="华文楷体" pitchFamily="2" charset="-122"/>
                <a:cs typeface="Times New Roman" panose="02020603050405020304" pitchFamily="18" charset="0"/>
              </a:rPr>
              <a:t>一个空间</a:t>
            </a:r>
            <a:r>
              <a:rPr lang="zh-CN" altLang="zh-CN" sz="2800" b="0" dirty="0">
                <a:ea typeface="华文楷体" pitchFamily="2" charset="-122"/>
                <a:cs typeface="Times New Roman" panose="02020603050405020304" pitchFamily="18" charset="0"/>
              </a:rPr>
              <a:t>地址。</a:t>
            </a:r>
            <a:r>
              <a:rPr lang="zh-CN" altLang="en-US" sz="2800" b="0" dirty="0">
                <a:ea typeface="华文楷体" pitchFamily="2" charset="-122"/>
                <a:cs typeface="Times New Roman" panose="02020603050405020304" pitchFamily="18" charset="0"/>
              </a:rPr>
              <a:t>为防止队列后移造成的空间浪费，附加一个循环特征，称</a:t>
            </a:r>
            <a:r>
              <a:rPr lang="zh-CN" altLang="en-US" sz="2800" dirty="0">
                <a:ea typeface="华文楷体" pitchFamily="2" charset="-122"/>
                <a:cs typeface="Times New Roman" panose="02020603050405020304" pitchFamily="18" charset="0"/>
              </a:rPr>
              <a:t>顺序循环队列</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ea typeface="华文楷体" pitchFamily="2" charset="-122"/>
              <a:cs typeface="Times New Roman" panose="02020603050405020304" pitchFamily="18" charset="0"/>
            </a:endParaRPr>
          </a:p>
          <a:p>
            <a:pPr marL="0" indent="0">
              <a:buNone/>
            </a:pPr>
            <a:r>
              <a:rPr lang="zh-CN" altLang="en-US" sz="2800" b="0" dirty="0">
                <a:ea typeface="华文楷体" pitchFamily="2" charset="-122"/>
                <a:cs typeface="Times New Roman" panose="02020603050405020304" pitchFamily="18" charset="0"/>
              </a:rPr>
              <a:t>队空标志： </a:t>
            </a:r>
            <a:r>
              <a:rPr lang="en-US" altLang="zh-CN" sz="2800" b="0" dirty="0">
                <a:ea typeface="华文楷体" pitchFamily="2" charset="-122"/>
                <a:cs typeface="Times New Roman" panose="02020603050405020304" pitchFamily="18" charset="0"/>
              </a:rPr>
              <a:t>Rear==Front</a:t>
            </a:r>
          </a:p>
          <a:p>
            <a:pPr marL="0" indent="0">
              <a:buNone/>
            </a:pPr>
            <a:r>
              <a:rPr lang="zh-CN" altLang="en-US" sz="2800" b="0" dirty="0">
                <a:ea typeface="华文楷体" pitchFamily="2" charset="-122"/>
                <a:cs typeface="Times New Roman" panose="02020603050405020304" pitchFamily="18" charset="0"/>
              </a:rPr>
              <a:t>队满标志：</a:t>
            </a:r>
            <a:r>
              <a:rPr lang="en-US" altLang="zh-CN" sz="2800" b="0" dirty="0">
                <a:ea typeface="华文楷体" pitchFamily="2" charset="-122"/>
                <a:cs typeface="Times New Roman" panose="02020603050405020304" pitchFamily="18" charset="0"/>
              </a:rPr>
              <a:t>(Rear+1)%</a:t>
            </a:r>
            <a:r>
              <a:rPr lang="en-US" altLang="zh-CN" sz="2800" b="0" dirty="0" err="1">
                <a:ea typeface="华文楷体" pitchFamily="2" charset="-122"/>
                <a:cs typeface="Times New Roman" panose="02020603050405020304" pitchFamily="18" charset="0"/>
              </a:rPr>
              <a:t>maxSize</a:t>
            </a:r>
            <a:r>
              <a:rPr lang="en-US" altLang="zh-CN" sz="2800" b="0" dirty="0">
                <a:ea typeface="华文楷体" pitchFamily="2" charset="-122"/>
                <a:cs typeface="Times New Roman" panose="02020603050405020304" pitchFamily="18" charset="0"/>
              </a:rPr>
              <a:t> == Front</a:t>
            </a:r>
          </a:p>
          <a:p>
            <a:pPr marL="0" indent="0">
              <a:buNone/>
            </a:pPr>
            <a:endParaRPr lang="en-US" altLang="zh-CN" sz="2800" b="0" dirty="0">
              <a:latin typeface="华文楷体" pitchFamily="2" charset="-122"/>
              <a:ea typeface="华文楷体" pitchFamily="2" charset="-122"/>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en-US" altLang="zh-CN" dirty="0"/>
              <a:t> </a:t>
            </a:r>
            <a:r>
              <a:rPr lang="zh-CN" altLang="en-US" dirty="0">
                <a:latin typeface="华文楷体" panose="02010600040101010101" pitchFamily="2" charset="-122"/>
                <a:ea typeface="华文楷体" panose="02010600040101010101" pitchFamily="2" charset="-122"/>
              </a:rPr>
              <a:t>顺序队列：</a:t>
            </a:r>
          </a:p>
        </p:txBody>
      </p:sp>
    </p:spTree>
    <p:extLst>
      <p:ext uri="{BB962C8B-B14F-4D97-AF65-F5344CB8AC3E}">
        <p14:creationId xmlns:p14="http://schemas.microsoft.com/office/powerpoint/2010/main" val="13872450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p:nvPicPr>
        <p:blipFill>
          <a:blip r:embed="rId3">
            <a:extLst>
              <a:ext uri="{28A0092B-C50C-407E-A947-70E740481C1C}">
                <a14:useLocalDpi xmlns:a14="http://schemas.microsoft.com/office/drawing/2010/main" val="0"/>
              </a:ext>
            </a:extLst>
          </a:blip>
          <a:srcRect/>
          <a:stretch>
            <a:fillRect/>
          </a:stretch>
        </p:blipFill>
        <p:spPr bwMode="auto">
          <a:xfrm>
            <a:off x="1657350" y="915436"/>
            <a:ext cx="8003485" cy="5564877"/>
          </a:xfrm>
          <a:prstGeom prst="rect">
            <a:avLst/>
          </a:prstGeom>
          <a:noFill/>
          <a:ln>
            <a:noFill/>
          </a:ln>
        </p:spPr>
      </p:pic>
    </p:spTree>
    <p:extLst>
      <p:ext uri="{BB962C8B-B14F-4D97-AF65-F5344CB8AC3E}">
        <p14:creationId xmlns:p14="http://schemas.microsoft.com/office/powerpoint/2010/main" val="18701731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59918" y="1368085"/>
            <a:ext cx="11162883" cy="5251376"/>
          </a:xfrm>
        </p:spPr>
        <p:txBody>
          <a:bodyPr>
            <a:normAutofit fontScale="62500" lnSpcReduction="20000"/>
          </a:bodyPr>
          <a:lstStyle/>
          <a:p>
            <a:pPr marL="0" indent="0">
              <a:buNone/>
            </a:pPr>
            <a:r>
              <a:rPr lang="en-US" altLang="zh-CN" sz="3500" b="0" dirty="0">
                <a:ea typeface="华文楷体" panose="02010600040101010101" pitchFamily="2" charset="-122"/>
                <a:cs typeface="Times New Roman" panose="02020603050405020304" pitchFamily="18" charset="0"/>
              </a:rPr>
              <a:t>#</a:t>
            </a:r>
            <a:r>
              <a:rPr lang="en-US" altLang="zh-CN" sz="3500" b="0" dirty="0" err="1">
                <a:ea typeface="华文楷体" panose="02010600040101010101" pitchFamily="2" charset="-122"/>
                <a:cs typeface="Times New Roman" panose="02020603050405020304" pitchFamily="18" charset="0"/>
              </a:rPr>
              <a:t>ifndef</a:t>
            </a:r>
            <a:r>
              <a:rPr lang="en-US" altLang="zh-CN" sz="3500" b="0" dirty="0">
                <a:ea typeface="华文楷体" panose="02010600040101010101" pitchFamily="2" charset="-122"/>
                <a:cs typeface="Times New Roman" panose="02020603050405020304" pitchFamily="18" charset="0"/>
              </a:rPr>
              <a:t> SEQQUEUE_H_INCLUDED</a:t>
            </a:r>
            <a:endParaRPr lang="zh-CN" altLang="zh-CN" sz="3500" b="0" dirty="0">
              <a:ea typeface="华文楷体" panose="02010600040101010101" pitchFamily="2" charset="-122"/>
              <a:cs typeface="Times New Roman" panose="02020603050405020304" pitchFamily="18" charset="0"/>
            </a:endParaRPr>
          </a:p>
          <a:p>
            <a:pPr marL="0" indent="0">
              <a:buNone/>
            </a:pPr>
            <a:r>
              <a:rPr lang="en-US" altLang="zh-CN" sz="3500" b="0" dirty="0">
                <a:ea typeface="华文楷体" panose="02010600040101010101" pitchFamily="2" charset="-122"/>
                <a:cs typeface="Times New Roman" panose="02020603050405020304" pitchFamily="18" charset="0"/>
              </a:rPr>
              <a:t>#define SEQQUEUE_H_INCLUDED</a:t>
            </a:r>
            <a:endParaRPr lang="zh-CN" altLang="zh-CN" sz="3500" b="0" dirty="0">
              <a:ea typeface="华文楷体" panose="02010600040101010101" pitchFamily="2" charset="-122"/>
              <a:cs typeface="Times New Roman" panose="02020603050405020304" pitchFamily="18" charset="0"/>
            </a:endParaRPr>
          </a:p>
          <a:p>
            <a:pPr marL="0" indent="0">
              <a:buNone/>
            </a:pPr>
            <a:r>
              <a:rPr lang="en-US" altLang="zh-CN" sz="3500" b="0" dirty="0">
                <a:ea typeface="华文楷体" panose="02010600040101010101" pitchFamily="2" charset="-122"/>
                <a:cs typeface="Times New Roman" panose="02020603050405020304" pitchFamily="18" charset="0"/>
              </a:rPr>
              <a:t>class </a:t>
            </a:r>
            <a:r>
              <a:rPr lang="en-US" altLang="zh-CN" sz="3500" b="0" dirty="0" err="1">
                <a:ea typeface="华文楷体" panose="02010600040101010101" pitchFamily="2" charset="-122"/>
                <a:cs typeface="Times New Roman" panose="02020603050405020304" pitchFamily="18" charset="0"/>
              </a:rPr>
              <a:t>illegalSize</a:t>
            </a:r>
            <a:r>
              <a:rPr lang="en-US" altLang="zh-CN" sz="3500" b="0" dirty="0">
                <a:ea typeface="华文楷体" panose="02010600040101010101" pitchFamily="2" charset="-122"/>
                <a:cs typeface="Times New Roman" panose="02020603050405020304" pitchFamily="18" charset="0"/>
              </a:rPr>
              <a:t>{};</a:t>
            </a:r>
            <a:endParaRPr lang="zh-CN" altLang="zh-CN" sz="3500" b="0" dirty="0">
              <a:ea typeface="华文楷体" panose="02010600040101010101" pitchFamily="2" charset="-122"/>
              <a:cs typeface="Times New Roman" panose="02020603050405020304" pitchFamily="18" charset="0"/>
            </a:endParaRPr>
          </a:p>
          <a:p>
            <a:pPr marL="0" indent="0">
              <a:buNone/>
            </a:pPr>
            <a:r>
              <a:rPr lang="en-US" altLang="zh-CN" sz="3500" b="0" dirty="0">
                <a:ea typeface="华文楷体" panose="02010600040101010101" pitchFamily="2" charset="-122"/>
                <a:cs typeface="Times New Roman" panose="02020603050405020304" pitchFamily="18" charset="0"/>
              </a:rPr>
              <a:t>class </a:t>
            </a:r>
            <a:r>
              <a:rPr lang="en-US" altLang="zh-CN" sz="3500" b="0" dirty="0" err="1">
                <a:ea typeface="华文楷体" panose="02010600040101010101" pitchFamily="2" charset="-122"/>
                <a:cs typeface="Times New Roman" panose="02020603050405020304" pitchFamily="18" charset="0"/>
              </a:rPr>
              <a:t>outOfBound</a:t>
            </a:r>
            <a:r>
              <a:rPr lang="en-US" altLang="zh-CN" sz="3500" b="0" dirty="0">
                <a:ea typeface="华文楷体" panose="02010600040101010101" pitchFamily="2" charset="-122"/>
                <a:cs typeface="Times New Roman" panose="02020603050405020304" pitchFamily="18" charset="0"/>
              </a:rPr>
              <a:t>{};</a:t>
            </a:r>
            <a:endParaRPr lang="zh-CN" altLang="zh-CN" sz="3500" b="0" dirty="0">
              <a:ea typeface="华文楷体" panose="02010600040101010101" pitchFamily="2" charset="-122"/>
              <a:cs typeface="Times New Roman" panose="02020603050405020304" pitchFamily="18" charset="0"/>
            </a:endParaRPr>
          </a:p>
          <a:p>
            <a:pPr marL="0" indent="0">
              <a:buNone/>
            </a:pPr>
            <a:r>
              <a:rPr lang="en-US" altLang="zh-CN" sz="3500" b="0" dirty="0">
                <a:ea typeface="华文楷体" panose="02010600040101010101" pitchFamily="2" charset="-122"/>
                <a:cs typeface="Times New Roman" panose="02020603050405020304" pitchFamily="18" charset="0"/>
              </a:rPr>
              <a:t>template &lt;class </a:t>
            </a:r>
            <a:r>
              <a:rPr lang="en-US" altLang="zh-CN" sz="3500" b="0" dirty="0" err="1">
                <a:ea typeface="华文楷体" panose="02010600040101010101" pitchFamily="2" charset="-122"/>
                <a:cs typeface="Times New Roman" panose="02020603050405020304" pitchFamily="18" charset="0"/>
              </a:rPr>
              <a:t>elemType</a:t>
            </a:r>
            <a:r>
              <a:rPr lang="en-US" altLang="zh-CN" sz="3500" b="0" dirty="0">
                <a:ea typeface="华文楷体" panose="02010600040101010101" pitchFamily="2" charset="-122"/>
                <a:cs typeface="Times New Roman" panose="02020603050405020304" pitchFamily="18" charset="0"/>
              </a:rPr>
              <a:t>&gt;</a:t>
            </a:r>
            <a:endParaRPr lang="zh-CN" altLang="zh-CN" sz="3500" b="0" dirty="0">
              <a:ea typeface="华文楷体" panose="02010600040101010101" pitchFamily="2" charset="-122"/>
              <a:cs typeface="Times New Roman" panose="02020603050405020304" pitchFamily="18" charset="0"/>
            </a:endParaRPr>
          </a:p>
          <a:p>
            <a:pPr marL="0" indent="0">
              <a:buNone/>
            </a:pPr>
            <a:r>
              <a:rPr lang="en-US" altLang="zh-CN" sz="3500" b="0" dirty="0">
                <a:ea typeface="华文楷体" panose="02010600040101010101" pitchFamily="2" charset="-122"/>
                <a:cs typeface="Times New Roman" panose="02020603050405020304" pitchFamily="18" charset="0"/>
              </a:rPr>
              <a:t>class </a:t>
            </a:r>
            <a:r>
              <a:rPr lang="en-US" altLang="zh-CN" sz="3500" b="0" dirty="0" err="1">
                <a:ea typeface="华文楷体" panose="02010600040101010101" pitchFamily="2" charset="-122"/>
                <a:cs typeface="Times New Roman" panose="02020603050405020304" pitchFamily="18" charset="0"/>
              </a:rPr>
              <a:t>seqQueue</a:t>
            </a:r>
            <a:endParaRPr lang="zh-CN" altLang="zh-CN" sz="3500" b="0" dirty="0">
              <a:ea typeface="华文楷体" panose="02010600040101010101" pitchFamily="2" charset="-122"/>
              <a:cs typeface="Times New Roman" panose="02020603050405020304" pitchFamily="18" charset="0"/>
            </a:endParaRPr>
          </a:p>
          <a:p>
            <a:pPr marL="0" indent="0">
              <a:buNone/>
            </a:pPr>
            <a:r>
              <a:rPr lang="en-US" altLang="zh-CN" sz="3500" b="0" dirty="0">
                <a:ea typeface="华文楷体" panose="02010600040101010101" pitchFamily="2" charset="-122"/>
                <a:cs typeface="Times New Roman" panose="02020603050405020304" pitchFamily="18" charset="0"/>
              </a:rPr>
              <a:t>{    private:</a:t>
            </a:r>
            <a:endParaRPr lang="zh-CN" altLang="zh-CN" sz="3500" b="0" dirty="0">
              <a:ea typeface="华文楷体" panose="02010600040101010101" pitchFamily="2" charset="-122"/>
              <a:cs typeface="Times New Roman" panose="02020603050405020304" pitchFamily="18" charset="0"/>
            </a:endParaRPr>
          </a:p>
          <a:p>
            <a:pPr marL="0" indent="0">
              <a:buNone/>
            </a:pPr>
            <a:r>
              <a:rPr lang="en-US" altLang="zh-CN" sz="3500" b="0" dirty="0">
                <a:ea typeface="华文楷体" panose="02010600040101010101" pitchFamily="2" charset="-122"/>
                <a:cs typeface="Times New Roman" panose="02020603050405020304" pitchFamily="18" charset="0"/>
              </a:rPr>
              <a:t>        </a:t>
            </a:r>
            <a:r>
              <a:rPr lang="en-US" altLang="zh-CN" sz="3500" b="0" dirty="0" err="1">
                <a:ea typeface="华文楷体" panose="02010600040101010101" pitchFamily="2" charset="-122"/>
                <a:cs typeface="Times New Roman" panose="02020603050405020304" pitchFamily="18" charset="0"/>
              </a:rPr>
              <a:t>elemType</a:t>
            </a:r>
            <a:r>
              <a:rPr lang="en-US" altLang="zh-CN" sz="3500" b="0" dirty="0">
                <a:ea typeface="华文楷体" panose="02010600040101010101" pitchFamily="2" charset="-122"/>
                <a:cs typeface="Times New Roman" panose="02020603050405020304" pitchFamily="18" charset="0"/>
              </a:rPr>
              <a:t> *array;</a:t>
            </a:r>
            <a:endParaRPr lang="zh-CN" altLang="zh-CN" sz="3500" b="0" dirty="0">
              <a:ea typeface="华文楷体" panose="02010600040101010101" pitchFamily="2" charset="-122"/>
              <a:cs typeface="Times New Roman" panose="02020603050405020304" pitchFamily="18" charset="0"/>
            </a:endParaRPr>
          </a:p>
          <a:p>
            <a:pPr marL="0" indent="0">
              <a:buNone/>
            </a:pPr>
            <a:r>
              <a:rPr lang="en-US" altLang="zh-CN" sz="3500" b="0" dirty="0">
                <a:ea typeface="华文楷体" panose="02010600040101010101" pitchFamily="2" charset="-122"/>
                <a:cs typeface="Times New Roman" panose="02020603050405020304" pitchFamily="18" charset="0"/>
              </a:rPr>
              <a:t>        </a:t>
            </a:r>
            <a:r>
              <a:rPr lang="en-US" altLang="zh-CN" sz="3500" b="0" dirty="0" err="1">
                <a:ea typeface="华文楷体" panose="02010600040101010101" pitchFamily="2" charset="-122"/>
                <a:cs typeface="Times New Roman" panose="02020603050405020304" pitchFamily="18" charset="0"/>
              </a:rPr>
              <a:t>int</a:t>
            </a:r>
            <a:r>
              <a:rPr lang="en-US" altLang="zh-CN" sz="3500" b="0" dirty="0">
                <a:ea typeface="华文楷体" panose="02010600040101010101" pitchFamily="2" charset="-122"/>
                <a:cs typeface="Times New Roman" panose="02020603050405020304" pitchFamily="18" charset="0"/>
              </a:rPr>
              <a:t> </a:t>
            </a:r>
            <a:r>
              <a:rPr lang="en-US" altLang="zh-CN" sz="3500" b="0" dirty="0" err="1">
                <a:ea typeface="华文楷体" panose="02010600040101010101" pitchFamily="2" charset="-122"/>
                <a:cs typeface="Times New Roman" panose="02020603050405020304" pitchFamily="18" charset="0"/>
              </a:rPr>
              <a:t>maxSize</a:t>
            </a:r>
            <a:r>
              <a:rPr lang="en-US" altLang="zh-CN" sz="3500" b="0" dirty="0">
                <a:ea typeface="华文楷体" panose="02010600040101010101" pitchFamily="2" charset="-122"/>
                <a:cs typeface="Times New Roman" panose="02020603050405020304" pitchFamily="18" charset="0"/>
              </a:rPr>
              <a:t>;</a:t>
            </a:r>
            <a:endParaRPr lang="zh-CN" altLang="zh-CN" sz="3500" b="0" dirty="0">
              <a:ea typeface="华文楷体" panose="02010600040101010101" pitchFamily="2" charset="-122"/>
              <a:cs typeface="Times New Roman" panose="02020603050405020304" pitchFamily="18" charset="0"/>
            </a:endParaRPr>
          </a:p>
          <a:p>
            <a:pPr marL="0" indent="0">
              <a:buNone/>
            </a:pPr>
            <a:r>
              <a:rPr lang="en-US" altLang="zh-CN" sz="3500" b="0" dirty="0">
                <a:ea typeface="华文楷体" panose="02010600040101010101" pitchFamily="2" charset="-122"/>
                <a:cs typeface="Times New Roman" panose="02020603050405020304" pitchFamily="18" charset="0"/>
              </a:rPr>
              <a:t>        </a:t>
            </a:r>
            <a:r>
              <a:rPr lang="en-US" altLang="zh-CN" sz="3500" b="0" dirty="0" err="1">
                <a:ea typeface="华文楷体" panose="02010600040101010101" pitchFamily="2" charset="-122"/>
                <a:cs typeface="Times New Roman" panose="02020603050405020304" pitchFamily="18" charset="0"/>
              </a:rPr>
              <a:t>int</a:t>
            </a:r>
            <a:r>
              <a:rPr lang="en-US" altLang="zh-CN" sz="3500" b="0" dirty="0">
                <a:ea typeface="华文楷体" panose="02010600040101010101" pitchFamily="2" charset="-122"/>
                <a:cs typeface="Times New Roman" panose="02020603050405020304" pitchFamily="18" charset="0"/>
              </a:rPr>
              <a:t> Front, Rear;</a:t>
            </a:r>
            <a:endParaRPr lang="zh-CN" altLang="zh-CN" sz="3500" b="0" dirty="0">
              <a:ea typeface="华文楷体" panose="02010600040101010101" pitchFamily="2" charset="-122"/>
              <a:cs typeface="Times New Roman" panose="02020603050405020304" pitchFamily="18" charset="0"/>
            </a:endParaRPr>
          </a:p>
          <a:p>
            <a:pPr marL="0" indent="0">
              <a:buNone/>
            </a:pPr>
            <a:r>
              <a:rPr lang="en-US" altLang="zh-CN" sz="3500" b="0" dirty="0">
                <a:ea typeface="华文楷体" panose="02010600040101010101" pitchFamily="2" charset="-122"/>
                <a:cs typeface="Times New Roman" panose="02020603050405020304" pitchFamily="18" charset="0"/>
              </a:rPr>
              <a:t>        void </a:t>
            </a:r>
            <a:r>
              <a:rPr lang="en-US" altLang="zh-CN" sz="3500" b="0" dirty="0" err="1">
                <a:ea typeface="华文楷体" panose="02010600040101010101" pitchFamily="2" charset="-122"/>
                <a:cs typeface="Times New Roman" panose="02020603050405020304" pitchFamily="18" charset="0"/>
              </a:rPr>
              <a:t>doubleSpace</a:t>
            </a:r>
            <a:r>
              <a:rPr lang="en-US" altLang="zh-CN" sz="3500" b="0" dirty="0">
                <a:ea typeface="华文楷体" panose="02010600040101010101" pitchFamily="2" charset="-122"/>
                <a:cs typeface="Times New Roman" panose="02020603050405020304" pitchFamily="18" charset="0"/>
              </a:rPr>
              <a:t>(); //</a:t>
            </a:r>
            <a:r>
              <a:rPr lang="zh-CN" altLang="zh-CN" sz="3500" b="0" dirty="0">
                <a:ea typeface="华文楷体" panose="02010600040101010101" pitchFamily="2" charset="-122"/>
                <a:cs typeface="Times New Roman" panose="02020603050405020304" pitchFamily="18" charset="0"/>
              </a:rPr>
              <a:t>扩展队队列元素的存储空间为原来的</a:t>
            </a:r>
            <a:r>
              <a:rPr lang="en-US" altLang="zh-CN" sz="3500" b="0" dirty="0">
                <a:ea typeface="华文楷体" panose="02010600040101010101" pitchFamily="2" charset="-122"/>
                <a:cs typeface="Times New Roman" panose="02020603050405020304" pitchFamily="18" charset="0"/>
              </a:rPr>
              <a:t>2</a:t>
            </a:r>
            <a:r>
              <a:rPr lang="zh-CN" altLang="zh-CN" sz="3500" b="0" dirty="0">
                <a:ea typeface="华文楷体" panose="02010600040101010101" pitchFamily="2" charset="-122"/>
                <a:cs typeface="Times New Roman" panose="02020603050405020304" pitchFamily="18" charset="0"/>
              </a:rPr>
              <a:t>倍</a:t>
            </a:r>
          </a:p>
          <a:p>
            <a:pPr marL="0" indent="0">
              <a:buNone/>
            </a:pP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9" y="793902"/>
            <a:ext cx="11162884" cy="574183"/>
          </a:xfrm>
        </p:spPr>
        <p:txBody>
          <a:bodyPr/>
          <a:lstStyle/>
          <a:p>
            <a:pPr marL="838200" indent="-838200">
              <a:defRPr/>
            </a:pPr>
            <a:r>
              <a:rPr lang="en-US" altLang="zh-CN" dirty="0"/>
              <a:t> </a:t>
            </a:r>
            <a:r>
              <a:rPr lang="zh-CN" altLang="en-US" dirty="0">
                <a:latin typeface="华文楷体" panose="02010600040101010101" pitchFamily="2" charset="-122"/>
                <a:ea typeface="华文楷体" panose="02010600040101010101" pitchFamily="2" charset="-122"/>
              </a:rPr>
              <a:t>顺序循环队列类的定义：</a:t>
            </a:r>
          </a:p>
        </p:txBody>
      </p:sp>
    </p:spTree>
    <p:extLst>
      <p:ext uri="{BB962C8B-B14F-4D97-AF65-F5344CB8AC3E}">
        <p14:creationId xmlns:p14="http://schemas.microsoft.com/office/powerpoint/2010/main" val="35110560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59918" y="1368085"/>
            <a:ext cx="11162883" cy="5251376"/>
          </a:xfrm>
        </p:spPr>
        <p:txBody>
          <a:bodyPr>
            <a:normAutofit/>
          </a:bodyPr>
          <a:lstStyle/>
          <a:p>
            <a:pPr marL="0" indent="0">
              <a:buNone/>
            </a:pPr>
            <a:r>
              <a:rPr lang="en-US" altLang="zh-CN"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public:</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seqQueue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size=10); //</a:t>
            </a:r>
            <a:r>
              <a:rPr lang="zh-CN" altLang="zh-CN" b="0" dirty="0">
                <a:ea typeface="华文楷体" panose="02010600040101010101" pitchFamily="2" charset="-122"/>
                <a:cs typeface="Times New Roman" panose="02020603050405020304" pitchFamily="18" charset="0"/>
              </a:rPr>
              <a:t>初始化队列元素的存储空间</a:t>
            </a:r>
          </a:p>
          <a:p>
            <a:pPr marL="0" indent="0">
              <a:buNone/>
            </a:pPr>
            <a:r>
              <a:rPr lang="en-US" altLang="zh-CN" b="0" dirty="0">
                <a:ea typeface="华文楷体" panose="02010600040101010101" pitchFamily="2" charset="-122"/>
                <a:cs typeface="Times New Roman" panose="02020603050405020304" pitchFamily="18" charset="0"/>
              </a:rPr>
              <a:t>        	bool </a:t>
            </a:r>
            <a:r>
              <a:rPr lang="en-US" altLang="zh-CN" b="0" dirty="0" err="1">
                <a:ea typeface="华文楷体" panose="02010600040101010101" pitchFamily="2" charset="-122"/>
                <a:cs typeface="Times New Roman" panose="02020603050405020304" pitchFamily="18" charset="0"/>
              </a:rPr>
              <a:t>isEmpty</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判断队空否，空返回</a:t>
            </a:r>
            <a:r>
              <a:rPr lang="en-US" altLang="zh-CN" b="0" dirty="0">
                <a:ea typeface="华文楷体" panose="02010600040101010101" pitchFamily="2" charset="-122"/>
                <a:cs typeface="Times New Roman" panose="02020603050405020304" pitchFamily="18" charset="0"/>
              </a:rPr>
              <a:t>true</a:t>
            </a:r>
            <a:r>
              <a:rPr lang="zh-CN" altLang="zh-CN" b="0" dirty="0">
                <a:ea typeface="华文楷体" panose="02010600040101010101" pitchFamily="2" charset="-122"/>
                <a:cs typeface="Times New Roman" panose="02020603050405020304" pitchFamily="18" charset="0"/>
              </a:rPr>
              <a:t>，否则为</a:t>
            </a:r>
            <a:r>
              <a:rPr lang="en-US" altLang="zh-CN" b="0" dirty="0">
                <a:ea typeface="华文楷体" panose="02010600040101010101" pitchFamily="2" charset="-122"/>
                <a:cs typeface="Times New Roman" panose="02020603050405020304" pitchFamily="18" charset="0"/>
              </a:rPr>
              <a:t>false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a:t>
            </a:r>
            <a:r>
              <a:rPr lang="en-US" altLang="zh-CN" b="0" dirty="0" err="1">
                <a:ea typeface="华文楷体" panose="02010600040101010101" pitchFamily="2" charset="-122"/>
                <a:cs typeface="Times New Roman" panose="02020603050405020304" pitchFamily="18" charset="0"/>
              </a:rPr>
              <a:t>isFull</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判断队满否，满返回</a:t>
            </a:r>
            <a:r>
              <a:rPr lang="en-US" altLang="zh-CN" b="0" dirty="0">
                <a:ea typeface="华文楷体" panose="02010600040101010101" pitchFamily="2" charset="-122"/>
                <a:cs typeface="Times New Roman" panose="02020603050405020304" pitchFamily="18" charset="0"/>
              </a:rPr>
              <a:t>true</a:t>
            </a:r>
            <a:r>
              <a:rPr lang="zh-CN" altLang="zh-CN" b="0" dirty="0">
                <a:ea typeface="华文楷体" panose="02010600040101010101" pitchFamily="2" charset="-122"/>
                <a:cs typeface="Times New Roman" panose="02020603050405020304" pitchFamily="18" charset="0"/>
              </a:rPr>
              <a:t>，否则为</a:t>
            </a:r>
            <a:r>
              <a:rPr lang="en-US" altLang="zh-CN" b="0" dirty="0">
                <a:ea typeface="华文楷体" panose="02010600040101010101" pitchFamily="2" charset="-122"/>
                <a:cs typeface="Times New Roman" panose="02020603050405020304" pitchFamily="18" charset="0"/>
              </a:rPr>
              <a:t>false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front(); //</a:t>
            </a:r>
            <a:r>
              <a:rPr lang="zh-CN" altLang="zh-CN" b="0" dirty="0">
                <a:ea typeface="华文楷体" panose="02010600040101010101" pitchFamily="2" charset="-122"/>
                <a:cs typeface="Times New Roman" panose="02020603050405020304" pitchFamily="18" charset="0"/>
              </a:rPr>
              <a:t>读取队首元素的值，队首不变</a:t>
            </a: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enQueue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&amp;x); //</a:t>
            </a:r>
            <a:r>
              <a:rPr lang="zh-CN" altLang="zh-CN" b="0" dirty="0">
                <a:ea typeface="华文楷体" panose="02010600040101010101" pitchFamily="2" charset="-122"/>
                <a:cs typeface="Times New Roman" panose="02020603050405020304" pitchFamily="18" charset="0"/>
              </a:rPr>
              <a:t>将</a:t>
            </a:r>
            <a:r>
              <a:rPr lang="en-US" altLang="zh-CN" b="0" dirty="0">
                <a:ea typeface="华文楷体" panose="02010600040101010101" pitchFamily="2" charset="-122"/>
                <a:cs typeface="Times New Roman" panose="02020603050405020304" pitchFamily="18" charset="0"/>
              </a:rPr>
              <a:t>x</a:t>
            </a:r>
            <a:r>
              <a:rPr lang="zh-CN" altLang="zh-CN" b="0" dirty="0">
                <a:ea typeface="华文楷体" panose="02010600040101010101" pitchFamily="2" charset="-122"/>
                <a:cs typeface="Times New Roman" panose="02020603050405020304" pitchFamily="18" charset="0"/>
              </a:rPr>
              <a:t>进队，成为新的队尾</a:t>
            </a: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deQueue</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将队首元素出队</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seqQueue</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释放队列元素所占据的动态数组</a:t>
            </a:r>
          </a:p>
          <a:p>
            <a:pPr marL="0" indent="0">
              <a:buNone/>
            </a:pPr>
            <a:r>
              <a:rPr lang="en-US" altLang="zh-CN" b="0" dirty="0">
                <a:ea typeface="华文楷体" panose="02010600040101010101"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320769" y="793902"/>
            <a:ext cx="11162884" cy="574183"/>
          </a:xfrm>
        </p:spPr>
        <p:txBody>
          <a:bodyPr/>
          <a:lstStyle/>
          <a:p>
            <a:pPr marL="838200" indent="-838200">
              <a:defRPr/>
            </a:pPr>
            <a:r>
              <a:rPr lang="en-US" altLang="zh-CN" dirty="0"/>
              <a:t> </a:t>
            </a:r>
            <a:r>
              <a:rPr lang="zh-CN" altLang="en-US" dirty="0">
                <a:latin typeface="华文楷体" panose="02010600040101010101" pitchFamily="2" charset="-122"/>
                <a:ea typeface="华文楷体" panose="02010600040101010101" pitchFamily="2" charset="-122"/>
              </a:rPr>
              <a:t>顺序循环队列类的定义：</a:t>
            </a:r>
          </a:p>
        </p:txBody>
      </p:sp>
    </p:spTree>
    <p:extLst>
      <p:ext uri="{BB962C8B-B14F-4D97-AF65-F5344CB8AC3E}">
        <p14:creationId xmlns:p14="http://schemas.microsoft.com/office/powerpoint/2010/main" val="237018886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79797" y="1566868"/>
            <a:ext cx="11162883" cy="4615272"/>
          </a:xfrm>
        </p:spPr>
        <p:txBody>
          <a:bodyPr>
            <a:normAutofit/>
          </a:bodyPr>
          <a:lstStyle/>
          <a:p>
            <a:pPr marL="0" indent="0">
              <a:buNone/>
            </a:pPr>
            <a:r>
              <a:rPr lang="en-US" altLang="zh-CN" b="0" dirty="0">
                <a:cs typeface="Times New Roman" panose="02020603050405020304" pitchFamily="18" charset="0"/>
              </a:rPr>
              <a:t>template &lt;class </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endParaRPr lang="zh-CN" altLang="zh-CN" b="0" dirty="0">
              <a:cs typeface="Times New Roman" panose="02020603050405020304" pitchFamily="18" charset="0"/>
            </a:endParaRPr>
          </a:p>
          <a:p>
            <a:pPr marL="0" indent="0">
              <a:buNone/>
            </a:pPr>
            <a:r>
              <a:rPr lang="en-US" altLang="zh-CN" b="0" dirty="0" err="1">
                <a:cs typeface="Times New Roman" panose="02020603050405020304" pitchFamily="18" charset="0"/>
              </a:rPr>
              <a:t>seqQueue</a:t>
            </a:r>
            <a:r>
              <a:rPr lang="en-US" altLang="zh-CN" b="0" dirty="0">
                <a:cs typeface="Times New Roman" panose="02020603050405020304" pitchFamily="18" charset="0"/>
              </a:rPr>
              <a:t>&lt;</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r>
              <a:rPr lang="en-US" altLang="zh-CN" b="0" dirty="0" err="1">
                <a:cs typeface="Times New Roman" panose="02020603050405020304" pitchFamily="18" charset="0"/>
              </a:rPr>
              <a:t>seqQueue</a:t>
            </a:r>
            <a:r>
              <a:rPr lang="en-US" altLang="zh-CN" b="0" dirty="0">
                <a:cs typeface="Times New Roman" panose="02020603050405020304" pitchFamily="18" charset="0"/>
              </a:rPr>
              <a:t>(</a:t>
            </a:r>
            <a:r>
              <a:rPr lang="en-US" altLang="zh-CN" b="0" dirty="0" err="1">
                <a:cs typeface="Times New Roman" panose="02020603050405020304" pitchFamily="18" charset="0"/>
              </a:rPr>
              <a:t>int</a:t>
            </a:r>
            <a:r>
              <a:rPr lang="en-US" altLang="zh-CN" b="0" dirty="0">
                <a:cs typeface="Times New Roman" panose="02020603050405020304" pitchFamily="18" charset="0"/>
              </a:rPr>
              <a:t> size) //</a:t>
            </a:r>
            <a:r>
              <a:rPr lang="zh-CN" altLang="zh-CN" b="0" dirty="0">
                <a:cs typeface="Times New Roman" panose="02020603050405020304" pitchFamily="18" charset="0"/>
              </a:rPr>
              <a:t>初始化队列元素的存储空间</a:t>
            </a:r>
          </a:p>
          <a:p>
            <a:pPr marL="0" indent="0">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array = new </a:t>
            </a:r>
            <a:r>
              <a:rPr lang="en-US" altLang="zh-CN" b="0" dirty="0" err="1">
                <a:cs typeface="Times New Roman" panose="02020603050405020304" pitchFamily="18" charset="0"/>
              </a:rPr>
              <a:t>elemType</a:t>
            </a:r>
            <a:r>
              <a:rPr lang="en-US" altLang="zh-CN" b="0" dirty="0">
                <a:cs typeface="Times New Roman" panose="02020603050405020304" pitchFamily="18" charset="0"/>
              </a:rPr>
              <a:t>[size]; //</a:t>
            </a:r>
            <a:r>
              <a:rPr lang="zh-CN" altLang="zh-CN" b="0" dirty="0">
                <a:cs typeface="Times New Roman" panose="02020603050405020304" pitchFamily="18" charset="0"/>
              </a:rPr>
              <a:t>申请实际的队列存储空间</a:t>
            </a:r>
          </a:p>
          <a:p>
            <a:pPr marL="0" indent="0">
              <a:buNone/>
            </a:pPr>
            <a:r>
              <a:rPr lang="en-US" altLang="zh-CN" b="0" dirty="0">
                <a:cs typeface="Times New Roman" panose="02020603050405020304" pitchFamily="18" charset="0"/>
              </a:rPr>
              <a:t>    if (!array) throw </a:t>
            </a:r>
            <a:r>
              <a:rPr lang="en-US" altLang="zh-CN" b="0" dirty="0" err="1">
                <a:cs typeface="Times New Roman" panose="02020603050405020304" pitchFamily="18" charset="0"/>
              </a:rPr>
              <a:t>illegalSize</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maxSize</a:t>
            </a:r>
            <a:r>
              <a:rPr lang="en-US" altLang="zh-CN" b="0" dirty="0">
                <a:cs typeface="Times New Roman" panose="02020603050405020304" pitchFamily="18" charset="0"/>
              </a:rPr>
              <a:t> = size;</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Front = Rear = 0;</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9" y="793902"/>
            <a:ext cx="11162884" cy="574183"/>
          </a:xfrm>
        </p:spPr>
        <p:txBody>
          <a:bodyPr/>
          <a:lstStyle/>
          <a:p>
            <a:pPr marL="838200" indent="-838200">
              <a:defRPr/>
            </a:pPr>
            <a:r>
              <a:rPr lang="en-US" altLang="zh-CN" dirty="0"/>
              <a:t> </a:t>
            </a:r>
            <a:r>
              <a:rPr lang="zh-CN" altLang="en-US" dirty="0">
                <a:latin typeface="华文楷体" panose="02010600040101010101" pitchFamily="2" charset="-122"/>
                <a:ea typeface="华文楷体" panose="02010600040101010101" pitchFamily="2" charset="-122"/>
              </a:rPr>
              <a:t>顺序循环队列类成员函数的实现：</a:t>
            </a:r>
          </a:p>
        </p:txBody>
      </p:sp>
    </p:spTree>
    <p:extLst>
      <p:ext uri="{BB962C8B-B14F-4D97-AF65-F5344CB8AC3E}">
        <p14:creationId xmlns:p14="http://schemas.microsoft.com/office/powerpoint/2010/main" val="38051447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0528" y="731981"/>
            <a:ext cx="11162883" cy="6126019"/>
          </a:xfrm>
        </p:spPr>
        <p:txBody>
          <a:bodyPr>
            <a:normAutofit fontScale="85000" lnSpcReduction="10000"/>
          </a:bodyPr>
          <a:lstStyle/>
          <a:p>
            <a:pPr marL="0" indent="0">
              <a:buNone/>
            </a:pPr>
            <a:r>
              <a:rPr lang="en-US" altLang="zh-CN" sz="3100" b="0" dirty="0">
                <a:ea typeface="华文楷体" panose="02010600040101010101" pitchFamily="2" charset="-122"/>
                <a:cs typeface="Times New Roman" panose="02020603050405020304" pitchFamily="18" charset="0"/>
              </a:rPr>
              <a:t>template &lt;class </a:t>
            </a:r>
            <a:r>
              <a:rPr lang="en-US" altLang="zh-CN" sz="3100" b="0" dirty="0" err="1">
                <a:ea typeface="华文楷体" panose="02010600040101010101" pitchFamily="2" charset="-122"/>
                <a:cs typeface="Times New Roman" panose="02020603050405020304" pitchFamily="18" charset="0"/>
              </a:rPr>
              <a:t>elemType</a:t>
            </a:r>
            <a:r>
              <a:rPr lang="en-US" altLang="zh-CN" sz="3100" b="0" dirty="0">
                <a:ea typeface="华文楷体" panose="02010600040101010101" pitchFamily="2" charset="-122"/>
                <a:cs typeface="Times New Roman" panose="02020603050405020304" pitchFamily="18" charset="0"/>
              </a:rPr>
              <a:t>&gt;</a:t>
            </a:r>
            <a:endParaRPr lang="zh-CN"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bool </a:t>
            </a:r>
            <a:r>
              <a:rPr lang="en-US" altLang="zh-CN" sz="3100" b="0" dirty="0" err="1">
                <a:ea typeface="华文楷体" panose="02010600040101010101" pitchFamily="2" charset="-122"/>
                <a:cs typeface="Times New Roman" panose="02020603050405020304" pitchFamily="18" charset="0"/>
              </a:rPr>
              <a:t>seqQueue</a:t>
            </a:r>
            <a:r>
              <a:rPr lang="en-US" altLang="zh-CN" sz="3100" b="0" dirty="0">
                <a:ea typeface="华文楷体" panose="02010600040101010101" pitchFamily="2" charset="-122"/>
                <a:cs typeface="Times New Roman" panose="02020603050405020304" pitchFamily="18" charset="0"/>
              </a:rPr>
              <a:t>&lt;</a:t>
            </a:r>
            <a:r>
              <a:rPr lang="en-US" altLang="zh-CN" sz="3100" b="0" dirty="0" err="1">
                <a:ea typeface="华文楷体" panose="02010600040101010101" pitchFamily="2" charset="-122"/>
                <a:cs typeface="Times New Roman" panose="02020603050405020304" pitchFamily="18" charset="0"/>
              </a:rPr>
              <a:t>elemType</a:t>
            </a:r>
            <a:r>
              <a:rPr lang="en-US" altLang="zh-CN" sz="3100" b="0" dirty="0">
                <a:ea typeface="华文楷体" panose="02010600040101010101" pitchFamily="2" charset="-122"/>
                <a:cs typeface="Times New Roman" panose="02020603050405020304" pitchFamily="18" charset="0"/>
              </a:rPr>
              <a:t>&gt;::</a:t>
            </a:r>
            <a:r>
              <a:rPr lang="en-US" altLang="zh-CN" sz="3100" b="0" dirty="0" err="1">
                <a:ea typeface="华文楷体" panose="02010600040101010101" pitchFamily="2" charset="-122"/>
                <a:cs typeface="Times New Roman" panose="02020603050405020304" pitchFamily="18" charset="0"/>
              </a:rPr>
              <a:t>isEmpty</a:t>
            </a:r>
            <a:r>
              <a:rPr lang="en-US" altLang="zh-CN" sz="3100" b="0" dirty="0">
                <a:ea typeface="华文楷体" panose="02010600040101010101" pitchFamily="2" charset="-122"/>
                <a:cs typeface="Times New Roman" panose="02020603050405020304" pitchFamily="18" charset="0"/>
              </a:rPr>
              <a:t>()  //</a:t>
            </a:r>
            <a:r>
              <a:rPr lang="zh-CN" altLang="zh-CN" sz="3100" b="0" dirty="0">
                <a:ea typeface="华文楷体" panose="02010600040101010101" pitchFamily="2" charset="-122"/>
                <a:cs typeface="Times New Roman" panose="02020603050405020304" pitchFamily="18" charset="0"/>
              </a:rPr>
              <a:t>判断队空否，空返回</a:t>
            </a:r>
            <a:r>
              <a:rPr lang="en-US" altLang="zh-CN" sz="3100" b="0" dirty="0">
                <a:ea typeface="华文楷体" panose="02010600040101010101" pitchFamily="2" charset="-122"/>
                <a:cs typeface="Times New Roman" panose="02020603050405020304" pitchFamily="18" charset="0"/>
              </a:rPr>
              <a:t>true</a:t>
            </a:r>
            <a:r>
              <a:rPr lang="zh-CN" altLang="zh-CN" sz="3100" b="0" dirty="0">
                <a:ea typeface="华文楷体" panose="02010600040101010101" pitchFamily="2" charset="-122"/>
                <a:cs typeface="Times New Roman" panose="02020603050405020304" pitchFamily="18" charset="0"/>
              </a:rPr>
              <a:t>，否则为</a:t>
            </a:r>
            <a:r>
              <a:rPr lang="en-US" altLang="zh-CN" sz="3100" b="0" dirty="0">
                <a:ea typeface="华文楷体" panose="02010600040101010101" pitchFamily="2" charset="-122"/>
                <a:cs typeface="Times New Roman" panose="02020603050405020304" pitchFamily="18" charset="0"/>
              </a:rPr>
              <a:t>false</a:t>
            </a:r>
            <a:endParaRPr lang="zh-CN"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{return Front == Rear;}</a:t>
            </a:r>
            <a:endParaRPr lang="zh-CN"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 </a:t>
            </a:r>
            <a:endParaRPr lang="zh-CN"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template &lt;class </a:t>
            </a:r>
            <a:r>
              <a:rPr lang="en-US" altLang="zh-CN" sz="3100" b="0" dirty="0" err="1">
                <a:ea typeface="华文楷体" panose="02010600040101010101" pitchFamily="2" charset="-122"/>
                <a:cs typeface="Times New Roman" panose="02020603050405020304" pitchFamily="18" charset="0"/>
              </a:rPr>
              <a:t>elemType</a:t>
            </a:r>
            <a:r>
              <a:rPr lang="en-US" altLang="zh-CN" sz="3100" b="0" dirty="0">
                <a:ea typeface="华文楷体" panose="02010600040101010101" pitchFamily="2" charset="-122"/>
                <a:cs typeface="Times New Roman" panose="02020603050405020304" pitchFamily="18" charset="0"/>
              </a:rPr>
              <a:t>&gt;</a:t>
            </a:r>
            <a:endParaRPr lang="zh-CN"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bool </a:t>
            </a:r>
            <a:r>
              <a:rPr lang="en-US" altLang="zh-CN" sz="3100" b="0" dirty="0" err="1">
                <a:ea typeface="华文楷体" panose="02010600040101010101" pitchFamily="2" charset="-122"/>
                <a:cs typeface="Times New Roman" panose="02020603050405020304" pitchFamily="18" charset="0"/>
              </a:rPr>
              <a:t>seqQueue</a:t>
            </a:r>
            <a:r>
              <a:rPr lang="en-US" altLang="zh-CN" sz="3100" b="0" dirty="0">
                <a:ea typeface="华文楷体" panose="02010600040101010101" pitchFamily="2" charset="-122"/>
                <a:cs typeface="Times New Roman" panose="02020603050405020304" pitchFamily="18" charset="0"/>
              </a:rPr>
              <a:t>&lt;</a:t>
            </a:r>
            <a:r>
              <a:rPr lang="en-US" altLang="zh-CN" sz="3100" b="0" dirty="0" err="1">
                <a:ea typeface="华文楷体" panose="02010600040101010101" pitchFamily="2" charset="-122"/>
                <a:cs typeface="Times New Roman" panose="02020603050405020304" pitchFamily="18" charset="0"/>
              </a:rPr>
              <a:t>elemType</a:t>
            </a:r>
            <a:r>
              <a:rPr lang="en-US" altLang="zh-CN" sz="3100" b="0" dirty="0">
                <a:ea typeface="华文楷体" panose="02010600040101010101" pitchFamily="2" charset="-122"/>
                <a:cs typeface="Times New Roman" panose="02020603050405020304" pitchFamily="18" charset="0"/>
              </a:rPr>
              <a:t>&gt;::</a:t>
            </a:r>
            <a:r>
              <a:rPr lang="en-US" altLang="zh-CN" sz="3100" b="0" dirty="0" err="1">
                <a:ea typeface="华文楷体" panose="02010600040101010101" pitchFamily="2" charset="-122"/>
                <a:cs typeface="Times New Roman" panose="02020603050405020304" pitchFamily="18" charset="0"/>
              </a:rPr>
              <a:t>isFull</a:t>
            </a:r>
            <a:r>
              <a:rPr lang="en-US" altLang="zh-CN" sz="3100" b="0" dirty="0">
                <a:ea typeface="华文楷体" panose="02010600040101010101" pitchFamily="2" charset="-122"/>
                <a:cs typeface="Times New Roman" panose="02020603050405020304" pitchFamily="18" charset="0"/>
              </a:rPr>
              <a:t>() //</a:t>
            </a:r>
            <a:r>
              <a:rPr lang="zh-CN" altLang="zh-CN" sz="3100" b="0" dirty="0">
                <a:ea typeface="华文楷体" panose="02010600040101010101" pitchFamily="2" charset="-122"/>
                <a:cs typeface="Times New Roman" panose="02020603050405020304" pitchFamily="18" charset="0"/>
              </a:rPr>
              <a:t>判断队满否，满返回</a:t>
            </a:r>
            <a:r>
              <a:rPr lang="en-US" altLang="zh-CN" sz="3100" b="0" dirty="0">
                <a:ea typeface="华文楷体" panose="02010600040101010101" pitchFamily="2" charset="-122"/>
                <a:cs typeface="Times New Roman" panose="02020603050405020304" pitchFamily="18" charset="0"/>
              </a:rPr>
              <a:t>true</a:t>
            </a:r>
            <a:r>
              <a:rPr lang="zh-CN" altLang="zh-CN" sz="3100" b="0" dirty="0">
                <a:ea typeface="华文楷体" panose="02010600040101010101" pitchFamily="2" charset="-122"/>
                <a:cs typeface="Times New Roman" panose="02020603050405020304" pitchFamily="18" charset="0"/>
              </a:rPr>
              <a:t>，否则为</a:t>
            </a:r>
            <a:r>
              <a:rPr lang="en-US" altLang="zh-CN" sz="3100" b="0" dirty="0">
                <a:ea typeface="华文楷体" panose="02010600040101010101" pitchFamily="2" charset="-122"/>
                <a:cs typeface="Times New Roman" panose="02020603050405020304" pitchFamily="18" charset="0"/>
              </a:rPr>
              <a:t>false</a:t>
            </a:r>
            <a:endParaRPr lang="zh-CN"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{return (Rear+1)%</a:t>
            </a:r>
            <a:r>
              <a:rPr lang="en-US" altLang="zh-CN" sz="3100" b="0" dirty="0" err="1">
                <a:ea typeface="华文楷体" panose="02010600040101010101" pitchFamily="2" charset="-122"/>
                <a:cs typeface="Times New Roman" panose="02020603050405020304" pitchFamily="18" charset="0"/>
              </a:rPr>
              <a:t>maxSize</a:t>
            </a:r>
            <a:r>
              <a:rPr lang="en-US" altLang="zh-CN" sz="3100" b="0" dirty="0">
                <a:ea typeface="华文楷体" panose="02010600040101010101" pitchFamily="2" charset="-122"/>
                <a:cs typeface="Times New Roman" panose="02020603050405020304" pitchFamily="18" charset="0"/>
              </a:rPr>
              <a:t> == Front;}</a:t>
            </a:r>
            <a:endParaRPr lang="zh-CN"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 </a:t>
            </a:r>
            <a:endParaRPr lang="zh-CN"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template &lt;class </a:t>
            </a:r>
            <a:r>
              <a:rPr lang="en-US" altLang="zh-CN" sz="3100" b="0" dirty="0" err="1">
                <a:ea typeface="华文楷体" panose="02010600040101010101" pitchFamily="2" charset="-122"/>
                <a:cs typeface="Times New Roman" panose="02020603050405020304" pitchFamily="18" charset="0"/>
              </a:rPr>
              <a:t>elemType</a:t>
            </a:r>
            <a:r>
              <a:rPr lang="en-US" altLang="zh-CN" sz="3100" b="0" dirty="0">
                <a:ea typeface="华文楷体" panose="02010600040101010101" pitchFamily="2" charset="-122"/>
                <a:cs typeface="Times New Roman" panose="02020603050405020304" pitchFamily="18" charset="0"/>
              </a:rPr>
              <a:t>&gt;</a:t>
            </a:r>
            <a:endParaRPr lang="zh-CN"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err="1">
                <a:ea typeface="华文楷体" panose="02010600040101010101" pitchFamily="2" charset="-122"/>
                <a:cs typeface="Times New Roman" panose="02020603050405020304" pitchFamily="18" charset="0"/>
              </a:rPr>
              <a:t>elemType</a:t>
            </a:r>
            <a:r>
              <a:rPr lang="en-US" altLang="zh-CN" sz="3100" b="0" dirty="0">
                <a:ea typeface="华文楷体" panose="02010600040101010101" pitchFamily="2" charset="-122"/>
                <a:cs typeface="Times New Roman" panose="02020603050405020304" pitchFamily="18" charset="0"/>
              </a:rPr>
              <a:t> </a:t>
            </a:r>
            <a:r>
              <a:rPr lang="en-US" altLang="zh-CN" sz="3100" b="0" dirty="0" err="1">
                <a:ea typeface="华文楷体" panose="02010600040101010101" pitchFamily="2" charset="-122"/>
                <a:cs typeface="Times New Roman" panose="02020603050405020304" pitchFamily="18" charset="0"/>
              </a:rPr>
              <a:t>seqQueue</a:t>
            </a:r>
            <a:r>
              <a:rPr lang="en-US" altLang="zh-CN" sz="3100" b="0" dirty="0">
                <a:ea typeface="华文楷体" panose="02010600040101010101" pitchFamily="2" charset="-122"/>
                <a:cs typeface="Times New Roman" panose="02020603050405020304" pitchFamily="18" charset="0"/>
              </a:rPr>
              <a:t>&lt;</a:t>
            </a:r>
            <a:r>
              <a:rPr lang="en-US" altLang="zh-CN" sz="3100" b="0" dirty="0" err="1">
                <a:ea typeface="华文楷体" panose="02010600040101010101" pitchFamily="2" charset="-122"/>
                <a:cs typeface="Times New Roman" panose="02020603050405020304" pitchFamily="18" charset="0"/>
              </a:rPr>
              <a:t>elemType</a:t>
            </a:r>
            <a:r>
              <a:rPr lang="en-US" altLang="zh-CN" sz="3100" b="0" dirty="0">
                <a:ea typeface="华文楷体" panose="02010600040101010101" pitchFamily="2" charset="-122"/>
                <a:cs typeface="Times New Roman" panose="02020603050405020304" pitchFamily="18" charset="0"/>
              </a:rPr>
              <a:t>&gt;::front() //</a:t>
            </a:r>
            <a:r>
              <a:rPr lang="zh-CN" altLang="zh-CN" sz="3100" b="0" dirty="0">
                <a:ea typeface="华文楷体" panose="02010600040101010101" pitchFamily="2" charset="-122"/>
                <a:cs typeface="Times New Roman" panose="02020603050405020304" pitchFamily="18" charset="0"/>
              </a:rPr>
              <a:t>读取队首元素的值，队首不变</a:t>
            </a:r>
          </a:p>
          <a:p>
            <a:pPr marL="0" indent="0">
              <a:buNone/>
            </a:pPr>
            <a:r>
              <a:rPr lang="en-US" altLang="zh-CN" sz="3100" b="0" dirty="0">
                <a:ea typeface="华文楷体" panose="02010600040101010101" pitchFamily="2" charset="-122"/>
                <a:cs typeface="Times New Roman" panose="02020603050405020304" pitchFamily="18" charset="0"/>
              </a:rPr>
              <a:t>{    if (</a:t>
            </a:r>
            <a:r>
              <a:rPr lang="en-US" altLang="zh-CN" sz="3100" b="0" dirty="0" err="1">
                <a:ea typeface="华文楷体" panose="02010600040101010101" pitchFamily="2" charset="-122"/>
                <a:cs typeface="Times New Roman" panose="02020603050405020304" pitchFamily="18" charset="0"/>
              </a:rPr>
              <a:t>isEmpty</a:t>
            </a:r>
            <a:r>
              <a:rPr lang="en-US" altLang="zh-CN" sz="3100" b="0" dirty="0">
                <a:ea typeface="华文楷体" panose="02010600040101010101" pitchFamily="2" charset="-122"/>
                <a:cs typeface="Times New Roman" panose="02020603050405020304" pitchFamily="18" charset="0"/>
              </a:rPr>
              <a:t>()) throw </a:t>
            </a:r>
            <a:r>
              <a:rPr lang="en-US" altLang="zh-CN" sz="3100" b="0" dirty="0" err="1">
                <a:ea typeface="华文楷体" panose="02010600040101010101" pitchFamily="2" charset="-122"/>
                <a:cs typeface="Times New Roman" panose="02020603050405020304" pitchFamily="18" charset="0"/>
              </a:rPr>
              <a:t>outOfBound</a:t>
            </a:r>
            <a:r>
              <a:rPr lang="en-US" altLang="zh-CN" sz="3100" b="0" dirty="0">
                <a:ea typeface="华文楷体" panose="02010600040101010101" pitchFamily="2" charset="-122"/>
                <a:cs typeface="Times New Roman" panose="02020603050405020304" pitchFamily="18" charset="0"/>
              </a:rPr>
              <a:t>();    return array[Front];  }</a:t>
            </a:r>
            <a:endParaRPr lang="zh-CN" altLang="zh-CN" sz="3100"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40609049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72" y="811495"/>
            <a:ext cx="11162883" cy="5807966"/>
          </a:xfrm>
        </p:spPr>
        <p:txBody>
          <a:bodyPr>
            <a:normAutofit lnSpcReduction="10000"/>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a:t>
            </a:r>
            <a:r>
              <a:rPr lang="en-US" altLang="zh-CN" b="0" dirty="0" err="1">
                <a:ea typeface="华文楷体" panose="02010600040101010101" pitchFamily="2" charset="-122"/>
                <a:cs typeface="Times New Roman" panose="02020603050405020304" pitchFamily="18" charset="0"/>
              </a:rPr>
              <a:t>seqQueue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enQueue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&amp;x)  //</a:t>
            </a:r>
            <a:r>
              <a:rPr lang="zh-CN" altLang="zh-CN" b="0" dirty="0">
                <a:ea typeface="华文楷体" panose="02010600040101010101" pitchFamily="2" charset="-122"/>
                <a:cs typeface="Times New Roman" panose="02020603050405020304" pitchFamily="18" charset="0"/>
              </a:rPr>
              <a:t>将</a:t>
            </a:r>
            <a:r>
              <a:rPr lang="en-US" altLang="zh-CN" b="0" dirty="0">
                <a:ea typeface="华文楷体" panose="02010600040101010101" pitchFamily="2" charset="-122"/>
                <a:cs typeface="Times New Roman" panose="02020603050405020304" pitchFamily="18" charset="0"/>
              </a:rPr>
              <a:t>x</a:t>
            </a:r>
            <a:r>
              <a:rPr lang="zh-CN" altLang="zh-CN" b="0" dirty="0">
                <a:ea typeface="华文楷体" panose="02010600040101010101" pitchFamily="2" charset="-122"/>
                <a:cs typeface="Times New Roman" panose="02020603050405020304" pitchFamily="18" charset="0"/>
              </a:rPr>
              <a:t>进队，成为新的队尾</a:t>
            </a: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isFull</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doubleSpace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array[Rear]=x;</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Rear = (Rear+1)%</a:t>
            </a:r>
            <a:r>
              <a:rPr lang="en-US" altLang="zh-CN" b="0" dirty="0" err="1">
                <a:ea typeface="华文楷体" panose="02010600040101010101" pitchFamily="2" charset="-122"/>
                <a:cs typeface="Times New Roman" panose="02020603050405020304" pitchFamily="18" charset="0"/>
              </a:rPr>
              <a:t>maxSize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a:t>
            </a:r>
            <a:r>
              <a:rPr lang="en-US" altLang="zh-CN" b="0" dirty="0" err="1">
                <a:ea typeface="华文楷体" panose="02010600040101010101" pitchFamily="2" charset="-122"/>
                <a:cs typeface="Times New Roman" panose="02020603050405020304" pitchFamily="18" charset="0"/>
              </a:rPr>
              <a:t>seqQueue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deQueue</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将队首元素出队</a:t>
            </a: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isEmpty</a:t>
            </a:r>
            <a:r>
              <a:rPr lang="en-US" altLang="zh-CN" b="0" dirty="0">
                <a:ea typeface="华文楷体" panose="02010600040101010101" pitchFamily="2" charset="-122"/>
                <a:cs typeface="Times New Roman" panose="02020603050405020304" pitchFamily="18" charset="0"/>
              </a:rPr>
              <a:t>()) throw </a:t>
            </a:r>
            <a:r>
              <a:rPr lang="en-US" altLang="zh-CN" b="0" dirty="0" err="1">
                <a:ea typeface="华文楷体" panose="02010600040101010101" pitchFamily="2" charset="-122"/>
                <a:cs typeface="Times New Roman" panose="02020603050405020304" pitchFamily="18" charset="0"/>
              </a:rPr>
              <a:t>outOfBound</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Front = (Front+1)%</a:t>
            </a:r>
            <a:r>
              <a:rPr lang="en-US" altLang="zh-CN" b="0" dirty="0" err="1">
                <a:ea typeface="华文楷体" panose="02010600040101010101" pitchFamily="2" charset="-122"/>
                <a:cs typeface="Times New Roman" panose="02020603050405020304" pitchFamily="18" charset="0"/>
              </a:rPr>
              <a:t>maxSize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
        <p:nvSpPr>
          <p:cNvPr id="2" name="椭圆 1"/>
          <p:cNvSpPr/>
          <p:nvPr/>
        </p:nvSpPr>
        <p:spPr>
          <a:xfrm>
            <a:off x="11168743" y="6322423"/>
            <a:ext cx="169817" cy="2970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230838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530363" y="2092436"/>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顺序栈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链式栈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栈的应用</a:t>
            </a:r>
            <a:endParaRPr lang="en-US" altLang="zh-CN" sz="2800" dirty="0">
              <a:latin typeface="华文楷体" pitchFamily="2" charset="-122"/>
              <a:ea typeface="华文楷体" pitchFamily="2" charset="-122"/>
            </a:endParaRPr>
          </a:p>
        </p:txBody>
      </p:sp>
      <p:sp>
        <p:nvSpPr>
          <p:cNvPr id="2" name="文本框 1"/>
          <p:cNvSpPr txBox="1"/>
          <p:nvPr/>
        </p:nvSpPr>
        <p:spPr>
          <a:xfrm>
            <a:off x="6915151" y="2176532"/>
            <a:ext cx="4071937" cy="3082895"/>
          </a:xfrm>
          <a:prstGeom prst="rect">
            <a:avLst/>
          </a:prstGeom>
          <a:noFill/>
        </p:spPr>
        <p:txBody>
          <a:bodyPr wrap="square" rtlCol="0">
            <a:spAutoFit/>
          </a:bodyPr>
          <a:lstStyle/>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顺序循环队列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solidFill>
                  <a:srgbClr val="FF0000"/>
                </a:solidFill>
                <a:latin typeface="华文楷体" pitchFamily="2" charset="-122"/>
                <a:ea typeface="华文楷体" pitchFamily="2" charset="-122"/>
              </a:rPr>
              <a:t>链式队列</a:t>
            </a:r>
            <a:endParaRPr lang="en-US" altLang="zh-CN" sz="2800" b="1" dirty="0">
              <a:solidFill>
                <a:srgbClr val="FF0000"/>
              </a:solidFill>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优先队列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队列的应用</a:t>
            </a:r>
          </a:p>
        </p:txBody>
      </p:sp>
    </p:spTree>
    <p:extLst>
      <p:ext uri="{BB962C8B-B14F-4D97-AF65-F5344CB8AC3E}">
        <p14:creationId xmlns:p14="http://schemas.microsoft.com/office/powerpoint/2010/main" val="186829945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578741"/>
            <a:ext cx="11162883" cy="4205833"/>
          </a:xfrm>
        </p:spPr>
        <p:txBody>
          <a:bodyPr>
            <a:norm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用单链表存储队列中的元素及元素关系。</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其中队首指针 </a:t>
            </a:r>
            <a:r>
              <a:rPr lang="en-US" altLang="zh-CN" sz="2800" b="0" dirty="0">
                <a:ea typeface="华文楷体" pitchFamily="2" charset="-122"/>
                <a:cs typeface="Times New Roman" panose="02020603050405020304" pitchFamily="18" charset="0"/>
              </a:rPr>
              <a:t>Front</a:t>
            </a:r>
            <a:r>
              <a:rPr lang="zh-CN" altLang="zh-CN" sz="2800" b="0" dirty="0">
                <a:ea typeface="华文楷体" pitchFamily="2" charset="-122"/>
                <a:cs typeface="Times New Roman" panose="02020603050405020304" pitchFamily="18" charset="0"/>
              </a:rPr>
              <a:t>指向队首结点、队尾指针</a:t>
            </a:r>
            <a:r>
              <a:rPr lang="en-US" altLang="zh-CN" sz="2800" b="0" dirty="0">
                <a:ea typeface="华文楷体" pitchFamily="2" charset="-122"/>
                <a:cs typeface="Times New Roman" panose="02020603050405020304" pitchFamily="18" charset="0"/>
              </a:rPr>
              <a:t>Rear</a:t>
            </a:r>
            <a:r>
              <a:rPr lang="zh-CN" altLang="zh-CN" sz="2800" b="0" dirty="0">
                <a:ea typeface="华文楷体" pitchFamily="2" charset="-122"/>
                <a:cs typeface="Times New Roman" panose="02020603050405020304" pitchFamily="18" charset="0"/>
              </a:rPr>
              <a:t>指向队尾结点。</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队空的条件为</a:t>
            </a:r>
            <a:r>
              <a:rPr lang="en-US" altLang="zh-CN" sz="2800" b="0" dirty="0">
                <a:ea typeface="华文楷体" pitchFamily="2" charset="-122"/>
                <a:cs typeface="Times New Roman" panose="02020603050405020304" pitchFamily="18" charset="0"/>
              </a:rPr>
              <a:t>Front=Rear=NULL</a:t>
            </a:r>
            <a:r>
              <a:rPr lang="zh-CN" altLang="en-US" sz="2800" b="0" dirty="0">
                <a:ea typeface="华文楷体" pitchFamily="2" charset="-122"/>
                <a:cs typeface="Times New Roman" panose="02020603050405020304" pitchFamily="18" charset="0"/>
              </a:rPr>
              <a:t>，队满为假。</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en-US" altLang="zh-CN" dirty="0"/>
              <a:t> </a:t>
            </a:r>
            <a:r>
              <a:rPr lang="zh-CN" altLang="en-US" dirty="0">
                <a:latin typeface="华文楷体" panose="02010600040101010101" pitchFamily="2" charset="-122"/>
                <a:ea typeface="华文楷体" panose="02010600040101010101" pitchFamily="2" charset="-122"/>
              </a:rPr>
              <a:t>链式队列：</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2237959" y="3924093"/>
            <a:ext cx="6548231" cy="1423160"/>
          </a:xfrm>
          <a:prstGeom prst="rect">
            <a:avLst/>
          </a:prstGeom>
          <a:noFill/>
          <a:ln>
            <a:noFill/>
          </a:ln>
        </p:spPr>
      </p:pic>
    </p:spTree>
    <p:extLst>
      <p:ext uri="{BB962C8B-B14F-4D97-AF65-F5344CB8AC3E}">
        <p14:creationId xmlns:p14="http://schemas.microsoft.com/office/powerpoint/2010/main" val="30535135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1135775" y="1050032"/>
            <a:ext cx="9041893" cy="5390523"/>
          </a:xfrm>
          <a:prstGeom prst="rect">
            <a:avLst/>
          </a:prstGeom>
          <a:noFill/>
          <a:ln>
            <a:noFill/>
          </a:ln>
        </p:spPr>
      </p:pic>
    </p:spTree>
    <p:extLst>
      <p:ext uri="{BB962C8B-B14F-4D97-AF65-F5344CB8AC3E}">
        <p14:creationId xmlns:p14="http://schemas.microsoft.com/office/powerpoint/2010/main" val="32356277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59918" y="1368085"/>
            <a:ext cx="11162883" cy="5251376"/>
          </a:xfrm>
        </p:spPr>
        <p:txBody>
          <a:bodyPr>
            <a:normAutofit/>
          </a:bodyPr>
          <a:lstStyle/>
          <a:p>
            <a:pPr marL="0" indent="0">
              <a:buNone/>
            </a:pPr>
            <a:r>
              <a:rPr lang="en-US" altLang="zh-CN" b="0" dirty="0">
                <a:cs typeface="Times New Roman" panose="02020603050405020304" pitchFamily="18" charset="0"/>
              </a:rPr>
              <a:t>#</a:t>
            </a:r>
            <a:r>
              <a:rPr lang="en-US" altLang="zh-CN" b="0" dirty="0" err="1">
                <a:cs typeface="Times New Roman" panose="02020603050405020304" pitchFamily="18" charset="0"/>
              </a:rPr>
              <a:t>ifndef</a:t>
            </a:r>
            <a:r>
              <a:rPr lang="en-US" altLang="zh-CN" b="0" dirty="0">
                <a:cs typeface="Times New Roman" panose="02020603050405020304" pitchFamily="18" charset="0"/>
              </a:rPr>
              <a:t> LINKQUEUE_H_INCLUDED</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#define LINKQUEUE_H_INCLUDED</a:t>
            </a:r>
            <a:endParaRPr lang="zh-CN" altLang="zh-CN" b="0" dirty="0">
              <a:cs typeface="Times New Roman" panose="02020603050405020304" pitchFamily="18" charset="0"/>
            </a:endParaRPr>
          </a:p>
          <a:p>
            <a:pPr marL="0" indent="0">
              <a:buNone/>
            </a:pPr>
            <a:endParaRPr lang="en-US" altLang="zh-CN" b="0" dirty="0">
              <a:cs typeface="Times New Roman" panose="02020603050405020304" pitchFamily="18" charset="0"/>
            </a:endParaRPr>
          </a:p>
          <a:p>
            <a:pPr marL="0" indent="0">
              <a:buNone/>
            </a:pPr>
            <a:r>
              <a:rPr lang="en-US" altLang="zh-CN" b="0" dirty="0">
                <a:cs typeface="Times New Roman" panose="02020603050405020304" pitchFamily="18" charset="0"/>
              </a:rPr>
              <a:t>class </a:t>
            </a:r>
            <a:r>
              <a:rPr lang="en-US" altLang="zh-CN" b="0" dirty="0" err="1">
                <a:cs typeface="Times New Roman" panose="02020603050405020304" pitchFamily="18" charset="0"/>
              </a:rPr>
              <a:t>illegalSize</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class </a:t>
            </a:r>
            <a:r>
              <a:rPr lang="en-US" altLang="zh-CN" b="0" dirty="0" err="1">
                <a:cs typeface="Times New Roman" panose="02020603050405020304" pitchFamily="18" charset="0"/>
              </a:rPr>
              <a:t>outOfBound</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endParaRPr lang="en-US" altLang="zh-CN" b="0" dirty="0">
              <a:cs typeface="Times New Roman" panose="02020603050405020304" pitchFamily="18" charset="0"/>
            </a:endParaRPr>
          </a:p>
          <a:p>
            <a:pPr marL="0" indent="0">
              <a:buNone/>
            </a:pPr>
            <a:r>
              <a:rPr lang="en-US" altLang="zh-CN" b="0" dirty="0">
                <a:cs typeface="Times New Roman" panose="02020603050405020304" pitchFamily="18" charset="0"/>
              </a:rPr>
              <a:t>template &lt;class </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p>
          <a:p>
            <a:pPr marL="0" indent="0">
              <a:buNone/>
            </a:pPr>
            <a:r>
              <a:rPr lang="en-US" altLang="zh-CN" b="0" dirty="0">
                <a:cs typeface="Times New Roman" panose="02020603050405020304" pitchFamily="18" charset="0"/>
              </a:rPr>
              <a:t>class </a:t>
            </a:r>
            <a:r>
              <a:rPr lang="en-US" altLang="zh-CN" b="0" dirty="0" err="1">
                <a:cs typeface="Times New Roman" panose="02020603050405020304" pitchFamily="18" charset="0"/>
              </a:rPr>
              <a:t>linkQueue</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320769" y="793902"/>
            <a:ext cx="11162884" cy="574183"/>
          </a:xfrm>
        </p:spPr>
        <p:txBody>
          <a:bodyPr/>
          <a:lstStyle/>
          <a:p>
            <a:pPr marL="838200" indent="-838200">
              <a:defRPr/>
            </a:pPr>
            <a:r>
              <a:rPr lang="en-US" altLang="zh-CN" dirty="0"/>
              <a:t> </a:t>
            </a:r>
            <a:r>
              <a:rPr lang="zh-CN" altLang="en-US" dirty="0">
                <a:latin typeface="华文楷体" panose="02010600040101010101" pitchFamily="2" charset="-122"/>
                <a:ea typeface="华文楷体" panose="02010600040101010101" pitchFamily="2" charset="-122"/>
              </a:rPr>
              <a:t>链式队列类的定义：</a:t>
            </a:r>
          </a:p>
        </p:txBody>
      </p:sp>
    </p:spTree>
    <p:extLst>
      <p:ext uri="{BB962C8B-B14F-4D97-AF65-F5344CB8AC3E}">
        <p14:creationId xmlns:p14="http://schemas.microsoft.com/office/powerpoint/2010/main" val="108699987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59918" y="1368085"/>
            <a:ext cx="11162883" cy="5251376"/>
          </a:xfrm>
        </p:spPr>
        <p:txBody>
          <a:bodyPr>
            <a:normAutofit fontScale="92500" lnSpcReduction="20000"/>
          </a:bodyPr>
          <a:lstStyle/>
          <a:p>
            <a:pPr marL="0" indent="0">
              <a:buNone/>
            </a:pPr>
            <a:r>
              <a:rPr lang="en-US" altLang="zh-CN" b="0" dirty="0">
                <a:cs typeface="Times New Roman" panose="02020603050405020304" pitchFamily="18" charset="0"/>
              </a:rPr>
              <a:t>template &lt;class </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class Node</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friend class </a:t>
            </a:r>
            <a:r>
              <a:rPr lang="en-US" altLang="zh-CN" b="0" dirty="0" err="1">
                <a:cs typeface="Times New Roman" panose="02020603050405020304" pitchFamily="18" charset="0"/>
              </a:rPr>
              <a:t>linkQueue</a:t>
            </a:r>
            <a:r>
              <a:rPr lang="en-US" altLang="zh-CN" b="0" dirty="0">
                <a:cs typeface="Times New Roman" panose="02020603050405020304" pitchFamily="18" charset="0"/>
              </a:rPr>
              <a:t>&lt;</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private:</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elemType</a:t>
            </a:r>
            <a:r>
              <a:rPr lang="en-US" altLang="zh-CN" b="0" dirty="0">
                <a:cs typeface="Times New Roman" panose="02020603050405020304" pitchFamily="18" charset="0"/>
              </a:rPr>
              <a:t> data;</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Node *next;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public:</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Node(){next = NULL; }</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Node(</a:t>
            </a:r>
            <a:r>
              <a:rPr lang="en-US" altLang="zh-CN" b="0" dirty="0" err="1">
                <a:cs typeface="Times New Roman" panose="02020603050405020304" pitchFamily="18" charset="0"/>
              </a:rPr>
              <a:t>const</a:t>
            </a:r>
            <a:r>
              <a:rPr lang="en-US" altLang="zh-CN" b="0" dirty="0">
                <a:cs typeface="Times New Roman" panose="02020603050405020304" pitchFamily="18" charset="0"/>
              </a:rPr>
              <a:t> </a:t>
            </a:r>
            <a:r>
              <a:rPr lang="en-US" altLang="zh-CN" b="0" dirty="0" err="1">
                <a:cs typeface="Times New Roman" panose="02020603050405020304" pitchFamily="18" charset="0"/>
              </a:rPr>
              <a:t>elemType</a:t>
            </a:r>
            <a:r>
              <a:rPr lang="en-US" altLang="zh-CN" b="0" dirty="0">
                <a:cs typeface="Times New Roman" panose="02020603050405020304" pitchFamily="18" charset="0"/>
              </a:rPr>
              <a:t> &amp;x, Node *p = NULL)</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 data = x; next = p;}</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9" y="793902"/>
            <a:ext cx="11162884" cy="574183"/>
          </a:xfrm>
        </p:spPr>
        <p:txBody>
          <a:bodyPr/>
          <a:lstStyle/>
          <a:p>
            <a:pPr marL="838200" indent="-838200">
              <a:defRPr/>
            </a:pPr>
            <a:r>
              <a:rPr lang="en-US" altLang="zh-CN" dirty="0"/>
              <a:t> </a:t>
            </a:r>
            <a:r>
              <a:rPr lang="zh-CN" altLang="en-US" dirty="0">
                <a:latin typeface="华文楷体" panose="02010600040101010101" pitchFamily="2" charset="-122"/>
                <a:ea typeface="华文楷体" panose="02010600040101010101" pitchFamily="2" charset="-122"/>
              </a:rPr>
              <a:t>链式队列类的定义：</a:t>
            </a:r>
          </a:p>
        </p:txBody>
      </p:sp>
    </p:spTree>
    <p:extLst>
      <p:ext uri="{BB962C8B-B14F-4D97-AF65-F5344CB8AC3E}">
        <p14:creationId xmlns:p14="http://schemas.microsoft.com/office/powerpoint/2010/main" val="32943087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00892" y="930762"/>
            <a:ext cx="11162883" cy="5629063"/>
          </a:xfrm>
        </p:spPr>
        <p:txBody>
          <a:bodyPr>
            <a:normAutofit fontScale="85000" lnSpcReduction="20000"/>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a:t>
            </a:r>
            <a:r>
              <a:rPr lang="en-US" altLang="zh-CN" b="0" dirty="0" err="1">
                <a:ea typeface="华文楷体" panose="02010600040101010101" pitchFamily="2" charset="-122"/>
                <a:cs typeface="Times New Roman" panose="02020603050405020304" pitchFamily="18" charset="0"/>
              </a:rPr>
              <a:t>linkQueue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private: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*Front, *Rear;</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public:</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linkQueue</a:t>
            </a:r>
            <a:r>
              <a:rPr lang="en-US" altLang="zh-CN" b="0" dirty="0">
                <a:ea typeface="华文楷体" panose="02010600040101010101" pitchFamily="2" charset="-122"/>
                <a:cs typeface="Times New Roman" panose="02020603050405020304" pitchFamily="18" charset="0"/>
              </a:rPr>
              <a:t>(){Front = Rear = NULL; }; //</a:t>
            </a:r>
            <a:r>
              <a:rPr lang="zh-CN" altLang="zh-CN" b="0" dirty="0">
                <a:ea typeface="华文楷体" panose="02010600040101010101" pitchFamily="2" charset="-122"/>
                <a:cs typeface="Times New Roman" panose="02020603050405020304" pitchFamily="18" charset="0"/>
              </a:rPr>
              <a:t>初始化链式队列，使得其为空队</a:t>
            </a:r>
          </a:p>
          <a:p>
            <a:pPr marL="0" indent="0">
              <a:buNone/>
            </a:pPr>
            <a:r>
              <a:rPr lang="en-US" altLang="zh-CN" b="0" dirty="0">
                <a:ea typeface="华文楷体" panose="02010600040101010101" pitchFamily="2" charset="-122"/>
                <a:cs typeface="Times New Roman" panose="02020603050405020304" pitchFamily="18" charset="0"/>
              </a:rPr>
              <a:t>        bool </a:t>
            </a:r>
            <a:r>
              <a:rPr lang="en-US" altLang="zh-CN" b="0" dirty="0" err="1">
                <a:ea typeface="华文楷体" panose="02010600040101010101" pitchFamily="2" charset="-122"/>
                <a:cs typeface="Times New Roman" panose="02020603050405020304" pitchFamily="18" charset="0"/>
              </a:rPr>
              <a:t>isEmpty</a:t>
            </a:r>
            <a:r>
              <a:rPr lang="en-US" altLang="zh-CN" b="0" dirty="0">
                <a:ea typeface="华文楷体" panose="02010600040101010101" pitchFamily="2" charset="-122"/>
                <a:cs typeface="Times New Roman" panose="02020603050405020304" pitchFamily="18" charset="0"/>
              </a:rPr>
              <a:t>() {return !Front; }; //</a:t>
            </a:r>
            <a:r>
              <a:rPr lang="zh-CN" altLang="zh-CN" b="0" dirty="0">
                <a:ea typeface="华文楷体" panose="02010600040101010101" pitchFamily="2" charset="-122"/>
                <a:cs typeface="Times New Roman" panose="02020603050405020304" pitchFamily="18" charset="0"/>
              </a:rPr>
              <a:t>判断队空否，空返回</a:t>
            </a:r>
            <a:r>
              <a:rPr lang="en-US" altLang="zh-CN" b="0" dirty="0">
                <a:ea typeface="华文楷体" panose="02010600040101010101" pitchFamily="2" charset="-122"/>
                <a:cs typeface="Times New Roman" panose="02020603050405020304" pitchFamily="18" charset="0"/>
              </a:rPr>
              <a:t>true</a:t>
            </a:r>
            <a:r>
              <a:rPr lang="zh-CN" altLang="zh-CN" b="0" dirty="0">
                <a:ea typeface="华文楷体" panose="02010600040101010101" pitchFamily="2" charset="-122"/>
                <a:cs typeface="Times New Roman" panose="02020603050405020304" pitchFamily="18" charset="0"/>
              </a:rPr>
              <a:t>，否则为</a:t>
            </a:r>
            <a:r>
              <a:rPr lang="en-US" altLang="zh-CN" b="0" dirty="0">
                <a:ea typeface="华文楷体" panose="02010600040101010101" pitchFamily="2" charset="-122"/>
                <a:cs typeface="Times New Roman" panose="02020603050405020304" pitchFamily="18" charset="0"/>
              </a:rPr>
              <a:t>false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a:t>
            </a:r>
            <a:r>
              <a:rPr lang="en-US" altLang="zh-CN" b="0" dirty="0" err="1">
                <a:ea typeface="华文楷体" panose="02010600040101010101" pitchFamily="2" charset="-122"/>
                <a:cs typeface="Times New Roman" panose="02020603050405020304" pitchFamily="18" charset="0"/>
              </a:rPr>
              <a:t>isFull</a:t>
            </a:r>
            <a:r>
              <a:rPr lang="en-US" altLang="zh-CN" b="0" dirty="0">
                <a:ea typeface="华文楷体" panose="02010600040101010101" pitchFamily="2" charset="-122"/>
                <a:cs typeface="Times New Roman" panose="02020603050405020304" pitchFamily="18" charset="0"/>
              </a:rPr>
              <a:t>(){return false; };  //</a:t>
            </a:r>
            <a:r>
              <a:rPr lang="zh-CN" altLang="zh-CN" b="0" dirty="0">
                <a:ea typeface="华文楷体" panose="02010600040101010101" pitchFamily="2" charset="-122"/>
                <a:cs typeface="Times New Roman" panose="02020603050405020304" pitchFamily="18" charset="0"/>
              </a:rPr>
              <a:t>判断队满否，满返回</a:t>
            </a:r>
            <a:r>
              <a:rPr lang="en-US" altLang="zh-CN" b="0" dirty="0">
                <a:ea typeface="华文楷体" panose="02010600040101010101" pitchFamily="2" charset="-122"/>
                <a:cs typeface="Times New Roman" panose="02020603050405020304" pitchFamily="18" charset="0"/>
              </a:rPr>
              <a:t>true</a:t>
            </a:r>
            <a:r>
              <a:rPr lang="zh-CN" altLang="zh-CN" b="0" dirty="0">
                <a:ea typeface="华文楷体" panose="02010600040101010101" pitchFamily="2" charset="-122"/>
                <a:cs typeface="Times New Roman" panose="02020603050405020304" pitchFamily="18" charset="0"/>
              </a:rPr>
              <a:t>，否则为</a:t>
            </a:r>
            <a:r>
              <a:rPr lang="en-US" altLang="zh-CN" b="0" dirty="0">
                <a:ea typeface="华文楷体" panose="02010600040101010101" pitchFamily="2" charset="-122"/>
                <a:cs typeface="Times New Roman" panose="02020603050405020304" pitchFamily="18" charset="0"/>
              </a:rPr>
              <a:t>false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front(); //</a:t>
            </a:r>
            <a:r>
              <a:rPr lang="zh-CN" altLang="zh-CN" b="0" dirty="0">
                <a:ea typeface="华文楷体" panose="02010600040101010101" pitchFamily="2" charset="-122"/>
                <a:cs typeface="Times New Roman" panose="02020603050405020304" pitchFamily="18" charset="0"/>
              </a:rPr>
              <a:t>读取队首元素的值，队首不变</a:t>
            </a: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enQueue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&amp;x); //</a:t>
            </a:r>
            <a:r>
              <a:rPr lang="zh-CN" altLang="zh-CN" b="0" dirty="0">
                <a:ea typeface="华文楷体" panose="02010600040101010101" pitchFamily="2" charset="-122"/>
                <a:cs typeface="Times New Roman" panose="02020603050405020304" pitchFamily="18" charset="0"/>
              </a:rPr>
              <a:t>将</a:t>
            </a:r>
            <a:r>
              <a:rPr lang="en-US" altLang="zh-CN" b="0" dirty="0">
                <a:ea typeface="华文楷体" panose="02010600040101010101" pitchFamily="2" charset="-122"/>
                <a:cs typeface="Times New Roman" panose="02020603050405020304" pitchFamily="18" charset="0"/>
              </a:rPr>
              <a:t>x</a:t>
            </a:r>
            <a:r>
              <a:rPr lang="zh-CN" altLang="zh-CN" b="0" dirty="0">
                <a:ea typeface="华文楷体" panose="02010600040101010101" pitchFamily="2" charset="-122"/>
                <a:cs typeface="Times New Roman" panose="02020603050405020304" pitchFamily="18" charset="0"/>
              </a:rPr>
              <a:t>进队，成为新的队尾</a:t>
            </a: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deQueue</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将队首元素出队</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linkQueue</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释放队列元素所占据的动态数组</a:t>
            </a: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latin typeface="华文楷体" pitchFamily="2" charset="-122"/>
              <a:ea typeface="华文楷体" pitchFamily="2" charset="-122"/>
            </a:endParaRPr>
          </a:p>
        </p:txBody>
      </p:sp>
    </p:spTree>
    <p:extLst>
      <p:ext uri="{BB962C8B-B14F-4D97-AF65-F5344CB8AC3E}">
        <p14:creationId xmlns:p14="http://schemas.microsoft.com/office/powerpoint/2010/main" val="8852618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79797" y="1566868"/>
            <a:ext cx="11162883" cy="4615272"/>
          </a:xfrm>
        </p:spPr>
        <p:txBody>
          <a:bodyPr>
            <a:norm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linkQueue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&gt;::front() //</a:t>
            </a:r>
            <a:r>
              <a:rPr lang="zh-CN" altLang="zh-CN" b="0" dirty="0">
                <a:ea typeface="华文楷体" panose="02010600040101010101" pitchFamily="2" charset="-122"/>
                <a:cs typeface="Times New Roman" panose="02020603050405020304" pitchFamily="18" charset="0"/>
              </a:rPr>
              <a:t>读取队首元素的值，队首不变</a:t>
            </a: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isEmpty</a:t>
            </a:r>
            <a:r>
              <a:rPr lang="en-US" altLang="zh-CN" b="0" dirty="0">
                <a:ea typeface="华文楷体" panose="02010600040101010101" pitchFamily="2" charset="-122"/>
                <a:cs typeface="Times New Roman" panose="02020603050405020304" pitchFamily="18" charset="0"/>
              </a:rPr>
              <a:t>()) throw </a:t>
            </a:r>
            <a:r>
              <a:rPr lang="en-US" altLang="zh-CN" b="0" dirty="0" err="1">
                <a:ea typeface="华文楷体" panose="02010600040101010101" pitchFamily="2" charset="-122"/>
                <a:cs typeface="Times New Roman" panose="02020603050405020304" pitchFamily="18" charset="0"/>
              </a:rPr>
              <a:t>outOfBound</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return Front-&gt;data;</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320769" y="793902"/>
            <a:ext cx="11162884" cy="574183"/>
          </a:xfrm>
        </p:spPr>
        <p:txBody>
          <a:bodyPr/>
          <a:lstStyle/>
          <a:p>
            <a:pPr marL="838200" indent="-838200">
              <a:defRPr/>
            </a:pPr>
            <a:r>
              <a:rPr lang="en-US" altLang="zh-CN" dirty="0"/>
              <a:t> </a:t>
            </a:r>
            <a:r>
              <a:rPr lang="zh-CN" altLang="en-US" dirty="0">
                <a:latin typeface="华文楷体" panose="02010600040101010101" pitchFamily="2" charset="-122"/>
                <a:ea typeface="华文楷体" panose="02010600040101010101" pitchFamily="2" charset="-122"/>
              </a:rPr>
              <a:t>链式队列类成员函数的实现：</a:t>
            </a:r>
          </a:p>
        </p:txBody>
      </p:sp>
    </p:spTree>
    <p:extLst>
      <p:ext uri="{BB962C8B-B14F-4D97-AF65-F5344CB8AC3E}">
        <p14:creationId xmlns:p14="http://schemas.microsoft.com/office/powerpoint/2010/main" val="17859510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79797" y="1626502"/>
            <a:ext cx="11162883" cy="4615272"/>
          </a:xfrm>
        </p:spPr>
        <p:txBody>
          <a:bodyPr>
            <a:normAutofit fontScale="92500" lnSpcReduction="10000"/>
          </a:bodyPr>
          <a:lstStyle/>
          <a:p>
            <a:pPr marL="0" indent="0">
              <a:buNone/>
            </a:pPr>
            <a:r>
              <a:rPr lang="en-US" altLang="zh-CN" b="0" dirty="0">
                <a:cs typeface="Times New Roman" panose="02020603050405020304" pitchFamily="18" charset="0"/>
              </a:rPr>
              <a:t>template &lt;class </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void </a:t>
            </a:r>
            <a:r>
              <a:rPr lang="en-US" altLang="zh-CN" b="0" dirty="0" err="1">
                <a:cs typeface="Times New Roman" panose="02020603050405020304" pitchFamily="18" charset="0"/>
              </a:rPr>
              <a:t>linkQueue</a:t>
            </a:r>
            <a:r>
              <a:rPr lang="en-US" altLang="zh-CN" b="0" dirty="0">
                <a:cs typeface="Times New Roman" panose="02020603050405020304" pitchFamily="18" charset="0"/>
              </a:rPr>
              <a:t>&lt;</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r>
              <a:rPr lang="en-US" altLang="zh-CN" b="0" dirty="0" err="1">
                <a:cs typeface="Times New Roman" panose="02020603050405020304" pitchFamily="18" charset="0"/>
              </a:rPr>
              <a:t>enQueue</a:t>
            </a:r>
            <a:r>
              <a:rPr lang="en-US" altLang="zh-CN" b="0" dirty="0">
                <a:cs typeface="Times New Roman" panose="02020603050405020304" pitchFamily="18" charset="0"/>
              </a:rPr>
              <a:t>(</a:t>
            </a:r>
            <a:r>
              <a:rPr lang="en-US" altLang="zh-CN" b="0" dirty="0" err="1">
                <a:cs typeface="Times New Roman" panose="02020603050405020304" pitchFamily="18" charset="0"/>
              </a:rPr>
              <a:t>const</a:t>
            </a:r>
            <a:r>
              <a:rPr lang="en-US" altLang="zh-CN" b="0" dirty="0">
                <a:cs typeface="Times New Roman" panose="02020603050405020304" pitchFamily="18" charset="0"/>
              </a:rPr>
              <a:t> </a:t>
            </a:r>
            <a:r>
              <a:rPr lang="en-US" altLang="zh-CN" b="0" dirty="0" err="1">
                <a:cs typeface="Times New Roman" panose="02020603050405020304" pitchFamily="18" charset="0"/>
              </a:rPr>
              <a:t>elemType</a:t>
            </a:r>
            <a:r>
              <a:rPr lang="en-US" altLang="zh-CN" b="0" dirty="0">
                <a:cs typeface="Times New Roman" panose="02020603050405020304" pitchFamily="18" charset="0"/>
              </a:rPr>
              <a:t> &amp;x)  //</a:t>
            </a:r>
            <a:r>
              <a:rPr lang="zh-CN" altLang="zh-CN" b="0" dirty="0">
                <a:cs typeface="Times New Roman" panose="02020603050405020304" pitchFamily="18" charset="0"/>
              </a:rPr>
              <a:t>将</a:t>
            </a:r>
            <a:r>
              <a:rPr lang="en-US" altLang="zh-CN" b="0" dirty="0">
                <a:cs typeface="Times New Roman" panose="02020603050405020304" pitchFamily="18" charset="0"/>
              </a:rPr>
              <a:t>x</a:t>
            </a:r>
            <a:r>
              <a:rPr lang="zh-CN" altLang="zh-CN" b="0" dirty="0">
                <a:cs typeface="Times New Roman" panose="02020603050405020304" pitchFamily="18" charset="0"/>
              </a:rPr>
              <a:t>进队，成为新的队尾</a:t>
            </a:r>
          </a:p>
          <a:p>
            <a:pPr marL="0" indent="0">
              <a:buNone/>
            </a:pPr>
            <a:r>
              <a:rPr lang="en-US" altLang="zh-CN" b="0" dirty="0">
                <a:cs typeface="Times New Roman" panose="02020603050405020304" pitchFamily="18" charset="0"/>
              </a:rPr>
              <a:t>{  if (!Rear)</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Front = Rear = new Node&lt;</a:t>
            </a:r>
            <a:r>
              <a:rPr lang="en-US" altLang="zh-CN" b="0" dirty="0" err="1">
                <a:cs typeface="Times New Roman" panose="02020603050405020304" pitchFamily="18" charset="0"/>
              </a:rPr>
              <a:t>elemType</a:t>
            </a:r>
            <a:r>
              <a:rPr lang="en-US" altLang="zh-CN" b="0" dirty="0">
                <a:cs typeface="Times New Roman" panose="02020603050405020304" pitchFamily="18" charset="0"/>
              </a:rPr>
              <a:t>&gt;(x);</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else</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 Rear-&gt;next = new Node&lt;</a:t>
            </a:r>
            <a:r>
              <a:rPr lang="en-US" altLang="zh-CN" b="0" dirty="0" err="1">
                <a:cs typeface="Times New Roman" panose="02020603050405020304" pitchFamily="18" charset="0"/>
              </a:rPr>
              <a:t>elemType</a:t>
            </a:r>
            <a:r>
              <a:rPr lang="en-US" altLang="zh-CN" b="0" dirty="0">
                <a:cs typeface="Times New Roman" panose="02020603050405020304" pitchFamily="18" charset="0"/>
              </a:rPr>
              <a:t>&gt;(x);</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Rear = Rear-&gt;next;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320769" y="793902"/>
            <a:ext cx="11162884" cy="574183"/>
          </a:xfrm>
        </p:spPr>
        <p:txBody>
          <a:bodyPr/>
          <a:lstStyle/>
          <a:p>
            <a:pPr marL="838200" indent="-838200">
              <a:defRPr/>
            </a:pPr>
            <a:r>
              <a:rPr lang="en-US" altLang="zh-CN" dirty="0"/>
              <a:t> </a:t>
            </a:r>
            <a:r>
              <a:rPr lang="zh-CN" altLang="en-US" dirty="0">
                <a:latin typeface="华文楷体" panose="02010600040101010101" pitchFamily="2" charset="-122"/>
                <a:ea typeface="华文楷体" panose="02010600040101010101" pitchFamily="2" charset="-122"/>
              </a:rPr>
              <a:t>链式队列类成员函数的实现：</a:t>
            </a:r>
          </a:p>
        </p:txBody>
      </p:sp>
    </p:spTree>
    <p:extLst>
      <p:ext uri="{BB962C8B-B14F-4D97-AF65-F5344CB8AC3E}">
        <p14:creationId xmlns:p14="http://schemas.microsoft.com/office/powerpoint/2010/main" val="151591170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79797" y="1626502"/>
            <a:ext cx="11162883" cy="4615272"/>
          </a:xfrm>
        </p:spPr>
        <p:txBody>
          <a:bodyPr>
            <a:normAutofit fontScale="92500" lnSpcReduction="20000"/>
          </a:bodyPr>
          <a:lstStyle/>
          <a:p>
            <a:pPr marL="0" indent="0">
              <a:buNone/>
            </a:pPr>
            <a:r>
              <a:rPr lang="en-US" altLang="zh-CN" b="0" dirty="0">
                <a:cs typeface="Times New Roman" panose="02020603050405020304" pitchFamily="18" charset="0"/>
              </a:rPr>
              <a:t>template &lt;class </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void </a:t>
            </a:r>
            <a:r>
              <a:rPr lang="en-US" altLang="zh-CN" b="0" dirty="0" err="1">
                <a:cs typeface="Times New Roman" panose="02020603050405020304" pitchFamily="18" charset="0"/>
              </a:rPr>
              <a:t>linkQueue</a:t>
            </a:r>
            <a:r>
              <a:rPr lang="en-US" altLang="zh-CN" b="0" dirty="0">
                <a:cs typeface="Times New Roman" panose="02020603050405020304" pitchFamily="18" charset="0"/>
              </a:rPr>
              <a:t>&lt;</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r>
              <a:rPr lang="en-US" altLang="zh-CN" b="0" dirty="0" err="1">
                <a:cs typeface="Times New Roman" panose="02020603050405020304" pitchFamily="18" charset="0"/>
              </a:rPr>
              <a:t>deQueue</a:t>
            </a:r>
            <a:r>
              <a:rPr lang="en-US" altLang="zh-CN" b="0" dirty="0">
                <a:cs typeface="Times New Roman" panose="02020603050405020304" pitchFamily="18" charset="0"/>
              </a:rPr>
              <a:t>() //</a:t>
            </a:r>
            <a:r>
              <a:rPr lang="zh-CN" altLang="zh-CN" b="0" dirty="0">
                <a:cs typeface="Times New Roman" panose="02020603050405020304" pitchFamily="18" charset="0"/>
              </a:rPr>
              <a:t>将队首元素出队</a:t>
            </a:r>
          </a:p>
          <a:p>
            <a:pPr marL="0" indent="0">
              <a:buNone/>
            </a:pPr>
            <a:r>
              <a:rPr lang="en-US" altLang="zh-CN" b="0" dirty="0">
                <a:cs typeface="Times New Roman" panose="02020603050405020304" pitchFamily="18" charset="0"/>
              </a:rPr>
              <a:t>{   if (</a:t>
            </a:r>
            <a:r>
              <a:rPr lang="en-US" altLang="zh-CN" b="0" dirty="0" err="1">
                <a:cs typeface="Times New Roman" panose="02020603050405020304" pitchFamily="18" charset="0"/>
              </a:rPr>
              <a:t>isEmpty</a:t>
            </a:r>
            <a:r>
              <a:rPr lang="en-US" altLang="zh-CN" b="0" dirty="0">
                <a:cs typeface="Times New Roman" panose="02020603050405020304" pitchFamily="18" charset="0"/>
              </a:rPr>
              <a:t>()) throw </a:t>
            </a:r>
            <a:r>
              <a:rPr lang="en-US" altLang="zh-CN" b="0" dirty="0" err="1">
                <a:cs typeface="Times New Roman" panose="02020603050405020304" pitchFamily="18" charset="0"/>
              </a:rPr>
              <a:t>outOfBound</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Node&lt;</a:t>
            </a:r>
            <a:r>
              <a:rPr lang="en-US" altLang="zh-CN" b="0" dirty="0" err="1">
                <a:cs typeface="Times New Roman" panose="02020603050405020304" pitchFamily="18" charset="0"/>
              </a:rPr>
              <a:t>elemType</a:t>
            </a:r>
            <a:r>
              <a:rPr lang="en-US" altLang="zh-CN" b="0" dirty="0">
                <a:cs typeface="Times New Roman" panose="02020603050405020304" pitchFamily="18" charset="0"/>
              </a:rPr>
              <a:t>&gt; *</a:t>
            </a:r>
            <a:r>
              <a:rPr lang="en-US" altLang="zh-CN" b="0" dirty="0" err="1">
                <a:cs typeface="Times New Roman" panose="02020603050405020304" pitchFamily="18" charset="0"/>
              </a:rPr>
              <a:t>tmp</a:t>
            </a:r>
            <a:r>
              <a:rPr lang="en-US" altLang="zh-CN" b="0" dirty="0">
                <a:cs typeface="Times New Roman" panose="02020603050405020304" pitchFamily="18" charset="0"/>
              </a:rPr>
              <a:t> = Front;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Front = Front-&gt;next;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delete </a:t>
            </a:r>
            <a:r>
              <a:rPr lang="en-US" altLang="zh-CN" b="0" dirty="0" err="1">
                <a:cs typeface="Times New Roman" panose="02020603050405020304" pitchFamily="18" charset="0"/>
              </a:rPr>
              <a:t>tmp</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if (!Front) Rear = NULL;</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320769" y="793902"/>
            <a:ext cx="11162884" cy="574183"/>
          </a:xfrm>
        </p:spPr>
        <p:txBody>
          <a:bodyPr/>
          <a:lstStyle/>
          <a:p>
            <a:pPr marL="838200" indent="-838200">
              <a:defRPr/>
            </a:pPr>
            <a:r>
              <a:rPr lang="en-US" altLang="zh-CN" dirty="0"/>
              <a:t> </a:t>
            </a:r>
            <a:r>
              <a:rPr lang="zh-CN" altLang="en-US" dirty="0">
                <a:latin typeface="华文楷体" panose="02010600040101010101" pitchFamily="2" charset="-122"/>
                <a:ea typeface="华文楷体" panose="02010600040101010101" pitchFamily="2" charset="-122"/>
              </a:rPr>
              <a:t>链式队列类成员函数的实现：</a:t>
            </a:r>
          </a:p>
        </p:txBody>
      </p:sp>
    </p:spTree>
    <p:extLst>
      <p:ext uri="{BB962C8B-B14F-4D97-AF65-F5344CB8AC3E}">
        <p14:creationId xmlns:p14="http://schemas.microsoft.com/office/powerpoint/2010/main" val="542106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0649" y="1467476"/>
            <a:ext cx="11162883" cy="4953204"/>
          </a:xfrm>
        </p:spPr>
        <p:txBody>
          <a:bodyPr>
            <a:noAutofit/>
          </a:bodyPr>
          <a:lstStyle/>
          <a:p>
            <a:pPr marL="0" indent="0">
              <a:buNone/>
            </a:pPr>
            <a:r>
              <a:rPr lang="en-US" altLang="zh-CN" sz="2000" b="0" dirty="0">
                <a:cs typeface="Times New Roman" panose="02020603050405020304" pitchFamily="18" charset="0"/>
              </a:rPr>
              <a:t>template &lt;class </a:t>
            </a:r>
            <a:r>
              <a:rPr lang="en-US" altLang="zh-CN" sz="2000" b="0" dirty="0" err="1">
                <a:cs typeface="Times New Roman" panose="02020603050405020304" pitchFamily="18" charset="0"/>
              </a:rPr>
              <a:t>elemType</a:t>
            </a:r>
            <a:r>
              <a:rPr lang="en-US" altLang="zh-CN" sz="2000" b="0" dirty="0">
                <a:cs typeface="Times New Roman" panose="02020603050405020304" pitchFamily="18" charset="0"/>
              </a:rPr>
              <a:t>&gt;</a:t>
            </a:r>
            <a:endParaRPr lang="zh-CN" altLang="zh-CN" sz="2000" b="0" dirty="0">
              <a:cs typeface="Times New Roman" panose="02020603050405020304" pitchFamily="18" charset="0"/>
            </a:endParaRPr>
          </a:p>
          <a:p>
            <a:pPr marL="0" indent="0">
              <a:buNone/>
            </a:pPr>
            <a:r>
              <a:rPr lang="en-US" altLang="zh-CN" sz="2000" b="0" dirty="0" err="1">
                <a:cs typeface="Times New Roman" panose="02020603050405020304" pitchFamily="18" charset="0"/>
              </a:rPr>
              <a:t>linkQueue</a:t>
            </a:r>
            <a:r>
              <a:rPr lang="en-US" altLang="zh-CN" sz="2000" b="0" dirty="0">
                <a:cs typeface="Times New Roman" panose="02020603050405020304" pitchFamily="18" charset="0"/>
              </a:rPr>
              <a:t>&lt;</a:t>
            </a:r>
            <a:r>
              <a:rPr lang="en-US" altLang="zh-CN" sz="2000" b="0" dirty="0" err="1">
                <a:cs typeface="Times New Roman" panose="02020603050405020304" pitchFamily="18" charset="0"/>
              </a:rPr>
              <a:t>elemType</a:t>
            </a:r>
            <a:r>
              <a:rPr lang="en-US" altLang="zh-CN" sz="2000" b="0" dirty="0">
                <a:cs typeface="Times New Roman" panose="02020603050405020304" pitchFamily="18" charset="0"/>
              </a:rPr>
              <a:t>&gt;::~</a:t>
            </a:r>
            <a:r>
              <a:rPr lang="en-US" altLang="zh-CN" sz="2000" b="0" dirty="0" err="1">
                <a:cs typeface="Times New Roman" panose="02020603050405020304" pitchFamily="18" charset="0"/>
              </a:rPr>
              <a:t>linkQueue</a:t>
            </a:r>
            <a:r>
              <a:rPr lang="en-US" altLang="zh-CN" sz="2000" b="0" dirty="0">
                <a:cs typeface="Times New Roman" panose="02020603050405020304" pitchFamily="18" charset="0"/>
              </a:rPr>
              <a:t>() //</a:t>
            </a:r>
            <a:r>
              <a:rPr lang="zh-CN" altLang="zh-CN" sz="2000" b="0" dirty="0">
                <a:cs typeface="Times New Roman" panose="02020603050405020304" pitchFamily="18" charset="0"/>
              </a:rPr>
              <a:t>释放链式栈所占空间</a:t>
            </a:r>
          </a:p>
          <a:p>
            <a:pPr marL="0" indent="0">
              <a:buNone/>
            </a:pPr>
            <a:r>
              <a:rPr lang="en-US" altLang="zh-CN" sz="2000" b="0" dirty="0">
                <a:cs typeface="Times New Roman" panose="02020603050405020304" pitchFamily="18" charset="0"/>
              </a:rPr>
              <a:t>{  Node&lt;</a:t>
            </a:r>
            <a:r>
              <a:rPr lang="en-US" altLang="zh-CN" sz="2000" b="0" dirty="0" err="1">
                <a:cs typeface="Times New Roman" panose="02020603050405020304" pitchFamily="18" charset="0"/>
              </a:rPr>
              <a:t>elemType</a:t>
            </a:r>
            <a:r>
              <a:rPr lang="en-US" altLang="zh-CN" sz="2000" b="0" dirty="0">
                <a:cs typeface="Times New Roman" panose="02020603050405020304" pitchFamily="18" charset="0"/>
              </a:rPr>
              <a:t>&gt; *p;     p= Front;</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while (p)</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       Front=Front-&gt;next;</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delete p;    p=Front;</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    }</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a:t>
            </a:r>
            <a:endParaRPr lang="zh-CN" altLang="zh-CN" sz="2000" b="0" dirty="0">
              <a:cs typeface="Times New Roman" panose="02020603050405020304" pitchFamily="18" charset="0"/>
            </a:endParaRPr>
          </a:p>
          <a:p>
            <a:pPr marL="0" indent="0">
              <a:buNone/>
            </a:pPr>
            <a:r>
              <a:rPr lang="en-US" altLang="zh-CN" sz="2000" b="0" dirty="0">
                <a:cs typeface="Times New Roman" panose="02020603050405020304" pitchFamily="18" charset="0"/>
              </a:rPr>
              <a:t>#</a:t>
            </a:r>
            <a:r>
              <a:rPr lang="en-US" altLang="zh-CN" sz="2000" b="0" dirty="0" err="1">
                <a:cs typeface="Times New Roman" panose="02020603050405020304" pitchFamily="18" charset="0"/>
              </a:rPr>
              <a:t>endif</a:t>
            </a:r>
            <a:r>
              <a:rPr lang="en-US" altLang="zh-CN" sz="2000" b="0" dirty="0">
                <a:cs typeface="Times New Roman" panose="02020603050405020304" pitchFamily="18" charset="0"/>
              </a:rPr>
              <a:t> // LINKQUEUE_H_INCLUDED</a:t>
            </a:r>
            <a:endParaRPr lang="en-US" altLang="zh-CN" b="0" dirty="0">
              <a:ea typeface="华文楷体" pitchFamily="2" charset="-122"/>
              <a:cs typeface="Times New Roman" panose="02020603050405020304" pitchFamily="18" charset="0"/>
            </a:endParaRPr>
          </a:p>
        </p:txBody>
      </p:sp>
      <p:sp>
        <p:nvSpPr>
          <p:cNvPr id="5" name="Rectangle 2"/>
          <p:cNvSpPr>
            <a:spLocks noGrp="1" noRot="1" noChangeArrowheads="1"/>
          </p:cNvSpPr>
          <p:nvPr>
            <p:ph type="title"/>
          </p:nvPr>
        </p:nvSpPr>
        <p:spPr>
          <a:xfrm>
            <a:off x="320769" y="793902"/>
            <a:ext cx="11162884" cy="574183"/>
          </a:xfrm>
        </p:spPr>
        <p:txBody>
          <a:bodyPr/>
          <a:lstStyle/>
          <a:p>
            <a:pPr marL="838200" indent="-838200">
              <a:defRPr/>
            </a:pPr>
            <a:r>
              <a:rPr lang="en-US" altLang="zh-CN" dirty="0"/>
              <a:t> </a:t>
            </a:r>
            <a:r>
              <a:rPr lang="zh-CN" altLang="en-US" dirty="0">
                <a:latin typeface="华文楷体" panose="02010600040101010101" pitchFamily="2" charset="-122"/>
                <a:ea typeface="华文楷体" panose="02010600040101010101" pitchFamily="2" charset="-122"/>
              </a:rPr>
              <a:t>链式队列类成员函数的实现：</a:t>
            </a:r>
          </a:p>
        </p:txBody>
      </p:sp>
      <p:sp>
        <p:nvSpPr>
          <p:cNvPr id="2" name="椭圆 1"/>
          <p:cNvSpPr/>
          <p:nvPr/>
        </p:nvSpPr>
        <p:spPr>
          <a:xfrm>
            <a:off x="11503532" y="6420680"/>
            <a:ext cx="331417" cy="2936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055898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530363" y="2092436"/>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顺序栈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链式栈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栈的应用</a:t>
            </a:r>
            <a:endParaRPr lang="en-US" altLang="zh-CN" sz="2800" dirty="0">
              <a:latin typeface="华文楷体" pitchFamily="2" charset="-122"/>
              <a:ea typeface="华文楷体" pitchFamily="2" charset="-122"/>
            </a:endParaRPr>
          </a:p>
        </p:txBody>
      </p:sp>
      <p:sp>
        <p:nvSpPr>
          <p:cNvPr id="2" name="文本框 1"/>
          <p:cNvSpPr txBox="1"/>
          <p:nvPr/>
        </p:nvSpPr>
        <p:spPr>
          <a:xfrm>
            <a:off x="6915151" y="2176532"/>
            <a:ext cx="4071937" cy="3082895"/>
          </a:xfrm>
          <a:prstGeom prst="rect">
            <a:avLst/>
          </a:prstGeom>
          <a:noFill/>
        </p:spPr>
        <p:txBody>
          <a:bodyPr wrap="square" rtlCol="0">
            <a:spAutoFit/>
          </a:bodyPr>
          <a:lstStyle/>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顺序循环队列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链式队列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solidFill>
                  <a:srgbClr val="FF0000"/>
                </a:solidFill>
                <a:latin typeface="华文楷体" pitchFamily="2" charset="-122"/>
                <a:ea typeface="华文楷体" pitchFamily="2" charset="-122"/>
              </a:rPr>
              <a:t>优先队列</a:t>
            </a:r>
            <a:endParaRPr lang="en-US" altLang="zh-CN" sz="2800" b="1" dirty="0">
              <a:solidFill>
                <a:srgbClr val="FF0000"/>
              </a:solidFill>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队列的应用</a:t>
            </a:r>
          </a:p>
        </p:txBody>
      </p:sp>
    </p:spTree>
    <p:extLst>
      <p:ext uri="{BB962C8B-B14F-4D97-AF65-F5344CB8AC3E}">
        <p14:creationId xmlns:p14="http://schemas.microsoft.com/office/powerpoint/2010/main" val="354384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3410703"/>
          </a:xfrm>
        </p:spPr>
        <p:txBody>
          <a:bodyPr>
            <a:norm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有时进入队列中的元素具有优先级</a:t>
            </a:r>
            <a:r>
              <a:rPr lang="en-US" altLang="zh-CN"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优先级可用一个优先数表示，一般优先数越小优先级越高</a:t>
            </a:r>
            <a:r>
              <a:rPr lang="en-US" altLang="zh-CN"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，出队时是按照优先级越高的元素出队越早，优先级越低出队越晚，优先级相同者按先进先出的原则处理，这种队列称</a:t>
            </a:r>
            <a:r>
              <a:rPr lang="zh-CN" altLang="zh-CN" sz="2800" dirty="0">
                <a:latin typeface="华文楷体" pitchFamily="2" charset="-122"/>
                <a:ea typeface="华文楷体" pitchFamily="2" charset="-122"/>
              </a:rPr>
              <a:t>优先队列</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en-US" sz="2800" b="0" dirty="0">
                <a:latin typeface="华文楷体" pitchFamily="2" charset="-122"/>
                <a:ea typeface="华文楷体" pitchFamily="2" charset="-122"/>
              </a:rPr>
              <a:t>优先队列存储方式：顺序存储、链式存储</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优先队列：</a:t>
            </a:r>
          </a:p>
        </p:txBody>
      </p:sp>
    </p:spTree>
    <p:extLst>
      <p:ext uri="{BB962C8B-B14F-4D97-AF65-F5344CB8AC3E}">
        <p14:creationId xmlns:p14="http://schemas.microsoft.com/office/powerpoint/2010/main" val="35479584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702790"/>
          </a:xfrm>
        </p:spPr>
        <p:txBody>
          <a:bodyPr>
            <a:normAutofit/>
          </a:bodyPr>
          <a:lstStyle/>
          <a:p>
            <a:pPr marL="0" indent="0">
              <a:buNone/>
            </a:pPr>
            <a:r>
              <a:rPr lang="zh-CN" altLang="zh-CN" sz="2800" b="0" dirty="0">
                <a:latin typeface="华文楷体" pitchFamily="2" charset="-122"/>
                <a:ea typeface="华文楷体" pitchFamily="2" charset="-122"/>
              </a:rPr>
              <a:t>顺序优先队列中，用数组存放元素。</a:t>
            </a:r>
            <a:endParaRPr lang="en-US" altLang="zh-CN" sz="2800" b="0" dirty="0">
              <a:latin typeface="华文楷体" pitchFamily="2" charset="-122"/>
              <a:ea typeface="华文楷体" pitchFamily="2" charset="-122"/>
            </a:endParaRPr>
          </a:p>
          <a:p>
            <a:pPr marL="0" indent="0">
              <a:buNone/>
            </a:pPr>
            <a:r>
              <a:rPr lang="zh-CN" altLang="en-US" sz="2800" b="0" dirty="0">
                <a:latin typeface="华文楷体" pitchFamily="2" charset="-122"/>
                <a:ea typeface="华文楷体" pitchFamily="2" charset="-122"/>
              </a:rPr>
              <a:t>有两种存放策：</a:t>
            </a:r>
            <a:endParaRPr lang="en-US" altLang="zh-CN" sz="2800" b="0" dirty="0">
              <a:latin typeface="华文楷体" pitchFamily="2" charset="-122"/>
              <a:ea typeface="华文楷体" pitchFamily="2" charset="-122"/>
            </a:endParaRPr>
          </a:p>
          <a:p>
            <a:pPr marL="0" indent="0">
              <a:buNone/>
            </a:pPr>
            <a:endParaRPr lang="en-US" altLang="zh-CN" sz="2800" b="0" dirty="0">
              <a:latin typeface="华文楷体" pitchFamily="2" charset="-122"/>
              <a:ea typeface="华文楷体" pitchFamily="2" charset="-122"/>
            </a:endParaRPr>
          </a:p>
          <a:p>
            <a:pPr marL="0" indent="0">
              <a:buNone/>
            </a:pPr>
            <a:r>
              <a:rPr lang="en-US" altLang="zh-CN" sz="2800" b="0" dirty="0">
                <a:latin typeface="华文楷体" pitchFamily="2" charset="-122"/>
                <a:ea typeface="华文楷体" pitchFamily="2" charset="-122"/>
              </a:rPr>
              <a:t>1</a:t>
            </a:r>
            <a:r>
              <a:rPr lang="zh-CN" altLang="en-US" sz="2800" b="0" dirty="0">
                <a:latin typeface="华文楷体" pitchFamily="2" charset="-122"/>
                <a:ea typeface="华文楷体" pitchFamily="2" charset="-122"/>
              </a:rPr>
              <a:t>）进队按时间顺序存放，出队是优先级高者出队。</a:t>
            </a:r>
            <a:endParaRPr lang="en-US" altLang="zh-CN" sz="2800" b="0" dirty="0">
              <a:latin typeface="华文楷体" pitchFamily="2" charset="-122"/>
              <a:ea typeface="华文楷体" pitchFamily="2" charset="-122"/>
            </a:endParaRPr>
          </a:p>
          <a:p>
            <a:pPr marL="0" indent="0">
              <a:buNone/>
            </a:pPr>
            <a:r>
              <a:rPr lang="en-US" altLang="zh-CN" sz="2800" b="0" dirty="0">
                <a:latin typeface="华文楷体" pitchFamily="2" charset="-122"/>
                <a:ea typeface="华文楷体" pitchFamily="2" charset="-122"/>
              </a:rPr>
              <a:t>2)   </a:t>
            </a:r>
            <a:r>
              <a:rPr lang="zh-CN" altLang="en-US" sz="2800" b="0" dirty="0">
                <a:latin typeface="华文楷体" pitchFamily="2" charset="-122"/>
                <a:ea typeface="华文楷体" pitchFamily="2" charset="-122"/>
              </a:rPr>
              <a:t>进队按优先级顺序存放，出队是队首出队。</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顺序优先队列：</a:t>
            </a:r>
          </a:p>
        </p:txBody>
      </p:sp>
    </p:spTree>
    <p:extLst>
      <p:ext uri="{BB962C8B-B14F-4D97-AF65-F5344CB8AC3E}">
        <p14:creationId xmlns:p14="http://schemas.microsoft.com/office/powerpoint/2010/main" val="25095718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519106"/>
            <a:ext cx="11162883" cy="4702790"/>
          </a:xfrm>
        </p:spPr>
        <p:txBody>
          <a:bodyPr>
            <a:normAutofit fontScale="92500" lnSpcReduction="10000"/>
          </a:bodyPr>
          <a:lstStyle/>
          <a:p>
            <a:pPr marL="0" indent="0">
              <a:buNone/>
            </a:pPr>
            <a:r>
              <a:rPr lang="zh-CN" altLang="en-US" sz="2800" dirty="0">
                <a:ea typeface="华文楷体" pitchFamily="2" charset="-122"/>
                <a:cs typeface="Times New Roman" panose="02020603050405020304" pitchFamily="18" charset="0"/>
              </a:rPr>
              <a:t>第一种策咯：</a:t>
            </a:r>
            <a:endParaRPr lang="en-US" altLang="zh-CN" sz="280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进队时，按照下标由小到大的顺序</a:t>
            </a:r>
            <a:r>
              <a:rPr lang="zh-CN" altLang="en-US" sz="2800" b="0" dirty="0">
                <a:ea typeface="华文楷体" pitchFamily="2" charset="-122"/>
                <a:cs typeface="Times New Roman" panose="02020603050405020304" pitchFamily="18" charset="0"/>
              </a:rPr>
              <a:t>即直接将元素放队尾，时间为</a:t>
            </a:r>
            <a:r>
              <a:rPr lang="en-US" altLang="zh-CN" sz="2800" b="0" dirty="0">
                <a:ea typeface="华文楷体" pitchFamily="2" charset="-122"/>
                <a:cs typeface="Times New Roman" panose="02020603050405020304" pitchFamily="18" charset="0"/>
              </a:rPr>
              <a:t>O(1)</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出队时，从所有元素中找到优先级最高的元素，然后删除</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357188" indent="0">
              <a:buNone/>
            </a:pPr>
            <a:r>
              <a:rPr lang="zh-CN" altLang="zh-CN" sz="2800" b="0" dirty="0">
                <a:ea typeface="华文楷体" pitchFamily="2" charset="-122"/>
                <a:cs typeface="Times New Roman" panose="02020603050405020304" pitchFamily="18" charset="0"/>
              </a:rPr>
              <a:t>为避免整个队列的后移，造成空间的浪费，当有元素出队时将队列中</a:t>
            </a:r>
            <a:r>
              <a:rPr lang="zh-CN" altLang="zh-CN" sz="2800" b="0" dirty="0">
                <a:solidFill>
                  <a:srgbClr val="0070C0"/>
                </a:solidFill>
                <a:ea typeface="华文楷体" pitchFamily="2" charset="-122"/>
                <a:cs typeface="Times New Roman" panose="02020603050405020304" pitchFamily="18" charset="0"/>
              </a:rPr>
              <a:t>最后一个元素</a:t>
            </a:r>
            <a:r>
              <a:rPr lang="zh-CN" altLang="zh-CN" sz="2800" b="0" dirty="0">
                <a:ea typeface="华文楷体" pitchFamily="2" charset="-122"/>
                <a:cs typeface="Times New Roman" panose="02020603050405020304" pitchFamily="18" charset="0"/>
              </a:rPr>
              <a:t>移到出队元素所在的存储位置，这样队列始终从</a:t>
            </a:r>
            <a:r>
              <a:rPr lang="en-US" altLang="zh-CN" sz="2800" b="0" dirty="0">
                <a:ea typeface="华文楷体" pitchFamily="2" charset="-122"/>
                <a:cs typeface="Times New Roman" panose="02020603050405020304" pitchFamily="18" charset="0"/>
              </a:rPr>
              <a:t>0</a:t>
            </a:r>
            <a:r>
              <a:rPr lang="zh-CN" altLang="zh-CN" sz="2800" b="0" dirty="0">
                <a:ea typeface="华文楷体" pitchFamily="2" charset="-122"/>
                <a:cs typeface="Times New Roman" panose="02020603050405020304" pitchFamily="18" charset="0"/>
              </a:rPr>
              <a:t>下标开始到某个下标终止，中间不会出现空隙。</a:t>
            </a:r>
            <a:r>
              <a:rPr lang="zh-CN" altLang="en-US" sz="2800" b="0" dirty="0">
                <a:ea typeface="华文楷体" pitchFamily="2" charset="-122"/>
                <a:cs typeface="Times New Roman" panose="02020603050405020304" pitchFamily="18" charset="0"/>
              </a:rPr>
              <a:t>故</a:t>
            </a:r>
            <a:r>
              <a:rPr lang="zh-CN" altLang="zh-CN" sz="2800" b="0" dirty="0">
                <a:ea typeface="华文楷体" pitchFamily="2" charset="-122"/>
                <a:cs typeface="Times New Roman" panose="02020603050405020304" pitchFamily="18" charset="0"/>
              </a:rPr>
              <a:t>不需要像普通队列顺序存储时使用循环技术</a:t>
            </a:r>
            <a:r>
              <a:rPr lang="zh-CN" altLang="en-US" sz="2800" b="0" dirty="0">
                <a:ea typeface="华文楷体" pitchFamily="2" charset="-122"/>
                <a:cs typeface="Times New Roman" panose="02020603050405020304" pitchFamily="18" charset="0"/>
              </a:rPr>
              <a:t>。查找最高优先级元素时间为</a:t>
            </a:r>
            <a:r>
              <a:rPr lang="en-US" altLang="zh-CN" sz="2800" b="0" dirty="0">
                <a:ea typeface="华文楷体" pitchFamily="2" charset="-122"/>
                <a:cs typeface="Times New Roman" panose="02020603050405020304" pitchFamily="18" charset="0"/>
              </a:rPr>
              <a:t>O(n)</a:t>
            </a: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设队尾</a:t>
            </a:r>
            <a:r>
              <a:rPr lang="en-US" altLang="zh-CN" sz="2800" b="0" dirty="0">
                <a:ea typeface="华文楷体" pitchFamily="2" charset="-122"/>
                <a:cs typeface="Times New Roman" panose="02020603050405020304" pitchFamily="18" charset="0"/>
              </a:rPr>
              <a:t>Rear</a:t>
            </a:r>
            <a:r>
              <a:rPr lang="zh-CN" altLang="zh-CN" sz="2800" b="0" dirty="0">
                <a:ea typeface="华文楷体" pitchFamily="2" charset="-122"/>
                <a:cs typeface="Times New Roman" panose="02020603050405020304" pitchFamily="18" charset="0"/>
              </a:rPr>
              <a:t>指针指向实际队尾元素的</a:t>
            </a:r>
            <a:r>
              <a:rPr lang="zh-CN" altLang="zh-CN" sz="2800" b="0" dirty="0">
                <a:solidFill>
                  <a:srgbClr val="0070C0"/>
                </a:solidFill>
                <a:ea typeface="华文楷体" pitchFamily="2" charset="-122"/>
                <a:cs typeface="Times New Roman" panose="02020603050405020304" pitchFamily="18" charset="0"/>
              </a:rPr>
              <a:t>后</a:t>
            </a:r>
            <a:r>
              <a:rPr lang="zh-CN" altLang="zh-CN" sz="2800" b="0" dirty="0">
                <a:ea typeface="华文楷体" pitchFamily="2" charset="-122"/>
                <a:cs typeface="Times New Roman" panose="02020603050405020304" pitchFamily="18" charset="0"/>
              </a:rPr>
              <a:t>一单元</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258763" indent="0">
              <a:buNone/>
            </a:pPr>
            <a:r>
              <a:rPr lang="zh-CN" altLang="en-US" sz="2800" b="0" dirty="0">
                <a:ea typeface="华文楷体" pitchFamily="2" charset="-122"/>
                <a:cs typeface="Times New Roman" panose="02020603050405020304" pitchFamily="18" charset="0"/>
              </a:rPr>
              <a:t>则</a:t>
            </a:r>
            <a:r>
              <a:rPr lang="zh-CN" altLang="zh-CN" sz="2800" b="0" dirty="0">
                <a:ea typeface="华文楷体" pitchFamily="2" charset="-122"/>
                <a:cs typeface="Times New Roman" panose="02020603050405020304" pitchFamily="18" charset="0"/>
              </a:rPr>
              <a:t>队空的条件为：</a:t>
            </a:r>
            <a:r>
              <a:rPr lang="en-US" altLang="zh-CN" sz="2800" b="0" dirty="0">
                <a:ea typeface="华文楷体" pitchFamily="2" charset="-122"/>
                <a:cs typeface="Times New Roman" panose="02020603050405020304" pitchFamily="18" charset="0"/>
              </a:rPr>
              <a:t>Rear = 0;         </a:t>
            </a:r>
            <a:r>
              <a:rPr lang="zh-CN" altLang="zh-CN" sz="2800" b="0" dirty="0">
                <a:ea typeface="华文楷体" pitchFamily="2" charset="-122"/>
                <a:cs typeface="Times New Roman" panose="02020603050405020304" pitchFamily="18" charset="0"/>
              </a:rPr>
              <a:t>队满的条件为：</a:t>
            </a:r>
            <a:r>
              <a:rPr lang="en-US" altLang="zh-CN" sz="2800" b="0" dirty="0">
                <a:ea typeface="华文楷体" pitchFamily="2" charset="-122"/>
                <a:cs typeface="Times New Roman" panose="02020603050405020304" pitchFamily="18" charset="0"/>
              </a:rPr>
              <a:t>Rear = </a:t>
            </a:r>
            <a:r>
              <a:rPr lang="en-US" altLang="zh-CN" sz="2800" b="0" dirty="0" err="1">
                <a:ea typeface="华文楷体" pitchFamily="2" charset="-122"/>
                <a:cs typeface="Times New Roman" panose="02020603050405020304" pitchFamily="18" charset="0"/>
              </a:rPr>
              <a:t>maxSize</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顺序优先队列：</a:t>
            </a:r>
          </a:p>
        </p:txBody>
      </p:sp>
    </p:spTree>
    <p:extLst>
      <p:ext uri="{BB962C8B-B14F-4D97-AF65-F5344CB8AC3E}">
        <p14:creationId xmlns:p14="http://schemas.microsoft.com/office/powerpoint/2010/main" val="46949453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519106"/>
            <a:ext cx="11367649" cy="4702790"/>
          </a:xfrm>
        </p:spPr>
        <p:txBody>
          <a:bodyPr>
            <a:normAutofit fontScale="92500" lnSpcReduction="20000"/>
          </a:bodyPr>
          <a:lstStyle/>
          <a:p>
            <a:pPr marL="0" indent="0">
              <a:buNone/>
            </a:pPr>
            <a:r>
              <a:rPr lang="zh-CN" altLang="en-US" sz="2800" dirty="0">
                <a:ea typeface="华文楷体" pitchFamily="2" charset="-122"/>
                <a:cs typeface="Times New Roman" panose="02020603050405020304" pitchFamily="18" charset="0"/>
              </a:rPr>
              <a:t>第二种策咯：</a:t>
            </a:r>
            <a:endParaRPr lang="en-US" altLang="zh-CN" sz="280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元素按照优先数由小到大排列。</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元素进队时，先在队列中找到合适的插入位置，移动后面的元素，将新进元素插入，时间复杂度为</a:t>
            </a:r>
            <a:r>
              <a:rPr lang="en-US" altLang="zh-CN" sz="2800" b="0" dirty="0">
                <a:ea typeface="华文楷体" pitchFamily="2" charset="-122"/>
                <a:cs typeface="Times New Roman" panose="02020603050405020304" pitchFamily="18" charset="0"/>
              </a:rPr>
              <a:t>O(n)</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出队时，删除队首即</a:t>
            </a:r>
            <a:r>
              <a:rPr lang="en-US" altLang="zh-CN" sz="2800" b="0" dirty="0">
                <a:ea typeface="华文楷体" pitchFamily="2" charset="-122"/>
                <a:cs typeface="Times New Roman" panose="02020603050405020304" pitchFamily="18" charset="0"/>
              </a:rPr>
              <a:t>0</a:t>
            </a:r>
            <a:r>
              <a:rPr lang="zh-CN" altLang="zh-CN" sz="2800" b="0" dirty="0">
                <a:ea typeface="华文楷体" pitchFamily="2" charset="-122"/>
                <a:cs typeface="Times New Roman" panose="02020603050405020304" pitchFamily="18" charset="0"/>
              </a:rPr>
              <a:t>下标元素即可，为了避免后面元素的移动，可以采用顺序循环队列，时间复杂度为</a:t>
            </a:r>
            <a:r>
              <a:rPr lang="en-US" altLang="zh-CN" sz="2800" b="0" dirty="0">
                <a:ea typeface="华文楷体" pitchFamily="2" charset="-122"/>
                <a:cs typeface="Times New Roman" panose="02020603050405020304" pitchFamily="18" charset="0"/>
              </a:rPr>
              <a:t>O(1)</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设队尾</a:t>
            </a:r>
            <a:r>
              <a:rPr lang="en-US" altLang="zh-CN" sz="2800" b="0" dirty="0">
                <a:ea typeface="华文楷体" pitchFamily="2" charset="-122"/>
                <a:cs typeface="Times New Roman" panose="02020603050405020304" pitchFamily="18" charset="0"/>
              </a:rPr>
              <a:t>Rear</a:t>
            </a:r>
            <a:r>
              <a:rPr lang="zh-CN" altLang="zh-CN" sz="2800" b="0" dirty="0">
                <a:ea typeface="华文楷体" pitchFamily="2" charset="-122"/>
                <a:cs typeface="Times New Roman" panose="02020603050405020304" pitchFamily="18" charset="0"/>
              </a:rPr>
              <a:t>指针指向实际队尾元素的后一单元</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258763" indent="0">
              <a:buNone/>
            </a:pPr>
            <a:r>
              <a:rPr lang="zh-CN" altLang="en-US" sz="2800" b="0" dirty="0">
                <a:ea typeface="华文楷体" pitchFamily="2" charset="-122"/>
                <a:cs typeface="Times New Roman" panose="02020603050405020304" pitchFamily="18" charset="0"/>
              </a:rPr>
              <a:t>则</a:t>
            </a:r>
            <a:r>
              <a:rPr lang="zh-CN" altLang="zh-CN" sz="2800" b="0" dirty="0">
                <a:ea typeface="华文楷体" pitchFamily="2" charset="-122"/>
                <a:cs typeface="Times New Roman" panose="02020603050405020304" pitchFamily="18" charset="0"/>
              </a:rPr>
              <a:t>队空的条件为：</a:t>
            </a:r>
            <a:r>
              <a:rPr lang="en-US" altLang="zh-CN" sz="2800" b="0" dirty="0">
                <a:ea typeface="华文楷体" pitchFamily="2" charset="-122"/>
                <a:cs typeface="Times New Roman" panose="02020603050405020304" pitchFamily="18" charset="0"/>
              </a:rPr>
              <a:t>Rear == Front;  </a:t>
            </a:r>
          </a:p>
          <a:p>
            <a:pPr marL="258763" indent="0">
              <a:buNone/>
            </a:pPr>
            <a:r>
              <a:rPr lang="zh-CN" altLang="zh-CN" sz="2800" b="0" dirty="0">
                <a:ea typeface="华文楷体" pitchFamily="2" charset="-122"/>
                <a:cs typeface="Times New Roman" panose="02020603050405020304" pitchFamily="18" charset="0"/>
              </a:rPr>
              <a:t>队满的条件为：</a:t>
            </a:r>
            <a:r>
              <a:rPr lang="en-US" altLang="zh-CN" sz="2800" b="0" dirty="0">
                <a:ea typeface="华文楷体" pitchFamily="2" charset="-122"/>
                <a:cs typeface="Times New Roman" panose="02020603050405020304" pitchFamily="18" charset="0"/>
              </a:rPr>
              <a:t>(Rear+1</a:t>
            </a:r>
            <a:r>
              <a:rPr lang="zh-CN" altLang="en-US"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maxSize</a:t>
            </a:r>
            <a:r>
              <a:rPr lang="en-US" altLang="zh-CN" sz="2800" b="0" dirty="0">
                <a:ea typeface="华文楷体" pitchFamily="2" charset="-122"/>
                <a:cs typeface="Times New Roman" panose="02020603050405020304" pitchFamily="18" charset="0"/>
              </a:rPr>
              <a:t>= =Front</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顺序优先队列：</a:t>
            </a:r>
          </a:p>
        </p:txBody>
      </p:sp>
    </p:spTree>
    <p:extLst>
      <p:ext uri="{BB962C8B-B14F-4D97-AF65-F5344CB8AC3E}">
        <p14:creationId xmlns:p14="http://schemas.microsoft.com/office/powerpoint/2010/main" val="319775449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519106"/>
            <a:ext cx="11367649" cy="4702790"/>
          </a:xfrm>
        </p:spPr>
        <p:txBody>
          <a:bodyPr>
            <a:normAutofit/>
          </a:bodyPr>
          <a:lstStyle/>
          <a:p>
            <a:pPr marL="0" indent="0">
              <a:buNone/>
            </a:pPr>
            <a:r>
              <a:rPr lang="zh-CN" altLang="en-US" sz="2800" dirty="0">
                <a:ea typeface="华文楷体" pitchFamily="2" charset="-122"/>
                <a:cs typeface="Times New Roman" panose="02020603050405020304" pitchFamily="18" charset="0"/>
              </a:rPr>
              <a:t>第二种策咯：</a:t>
            </a:r>
            <a:endParaRPr lang="en-US" altLang="zh-CN" sz="280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600" b="0" dirty="0">
                <a:ea typeface="华文楷体" pitchFamily="2" charset="-122"/>
                <a:cs typeface="Times New Roman" panose="02020603050405020304" pitchFamily="18" charset="0"/>
              </a:rPr>
              <a:t>单链表中的结点按照元素优先级递减</a:t>
            </a:r>
            <a:r>
              <a:rPr lang="en-US" altLang="zh-CN" sz="2600" b="0" dirty="0">
                <a:ea typeface="华文楷体" pitchFamily="2" charset="-122"/>
                <a:cs typeface="Times New Roman" panose="02020603050405020304" pitchFamily="18" charset="0"/>
              </a:rPr>
              <a:t>(</a:t>
            </a:r>
            <a:r>
              <a:rPr lang="zh-CN" altLang="zh-CN" sz="2600" b="0" dirty="0">
                <a:ea typeface="华文楷体" pitchFamily="2" charset="-122"/>
                <a:cs typeface="Times New Roman" panose="02020603050405020304" pitchFamily="18" charset="0"/>
              </a:rPr>
              <a:t>即优先数增大</a:t>
            </a:r>
            <a:r>
              <a:rPr lang="en-US" altLang="zh-CN" sz="2600" b="0" dirty="0">
                <a:ea typeface="华文楷体" pitchFamily="2" charset="-122"/>
                <a:cs typeface="Times New Roman" panose="02020603050405020304" pitchFamily="18" charset="0"/>
              </a:rPr>
              <a:t>)</a:t>
            </a:r>
            <a:r>
              <a:rPr lang="zh-CN" altLang="zh-CN" sz="2600" b="0" dirty="0">
                <a:ea typeface="华文楷体" pitchFamily="2" charset="-122"/>
                <a:cs typeface="Times New Roman" panose="02020603050405020304" pitchFamily="18" charset="0"/>
              </a:rPr>
              <a:t>的次序排成一个有序链表，元素优先级最高的结点就是首结点。</a:t>
            </a:r>
            <a:endParaRPr lang="en-US" altLang="zh-CN" sz="26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600" b="0" dirty="0">
                <a:ea typeface="华文楷体" pitchFamily="2" charset="-122"/>
                <a:cs typeface="Times New Roman" panose="02020603050405020304" pitchFamily="18" charset="0"/>
              </a:rPr>
              <a:t>元素出队即删除首结点，时间复杂度为</a:t>
            </a:r>
            <a:r>
              <a:rPr lang="en-US" altLang="zh-CN" sz="2600" b="0" dirty="0">
                <a:ea typeface="华文楷体" pitchFamily="2" charset="-122"/>
                <a:cs typeface="Times New Roman" panose="02020603050405020304" pitchFamily="18" charset="0"/>
              </a:rPr>
              <a:t>O(1)</a:t>
            </a:r>
            <a:r>
              <a:rPr lang="zh-CN" altLang="zh-CN" sz="2600" b="0" dirty="0">
                <a:ea typeface="华文楷体" pitchFamily="2" charset="-122"/>
                <a:cs typeface="Times New Roman" panose="02020603050405020304" pitchFamily="18" charset="0"/>
              </a:rPr>
              <a:t>；</a:t>
            </a:r>
            <a:endParaRPr lang="en-US" altLang="zh-CN" sz="26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600" b="0" dirty="0">
                <a:ea typeface="华文楷体" pitchFamily="2" charset="-122"/>
                <a:cs typeface="Times New Roman" panose="02020603050405020304" pitchFamily="18" charset="0"/>
              </a:rPr>
              <a:t>元素进队，需要按照优先级大小找到合适的插入位置，然后插入元素结点，时间复杂度为</a:t>
            </a:r>
            <a:r>
              <a:rPr lang="en-US" altLang="zh-CN" sz="2600" b="0" dirty="0">
                <a:ea typeface="华文楷体" pitchFamily="2" charset="-122"/>
                <a:cs typeface="Times New Roman" panose="02020603050405020304" pitchFamily="18" charset="0"/>
              </a:rPr>
              <a:t>O(n)</a:t>
            </a:r>
            <a:r>
              <a:rPr lang="zh-CN" altLang="zh-CN" sz="2600" b="0" dirty="0">
                <a:ea typeface="华文楷体" pitchFamily="2" charset="-122"/>
                <a:cs typeface="Times New Roman" panose="02020603050405020304" pitchFamily="18" charset="0"/>
              </a:rPr>
              <a:t>，但不会引起队列中原有元素在内存中移动。</a:t>
            </a:r>
            <a:endParaRPr lang="en-US" altLang="zh-CN" sz="26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链式优先队列：</a:t>
            </a:r>
          </a:p>
        </p:txBody>
      </p:sp>
      <p:sp>
        <p:nvSpPr>
          <p:cNvPr id="2" name="椭圆 1"/>
          <p:cNvSpPr/>
          <p:nvPr/>
        </p:nvSpPr>
        <p:spPr>
          <a:xfrm>
            <a:off x="11534503" y="6221897"/>
            <a:ext cx="156754" cy="29647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587118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530363" y="2092436"/>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顺序栈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链式栈</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栈的应用</a:t>
            </a:r>
            <a:endParaRPr lang="en-US" altLang="zh-CN" sz="2800" dirty="0">
              <a:latin typeface="华文楷体" pitchFamily="2" charset="-122"/>
              <a:ea typeface="华文楷体" pitchFamily="2" charset="-122"/>
            </a:endParaRPr>
          </a:p>
        </p:txBody>
      </p:sp>
      <p:sp>
        <p:nvSpPr>
          <p:cNvPr id="2" name="文本框 1"/>
          <p:cNvSpPr txBox="1"/>
          <p:nvPr/>
        </p:nvSpPr>
        <p:spPr>
          <a:xfrm>
            <a:off x="6915151" y="2176532"/>
            <a:ext cx="4071937" cy="3082895"/>
          </a:xfrm>
          <a:prstGeom prst="rect">
            <a:avLst/>
          </a:prstGeom>
          <a:noFill/>
        </p:spPr>
        <p:txBody>
          <a:bodyPr wrap="square" rtlCol="0">
            <a:spAutoFit/>
          </a:bodyPr>
          <a:lstStyle/>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顺序循环队列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链式队列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latin typeface="华文楷体" pitchFamily="2" charset="-122"/>
                <a:ea typeface="华文楷体" pitchFamily="2" charset="-122"/>
              </a:rPr>
              <a:t>优先队列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panose="05000000000000000000" pitchFamily="2" charset="2"/>
              <a:buChar char="Ø"/>
              <a:defRPr/>
            </a:pPr>
            <a:r>
              <a:rPr lang="zh-CN" altLang="en-US" sz="2800" b="1" dirty="0">
                <a:solidFill>
                  <a:srgbClr val="FF0000"/>
                </a:solidFill>
                <a:latin typeface="华文楷体" pitchFamily="2" charset="-122"/>
                <a:ea typeface="华文楷体" pitchFamily="2" charset="-122"/>
              </a:rPr>
              <a:t>队列的应用</a:t>
            </a:r>
          </a:p>
        </p:txBody>
      </p:sp>
    </p:spTree>
    <p:extLst>
      <p:ext uri="{BB962C8B-B14F-4D97-AF65-F5344CB8AC3E}">
        <p14:creationId xmlns:p14="http://schemas.microsoft.com/office/powerpoint/2010/main" val="205417056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205833"/>
          </a:xfrm>
        </p:spPr>
        <p:txBody>
          <a:bodyPr>
            <a:norm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提供的服务窗口只有一个。</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可以采用队列对单服务窗口进行模拟，完成诸如计算用户的平均等待时间等任务。其结果可以用来了解单服务窗口的情况，从而辅助对相关问题进行决策。</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en-US" altLang="zh-CN" dirty="0"/>
              <a:t> </a:t>
            </a:r>
            <a:r>
              <a:rPr lang="zh-CN" altLang="en-US" dirty="0">
                <a:latin typeface="华文楷体" panose="02010600040101010101" pitchFamily="2" charset="-122"/>
                <a:ea typeface="华文楷体" panose="02010600040101010101" pitchFamily="2" charset="-122"/>
              </a:rPr>
              <a:t>队列的应用：单服务窗口模拟</a:t>
            </a:r>
          </a:p>
        </p:txBody>
      </p:sp>
    </p:spTree>
    <p:extLst>
      <p:ext uri="{BB962C8B-B14F-4D97-AF65-F5344CB8AC3E}">
        <p14:creationId xmlns:p14="http://schemas.microsoft.com/office/powerpoint/2010/main" val="166088690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66455"/>
            <a:ext cx="11903716" cy="4595805"/>
          </a:xfrm>
        </p:spPr>
        <p:txBody>
          <a:bodyPr>
            <a:normAutofit/>
          </a:bodyPr>
          <a:lstStyle/>
          <a:p>
            <a:pPr marL="0" indent="0">
              <a:lnSpc>
                <a:spcPct val="115000"/>
              </a:lnSpc>
              <a:buNone/>
              <a:defRPr/>
            </a:pPr>
            <a:r>
              <a:rPr lang="zh-CN" altLang="zh-CN" sz="2800" b="0" dirty="0">
                <a:ea typeface="华文楷体" pitchFamily="2" charset="-122"/>
                <a:cs typeface="Times New Roman" panose="02020603050405020304" pitchFamily="18" charset="0"/>
              </a:rPr>
              <a:t>假设有一个小的银行服务网点，每天早晨</a:t>
            </a:r>
            <a:r>
              <a:rPr lang="en-US" altLang="zh-CN" sz="2800" b="0" dirty="0">
                <a:ea typeface="华文楷体" pitchFamily="2" charset="-122"/>
                <a:cs typeface="Times New Roman" panose="02020603050405020304" pitchFamily="18" charset="0"/>
              </a:rPr>
              <a:t>9</a:t>
            </a:r>
            <a:r>
              <a:rPr lang="zh-CN" altLang="zh-CN" sz="2800" b="0" dirty="0">
                <a:ea typeface="华文楷体" pitchFamily="2" charset="-122"/>
                <a:cs typeface="Times New Roman" panose="02020603050405020304" pitchFamily="18" charset="0"/>
              </a:rPr>
              <a:t>点开门，下午</a:t>
            </a:r>
            <a:r>
              <a:rPr lang="en-US" altLang="zh-CN" sz="2800" b="0" dirty="0">
                <a:ea typeface="华文楷体" pitchFamily="2" charset="-122"/>
                <a:cs typeface="Times New Roman" panose="02020603050405020304" pitchFamily="18" charset="0"/>
              </a:rPr>
              <a:t>4</a:t>
            </a:r>
            <a:r>
              <a:rPr lang="zh-CN" altLang="zh-CN" sz="2800" b="0" dirty="0">
                <a:ea typeface="华文楷体" pitchFamily="2" charset="-122"/>
                <a:cs typeface="Times New Roman" panose="02020603050405020304" pitchFamily="18" charset="0"/>
              </a:rPr>
              <a:t>点</a:t>
            </a:r>
            <a:r>
              <a:rPr lang="en-US" altLang="zh-CN" sz="2800" b="0" dirty="0">
                <a:ea typeface="华文楷体" pitchFamily="2" charset="-122"/>
                <a:cs typeface="Times New Roman" panose="02020603050405020304" pitchFamily="18" charset="0"/>
              </a:rPr>
              <a:t>30</a:t>
            </a:r>
            <a:r>
              <a:rPr lang="zh-CN" altLang="zh-CN" sz="2800" b="0" dirty="0">
                <a:ea typeface="华文楷体" pitchFamily="2" charset="-122"/>
                <a:cs typeface="Times New Roman" panose="02020603050405020304" pitchFamily="18" charset="0"/>
              </a:rPr>
              <a:t>关门。一般开门后</a:t>
            </a:r>
            <a:r>
              <a:rPr lang="en-US" altLang="zh-CN" sz="2800" b="0" dirty="0">
                <a:ea typeface="华文楷体" pitchFamily="2" charset="-122"/>
                <a:cs typeface="Times New Roman" panose="02020603050405020304" pitchFamily="18" charset="0"/>
              </a:rPr>
              <a:t>10</a:t>
            </a:r>
            <a:r>
              <a:rPr lang="zh-CN" altLang="zh-CN" sz="2800" b="0" dirty="0">
                <a:ea typeface="华文楷体" pitchFamily="2" charset="-122"/>
                <a:cs typeface="Times New Roman" panose="02020603050405020304" pitchFamily="18" charset="0"/>
              </a:rPr>
              <a:t>分钟内就会来一个客户，之后在上一个客户来后</a:t>
            </a:r>
            <a:r>
              <a:rPr lang="en-US" altLang="zh-CN" sz="2800" b="0" dirty="0">
                <a:ea typeface="华文楷体" pitchFamily="2" charset="-122"/>
                <a:cs typeface="Times New Roman" panose="02020603050405020304" pitchFamily="18" charset="0"/>
              </a:rPr>
              <a:t>5</a:t>
            </a:r>
            <a:r>
              <a:rPr lang="zh-CN" altLang="zh-CN" sz="2800" b="0" dirty="0">
                <a:ea typeface="华文楷体" pitchFamily="2" charset="-122"/>
                <a:cs typeface="Times New Roman" panose="02020603050405020304" pitchFamily="18" charset="0"/>
              </a:rPr>
              <a:t>分钟内就会来下一个客户。</a:t>
            </a:r>
            <a:endParaRPr lang="en-US" altLang="zh-CN" sz="2800" b="0" dirty="0">
              <a:ea typeface="华文楷体" pitchFamily="2" charset="-122"/>
              <a:cs typeface="Times New Roman" panose="02020603050405020304" pitchFamily="18" charset="0"/>
            </a:endParaRPr>
          </a:p>
          <a:p>
            <a:pPr marL="0" indent="0">
              <a:lnSpc>
                <a:spcPct val="115000"/>
              </a:lnSpc>
              <a:buNone/>
              <a:defRPr/>
            </a:pPr>
            <a:r>
              <a:rPr lang="zh-CN" altLang="zh-CN" sz="2800" b="0" dirty="0">
                <a:ea typeface="华文楷体" pitchFamily="2" charset="-122"/>
                <a:cs typeface="Times New Roman" panose="02020603050405020304" pitchFamily="18" charset="0"/>
              </a:rPr>
              <a:t>客户办理的业务分三种：取款、存款、办理网银，它们分别耗时</a:t>
            </a:r>
            <a:r>
              <a:rPr lang="en-US" altLang="zh-CN" sz="2800" b="0" dirty="0">
                <a:ea typeface="华文楷体" pitchFamily="2" charset="-122"/>
                <a:cs typeface="Times New Roman" panose="02020603050405020304" pitchFamily="18" charset="0"/>
              </a:rPr>
              <a:t>2</a:t>
            </a:r>
            <a:r>
              <a:rPr lang="zh-CN" altLang="zh-CN" sz="2800" b="0" dirty="0">
                <a:ea typeface="华文楷体" pitchFamily="2" charset="-122"/>
                <a:cs typeface="Times New Roman" panose="02020603050405020304" pitchFamily="18" charset="0"/>
              </a:rPr>
              <a:t>分钟、</a:t>
            </a:r>
            <a:r>
              <a:rPr lang="en-US" altLang="zh-CN" sz="2800" b="0" dirty="0">
                <a:ea typeface="华文楷体" pitchFamily="2" charset="-122"/>
                <a:cs typeface="Times New Roman" panose="02020603050405020304" pitchFamily="18" charset="0"/>
              </a:rPr>
              <a:t>4</a:t>
            </a:r>
            <a:r>
              <a:rPr lang="zh-CN" altLang="zh-CN" sz="2800" b="0" dirty="0">
                <a:ea typeface="华文楷体" pitchFamily="2" charset="-122"/>
                <a:cs typeface="Times New Roman" panose="02020603050405020304" pitchFamily="18" charset="0"/>
              </a:rPr>
              <a:t>分钟和</a:t>
            </a:r>
            <a:r>
              <a:rPr lang="en-US" altLang="zh-CN" sz="2800" b="0" dirty="0">
                <a:ea typeface="华文楷体" pitchFamily="2" charset="-122"/>
                <a:cs typeface="Times New Roman" panose="02020603050405020304" pitchFamily="18" charset="0"/>
              </a:rPr>
              <a:t>10</a:t>
            </a:r>
            <a:r>
              <a:rPr lang="zh-CN" altLang="zh-CN" sz="2800" b="0" dirty="0">
                <a:ea typeface="华文楷体" pitchFamily="2" charset="-122"/>
                <a:cs typeface="Times New Roman" panose="02020603050405020304" pitchFamily="18" charset="0"/>
              </a:rPr>
              <a:t>分钟。</a:t>
            </a:r>
            <a:endParaRPr lang="en-US" altLang="zh-CN" sz="2800" b="0" dirty="0">
              <a:ea typeface="华文楷体" pitchFamily="2" charset="-122"/>
              <a:cs typeface="Times New Roman" panose="02020603050405020304" pitchFamily="18" charset="0"/>
            </a:endParaRPr>
          </a:p>
          <a:p>
            <a:pPr marL="0" indent="0">
              <a:lnSpc>
                <a:spcPct val="115000"/>
              </a:lnSpc>
              <a:buNone/>
              <a:defRPr/>
            </a:pPr>
            <a:r>
              <a:rPr lang="zh-CN" altLang="zh-CN" sz="2800" b="0" dirty="0">
                <a:ea typeface="华文楷体" pitchFamily="2" charset="-122"/>
                <a:cs typeface="Times New Roman" panose="02020603050405020304" pitchFamily="18" charset="0"/>
              </a:rPr>
              <a:t>试模拟这个服务网点的服务，并计算出每个客户的平均等待时间。</a:t>
            </a:r>
            <a:endParaRPr lang="en-US" altLang="zh-CN" sz="2800" b="0" dirty="0">
              <a:ea typeface="华文楷体" pitchFamily="2" charset="-122"/>
              <a:cs typeface="Times New Roman" panose="02020603050405020304" pitchFamily="18" charset="0"/>
            </a:endParaRPr>
          </a:p>
          <a:p>
            <a:pPr marL="0" indent="0">
              <a:lnSpc>
                <a:spcPct val="115000"/>
              </a:lnSpc>
              <a:buNone/>
              <a:defRPr/>
            </a:pPr>
            <a:endParaRPr lang="en-US" altLang="zh-CN" sz="2800" b="0" dirty="0">
              <a:ea typeface="华文楷体" pitchFamily="2" charset="-122"/>
              <a:cs typeface="Times New Roman" panose="02020603050405020304" pitchFamily="18" charset="0"/>
            </a:endParaRPr>
          </a:p>
          <a:p>
            <a:pPr marL="0" indent="0">
              <a:lnSpc>
                <a:spcPct val="115000"/>
              </a:lnSpc>
              <a:buNone/>
              <a:defRPr/>
            </a:pPr>
            <a:endParaRPr lang="en-US" altLang="zh-CN" sz="2800" dirty="0">
              <a:latin typeface="华文楷体" pitchFamily="2" charset="-122"/>
              <a:ea typeface="华文楷体" pitchFamily="2" charset="-122"/>
            </a:endParaRPr>
          </a:p>
          <a:p>
            <a:pPr marL="1789113"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单服务窗口模拟：</a:t>
            </a:r>
          </a:p>
        </p:txBody>
      </p:sp>
    </p:spTree>
    <p:extLst>
      <p:ext uri="{BB962C8B-B14F-4D97-AF65-F5344CB8AC3E}">
        <p14:creationId xmlns:p14="http://schemas.microsoft.com/office/powerpoint/2010/main" val="328040548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46576"/>
            <a:ext cx="11903716" cy="4814467"/>
          </a:xfrm>
        </p:spPr>
        <p:txBody>
          <a:bodyPr>
            <a:normAutofit lnSpcReduction="10000"/>
          </a:bodyPr>
          <a:lstStyle/>
          <a:p>
            <a:pPr marL="0" indent="0">
              <a:buNone/>
            </a:pPr>
            <a:r>
              <a:rPr lang="zh-CN" altLang="zh-CN" b="0" dirty="0">
                <a:ea typeface="华文楷体" panose="02010600040101010101" pitchFamily="2" charset="-122"/>
                <a:cs typeface="Times New Roman" panose="02020603050405020304" pitchFamily="18" charset="0"/>
              </a:rPr>
              <a:t>设置客户属性：</a:t>
            </a:r>
          </a:p>
          <a:p>
            <a:pPr marL="0" indent="0">
              <a:buNone/>
            </a:pPr>
            <a:r>
              <a:rPr lang="en-US" altLang="zh-CN" b="0" dirty="0" err="1">
                <a:ea typeface="华文楷体" panose="02010600040101010101" pitchFamily="2" charset="-122"/>
                <a:cs typeface="Times New Roman" panose="02020603050405020304" pitchFamily="18" charset="0"/>
              </a:rPr>
              <a:t>struct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timeT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hour;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minute; };</a:t>
            </a:r>
          </a:p>
          <a:p>
            <a:pPr marL="0" indent="0">
              <a:buNone/>
            </a:pP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struct</a:t>
            </a:r>
            <a:r>
              <a:rPr lang="en-US" altLang="zh-CN" b="0" dirty="0">
                <a:ea typeface="华文楷体" panose="02010600040101010101" pitchFamily="2" charset="-122"/>
                <a:cs typeface="Times New Roman" panose="02020603050405020304" pitchFamily="18" charset="0"/>
              </a:rPr>
              <a:t> people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timeT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arrivePoint</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客户到达银行时间</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timeT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serveBegin</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客户开始被服务时间</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serveType</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业务种类</a:t>
            </a:r>
            <a:r>
              <a:rPr lang="en-US" altLang="zh-CN" b="0" dirty="0">
                <a:ea typeface="华文楷体" panose="02010600040101010101" pitchFamily="2" charset="-122"/>
                <a:cs typeface="Times New Roman" panose="02020603050405020304" pitchFamily="18" charset="0"/>
              </a:rPr>
              <a:t>  0 </a:t>
            </a:r>
            <a:r>
              <a:rPr lang="zh-CN" altLang="zh-CN" b="0" dirty="0">
                <a:ea typeface="华文楷体" panose="02010600040101010101" pitchFamily="2" charset="-122"/>
                <a:cs typeface="Times New Roman" panose="02020603050405020304" pitchFamily="18" charset="0"/>
              </a:rPr>
              <a:t>存款</a:t>
            </a:r>
            <a:r>
              <a:rPr lang="en-US" altLang="zh-CN" b="0" dirty="0">
                <a:ea typeface="华文楷体" panose="02010600040101010101" pitchFamily="2" charset="-122"/>
                <a:cs typeface="Times New Roman" panose="02020603050405020304" pitchFamily="18" charset="0"/>
              </a:rPr>
              <a:t>  1</a:t>
            </a:r>
            <a:r>
              <a:rPr lang="zh-CN" altLang="zh-CN" b="0" dirty="0">
                <a:ea typeface="华文楷体" panose="02010600040101010101" pitchFamily="2" charset="-122"/>
                <a:cs typeface="Times New Roman" panose="02020603050405020304" pitchFamily="18" charset="0"/>
              </a:rPr>
              <a:t>取款</a:t>
            </a:r>
            <a:r>
              <a:rPr lang="en-US" altLang="zh-CN" b="0" dirty="0">
                <a:ea typeface="华文楷体" panose="02010600040101010101" pitchFamily="2" charset="-122"/>
                <a:cs typeface="Times New Roman" panose="02020603050405020304" pitchFamily="18" charset="0"/>
              </a:rPr>
              <a:t>  2</a:t>
            </a:r>
            <a:r>
              <a:rPr lang="zh-CN" altLang="zh-CN" b="0" dirty="0">
                <a:ea typeface="华文楷体" panose="02010600040101010101" pitchFamily="2" charset="-122"/>
                <a:cs typeface="Times New Roman" panose="02020603050405020304" pitchFamily="18" charset="0"/>
              </a:rPr>
              <a:t>办网银</a:t>
            </a: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lnSpc>
                <a:spcPct val="115000"/>
              </a:lnSpc>
              <a:buNone/>
              <a:defRPr/>
            </a:pPr>
            <a:endParaRPr lang="en-US" altLang="zh-CN" sz="2800" b="0" dirty="0">
              <a:latin typeface="华文楷体" pitchFamily="2" charset="-122"/>
              <a:ea typeface="华文楷体" pitchFamily="2" charset="-122"/>
            </a:endParaRPr>
          </a:p>
          <a:p>
            <a:pPr marL="0" indent="0">
              <a:lnSpc>
                <a:spcPct val="115000"/>
              </a:lnSpc>
              <a:buNone/>
              <a:defRPr/>
            </a:pPr>
            <a:endParaRPr lang="en-US" altLang="zh-CN" sz="2800" dirty="0">
              <a:latin typeface="华文楷体" pitchFamily="2" charset="-122"/>
              <a:ea typeface="华文楷体" pitchFamily="2" charset="-122"/>
            </a:endParaRPr>
          </a:p>
          <a:p>
            <a:pPr marL="1789113"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单服务窗口模拟：</a:t>
            </a:r>
          </a:p>
        </p:txBody>
      </p:sp>
    </p:spTree>
    <p:extLst>
      <p:ext uri="{BB962C8B-B14F-4D97-AF65-F5344CB8AC3E}">
        <p14:creationId xmlns:p14="http://schemas.microsoft.com/office/powerpoint/2010/main" val="136116487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66455"/>
            <a:ext cx="11360377" cy="4595805"/>
          </a:xfrm>
        </p:spPr>
        <p:txBody>
          <a:bodyPr>
            <a:normAutofit fontScale="85000" lnSpcReduction="20000"/>
          </a:bodyPr>
          <a:lstStyle/>
          <a:p>
            <a:pPr marL="0" indent="0">
              <a:buNone/>
            </a:pPr>
            <a:r>
              <a:rPr lang="zh-CN" altLang="zh-CN" sz="2800" dirty="0">
                <a:ea typeface="华文楷体" pitchFamily="2" charset="-122"/>
                <a:cs typeface="Times New Roman" panose="02020603050405020304" pitchFamily="18" charset="0"/>
              </a:rPr>
              <a:t>入队操作：</a:t>
            </a:r>
          </a:p>
          <a:p>
            <a:pPr marL="0" indent="0">
              <a:buNone/>
            </a:pPr>
            <a:r>
              <a:rPr lang="zh-CN" altLang="zh-CN" sz="2800" b="0" dirty="0">
                <a:ea typeface="华文楷体" pitchFamily="2" charset="-122"/>
                <a:cs typeface="Times New Roman" panose="02020603050405020304" pitchFamily="18" charset="0"/>
              </a:rPr>
              <a:t>第一个客户到达，到达时间为</a:t>
            </a:r>
            <a:r>
              <a:rPr lang="en-US" altLang="zh-CN" sz="2800" b="0" dirty="0">
                <a:ea typeface="华文楷体" pitchFamily="2" charset="-122"/>
                <a:cs typeface="Times New Roman" panose="02020603050405020304" pitchFamily="18" charset="0"/>
              </a:rPr>
              <a:t>9</a:t>
            </a:r>
            <a:r>
              <a:rPr lang="zh-CN" altLang="zh-CN" sz="2800" b="0" dirty="0">
                <a:ea typeface="华文楷体" pitchFamily="2" charset="-122"/>
                <a:cs typeface="Times New Roman" panose="02020603050405020304" pitchFamily="18" charset="0"/>
              </a:rPr>
              <a:t>点</a:t>
            </a:r>
            <a:r>
              <a:rPr lang="en-US" altLang="zh-CN" sz="2800" b="0" dirty="0">
                <a:ea typeface="华文楷体" pitchFamily="2" charset="-122"/>
                <a:cs typeface="Times New Roman" panose="02020603050405020304" pitchFamily="18" charset="0"/>
              </a:rPr>
              <a:t>+m(0-10)</a:t>
            </a:r>
            <a:r>
              <a:rPr lang="zh-CN" altLang="zh-CN" sz="2800" b="0" dirty="0">
                <a:ea typeface="华文楷体" pitchFamily="2" charset="-122"/>
                <a:cs typeface="Times New Roman" panose="02020603050405020304" pitchFamily="18" charset="0"/>
              </a:rPr>
              <a:t>分（随机），业务种类随机，被服务时间为该客户到达时间。描述完毕，第一个客户进队。</a:t>
            </a:r>
          </a:p>
          <a:p>
            <a:pPr marL="0" indent="0">
              <a:buNone/>
            </a:pPr>
            <a:r>
              <a:rPr lang="zh-CN" altLang="zh-CN" sz="2800" b="0" dirty="0">
                <a:ea typeface="华文楷体" pitchFamily="2" charset="-122"/>
                <a:cs typeface="Times New Roman" panose="02020603050405020304" pitchFamily="18" charset="0"/>
              </a:rPr>
              <a:t>第二个客户到达，到达时间为第一个客户达到时间</a:t>
            </a:r>
            <a:r>
              <a:rPr lang="en-US" altLang="zh-CN" sz="2800" b="0" dirty="0">
                <a:ea typeface="华文楷体" pitchFamily="2" charset="-122"/>
                <a:cs typeface="Times New Roman" panose="02020603050405020304" pitchFamily="18" charset="0"/>
              </a:rPr>
              <a:t>+m(0-5)</a:t>
            </a:r>
            <a:r>
              <a:rPr lang="zh-CN" altLang="zh-CN" sz="2800" b="0" dirty="0">
                <a:ea typeface="华文楷体" pitchFamily="2" charset="-122"/>
                <a:cs typeface="Times New Roman" panose="02020603050405020304" pitchFamily="18" charset="0"/>
              </a:rPr>
              <a:t>分之间的随机值，业务种类随机，被服务时间为该客户到达时间和上一个客户结束服务时间的最大值。描述完毕，第二个客户进队。</a:t>
            </a:r>
          </a:p>
          <a:p>
            <a:pPr marL="0" indent="0">
              <a:buNone/>
            </a:pPr>
            <a:r>
              <a:rPr lang="zh-CN" altLang="zh-CN" sz="2800" b="0" dirty="0">
                <a:ea typeface="华文楷体" pitchFamily="2" charset="-122"/>
                <a:cs typeface="Times New Roman" panose="02020603050405020304" pitchFamily="18" charset="0"/>
              </a:rPr>
              <a:t>第三个客户，计算到达时间、服务种类、开始时间，进队。</a:t>
            </a:r>
          </a:p>
          <a:p>
            <a:pPr marL="0" indent="0">
              <a:buNone/>
            </a:pPr>
            <a:r>
              <a:rPr lang="en-US" altLang="zh-CN" sz="2800" b="0" dirty="0">
                <a:ea typeface="华文楷体" pitchFamily="2" charset="-122"/>
                <a:cs typeface="Times New Roman" panose="02020603050405020304" pitchFamily="18" charset="0"/>
              </a:rPr>
              <a:t>---</a:t>
            </a:r>
            <a:endParaRPr lang="zh-CN"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直到某个客户到达时间超过下午</a:t>
            </a:r>
            <a:r>
              <a:rPr lang="en-US" altLang="zh-CN" sz="2800" b="0" dirty="0">
                <a:ea typeface="华文楷体" pitchFamily="2" charset="-122"/>
                <a:cs typeface="Times New Roman" panose="02020603050405020304" pitchFamily="18" charset="0"/>
              </a:rPr>
              <a:t>4</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30</a:t>
            </a:r>
            <a:r>
              <a:rPr lang="zh-CN" altLang="zh-CN" sz="2800" b="0" dirty="0">
                <a:ea typeface="华文楷体" pitchFamily="2" charset="-122"/>
                <a:cs typeface="Times New Roman" panose="02020603050405020304" pitchFamily="18" charset="0"/>
              </a:rPr>
              <a:t>，此时结束。试模拟这个服务网点的服务，并计算出每个客户的平均等待时间。</a:t>
            </a:r>
            <a:endParaRPr lang="en-US" altLang="zh-CN" sz="2800" b="0" dirty="0">
              <a:ea typeface="华文楷体" pitchFamily="2" charset="-122"/>
              <a:cs typeface="Times New Roman" panose="02020603050405020304" pitchFamily="18" charset="0"/>
            </a:endParaRPr>
          </a:p>
          <a:p>
            <a:pPr marL="0" indent="0">
              <a:lnSpc>
                <a:spcPct val="115000"/>
              </a:lnSpc>
              <a:buNone/>
              <a:defRPr/>
            </a:pPr>
            <a:endParaRPr lang="en-US" altLang="zh-CN" sz="2800" b="0" dirty="0">
              <a:latin typeface="华文楷体" pitchFamily="2" charset="-122"/>
              <a:ea typeface="华文楷体" pitchFamily="2" charset="-122"/>
            </a:endParaRPr>
          </a:p>
          <a:p>
            <a:pPr marL="0" indent="0">
              <a:lnSpc>
                <a:spcPct val="115000"/>
              </a:lnSpc>
              <a:buNone/>
              <a:defRPr/>
            </a:pPr>
            <a:endParaRPr lang="en-US" altLang="zh-CN" sz="2800" dirty="0">
              <a:latin typeface="华文楷体" pitchFamily="2" charset="-122"/>
              <a:ea typeface="华文楷体" pitchFamily="2" charset="-122"/>
            </a:endParaRPr>
          </a:p>
          <a:p>
            <a:pPr marL="1789113"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单服务窗口模拟：</a:t>
            </a:r>
          </a:p>
        </p:txBody>
      </p:sp>
    </p:spTree>
    <p:extLst>
      <p:ext uri="{BB962C8B-B14F-4D97-AF65-F5344CB8AC3E}">
        <p14:creationId xmlns:p14="http://schemas.microsoft.com/office/powerpoint/2010/main" val="65883535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66455"/>
            <a:ext cx="11579038" cy="4834345"/>
          </a:xfrm>
        </p:spPr>
        <p:txBody>
          <a:bodyPr>
            <a:normAutofit fontScale="92500" lnSpcReduction="10000"/>
          </a:bodyPr>
          <a:lstStyle/>
          <a:p>
            <a:pPr marL="0" indent="0">
              <a:buNone/>
            </a:pPr>
            <a:r>
              <a:rPr lang="zh-CN" altLang="zh-CN" sz="2800" dirty="0">
                <a:ea typeface="华文楷体" pitchFamily="2" charset="-122"/>
                <a:cs typeface="Times New Roman" panose="02020603050405020304" pitchFamily="18" charset="0"/>
              </a:rPr>
              <a:t>出队操作：</a:t>
            </a:r>
          </a:p>
          <a:p>
            <a:pPr marL="0" indent="0">
              <a:buNone/>
            </a:pPr>
            <a:r>
              <a:rPr lang="zh-CN" altLang="zh-CN" sz="2800" b="0" dirty="0">
                <a:ea typeface="华文楷体" pitchFamily="2" charset="-122"/>
                <a:cs typeface="Times New Roman" panose="02020603050405020304" pitchFamily="18" charset="0"/>
              </a:rPr>
              <a:t>反复出队，累计每个人的等待时间（服务开始时间</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到达时间），直到队空。</a:t>
            </a:r>
          </a:p>
          <a:p>
            <a:pPr marL="0" indent="0">
              <a:buNone/>
            </a:pPr>
            <a:r>
              <a:rPr lang="zh-CN" altLang="zh-CN" sz="2800" b="0" dirty="0">
                <a:ea typeface="华文楷体" pitchFamily="2" charset="-122"/>
                <a:cs typeface="Times New Roman" panose="02020603050405020304" pitchFamily="18" charset="0"/>
              </a:rPr>
              <a:t>计算每人的平均等待时间。</a:t>
            </a:r>
            <a:endParaRPr lang="en-US" altLang="zh-CN" sz="2800" b="0" dirty="0">
              <a:ea typeface="华文楷体" pitchFamily="2" charset="-122"/>
              <a:cs typeface="Times New Roman" panose="02020603050405020304" pitchFamily="18" charset="0"/>
            </a:endParaRPr>
          </a:p>
          <a:p>
            <a:pPr marL="0" indent="0">
              <a:buNone/>
            </a:pPr>
            <a:r>
              <a:rPr lang="zh-CN" altLang="en-US" sz="2800" b="0" dirty="0">
                <a:ea typeface="华文楷体" pitchFamily="2" charset="-122"/>
                <a:cs typeface="Times New Roman" panose="02020603050405020304" pitchFamily="18" charset="0"/>
              </a:rPr>
              <a:t>实现由同学课后自行完成。</a:t>
            </a: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ea typeface="华文楷体" pitchFamily="2" charset="-122"/>
              <a:cs typeface="Times New Roman" panose="02020603050405020304" pitchFamily="18" charset="0"/>
            </a:endParaRPr>
          </a:p>
          <a:p>
            <a:pPr marL="0" indent="0">
              <a:buNone/>
            </a:pPr>
            <a:r>
              <a:rPr lang="zh-CN" altLang="zh-CN" sz="2800" dirty="0">
                <a:ea typeface="华文楷体" pitchFamily="2" charset="-122"/>
                <a:cs typeface="Times New Roman" panose="02020603050405020304" pitchFamily="18" charset="0"/>
              </a:rPr>
              <a:t>多窗口服务：</a:t>
            </a:r>
            <a:endParaRPr lang="en-US" altLang="zh-CN" sz="280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需要两个队列配合</a:t>
            </a:r>
            <a:r>
              <a:rPr lang="zh-CN" altLang="en-US"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在等待区等候的客户形成一个普通队列（先来先服务，即先进先出）</a:t>
            </a:r>
            <a:r>
              <a:rPr lang="zh-CN" altLang="en-US"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在各个窗口被服务的客户形成一个优先队列（先来的未必先出，先结束的先出）</a:t>
            </a:r>
          </a:p>
          <a:p>
            <a:pPr marL="0" indent="0">
              <a:buNone/>
            </a:pPr>
            <a:endParaRPr lang="en-US" altLang="zh-CN" sz="2800" b="0" dirty="0">
              <a:latin typeface="华文楷体" pitchFamily="2" charset="-122"/>
              <a:ea typeface="华文楷体" pitchFamily="2" charset="-122"/>
            </a:endParaRPr>
          </a:p>
          <a:p>
            <a:pPr marL="0" indent="0">
              <a:buNone/>
            </a:pPr>
            <a:endParaRPr lang="zh-CN"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单服务窗口模拟：</a:t>
            </a:r>
          </a:p>
        </p:txBody>
      </p:sp>
      <p:sp>
        <p:nvSpPr>
          <p:cNvPr id="2" name="椭圆 1"/>
          <p:cNvSpPr/>
          <p:nvPr/>
        </p:nvSpPr>
        <p:spPr>
          <a:xfrm>
            <a:off x="11451168" y="6400800"/>
            <a:ext cx="200901" cy="2090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434639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9" name="Rectangle 2">
            <a:extLst>
              <a:ext uri="{FF2B5EF4-FFF2-40B4-BE49-F238E27FC236}">
                <a16:creationId xmlns:a16="http://schemas.microsoft.com/office/drawing/2014/main" id="{8E44AFC5-8B12-4AEC-B2EA-499DA0D2BC2A}"/>
              </a:ext>
            </a:extLst>
          </p:cNvPr>
          <p:cNvSpPr>
            <a:spLocks noGrp="1" noChangeArrowheads="1"/>
          </p:cNvSpPr>
          <p:nvPr>
            <p:ph type="title"/>
          </p:nvPr>
        </p:nvSpPr>
        <p:spPr>
          <a:xfrm>
            <a:off x="406052" y="528855"/>
            <a:ext cx="7772400" cy="1143000"/>
          </a:xfrm>
        </p:spPr>
        <p:txBody>
          <a:bodyPr/>
          <a:lstStyle/>
          <a:p>
            <a:pPr eaLnBrk="1" hangingPunct="1">
              <a:defRPr/>
            </a:pPr>
            <a:r>
              <a:rPr lang="zh-CN" altLang="en-US" dirty="0">
                <a:latin typeface="华文楷体" panose="02010600040101010101" pitchFamily="2" charset="-122"/>
                <a:ea typeface="华文楷体" panose="02010600040101010101" pitchFamily="2" charset="-122"/>
              </a:rPr>
              <a:t>排队系统的模拟：</a:t>
            </a:r>
          </a:p>
        </p:txBody>
      </p:sp>
      <p:sp>
        <p:nvSpPr>
          <p:cNvPr id="280579" name="Rectangle 3">
            <a:extLst>
              <a:ext uri="{FF2B5EF4-FFF2-40B4-BE49-F238E27FC236}">
                <a16:creationId xmlns:a16="http://schemas.microsoft.com/office/drawing/2014/main" id="{00E9E7C6-946C-47FF-8F34-C8C06312D148}"/>
              </a:ext>
            </a:extLst>
          </p:cNvPr>
          <p:cNvSpPr>
            <a:spLocks noGrp="1" noChangeArrowheads="1"/>
          </p:cNvSpPr>
          <p:nvPr>
            <p:ph type="body" idx="1"/>
          </p:nvPr>
        </p:nvSpPr>
        <p:spPr>
          <a:xfrm>
            <a:off x="17745" y="1375297"/>
            <a:ext cx="11380939" cy="5256213"/>
          </a:xfrm>
        </p:spPr>
        <p:txBody>
          <a:bodyPr>
            <a:normAutofit/>
          </a:bodyPr>
          <a:lstStyle/>
          <a:p>
            <a:pPr lvl="1">
              <a:lnSpc>
                <a:spcPct val="125000"/>
              </a:lnSpc>
            </a:pPr>
            <a:r>
              <a:rPr lang="zh-CN" altLang="en-US" sz="2800" b="0" dirty="0">
                <a:latin typeface="Times New Roman" panose="02020603050405020304" pitchFamily="18" charset="0"/>
                <a:ea typeface="华文楷体" pitchFamily="2" charset="-122"/>
                <a:cs typeface="Times New Roman" panose="02020603050405020304" pitchFamily="18" charset="0"/>
              </a:rPr>
              <a:t>模拟（</a:t>
            </a:r>
            <a:r>
              <a:rPr lang="en-US" altLang="zh-CN" sz="2800" b="0" dirty="0">
                <a:latin typeface="Times New Roman" panose="02020603050405020304" pitchFamily="18" charset="0"/>
                <a:ea typeface="华文楷体" pitchFamily="2" charset="-122"/>
                <a:cs typeface="Times New Roman" panose="02020603050405020304" pitchFamily="18" charset="0"/>
              </a:rPr>
              <a:t>simulation</a:t>
            </a:r>
            <a:r>
              <a:rPr lang="zh-CN" altLang="en-US" sz="2800" b="0" dirty="0">
                <a:latin typeface="Times New Roman" panose="02020603050405020304" pitchFamily="18" charset="0"/>
                <a:ea typeface="华文楷体" pitchFamily="2" charset="-122"/>
                <a:cs typeface="Times New Roman" panose="02020603050405020304" pitchFamily="18" charset="0"/>
              </a:rPr>
              <a:t>）是计算机的一个重要应用，建立研究对象的数学模型或描述模型并在计算机上加以体现和试验</a:t>
            </a:r>
          </a:p>
          <a:p>
            <a:pPr lvl="1">
              <a:lnSpc>
                <a:spcPct val="125000"/>
              </a:lnSpc>
            </a:pPr>
            <a:r>
              <a:rPr lang="zh-CN" altLang="en-US" sz="2800" b="0" dirty="0">
                <a:latin typeface="Times New Roman" panose="02020603050405020304" pitchFamily="18" charset="0"/>
                <a:ea typeface="华文楷体" pitchFamily="2" charset="-122"/>
                <a:cs typeface="Times New Roman" panose="02020603050405020304" pitchFamily="18" charset="0"/>
              </a:rPr>
              <a:t>用计算机来模拟有很多优点：</a:t>
            </a:r>
          </a:p>
          <a:p>
            <a:pPr lvl="2">
              <a:lnSpc>
                <a:spcPct val="125000"/>
              </a:lnSpc>
            </a:pPr>
            <a:r>
              <a:rPr lang="zh-CN" altLang="en-US" sz="2600" b="0" dirty="0">
                <a:latin typeface="Times New Roman" panose="02020603050405020304" pitchFamily="18" charset="0"/>
                <a:ea typeface="华文楷体" pitchFamily="2" charset="-122"/>
                <a:cs typeface="Times New Roman" panose="02020603050405020304" pitchFamily="18" charset="0"/>
              </a:rPr>
              <a:t>首先，不需要真实的顾客就能够得到统计信息</a:t>
            </a:r>
          </a:p>
          <a:p>
            <a:pPr lvl="2">
              <a:lnSpc>
                <a:spcPct val="125000"/>
              </a:lnSpc>
            </a:pPr>
            <a:r>
              <a:rPr lang="zh-CN" altLang="en-US" sz="2600" b="0" dirty="0">
                <a:latin typeface="Times New Roman" panose="02020603050405020304" pitchFamily="18" charset="0"/>
                <a:ea typeface="华文楷体" pitchFamily="2" charset="-122"/>
                <a:cs typeface="Times New Roman" panose="02020603050405020304" pitchFamily="18" charset="0"/>
              </a:rPr>
              <a:t>第二，由于计算机速度很快，使用计算机模拟比真实的实现要快很多</a:t>
            </a:r>
          </a:p>
          <a:p>
            <a:pPr lvl="2">
              <a:lnSpc>
                <a:spcPct val="125000"/>
              </a:lnSpc>
            </a:pPr>
            <a:r>
              <a:rPr lang="zh-CN" altLang="en-US" sz="2600" b="0" dirty="0">
                <a:latin typeface="Times New Roman" panose="02020603050405020304" pitchFamily="18" charset="0"/>
                <a:ea typeface="华文楷体" pitchFamily="2" charset="-122"/>
                <a:cs typeface="Times New Roman" panose="02020603050405020304" pitchFamily="18" charset="0"/>
              </a:rPr>
              <a:t>第三，模拟结果可以简单地重现</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3" name="Rectangle 2">
            <a:extLst>
              <a:ext uri="{FF2B5EF4-FFF2-40B4-BE49-F238E27FC236}">
                <a16:creationId xmlns:a16="http://schemas.microsoft.com/office/drawing/2014/main" id="{1C8B544C-7FC8-48D5-95EF-3F307F105934}"/>
              </a:ext>
            </a:extLst>
          </p:cNvPr>
          <p:cNvSpPr>
            <a:spLocks noGrp="1" noChangeArrowheads="1"/>
          </p:cNvSpPr>
          <p:nvPr>
            <p:ph type="title"/>
          </p:nvPr>
        </p:nvSpPr>
        <p:spPr>
          <a:xfrm>
            <a:off x="479622" y="589745"/>
            <a:ext cx="7772400" cy="954087"/>
          </a:xfrm>
        </p:spPr>
        <p:txBody>
          <a:bodyPr/>
          <a:lstStyle/>
          <a:p>
            <a:pPr eaLnBrk="1" hangingPunct="1">
              <a:defRPr/>
            </a:pPr>
            <a:r>
              <a:rPr lang="zh-CN" altLang="en-US" dirty="0">
                <a:latin typeface="华文楷体" panose="02010600040101010101" pitchFamily="2" charset="-122"/>
                <a:ea typeface="华文楷体" panose="02010600040101010101" pitchFamily="2" charset="-122"/>
              </a:rPr>
              <a:t>离散事件模拟系统：</a:t>
            </a:r>
          </a:p>
        </p:txBody>
      </p:sp>
      <p:sp>
        <p:nvSpPr>
          <p:cNvPr id="281603" name="Rectangle 3">
            <a:extLst>
              <a:ext uri="{FF2B5EF4-FFF2-40B4-BE49-F238E27FC236}">
                <a16:creationId xmlns:a16="http://schemas.microsoft.com/office/drawing/2014/main" id="{32B6C713-CF32-4C24-B394-7CBED2988885}"/>
              </a:ext>
            </a:extLst>
          </p:cNvPr>
          <p:cNvSpPr>
            <a:spLocks noGrp="1" noChangeArrowheads="1"/>
          </p:cNvSpPr>
          <p:nvPr>
            <p:ph type="body" idx="1"/>
          </p:nvPr>
        </p:nvSpPr>
        <p:spPr>
          <a:xfrm>
            <a:off x="-7002" y="1393673"/>
            <a:ext cx="11105063" cy="5265737"/>
          </a:xfrm>
        </p:spPr>
        <p:txBody>
          <a:bodyPr>
            <a:noAutofit/>
          </a:bodyPr>
          <a:lstStyle/>
          <a:p>
            <a:pPr lvl="1">
              <a:lnSpc>
                <a:spcPct val="115000"/>
              </a:lnSpc>
            </a:pPr>
            <a:r>
              <a:rPr lang="zh-CN" altLang="en-US" sz="2800" b="0" dirty="0">
                <a:latin typeface="华文楷体" panose="02010600040101010101" pitchFamily="2" charset="-122"/>
                <a:ea typeface="华文楷体" panose="02010600040101010101" pitchFamily="2" charset="-122"/>
                <a:cs typeface="楷体_GB2312" pitchFamily="49" charset="-122"/>
              </a:rPr>
              <a:t>一个排队系统主要由一些事件组合而成</a:t>
            </a:r>
          </a:p>
          <a:p>
            <a:pPr lvl="1">
              <a:lnSpc>
                <a:spcPct val="115000"/>
              </a:lnSpc>
            </a:pPr>
            <a:r>
              <a:rPr lang="zh-CN" altLang="en-US" sz="2800" b="0" dirty="0">
                <a:latin typeface="华文楷体" panose="02010600040101010101" pitchFamily="2" charset="-122"/>
                <a:ea typeface="华文楷体" panose="02010600040101010101" pitchFamily="2" charset="-122"/>
                <a:cs typeface="楷体_GB2312" pitchFamily="49" charset="-122"/>
              </a:rPr>
              <a:t>在银行的排队系统中主要有两类事件：</a:t>
            </a:r>
            <a:r>
              <a:rPr lang="zh-CN" altLang="en-US" sz="2800" b="0" dirty="0">
                <a:solidFill>
                  <a:srgbClr val="FF0000"/>
                </a:solidFill>
                <a:latin typeface="华文楷体" panose="02010600040101010101" pitchFamily="2" charset="-122"/>
                <a:ea typeface="华文楷体" panose="02010600040101010101" pitchFamily="2" charset="-122"/>
                <a:cs typeface="楷体_GB2312" pitchFamily="49" charset="-122"/>
              </a:rPr>
              <a:t>顾客的到达</a:t>
            </a:r>
            <a:r>
              <a:rPr lang="zh-CN" altLang="en-US" sz="2800" b="0" dirty="0">
                <a:latin typeface="华文楷体" panose="02010600040101010101" pitchFamily="2" charset="-122"/>
                <a:ea typeface="华文楷体" panose="02010600040101010101" pitchFamily="2" charset="-122"/>
                <a:cs typeface="楷体_GB2312" pitchFamily="49" charset="-122"/>
              </a:rPr>
              <a:t>和服务完毕后</a:t>
            </a:r>
            <a:r>
              <a:rPr lang="zh-CN" altLang="en-US" sz="2800" b="0" dirty="0">
                <a:solidFill>
                  <a:srgbClr val="FF0000"/>
                </a:solidFill>
                <a:latin typeface="华文楷体" panose="02010600040101010101" pitchFamily="2" charset="-122"/>
                <a:ea typeface="华文楷体" panose="02010600040101010101" pitchFamily="2" charset="-122"/>
                <a:cs typeface="楷体_GB2312" pitchFamily="49" charset="-122"/>
              </a:rPr>
              <a:t>顾客的离去</a:t>
            </a:r>
          </a:p>
          <a:p>
            <a:pPr lvl="1">
              <a:lnSpc>
                <a:spcPct val="115000"/>
              </a:lnSpc>
            </a:pPr>
            <a:r>
              <a:rPr lang="zh-CN" altLang="en-US" sz="2800" b="0" dirty="0">
                <a:latin typeface="华文楷体" panose="02010600040101010101" pitchFamily="2" charset="-122"/>
                <a:ea typeface="华文楷体" panose="02010600040101010101" pitchFamily="2" charset="-122"/>
                <a:cs typeface="楷体_GB2312" pitchFamily="49" charset="-122"/>
              </a:rPr>
              <a:t>整个系统就是不断地有到达事件和离开事件发生，这些事件并不是连续发生的，因此这样的系统被称为离散事件模拟系统 </a:t>
            </a:r>
          </a:p>
          <a:p>
            <a:pPr lvl="1">
              <a:lnSpc>
                <a:spcPct val="115000"/>
              </a:lnSpc>
            </a:pPr>
            <a:r>
              <a:rPr lang="zh-CN" altLang="en-US" sz="2800" b="0" dirty="0">
                <a:latin typeface="华文楷体" panose="02010600040101010101" pitchFamily="2" charset="-122"/>
                <a:ea typeface="华文楷体" panose="02010600040101010101" pitchFamily="2" charset="-122"/>
                <a:cs typeface="楷体_GB2312" pitchFamily="49" charset="-122"/>
              </a:rPr>
              <a:t>一个离散事件模拟器由事件处理组成；一般有两类事件：</a:t>
            </a:r>
          </a:p>
          <a:p>
            <a:pPr lvl="2">
              <a:lnSpc>
                <a:spcPct val="115000"/>
              </a:lnSpc>
            </a:pPr>
            <a:r>
              <a:rPr lang="zh-CN" altLang="en-US" sz="2600" b="0" dirty="0">
                <a:latin typeface="华文楷体" panose="02010600040101010101" pitchFamily="2" charset="-122"/>
                <a:ea typeface="华文楷体" panose="02010600040101010101" pitchFamily="2" charset="-122"/>
                <a:cs typeface="楷体_GB2312" pitchFamily="49" charset="-122"/>
              </a:rPr>
              <a:t>客户到达</a:t>
            </a:r>
          </a:p>
          <a:p>
            <a:pPr lvl="2">
              <a:lnSpc>
                <a:spcPct val="115000"/>
              </a:lnSpc>
            </a:pPr>
            <a:r>
              <a:rPr lang="zh-CN" altLang="en-US" sz="2600" b="0" dirty="0">
                <a:latin typeface="华文楷体" panose="02010600040101010101" pitchFamily="2" charset="-122"/>
                <a:ea typeface="华文楷体" panose="02010600040101010101" pitchFamily="2" charset="-122"/>
                <a:cs typeface="楷体_GB2312" pitchFamily="49" charset="-122"/>
              </a:rPr>
              <a:t>服务完毕，客户离开</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7" name="Rectangle 2">
            <a:extLst>
              <a:ext uri="{FF2B5EF4-FFF2-40B4-BE49-F238E27FC236}">
                <a16:creationId xmlns:a16="http://schemas.microsoft.com/office/drawing/2014/main" id="{78E29D4C-A0E6-4988-AF44-6A3F301C6DAB}"/>
              </a:ext>
            </a:extLst>
          </p:cNvPr>
          <p:cNvSpPr>
            <a:spLocks noGrp="1" noChangeArrowheads="1"/>
          </p:cNvSpPr>
          <p:nvPr>
            <p:ph type="title"/>
          </p:nvPr>
        </p:nvSpPr>
        <p:spPr>
          <a:xfrm>
            <a:off x="178997" y="611078"/>
            <a:ext cx="7772400" cy="1143000"/>
          </a:xfrm>
        </p:spPr>
        <p:txBody>
          <a:bodyPr/>
          <a:lstStyle/>
          <a:p>
            <a:pPr eaLnBrk="1" hangingPunct="1">
              <a:defRPr/>
            </a:pPr>
            <a:r>
              <a:rPr lang="zh-CN" altLang="en-US" dirty="0">
                <a:latin typeface="华文楷体" panose="02010600040101010101" pitchFamily="2" charset="-122"/>
                <a:ea typeface="华文楷体" panose="02010600040101010101" pitchFamily="2" charset="-122"/>
              </a:rPr>
              <a:t>排队系统的实现：</a:t>
            </a:r>
          </a:p>
        </p:txBody>
      </p:sp>
      <p:sp>
        <p:nvSpPr>
          <p:cNvPr id="282627" name="Rectangle 3">
            <a:extLst>
              <a:ext uri="{FF2B5EF4-FFF2-40B4-BE49-F238E27FC236}">
                <a16:creationId xmlns:a16="http://schemas.microsoft.com/office/drawing/2014/main" id="{D96B9A3F-98AB-4305-94D7-971F44197F4F}"/>
              </a:ext>
            </a:extLst>
          </p:cNvPr>
          <p:cNvSpPr>
            <a:spLocks noGrp="1" noChangeArrowheads="1"/>
          </p:cNvSpPr>
          <p:nvPr>
            <p:ph type="body" idx="1"/>
          </p:nvPr>
        </p:nvSpPr>
        <p:spPr>
          <a:xfrm>
            <a:off x="0" y="1484313"/>
            <a:ext cx="10941050" cy="5113337"/>
          </a:xfrm>
        </p:spPr>
        <p:txBody>
          <a:bodyPr>
            <a:normAutofit/>
          </a:bodyPr>
          <a:lstStyle/>
          <a:p>
            <a:pPr lvl="1"/>
            <a:r>
              <a:rPr lang="zh-CN" altLang="en-US" sz="2800" b="0" dirty="0">
                <a:latin typeface="华文楷体" panose="02010600040101010101" pitchFamily="2" charset="-122"/>
                <a:ea typeface="华文楷体" panose="02010600040101010101" pitchFamily="2" charset="-122"/>
                <a:cs typeface="楷体_GB2312" pitchFamily="49" charset="-122"/>
              </a:rPr>
              <a:t>实现一个排队系统就是模拟这两类事件的生成和处理</a:t>
            </a:r>
          </a:p>
          <a:p>
            <a:pPr lvl="1"/>
            <a:r>
              <a:rPr lang="zh-CN" altLang="en-US" sz="2800" b="0" dirty="0">
                <a:latin typeface="华文楷体" panose="02010600040101010101" pitchFamily="2" charset="-122"/>
                <a:ea typeface="华文楷体" panose="02010600040101010101" pitchFamily="2" charset="-122"/>
                <a:cs typeface="楷体_GB2312" pitchFamily="49" charset="-122"/>
              </a:rPr>
              <a:t>事件处理过程</a:t>
            </a:r>
          </a:p>
          <a:p>
            <a:pPr lvl="2"/>
            <a:r>
              <a:rPr lang="zh-CN" altLang="en-US" sz="2600" b="0" dirty="0">
                <a:latin typeface="华文楷体" panose="02010600040101010101" pitchFamily="2" charset="-122"/>
                <a:ea typeface="华文楷体" panose="02010600040101010101" pitchFamily="2" charset="-122"/>
                <a:cs typeface="楷体_GB2312" pitchFamily="49" charset="-122"/>
              </a:rPr>
              <a:t>当遇到一个到达事件时，表示有一个新顾客到达。如果服务员没空，顾客到队列去排队。否则为这个顾客生成服务所需的时间</a:t>
            </a:r>
            <a:r>
              <a:rPr lang="en-US" altLang="zh-CN" sz="2600" b="0" dirty="0">
                <a:latin typeface="华文楷体" panose="02010600040101010101" pitchFamily="2" charset="-122"/>
                <a:ea typeface="华文楷体" panose="02010600040101010101" pitchFamily="2" charset="-122"/>
                <a:cs typeface="楷体_GB2312" pitchFamily="49" charset="-122"/>
              </a:rPr>
              <a:t>t</a:t>
            </a:r>
            <a:r>
              <a:rPr lang="zh-CN" altLang="en-US" sz="2600" b="0" dirty="0">
                <a:latin typeface="华文楷体" panose="02010600040101010101" pitchFamily="2" charset="-122"/>
                <a:ea typeface="华文楷体" panose="02010600040101010101" pitchFamily="2" charset="-122"/>
                <a:cs typeface="楷体_GB2312" pitchFamily="49" charset="-122"/>
              </a:rPr>
              <a:t>。经过了</a:t>
            </a:r>
            <a:r>
              <a:rPr lang="en-US" altLang="zh-CN" sz="2600" b="0" dirty="0">
                <a:latin typeface="华文楷体" panose="02010600040101010101" pitchFamily="2" charset="-122"/>
                <a:ea typeface="华文楷体" panose="02010600040101010101" pitchFamily="2" charset="-122"/>
                <a:cs typeface="楷体_GB2312" pitchFamily="49" charset="-122"/>
              </a:rPr>
              <a:t>t </a:t>
            </a:r>
            <a:r>
              <a:rPr lang="zh-CN" altLang="en-US" sz="2600" b="0" dirty="0">
                <a:latin typeface="华文楷体" panose="02010600040101010101" pitchFamily="2" charset="-122"/>
                <a:ea typeface="华文楷体" panose="02010600040101010101" pitchFamily="2" charset="-122"/>
                <a:cs typeface="楷体_GB2312" pitchFamily="49" charset="-122"/>
              </a:rPr>
              <a:t>时间以后会产生一个顾客离开事件</a:t>
            </a:r>
          </a:p>
          <a:p>
            <a:pPr lvl="2"/>
            <a:r>
              <a:rPr lang="zh-CN" altLang="en-US" sz="2600" b="0" dirty="0">
                <a:latin typeface="华文楷体" panose="02010600040101010101" pitchFamily="2" charset="-122"/>
                <a:ea typeface="华文楷体" panose="02010600040101010101" pitchFamily="2" charset="-122"/>
                <a:cs typeface="楷体_GB2312" pitchFamily="49" charset="-122"/>
              </a:rPr>
              <a:t>当遇到一个离开事件时，就检查有没有顾客在排队。如果有顾客在排队，则让队头顾客离队，为他提供服务。如果没顾客排队，则服务员可以休息 </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1" name="Rectangle 2">
            <a:extLst>
              <a:ext uri="{FF2B5EF4-FFF2-40B4-BE49-F238E27FC236}">
                <a16:creationId xmlns:a16="http://schemas.microsoft.com/office/drawing/2014/main" id="{A5E2C91E-3617-4A9E-8662-3790335CC10E}"/>
              </a:ext>
            </a:extLst>
          </p:cNvPr>
          <p:cNvSpPr>
            <a:spLocks noGrp="1" noChangeArrowheads="1"/>
          </p:cNvSpPr>
          <p:nvPr>
            <p:ph type="title"/>
          </p:nvPr>
        </p:nvSpPr>
        <p:spPr>
          <a:xfrm>
            <a:off x="272528" y="485775"/>
            <a:ext cx="8207375" cy="1143000"/>
          </a:xfrm>
        </p:spPr>
        <p:txBody>
          <a:bodyPr>
            <a:normAutofit/>
          </a:bodyPr>
          <a:lstStyle/>
          <a:p>
            <a:pPr eaLnBrk="1" hangingPunct="1">
              <a:defRPr/>
            </a:pPr>
            <a:r>
              <a:rPr lang="zh-CN" altLang="en-US" sz="3600" dirty="0">
                <a:latin typeface="华文楷体" panose="02010600040101010101" pitchFamily="2" charset="-122"/>
                <a:ea typeface="华文楷体" panose="02010600040101010101" pitchFamily="2" charset="-122"/>
              </a:rPr>
              <a:t>如何产生顾客到达事件和服务时间：</a:t>
            </a:r>
          </a:p>
        </p:txBody>
      </p:sp>
      <p:sp>
        <p:nvSpPr>
          <p:cNvPr id="283651" name="Rectangle 3">
            <a:extLst>
              <a:ext uri="{FF2B5EF4-FFF2-40B4-BE49-F238E27FC236}">
                <a16:creationId xmlns:a16="http://schemas.microsoft.com/office/drawing/2014/main" id="{CD00EE9D-0B35-4474-AA1A-1B463AC9A4D7}"/>
              </a:ext>
            </a:extLst>
          </p:cNvPr>
          <p:cNvSpPr>
            <a:spLocks noGrp="1" noChangeArrowheads="1"/>
          </p:cNvSpPr>
          <p:nvPr>
            <p:ph type="body" idx="1"/>
          </p:nvPr>
        </p:nvSpPr>
        <p:spPr>
          <a:xfrm>
            <a:off x="0" y="1428358"/>
            <a:ext cx="10987088" cy="4752975"/>
          </a:xfrm>
        </p:spPr>
        <p:txBody>
          <a:bodyPr>
            <a:normAutofit/>
          </a:bodyPr>
          <a:lstStyle/>
          <a:p>
            <a:pPr lvl="1"/>
            <a:r>
              <a:rPr lang="zh-CN" altLang="en-US" sz="2800" b="0" dirty="0">
                <a:latin typeface="华文楷体" panose="02010600040101010101" pitchFamily="2" charset="-122"/>
                <a:ea typeface="华文楷体" panose="02010600040101010101" pitchFamily="2" charset="-122"/>
                <a:cs typeface="楷体_GB2312" pitchFamily="49" charset="-122"/>
              </a:rPr>
              <a:t>顾客的到达时间间隔和为每个顾客的服务时间并不一定是固定的。</a:t>
            </a:r>
          </a:p>
          <a:p>
            <a:pPr lvl="1"/>
            <a:r>
              <a:rPr lang="zh-CN" altLang="en-US" sz="2800" b="0" dirty="0">
                <a:latin typeface="华文楷体" panose="02010600040101010101" pitchFamily="2" charset="-122"/>
                <a:ea typeface="华文楷体" panose="02010600040101010101" pitchFamily="2" charset="-122"/>
                <a:cs typeface="楷体_GB2312" pitchFamily="49" charset="-122"/>
              </a:rPr>
              <a:t>尽管服务时间和顾客到达的间隔时间是可变的，但从统计上来看是服从一定的概率分布。</a:t>
            </a:r>
          </a:p>
          <a:p>
            <a:pPr lvl="1"/>
            <a:r>
              <a:rPr lang="zh-CN" altLang="en-US" sz="2800" b="0" dirty="0">
                <a:latin typeface="华文楷体" panose="02010600040101010101" pitchFamily="2" charset="-122"/>
                <a:ea typeface="华文楷体" panose="02010600040101010101" pitchFamily="2" charset="-122"/>
                <a:cs typeface="楷体_GB2312" pitchFamily="49" charset="-122"/>
              </a:rPr>
              <a:t>要生成顾客的到达时间或生成服务时间必须掌握如何按照某个概率生成事件。 </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5" name="Rectangle 2">
            <a:extLst>
              <a:ext uri="{FF2B5EF4-FFF2-40B4-BE49-F238E27FC236}">
                <a16:creationId xmlns:a16="http://schemas.microsoft.com/office/drawing/2014/main" id="{52CE8298-0B1C-4D34-9629-C21A39AC6772}"/>
              </a:ext>
            </a:extLst>
          </p:cNvPr>
          <p:cNvSpPr>
            <a:spLocks noGrp="1" noChangeArrowheads="1"/>
          </p:cNvSpPr>
          <p:nvPr>
            <p:ph type="title"/>
          </p:nvPr>
        </p:nvSpPr>
        <p:spPr>
          <a:xfrm>
            <a:off x="350728" y="467444"/>
            <a:ext cx="7772400" cy="1143000"/>
          </a:xfrm>
        </p:spPr>
        <p:txBody>
          <a:bodyPr/>
          <a:lstStyle/>
          <a:p>
            <a:pPr eaLnBrk="1" hangingPunct="1">
              <a:defRPr/>
            </a:pPr>
            <a:r>
              <a:rPr lang="zh-CN" altLang="en-US" dirty="0">
                <a:latin typeface="华文楷体" panose="02010600040101010101" pitchFamily="2" charset="-122"/>
                <a:ea typeface="华文楷体" panose="02010600040101010101" pitchFamily="2" charset="-122"/>
              </a:rPr>
              <a:t>均匀分布的概率事件：</a:t>
            </a:r>
          </a:p>
        </p:txBody>
      </p:sp>
      <p:sp>
        <p:nvSpPr>
          <p:cNvPr id="284675" name="Rectangle 3">
            <a:extLst>
              <a:ext uri="{FF2B5EF4-FFF2-40B4-BE49-F238E27FC236}">
                <a16:creationId xmlns:a16="http://schemas.microsoft.com/office/drawing/2014/main" id="{69ECD20B-4FA4-483A-808B-3A4F61DBBD79}"/>
              </a:ext>
            </a:extLst>
          </p:cNvPr>
          <p:cNvSpPr>
            <a:spLocks noGrp="1" noChangeArrowheads="1"/>
          </p:cNvSpPr>
          <p:nvPr>
            <p:ph type="body" idx="1"/>
          </p:nvPr>
        </p:nvSpPr>
        <p:spPr>
          <a:xfrm>
            <a:off x="0" y="1566144"/>
            <a:ext cx="11373633" cy="4824412"/>
          </a:xfrm>
        </p:spPr>
        <p:txBody>
          <a:bodyPr>
            <a:normAutofit/>
          </a:bodyPr>
          <a:lstStyle/>
          <a:p>
            <a:pPr lvl="1">
              <a:lnSpc>
                <a:spcPct val="130000"/>
              </a:lnSpc>
            </a:pPr>
            <a:r>
              <a:rPr lang="zh-CN" altLang="en-US" sz="2800" b="0" dirty="0">
                <a:latin typeface="华文楷体" panose="02010600040101010101" pitchFamily="2" charset="-122"/>
                <a:ea typeface="华文楷体" panose="02010600040101010101" pitchFamily="2" charset="-122"/>
                <a:cs typeface="楷体_GB2312" pitchFamily="49" charset="-122"/>
              </a:rPr>
              <a:t>用随机数产生器产生的随机数</a:t>
            </a:r>
          </a:p>
          <a:p>
            <a:pPr lvl="1">
              <a:lnSpc>
                <a:spcPct val="130000"/>
              </a:lnSpc>
            </a:pPr>
            <a:r>
              <a:rPr lang="zh-CN" altLang="en-US" sz="2800" b="0" dirty="0">
                <a:latin typeface="华文楷体" panose="02010600040101010101" pitchFamily="2" charset="-122"/>
                <a:ea typeface="华文楷体" panose="02010600040101010101" pitchFamily="2" charset="-122"/>
                <a:cs typeface="楷体_GB2312" pitchFamily="49" charset="-122"/>
              </a:rPr>
              <a:t>如顾客到达的间隔时间服从</a:t>
            </a:r>
            <a:r>
              <a:rPr lang="en-US" altLang="zh-CN" sz="2800" b="0" dirty="0">
                <a:latin typeface="华文楷体" panose="02010600040101010101" pitchFamily="2" charset="-122"/>
                <a:ea typeface="华文楷体" panose="02010600040101010101" pitchFamily="2" charset="-122"/>
                <a:cs typeface="楷体_GB2312" pitchFamily="49" charset="-122"/>
              </a:rPr>
              <a:t>[a</a:t>
            </a:r>
            <a:r>
              <a:rPr lang="zh-CN" altLang="en-US" sz="2800" b="0" dirty="0">
                <a:latin typeface="华文楷体" panose="02010600040101010101" pitchFamily="2" charset="-122"/>
                <a:ea typeface="华文楷体" panose="02010600040101010101" pitchFamily="2" charset="-122"/>
                <a:cs typeface="楷体_GB2312" pitchFamily="49" charset="-122"/>
              </a:rPr>
              <a:t>，</a:t>
            </a:r>
            <a:r>
              <a:rPr lang="en-US" altLang="zh-CN" sz="2800" b="0" dirty="0">
                <a:latin typeface="华文楷体" panose="02010600040101010101" pitchFamily="2" charset="-122"/>
                <a:ea typeface="华文楷体" panose="02010600040101010101" pitchFamily="2" charset="-122"/>
                <a:cs typeface="楷体_GB2312" pitchFamily="49" charset="-122"/>
              </a:rPr>
              <a:t>b]</a:t>
            </a:r>
            <a:r>
              <a:rPr lang="zh-CN" altLang="en-US" sz="2800" b="0" dirty="0">
                <a:latin typeface="华文楷体" panose="02010600040101010101" pitchFamily="2" charset="-122"/>
                <a:ea typeface="华文楷体" panose="02010600040101010101" pitchFamily="2" charset="-122"/>
                <a:cs typeface="楷体_GB2312" pitchFamily="49" charset="-122"/>
              </a:rPr>
              <a:t>之间的均匀分布，则可以生成一个</a:t>
            </a:r>
            <a:r>
              <a:rPr lang="en-US" altLang="zh-CN" sz="2800" b="0" dirty="0">
                <a:latin typeface="华文楷体" panose="02010600040101010101" pitchFamily="2" charset="-122"/>
                <a:ea typeface="华文楷体" panose="02010600040101010101" pitchFamily="2" charset="-122"/>
                <a:cs typeface="楷体_GB2312" pitchFamily="49" charset="-122"/>
              </a:rPr>
              <a:t>[a</a:t>
            </a:r>
            <a:r>
              <a:rPr lang="zh-CN" altLang="en-US" sz="2800" b="0" dirty="0">
                <a:latin typeface="华文楷体" panose="02010600040101010101" pitchFamily="2" charset="-122"/>
                <a:ea typeface="华文楷体" panose="02010600040101010101" pitchFamily="2" charset="-122"/>
                <a:cs typeface="楷体_GB2312" pitchFamily="49" charset="-122"/>
              </a:rPr>
              <a:t>，</a:t>
            </a:r>
            <a:r>
              <a:rPr lang="en-US" altLang="zh-CN" sz="2800" b="0" dirty="0">
                <a:latin typeface="华文楷体" panose="02010600040101010101" pitchFamily="2" charset="-122"/>
                <a:ea typeface="华文楷体" panose="02010600040101010101" pitchFamily="2" charset="-122"/>
                <a:cs typeface="楷体_GB2312" pitchFamily="49" charset="-122"/>
              </a:rPr>
              <a:t>b]</a:t>
            </a:r>
            <a:r>
              <a:rPr lang="zh-CN" altLang="en-US" sz="2800" b="0" dirty="0">
                <a:latin typeface="华文楷体" panose="02010600040101010101" pitchFamily="2" charset="-122"/>
                <a:ea typeface="华文楷体" panose="02010600040101010101" pitchFamily="2" charset="-122"/>
                <a:cs typeface="楷体_GB2312" pitchFamily="49" charset="-122"/>
              </a:rPr>
              <a:t>之间的一个随机数</a:t>
            </a:r>
            <a:r>
              <a:rPr lang="en-US" altLang="zh-CN" sz="2800" b="0" dirty="0">
                <a:latin typeface="华文楷体" panose="02010600040101010101" pitchFamily="2" charset="-122"/>
                <a:ea typeface="华文楷体" panose="02010600040101010101" pitchFamily="2" charset="-122"/>
                <a:cs typeface="楷体_GB2312" pitchFamily="49" charset="-122"/>
              </a:rPr>
              <a:t>x</a:t>
            </a:r>
            <a:r>
              <a:rPr lang="zh-CN" altLang="en-US" sz="2800" b="0" dirty="0">
                <a:latin typeface="华文楷体" panose="02010600040101010101" pitchFamily="2" charset="-122"/>
                <a:ea typeface="华文楷体" panose="02010600040101010101" pitchFamily="2" charset="-122"/>
                <a:cs typeface="楷体_GB2312" pitchFamily="49" charset="-122"/>
              </a:rPr>
              <a:t>，表示前一个顾客到达后，经过了</a:t>
            </a:r>
            <a:r>
              <a:rPr lang="en-US" altLang="zh-CN" sz="2800" b="0" dirty="0">
                <a:latin typeface="华文楷体" panose="02010600040101010101" pitchFamily="2" charset="-122"/>
                <a:ea typeface="华文楷体" panose="02010600040101010101" pitchFamily="2" charset="-122"/>
                <a:cs typeface="楷体_GB2312" pitchFamily="49" charset="-122"/>
              </a:rPr>
              <a:t>x</a:t>
            </a:r>
            <a:r>
              <a:rPr lang="zh-CN" altLang="en-US" sz="2800" b="0" dirty="0">
                <a:latin typeface="华文楷体" panose="02010600040101010101" pitchFamily="2" charset="-122"/>
                <a:ea typeface="华文楷体" panose="02010600040101010101" pitchFamily="2" charset="-122"/>
                <a:cs typeface="楷体_GB2312" pitchFamily="49" charset="-122"/>
              </a:rPr>
              <a:t>的时间后又有一个顾客到达了</a:t>
            </a:r>
            <a:endParaRPr lang="en-US" altLang="zh-CN" sz="2800" b="0" dirty="0">
              <a:latin typeface="华文楷体" panose="02010600040101010101" pitchFamily="2" charset="-122"/>
              <a:ea typeface="华文楷体" panose="02010600040101010101" pitchFamily="2" charset="-122"/>
              <a:cs typeface="楷体_GB2312" pitchFamily="49" charset="-122"/>
            </a:endParaRPr>
          </a:p>
          <a:p>
            <a:pPr lvl="1">
              <a:lnSpc>
                <a:spcPct val="130000"/>
              </a:lnSpc>
            </a:pPr>
            <a:r>
              <a:rPr lang="zh-CN" altLang="en-US" sz="2800" b="0" dirty="0">
                <a:latin typeface="华文楷体" panose="02010600040101010101" pitchFamily="2" charset="-122"/>
                <a:ea typeface="华文楷体" panose="02010600040101010101" pitchFamily="2" charset="-122"/>
                <a:cs typeface="楷体_GB2312" pitchFamily="49" charset="-122"/>
              </a:rPr>
              <a:t>备注：根据排队论，实际顾客到达和服务时间服从</a:t>
            </a:r>
            <a:r>
              <a:rPr lang="zh-CN" altLang="en-US" sz="2800" b="0" dirty="0">
                <a:solidFill>
                  <a:srgbClr val="FF0000"/>
                </a:solidFill>
                <a:latin typeface="华文楷体" panose="02010600040101010101" pitchFamily="2" charset="-122"/>
                <a:ea typeface="华文楷体" panose="02010600040101010101" pitchFamily="2" charset="-122"/>
                <a:cs typeface="楷体_GB2312" pitchFamily="49" charset="-122"/>
              </a:rPr>
              <a:t>泊松分布</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9" name="Rectangle 2">
            <a:extLst>
              <a:ext uri="{FF2B5EF4-FFF2-40B4-BE49-F238E27FC236}">
                <a16:creationId xmlns:a16="http://schemas.microsoft.com/office/drawing/2014/main" id="{78E55B8E-ACB6-42AC-8F46-ECEA903D2EFB}"/>
              </a:ext>
            </a:extLst>
          </p:cNvPr>
          <p:cNvSpPr>
            <a:spLocks noGrp="1" noChangeArrowheads="1"/>
          </p:cNvSpPr>
          <p:nvPr>
            <p:ph type="title"/>
          </p:nvPr>
        </p:nvSpPr>
        <p:spPr>
          <a:xfrm>
            <a:off x="450936" y="557213"/>
            <a:ext cx="7772400" cy="1143000"/>
          </a:xfrm>
        </p:spPr>
        <p:txBody>
          <a:bodyPr/>
          <a:lstStyle/>
          <a:p>
            <a:pPr eaLnBrk="1" hangingPunct="1">
              <a:defRPr/>
            </a:pPr>
            <a:r>
              <a:rPr lang="en-US" altLang="zh-CN" dirty="0">
                <a:latin typeface="华文楷体" panose="02010600040101010101" pitchFamily="2" charset="-122"/>
                <a:ea typeface="华文楷体" panose="02010600040101010101" pitchFamily="2" charset="-122"/>
              </a:rPr>
              <a:t>[a</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b]</a:t>
            </a:r>
            <a:r>
              <a:rPr lang="zh-CN" altLang="en-US" dirty="0">
                <a:latin typeface="华文楷体" panose="02010600040101010101" pitchFamily="2" charset="-122"/>
                <a:ea typeface="华文楷体" panose="02010600040101010101" pitchFamily="2" charset="-122"/>
              </a:rPr>
              <a:t>之间的随机数的产生：</a:t>
            </a:r>
          </a:p>
        </p:txBody>
      </p:sp>
      <p:sp>
        <p:nvSpPr>
          <p:cNvPr id="260100" name="Rectangle 3">
            <a:extLst>
              <a:ext uri="{FF2B5EF4-FFF2-40B4-BE49-F238E27FC236}">
                <a16:creationId xmlns:a16="http://schemas.microsoft.com/office/drawing/2014/main" id="{CEED164B-5F7A-4314-A41E-46DB289B143B}"/>
              </a:ext>
            </a:extLst>
          </p:cNvPr>
          <p:cNvSpPr>
            <a:spLocks noGrp="1" noChangeArrowheads="1"/>
          </p:cNvSpPr>
          <p:nvPr>
            <p:ph type="body" idx="1"/>
          </p:nvPr>
        </p:nvSpPr>
        <p:spPr>
          <a:xfrm>
            <a:off x="0" y="1612531"/>
            <a:ext cx="11520488" cy="4824412"/>
          </a:xfrm>
        </p:spPr>
        <p:txBody>
          <a:bodyPr>
            <a:normAutofit/>
          </a:bodyPr>
          <a:lstStyle/>
          <a:p>
            <a:pPr lvl="1">
              <a:lnSpc>
                <a:spcPct val="110000"/>
              </a:lnSpc>
              <a:defRPr/>
            </a:pPr>
            <a:r>
              <a:rPr lang="zh-CN" altLang="en-US" sz="2800" b="0" dirty="0">
                <a:latin typeface="华文楷体" panose="02010600040101010101" pitchFamily="2" charset="-122"/>
                <a:ea typeface="华文楷体" panose="02010600040101010101" pitchFamily="2" charset="-122"/>
              </a:rPr>
              <a:t>假如系统的随机数生成器生成的随机数是均匀分布在</a:t>
            </a:r>
            <a:r>
              <a:rPr lang="en-US" altLang="zh-CN" sz="2800" b="0" dirty="0">
                <a:latin typeface="华文楷体" panose="02010600040101010101" pitchFamily="2" charset="-122"/>
                <a:ea typeface="华文楷体" panose="02010600040101010101" pitchFamily="2" charset="-122"/>
              </a:rPr>
              <a:t>0</a:t>
            </a:r>
            <a:r>
              <a:rPr lang="zh-CN" altLang="en-US" sz="2800" b="0" dirty="0">
                <a:latin typeface="华文楷体" panose="02010600040101010101" pitchFamily="2" charset="-122"/>
                <a:ea typeface="华文楷体" panose="02010600040101010101" pitchFamily="2" charset="-122"/>
              </a:rPr>
              <a:t>到</a:t>
            </a:r>
            <a:r>
              <a:rPr lang="en-US" altLang="zh-CN" sz="2800" b="0" dirty="0">
                <a:latin typeface="华文楷体" panose="02010600040101010101" pitchFamily="2" charset="-122"/>
                <a:ea typeface="华文楷体" panose="02010600040101010101" pitchFamily="2" charset="-122"/>
              </a:rPr>
              <a:t>RAND_MAX</a:t>
            </a:r>
            <a:r>
              <a:rPr lang="zh-CN" altLang="en-US" sz="2800" b="0" dirty="0">
                <a:latin typeface="华文楷体" panose="02010600040101010101" pitchFamily="2" charset="-122"/>
                <a:ea typeface="华文楷体" panose="02010600040101010101" pitchFamily="2" charset="-122"/>
              </a:rPr>
              <a:t>之间，包括</a:t>
            </a:r>
            <a:r>
              <a:rPr lang="en-US" altLang="zh-CN" sz="2800" b="0" dirty="0">
                <a:latin typeface="华文楷体" panose="02010600040101010101" pitchFamily="2" charset="-122"/>
                <a:ea typeface="华文楷体" panose="02010600040101010101" pitchFamily="2" charset="-122"/>
              </a:rPr>
              <a:t>0</a:t>
            </a:r>
            <a:r>
              <a:rPr lang="zh-CN" altLang="en-US" sz="2800" b="0" dirty="0">
                <a:latin typeface="华文楷体" panose="02010600040101010101" pitchFamily="2" charset="-122"/>
                <a:ea typeface="华文楷体" panose="02010600040101010101" pitchFamily="2" charset="-122"/>
              </a:rPr>
              <a:t>和</a:t>
            </a:r>
            <a:r>
              <a:rPr lang="en-US" altLang="zh-CN" sz="2800" b="0" dirty="0">
                <a:latin typeface="华文楷体" panose="02010600040101010101" pitchFamily="2" charset="-122"/>
                <a:ea typeface="华文楷体" panose="02010600040101010101" pitchFamily="2" charset="-122"/>
              </a:rPr>
              <a:t>RAND_MAX</a:t>
            </a:r>
            <a:endParaRPr lang="zh-CN" altLang="en-US" sz="2800" b="0" dirty="0">
              <a:latin typeface="华文楷体" panose="02010600040101010101" pitchFamily="2" charset="-122"/>
              <a:ea typeface="华文楷体" panose="02010600040101010101" pitchFamily="2" charset="-122"/>
            </a:endParaRPr>
          </a:p>
          <a:p>
            <a:pPr lvl="1">
              <a:lnSpc>
                <a:spcPct val="110000"/>
              </a:lnSpc>
              <a:defRPr/>
            </a:pPr>
            <a:r>
              <a:rPr lang="zh-CN" altLang="en-US" sz="2800" b="0" dirty="0">
                <a:latin typeface="华文楷体" panose="02010600040101010101" pitchFamily="2" charset="-122"/>
                <a:ea typeface="华文楷体" panose="02010600040101010101" pitchFamily="2" charset="-122"/>
              </a:rPr>
              <a:t>把数轴上</a:t>
            </a:r>
            <a:r>
              <a:rPr lang="en-US" altLang="zh-CN" sz="2800" b="0" dirty="0">
                <a:latin typeface="华文楷体" panose="02010600040101010101" pitchFamily="2" charset="-122"/>
                <a:ea typeface="华文楷体" panose="02010600040101010101" pitchFamily="2" charset="-122"/>
              </a:rPr>
              <a:t>0</a:t>
            </a:r>
            <a:r>
              <a:rPr lang="zh-CN" altLang="en-US" sz="2800" b="0" dirty="0">
                <a:latin typeface="华文楷体" panose="02010600040101010101" pitchFamily="2" charset="-122"/>
                <a:ea typeface="华文楷体" panose="02010600040101010101" pitchFamily="2" charset="-122"/>
              </a:rPr>
              <a:t>到</a:t>
            </a:r>
            <a:r>
              <a:rPr lang="en-US" altLang="zh-CN" sz="2800" b="0" dirty="0">
                <a:latin typeface="华文楷体" panose="02010600040101010101" pitchFamily="2" charset="-122"/>
                <a:ea typeface="华文楷体" panose="02010600040101010101" pitchFamily="2" charset="-122"/>
              </a:rPr>
              <a:t>RAND_MAX</a:t>
            </a:r>
            <a:r>
              <a:rPr lang="zh-CN" altLang="en-US" sz="2800" b="0" dirty="0">
                <a:latin typeface="华文楷体" panose="02010600040101010101" pitchFamily="2" charset="-122"/>
                <a:ea typeface="华文楷体" panose="02010600040101010101" pitchFamily="2" charset="-122"/>
              </a:rPr>
              <a:t>之间的区间等分成</a:t>
            </a:r>
            <a:r>
              <a:rPr lang="en-US" altLang="zh-CN" sz="2800" b="0" dirty="0">
                <a:latin typeface="华文楷体" panose="02010600040101010101" pitchFamily="2" charset="-122"/>
                <a:ea typeface="华文楷体" panose="02010600040101010101" pitchFamily="2" charset="-122"/>
              </a:rPr>
              <a:t>b-a+1</a:t>
            </a:r>
            <a:r>
              <a:rPr lang="zh-CN" altLang="en-US" sz="2800" b="0" dirty="0">
                <a:latin typeface="华文楷体" panose="02010600040101010101" pitchFamily="2" charset="-122"/>
                <a:ea typeface="华文楷体" panose="02010600040101010101" pitchFamily="2" charset="-122"/>
              </a:rPr>
              <a:t>份；当生成的随机数落在第一个区间中，则表示生成的是</a:t>
            </a:r>
            <a:r>
              <a:rPr lang="en-US" altLang="zh-CN" sz="2800" b="0" dirty="0">
                <a:latin typeface="华文楷体" panose="02010600040101010101" pitchFamily="2" charset="-122"/>
                <a:ea typeface="华文楷体" panose="02010600040101010101" pitchFamily="2" charset="-122"/>
              </a:rPr>
              <a:t>a</a:t>
            </a:r>
            <a:r>
              <a:rPr lang="zh-CN" altLang="en-US" sz="2800" b="0" dirty="0">
                <a:latin typeface="华文楷体" panose="02010600040101010101" pitchFamily="2" charset="-122"/>
                <a:ea typeface="华文楷体" panose="02010600040101010101" pitchFamily="2" charset="-122"/>
              </a:rPr>
              <a:t>；当落在第二个区间中时，表示生成的是</a:t>
            </a:r>
            <a:r>
              <a:rPr lang="en-US" altLang="zh-CN" sz="2800" b="0" dirty="0">
                <a:latin typeface="华文楷体" panose="02010600040101010101" pitchFamily="2" charset="-122"/>
                <a:ea typeface="华文楷体" panose="02010600040101010101" pitchFamily="2" charset="-122"/>
              </a:rPr>
              <a:t>a+1;……</a:t>
            </a:r>
            <a:r>
              <a:rPr lang="zh-CN" altLang="en-US" sz="2800" b="0" dirty="0">
                <a:latin typeface="华文楷体" panose="02010600040101010101" pitchFamily="2" charset="-122"/>
                <a:ea typeface="华文楷体" panose="02010600040101010101" pitchFamily="2" charset="-122"/>
              </a:rPr>
              <a:t>，当落在最后一个区间时，表示生成的是</a:t>
            </a:r>
            <a:r>
              <a:rPr lang="en-US" altLang="zh-CN" sz="2800" b="0" dirty="0">
                <a:latin typeface="华文楷体" panose="02010600040101010101" pitchFamily="2" charset="-122"/>
                <a:ea typeface="华文楷体" panose="02010600040101010101" pitchFamily="2" charset="-122"/>
              </a:rPr>
              <a:t>b</a:t>
            </a:r>
            <a:endParaRPr lang="zh-CN" altLang="en-US" sz="2800" b="0" dirty="0">
              <a:latin typeface="华文楷体" panose="02010600040101010101" pitchFamily="2" charset="-122"/>
              <a:ea typeface="华文楷体" panose="02010600040101010101" pitchFamily="2" charset="-122"/>
            </a:endParaRPr>
          </a:p>
          <a:p>
            <a:pPr lvl="1">
              <a:lnSpc>
                <a:spcPct val="110000"/>
              </a:lnSpc>
              <a:defRPr/>
            </a:pPr>
            <a:r>
              <a:rPr lang="zh-CN" altLang="en-US" sz="2800" b="0" dirty="0">
                <a:latin typeface="华文楷体" panose="02010600040101010101" pitchFamily="2" charset="-122"/>
                <a:ea typeface="华文楷体" panose="02010600040101010101" pitchFamily="2" charset="-122"/>
              </a:rPr>
              <a:t>这个转换可以用一个简单的算术表达式</a:t>
            </a:r>
            <a:endParaRPr lang="en-US" altLang="zh-CN" sz="2800" b="0" dirty="0">
              <a:latin typeface="华文楷体" panose="02010600040101010101" pitchFamily="2" charset="-122"/>
              <a:ea typeface="华文楷体" panose="02010600040101010101" pitchFamily="2" charset="-122"/>
            </a:endParaRPr>
          </a:p>
          <a:p>
            <a:pPr marL="457200" lvl="1" indent="0">
              <a:lnSpc>
                <a:spcPct val="110000"/>
              </a:lnSpc>
              <a:buNone/>
              <a:defRPr/>
            </a:pPr>
            <a:r>
              <a:rPr lang="en-US" altLang="zh-CN" sz="2800" b="0" dirty="0">
                <a:latin typeface="华文楷体" panose="02010600040101010101" pitchFamily="2" charset="-122"/>
                <a:ea typeface="华文楷体" panose="02010600040101010101" pitchFamily="2" charset="-122"/>
              </a:rPr>
              <a:t>         rand() * (b – a + 1)/(RAND_MAX + 1) + a</a:t>
            </a:r>
            <a:r>
              <a:rPr lang="zh-CN" altLang="en-US" sz="2800" b="0" dirty="0">
                <a:latin typeface="华文楷体" panose="02010600040101010101" pitchFamily="2" charset="-122"/>
                <a:ea typeface="华文楷体" panose="02010600040101010101" pitchFamily="2" charset="-122"/>
              </a:rPr>
              <a:t>   </a:t>
            </a:r>
          </a:p>
        </p:txBody>
      </p:sp>
      <p:sp>
        <p:nvSpPr>
          <p:cNvPr id="2" name="文本框 1">
            <a:extLst>
              <a:ext uri="{FF2B5EF4-FFF2-40B4-BE49-F238E27FC236}">
                <a16:creationId xmlns:a16="http://schemas.microsoft.com/office/drawing/2014/main" id="{19A8067E-5D82-472A-BFA1-70C8EB24F1AA}"/>
              </a:ext>
            </a:extLst>
          </p:cNvPr>
          <p:cNvSpPr txBox="1">
            <a:spLocks noChangeArrowheads="1"/>
          </p:cNvSpPr>
          <p:nvPr/>
        </p:nvSpPr>
        <p:spPr bwMode="auto">
          <a:xfrm>
            <a:off x="895350" y="5524500"/>
            <a:ext cx="834707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0"/>
              </a:spcBef>
              <a:buClrTx/>
              <a:buSzTx/>
              <a:buFontTx/>
              <a:buNone/>
            </a:pPr>
            <a:r>
              <a:rPr lang="zh-CN" altLang="en-US" sz="4400">
                <a:solidFill>
                  <a:srgbClr val="FF0000"/>
                </a:solidFill>
                <a:latin typeface="Arial" panose="020B0604020202020204" pitchFamily="34" charset="0"/>
                <a:ea typeface="宋体" panose="02010600030101010101" pitchFamily="2" charset="-122"/>
              </a:rPr>
              <a:t>推荐：   </a:t>
            </a:r>
            <a:r>
              <a:rPr lang="en-US" altLang="zh-CN" sz="4400">
                <a:solidFill>
                  <a:srgbClr val="FF0000"/>
                </a:solidFill>
                <a:latin typeface="Arial" panose="020B0604020202020204" pitchFamily="34" charset="0"/>
                <a:ea typeface="宋体" panose="02010600030101010101" pitchFamily="2" charset="-122"/>
              </a:rPr>
              <a:t>rand() % (b – a + 1) + a</a:t>
            </a:r>
            <a:endParaRPr lang="zh-CN" altLang="en-US" sz="440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3" name="Rectangle 2">
            <a:extLst>
              <a:ext uri="{FF2B5EF4-FFF2-40B4-BE49-F238E27FC236}">
                <a16:creationId xmlns:a16="http://schemas.microsoft.com/office/drawing/2014/main" id="{1FF2CC1B-0137-4447-A407-A491F4BA668D}"/>
              </a:ext>
            </a:extLst>
          </p:cNvPr>
          <p:cNvSpPr>
            <a:spLocks noGrp="1" noChangeArrowheads="1"/>
          </p:cNvSpPr>
          <p:nvPr>
            <p:ph type="title"/>
          </p:nvPr>
        </p:nvSpPr>
        <p:spPr>
          <a:xfrm>
            <a:off x="504673" y="508739"/>
            <a:ext cx="7772400" cy="1143000"/>
          </a:xfrm>
        </p:spPr>
        <p:txBody>
          <a:bodyPr/>
          <a:lstStyle/>
          <a:p>
            <a:pPr eaLnBrk="1" hangingPunct="1">
              <a:defRPr/>
            </a:pPr>
            <a:r>
              <a:rPr lang="zh-CN" altLang="en-US" dirty="0">
                <a:latin typeface="华文楷体" panose="02010600040101010101" pitchFamily="2" charset="-122"/>
                <a:ea typeface="华文楷体" panose="02010600040101010101" pitchFamily="2" charset="-122"/>
              </a:rPr>
              <a:t>虚拟时间：</a:t>
            </a:r>
          </a:p>
        </p:txBody>
      </p:sp>
      <p:sp>
        <p:nvSpPr>
          <p:cNvPr id="286723" name="Rectangle 3">
            <a:extLst>
              <a:ext uri="{FF2B5EF4-FFF2-40B4-BE49-F238E27FC236}">
                <a16:creationId xmlns:a16="http://schemas.microsoft.com/office/drawing/2014/main" id="{07B61EFB-3CE5-41F5-B4B9-47DD33BBCEA9}"/>
              </a:ext>
            </a:extLst>
          </p:cNvPr>
          <p:cNvSpPr>
            <a:spLocks noGrp="1" noChangeArrowheads="1"/>
          </p:cNvSpPr>
          <p:nvPr>
            <p:ph type="body" idx="1"/>
          </p:nvPr>
        </p:nvSpPr>
        <p:spPr>
          <a:xfrm>
            <a:off x="1" y="1555750"/>
            <a:ext cx="10897644" cy="4968875"/>
          </a:xfrm>
        </p:spPr>
        <p:txBody>
          <a:bodyPr>
            <a:normAutofit/>
          </a:bodyPr>
          <a:lstStyle/>
          <a:p>
            <a:pPr lvl="1">
              <a:lnSpc>
                <a:spcPct val="110000"/>
              </a:lnSpc>
            </a:pPr>
            <a:r>
              <a:rPr lang="zh-CN" altLang="en-US" sz="2800" b="0" dirty="0">
                <a:latin typeface="华文楷体" panose="02010600040101010101" pitchFamily="2" charset="-122"/>
                <a:ea typeface="华文楷体" panose="02010600040101010101" pitchFamily="2" charset="-122"/>
                <a:cs typeface="楷体_GB2312" pitchFamily="49" charset="-122"/>
              </a:rPr>
              <a:t>模拟系统是一个虚拟的系统。当我们得到了在</a:t>
            </a:r>
            <a:r>
              <a:rPr lang="en-US" altLang="zh-CN" sz="2800" b="0" dirty="0">
                <a:latin typeface="华文楷体" panose="02010600040101010101" pitchFamily="2" charset="-122"/>
                <a:ea typeface="华文楷体" panose="02010600040101010101" pitchFamily="2" charset="-122"/>
                <a:cs typeface="楷体_GB2312" pitchFamily="49" charset="-122"/>
              </a:rPr>
              <a:t>x</a:t>
            </a:r>
            <a:r>
              <a:rPr lang="zh-CN" altLang="en-US" sz="2800" b="0" dirty="0">
                <a:latin typeface="华文楷体" panose="02010600040101010101" pitchFamily="2" charset="-122"/>
                <a:ea typeface="华文楷体" panose="02010600040101010101" pitchFamily="2" charset="-122"/>
                <a:cs typeface="楷体_GB2312" pitchFamily="49" charset="-122"/>
              </a:rPr>
              <a:t>秒后有一个事件生成的信息时，并不真正需要让系统等待</a:t>
            </a:r>
            <a:r>
              <a:rPr lang="en-US" altLang="zh-CN" sz="2800" b="0" dirty="0">
                <a:latin typeface="华文楷体" panose="02010600040101010101" pitchFamily="2" charset="-122"/>
                <a:ea typeface="华文楷体" panose="02010600040101010101" pitchFamily="2" charset="-122"/>
                <a:cs typeface="楷体_GB2312" pitchFamily="49" charset="-122"/>
              </a:rPr>
              <a:t>x</a:t>
            </a:r>
            <a:r>
              <a:rPr lang="zh-CN" altLang="en-US" sz="2800" b="0" dirty="0">
                <a:latin typeface="华文楷体" panose="02010600040101010101" pitchFamily="2" charset="-122"/>
                <a:ea typeface="华文楷体" panose="02010600040101010101" pitchFamily="2" charset="-122"/>
                <a:cs typeface="楷体_GB2312" pitchFamily="49" charset="-122"/>
              </a:rPr>
              <a:t>秒，然后处理该事件</a:t>
            </a:r>
          </a:p>
          <a:p>
            <a:pPr lvl="1">
              <a:lnSpc>
                <a:spcPct val="110000"/>
              </a:lnSpc>
            </a:pPr>
            <a:r>
              <a:rPr lang="zh-CN" altLang="en-US" sz="2800" b="0" dirty="0">
                <a:latin typeface="华文楷体" panose="02010600040101010101" pitchFamily="2" charset="-122"/>
                <a:ea typeface="华文楷体" panose="02010600040101010101" pitchFamily="2" charset="-122"/>
                <a:cs typeface="楷体_GB2312" pitchFamily="49" charset="-122"/>
              </a:rPr>
              <a:t>在模拟系统中，一般不需要使用真实的精确时间，只要用一个时间单位即可，我们把这个时间单位叫做一个嘀嗒</a:t>
            </a:r>
          </a:p>
          <a:p>
            <a:pPr lvl="1">
              <a:lnSpc>
                <a:spcPct val="110000"/>
              </a:lnSpc>
            </a:pPr>
            <a:r>
              <a:rPr lang="zh-CN" altLang="en-US" sz="2800" b="0" dirty="0">
                <a:latin typeface="华文楷体" panose="02010600040101010101" pitchFamily="2" charset="-122"/>
                <a:ea typeface="华文楷体" panose="02010600040101010101" pitchFamily="2" charset="-122"/>
                <a:cs typeface="楷体_GB2312" pitchFamily="49" charset="-122"/>
              </a:rPr>
              <a:t>一个嘀嗒可以表示</a:t>
            </a:r>
            <a:r>
              <a:rPr lang="en-US" altLang="zh-CN" sz="2800" b="0" dirty="0">
                <a:latin typeface="华文楷体" panose="02010600040101010101" pitchFamily="2" charset="-122"/>
                <a:ea typeface="华文楷体" panose="02010600040101010101" pitchFamily="2" charset="-122"/>
                <a:cs typeface="楷体_GB2312" pitchFamily="49" charset="-122"/>
              </a:rPr>
              <a:t>1</a:t>
            </a:r>
            <a:r>
              <a:rPr lang="zh-CN" altLang="en-US" sz="2800" b="0" dirty="0">
                <a:latin typeface="华文楷体" panose="02010600040101010101" pitchFamily="2" charset="-122"/>
                <a:ea typeface="华文楷体" panose="02010600040101010101" pitchFamily="2" charset="-122"/>
                <a:cs typeface="楷体_GB2312" pitchFamily="49" charset="-122"/>
              </a:rPr>
              <a:t>秒，也可以表示</a:t>
            </a:r>
            <a:r>
              <a:rPr lang="en-US" altLang="zh-CN" sz="2800" b="0" dirty="0">
                <a:latin typeface="华文楷体" panose="02010600040101010101" pitchFamily="2" charset="-122"/>
                <a:ea typeface="华文楷体" panose="02010600040101010101" pitchFamily="2" charset="-122"/>
                <a:cs typeface="楷体_GB2312" pitchFamily="49" charset="-122"/>
              </a:rPr>
              <a:t>1</a:t>
            </a:r>
            <a:r>
              <a:rPr lang="zh-CN" altLang="en-US" sz="2800" b="0" dirty="0">
                <a:latin typeface="华文楷体" panose="02010600040101010101" pitchFamily="2" charset="-122"/>
                <a:ea typeface="华文楷体" panose="02010600040101010101" pitchFamily="2" charset="-122"/>
                <a:cs typeface="楷体_GB2312" pitchFamily="49" charset="-122"/>
              </a:rPr>
              <a:t>分钟，也可以表示一小时，这根据应用来决定</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7" name="Rectangle 2">
            <a:extLst>
              <a:ext uri="{FF2B5EF4-FFF2-40B4-BE49-F238E27FC236}">
                <a16:creationId xmlns:a16="http://schemas.microsoft.com/office/drawing/2014/main" id="{21EFD041-0B5F-4FD8-970D-633B27C51ED5}"/>
              </a:ext>
            </a:extLst>
          </p:cNvPr>
          <p:cNvSpPr>
            <a:spLocks noGrp="1" noChangeArrowheads="1"/>
          </p:cNvSpPr>
          <p:nvPr>
            <p:ph type="title"/>
          </p:nvPr>
        </p:nvSpPr>
        <p:spPr/>
        <p:txBody>
          <a:bodyPr/>
          <a:lstStyle/>
          <a:p>
            <a:pPr eaLnBrk="1" hangingPunct="1">
              <a:defRPr/>
            </a:pPr>
            <a:r>
              <a:rPr lang="zh-CN" altLang="en-US" dirty="0">
                <a:latin typeface="华文楷体" panose="02010600040101010101" pitchFamily="2" charset="-122"/>
                <a:ea typeface="华文楷体" panose="02010600040101010101" pitchFamily="2" charset="-122"/>
              </a:rPr>
              <a:t>离散的时间驱动模拟：</a:t>
            </a:r>
          </a:p>
        </p:txBody>
      </p:sp>
      <p:sp>
        <p:nvSpPr>
          <p:cNvPr id="287747" name="Rectangle 3">
            <a:extLst>
              <a:ext uri="{FF2B5EF4-FFF2-40B4-BE49-F238E27FC236}">
                <a16:creationId xmlns:a16="http://schemas.microsoft.com/office/drawing/2014/main" id="{82F1AD08-94C6-4E80-A27D-44DE6895C472}"/>
              </a:ext>
            </a:extLst>
          </p:cNvPr>
          <p:cNvSpPr>
            <a:spLocks noGrp="1" noChangeArrowheads="1"/>
          </p:cNvSpPr>
          <p:nvPr>
            <p:ph type="body" idx="1"/>
          </p:nvPr>
        </p:nvSpPr>
        <p:spPr>
          <a:xfrm>
            <a:off x="0" y="1383780"/>
            <a:ext cx="11209338" cy="4471988"/>
          </a:xfrm>
        </p:spPr>
        <p:txBody>
          <a:bodyPr>
            <a:normAutofit/>
          </a:bodyPr>
          <a:lstStyle/>
          <a:p>
            <a:pPr lvl="1">
              <a:lnSpc>
                <a:spcPct val="110000"/>
              </a:lnSpc>
            </a:pPr>
            <a:r>
              <a:rPr lang="zh-CN" altLang="en-US" sz="2800" b="0" dirty="0">
                <a:latin typeface="华文楷体" panose="02010600040101010101" pitchFamily="2" charset="-122"/>
                <a:ea typeface="华文楷体" panose="02010600040101010101" pitchFamily="2" charset="-122"/>
                <a:cs typeface="楷体_GB2312" pitchFamily="49" charset="-122"/>
              </a:rPr>
              <a:t>沿着时间轴，模拟每一个嘀嗒中发生了什么事件并处理该事件</a:t>
            </a:r>
          </a:p>
          <a:p>
            <a:pPr lvl="1">
              <a:lnSpc>
                <a:spcPct val="110000"/>
              </a:lnSpc>
            </a:pPr>
            <a:r>
              <a:rPr lang="zh-CN" altLang="en-US" sz="2800" b="0" dirty="0">
                <a:latin typeface="华文楷体" panose="02010600040101010101" pitchFamily="2" charset="-122"/>
                <a:ea typeface="华文楷体" panose="02010600040101010101" pitchFamily="2" charset="-122"/>
                <a:cs typeface="楷体_GB2312" pitchFamily="49" charset="-122"/>
              </a:rPr>
              <a:t>模拟开始时时钟是</a:t>
            </a:r>
            <a:r>
              <a:rPr lang="en-US" altLang="zh-CN" sz="2800" b="0" dirty="0">
                <a:latin typeface="华文楷体" panose="02010600040101010101" pitchFamily="2" charset="-122"/>
                <a:ea typeface="华文楷体" panose="02010600040101010101" pitchFamily="2" charset="-122"/>
                <a:cs typeface="楷体_GB2312" pitchFamily="49" charset="-122"/>
              </a:rPr>
              <a:t>0 </a:t>
            </a:r>
            <a:r>
              <a:rPr lang="zh-CN" altLang="en-US" sz="2800" b="0" dirty="0">
                <a:latin typeface="华文楷体" panose="02010600040101010101" pitchFamily="2" charset="-122"/>
                <a:ea typeface="华文楷体" panose="02010600040101010101" pitchFamily="2" charset="-122"/>
                <a:cs typeface="楷体_GB2312" pitchFamily="49" charset="-122"/>
              </a:rPr>
              <a:t>嘀嗒，随后</a:t>
            </a:r>
            <a:r>
              <a:rPr lang="zh-CN" altLang="en-US" sz="2800" b="0" dirty="0">
                <a:solidFill>
                  <a:srgbClr val="FF0000"/>
                </a:solidFill>
                <a:latin typeface="华文楷体" panose="02010600040101010101" pitchFamily="2" charset="-122"/>
                <a:ea typeface="华文楷体" panose="02010600040101010101" pitchFamily="2" charset="-122"/>
                <a:cs typeface="楷体_GB2312" pitchFamily="49" charset="-122"/>
              </a:rPr>
              <a:t>每一步</a:t>
            </a:r>
            <a:r>
              <a:rPr lang="zh-CN" altLang="en-US" sz="2800" b="0" dirty="0">
                <a:latin typeface="华文楷体" panose="02010600040101010101" pitchFamily="2" charset="-122"/>
                <a:ea typeface="华文楷体" panose="02010600040101010101" pitchFamily="2" charset="-122"/>
                <a:cs typeface="楷体_GB2312" pitchFamily="49" charset="-122"/>
              </a:rPr>
              <a:t>都把时钟加</a:t>
            </a:r>
            <a:r>
              <a:rPr lang="en-US" altLang="zh-CN" sz="2800" b="0" dirty="0">
                <a:latin typeface="华文楷体" panose="02010600040101010101" pitchFamily="2" charset="-122"/>
                <a:ea typeface="华文楷体" panose="02010600040101010101" pitchFamily="2" charset="-122"/>
                <a:cs typeface="楷体_GB2312" pitchFamily="49" charset="-122"/>
              </a:rPr>
              <a:t>1 </a:t>
            </a:r>
            <a:r>
              <a:rPr lang="zh-CN" altLang="en-US" sz="2800" b="0" dirty="0">
                <a:latin typeface="华文楷体" panose="02010600040101010101" pitchFamily="2" charset="-122"/>
                <a:ea typeface="华文楷体" panose="02010600040101010101" pitchFamily="2" charset="-122"/>
                <a:cs typeface="楷体_GB2312" pitchFamily="49" charset="-122"/>
              </a:rPr>
              <a:t>嘀嗒，并检查这个时间是否有事件发生；如果有事件发生，我们就处理该事件并生成统计信息；当到达规定时间时，模拟结束</a:t>
            </a:r>
            <a:endParaRPr lang="en-US" altLang="zh-CN" sz="2800" b="0" dirty="0">
              <a:latin typeface="华文楷体" panose="02010600040101010101" pitchFamily="2" charset="-122"/>
              <a:ea typeface="华文楷体" panose="02010600040101010101" pitchFamily="2" charset="-122"/>
              <a:cs typeface="楷体_GB2312" pitchFamily="49" charset="-122"/>
            </a:endParaRPr>
          </a:p>
          <a:p>
            <a:pPr lvl="1">
              <a:lnSpc>
                <a:spcPct val="110000"/>
              </a:lnSpc>
            </a:pPr>
            <a:r>
              <a:rPr lang="zh-CN" altLang="en-US" sz="2800" b="0" dirty="0">
                <a:latin typeface="华文楷体" panose="02010600040101010101" pitchFamily="2" charset="-122"/>
                <a:ea typeface="华文楷体" panose="02010600040101010101" pitchFamily="2" charset="-122"/>
                <a:cs typeface="楷体_GB2312" pitchFamily="49" charset="-122"/>
              </a:rPr>
              <a:t>缺陷：离散的时间驱动模拟连续地处理</a:t>
            </a:r>
            <a:r>
              <a:rPr lang="zh-CN" altLang="en-US" sz="2800" b="0" dirty="0">
                <a:solidFill>
                  <a:srgbClr val="FF0000"/>
                </a:solidFill>
                <a:latin typeface="华文楷体" panose="02010600040101010101" pitchFamily="2" charset="-122"/>
                <a:ea typeface="华文楷体" panose="02010600040101010101" pitchFamily="2" charset="-122"/>
                <a:cs typeface="楷体_GB2312" pitchFamily="49" charset="-122"/>
              </a:rPr>
              <a:t>每个时间</a:t>
            </a:r>
            <a:r>
              <a:rPr lang="zh-CN" altLang="en-US" sz="2800" b="0" dirty="0">
                <a:latin typeface="华文楷体" panose="02010600040101010101" pitchFamily="2" charset="-122"/>
                <a:ea typeface="华文楷体" panose="02010600040101010101" pitchFamily="2" charset="-122"/>
                <a:cs typeface="楷体_GB2312" pitchFamily="49" charset="-122"/>
              </a:rPr>
              <a:t>单位；这种模拟对于时间间隔</a:t>
            </a:r>
            <a:r>
              <a:rPr lang="zh-CN" altLang="en-US" sz="2800" b="0" dirty="0">
                <a:solidFill>
                  <a:srgbClr val="FF0000"/>
                </a:solidFill>
                <a:latin typeface="华文楷体" panose="02010600040101010101" pitchFamily="2" charset="-122"/>
                <a:ea typeface="华文楷体" panose="02010600040101010101" pitchFamily="2" charset="-122"/>
                <a:cs typeface="楷体_GB2312" pitchFamily="49" charset="-122"/>
              </a:rPr>
              <a:t>很大</a:t>
            </a:r>
            <a:r>
              <a:rPr lang="zh-CN" altLang="en-US" sz="2800" b="0" dirty="0">
                <a:latin typeface="华文楷体" panose="02010600040101010101" pitchFamily="2" charset="-122"/>
                <a:ea typeface="华文楷体" panose="02010600040101010101" pitchFamily="2" charset="-122"/>
                <a:cs typeface="楷体_GB2312" pitchFamily="49" charset="-122"/>
              </a:rPr>
              <a:t>的事件很</a:t>
            </a:r>
            <a:r>
              <a:rPr lang="zh-CN" altLang="en-US" sz="2800" b="0" dirty="0">
                <a:solidFill>
                  <a:srgbClr val="FF0000"/>
                </a:solidFill>
                <a:latin typeface="华文楷体" panose="02010600040101010101" pitchFamily="2" charset="-122"/>
                <a:ea typeface="华文楷体" panose="02010600040101010101" pitchFamily="2" charset="-122"/>
                <a:cs typeface="楷体_GB2312" pitchFamily="49" charset="-122"/>
              </a:rPr>
              <a:t>不</a:t>
            </a:r>
            <a:r>
              <a:rPr lang="zh-CN" altLang="en-US" sz="2800" b="0" dirty="0">
                <a:latin typeface="华文楷体" panose="02010600040101010101" pitchFamily="2" charset="-122"/>
                <a:ea typeface="华文楷体" panose="02010600040101010101" pitchFamily="2" charset="-122"/>
                <a:cs typeface="楷体_GB2312" pitchFamily="49" charset="-122"/>
              </a:rPr>
              <a:t>适合。如果在很长的一段时间中没有任何事情发生，程序还必须检查每个嘀嗒中是否有事件发生。这将浪费计算机的时间</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5" name="Rectangle 2">
            <a:extLst>
              <a:ext uri="{FF2B5EF4-FFF2-40B4-BE49-F238E27FC236}">
                <a16:creationId xmlns:a16="http://schemas.microsoft.com/office/drawing/2014/main" id="{2F45BB12-541D-4197-A258-FDE5668CAE05}"/>
              </a:ext>
            </a:extLst>
          </p:cNvPr>
          <p:cNvSpPr>
            <a:spLocks noGrp="1" noChangeArrowheads="1"/>
          </p:cNvSpPr>
          <p:nvPr>
            <p:ph type="title"/>
          </p:nvPr>
        </p:nvSpPr>
        <p:spPr/>
        <p:txBody>
          <a:bodyPr/>
          <a:lstStyle/>
          <a:p>
            <a:pPr eaLnBrk="1" hangingPunct="1">
              <a:defRPr/>
            </a:pPr>
            <a:r>
              <a:rPr lang="zh-CN" altLang="en-US" dirty="0">
                <a:latin typeface="华文楷体" panose="02010600040101010101" pitchFamily="2" charset="-122"/>
                <a:ea typeface="华文楷体" panose="02010600040101010101" pitchFamily="2" charset="-122"/>
              </a:rPr>
              <a:t>事件驱动模拟：</a:t>
            </a:r>
          </a:p>
        </p:txBody>
      </p:sp>
      <p:sp>
        <p:nvSpPr>
          <p:cNvPr id="288771" name="Rectangle 3">
            <a:extLst>
              <a:ext uri="{FF2B5EF4-FFF2-40B4-BE49-F238E27FC236}">
                <a16:creationId xmlns:a16="http://schemas.microsoft.com/office/drawing/2014/main" id="{FCE56607-2BD4-4440-83E9-313AD0E497B3}"/>
              </a:ext>
            </a:extLst>
          </p:cNvPr>
          <p:cNvSpPr>
            <a:spLocks noGrp="1" noChangeArrowheads="1"/>
          </p:cNvSpPr>
          <p:nvPr>
            <p:ph type="body" idx="1"/>
          </p:nvPr>
        </p:nvSpPr>
        <p:spPr>
          <a:xfrm>
            <a:off x="0" y="1780784"/>
            <a:ext cx="11213988" cy="4114800"/>
          </a:xfrm>
        </p:spPr>
        <p:txBody>
          <a:bodyPr>
            <a:normAutofit/>
          </a:bodyPr>
          <a:lstStyle/>
          <a:p>
            <a:pPr lvl="1">
              <a:lnSpc>
                <a:spcPct val="130000"/>
              </a:lnSpc>
            </a:pPr>
            <a:r>
              <a:rPr lang="zh-CN" altLang="en-US" sz="2800" b="0" dirty="0">
                <a:latin typeface="华文楷体" panose="02010600040101010101" pitchFamily="2" charset="-122"/>
                <a:ea typeface="华文楷体" panose="02010600040101010101" pitchFamily="2" charset="-122"/>
                <a:cs typeface="楷体_GB2312" pitchFamily="49" charset="-122"/>
              </a:rPr>
              <a:t>将事件按照发生时间排队，当一个事件处理结束后，直接将时间</a:t>
            </a:r>
            <a:r>
              <a:rPr lang="zh-CN" altLang="en-US" sz="2800" b="0" dirty="0">
                <a:solidFill>
                  <a:srgbClr val="FF0000"/>
                </a:solidFill>
                <a:latin typeface="华文楷体" panose="02010600040101010101" pitchFamily="2" charset="-122"/>
                <a:ea typeface="华文楷体" panose="02010600040101010101" pitchFamily="2" charset="-122"/>
                <a:cs typeface="楷体_GB2312" pitchFamily="49" charset="-122"/>
              </a:rPr>
              <a:t>拨到</a:t>
            </a:r>
            <a:r>
              <a:rPr lang="zh-CN" altLang="en-US" sz="2800" b="0" dirty="0">
                <a:latin typeface="华文楷体" panose="02010600040101010101" pitchFamily="2" charset="-122"/>
                <a:ea typeface="华文楷体" panose="02010600040101010101" pitchFamily="2" charset="-122"/>
                <a:cs typeface="楷体_GB2312" pitchFamily="49" charset="-122"/>
              </a:rPr>
              <a:t>下一事件的发生时间，处理下一事件</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9" name="Rectangle 2">
            <a:extLst>
              <a:ext uri="{FF2B5EF4-FFF2-40B4-BE49-F238E27FC236}">
                <a16:creationId xmlns:a16="http://schemas.microsoft.com/office/drawing/2014/main" id="{4FBF2F0A-2114-49CF-8AE1-563F32CE9FB8}"/>
              </a:ext>
            </a:extLst>
          </p:cNvPr>
          <p:cNvSpPr>
            <a:spLocks noGrp="1" noChangeArrowheads="1"/>
          </p:cNvSpPr>
          <p:nvPr>
            <p:ph type="title"/>
          </p:nvPr>
        </p:nvSpPr>
        <p:spPr>
          <a:xfrm>
            <a:off x="454570" y="383479"/>
            <a:ext cx="7772400" cy="1143000"/>
          </a:xfrm>
        </p:spPr>
        <p:txBody>
          <a:bodyPr/>
          <a:lstStyle/>
          <a:p>
            <a:pPr eaLnBrk="1" hangingPunct="1">
              <a:defRPr/>
            </a:pPr>
            <a:r>
              <a:rPr lang="zh-CN" altLang="en-US" dirty="0">
                <a:latin typeface="华文楷体" panose="02010600040101010101" pitchFamily="2" charset="-122"/>
                <a:ea typeface="华文楷体" panose="02010600040101010101" pitchFamily="2" charset="-122"/>
              </a:rPr>
              <a:t>银行排队系统的模拟系统：</a:t>
            </a:r>
          </a:p>
        </p:txBody>
      </p:sp>
      <p:sp>
        <p:nvSpPr>
          <p:cNvPr id="289795" name="Rectangle 3">
            <a:extLst>
              <a:ext uri="{FF2B5EF4-FFF2-40B4-BE49-F238E27FC236}">
                <a16:creationId xmlns:a16="http://schemas.microsoft.com/office/drawing/2014/main" id="{1E3DC4FA-39CB-434B-B1CF-A7AA1EFD40CD}"/>
              </a:ext>
            </a:extLst>
          </p:cNvPr>
          <p:cNvSpPr>
            <a:spLocks noGrp="1" noChangeArrowheads="1"/>
          </p:cNvSpPr>
          <p:nvPr>
            <p:ph type="body" idx="1"/>
          </p:nvPr>
        </p:nvSpPr>
        <p:spPr>
          <a:xfrm>
            <a:off x="0" y="1526479"/>
            <a:ext cx="10436225" cy="4968875"/>
          </a:xfrm>
        </p:spPr>
        <p:txBody>
          <a:bodyPr>
            <a:normAutofit/>
          </a:bodyPr>
          <a:lstStyle/>
          <a:p>
            <a:pPr lvl="1"/>
            <a:r>
              <a:rPr lang="zh-CN" altLang="en-US" sz="2800" b="0" dirty="0">
                <a:latin typeface="华文楷体" panose="02010600040101010101" pitchFamily="2" charset="-122"/>
                <a:ea typeface="华文楷体" panose="02010600040101010101" pitchFamily="2" charset="-122"/>
                <a:cs typeface="楷体_GB2312" pitchFamily="49" charset="-122"/>
              </a:rPr>
              <a:t>设计一个最简单的排队系统模拟器，即只有一个服务台的排队系统，希望通过这个模拟器得到顾客的平均排队时间</a:t>
            </a:r>
          </a:p>
          <a:p>
            <a:pPr lvl="1"/>
            <a:r>
              <a:rPr lang="zh-CN" altLang="en-US" sz="2800" b="0" dirty="0">
                <a:latin typeface="华文楷体" panose="02010600040101010101" pitchFamily="2" charset="-122"/>
                <a:ea typeface="华文楷体" panose="02010600040101010101" pitchFamily="2" charset="-122"/>
                <a:cs typeface="楷体_GB2312" pitchFamily="49" charset="-122"/>
              </a:rPr>
              <a:t>银行中只有一个服务台，顾客到达的时间间隔服从</a:t>
            </a:r>
            <a:r>
              <a:rPr lang="en-US" altLang="zh-CN" sz="2800" b="0" dirty="0">
                <a:latin typeface="华文楷体" panose="02010600040101010101" pitchFamily="2" charset="-122"/>
                <a:ea typeface="华文楷体" panose="02010600040101010101" pitchFamily="2" charset="-122"/>
                <a:cs typeface="楷体_GB2312" pitchFamily="49" charset="-122"/>
              </a:rPr>
              <a:t>[</a:t>
            </a:r>
            <a:r>
              <a:rPr lang="en-US" altLang="zh-CN" sz="2800" b="0" dirty="0" err="1">
                <a:latin typeface="华文楷体" panose="02010600040101010101" pitchFamily="2" charset="-122"/>
                <a:ea typeface="华文楷体" panose="02010600040101010101" pitchFamily="2" charset="-122"/>
                <a:cs typeface="楷体_GB2312" pitchFamily="49" charset="-122"/>
              </a:rPr>
              <a:t>arrivaLow</a:t>
            </a:r>
            <a:r>
              <a:rPr lang="en-US" altLang="zh-CN" sz="2800" b="0" dirty="0">
                <a:latin typeface="华文楷体" panose="02010600040101010101" pitchFamily="2" charset="-122"/>
                <a:ea typeface="华文楷体" panose="02010600040101010101" pitchFamily="2" charset="-122"/>
                <a:cs typeface="楷体_GB2312" pitchFamily="49" charset="-122"/>
              </a:rPr>
              <a:t>, </a:t>
            </a:r>
            <a:r>
              <a:rPr lang="en-US" altLang="zh-CN" sz="2800" b="0" dirty="0" err="1">
                <a:latin typeface="华文楷体" panose="02010600040101010101" pitchFamily="2" charset="-122"/>
                <a:ea typeface="华文楷体" panose="02010600040101010101" pitchFamily="2" charset="-122"/>
                <a:cs typeface="楷体_GB2312" pitchFamily="49" charset="-122"/>
              </a:rPr>
              <a:t>arrivalHigh</a:t>
            </a:r>
            <a:r>
              <a:rPr lang="en-US" altLang="zh-CN" sz="2800" b="0" dirty="0">
                <a:latin typeface="华文楷体" panose="02010600040101010101" pitchFamily="2" charset="-122"/>
                <a:ea typeface="华文楷体" panose="02010600040101010101" pitchFamily="2" charset="-122"/>
                <a:cs typeface="楷体_GB2312" pitchFamily="49" charset="-122"/>
              </a:rPr>
              <a:t>]</a:t>
            </a:r>
            <a:r>
              <a:rPr lang="zh-CN" altLang="en-US" sz="2800" b="0" dirty="0">
                <a:latin typeface="华文楷体" panose="02010600040101010101" pitchFamily="2" charset="-122"/>
                <a:ea typeface="华文楷体" panose="02010600040101010101" pitchFamily="2" charset="-122"/>
                <a:cs typeface="楷体_GB2312" pitchFamily="49" charset="-122"/>
              </a:rPr>
              <a:t>的均匀分布，服务时间长度服从</a:t>
            </a:r>
            <a:r>
              <a:rPr lang="en-US" altLang="zh-CN" sz="2800" b="0" dirty="0">
                <a:latin typeface="华文楷体" panose="02010600040101010101" pitchFamily="2" charset="-122"/>
                <a:ea typeface="华文楷体" panose="02010600040101010101" pitchFamily="2" charset="-122"/>
                <a:cs typeface="楷体_GB2312" pitchFamily="49" charset="-122"/>
              </a:rPr>
              <a:t>[</a:t>
            </a:r>
            <a:r>
              <a:rPr lang="en-US" altLang="zh-CN" sz="2800" b="0" dirty="0" err="1">
                <a:latin typeface="华文楷体" panose="02010600040101010101" pitchFamily="2" charset="-122"/>
                <a:ea typeface="华文楷体" panose="02010600040101010101" pitchFamily="2" charset="-122"/>
                <a:cs typeface="楷体_GB2312" pitchFamily="49" charset="-122"/>
              </a:rPr>
              <a:t>serviceTimeLow</a:t>
            </a:r>
            <a:r>
              <a:rPr lang="en-US" altLang="zh-CN" sz="2800" b="0" dirty="0">
                <a:latin typeface="华文楷体" panose="02010600040101010101" pitchFamily="2" charset="-122"/>
                <a:ea typeface="华文楷体" panose="02010600040101010101" pitchFamily="2" charset="-122"/>
                <a:cs typeface="楷体_GB2312" pitchFamily="49" charset="-122"/>
              </a:rPr>
              <a:t>, </a:t>
            </a:r>
            <a:r>
              <a:rPr lang="en-US" altLang="zh-CN" sz="2800" b="0" dirty="0" err="1">
                <a:latin typeface="华文楷体" panose="02010600040101010101" pitchFamily="2" charset="-122"/>
                <a:ea typeface="华文楷体" panose="02010600040101010101" pitchFamily="2" charset="-122"/>
                <a:cs typeface="楷体_GB2312" pitchFamily="49" charset="-122"/>
              </a:rPr>
              <a:t>serviceTimeHigh</a:t>
            </a:r>
            <a:r>
              <a:rPr lang="en-US" altLang="zh-CN" sz="2800" b="0" dirty="0">
                <a:latin typeface="华文楷体" panose="02010600040101010101" pitchFamily="2" charset="-122"/>
                <a:ea typeface="华文楷体" panose="02010600040101010101" pitchFamily="2" charset="-122"/>
                <a:cs typeface="楷体_GB2312" pitchFamily="49" charset="-122"/>
              </a:rPr>
              <a:t>]</a:t>
            </a:r>
            <a:r>
              <a:rPr lang="zh-CN" altLang="en-US" sz="2800" b="0" dirty="0">
                <a:latin typeface="华文楷体" panose="02010600040101010101" pitchFamily="2" charset="-122"/>
                <a:ea typeface="华文楷体" panose="02010600040101010101" pitchFamily="2" charset="-122"/>
                <a:cs typeface="楷体_GB2312" pitchFamily="49" charset="-122"/>
              </a:rPr>
              <a:t>间的均匀分布。</a:t>
            </a:r>
            <a:endParaRPr lang="en-US" altLang="zh-CN" sz="2800" b="0" dirty="0">
              <a:latin typeface="华文楷体" panose="02010600040101010101" pitchFamily="2" charset="-122"/>
              <a:ea typeface="华文楷体" panose="02010600040101010101" pitchFamily="2" charset="-122"/>
              <a:cs typeface="楷体_GB2312" pitchFamily="49" charset="-122"/>
            </a:endParaRPr>
          </a:p>
          <a:p>
            <a:pPr lvl="1"/>
            <a:r>
              <a:rPr lang="zh-CN" altLang="en-US" sz="2800" b="0" dirty="0">
                <a:latin typeface="华文楷体" panose="02010600040101010101" pitchFamily="2" charset="-122"/>
                <a:ea typeface="华文楷体" panose="02010600040101010101" pitchFamily="2" charset="-122"/>
                <a:cs typeface="楷体_GB2312" pitchFamily="49" charset="-122"/>
              </a:rPr>
              <a:t>要求统计顾客的平均排队时间</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3" name="Rectangle 2">
            <a:extLst>
              <a:ext uri="{FF2B5EF4-FFF2-40B4-BE49-F238E27FC236}">
                <a16:creationId xmlns:a16="http://schemas.microsoft.com/office/drawing/2014/main" id="{4BBEB719-7B2F-41FA-9A5B-6BA1A75E84FF}"/>
              </a:ext>
            </a:extLst>
          </p:cNvPr>
          <p:cNvSpPr>
            <a:spLocks noGrp="1" noChangeArrowheads="1"/>
          </p:cNvSpPr>
          <p:nvPr>
            <p:ph type="title"/>
          </p:nvPr>
        </p:nvSpPr>
        <p:spPr>
          <a:xfrm>
            <a:off x="469226" y="433583"/>
            <a:ext cx="7772400" cy="1143000"/>
          </a:xfrm>
        </p:spPr>
        <p:txBody>
          <a:bodyPr/>
          <a:lstStyle/>
          <a:p>
            <a:pPr eaLnBrk="1" hangingPunct="1">
              <a:defRPr/>
            </a:pPr>
            <a:r>
              <a:rPr lang="zh-CN" altLang="en-US" dirty="0">
                <a:latin typeface="华文楷体" panose="02010600040101010101" pitchFamily="2" charset="-122"/>
                <a:ea typeface="华文楷体" panose="02010600040101010101" pitchFamily="2" charset="-122"/>
              </a:rPr>
              <a:t>单服务台的排队系统的实现：</a:t>
            </a:r>
          </a:p>
        </p:txBody>
      </p:sp>
      <p:sp>
        <p:nvSpPr>
          <p:cNvPr id="290819" name="Rectangle 3">
            <a:extLst>
              <a:ext uri="{FF2B5EF4-FFF2-40B4-BE49-F238E27FC236}">
                <a16:creationId xmlns:a16="http://schemas.microsoft.com/office/drawing/2014/main" id="{6F925B1F-5B21-466B-912F-172320B952F0}"/>
              </a:ext>
            </a:extLst>
          </p:cNvPr>
          <p:cNvSpPr>
            <a:spLocks noGrp="1" noChangeArrowheads="1"/>
          </p:cNvSpPr>
          <p:nvPr>
            <p:ph type="body" idx="1"/>
          </p:nvPr>
        </p:nvSpPr>
        <p:spPr>
          <a:xfrm>
            <a:off x="0" y="1339850"/>
            <a:ext cx="11173216" cy="5184775"/>
          </a:xfrm>
        </p:spPr>
        <p:txBody>
          <a:bodyPr>
            <a:normAutofit/>
          </a:bodyPr>
          <a:lstStyle/>
          <a:p>
            <a:pPr lvl="1">
              <a:lnSpc>
                <a:spcPct val="110000"/>
              </a:lnSpc>
            </a:pPr>
            <a:r>
              <a:rPr lang="zh-CN" altLang="en-US" sz="2800" b="0" dirty="0">
                <a:latin typeface="华文楷体" panose="02010600040101010101" pitchFamily="2" charset="-122"/>
                <a:ea typeface="华文楷体" panose="02010600040101010101" pitchFamily="2" charset="-122"/>
                <a:cs typeface="楷体_GB2312" pitchFamily="49" charset="-122"/>
              </a:rPr>
              <a:t>只要使用一个队列</a:t>
            </a:r>
          </a:p>
          <a:p>
            <a:pPr lvl="1">
              <a:lnSpc>
                <a:spcPct val="110000"/>
              </a:lnSpc>
            </a:pPr>
            <a:r>
              <a:rPr lang="zh-CN" altLang="en-US" sz="2800" b="0" dirty="0">
                <a:latin typeface="华文楷体" panose="02010600040101010101" pitchFamily="2" charset="-122"/>
                <a:ea typeface="华文楷体" panose="02010600040101010101" pitchFamily="2" charset="-122"/>
                <a:cs typeface="楷体_GB2312" pitchFamily="49" charset="-122"/>
              </a:rPr>
              <a:t>整个模拟由三个步骤组成：</a:t>
            </a:r>
          </a:p>
          <a:p>
            <a:pPr lvl="2">
              <a:lnSpc>
                <a:spcPct val="110000"/>
              </a:lnSpc>
            </a:pPr>
            <a:r>
              <a:rPr lang="zh-CN" altLang="en-US" sz="2600" b="0" dirty="0">
                <a:latin typeface="华文楷体" panose="02010600040101010101" pitchFamily="2" charset="-122"/>
                <a:ea typeface="华文楷体" panose="02010600040101010101" pitchFamily="2" charset="-122"/>
                <a:cs typeface="楷体_GB2312" pitchFamily="49" charset="-122"/>
              </a:rPr>
              <a:t>首先生成所有的顾客到达事件，按到达时间排成一个队列</a:t>
            </a:r>
          </a:p>
          <a:p>
            <a:pPr lvl="2">
              <a:lnSpc>
                <a:spcPct val="110000"/>
              </a:lnSpc>
            </a:pPr>
            <a:r>
              <a:rPr lang="zh-CN" altLang="en-US" sz="2600" b="0" dirty="0">
                <a:latin typeface="华文楷体" panose="02010600040101010101" pitchFamily="2" charset="-122"/>
                <a:ea typeface="华文楷体" panose="02010600040101010101" pitchFamily="2" charset="-122"/>
                <a:cs typeface="楷体_GB2312" pitchFamily="49" charset="-122"/>
              </a:rPr>
              <a:t>服务员一旦有空，就为队头元素服务，在提供服务前先检查该顾客等待了多少时间，记入累计值</a:t>
            </a:r>
          </a:p>
          <a:p>
            <a:pPr lvl="2">
              <a:lnSpc>
                <a:spcPct val="110000"/>
              </a:lnSpc>
            </a:pPr>
            <a:r>
              <a:rPr lang="zh-CN" altLang="en-US" sz="2600" b="0" dirty="0">
                <a:latin typeface="华文楷体" panose="02010600040101010101" pitchFamily="2" charset="-122"/>
                <a:ea typeface="华文楷体" panose="02010600040101010101" pitchFamily="2" charset="-122"/>
                <a:cs typeface="楷体_GB2312" pitchFamily="49" charset="-122"/>
              </a:rPr>
              <a:t>最后，在所有顾客都服务完以后，返回累计值除以顾客数的结果</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Text Box 4">
            <a:extLst>
              <a:ext uri="{FF2B5EF4-FFF2-40B4-BE49-F238E27FC236}">
                <a16:creationId xmlns:a16="http://schemas.microsoft.com/office/drawing/2014/main" id="{6D3A4C73-07B6-4E3F-843F-CF994BB5EF85}"/>
              </a:ext>
            </a:extLst>
          </p:cNvPr>
          <p:cNvSpPr txBox="1">
            <a:spLocks noChangeArrowheads="1"/>
          </p:cNvSpPr>
          <p:nvPr/>
        </p:nvSpPr>
        <p:spPr bwMode="auto">
          <a:xfrm>
            <a:off x="453024" y="280987"/>
            <a:ext cx="10720192" cy="6296025"/>
          </a:xfrm>
          <a:prstGeom prst="rect">
            <a:avLst/>
          </a:prstGeom>
          <a:solidFill>
            <a:schemeClr val="bg1"/>
          </a:solidFill>
          <a:ln>
            <a:noFill/>
          </a:ln>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lnSpc>
                <a:spcPct val="110000"/>
              </a:lnSpc>
              <a:spcBef>
                <a:spcPct val="0"/>
              </a:spcBef>
              <a:buClrTx/>
              <a:buSzTx/>
              <a:buFontTx/>
              <a:buNone/>
            </a:pPr>
            <a:r>
              <a:rPr lang="en-US" altLang="zh-CN" sz="2400" b="0" dirty="0" err="1">
                <a:latin typeface="楷体_GB2312" pitchFamily="49" charset="-122"/>
              </a:rPr>
              <a:t>totalWaitTime</a:t>
            </a:r>
            <a:r>
              <a:rPr lang="en-US" altLang="zh-CN" sz="2400" b="0" dirty="0">
                <a:latin typeface="楷体_GB2312" pitchFamily="49" charset="-122"/>
              </a:rPr>
              <a:t> = 0;</a:t>
            </a:r>
          </a:p>
          <a:p>
            <a:pPr algn="just" eaLnBrk="1" hangingPunct="1">
              <a:lnSpc>
                <a:spcPct val="110000"/>
              </a:lnSpc>
              <a:spcBef>
                <a:spcPct val="0"/>
              </a:spcBef>
              <a:buClrTx/>
              <a:buSzTx/>
              <a:buFontTx/>
              <a:buNone/>
            </a:pPr>
            <a:r>
              <a:rPr lang="zh-CN" altLang="en-US" sz="2400" b="0" dirty="0">
                <a:latin typeface="楷体_GB2312" pitchFamily="49" charset="-122"/>
              </a:rPr>
              <a:t>设置顾客开始到达的时间</a:t>
            </a:r>
            <a:r>
              <a:rPr lang="en-US" altLang="zh-CN" sz="2400" b="0" dirty="0" err="1">
                <a:latin typeface="楷体_GB2312" pitchFamily="49" charset="-122"/>
              </a:rPr>
              <a:t>currentTime</a:t>
            </a:r>
            <a:r>
              <a:rPr lang="en-US" altLang="zh-CN" sz="2400" b="0" dirty="0">
                <a:latin typeface="楷体_GB2312" pitchFamily="49" charset="-122"/>
              </a:rPr>
              <a:t> = </a:t>
            </a:r>
            <a:r>
              <a:rPr lang="en-US" altLang="zh-CN" sz="2400" b="0" dirty="0">
                <a:solidFill>
                  <a:schemeClr val="accent1">
                    <a:lumMod val="40000"/>
                    <a:lumOff val="60000"/>
                  </a:schemeClr>
                </a:solidFill>
                <a:latin typeface="楷体_GB2312" pitchFamily="49" charset="-122"/>
              </a:rPr>
              <a:t>0</a:t>
            </a:r>
            <a:r>
              <a:rPr lang="en-US" altLang="zh-CN" sz="2400" b="0" dirty="0">
                <a:latin typeface="楷体_GB2312" pitchFamily="49" charset="-122"/>
              </a:rPr>
              <a:t>;  </a:t>
            </a:r>
            <a:r>
              <a:rPr lang="en-US" altLang="zh-CN" sz="2400" b="0" i="1" dirty="0">
                <a:latin typeface="楷体_GB2312" pitchFamily="49" charset="-122"/>
              </a:rPr>
              <a:t>//</a:t>
            </a:r>
            <a:r>
              <a:rPr lang="zh-CN" altLang="en-US" sz="2400" b="0" i="1" dirty="0">
                <a:latin typeface="楷体_GB2312" pitchFamily="49" charset="-122"/>
              </a:rPr>
              <a:t>根据实际需要进行调整</a:t>
            </a:r>
            <a:endParaRPr lang="en-US" altLang="zh-CN" sz="2400" b="0" i="1" dirty="0">
              <a:latin typeface="楷体_GB2312" pitchFamily="49" charset="-122"/>
            </a:endParaRPr>
          </a:p>
          <a:p>
            <a:pPr algn="just" eaLnBrk="1" hangingPunct="1">
              <a:lnSpc>
                <a:spcPct val="110000"/>
              </a:lnSpc>
              <a:spcBef>
                <a:spcPct val="0"/>
              </a:spcBef>
              <a:buClrTx/>
              <a:buSzTx/>
              <a:buFontTx/>
              <a:buNone/>
            </a:pPr>
            <a:r>
              <a:rPr lang="en-US" altLang="zh-CN" sz="2400" b="0" dirty="0">
                <a:latin typeface="楷体_GB2312" pitchFamily="49" charset="-122"/>
              </a:rPr>
              <a:t>while(</a:t>
            </a:r>
            <a:r>
              <a:rPr lang="zh-CN" altLang="en-US" sz="2400" b="0" dirty="0">
                <a:latin typeface="楷体_GB2312" pitchFamily="49" charset="-122"/>
              </a:rPr>
              <a:t>没有到下班时间</a:t>
            </a:r>
            <a:r>
              <a:rPr lang="en-US" altLang="zh-CN" sz="2400" b="0" dirty="0">
                <a:latin typeface="楷体_GB2312" pitchFamily="49" charset="-122"/>
              </a:rPr>
              <a:t>) {</a:t>
            </a:r>
          </a:p>
          <a:p>
            <a:pPr algn="just" eaLnBrk="1" hangingPunct="1">
              <a:lnSpc>
                <a:spcPct val="110000"/>
              </a:lnSpc>
              <a:spcBef>
                <a:spcPct val="0"/>
              </a:spcBef>
              <a:buClrTx/>
              <a:buSzTx/>
              <a:buFontTx/>
              <a:buNone/>
            </a:pPr>
            <a:r>
              <a:rPr lang="en-US" altLang="zh-CN" sz="2400" b="0" dirty="0">
                <a:latin typeface="楷体_GB2312" pitchFamily="49" charset="-122"/>
              </a:rPr>
              <a:t>    </a:t>
            </a:r>
            <a:r>
              <a:rPr lang="zh-CN" altLang="en-US" sz="2400" b="0" dirty="0">
                <a:latin typeface="楷体_GB2312" pitchFamily="49" charset="-122"/>
              </a:rPr>
              <a:t>生成下一顾客到达的间隔时间；</a:t>
            </a:r>
          </a:p>
          <a:p>
            <a:pPr algn="just" eaLnBrk="1" hangingPunct="1">
              <a:lnSpc>
                <a:spcPct val="110000"/>
              </a:lnSpc>
              <a:spcBef>
                <a:spcPct val="0"/>
              </a:spcBef>
              <a:buClrTx/>
              <a:buSzTx/>
              <a:buFontTx/>
              <a:buNone/>
            </a:pPr>
            <a:r>
              <a:rPr lang="zh-CN" altLang="en-US" sz="2400" b="0" dirty="0">
                <a:latin typeface="楷体_GB2312" pitchFamily="49" charset="-122"/>
              </a:rPr>
              <a:t>    下一顾客的到达时间</a:t>
            </a:r>
            <a:r>
              <a:rPr lang="en-US" altLang="zh-CN" sz="2400" b="0" dirty="0" err="1">
                <a:latin typeface="楷体_GB2312" pitchFamily="49" charset="-122"/>
              </a:rPr>
              <a:t>currentTime</a:t>
            </a:r>
            <a:r>
              <a:rPr lang="en-US" altLang="zh-CN" sz="2400" b="0" dirty="0">
                <a:latin typeface="楷体_GB2312" pitchFamily="49" charset="-122"/>
              </a:rPr>
              <a:t> += </a:t>
            </a:r>
            <a:r>
              <a:rPr lang="zh-CN" altLang="en-US" sz="2400" b="0" dirty="0">
                <a:latin typeface="楷体_GB2312" pitchFamily="49" charset="-122"/>
              </a:rPr>
              <a:t>下一顾客到达的间隔时间；</a:t>
            </a:r>
          </a:p>
          <a:p>
            <a:pPr algn="just" eaLnBrk="1" hangingPunct="1">
              <a:lnSpc>
                <a:spcPct val="110000"/>
              </a:lnSpc>
              <a:spcBef>
                <a:spcPct val="0"/>
              </a:spcBef>
              <a:buClrTx/>
              <a:buSzTx/>
              <a:buFontTx/>
              <a:buNone/>
            </a:pPr>
            <a:r>
              <a:rPr lang="zh-CN" altLang="en-US" sz="2400" b="0" dirty="0">
                <a:latin typeface="楷体_GB2312" pitchFamily="49" charset="-122"/>
              </a:rPr>
              <a:t>    将下一顾客的到达时间入队；</a:t>
            </a:r>
          </a:p>
          <a:p>
            <a:pPr algn="just" eaLnBrk="1" hangingPunct="1">
              <a:lnSpc>
                <a:spcPct val="110000"/>
              </a:lnSpc>
              <a:spcBef>
                <a:spcPct val="0"/>
              </a:spcBef>
              <a:buClrTx/>
              <a:buSzTx/>
              <a:buFontTx/>
              <a:buNone/>
            </a:pPr>
            <a:r>
              <a:rPr lang="zh-CN" altLang="en-US" sz="2400" b="0" dirty="0">
                <a:latin typeface="楷体_GB2312" pitchFamily="49" charset="-122"/>
              </a:rPr>
              <a:t>  </a:t>
            </a:r>
            <a:r>
              <a:rPr lang="en-US" altLang="zh-CN" sz="2400" b="0" dirty="0">
                <a:latin typeface="楷体_GB2312" pitchFamily="49" charset="-122"/>
              </a:rPr>
              <a:t>}</a:t>
            </a:r>
          </a:p>
          <a:p>
            <a:pPr algn="just" eaLnBrk="1" hangingPunct="1">
              <a:lnSpc>
                <a:spcPct val="110000"/>
              </a:lnSpc>
              <a:spcBef>
                <a:spcPct val="0"/>
              </a:spcBef>
              <a:buClrTx/>
              <a:buSzTx/>
              <a:buFontTx/>
              <a:buNone/>
            </a:pPr>
            <a:r>
              <a:rPr lang="zh-CN" altLang="en-US" sz="2400" b="0" dirty="0">
                <a:latin typeface="楷体_GB2312" pitchFamily="49" charset="-122"/>
              </a:rPr>
              <a:t>从时刻</a:t>
            </a:r>
            <a:r>
              <a:rPr lang="en-US" altLang="zh-CN" sz="2400" b="0" dirty="0">
                <a:solidFill>
                  <a:schemeClr val="accent1">
                    <a:lumMod val="40000"/>
                    <a:lumOff val="60000"/>
                  </a:schemeClr>
                </a:solidFill>
                <a:latin typeface="楷体_GB2312" pitchFamily="49" charset="-122"/>
              </a:rPr>
              <a:t>0</a:t>
            </a:r>
            <a:r>
              <a:rPr lang="zh-CN" altLang="en-US" sz="2400" b="0" dirty="0">
                <a:latin typeface="楷体_GB2312" pitchFamily="49" charset="-122"/>
              </a:rPr>
              <a:t>开始模拟</a:t>
            </a:r>
            <a:r>
              <a:rPr lang="en-US" altLang="zh-CN" sz="2400" b="0" dirty="0">
                <a:latin typeface="楷体_GB2312" pitchFamily="49" charset="-122"/>
              </a:rPr>
              <a:t>;</a:t>
            </a:r>
          </a:p>
          <a:p>
            <a:pPr algn="just" eaLnBrk="1" hangingPunct="1">
              <a:lnSpc>
                <a:spcPct val="110000"/>
              </a:lnSpc>
              <a:spcBef>
                <a:spcPct val="0"/>
              </a:spcBef>
              <a:buClrTx/>
              <a:buSzTx/>
              <a:buFontTx/>
              <a:buNone/>
            </a:pPr>
            <a:r>
              <a:rPr lang="en-US" altLang="zh-CN" sz="2400" b="0" dirty="0">
                <a:latin typeface="楷体_GB2312" pitchFamily="49" charset="-122"/>
              </a:rPr>
              <a:t>while </a:t>
            </a:r>
            <a:r>
              <a:rPr lang="zh-CN" altLang="en-US" sz="2400" b="0" dirty="0">
                <a:latin typeface="楷体_GB2312" pitchFamily="49" charset="-122"/>
              </a:rPr>
              <a:t>（顾客队列非空）</a:t>
            </a:r>
            <a:r>
              <a:rPr lang="en-US" altLang="zh-CN" sz="2400" b="0" dirty="0">
                <a:latin typeface="楷体_GB2312" pitchFamily="49" charset="-122"/>
              </a:rPr>
              <a:t>{</a:t>
            </a:r>
            <a:endParaRPr lang="zh-CN" altLang="en-US" sz="2400" b="0" dirty="0">
              <a:latin typeface="楷体_GB2312" pitchFamily="49" charset="-122"/>
            </a:endParaRPr>
          </a:p>
          <a:p>
            <a:pPr algn="just" eaLnBrk="1" hangingPunct="1">
              <a:lnSpc>
                <a:spcPct val="110000"/>
              </a:lnSpc>
              <a:spcBef>
                <a:spcPct val="0"/>
              </a:spcBef>
              <a:buClrTx/>
              <a:buSzTx/>
              <a:buFontTx/>
              <a:buNone/>
            </a:pPr>
            <a:r>
              <a:rPr lang="zh-CN" altLang="en-US" sz="2400" b="0" dirty="0">
                <a:latin typeface="楷体_GB2312" pitchFamily="49" charset="-122"/>
              </a:rPr>
              <a:t> </a:t>
            </a:r>
            <a:r>
              <a:rPr lang="en-US" altLang="zh-CN" sz="2400" b="0" dirty="0">
                <a:latin typeface="楷体_GB2312" pitchFamily="49" charset="-122"/>
              </a:rPr>
              <a:t>   </a:t>
            </a:r>
            <a:r>
              <a:rPr lang="zh-CN" altLang="en-US" sz="2400" b="0" dirty="0">
                <a:latin typeface="楷体_GB2312" pitchFamily="49" charset="-122"/>
              </a:rPr>
              <a:t>取队头顾客；</a:t>
            </a:r>
          </a:p>
          <a:p>
            <a:pPr algn="just" eaLnBrk="1" hangingPunct="1">
              <a:lnSpc>
                <a:spcPct val="110000"/>
              </a:lnSpc>
              <a:spcBef>
                <a:spcPct val="0"/>
              </a:spcBef>
              <a:buClrTx/>
              <a:buSzTx/>
              <a:buFontTx/>
              <a:buNone/>
            </a:pPr>
            <a:r>
              <a:rPr lang="zh-CN" altLang="en-US" sz="2400" b="0" dirty="0">
                <a:latin typeface="楷体_GB2312" pitchFamily="49" charset="-122"/>
              </a:rPr>
              <a:t>    </a:t>
            </a:r>
            <a:r>
              <a:rPr lang="en-US" altLang="zh-CN" sz="2400" b="0" dirty="0">
                <a:latin typeface="楷体_GB2312" pitchFamily="49" charset="-122"/>
              </a:rPr>
              <a:t>if </a:t>
            </a:r>
            <a:r>
              <a:rPr lang="zh-CN" altLang="en-US" sz="2400" b="0" dirty="0">
                <a:latin typeface="楷体_GB2312" pitchFamily="49" charset="-122"/>
              </a:rPr>
              <a:t>（到达时间 </a:t>
            </a:r>
            <a:r>
              <a:rPr lang="en-US" altLang="zh-CN" sz="2400" b="0" dirty="0">
                <a:latin typeface="楷体_GB2312" pitchFamily="49" charset="-122"/>
              </a:rPr>
              <a:t>&gt; </a:t>
            </a:r>
            <a:r>
              <a:rPr lang="zh-CN" altLang="en-US" sz="2400" b="0" dirty="0">
                <a:latin typeface="楷体_GB2312" pitchFamily="49" charset="-122"/>
              </a:rPr>
              <a:t>当前时间）直接将时钟</a:t>
            </a:r>
            <a:r>
              <a:rPr lang="zh-CN" altLang="en-US" sz="2400" b="0" dirty="0">
                <a:solidFill>
                  <a:srgbClr val="FF0000"/>
                </a:solidFill>
                <a:latin typeface="楷体_GB2312" pitchFamily="49" charset="-122"/>
              </a:rPr>
              <a:t>拨到</a:t>
            </a:r>
            <a:r>
              <a:rPr lang="zh-CN" altLang="en-US" sz="2400" b="0" dirty="0">
                <a:latin typeface="楷体_GB2312" pitchFamily="49" charset="-122"/>
              </a:rPr>
              <a:t>事件发生的时间；</a:t>
            </a:r>
          </a:p>
          <a:p>
            <a:pPr algn="just" eaLnBrk="1" hangingPunct="1">
              <a:lnSpc>
                <a:spcPct val="110000"/>
              </a:lnSpc>
              <a:spcBef>
                <a:spcPct val="0"/>
              </a:spcBef>
              <a:buClrTx/>
              <a:buSzTx/>
              <a:buFontTx/>
              <a:buNone/>
            </a:pPr>
            <a:r>
              <a:rPr lang="zh-CN" altLang="en-US" sz="2400" b="0" dirty="0">
                <a:latin typeface="楷体_GB2312" pitchFamily="49" charset="-122"/>
              </a:rPr>
              <a:t>    </a:t>
            </a:r>
            <a:r>
              <a:rPr lang="en-US" altLang="zh-CN" sz="2400" b="0" dirty="0">
                <a:latin typeface="楷体_GB2312" pitchFamily="49" charset="-122"/>
              </a:rPr>
              <a:t>else  </a:t>
            </a:r>
            <a:r>
              <a:rPr lang="zh-CN" altLang="en-US" sz="2400" b="0" dirty="0">
                <a:latin typeface="楷体_GB2312" pitchFamily="49" charset="-122"/>
              </a:rPr>
              <a:t>收集该顾客的等待时间；</a:t>
            </a:r>
          </a:p>
          <a:p>
            <a:pPr algn="just" eaLnBrk="1" hangingPunct="1">
              <a:lnSpc>
                <a:spcPct val="110000"/>
              </a:lnSpc>
              <a:spcBef>
                <a:spcPct val="0"/>
              </a:spcBef>
              <a:buClrTx/>
              <a:buSzTx/>
              <a:buFontTx/>
              <a:buNone/>
            </a:pPr>
            <a:r>
              <a:rPr lang="zh-CN" altLang="en-US" sz="2400" b="0" dirty="0">
                <a:latin typeface="楷体_GB2312" pitchFamily="49" charset="-122"/>
              </a:rPr>
              <a:t>    生成服务时间；</a:t>
            </a:r>
          </a:p>
          <a:p>
            <a:pPr algn="just" eaLnBrk="1" hangingPunct="1">
              <a:lnSpc>
                <a:spcPct val="110000"/>
              </a:lnSpc>
              <a:spcBef>
                <a:spcPct val="0"/>
              </a:spcBef>
              <a:buClrTx/>
              <a:buSzTx/>
              <a:buFontTx/>
              <a:buNone/>
            </a:pPr>
            <a:r>
              <a:rPr lang="zh-CN" altLang="en-US" sz="2400" b="0" dirty="0">
                <a:latin typeface="楷体_GB2312" pitchFamily="49" charset="-122"/>
              </a:rPr>
              <a:t>    将时钟</a:t>
            </a:r>
            <a:r>
              <a:rPr lang="zh-CN" altLang="en-US" sz="2400" b="0" dirty="0">
                <a:solidFill>
                  <a:srgbClr val="FF0000"/>
                </a:solidFill>
                <a:latin typeface="楷体_GB2312" pitchFamily="49" charset="-122"/>
              </a:rPr>
              <a:t>拨到</a:t>
            </a:r>
            <a:r>
              <a:rPr lang="zh-CN" altLang="en-US" sz="2400" b="0" dirty="0">
                <a:latin typeface="楷体_GB2312" pitchFamily="49" charset="-122"/>
              </a:rPr>
              <a:t>服务完成的时刻；</a:t>
            </a:r>
            <a:r>
              <a:rPr lang="en-US" altLang="zh-CN" sz="2400" b="0" dirty="0">
                <a:latin typeface="楷体_GB2312" pitchFamily="49" charset="-122"/>
              </a:rPr>
              <a:t>}</a:t>
            </a:r>
          </a:p>
          <a:p>
            <a:pPr algn="just" eaLnBrk="1" hangingPunct="1">
              <a:lnSpc>
                <a:spcPct val="110000"/>
              </a:lnSpc>
              <a:spcBef>
                <a:spcPct val="0"/>
              </a:spcBef>
              <a:buClrTx/>
              <a:buSzTx/>
              <a:buFontTx/>
              <a:buNone/>
            </a:pPr>
            <a:r>
              <a:rPr lang="zh-CN" altLang="en-US" sz="2400" b="0" dirty="0">
                <a:latin typeface="楷体_GB2312" pitchFamily="49" charset="-122"/>
              </a:rPr>
              <a:t>返回 等待时间</a:t>
            </a:r>
            <a:r>
              <a:rPr lang="en-US" altLang="zh-CN" sz="2400" b="0" dirty="0">
                <a:latin typeface="楷体_GB2312" pitchFamily="49" charset="-122"/>
              </a:rPr>
              <a:t>/</a:t>
            </a:r>
            <a:r>
              <a:rPr lang="zh-CN" altLang="en-US" sz="2400" b="0" dirty="0">
                <a:latin typeface="楷体_GB2312" pitchFamily="49" charset="-122"/>
              </a:rPr>
              <a:t>顾客数；</a:t>
            </a:r>
          </a:p>
        </p:txBody>
      </p:sp>
      <p:sp>
        <p:nvSpPr>
          <p:cNvPr id="2" name="文本框 1">
            <a:extLst>
              <a:ext uri="{FF2B5EF4-FFF2-40B4-BE49-F238E27FC236}">
                <a16:creationId xmlns:a16="http://schemas.microsoft.com/office/drawing/2014/main" id="{7A9670F1-A64B-43BE-BEE4-DF3660CF0E09}"/>
              </a:ext>
            </a:extLst>
          </p:cNvPr>
          <p:cNvSpPr txBox="1"/>
          <p:nvPr/>
        </p:nvSpPr>
        <p:spPr>
          <a:xfrm>
            <a:off x="6096000" y="5042118"/>
            <a:ext cx="5570756" cy="1384995"/>
          </a:xfrm>
          <a:prstGeom prst="rect">
            <a:avLst/>
          </a:prstGeom>
          <a:noFill/>
          <a:ln w="28575">
            <a:solidFill>
              <a:srgbClr val="002060"/>
            </a:solidFill>
          </a:ln>
        </p:spPr>
        <p:txBody>
          <a:bodyPr wrap="none" rtlCol="0">
            <a:spAutoFit/>
          </a:bodyPr>
          <a:lstStyle/>
          <a:p>
            <a:r>
              <a:rPr lang="zh-CN" altLang="en-US" sz="2800" dirty="0">
                <a:solidFill>
                  <a:srgbClr val="7030A0"/>
                </a:solidFill>
                <a:latin typeface="楷体_GB2312" pitchFamily="49" charset="-122"/>
                <a:cs typeface="楷体_GB2312" pitchFamily="49" charset="-122"/>
              </a:rPr>
              <a:t>客户的排队长度</a:t>
            </a:r>
            <a:endParaRPr lang="en-US" altLang="zh-CN" sz="2800" dirty="0">
              <a:solidFill>
                <a:srgbClr val="7030A0"/>
              </a:solidFill>
              <a:latin typeface="楷体_GB2312" pitchFamily="49" charset="-122"/>
              <a:cs typeface="楷体_GB2312" pitchFamily="49" charset="-122"/>
            </a:endParaRPr>
          </a:p>
          <a:p>
            <a:r>
              <a:rPr lang="zh-CN" altLang="en-US" sz="2800" dirty="0">
                <a:solidFill>
                  <a:srgbClr val="7030A0"/>
                </a:solidFill>
                <a:latin typeface="楷体_GB2312" pitchFamily="49" charset="-122"/>
                <a:cs typeface="楷体_GB2312" pitchFamily="49" charset="-122"/>
              </a:rPr>
              <a:t>服务员的连续工作时间、空闲时间</a:t>
            </a:r>
            <a:endParaRPr lang="en-US" altLang="zh-CN" sz="2800" dirty="0">
              <a:solidFill>
                <a:srgbClr val="7030A0"/>
              </a:solidFill>
              <a:latin typeface="楷体_GB2312" pitchFamily="49" charset="-122"/>
              <a:cs typeface="楷体_GB2312" pitchFamily="49" charset="-122"/>
            </a:endParaRPr>
          </a:p>
          <a:p>
            <a:r>
              <a:rPr lang="en-US" altLang="zh-CN" sz="2800" dirty="0">
                <a:solidFill>
                  <a:srgbClr val="7030A0"/>
                </a:solidFill>
                <a:latin typeface="楷体_GB2312" pitchFamily="49" charset="-122"/>
                <a:cs typeface="楷体_GB2312" pitchFamily="49" charset="-122"/>
              </a:rPr>
              <a:t>……</a:t>
            </a:r>
            <a:endParaRPr lang="zh-CN" altLang="en-US" sz="2800" dirty="0">
              <a:solidFill>
                <a:srgbClr val="7030A0"/>
              </a:solidFill>
              <a:latin typeface="楷体_GB2312" pitchFamily="49" charset="-122"/>
              <a:cs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66455"/>
            <a:ext cx="11579038" cy="4834345"/>
          </a:xfrm>
        </p:spPr>
        <p:txBody>
          <a:bodyPr>
            <a:normAutofit/>
          </a:bodyPr>
          <a:lstStyle/>
          <a:p>
            <a:pPr marL="0" indent="0">
              <a:buNone/>
            </a:pPr>
            <a:r>
              <a:rPr lang="zh-CN" altLang="zh-CN" sz="2800" b="0" dirty="0">
                <a:ea typeface="华文楷体" pitchFamily="2" charset="-122"/>
                <a:cs typeface="Times New Roman" panose="02020603050405020304" pitchFamily="18" charset="0"/>
              </a:rPr>
              <a:t>需要两个队列配合</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在等待区等候的客户形成一个普通队列（先来先服务，即先进先出）</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在各个窗口被服务的客户形成一个优先队列（先来的未必先出，先结束的先出）</a:t>
            </a:r>
          </a:p>
          <a:p>
            <a:pPr marL="0" indent="0">
              <a:buNone/>
            </a:pPr>
            <a:endParaRPr lang="en-US" altLang="zh-CN" sz="2800" b="0" dirty="0">
              <a:latin typeface="华文楷体" pitchFamily="2" charset="-122"/>
              <a:ea typeface="华文楷体" pitchFamily="2" charset="-122"/>
            </a:endParaRPr>
          </a:p>
          <a:p>
            <a:pPr marL="0" indent="0">
              <a:buNone/>
            </a:pPr>
            <a:endParaRPr lang="zh-CN"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多服务窗口模拟：</a:t>
            </a:r>
          </a:p>
        </p:txBody>
      </p:sp>
      <p:sp>
        <p:nvSpPr>
          <p:cNvPr id="2" name="椭圆 1"/>
          <p:cNvSpPr/>
          <p:nvPr/>
        </p:nvSpPr>
        <p:spPr>
          <a:xfrm>
            <a:off x="11451168" y="6400800"/>
            <a:ext cx="200901" cy="2090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7124751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73996" y="1766480"/>
            <a:ext cx="11579038" cy="4634320"/>
          </a:xfrm>
        </p:spPr>
        <p:txBody>
          <a:bodyPr>
            <a:noAutofit/>
          </a:bodyPr>
          <a:lstStyle/>
          <a:p>
            <a:pPr>
              <a:buFont typeface="Wingdings" panose="05000000000000000000" pitchFamily="2" charset="2"/>
              <a:buChar char="Ø"/>
            </a:pPr>
            <a:r>
              <a:rPr lang="zh-CN" altLang="zh-CN" sz="2600" b="0" dirty="0">
                <a:ea typeface="华文楷体" pitchFamily="2" charset="-122"/>
                <a:cs typeface="Times New Roman" panose="02020603050405020304" pitchFamily="18" charset="0"/>
              </a:rPr>
              <a:t>栈虽然只是在线性表操作基础上限制了插入、删除的位置，使得插入、删除操作只能在表的同一个端点进行，可以看作是一种</a:t>
            </a:r>
            <a:r>
              <a:rPr lang="zh-CN" altLang="zh-CN" sz="2600" b="0" dirty="0">
                <a:solidFill>
                  <a:srgbClr val="0070C0"/>
                </a:solidFill>
                <a:ea typeface="华文楷体" pitchFamily="2" charset="-122"/>
                <a:cs typeface="Times New Roman" panose="02020603050405020304" pitchFamily="18" charset="0"/>
              </a:rPr>
              <a:t>操作受限</a:t>
            </a:r>
            <a:r>
              <a:rPr lang="zh-CN" altLang="zh-CN" sz="2600" b="0" dirty="0">
                <a:ea typeface="华文楷体" pitchFamily="2" charset="-122"/>
                <a:cs typeface="Times New Roman" panose="02020603050405020304" pitchFamily="18" charset="0"/>
              </a:rPr>
              <a:t>的线性表。</a:t>
            </a:r>
            <a:endParaRPr lang="en-US" altLang="zh-CN" sz="26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en-US" sz="2600" b="0" dirty="0">
                <a:ea typeface="华文楷体" pitchFamily="2" charset="-122"/>
                <a:cs typeface="Times New Roman" panose="02020603050405020304" pitchFamily="18" charset="0"/>
              </a:rPr>
              <a:t>栈在</a:t>
            </a:r>
            <a:r>
              <a:rPr lang="zh-CN" altLang="zh-CN" sz="2600" b="0" dirty="0">
                <a:ea typeface="华文楷体" pitchFamily="2" charset="-122"/>
                <a:cs typeface="Times New Roman" panose="02020603050405020304" pitchFamily="18" charset="0"/>
              </a:rPr>
              <a:t>计算机系统中是一种非常重要的数据结构。除了介绍的符号匹配、表达式计算，系统在函数调用、递归中都是以栈结构为基础。</a:t>
            </a:r>
            <a:endParaRPr lang="en-US" altLang="zh-CN" sz="26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600" b="0" dirty="0">
                <a:ea typeface="华文楷体" pitchFamily="2" charset="-122"/>
                <a:cs typeface="Times New Roman" panose="02020603050405020304" pitchFamily="18" charset="0"/>
              </a:rPr>
              <a:t>栈有着非常独特的一组常见操作：进栈、出栈、求栈顶元素、判栈空、判栈满等。</a:t>
            </a:r>
            <a:endParaRPr lang="en-US" altLang="zh-CN" sz="26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600" b="0" dirty="0">
                <a:ea typeface="华文楷体" pitchFamily="2" charset="-122"/>
                <a:cs typeface="Times New Roman" panose="02020603050405020304" pitchFamily="18" charset="0"/>
              </a:rPr>
              <a:t>在物理实现上虽然可以有顺序和链式两种存储方式，鉴于其操作都在一端进行，顺序存储是栈最常使用的存储方式。</a:t>
            </a:r>
          </a:p>
        </p:txBody>
      </p:sp>
      <p:sp>
        <p:nvSpPr>
          <p:cNvPr id="8194" name="Rectangle 2"/>
          <p:cNvSpPr>
            <a:spLocks noGrp="1" noRot="1" noChangeArrowheads="1"/>
          </p:cNvSpPr>
          <p:nvPr>
            <p:ph type="title"/>
          </p:nvPr>
        </p:nvSpPr>
        <p:spPr>
          <a:xfrm>
            <a:off x="5046021" y="783266"/>
            <a:ext cx="1340491" cy="57418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小结</a:t>
            </a:r>
          </a:p>
        </p:txBody>
      </p:sp>
      <p:sp>
        <p:nvSpPr>
          <p:cNvPr id="2" name="椭圆 1"/>
          <p:cNvSpPr/>
          <p:nvPr/>
        </p:nvSpPr>
        <p:spPr>
          <a:xfrm>
            <a:off x="11451168" y="6400800"/>
            <a:ext cx="200901" cy="2090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8726210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66455"/>
            <a:ext cx="11579038" cy="4834345"/>
          </a:xfrm>
        </p:spPr>
        <p:txBody>
          <a:bodyPr>
            <a:noAutofit/>
          </a:bodyPr>
          <a:lstStyle/>
          <a:p>
            <a:pPr>
              <a:buFont typeface="Wingdings" panose="05000000000000000000" pitchFamily="2" charset="2"/>
              <a:buChar char="Ø"/>
            </a:pPr>
            <a:r>
              <a:rPr lang="zh-CN" altLang="zh-CN" sz="2600" b="0" dirty="0">
                <a:ea typeface="华文楷体" pitchFamily="2" charset="-122"/>
                <a:cs typeface="Times New Roman" panose="02020603050405020304" pitchFamily="18" charset="0"/>
              </a:rPr>
              <a:t>队列可看作是限制了插入、删除操作位置的另外一种线性表，元素的插入、删除分别在表的两端进行。</a:t>
            </a:r>
            <a:endParaRPr lang="en-US" altLang="zh-CN" sz="26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600" b="0" dirty="0">
                <a:ea typeface="华文楷体" pitchFamily="2" charset="-122"/>
                <a:cs typeface="Times New Roman" panose="02020603050405020304" pitchFamily="18" charset="0"/>
              </a:rPr>
              <a:t>除了日常生活中看到的实际队列可以用它来实现，计算机操作系统中许多对象的管理都利用了队列，如打印队列、进程队列等，因此它也是一种重要的数据结构。</a:t>
            </a:r>
            <a:endParaRPr lang="en-US" altLang="zh-CN" sz="26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600" b="0" dirty="0">
                <a:ea typeface="华文楷体" pitchFamily="2" charset="-122"/>
                <a:cs typeface="Times New Roman" panose="02020603050405020304" pitchFamily="18" charset="0"/>
              </a:rPr>
              <a:t>队列的常见操作对照生活经验是最容易想到的：进队、出队、求队首元素、判空、判满等。</a:t>
            </a:r>
            <a:endParaRPr lang="en-US" altLang="zh-CN" sz="26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600" b="0" dirty="0">
                <a:ea typeface="华文楷体" pitchFamily="2" charset="-122"/>
                <a:cs typeface="Times New Roman" panose="02020603050405020304" pitchFamily="18" charset="0"/>
              </a:rPr>
              <a:t>队列的顺序循环存储和链式存储的时间复杂度都是</a:t>
            </a:r>
            <a:r>
              <a:rPr lang="en-US" altLang="zh-CN" sz="2600" b="0" dirty="0">
                <a:ea typeface="华文楷体" pitchFamily="2" charset="-122"/>
                <a:cs typeface="Times New Roman" panose="02020603050405020304" pitchFamily="18" charset="0"/>
              </a:rPr>
              <a:t>O(1)</a:t>
            </a:r>
            <a:r>
              <a:rPr lang="zh-CN" altLang="zh-CN" sz="2600" b="0" dirty="0">
                <a:ea typeface="华文楷体" pitchFamily="2" charset="-122"/>
                <a:cs typeface="Times New Roman" panose="02020603050405020304" pitchFamily="18" charset="0"/>
              </a:rPr>
              <a:t>，考虑到链式存储每个结点额外的空间开销，顺序循环队列是最常用的存储结构。</a:t>
            </a:r>
          </a:p>
        </p:txBody>
      </p:sp>
      <p:sp>
        <p:nvSpPr>
          <p:cNvPr id="8194" name="Rectangle 2"/>
          <p:cNvSpPr>
            <a:spLocks noGrp="1" noRot="1" noChangeArrowheads="1"/>
          </p:cNvSpPr>
          <p:nvPr>
            <p:ph type="title"/>
          </p:nvPr>
        </p:nvSpPr>
        <p:spPr>
          <a:xfrm>
            <a:off x="5046021" y="783266"/>
            <a:ext cx="1340491" cy="57418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小结</a:t>
            </a:r>
          </a:p>
        </p:txBody>
      </p:sp>
      <p:sp>
        <p:nvSpPr>
          <p:cNvPr id="2" name="椭圆 1"/>
          <p:cNvSpPr/>
          <p:nvPr/>
        </p:nvSpPr>
        <p:spPr>
          <a:xfrm>
            <a:off x="11451168" y="6400800"/>
            <a:ext cx="200901" cy="2090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2245295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259709" y="1795056"/>
                <a:ext cx="11579038" cy="2348320"/>
              </a:xfrm>
            </p:spPr>
            <p:txBody>
              <a:bodyPr>
                <a:noAutofit/>
              </a:bodyPr>
              <a:lstStyle/>
              <a:p>
                <a:pPr>
                  <a:buFont typeface="Wingdings" panose="05000000000000000000" pitchFamily="2" charset="2"/>
                  <a:buChar char="Ø"/>
                </a:pPr>
                <a:r>
                  <a:rPr lang="zh-CN" altLang="zh-CN" sz="2600" b="0" dirty="0">
                    <a:ea typeface="华文楷体" pitchFamily="2" charset="-122"/>
                    <a:cs typeface="Times New Roman" panose="02020603050405020304" pitchFamily="18" charset="0"/>
                  </a:rPr>
                  <a:t>优先队列不再按照先进先出的原则，优先级高者先出队。无论顺序还是链式优先队列，其进队、出队操作的时间复杂度为</a:t>
                </a:r>
                <a:r>
                  <a:rPr lang="en-US" altLang="zh-CN" sz="2600" b="0" dirty="0">
                    <a:ea typeface="华文楷体" pitchFamily="2" charset="-122"/>
                    <a:cs typeface="Times New Roman" panose="02020603050405020304" pitchFamily="18" charset="0"/>
                  </a:rPr>
                  <a:t>O(1)</a:t>
                </a:r>
                <a:r>
                  <a:rPr lang="zh-CN" altLang="zh-CN" sz="2600" b="0" dirty="0">
                    <a:ea typeface="华文楷体" pitchFamily="2" charset="-122"/>
                    <a:cs typeface="Times New Roman" panose="02020603050405020304" pitchFamily="18" charset="0"/>
                  </a:rPr>
                  <a:t>、</a:t>
                </a:r>
                <a:r>
                  <a:rPr lang="en-US" altLang="zh-CN" sz="2600" b="0" dirty="0">
                    <a:ea typeface="华文楷体" pitchFamily="2" charset="-122"/>
                    <a:cs typeface="Times New Roman" panose="02020603050405020304" pitchFamily="18" charset="0"/>
                  </a:rPr>
                  <a:t>O(n)</a:t>
                </a:r>
                <a:r>
                  <a:rPr lang="zh-CN" altLang="zh-CN" sz="2600" b="0" dirty="0">
                    <a:ea typeface="华文楷体" pitchFamily="2" charset="-122"/>
                    <a:cs typeface="Times New Roman" panose="02020603050405020304" pitchFamily="18" charset="0"/>
                  </a:rPr>
                  <a:t>或者</a:t>
                </a:r>
                <a:r>
                  <a:rPr lang="en-US" altLang="zh-CN" sz="2600" b="0" dirty="0">
                    <a:ea typeface="华文楷体" pitchFamily="2" charset="-122"/>
                    <a:cs typeface="Times New Roman" panose="02020603050405020304" pitchFamily="18" charset="0"/>
                  </a:rPr>
                  <a:t>O(n)</a:t>
                </a:r>
                <a:r>
                  <a:rPr lang="zh-CN" altLang="zh-CN" sz="2600" b="0" dirty="0">
                    <a:ea typeface="华文楷体" pitchFamily="2" charset="-122"/>
                    <a:cs typeface="Times New Roman" panose="02020603050405020304" pitchFamily="18" charset="0"/>
                  </a:rPr>
                  <a:t>、</a:t>
                </a:r>
                <a:r>
                  <a:rPr lang="en-US" altLang="zh-CN" sz="2600" b="0" dirty="0">
                    <a:ea typeface="华文楷体" pitchFamily="2" charset="-122"/>
                    <a:cs typeface="Times New Roman" panose="02020603050405020304" pitchFamily="18" charset="0"/>
                  </a:rPr>
                  <a:t>O(1)</a:t>
                </a:r>
                <a:r>
                  <a:rPr lang="zh-CN" altLang="zh-CN" sz="2600" b="0" dirty="0">
                    <a:ea typeface="华文楷体" pitchFamily="2" charset="-122"/>
                    <a:cs typeface="Times New Roman" panose="02020603050405020304" pitchFamily="18" charset="0"/>
                  </a:rPr>
                  <a:t>。</a:t>
                </a:r>
                <a:endParaRPr lang="en-US" altLang="zh-CN" sz="26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600" b="0" dirty="0">
                    <a:ea typeface="华文楷体" pitchFamily="2" charset="-122"/>
                    <a:cs typeface="Times New Roman" panose="02020603050405020304" pitchFamily="18" charset="0"/>
                  </a:rPr>
                  <a:t>后面章节讨论过二叉树后，用二叉树作为工具以堆的方式存储优先队列时，时间复杂度能降到</a:t>
                </a:r>
                <a:r>
                  <a:rPr lang="en-US" altLang="zh-CN" sz="2600" b="0" dirty="0">
                    <a:ea typeface="华文楷体" pitchFamily="2" charset="-122"/>
                    <a:cs typeface="Times New Roman" panose="02020603050405020304" pitchFamily="18" charset="0"/>
                  </a:rPr>
                  <a:t>O(</a:t>
                </a:r>
                <a14:m>
                  <m:oMath xmlns:m="http://schemas.openxmlformats.org/officeDocument/2006/math">
                    <m:func>
                      <m:funcPr>
                        <m:ctrlPr>
                          <a:rPr lang="en-US" altLang="zh-CN" sz="2600" b="0" i="1" smtClean="0">
                            <a:latin typeface="Cambria Math" panose="02040503050406030204" pitchFamily="18" charset="0"/>
                            <a:ea typeface="华文楷体" pitchFamily="2" charset="-122"/>
                            <a:cs typeface="Times New Roman" panose="02020603050405020304" pitchFamily="18" charset="0"/>
                          </a:rPr>
                        </m:ctrlPr>
                      </m:funcPr>
                      <m:fName>
                        <m:sSub>
                          <m:sSubPr>
                            <m:ctrlPr>
                              <a:rPr lang="en-US" altLang="zh-CN" sz="2600" b="0" i="1" smtClean="0">
                                <a:latin typeface="Cambria Math" panose="02040503050406030204" pitchFamily="18" charset="0"/>
                                <a:ea typeface="华文楷体" pitchFamily="2" charset="-122"/>
                                <a:cs typeface="Times New Roman" panose="02020603050405020304" pitchFamily="18" charset="0"/>
                              </a:rPr>
                            </m:ctrlPr>
                          </m:sSubPr>
                          <m:e>
                            <m:r>
                              <m:rPr>
                                <m:sty m:val="p"/>
                              </m:rPr>
                              <a:rPr lang="en-US" altLang="zh-CN" sz="2600" b="0" i="0" smtClean="0">
                                <a:latin typeface="Cambria Math" panose="02040503050406030204" pitchFamily="18" charset="0"/>
                                <a:ea typeface="华文楷体" pitchFamily="2" charset="-122"/>
                                <a:cs typeface="Times New Roman" panose="02020603050405020304" pitchFamily="18" charset="0"/>
                              </a:rPr>
                              <m:t>log</m:t>
                            </m:r>
                          </m:e>
                          <m:sub>
                            <m:r>
                              <a:rPr lang="en-US" altLang="zh-CN" sz="2600" b="0" i="1">
                                <a:latin typeface="Cambria Math" panose="02040503050406030204" pitchFamily="18" charset="0"/>
                                <a:ea typeface="华文楷体" pitchFamily="2" charset="-122"/>
                                <a:cs typeface="Times New Roman" panose="02020603050405020304" pitchFamily="18" charset="0"/>
                              </a:rPr>
                              <m:t>2</m:t>
                            </m:r>
                          </m:sub>
                        </m:sSub>
                      </m:fName>
                      <m:e>
                        <m:r>
                          <m:rPr>
                            <m:sty m:val="p"/>
                          </m:rPr>
                          <a:rPr lang="en-US" altLang="zh-CN" sz="2600" b="0" i="1" smtClean="0">
                            <a:latin typeface="Cambria Math" panose="02040503050406030204" pitchFamily="18" charset="0"/>
                            <a:ea typeface="华文楷体" pitchFamily="2" charset="-122"/>
                            <a:cs typeface="Times New Roman" panose="02020603050405020304" pitchFamily="18" charset="0"/>
                          </a:rPr>
                          <m:t>n</m:t>
                        </m:r>
                      </m:e>
                    </m:func>
                  </m:oMath>
                </a14:m>
                <a:r>
                  <a:rPr lang="en-US" altLang="zh-CN" sz="2600" b="0" dirty="0">
                    <a:ea typeface="华文楷体" pitchFamily="2" charset="-122"/>
                    <a:cs typeface="Times New Roman" panose="02020603050405020304" pitchFamily="18" charset="0"/>
                  </a:rPr>
                  <a:t>)</a:t>
                </a:r>
                <a:r>
                  <a:rPr lang="zh-CN" altLang="zh-CN" sz="2600" b="0" dirty="0">
                    <a:ea typeface="华文楷体" pitchFamily="2" charset="-122"/>
                    <a:cs typeface="Times New Roman" panose="02020603050405020304" pitchFamily="18" charset="0"/>
                  </a:rPr>
                  <a:t>。</a:t>
                </a: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259709" y="1795056"/>
                <a:ext cx="11579038" cy="2348320"/>
              </a:xfrm>
              <a:blipFill>
                <a:blip r:embed="rId3"/>
                <a:stretch>
                  <a:fillRect l="-843"/>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5046021" y="783266"/>
            <a:ext cx="1340491" cy="57418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小结</a:t>
            </a:r>
          </a:p>
        </p:txBody>
      </p:sp>
    </p:spTree>
    <p:extLst>
      <p:ext uri="{BB962C8B-B14F-4D97-AF65-F5344CB8AC3E}">
        <p14:creationId xmlns:p14="http://schemas.microsoft.com/office/powerpoint/2010/main" val="884907647"/>
      </p:ext>
    </p:extLst>
  </p:cSld>
  <p:clrMapOvr>
    <a:masterClrMapping/>
  </p:clrMapOvr>
</p:sld>
</file>

<file path=ppt/theme/theme1.xml><?xml version="1.0" encoding="utf-8"?>
<a:theme xmlns:a="http://schemas.openxmlformats.org/drawingml/2006/main" name="2016-VI主题-蓝">
  <a:themeElements>
    <a:clrScheme name="VI蓝色版">
      <a:dk1>
        <a:srgbClr val="000000"/>
      </a:dk1>
      <a:lt1>
        <a:srgbClr val="FFFFFF"/>
      </a:lt1>
      <a:dk2>
        <a:srgbClr val="BD9F68"/>
      </a:dk2>
      <a:lt2>
        <a:srgbClr val="B5B5B6"/>
      </a:lt2>
      <a:accent1>
        <a:srgbClr val="004098"/>
      </a:accent1>
      <a:accent2>
        <a:srgbClr val="0086D1"/>
      </a:accent2>
      <a:accent3>
        <a:srgbClr val="338D27"/>
      </a:accent3>
      <a:accent4>
        <a:srgbClr val="00514E"/>
      </a:accent4>
      <a:accent5>
        <a:srgbClr val="FDD000"/>
      </a:accent5>
      <a:accent6>
        <a:srgbClr val="F08300"/>
      </a:accent6>
      <a:hlink>
        <a:srgbClr val="B5B5B6"/>
      </a:hlink>
      <a:folHlink>
        <a:srgbClr val="BD9F68"/>
      </a:folHlink>
    </a:clrScheme>
    <a:fontScheme name="自定义 7">
      <a:majorFont>
        <a:latin typeface="等线"/>
        <a:ea typeface="等线"/>
        <a:cs typeface=""/>
      </a:majorFont>
      <a:minorFont>
        <a:latin typeface="等线 Light"/>
        <a:ea typeface="等线"/>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16-VI主题-蓝" id="{1B918C6D-2D61-4306-88BA-3CA31BAAF13F}" vid="{A734D909-B61D-48C4-8B37-4CE49734400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2016-VI主题-蓝</Template>
  <TotalTime>6970</TotalTime>
  <Words>9147</Words>
  <Application>Microsoft Office PowerPoint</Application>
  <PresentationFormat>宽屏</PresentationFormat>
  <Paragraphs>950</Paragraphs>
  <Slides>106</Slides>
  <Notes>93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106</vt:i4>
      </vt:variant>
    </vt:vector>
  </HeadingPairs>
  <TitlesOfParts>
    <vt:vector size="119" baseType="lpstr">
      <vt:lpstr>等线</vt:lpstr>
      <vt:lpstr>等线 Light</vt:lpstr>
      <vt:lpstr>华文楷体</vt:lpstr>
      <vt:lpstr>楷体_GB2312</vt:lpstr>
      <vt:lpstr>宋体</vt:lpstr>
      <vt:lpstr>微软雅黑</vt:lpstr>
      <vt:lpstr>Arial</vt:lpstr>
      <vt:lpstr>Calibri</vt:lpstr>
      <vt:lpstr>Cambria Math</vt:lpstr>
      <vt:lpstr>Symbol</vt:lpstr>
      <vt:lpstr>Times New Roman</vt:lpstr>
      <vt:lpstr>Wingdings</vt:lpstr>
      <vt:lpstr>2016-VI主题-蓝</vt:lpstr>
      <vt:lpstr>第三章 栈和队列</vt:lpstr>
      <vt:lpstr>PowerPoint 演示文稿</vt:lpstr>
      <vt:lpstr>栈的定义：</vt:lpstr>
      <vt:lpstr>栈的定义：</vt:lpstr>
      <vt:lpstr>栈相关术语：</vt:lpstr>
      <vt:lpstr>栈的抽象数据类型：</vt:lpstr>
      <vt:lpstr>PowerPoint 演示文稿</vt:lpstr>
      <vt:lpstr> 顺序栈：</vt:lpstr>
      <vt:lpstr> 顺序栈类的声明：</vt:lpstr>
      <vt:lpstr> 顺序栈类的声明：</vt:lpstr>
      <vt:lpstr> 顺序栈类成员函数的实现：</vt:lpstr>
      <vt:lpstr> 顺序栈类成员函数的实现：</vt:lpstr>
      <vt:lpstr>基本操作效率分析：</vt:lpstr>
      <vt:lpstr>顺序栈的应用（测试）</vt:lpstr>
      <vt:lpstr>顺序栈结构的应用(main.cpp)</vt:lpstr>
      <vt:lpstr>顺序栈结构的应用(main.cpp)</vt:lpstr>
      <vt:lpstr>共享栈：</vt:lpstr>
      <vt:lpstr>共享栈</vt:lpstr>
      <vt:lpstr>双共享栈</vt:lpstr>
      <vt:lpstr>PowerPoint 演示文稿</vt:lpstr>
      <vt:lpstr> 链式栈：</vt:lpstr>
      <vt:lpstr>链式栈基本操作分析：</vt:lpstr>
      <vt:lpstr>链式栈类的声明</vt:lpstr>
      <vt:lpstr>链式栈类的声明</vt:lpstr>
      <vt:lpstr>链式栈基本操作的实现</vt:lpstr>
      <vt:lpstr>链式栈基本操作的实现</vt:lpstr>
      <vt:lpstr>链式栈基本操作的实现</vt:lpstr>
      <vt:lpstr>链式栈性能分析：</vt:lpstr>
      <vt:lpstr>PowerPoint 演示文稿</vt:lpstr>
      <vt:lpstr>PowerPoint 演示文稿</vt:lpstr>
      <vt:lpstr> 括号配对：</vt:lpstr>
      <vt:lpstr>括号匹配算法：</vt:lpstr>
      <vt:lpstr>核心而简单的算术表达式中括号匹配检测程序：</vt:lpstr>
      <vt:lpstr>核心而简单的算术表达式中括号匹配检测程序：</vt:lpstr>
      <vt:lpstr>核心而简单的算术表达式中括号匹配检测程序：</vt:lpstr>
      <vt:lpstr>PowerPoint 演示文稿</vt:lpstr>
      <vt:lpstr> 表达式计算：</vt:lpstr>
      <vt:lpstr>表达式计算</vt:lpstr>
      <vt:lpstr>后缀式的计算</vt:lpstr>
      <vt:lpstr>计算后缀式：</vt:lpstr>
      <vt:lpstr>计算后缀式： 以5 7 2 3*-*8 2/+为例</vt:lpstr>
      <vt:lpstr>计算后缀式算法实现</vt:lpstr>
      <vt:lpstr>PowerPoint 演示文稿</vt:lpstr>
      <vt:lpstr>中缀式转后缀式</vt:lpstr>
      <vt:lpstr>中缀式转后缀式算法分析：</vt:lpstr>
      <vt:lpstr>中缀式转后缀式算法分析：</vt:lpstr>
      <vt:lpstr>中缀式转后缀式算法：</vt:lpstr>
      <vt:lpstr>中缀式转后缀式算法示例：5*(7-2*3)+8/2转换为 5 7 2 3*-*8 2/+</vt:lpstr>
      <vt:lpstr>中缀转后缀式算法实现</vt:lpstr>
      <vt:lpstr>中缀转后缀式算法实现</vt:lpstr>
      <vt:lpstr>中缀转后缀式算法实现</vt:lpstr>
      <vt:lpstr>PowerPoint 演示文稿</vt:lpstr>
      <vt:lpstr>PowerPoint 演示文稿</vt:lpstr>
      <vt:lpstr>PowerPoint 演示文稿</vt:lpstr>
      <vt:lpstr>队列的定义：</vt:lpstr>
      <vt:lpstr>队列的定义：</vt:lpstr>
      <vt:lpstr>队列的基本操作：</vt:lpstr>
      <vt:lpstr>队列的抽象数据类型：</vt:lpstr>
      <vt:lpstr>PowerPoint 演示文稿</vt:lpstr>
      <vt:lpstr> 顺序队列：</vt:lpstr>
      <vt:lpstr> 顺序队列：</vt:lpstr>
      <vt:lpstr> 顺序队列：</vt:lpstr>
      <vt:lpstr>PowerPoint 演示文稿</vt:lpstr>
      <vt:lpstr> 顺序循环队列类的定义：</vt:lpstr>
      <vt:lpstr> 顺序循环队列类的定义：</vt:lpstr>
      <vt:lpstr> 顺序循环队列类成员函数的实现：</vt:lpstr>
      <vt:lpstr>PowerPoint 演示文稿</vt:lpstr>
      <vt:lpstr>PowerPoint 演示文稿</vt:lpstr>
      <vt:lpstr>PowerPoint 演示文稿</vt:lpstr>
      <vt:lpstr> 链式队列：</vt:lpstr>
      <vt:lpstr>PowerPoint 演示文稿</vt:lpstr>
      <vt:lpstr> 链式队列类的定义：</vt:lpstr>
      <vt:lpstr> 链式队列类的定义：</vt:lpstr>
      <vt:lpstr>PowerPoint 演示文稿</vt:lpstr>
      <vt:lpstr> 链式队列类成员函数的实现：</vt:lpstr>
      <vt:lpstr> 链式队列类成员函数的实现：</vt:lpstr>
      <vt:lpstr> 链式队列类成员函数的实现：</vt:lpstr>
      <vt:lpstr> 链式队列类成员函数的实现：</vt:lpstr>
      <vt:lpstr>PowerPoint 演示文稿</vt:lpstr>
      <vt:lpstr>优先队列：</vt:lpstr>
      <vt:lpstr>顺序优先队列：</vt:lpstr>
      <vt:lpstr>顺序优先队列：</vt:lpstr>
      <vt:lpstr>顺序优先队列：</vt:lpstr>
      <vt:lpstr>链式优先队列：</vt:lpstr>
      <vt:lpstr>PowerPoint 演示文稿</vt:lpstr>
      <vt:lpstr> 队列的应用：单服务窗口模拟</vt:lpstr>
      <vt:lpstr>单服务窗口模拟：</vt:lpstr>
      <vt:lpstr>单服务窗口模拟：</vt:lpstr>
      <vt:lpstr>单服务窗口模拟：</vt:lpstr>
      <vt:lpstr>单服务窗口模拟：</vt:lpstr>
      <vt:lpstr>排队系统的模拟：</vt:lpstr>
      <vt:lpstr>离散事件模拟系统：</vt:lpstr>
      <vt:lpstr>排队系统的实现：</vt:lpstr>
      <vt:lpstr>如何产生顾客到达事件和服务时间：</vt:lpstr>
      <vt:lpstr>均匀分布的概率事件：</vt:lpstr>
      <vt:lpstr>[a，b]之间的随机数的产生：</vt:lpstr>
      <vt:lpstr>虚拟时间：</vt:lpstr>
      <vt:lpstr>离散的时间驱动模拟：</vt:lpstr>
      <vt:lpstr>事件驱动模拟：</vt:lpstr>
      <vt:lpstr>银行排队系统的模拟系统：</vt:lpstr>
      <vt:lpstr>单服务台的排队系统的实现：</vt:lpstr>
      <vt:lpstr>PowerPoint 演示文稿</vt:lpstr>
      <vt:lpstr>多服务窗口模拟：</vt:lpstr>
      <vt:lpstr>小结</vt:lpstr>
      <vt:lpstr>小结</vt:lpstr>
      <vt:lpstr>小结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沈小丹</dc:creator>
  <cp:lastModifiedBy>jie meng</cp:lastModifiedBy>
  <cp:revision>440</cp:revision>
  <dcterms:created xsi:type="dcterms:W3CDTF">2016-04-20T02:59:17Z</dcterms:created>
  <dcterms:modified xsi:type="dcterms:W3CDTF">2023-10-08T02:55:59Z</dcterms:modified>
</cp:coreProperties>
</file>