
<file path=[Content_Types].xml><?xml version="1.0" encoding="utf-8"?>
<Types xmlns="http://schemas.openxmlformats.org/package/2006/content-types">
  <Default Extension="png" ContentType="image/png"/>
  <Default Extension="jpeg" ContentType="image/jpeg"/>
  <Default Extension="JPG" ContentType="image/.jp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handoutMasterIdLst>
    <p:handoutMasterId r:id="rId91"/>
  </p:handoutMasterIdLst>
  <p:sldIdLst>
    <p:sldId id="256" r:id="rId3"/>
    <p:sldId id="257" r:id="rId5"/>
    <p:sldId id="332" r:id="rId6"/>
    <p:sldId id="406" r:id="rId7"/>
    <p:sldId id="416" r:id="rId8"/>
    <p:sldId id="417" r:id="rId9"/>
    <p:sldId id="419" r:id="rId10"/>
    <p:sldId id="334" r:id="rId11"/>
    <p:sldId id="335" r:id="rId12"/>
    <p:sldId id="336" r:id="rId13"/>
    <p:sldId id="337" r:id="rId14"/>
    <p:sldId id="338" r:id="rId15"/>
    <p:sldId id="339" r:id="rId16"/>
    <p:sldId id="340" r:id="rId17"/>
    <p:sldId id="341" r:id="rId18"/>
    <p:sldId id="342" r:id="rId19"/>
    <p:sldId id="343" r:id="rId20"/>
    <p:sldId id="344" r:id="rId21"/>
    <p:sldId id="345" r:id="rId22"/>
    <p:sldId id="346" r:id="rId23"/>
    <p:sldId id="347" r:id="rId24"/>
    <p:sldId id="348" r:id="rId25"/>
    <p:sldId id="349" r:id="rId26"/>
    <p:sldId id="350" r:id="rId27"/>
    <p:sldId id="351" r:id="rId28"/>
    <p:sldId id="352" r:id="rId29"/>
    <p:sldId id="354" r:id="rId30"/>
    <p:sldId id="355" r:id="rId31"/>
    <p:sldId id="356" r:id="rId32"/>
    <p:sldId id="358" r:id="rId33"/>
    <p:sldId id="357" r:id="rId34"/>
    <p:sldId id="359" r:id="rId35"/>
    <p:sldId id="421" r:id="rId36"/>
    <p:sldId id="360" r:id="rId37"/>
    <p:sldId id="364" r:id="rId38"/>
    <p:sldId id="366" r:id="rId39"/>
    <p:sldId id="367" r:id="rId40"/>
    <p:sldId id="368" r:id="rId41"/>
    <p:sldId id="371" r:id="rId42"/>
    <p:sldId id="373" r:id="rId43"/>
    <p:sldId id="369" r:id="rId44"/>
    <p:sldId id="377" r:id="rId45"/>
    <p:sldId id="378" r:id="rId46"/>
    <p:sldId id="379" r:id="rId47"/>
    <p:sldId id="380" r:id="rId48"/>
    <p:sldId id="382" r:id="rId49"/>
    <p:sldId id="376" r:id="rId50"/>
    <p:sldId id="420" r:id="rId51"/>
    <p:sldId id="370" r:id="rId52"/>
    <p:sldId id="361" r:id="rId53"/>
    <p:sldId id="362" r:id="rId54"/>
    <p:sldId id="365" r:id="rId55"/>
    <p:sldId id="381" r:id="rId56"/>
    <p:sldId id="383" r:id="rId57"/>
    <p:sldId id="384" r:id="rId58"/>
    <p:sldId id="289" r:id="rId59"/>
    <p:sldId id="296" r:id="rId60"/>
    <p:sldId id="385" r:id="rId61"/>
    <p:sldId id="386" r:id="rId62"/>
    <p:sldId id="387" r:id="rId63"/>
    <p:sldId id="388" r:id="rId64"/>
    <p:sldId id="389" r:id="rId65"/>
    <p:sldId id="390" r:id="rId66"/>
    <p:sldId id="391" r:id="rId67"/>
    <p:sldId id="392" r:id="rId68"/>
    <p:sldId id="393" r:id="rId69"/>
    <p:sldId id="394" r:id="rId70"/>
    <p:sldId id="395" r:id="rId71"/>
    <p:sldId id="396" r:id="rId72"/>
    <p:sldId id="397" r:id="rId73"/>
    <p:sldId id="398" r:id="rId74"/>
    <p:sldId id="399" r:id="rId75"/>
    <p:sldId id="400" r:id="rId76"/>
    <p:sldId id="401" r:id="rId77"/>
    <p:sldId id="402" r:id="rId78"/>
    <p:sldId id="403" r:id="rId79"/>
    <p:sldId id="404" r:id="rId80"/>
    <p:sldId id="353" r:id="rId81"/>
    <p:sldId id="405" r:id="rId82"/>
    <p:sldId id="408" r:id="rId83"/>
    <p:sldId id="407" r:id="rId84"/>
    <p:sldId id="415" r:id="rId85"/>
    <p:sldId id="411" r:id="rId86"/>
    <p:sldId id="413" r:id="rId87"/>
    <p:sldId id="414" r:id="rId88"/>
    <p:sldId id="410" r:id="rId89"/>
    <p:sldId id="412" r:id="rId90"/>
  </p:sldIdLst>
  <p:sldSz cx="9144000" cy="5143500" type="screen16x9"/>
  <p:notesSz cx="6858000" cy="9144000"/>
  <p:embeddedFontLst>
    <p:embeddedFont>
      <p:font typeface="Raleway"/>
      <p:regular r:id="rId95"/>
    </p:embeddedFont>
    <p:embeddedFont>
      <p:font typeface="Source Sans Pro" panose="020B0503030403020204"/>
      <p:regular r:id="rId96"/>
    </p:embeddedFont>
    <p:embeddedFont>
      <p:font typeface="Source Sans Pro" panose="020B0503030403020204" pitchFamily="34" charset="0"/>
      <p:regular r:id="rId97"/>
    </p:embeddedFont>
    <p:embeddedFont>
      <p:font typeface="黑体" panose="02010609060101010101" pitchFamily="49" charset="-122"/>
      <p:regular r:id="rId98"/>
    </p:embeddedFont>
    <p:embeddedFont>
      <p:font typeface="Raleway" pitchFamily="34" charset="0"/>
      <p:regular r:id="rId99"/>
    </p:embeddedFont>
    <p:embeddedFont>
      <p:font typeface="Tw Cen MT" panose="020B0602020104020603"/>
      <p:regular r:id="rId100"/>
      <p:bold r:id="rId101"/>
      <p:italic r:id="rId102"/>
      <p:boldItalic r:id="rId103"/>
    </p:embeddedFont>
    <p:embeddedFont>
      <p:font typeface="Consolas" panose="020B0609020204030204" pitchFamily="49" charset="0"/>
      <p:regular r:id="rId104"/>
      <p:bold r:id="rId105"/>
      <p:italic r:id="rId106"/>
      <p:boldItalic r:id="rId107"/>
    </p:embeddedFont>
    <p:embeddedFont>
      <p:font typeface="华文仿宋" panose="02010600040101010101" pitchFamily="34" charset="-122"/>
      <p:regular r:id="rId108"/>
    </p:embeddedFont>
  </p:embeddedFontLst>
  <p:custDataLst>
    <p:tags r:id="rId109"/>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521415D9-36F7-43E2-AB2F-B90AF26B5E84}">
      <p14:sectionLst xmlns:p14="http://schemas.microsoft.com/office/powerpoint/2010/main">
        <p14:section name="默认节" id="{FA4343E0-B24A-4A78-ACC4-92B04329ADDA}">
          <p14:sldIdLst>
            <p14:sldId id="256"/>
            <p14:sldId id="257"/>
            <p14:sldId id="332"/>
          </p14:sldIdLst>
        </p14:section>
        <p14:section name="Class" id="{EAA82D0A-0199-405B-842A-49DE69E0697E}">
          <p14:sldIdLst>
            <p14:sldId id="406"/>
            <p14:sldId id="416"/>
            <p14:sldId id="417"/>
            <p14:sldId id="419"/>
            <p14:sldId id="334"/>
            <p14:sldId id="335"/>
            <p14:sldId id="336"/>
            <p14:sldId id="337"/>
            <p14:sldId id="338"/>
            <p14:sldId id="339"/>
            <p14:sldId id="340"/>
            <p14:sldId id="341"/>
            <p14:sldId id="342"/>
            <p14:sldId id="343"/>
            <p14:sldId id="344"/>
            <p14:sldId id="345"/>
            <p14:sldId id="346"/>
            <p14:sldId id="347"/>
            <p14:sldId id="348"/>
            <p14:sldId id="349"/>
            <p14:sldId id="350"/>
            <p14:sldId id="351"/>
            <p14:sldId id="352"/>
            <p14:sldId id="354"/>
            <p14:sldId id="355"/>
            <p14:sldId id="356"/>
            <p14:sldId id="358"/>
            <p14:sldId id="357"/>
            <p14:sldId id="359"/>
          </p14:sldIdLst>
        </p14:section>
        <p14:section name="Inheritance" id="{79ECBB02-F650-6040-9A3B-2EC06A3471EA}">
          <p14:sldIdLst>
            <p14:sldId id="421"/>
            <p14:sldId id="360"/>
            <p14:sldId id="364"/>
            <p14:sldId id="366"/>
            <p14:sldId id="367"/>
            <p14:sldId id="368"/>
            <p14:sldId id="371"/>
            <p14:sldId id="373"/>
            <p14:sldId id="369"/>
            <p14:sldId id="377"/>
            <p14:sldId id="378"/>
            <p14:sldId id="379"/>
            <p14:sldId id="380"/>
            <p14:sldId id="382"/>
            <p14:sldId id="376"/>
            <p14:sldId id="420"/>
            <p14:sldId id="370"/>
            <p14:sldId id="361"/>
            <p14:sldId id="362"/>
            <p14:sldId id="365"/>
            <p14:sldId id="381"/>
            <p14:sldId id="383"/>
            <p14:sldId id="384"/>
          </p14:sldIdLst>
        </p14:section>
        <p14:section name="Module" id="{F866783A-CD8B-468F-910D-FC913A6F6BFD}">
          <p14:sldIdLst>
            <p14:sldId id="289"/>
            <p14:sldId id="296"/>
            <p14:sldId id="385"/>
            <p14:sldId id="386"/>
            <p14:sldId id="387"/>
            <p14:sldId id="388"/>
            <p14:sldId id="389"/>
            <p14:sldId id="390"/>
            <p14:sldId id="391"/>
            <p14:sldId id="392"/>
            <p14:sldId id="393"/>
            <p14:sldId id="394"/>
            <p14:sldId id="395"/>
            <p14:sldId id="396"/>
            <p14:sldId id="397"/>
            <p14:sldId id="398"/>
            <p14:sldId id="399"/>
            <p14:sldId id="400"/>
            <p14:sldId id="401"/>
            <p14:sldId id="402"/>
            <p14:sldId id="403"/>
            <p14:sldId id="404"/>
            <p14:sldId id="353"/>
            <p14:sldId id="405"/>
          </p14:sldIdLst>
        </p14:section>
        <p14:section name="Interpreter" id="{F61EA001-623F-456F-8383-3DCEF078925B}">
          <p14:sldIdLst>
            <p14:sldId id="408"/>
            <p14:sldId id="407"/>
            <p14:sldId id="415"/>
            <p14:sldId id="411"/>
            <p14:sldId id="413"/>
            <p14:sldId id="414"/>
            <p14:sldId id="410"/>
            <p14:sldId id="412"/>
          </p14:sldIdLst>
        </p14:section>
      </p14:sectionLst>
    </p:ex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06" autoAdjust="0"/>
    <p:restoredTop sz="94714"/>
  </p:normalViewPr>
  <p:slideViewPr>
    <p:cSldViewPr snapToGrid="0" showGuides="1">
      <p:cViewPr varScale="1">
        <p:scale>
          <a:sx n="202" d="100"/>
          <a:sy n="202" d="100"/>
        </p:scale>
        <p:origin x="696" y="116"/>
      </p:cViewPr>
      <p:guideLst>
        <p:guide orient="horz" pos="162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font" Target="fonts/font5.fntdata"/><Relationship Id="rId98" Type="http://schemas.openxmlformats.org/officeDocument/2006/relationships/font" Target="fonts/font4.fntdata"/><Relationship Id="rId97" Type="http://schemas.openxmlformats.org/officeDocument/2006/relationships/font" Target="fonts/font3.fntdata"/><Relationship Id="rId96" Type="http://schemas.openxmlformats.org/officeDocument/2006/relationships/font" Target="fonts/font2.fntdata"/><Relationship Id="rId95" Type="http://schemas.openxmlformats.org/officeDocument/2006/relationships/font" Target="fonts/font1.fntdata"/><Relationship Id="rId94" Type="http://schemas.openxmlformats.org/officeDocument/2006/relationships/tableStyles" Target="tableStyles.xml"/><Relationship Id="rId93" Type="http://schemas.openxmlformats.org/officeDocument/2006/relationships/viewProps" Target="viewProps.xml"/><Relationship Id="rId92" Type="http://schemas.openxmlformats.org/officeDocument/2006/relationships/presProps" Target="presProps.xml"/><Relationship Id="rId91" Type="http://schemas.openxmlformats.org/officeDocument/2006/relationships/handoutMaster" Target="handoutMasters/handoutMaster1.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9" Type="http://schemas.openxmlformats.org/officeDocument/2006/relationships/tags" Target="tags/tag4.xml"/><Relationship Id="rId108" Type="http://schemas.openxmlformats.org/officeDocument/2006/relationships/font" Target="fonts/font14.fntdata"/><Relationship Id="rId107" Type="http://schemas.openxmlformats.org/officeDocument/2006/relationships/font" Target="fonts/font13.fntdata"/><Relationship Id="rId106" Type="http://schemas.openxmlformats.org/officeDocument/2006/relationships/font" Target="fonts/font12.fntdata"/><Relationship Id="rId105" Type="http://schemas.openxmlformats.org/officeDocument/2006/relationships/font" Target="fonts/font11.fntdata"/><Relationship Id="rId104" Type="http://schemas.openxmlformats.org/officeDocument/2006/relationships/font" Target="fonts/font10.fntdata"/><Relationship Id="rId103" Type="http://schemas.openxmlformats.org/officeDocument/2006/relationships/font" Target="fonts/font9.fntdata"/><Relationship Id="rId102" Type="http://schemas.openxmlformats.org/officeDocument/2006/relationships/font" Target="fonts/font8.fntdata"/><Relationship Id="rId101" Type="http://schemas.openxmlformats.org/officeDocument/2006/relationships/font" Target="fonts/font7.fntdata"/><Relationship Id="rId100" Type="http://schemas.openxmlformats.org/officeDocument/2006/relationships/font" Target="fonts/font6.fntdata"/><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CC3311C-1080-4025-A587-3C8245D9CD74}"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ltLang="zh-CN"/>
              <a:t>https://zh.wikipedia.org/zh-hans/%E6%91%A9%E5%B0%94%E5%AE%9A%E5%BE%8B</a:t>
            </a:r>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FE7B472-84CF-4C91-970E-0A87C7012FEF}"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p:txBody>
      </p:sp>
    </p:spTree>
  </p:cSld>
  <p:clrMap bg1="lt1" tx1="dk1" bg2="dk2" tx2="lt2" accent1="accent1" accent2="accent2" accent3="accent3" accent4="accent4" accent5="accent5" accent6="accent6" hlink="hlink" folHlink="folHlink"/>
  <p:hf sldNum="0"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4"/>
        <p:cNvGrpSpPr/>
        <p:nvPr/>
      </p:nvGrpSpPr>
      <p:grpSpPr>
        <a:xfrm>
          <a:off x="0" y="0"/>
          <a:ext cx="0" cy="0"/>
          <a:chOff x="0" y="0"/>
          <a:chExt cx="0" cy="0"/>
        </a:xfrm>
      </p:grpSpPr>
      <p:sp>
        <p:nvSpPr>
          <p:cNvPr id="55" name="Google Shape;55;gc6f91993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c6f91993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0"/>
        <p:cNvGrpSpPr/>
        <p:nvPr/>
      </p:nvGrpSpPr>
      <p:grpSpPr>
        <a:xfrm>
          <a:off x="0" y="0"/>
          <a:ext cx="0" cy="0"/>
          <a:chOff x="0" y="0"/>
          <a:chExt cx="0" cy="0"/>
        </a:xfrm>
      </p:grpSpPr>
      <p:sp>
        <p:nvSpPr>
          <p:cNvPr id="61" name="Google Shape;61;gc6f919934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c6f919934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8"/>
        <p:cNvGrpSpPr/>
        <p:nvPr/>
      </p:nvGrpSpPr>
      <p:grpSpPr>
        <a:xfrm>
          <a:off x="0" y="0"/>
          <a:ext cx="0" cy="0"/>
          <a:chOff x="0" y="0"/>
          <a:chExt cx="0" cy="0"/>
        </a:xfrm>
      </p:grpSpPr>
      <p:sp>
        <p:nvSpPr>
          <p:cNvPr id="79" name="Google Shape;79;gc6f919934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c6f919934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8"/>
        <p:cNvGrpSpPr/>
        <p:nvPr/>
      </p:nvGrpSpPr>
      <p:grpSpPr>
        <a:xfrm>
          <a:off x="0" y="0"/>
          <a:ext cx="0" cy="0"/>
          <a:chOff x="0" y="0"/>
          <a:chExt cx="0" cy="0"/>
        </a:xfrm>
      </p:grpSpPr>
      <p:sp>
        <p:nvSpPr>
          <p:cNvPr id="79" name="Google Shape;79;gc6f919934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c6f919934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8"/>
        <p:cNvGrpSpPr/>
        <p:nvPr/>
      </p:nvGrpSpPr>
      <p:grpSpPr>
        <a:xfrm>
          <a:off x="0" y="0"/>
          <a:ext cx="0" cy="0"/>
          <a:chOff x="0" y="0"/>
          <a:chExt cx="0" cy="0"/>
        </a:xfrm>
      </p:grpSpPr>
      <p:sp>
        <p:nvSpPr>
          <p:cNvPr id="79" name="Google Shape;79;gc6f919934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c6f919934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8"/>
        <p:cNvGrpSpPr/>
        <p:nvPr/>
      </p:nvGrpSpPr>
      <p:grpSpPr>
        <a:xfrm>
          <a:off x="0" y="0"/>
          <a:ext cx="0" cy="0"/>
          <a:chOff x="0" y="0"/>
          <a:chExt cx="0" cy="0"/>
        </a:xfrm>
      </p:grpSpPr>
      <p:sp>
        <p:nvSpPr>
          <p:cNvPr id="79" name="Google Shape;79;gc6f919934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c6f919934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9"/>
        <p:cNvGrpSpPr/>
        <p:nvPr/>
      </p:nvGrpSpPr>
      <p:grpSpPr>
        <a:xfrm>
          <a:off x="0" y="0"/>
          <a:ext cx="0" cy="0"/>
          <a:chOff x="0" y="0"/>
          <a:chExt cx="0" cy="0"/>
        </a:xfrm>
      </p:grpSpPr>
      <p:sp>
        <p:nvSpPr>
          <p:cNvPr id="10" name="Google Shape;10;p2"/>
          <p:cNvSpPr/>
          <p:nvPr/>
        </p:nvSpPr>
        <p:spPr>
          <a:xfrm>
            <a:off x="80700" y="2651100"/>
            <a:ext cx="8982600" cy="2411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 name="Google Shape;11;p2"/>
          <p:cNvSpPr txBox="1">
            <a:spLocks noGrp="1"/>
          </p:cNvSpPr>
          <p:nvPr>
            <p:ph type="ctrTitle"/>
          </p:nvPr>
        </p:nvSpPr>
        <p:spPr>
          <a:xfrm>
            <a:off x="485875" y="264475"/>
            <a:ext cx="8183700" cy="14736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2" name="Google Shape;12;p2"/>
          <p:cNvSpPr txBox="1">
            <a:spLocks noGrp="1"/>
          </p:cNvSpPr>
          <p:nvPr>
            <p:ph type="subTitle" idx="1"/>
          </p:nvPr>
        </p:nvSpPr>
        <p:spPr>
          <a:xfrm>
            <a:off x="485875" y="1738075"/>
            <a:ext cx="8183700" cy="861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13" name="Google Shape;13;p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 name="Google Shape;20;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21" name="Google Shape;21;p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2"/>
        </a:solidFill>
        <a:effectLst/>
      </p:bgPr>
    </p:bg>
    <p:spTree>
      <p:nvGrpSpPr>
        <p:cNvPr id="1" name="Shape 34"/>
        <p:cNvGrpSpPr/>
        <p:nvPr/>
      </p:nvGrpSpPr>
      <p:grpSpPr>
        <a:xfrm>
          <a:off x="0" y="0"/>
          <a:ext cx="0" cy="0"/>
          <a:chOff x="0" y="0"/>
          <a:chExt cx="0" cy="0"/>
        </a:xfrm>
      </p:grpSpPr>
      <p:sp>
        <p:nvSpPr>
          <p:cNvPr id="35" name="Google Shape;35;p8"/>
          <p:cNvSpPr txBox="1">
            <a:spLocks noGrp="1"/>
          </p:cNvSpPr>
          <p:nvPr>
            <p:ph type="title"/>
          </p:nvPr>
        </p:nvSpPr>
        <p:spPr>
          <a:xfrm>
            <a:off x="490250" y="526350"/>
            <a:ext cx="56040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6" name="Google Shape;36;p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9"/>
          <p:cNvSpPr/>
          <p:nvPr/>
        </p:nvSpPr>
        <p:spPr>
          <a:xfrm>
            <a:off x="4636800" y="80700"/>
            <a:ext cx="4426500" cy="4982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39" name="Google Shape;39;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0" name="Google Shape;40;p9"/>
          <p:cNvSpPr txBox="1">
            <a:spLocks noGrp="1"/>
          </p:cNvSpPr>
          <p:nvPr>
            <p:ph type="title"/>
          </p:nvPr>
        </p:nvSpPr>
        <p:spPr>
          <a:xfrm>
            <a:off x="265500" y="1181700"/>
            <a:ext cx="4045200" cy="1533600"/>
          </a:xfrm>
          <a:prstGeom prst="rect">
            <a:avLst/>
          </a:prstGeom>
        </p:spPr>
        <p:txBody>
          <a:bodyPr spcFirstLastPara="1" wrap="square" lIns="91425" tIns="91425" rIns="91425" bIns="91425" anchor="b"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1" name="Google Shape;41;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p:txBody>
      </p:sp>
      <p:sp>
        <p:nvSpPr>
          <p:cNvPr id="43" name="Google Shape;43;p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4"/>
        <p:cNvGrpSpPr/>
        <p:nvPr/>
      </p:nvGrpSpPr>
      <p:grpSpPr>
        <a:xfrm>
          <a:off x="0" y="0"/>
          <a:ext cx="0" cy="0"/>
          <a:chOff x="0" y="0"/>
          <a:chExt cx="0" cy="0"/>
        </a:xfrm>
      </p:grpSpPr>
      <p:sp>
        <p:nvSpPr>
          <p:cNvPr id="45" name="Google Shape;45;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100"/>
              <a:buNone/>
              <a:defRPr sz="2100"/>
            </a:lvl1pPr>
          </a:lstStyle>
          <a:p/>
        </p:txBody>
      </p:sp>
      <p:sp>
        <p:nvSpPr>
          <p:cNvPr id="46" name="Google Shape;46;p10"/>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matchingName="Section header">
  <p:cSld name="Section header">
    <p:spTree>
      <p:nvGrpSpPr>
        <p:cNvPr id="1" name="Shape 14"/>
        <p:cNvGrpSpPr/>
        <p:nvPr/>
      </p:nvGrpSpPr>
      <p:grpSpPr>
        <a:xfrm>
          <a:off x="0" y="0"/>
          <a:ext cx="0" cy="0"/>
          <a:chOff x="0" y="0"/>
          <a:chExt cx="0" cy="0"/>
        </a:xfrm>
      </p:grpSpPr>
      <p:sp>
        <p:nvSpPr>
          <p:cNvPr id="15" name="Google Shape;15;p3"/>
          <p:cNvSpPr/>
          <p:nvPr/>
        </p:nvSpPr>
        <p:spPr>
          <a:xfrm>
            <a:off x="80700" y="2651100"/>
            <a:ext cx="8982600" cy="2411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 name="Google Shape;16;p3"/>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rmAutofit/>
          </a:bodyPr>
          <a:lstStyle>
            <a:lvl1pPr lvl="0">
              <a:spcBef>
                <a:spcPts val="0"/>
              </a:spcBef>
              <a:spcAft>
                <a:spcPts val="0"/>
              </a:spcAft>
              <a:buSzPts val="3600"/>
              <a:buNone/>
              <a:defRPr sz="3600">
                <a:latin typeface="Source Sans Pro" panose="020B0503030403020204" pitchFamily="34" charset="0"/>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dirty="0"/>
          </a:p>
        </p:txBody>
      </p:sp>
      <p:sp>
        <p:nvSpPr>
          <p:cNvPr id="17" name="Google Shape;17;p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623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9pPr>
          </a:lstStyle>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lt2"/>
              </a:buClr>
              <a:buSzPts val="1800"/>
              <a:buFont typeface="Source Sans Pro" panose="020B0503030403020204"/>
              <a:buChar char="●"/>
              <a:defRPr sz="1800">
                <a:solidFill>
                  <a:schemeClr val="lt2"/>
                </a:solidFill>
                <a:latin typeface="Source Sans Pro" panose="020B0503030403020204"/>
                <a:ea typeface="Source Sans Pro" panose="020B0503030403020204"/>
                <a:cs typeface="Source Sans Pro" panose="020B0503030403020204"/>
                <a:sym typeface="Source Sans Pro" panose="020B0503030403020204"/>
              </a:defRPr>
            </a:lvl1pPr>
            <a:lvl2pPr marL="914400" lvl="1" indent="-317500">
              <a:lnSpc>
                <a:spcPct val="115000"/>
              </a:lnSpc>
              <a:spcBef>
                <a:spcPts val="0"/>
              </a:spcBef>
              <a:spcAft>
                <a:spcPts val="0"/>
              </a:spcAft>
              <a:buClr>
                <a:schemeClr val="lt2"/>
              </a:buClr>
              <a:buSzPts val="1400"/>
              <a:buFont typeface="Source Sans Pro" panose="020B0503030403020204"/>
              <a:buChar char="○"/>
              <a:defRPr>
                <a:solidFill>
                  <a:schemeClr val="lt2"/>
                </a:solidFill>
                <a:latin typeface="Source Sans Pro" panose="020B0503030403020204"/>
                <a:ea typeface="Source Sans Pro" panose="020B0503030403020204"/>
                <a:cs typeface="Source Sans Pro" panose="020B0503030403020204"/>
                <a:sym typeface="Source Sans Pro" panose="020B0503030403020204"/>
              </a:defRPr>
            </a:lvl2pPr>
            <a:lvl3pPr marL="1371600" lvl="2" indent="-317500">
              <a:lnSpc>
                <a:spcPct val="115000"/>
              </a:lnSpc>
              <a:spcBef>
                <a:spcPts val="0"/>
              </a:spcBef>
              <a:spcAft>
                <a:spcPts val="0"/>
              </a:spcAft>
              <a:buClr>
                <a:schemeClr val="lt2"/>
              </a:buClr>
              <a:buSzPts val="1400"/>
              <a:buFont typeface="Source Sans Pro" panose="020B0503030403020204"/>
              <a:buChar char="■"/>
              <a:defRPr>
                <a:solidFill>
                  <a:schemeClr val="lt2"/>
                </a:solidFill>
                <a:latin typeface="Source Sans Pro" panose="020B0503030403020204"/>
                <a:ea typeface="Source Sans Pro" panose="020B0503030403020204"/>
                <a:cs typeface="Source Sans Pro" panose="020B0503030403020204"/>
                <a:sym typeface="Source Sans Pro" panose="020B0503030403020204"/>
              </a:defRPr>
            </a:lvl3pPr>
            <a:lvl4pPr marL="1828800" lvl="3" indent="-317500">
              <a:lnSpc>
                <a:spcPct val="115000"/>
              </a:lnSpc>
              <a:spcBef>
                <a:spcPts val="0"/>
              </a:spcBef>
              <a:spcAft>
                <a:spcPts val="0"/>
              </a:spcAft>
              <a:buClr>
                <a:schemeClr val="lt2"/>
              </a:buClr>
              <a:buSzPts val="1400"/>
              <a:buFont typeface="Source Sans Pro" panose="020B0503030403020204"/>
              <a:buChar char="●"/>
              <a:defRPr>
                <a:solidFill>
                  <a:schemeClr val="lt2"/>
                </a:solidFill>
                <a:latin typeface="Source Sans Pro" panose="020B0503030403020204"/>
                <a:ea typeface="Source Sans Pro" panose="020B0503030403020204"/>
                <a:cs typeface="Source Sans Pro" panose="020B0503030403020204"/>
                <a:sym typeface="Source Sans Pro" panose="020B0503030403020204"/>
              </a:defRPr>
            </a:lvl4pPr>
            <a:lvl5pPr marL="2286000" lvl="4" indent="-317500">
              <a:lnSpc>
                <a:spcPct val="115000"/>
              </a:lnSpc>
              <a:spcBef>
                <a:spcPts val="0"/>
              </a:spcBef>
              <a:spcAft>
                <a:spcPts val="0"/>
              </a:spcAft>
              <a:buClr>
                <a:schemeClr val="lt2"/>
              </a:buClr>
              <a:buSzPts val="1400"/>
              <a:buFont typeface="Source Sans Pro" panose="020B0503030403020204"/>
              <a:buChar char="○"/>
              <a:defRPr>
                <a:solidFill>
                  <a:schemeClr val="lt2"/>
                </a:solidFill>
                <a:latin typeface="Source Sans Pro" panose="020B0503030403020204"/>
                <a:ea typeface="Source Sans Pro" panose="020B0503030403020204"/>
                <a:cs typeface="Source Sans Pro" panose="020B0503030403020204"/>
                <a:sym typeface="Source Sans Pro" panose="020B0503030403020204"/>
              </a:defRPr>
            </a:lvl5pPr>
            <a:lvl6pPr marL="2743200" lvl="5" indent="-317500">
              <a:lnSpc>
                <a:spcPct val="115000"/>
              </a:lnSpc>
              <a:spcBef>
                <a:spcPts val="0"/>
              </a:spcBef>
              <a:spcAft>
                <a:spcPts val="0"/>
              </a:spcAft>
              <a:buClr>
                <a:schemeClr val="lt2"/>
              </a:buClr>
              <a:buSzPts val="1400"/>
              <a:buFont typeface="Source Sans Pro" panose="020B0503030403020204"/>
              <a:buChar char="■"/>
              <a:defRPr>
                <a:solidFill>
                  <a:schemeClr val="lt2"/>
                </a:solidFill>
                <a:latin typeface="Source Sans Pro" panose="020B0503030403020204"/>
                <a:ea typeface="Source Sans Pro" panose="020B0503030403020204"/>
                <a:cs typeface="Source Sans Pro" panose="020B0503030403020204"/>
                <a:sym typeface="Source Sans Pro" panose="020B0503030403020204"/>
              </a:defRPr>
            </a:lvl6pPr>
            <a:lvl7pPr marL="3200400" lvl="6" indent="-317500">
              <a:lnSpc>
                <a:spcPct val="115000"/>
              </a:lnSpc>
              <a:spcBef>
                <a:spcPts val="0"/>
              </a:spcBef>
              <a:spcAft>
                <a:spcPts val="0"/>
              </a:spcAft>
              <a:buClr>
                <a:schemeClr val="lt2"/>
              </a:buClr>
              <a:buSzPts val="1400"/>
              <a:buFont typeface="Source Sans Pro" panose="020B0503030403020204"/>
              <a:buChar char="●"/>
              <a:defRPr>
                <a:solidFill>
                  <a:schemeClr val="lt2"/>
                </a:solidFill>
                <a:latin typeface="Source Sans Pro" panose="020B0503030403020204"/>
                <a:ea typeface="Source Sans Pro" panose="020B0503030403020204"/>
                <a:cs typeface="Source Sans Pro" panose="020B0503030403020204"/>
                <a:sym typeface="Source Sans Pro" panose="020B0503030403020204"/>
              </a:defRPr>
            </a:lvl7pPr>
            <a:lvl8pPr marL="3657600" lvl="7" indent="-317500">
              <a:lnSpc>
                <a:spcPct val="115000"/>
              </a:lnSpc>
              <a:spcBef>
                <a:spcPts val="0"/>
              </a:spcBef>
              <a:spcAft>
                <a:spcPts val="0"/>
              </a:spcAft>
              <a:buClr>
                <a:schemeClr val="lt2"/>
              </a:buClr>
              <a:buSzPts val="1400"/>
              <a:buFont typeface="Source Sans Pro" panose="020B0503030403020204"/>
              <a:buChar char="○"/>
              <a:defRPr>
                <a:solidFill>
                  <a:schemeClr val="lt2"/>
                </a:solidFill>
                <a:latin typeface="Source Sans Pro" panose="020B0503030403020204"/>
                <a:ea typeface="Source Sans Pro" panose="020B0503030403020204"/>
                <a:cs typeface="Source Sans Pro" panose="020B0503030403020204"/>
                <a:sym typeface="Source Sans Pro" panose="020B0503030403020204"/>
              </a:defRPr>
            </a:lvl8pPr>
            <a:lvl9pPr marL="4114800" lvl="8" indent="-317500">
              <a:lnSpc>
                <a:spcPct val="115000"/>
              </a:lnSpc>
              <a:spcBef>
                <a:spcPts val="0"/>
              </a:spcBef>
              <a:spcAft>
                <a:spcPts val="0"/>
              </a:spcAft>
              <a:buClr>
                <a:schemeClr val="lt2"/>
              </a:buClr>
              <a:buSzPts val="1400"/>
              <a:buFont typeface="Source Sans Pro" panose="020B0503030403020204"/>
              <a:buChar char="■"/>
              <a:defRPr>
                <a:solidFill>
                  <a:schemeClr val="lt2"/>
                </a:solidFill>
                <a:latin typeface="Source Sans Pro" panose="020B0503030403020204"/>
                <a:ea typeface="Source Sans Pro" panose="020B0503030403020204"/>
                <a:cs typeface="Source Sans Pro" panose="020B0503030403020204"/>
                <a:sym typeface="Source Sans Pro" panose="020B0503030403020204"/>
              </a:defRPr>
            </a:lvl9pPr>
          </a:lstStyle>
          <a:p/>
        </p:txBody>
      </p:sp>
      <p:sp>
        <p:nvSpPr>
          <p:cNvPr id="8" name="Google Shape;8;p1"/>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2"/>
                </a:solidFill>
                <a:latin typeface="Source Sans Pro" panose="020B0503030403020204"/>
                <a:ea typeface="Source Sans Pro" panose="020B0503030403020204"/>
                <a:cs typeface="Source Sans Pro" panose="020B0503030403020204"/>
                <a:sym typeface="Source Sans Pro" panose="020B0503030403020204"/>
              </a:defRPr>
            </a:lvl1pPr>
            <a:lvl2pPr lvl="1" algn="r">
              <a:buNone/>
              <a:defRPr sz="1000">
                <a:solidFill>
                  <a:schemeClr val="lt2"/>
                </a:solidFill>
                <a:latin typeface="Source Sans Pro" panose="020B0503030403020204"/>
                <a:ea typeface="Source Sans Pro" panose="020B0503030403020204"/>
                <a:cs typeface="Source Sans Pro" panose="020B0503030403020204"/>
                <a:sym typeface="Source Sans Pro" panose="020B0503030403020204"/>
              </a:defRPr>
            </a:lvl2pPr>
            <a:lvl3pPr lvl="2" algn="r">
              <a:buNone/>
              <a:defRPr sz="1000">
                <a:solidFill>
                  <a:schemeClr val="lt2"/>
                </a:solidFill>
                <a:latin typeface="Source Sans Pro" panose="020B0503030403020204"/>
                <a:ea typeface="Source Sans Pro" panose="020B0503030403020204"/>
                <a:cs typeface="Source Sans Pro" panose="020B0503030403020204"/>
                <a:sym typeface="Source Sans Pro" panose="020B0503030403020204"/>
              </a:defRPr>
            </a:lvl3pPr>
            <a:lvl4pPr lvl="3" algn="r">
              <a:buNone/>
              <a:defRPr sz="1000">
                <a:solidFill>
                  <a:schemeClr val="lt2"/>
                </a:solidFill>
                <a:latin typeface="Source Sans Pro" panose="020B0503030403020204"/>
                <a:ea typeface="Source Sans Pro" panose="020B0503030403020204"/>
                <a:cs typeface="Source Sans Pro" panose="020B0503030403020204"/>
                <a:sym typeface="Source Sans Pro" panose="020B0503030403020204"/>
              </a:defRPr>
            </a:lvl4pPr>
            <a:lvl5pPr lvl="4" algn="r">
              <a:buNone/>
              <a:defRPr sz="1000">
                <a:solidFill>
                  <a:schemeClr val="lt2"/>
                </a:solidFill>
                <a:latin typeface="Source Sans Pro" panose="020B0503030403020204"/>
                <a:ea typeface="Source Sans Pro" panose="020B0503030403020204"/>
                <a:cs typeface="Source Sans Pro" panose="020B0503030403020204"/>
                <a:sym typeface="Source Sans Pro" panose="020B0503030403020204"/>
              </a:defRPr>
            </a:lvl5pPr>
            <a:lvl6pPr lvl="5" algn="r">
              <a:buNone/>
              <a:defRPr sz="1000">
                <a:solidFill>
                  <a:schemeClr val="lt2"/>
                </a:solidFill>
                <a:latin typeface="Source Sans Pro" panose="020B0503030403020204"/>
                <a:ea typeface="Source Sans Pro" panose="020B0503030403020204"/>
                <a:cs typeface="Source Sans Pro" panose="020B0503030403020204"/>
                <a:sym typeface="Source Sans Pro" panose="020B0503030403020204"/>
              </a:defRPr>
            </a:lvl6pPr>
            <a:lvl7pPr lvl="6" algn="r">
              <a:buNone/>
              <a:defRPr sz="1000">
                <a:solidFill>
                  <a:schemeClr val="lt2"/>
                </a:solidFill>
                <a:latin typeface="Source Sans Pro" panose="020B0503030403020204"/>
                <a:ea typeface="Source Sans Pro" panose="020B0503030403020204"/>
                <a:cs typeface="Source Sans Pro" panose="020B0503030403020204"/>
                <a:sym typeface="Source Sans Pro" panose="020B0503030403020204"/>
              </a:defRPr>
            </a:lvl7pPr>
            <a:lvl8pPr lvl="7" algn="r">
              <a:buNone/>
              <a:defRPr sz="1000">
                <a:solidFill>
                  <a:schemeClr val="lt2"/>
                </a:solidFill>
                <a:latin typeface="Source Sans Pro" panose="020B0503030403020204"/>
                <a:ea typeface="Source Sans Pro" panose="020B0503030403020204"/>
                <a:cs typeface="Source Sans Pro" panose="020B0503030403020204"/>
                <a:sym typeface="Source Sans Pro" panose="020B0503030403020204"/>
              </a:defRPr>
            </a:lvl8pPr>
            <a:lvl9pPr lvl="8" algn="r">
              <a:buNone/>
              <a:defRPr sz="1000">
                <a:solidFill>
                  <a:schemeClr val="lt2"/>
                </a:solidFill>
                <a:latin typeface="Source Sans Pro" panose="020B0503030403020204"/>
                <a:ea typeface="Source Sans Pro" panose="020B0503030403020204"/>
                <a:cs typeface="Source Sans Pro" panose="020B0503030403020204"/>
                <a:sym typeface="Source Sans Pro" panose="020B0503030403020204"/>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png"/><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hyperlink" Target="mailto:chengfan85@gmail.com"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6.jpeg"/><Relationship Id="rId1" Type="http://schemas.openxmlformats.org/officeDocument/2006/relationships/image" Target="../media/image5.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1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5.png"/><Relationship Id="rId1"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image" Target="../media/image28.png"/></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3.png"/><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5.png"/><Relationship Id="rId1" Type="http://schemas.openxmlformats.org/officeDocument/2006/relationships/image" Target="../media/image34.png"/></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9.png"/><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image" Target="../media/image36.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image" Target="../media/image40.png"/></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6.png"/><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image" Target="../media/image43.pn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image" Target="../media/image47.png"/></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image" Target="../media/image50.png"/></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image" Target="../media/image53.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7.png"/><Relationship Id="rId1" Type="http://schemas.openxmlformats.org/officeDocument/2006/relationships/image" Target="../media/image56.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9.png"/><Relationship Id="rId1" Type="http://schemas.openxmlformats.org/officeDocument/2006/relationships/image" Target="../media/image5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1.png"/><Relationship Id="rId1" Type="http://schemas.openxmlformats.org/officeDocument/2006/relationships/image" Target="../media/image60.png"/></Relationships>
</file>

<file path=ppt/slides/_rels/slide3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5.png"/><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image" Target="../media/image62.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7.png"/><Relationship Id="rId1" Type="http://schemas.openxmlformats.org/officeDocument/2006/relationships/image" Target="../media/image66.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8.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9.jpeg"/></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image" Target="../media/image70.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4.png"/><Relationship Id="rId1" Type="http://schemas.openxmlformats.org/officeDocument/2006/relationships/image" Target="../media/image73.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6.png"/><Relationship Id="rId1" Type="http://schemas.openxmlformats.org/officeDocument/2006/relationships/image" Target="../media/image75.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8.png"/><Relationship Id="rId1" Type="http://schemas.openxmlformats.org/officeDocument/2006/relationships/image" Target="../media/image77.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0.png"/><Relationship Id="rId1" Type="http://schemas.openxmlformats.org/officeDocument/2006/relationships/image" Target="../media/image79.png"/></Relationships>
</file>

<file path=ppt/slides/_rels/slide40.xml.rels><?xml version="1.0" encoding="UTF-8" standalone="yes"?>
<Relationships xmlns="http://schemas.openxmlformats.org/package/2006/relationships"><Relationship Id="rId9" Type="http://schemas.openxmlformats.org/officeDocument/2006/relationships/image" Target="../media/image89.png"/><Relationship Id="rId8" Type="http://schemas.openxmlformats.org/officeDocument/2006/relationships/image" Target="../media/image88.png"/><Relationship Id="rId7" Type="http://schemas.openxmlformats.org/officeDocument/2006/relationships/image" Target="../media/image87.png"/><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 Id="rId3" Type="http://schemas.openxmlformats.org/officeDocument/2006/relationships/image" Target="../media/image83.png"/><Relationship Id="rId2" Type="http://schemas.openxmlformats.org/officeDocument/2006/relationships/image" Target="../media/image82.png"/><Relationship Id="rId10" Type="http://schemas.openxmlformats.org/officeDocument/2006/relationships/slideLayout" Target="../slideLayouts/slideLayout2.xml"/><Relationship Id="rId1" Type="http://schemas.openxmlformats.org/officeDocument/2006/relationships/image" Target="../media/image81.png"/></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image" Target="../media/image9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image" Target="../media/image93.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7.png"/><Relationship Id="rId1" Type="http://schemas.openxmlformats.org/officeDocument/2006/relationships/image" Target="../media/image96.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9.png"/><Relationship Id="rId1" Type="http://schemas.openxmlformats.org/officeDocument/2006/relationships/image" Target="../media/image98.pn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1.png"/><Relationship Id="rId1" Type="http://schemas.openxmlformats.org/officeDocument/2006/relationships/image" Target="../media/image100.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3.png"/><Relationship Id="rId1" Type="http://schemas.openxmlformats.org/officeDocument/2006/relationships/image" Target="../media/image102.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4.jpeg"/></Relationships>
</file>

<file path=ppt/slides/_rels/slide4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08.png"/><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image" Target="../media/image105.pn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0.png"/><Relationship Id="rId1" Type="http://schemas.openxmlformats.org/officeDocument/2006/relationships/image" Target="../media/image10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1.png"/></Relationships>
</file>

<file path=ppt/slides/_rels/slide5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17.png"/><Relationship Id="rId5" Type="http://schemas.openxmlformats.org/officeDocument/2006/relationships/image" Target="../media/image116.png"/><Relationship Id="rId4" Type="http://schemas.openxmlformats.org/officeDocument/2006/relationships/image" Target="../media/image115.png"/><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image" Target="../media/image11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22.png"/><Relationship Id="rId4" Type="http://schemas.openxmlformats.org/officeDocument/2006/relationships/image" Target="../media/image121.png"/><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image" Target="../media/image11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3.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3.png"/></Relationships>
</file>

<file path=ppt/slides/_rels/slide62.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image" Target="../media/image126.png"/><Relationship Id="rId2" Type="http://schemas.openxmlformats.org/officeDocument/2006/relationships/image" Target="../media/image125.png"/><Relationship Id="rId1" Type="http://schemas.openxmlformats.org/officeDocument/2006/relationships/image" Target="../media/image124.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4.png"/><Relationship Id="rId2" Type="http://schemas.openxmlformats.org/officeDocument/2006/relationships/image" Target="../media/image129.png"/><Relationship Id="rId1" Type="http://schemas.openxmlformats.org/officeDocument/2006/relationships/image" Target="../media/image128.png"/></Relationships>
</file>

<file path=ppt/slides/_rels/slide6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32.png"/><Relationship Id="rId2" Type="http://schemas.openxmlformats.org/officeDocument/2006/relationships/image" Target="../media/image131.png"/><Relationship Id="rId1" Type="http://schemas.openxmlformats.org/officeDocument/2006/relationships/image" Target="../media/image13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36.png"/><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image" Target="../media/image133.png"/></Relationships>
</file>

<file path=ppt/slides/_rels/slide7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39.png"/><Relationship Id="rId2" Type="http://schemas.openxmlformats.org/officeDocument/2006/relationships/image" Target="../media/image138.png"/><Relationship Id="rId1" Type="http://schemas.openxmlformats.org/officeDocument/2006/relationships/image" Target="../media/image137.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40.png"/></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41.png"/></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42.png"/></Relationships>
</file>

<file path=ppt/slides/_rels/slide78.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2.xml"/><Relationship Id="rId4" Type="http://schemas.openxmlformats.org/officeDocument/2006/relationships/image" Target="../media/image146.png"/><Relationship Id="rId3" Type="http://schemas.openxmlformats.org/officeDocument/2006/relationships/image" Target="../media/image145.png"/><Relationship Id="rId2" Type="http://schemas.openxmlformats.org/officeDocument/2006/relationships/image" Target="../media/image144.png"/><Relationship Id="rId1" Type="http://schemas.openxmlformats.org/officeDocument/2006/relationships/image" Target="../media/image143.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7.GIF"/></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8.jpe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85.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2.xml"/><Relationship Id="rId5" Type="http://schemas.openxmlformats.org/officeDocument/2006/relationships/image" Target="../media/image153.png"/><Relationship Id="rId4" Type="http://schemas.openxmlformats.org/officeDocument/2006/relationships/image" Target="../media/image152.png"/><Relationship Id="rId3" Type="http://schemas.openxmlformats.org/officeDocument/2006/relationships/image" Target="../media/image151.png"/><Relationship Id="rId2" Type="http://schemas.openxmlformats.org/officeDocument/2006/relationships/image" Target="../media/image150.png"/><Relationship Id="rId1" Type="http://schemas.openxmlformats.org/officeDocument/2006/relationships/image" Target="../media/image149.png"/></Relationships>
</file>

<file path=ppt/slides/_rels/slide8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3.xml"/><Relationship Id="rId4" Type="http://schemas.openxmlformats.org/officeDocument/2006/relationships/image" Target="../media/image157.png"/><Relationship Id="rId3" Type="http://schemas.openxmlformats.org/officeDocument/2006/relationships/image" Target="../media/image156.png"/><Relationship Id="rId2" Type="http://schemas.openxmlformats.org/officeDocument/2006/relationships/image" Target="../media/image155.png"/><Relationship Id="rId1" Type="http://schemas.openxmlformats.org/officeDocument/2006/relationships/image" Target="../media/image154.png"/></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jython-devguide.readthedocs.io/en/latest/compiler.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13"/>
          <p:cNvSpPr txBox="1">
            <a:spLocks noGrp="1"/>
          </p:cNvSpPr>
          <p:nvPr>
            <p:ph type="ctrTitle"/>
          </p:nvPr>
        </p:nvSpPr>
        <p:spPr>
          <a:xfrm>
            <a:off x="485875" y="264475"/>
            <a:ext cx="8183700" cy="1473600"/>
          </a:xfrm>
          <a:prstGeom prst="rect">
            <a:avLst/>
          </a:prstGeom>
        </p:spPr>
        <p:txBody>
          <a:bodyPr spcFirstLastPara="1" wrap="square" lIns="91425" tIns="91425" rIns="91425" bIns="91425" anchor="b" anchorCtr="0">
            <a:normAutofit/>
          </a:bodyPr>
          <a:lstStyle/>
          <a:p>
            <a:pPr marL="0" lvl="0" indent="0" rtl="0">
              <a:spcBef>
                <a:spcPts val="0"/>
              </a:spcBef>
              <a:spcAft>
                <a:spcPts val="0"/>
              </a:spcAft>
              <a:buNone/>
            </a:pPr>
            <a:r>
              <a:rPr lang="en-US" altLang="zh-CN" dirty="0"/>
              <a:t>Introduction to Computation</a:t>
            </a:r>
            <a:endParaRPr dirty="0"/>
          </a:p>
        </p:txBody>
      </p:sp>
      <p:sp>
        <p:nvSpPr>
          <p:cNvPr id="59" name="Google Shape;59;p13"/>
          <p:cNvSpPr txBox="1">
            <a:spLocks noGrp="1"/>
          </p:cNvSpPr>
          <p:nvPr>
            <p:ph type="subTitle" idx="1"/>
          </p:nvPr>
        </p:nvSpPr>
        <p:spPr>
          <a:xfrm>
            <a:off x="485875" y="1738075"/>
            <a:ext cx="8183700" cy="861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dirty="0"/>
              <a:t>Autumn, 2023</a:t>
            </a:r>
            <a:endParaRPr lang="en-GB" dirty="0"/>
          </a:p>
        </p:txBody>
      </p:sp>
      <p:sp>
        <p:nvSpPr>
          <p:cNvPr id="4" name="文本框 3"/>
          <p:cNvSpPr txBox="1"/>
          <p:nvPr/>
        </p:nvSpPr>
        <p:spPr>
          <a:xfrm>
            <a:off x="485875" y="2940517"/>
            <a:ext cx="3374642" cy="1754326"/>
          </a:xfrm>
          <a:prstGeom prst="rect">
            <a:avLst/>
          </a:prstGeom>
          <a:noFill/>
        </p:spPr>
        <p:txBody>
          <a:bodyPr wrap="none" rtlCol="0">
            <a:spAutoFit/>
          </a:bodyPr>
          <a:lstStyle/>
          <a:p>
            <a:r>
              <a:rPr lang="en-US" altLang="zh-CN" sz="1800" dirty="0">
                <a:solidFill>
                  <a:schemeClr val="bg1"/>
                </a:solidFill>
                <a:latin typeface="Source Sans Pro" panose="020B0503030403020204" pitchFamily="34" charset="0"/>
                <a:ea typeface="Source Sans Pro" panose="020B0503030403020204" pitchFamily="34" charset="0"/>
              </a:rPr>
              <a:t>Prof. Fan Cheng</a:t>
            </a:r>
            <a:endParaRPr lang="en-US" altLang="zh-CN" sz="1800" dirty="0">
              <a:solidFill>
                <a:schemeClr val="bg1"/>
              </a:solidFill>
              <a:latin typeface="Source Sans Pro" panose="020B0503030403020204" pitchFamily="34" charset="0"/>
              <a:ea typeface="Source Sans Pro" panose="020B0503030403020204" pitchFamily="34" charset="0"/>
            </a:endParaRPr>
          </a:p>
          <a:p>
            <a:endParaRPr lang="en-US" altLang="zh-CN" sz="1800" dirty="0">
              <a:solidFill>
                <a:schemeClr val="bg1"/>
              </a:solidFill>
              <a:latin typeface="Source Sans Pro" panose="020B0503030403020204" pitchFamily="34" charset="0"/>
              <a:ea typeface="Source Sans Pro" panose="020B0503030403020204" pitchFamily="34" charset="0"/>
            </a:endParaRPr>
          </a:p>
          <a:p>
            <a:r>
              <a:rPr lang="en-US" altLang="zh-CN" sz="1800" dirty="0">
                <a:solidFill>
                  <a:schemeClr val="bg1"/>
                </a:solidFill>
                <a:latin typeface="Source Sans Pro" panose="020B0503030403020204" pitchFamily="34" charset="0"/>
                <a:ea typeface="Source Sans Pro" panose="020B0503030403020204" pitchFamily="34" charset="0"/>
              </a:rPr>
              <a:t>Shanghai Jiao</a:t>
            </a:r>
            <a:r>
              <a:rPr lang="zh-CN" altLang="en-US" sz="1800" dirty="0">
                <a:solidFill>
                  <a:schemeClr val="bg1"/>
                </a:solidFill>
                <a:latin typeface="Source Sans Pro" panose="020B0503030403020204" pitchFamily="34" charset="0"/>
              </a:rPr>
              <a:t> </a:t>
            </a:r>
            <a:r>
              <a:rPr lang="en-US" altLang="zh-CN" sz="1800" dirty="0">
                <a:solidFill>
                  <a:schemeClr val="bg1"/>
                </a:solidFill>
                <a:latin typeface="Source Sans Pro" panose="020B0503030403020204" pitchFamily="34" charset="0"/>
                <a:ea typeface="Source Sans Pro" panose="020B0503030403020204" pitchFamily="34" charset="0"/>
              </a:rPr>
              <a:t>Tong</a:t>
            </a:r>
            <a:r>
              <a:rPr lang="zh-CN" altLang="en-US" sz="1800" dirty="0">
                <a:solidFill>
                  <a:schemeClr val="bg1"/>
                </a:solidFill>
                <a:latin typeface="Source Sans Pro" panose="020B0503030403020204" pitchFamily="34" charset="0"/>
              </a:rPr>
              <a:t> </a:t>
            </a:r>
            <a:r>
              <a:rPr lang="en-US" altLang="zh-CN" sz="1800" dirty="0">
                <a:solidFill>
                  <a:schemeClr val="bg1"/>
                </a:solidFill>
                <a:latin typeface="Source Sans Pro" panose="020B0503030403020204" pitchFamily="34" charset="0"/>
                <a:ea typeface="Source Sans Pro" panose="020B0503030403020204" pitchFamily="34" charset="0"/>
              </a:rPr>
              <a:t>University</a:t>
            </a:r>
            <a:endParaRPr lang="en-US" altLang="zh-CN" sz="1800" dirty="0">
              <a:solidFill>
                <a:schemeClr val="bg1"/>
              </a:solidFill>
              <a:latin typeface="Source Sans Pro" panose="020B0503030403020204" pitchFamily="34" charset="0"/>
              <a:ea typeface="Source Sans Pro" panose="020B0503030403020204" pitchFamily="34" charset="0"/>
            </a:endParaRPr>
          </a:p>
          <a:p>
            <a:endParaRPr lang="en-US" altLang="zh-CN" sz="1800" dirty="0">
              <a:solidFill>
                <a:schemeClr val="bg1"/>
              </a:solidFill>
              <a:latin typeface="Source Sans Pro" panose="020B0503030403020204" pitchFamily="34" charset="0"/>
              <a:ea typeface="Source Sans Pro" panose="020B0503030403020204" pitchFamily="34" charset="0"/>
              <a:hlinkClick r:id="rId1"/>
            </a:endParaRPr>
          </a:p>
          <a:p>
            <a:r>
              <a:rPr lang="en-US" altLang="zh-CN" sz="1800" dirty="0">
                <a:solidFill>
                  <a:schemeClr val="bg1"/>
                </a:solidFill>
                <a:latin typeface="Source Sans Pro" panose="020B0503030403020204" pitchFamily="34" charset="0"/>
                <a:ea typeface="Source Sans Pro" panose="020B0503030403020204" pitchFamily="34" charset="0"/>
              </a:rPr>
              <a:t>chengfan85@gmail.com</a:t>
            </a:r>
            <a:endParaRPr lang="en-US" altLang="zh-CN" sz="1800" dirty="0">
              <a:solidFill>
                <a:schemeClr val="bg1"/>
              </a:solidFill>
              <a:latin typeface="Source Sans Pro" panose="020B0503030403020204" pitchFamily="34" charset="0"/>
              <a:ea typeface="Source Sans Pro" panose="020B0503030403020204" pitchFamily="34" charset="0"/>
            </a:endParaRPr>
          </a:p>
          <a:p>
            <a:r>
              <a:rPr lang="en-US" altLang="zh-CN" sz="1800" dirty="0">
                <a:solidFill>
                  <a:schemeClr val="bg1"/>
                </a:solidFill>
                <a:latin typeface="Source Sans Pro" panose="020B0503030403020204" pitchFamily="34" charset="0"/>
                <a:ea typeface="Source Sans Pro" panose="020B0503030403020204" pitchFamily="34" charset="0"/>
              </a:rPr>
              <a:t>https://github.com/ichengfan/itc</a:t>
            </a:r>
            <a:endParaRPr lang="en-US" altLang="zh-CN" sz="1800" dirty="0">
              <a:solidFill>
                <a:schemeClr val="bg1"/>
              </a:solidFill>
              <a:latin typeface="Source Sans Pro" panose="020B0503030403020204" pitchFamily="34" charset="0"/>
              <a:ea typeface="Source Sans Pro" panose="020B0503030403020204" pitchFamily="34" charset="0"/>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554393" y="2821214"/>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Picture 2" descr="Premium Vector | Cute green tree python carto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4392" y="4038081"/>
            <a:ext cx="914400" cy="9144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Image result for eight quee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97927" y="4038079"/>
            <a:ext cx="914399" cy="914400"/>
          </a:xfrm>
          <a:prstGeom prst="rect">
            <a:avLst/>
          </a:prstGeom>
          <a:noFill/>
          <a:extLst>
            <a:ext uri="{909E8E84-426E-40DD-AFC4-6F175D3DCCD1}">
              <a14:hiddenFill xmlns:a14="http://schemas.microsoft.com/office/drawing/2010/main">
                <a:solidFill>
                  <a:srgbClr val="FFFFFF"/>
                </a:solidFill>
              </a14:hiddenFill>
            </a:ext>
          </a:extLst>
        </p:spPr>
      </p:pic>
      <p:grpSp>
        <p:nvGrpSpPr>
          <p:cNvPr id="7" name="组合 6"/>
          <p:cNvGrpSpPr/>
          <p:nvPr/>
        </p:nvGrpSpPr>
        <p:grpSpPr>
          <a:xfrm>
            <a:off x="6797927" y="2821214"/>
            <a:ext cx="914400" cy="914400"/>
            <a:chOff x="6180217" y="2783700"/>
            <a:chExt cx="914400" cy="914400"/>
          </a:xfrm>
        </p:grpSpPr>
        <p:sp>
          <p:nvSpPr>
            <p:cNvPr id="6" name="文本框 5"/>
            <p:cNvSpPr txBox="1"/>
            <p:nvPr/>
          </p:nvSpPr>
          <p:spPr>
            <a:xfrm>
              <a:off x="6180217" y="2783700"/>
              <a:ext cx="914400" cy="914400"/>
            </a:xfrm>
            <a:prstGeom prst="rect">
              <a:avLst/>
            </a:prstGeom>
            <a:solidFill>
              <a:schemeClr val="bg1"/>
            </a:solidFill>
          </p:spPr>
          <p:txBody>
            <a:bodyPr wrap="square" rtlCol="0">
              <a:spAutoFit/>
            </a:bodyPr>
            <a:lstStyle/>
            <a:p>
              <a:endParaRPr lang="zh-CN" altLang="en-US" dirty="0"/>
            </a:p>
          </p:txBody>
        </p:sp>
        <p:pic>
          <p:nvPicPr>
            <p:cNvPr id="3"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18718" y="2783700"/>
              <a:ext cx="837395" cy="914400"/>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4"/>
          <p:cNvSpPr txBox="1">
            <a:spLocks noGrp="1"/>
          </p:cNvSpPr>
          <p:nvPr>
            <p:ph type="title"/>
          </p:nvPr>
        </p:nvSpPr>
        <p:spPr>
          <a:xfrm>
            <a:off x="265500" y="1718250"/>
            <a:ext cx="4045200" cy="17070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dirty="0"/>
              <a:t>Outline</a:t>
            </a:r>
            <a:endParaRPr dirty="0"/>
          </a:p>
        </p:txBody>
      </p:sp>
      <p:sp>
        <p:nvSpPr>
          <p:cNvPr id="65" name="Google Shape;65;p14"/>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p>
            <a:pPr marL="457200" lvl="0" indent="-342900" algn="l" rtl="0">
              <a:spcBef>
                <a:spcPts val="0"/>
              </a:spcBef>
              <a:spcAft>
                <a:spcPts val="0"/>
              </a:spcAft>
              <a:buSzPts val="1800"/>
              <a:buChar char="●"/>
            </a:pPr>
            <a:r>
              <a:rPr lang="en-US" dirty="0"/>
              <a:t>Class</a:t>
            </a:r>
            <a:endParaRPr lang="en-US" dirty="0"/>
          </a:p>
          <a:p>
            <a:pPr lvl="1" indent="-342900">
              <a:buSzPts val="1800"/>
              <a:buChar char="●"/>
            </a:pPr>
            <a:r>
              <a:rPr lang="en-US" altLang="zh-CN" dirty="0"/>
              <a:t>Inheritance</a:t>
            </a:r>
            <a:endParaRPr lang="en-US" dirty="0"/>
          </a:p>
          <a:p>
            <a:pPr marL="457200" lvl="0" indent="-342900" algn="l" rtl="0">
              <a:spcBef>
                <a:spcPts val="0"/>
              </a:spcBef>
              <a:spcAft>
                <a:spcPts val="0"/>
              </a:spcAft>
              <a:buSzPts val="1800"/>
              <a:buChar char="●"/>
            </a:pPr>
            <a:r>
              <a:rPr lang="en-US" dirty="0"/>
              <a:t>Module</a:t>
            </a:r>
            <a:endParaRPr lang="en-US" dirty="0"/>
          </a:p>
          <a:p>
            <a:pPr marL="457200" lvl="0" indent="-342900" algn="l" rtl="0">
              <a:spcBef>
                <a:spcPts val="0"/>
              </a:spcBef>
              <a:spcAft>
                <a:spcPts val="0"/>
              </a:spcAft>
              <a:buSzPts val="1800"/>
              <a:buChar char="●"/>
            </a:pPr>
            <a:r>
              <a:rPr lang="en-US" dirty="0"/>
              <a:t>Interpreter</a:t>
            </a:r>
            <a:endParaRPr lang="en-US" dirty="0"/>
          </a:p>
        </p:txBody>
      </p:sp>
      <p:grpSp>
        <p:nvGrpSpPr>
          <p:cNvPr id="5" name="组合 4"/>
          <p:cNvGrpSpPr/>
          <p:nvPr/>
        </p:nvGrpSpPr>
        <p:grpSpPr>
          <a:xfrm>
            <a:off x="1201247" y="1041933"/>
            <a:ext cx="2173705" cy="1005840"/>
            <a:chOff x="1289479" y="969745"/>
            <a:chExt cx="2173705" cy="1005840"/>
          </a:xfrm>
        </p:grpSpPr>
        <p:sp>
          <p:nvSpPr>
            <p:cNvPr id="4" name="椭圆 3"/>
            <p:cNvSpPr/>
            <p:nvPr/>
          </p:nvSpPr>
          <p:spPr>
            <a:xfrm>
              <a:off x="1289479" y="969745"/>
              <a:ext cx="1005840" cy="1005840"/>
            </a:xfrm>
            <a:prstGeom prst="ellipse">
              <a:avLst/>
            </a:prstGeom>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zh-CN" sz="4800" dirty="0"/>
                <a:t>9</a:t>
              </a:r>
              <a:endParaRPr lang="en-US" altLang="zh-CN" sz="4800" dirty="0"/>
            </a:p>
          </p:txBody>
        </p:sp>
        <p:sp>
          <p:nvSpPr>
            <p:cNvPr id="3" name="椭圆 2"/>
            <p:cNvSpPr/>
            <p:nvPr/>
          </p:nvSpPr>
          <p:spPr>
            <a:xfrm>
              <a:off x="2457344" y="969745"/>
              <a:ext cx="1005840" cy="1005840"/>
            </a:xfrm>
            <a:prstGeom prst="ellipse">
              <a:avLst/>
            </a:prstGeom>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zh-CN" sz="3700" dirty="0"/>
                <a:t>10</a:t>
              </a:r>
              <a:endParaRPr lang="en-US" altLang="zh-CN" sz="3700" dirty="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网络机房布线图片,机房布线效果图- 伤感说说吧"/>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36845" y="955209"/>
            <a:ext cx="2502637" cy="313271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服务器机房中的电缆网络电缆与布线不良的电缆概念缠结，在服务器机房中组织布线库存图片- 图片包括有机架, 插入: 22208724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1313" y="1431131"/>
            <a:ext cx="3015842" cy="218086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1"/>
          <p:cNvSpPr/>
          <p:nvPr/>
        </p:nvSpPr>
        <p:spPr>
          <a:xfrm>
            <a:off x="6771373" y="4384306"/>
            <a:ext cx="1882405" cy="295347"/>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b="1" dirty="0">
                <a:solidFill>
                  <a:schemeClr val="tx1"/>
                </a:solidFill>
                <a:latin typeface="黑体" panose="02010609060101010101" pitchFamily="49" charset="-122"/>
                <a:ea typeface="黑体" panose="02010609060101010101" pitchFamily="49" charset="-122"/>
              </a:rPr>
              <a:t>清晰、有条理、减少</a:t>
            </a:r>
            <a:r>
              <a:rPr lang="en-US" altLang="zh-CN" sz="1200" b="1" dirty="0">
                <a:solidFill>
                  <a:schemeClr val="tx1"/>
                </a:solidFill>
                <a:latin typeface="Source Sans Pro" panose="020B0503030403020204" pitchFamily="34" charset="0"/>
                <a:ea typeface="Source Sans Pro" panose="020B0503030403020204" pitchFamily="34" charset="0"/>
              </a:rPr>
              <a:t>bug</a:t>
            </a:r>
            <a:endParaRPr lang="en-US" altLang="zh-CN" sz="1200" b="1" dirty="0">
              <a:solidFill>
                <a:schemeClr val="tx1"/>
              </a:solidFill>
              <a:latin typeface="Source Sans Pro" panose="020B0503030403020204" pitchFamily="34" charset="0"/>
              <a:ea typeface="Source Sans Pro" panose="020B0503030403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US" dirty="0">
                <a:latin typeface="Raleway" pitchFamily="34" charset="0"/>
                <a:ea typeface="Source Sans Pro" panose="020B0503030403020204" pitchFamily="34" charset="0"/>
              </a:rPr>
              <a:t>Class</a:t>
            </a:r>
            <a:endParaRPr dirty="0">
              <a:latin typeface="Raleway" pitchFamily="34" charset="0"/>
              <a:ea typeface="Source Sans Pro" panose="020B0503030403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a:t>Module, Class and Function: WHY? </a:t>
            </a:r>
            <a:endParaRPr kumimoji="1" lang="zh-CN" altLang="en-US" dirty="0"/>
          </a:p>
        </p:txBody>
      </p:sp>
      <p:sp>
        <p:nvSpPr>
          <p:cNvPr id="3" name="文本占位符 2"/>
          <p:cNvSpPr>
            <a:spLocks noGrp="1"/>
          </p:cNvSpPr>
          <p:nvPr>
            <p:ph type="body" idx="1"/>
          </p:nvPr>
        </p:nvSpPr>
        <p:spPr>
          <a:xfrm>
            <a:off x="311700" y="2571750"/>
            <a:ext cx="8520600" cy="2450804"/>
          </a:xfrm>
        </p:spPr>
        <p:txBody>
          <a:bodyPr>
            <a:normAutofit/>
          </a:bodyPr>
          <a:lstStyle/>
          <a:p>
            <a:pPr marL="114300" indent="0">
              <a:buNone/>
            </a:pPr>
            <a:r>
              <a:rPr kumimoji="1" lang="en-GB" altLang="zh-CN" sz="1400" dirty="0">
                <a:solidFill>
                  <a:schemeClr val="bg2"/>
                </a:solidFill>
                <a:latin typeface="Source Sans Pro" panose="020B0503030403020204" pitchFamily="34" charset="0"/>
                <a:ea typeface="Source Sans Pro" panose="020B0503030403020204" pitchFamily="34" charset="0"/>
              </a:rPr>
              <a:t>How to mange a city with a population of 26,000,000 (e.g., Shanghai)</a:t>
            </a:r>
            <a:endParaRPr kumimoji="1" lang="en-GB" altLang="zh-CN" sz="1400" dirty="0">
              <a:solidFill>
                <a:schemeClr val="bg2"/>
              </a:solidFill>
              <a:latin typeface="Source Sans Pro" panose="020B0503030403020204" pitchFamily="34" charset="0"/>
              <a:ea typeface="Source Sans Pro" panose="020B0503030403020204" pitchFamily="34" charset="0"/>
            </a:endParaRPr>
          </a:p>
          <a:p>
            <a:pPr lvl="1"/>
            <a:r>
              <a:rPr kumimoji="1" lang="zh-CN" altLang="en-US" sz="1200" dirty="0">
                <a:solidFill>
                  <a:schemeClr val="bg2"/>
                </a:solidFill>
                <a:latin typeface="Source Sans Pro" panose="020B0503030403020204" pitchFamily="34" charset="0"/>
                <a:ea typeface="黑体" panose="02010609060101010101" pitchFamily="49" charset="-122"/>
              </a:rPr>
              <a:t>分而治之：中央政府</a:t>
            </a:r>
            <a:r>
              <a:rPr kumimoji="1" lang="en-US" altLang="zh-CN" sz="1200" dirty="0">
                <a:solidFill>
                  <a:schemeClr val="bg2"/>
                </a:solidFill>
                <a:latin typeface="Source Sans Pro" panose="020B0503030403020204" pitchFamily="34" charset="0"/>
                <a:ea typeface="Source Sans Pro" panose="020B0503030403020204" pitchFamily="34" charset="0"/>
              </a:rPr>
              <a:t>—</a:t>
            </a:r>
            <a:r>
              <a:rPr kumimoji="1" lang="zh-CN" altLang="en-US" sz="1200" dirty="0">
                <a:solidFill>
                  <a:schemeClr val="bg2"/>
                </a:solidFill>
                <a:latin typeface="Source Sans Pro" panose="020B0503030403020204" pitchFamily="34" charset="0"/>
                <a:ea typeface="黑体" panose="02010609060101010101" pitchFamily="49" charset="-122"/>
              </a:rPr>
              <a:t>省</a:t>
            </a:r>
            <a:r>
              <a:rPr kumimoji="1" lang="en-US" altLang="zh-CN" sz="1200" dirty="0">
                <a:solidFill>
                  <a:schemeClr val="bg2"/>
                </a:solidFill>
                <a:latin typeface="Source Sans Pro" panose="020B0503030403020204" pitchFamily="34" charset="0"/>
                <a:ea typeface="Source Sans Pro" panose="020B0503030403020204" pitchFamily="34" charset="0"/>
              </a:rPr>
              <a:t>—</a:t>
            </a:r>
            <a:r>
              <a:rPr kumimoji="1" lang="zh-CN" altLang="en-US" sz="1200" dirty="0">
                <a:solidFill>
                  <a:schemeClr val="bg2"/>
                </a:solidFill>
                <a:latin typeface="Source Sans Pro" panose="020B0503030403020204" pitchFamily="34" charset="0"/>
                <a:ea typeface="黑体" panose="02010609060101010101" pitchFamily="49" charset="-122"/>
              </a:rPr>
              <a:t>市</a:t>
            </a:r>
            <a:endParaRPr kumimoji="1" lang="zh-CN" altLang="en-US" sz="1200" dirty="0">
              <a:solidFill>
                <a:schemeClr val="bg2"/>
              </a:solidFill>
              <a:latin typeface="Source Sans Pro" panose="020B0503030403020204" pitchFamily="34" charset="0"/>
              <a:ea typeface="黑体" panose="02010609060101010101" pitchFamily="49" charset="-122"/>
            </a:endParaRPr>
          </a:p>
          <a:p>
            <a:pPr lvl="1"/>
            <a:r>
              <a:rPr kumimoji="1" lang="zh-CN" altLang="en-US" sz="1200" dirty="0">
                <a:solidFill>
                  <a:schemeClr val="bg2"/>
                </a:solidFill>
                <a:latin typeface="Source Sans Pro" panose="020B0503030403020204" pitchFamily="34" charset="0"/>
                <a:ea typeface="黑体" panose="02010609060101010101" pitchFamily="49" charset="-122"/>
              </a:rPr>
              <a:t>城市分为各个部门：教育、卫生、环保等等 </a:t>
            </a:r>
            <a:r>
              <a:rPr kumimoji="1" lang="en-US" altLang="zh-CN" sz="1200" dirty="0">
                <a:solidFill>
                  <a:schemeClr val="bg2"/>
                </a:solidFill>
                <a:latin typeface="Source Sans Pro" panose="020B0503030403020204" pitchFamily="34" charset="0"/>
                <a:ea typeface="Source Sans Pro" panose="020B0503030403020204" pitchFamily="34" charset="0"/>
              </a:rPr>
              <a:t>(Module)</a:t>
            </a:r>
            <a:r>
              <a:rPr kumimoji="1" lang="zh-CN" altLang="en-US" sz="1200" dirty="0">
                <a:solidFill>
                  <a:schemeClr val="bg2"/>
                </a:solidFill>
                <a:latin typeface="Source Sans Pro" panose="020B0503030403020204" pitchFamily="34" charset="0"/>
                <a:ea typeface="黑体" panose="02010609060101010101" pitchFamily="49" charset="-122"/>
              </a:rPr>
              <a:t> </a:t>
            </a:r>
            <a:endParaRPr kumimoji="1" lang="en-US" altLang="zh-CN" sz="1200" dirty="0">
              <a:solidFill>
                <a:schemeClr val="bg2"/>
              </a:solidFill>
              <a:latin typeface="Source Sans Pro" panose="020B0503030403020204" pitchFamily="34" charset="0"/>
              <a:ea typeface="Source Sans Pro" panose="020B0503030403020204" pitchFamily="34" charset="0"/>
            </a:endParaRPr>
          </a:p>
          <a:p>
            <a:pPr lvl="1"/>
            <a:r>
              <a:rPr kumimoji="1" lang="zh-CN" altLang="en-US" sz="1200" dirty="0">
                <a:solidFill>
                  <a:schemeClr val="bg2"/>
                </a:solidFill>
                <a:latin typeface="Source Sans Pro" panose="020B0503030403020204" pitchFamily="34" charset="0"/>
                <a:ea typeface="黑体" panose="02010609060101010101" pitchFamily="49" charset="-122"/>
              </a:rPr>
              <a:t>部门：提供各种服务 </a:t>
            </a:r>
            <a:r>
              <a:rPr kumimoji="1" lang="en-US" altLang="zh-CN" sz="1200" dirty="0">
                <a:solidFill>
                  <a:schemeClr val="bg2"/>
                </a:solidFill>
                <a:latin typeface="Source Sans Pro" panose="020B0503030403020204" pitchFamily="34" charset="0"/>
                <a:ea typeface="Source Sans Pro" panose="020B0503030403020204" pitchFamily="34" charset="0"/>
              </a:rPr>
              <a:t>(Class)</a:t>
            </a:r>
            <a:endParaRPr kumimoji="1" lang="zh-CN" altLang="en-US" sz="1200" dirty="0">
              <a:solidFill>
                <a:schemeClr val="bg2"/>
              </a:solidFill>
              <a:latin typeface="Source Sans Pro" panose="020B0503030403020204" pitchFamily="34" charset="0"/>
              <a:ea typeface="黑体" panose="02010609060101010101" pitchFamily="49" charset="-122"/>
            </a:endParaRPr>
          </a:p>
          <a:p>
            <a:pPr marL="114300" indent="0">
              <a:buNone/>
            </a:pPr>
            <a:r>
              <a:rPr kumimoji="1" lang="en-GB" altLang="zh-CN" sz="1400" dirty="0">
                <a:solidFill>
                  <a:schemeClr val="bg2"/>
                </a:solidFill>
                <a:latin typeface="Source Sans Pro" panose="020B0503030403020204" pitchFamily="34" charset="0"/>
                <a:ea typeface="Source Sans Pro" panose="020B0503030403020204" pitchFamily="34" charset="0"/>
              </a:rPr>
              <a:t>In Python</a:t>
            </a:r>
            <a:endParaRPr kumimoji="1" lang="en-GB" altLang="zh-CN" sz="1400" dirty="0">
              <a:solidFill>
                <a:schemeClr val="bg2"/>
              </a:solidFill>
              <a:latin typeface="Source Sans Pro" panose="020B0503030403020204" pitchFamily="34" charset="0"/>
              <a:ea typeface="Source Sans Pro" panose="020B0503030403020204" pitchFamily="34" charset="0"/>
            </a:endParaRPr>
          </a:p>
          <a:p>
            <a:pPr lvl="1"/>
            <a:r>
              <a:rPr kumimoji="1" lang="en-GB" altLang="zh-CN" sz="1200" dirty="0">
                <a:solidFill>
                  <a:schemeClr val="bg2"/>
                </a:solidFill>
                <a:latin typeface="Source Sans Pro" panose="020B0503030403020204" pitchFamily="34" charset="0"/>
                <a:ea typeface="Source Sans Pro" panose="020B0503030403020204" pitchFamily="34" charset="0"/>
              </a:rPr>
              <a:t>Divide and conquer: module – class – data and function</a:t>
            </a:r>
            <a:endParaRPr kumimoji="1" lang="en-GB" altLang="zh-CN" sz="1200" dirty="0">
              <a:solidFill>
                <a:schemeClr val="bg2"/>
              </a:solidFill>
              <a:latin typeface="Source Sans Pro" panose="020B0503030403020204" pitchFamily="34" charset="0"/>
              <a:ea typeface="Source Sans Pro" panose="020B0503030403020204" pitchFamily="34" charset="0"/>
            </a:endParaRPr>
          </a:p>
          <a:p>
            <a:pPr lvl="2">
              <a:buSzPct val="77000"/>
            </a:pPr>
            <a:r>
              <a:rPr kumimoji="1" lang="zh-CN" altLang="en-US" sz="1200" dirty="0">
                <a:solidFill>
                  <a:schemeClr val="bg2"/>
                </a:solidFill>
                <a:latin typeface="Source Sans Pro" panose="020B0503030403020204" pitchFamily="34" charset="0"/>
                <a:ea typeface="黑体" panose="02010609060101010101" pitchFamily="49" charset="-122"/>
              </a:rPr>
              <a:t>文件操作、网络模块、数据库、操作系统、科学计算</a:t>
            </a:r>
            <a:endParaRPr kumimoji="1" lang="zh-CN" altLang="en-US" sz="1200" dirty="0">
              <a:solidFill>
                <a:schemeClr val="bg2"/>
              </a:solidFill>
              <a:latin typeface="Source Sans Pro" panose="020B0503030403020204" pitchFamily="34" charset="0"/>
              <a:ea typeface="黑体" panose="02010609060101010101" pitchFamily="49" charset="-122"/>
            </a:endParaRPr>
          </a:p>
          <a:p>
            <a:pPr lvl="1"/>
            <a:r>
              <a:rPr kumimoji="1" lang="en-GB" altLang="zh-CN" sz="1200" dirty="0">
                <a:solidFill>
                  <a:schemeClr val="bg2"/>
                </a:solidFill>
                <a:latin typeface="Source Sans Pro" panose="020B0503030403020204" pitchFamily="34" charset="0"/>
                <a:ea typeface="Source Sans Pro" panose="020B0503030403020204" pitchFamily="34" charset="0"/>
              </a:rPr>
              <a:t>Collaboration: modules can call each other and reuse their codes</a:t>
            </a:r>
            <a:endParaRPr kumimoji="1" lang="en-GB" altLang="zh-CN" sz="1200" dirty="0">
              <a:solidFill>
                <a:schemeClr val="bg2"/>
              </a:solidFill>
              <a:latin typeface="Source Sans Pro" panose="020B0503030403020204" pitchFamily="34" charset="0"/>
              <a:ea typeface="Source Sans Pro" panose="020B0503030403020204" pitchFamily="34" charset="0"/>
            </a:endParaRPr>
          </a:p>
          <a:p>
            <a:pPr marL="596900" lvl="1" indent="0">
              <a:buNone/>
            </a:pPr>
            <a:r>
              <a:rPr kumimoji="1" lang="zh-CN" altLang="en-US" dirty="0">
                <a:solidFill>
                  <a:schemeClr val="bg2"/>
                </a:solidFill>
                <a:latin typeface="黑体" panose="02010609060101010101" pitchFamily="49" charset="-122"/>
                <a:ea typeface="黑体" panose="02010609060101010101" pitchFamily="49" charset="-122"/>
              </a:rPr>
              <a:t>根据问题的需求，将数据和函数封装</a:t>
            </a:r>
            <a:r>
              <a:rPr kumimoji="1" lang="en-US" altLang="zh-CN" dirty="0">
                <a:solidFill>
                  <a:schemeClr val="bg2"/>
                </a:solidFill>
                <a:latin typeface="黑体" panose="02010609060101010101" pitchFamily="49" charset="-122"/>
                <a:ea typeface="黑体" panose="02010609060101010101" pitchFamily="49" charset="-122"/>
              </a:rPr>
              <a:t>(</a:t>
            </a:r>
            <a:r>
              <a:rPr kumimoji="1" lang="en-US" altLang="zh-CN" dirty="0">
                <a:solidFill>
                  <a:schemeClr val="bg2"/>
                </a:solidFill>
                <a:latin typeface="Source Sans Pro" panose="020B0503030403020204" pitchFamily="34" charset="0"/>
                <a:ea typeface="Source Sans Pro" panose="020B0503030403020204" pitchFamily="34" charset="0"/>
              </a:rPr>
              <a:t>encapsulation</a:t>
            </a:r>
            <a:r>
              <a:rPr kumimoji="1" lang="en-US" altLang="zh-CN" dirty="0">
                <a:solidFill>
                  <a:schemeClr val="bg2"/>
                </a:solidFill>
                <a:latin typeface="黑体" panose="02010609060101010101" pitchFamily="49" charset="-122"/>
                <a:ea typeface="黑体" panose="02010609060101010101" pitchFamily="49" charset="-122"/>
              </a:rPr>
              <a:t>)</a:t>
            </a:r>
            <a:r>
              <a:rPr kumimoji="1" lang="zh-CN" altLang="en-US" dirty="0">
                <a:solidFill>
                  <a:schemeClr val="bg2"/>
                </a:solidFill>
                <a:latin typeface="黑体" panose="02010609060101010101" pitchFamily="49" charset="-122"/>
                <a:ea typeface="黑体" panose="02010609060101010101" pitchFamily="49" charset="-122"/>
              </a:rPr>
              <a:t>成类，把相关的类打包封装成模块</a:t>
            </a:r>
            <a:endParaRPr kumimoji="1" lang="en-US" altLang="zh-CN" dirty="0">
              <a:solidFill>
                <a:schemeClr val="bg2"/>
              </a:solidFill>
              <a:latin typeface="黑体" panose="02010609060101010101" pitchFamily="49" charset="-122"/>
              <a:ea typeface="黑体" panose="02010609060101010101" pitchFamily="49" charset="-122"/>
            </a:endParaRPr>
          </a:p>
          <a:p>
            <a:pPr marL="596900" lvl="1" indent="0">
              <a:buNone/>
            </a:pPr>
            <a:r>
              <a:rPr kumimoji="1" lang="zh-CN" altLang="en-US" dirty="0">
                <a:solidFill>
                  <a:schemeClr val="bg2"/>
                </a:solidFill>
                <a:latin typeface="黑体" panose="02010609060101010101" pitchFamily="49" charset="-122"/>
                <a:ea typeface="黑体" panose="02010609060101010101" pitchFamily="49" charset="-122"/>
              </a:rPr>
              <a:t>有结构，有组织，有协作，不是一盘散沙</a:t>
            </a:r>
            <a:endParaRPr kumimoji="1" lang="zh-CN" altLang="en-US" dirty="0">
              <a:solidFill>
                <a:schemeClr val="bg2"/>
              </a:solidFill>
              <a:latin typeface="黑体" panose="02010609060101010101" pitchFamily="49" charset="-122"/>
              <a:ea typeface="黑体" panose="02010609060101010101" pitchFamily="49" charset="-122"/>
            </a:endParaRPr>
          </a:p>
        </p:txBody>
      </p:sp>
      <p:sp>
        <p:nvSpPr>
          <p:cNvPr id="4" name="Rectangle 1"/>
          <p:cNvSpPr/>
          <p:nvPr/>
        </p:nvSpPr>
        <p:spPr>
          <a:xfrm>
            <a:off x="925394" y="1150339"/>
            <a:ext cx="7293211" cy="1339496"/>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tLang="zh-CN" sz="2000" b="1" dirty="0">
                <a:solidFill>
                  <a:schemeClr val="bg2"/>
                </a:solidFill>
                <a:latin typeface="Source Sans Pro" panose="020B0503030403020204" pitchFamily="34" charset="0"/>
                <a:ea typeface="Source Sans Pro" panose="020B0503030403020204" pitchFamily="34" charset="0"/>
              </a:rPr>
              <a:t>Microsoft’s Win10 has over </a:t>
            </a:r>
            <a:r>
              <a:rPr lang="en-GB" altLang="zh-CN" sz="2000" b="1" dirty="0">
                <a:solidFill>
                  <a:schemeClr val="tx1"/>
                </a:solidFill>
                <a:latin typeface="Source Sans Pro" panose="020B0503030403020204" pitchFamily="34" charset="0"/>
                <a:ea typeface="Source Sans Pro" panose="020B0503030403020204" pitchFamily="34" charset="0"/>
              </a:rPr>
              <a:t>50,000,000</a:t>
            </a:r>
            <a:r>
              <a:rPr lang="en-GB" altLang="zh-CN" sz="2000" b="1" dirty="0">
                <a:solidFill>
                  <a:schemeClr val="bg2"/>
                </a:solidFill>
                <a:latin typeface="Source Sans Pro" panose="020B0503030403020204" pitchFamily="34" charset="0"/>
                <a:ea typeface="Source Sans Pro" panose="020B0503030403020204" pitchFamily="34" charset="0"/>
              </a:rPr>
              <a:t> lines of codes</a:t>
            </a:r>
            <a:endParaRPr lang="en-GB" altLang="zh-CN" sz="2000" b="1" dirty="0">
              <a:solidFill>
                <a:schemeClr val="bg2"/>
              </a:solidFill>
              <a:latin typeface="Source Sans Pro" panose="020B0503030403020204" pitchFamily="34" charset="0"/>
              <a:ea typeface="Source Sans Pro" panose="020B0503030403020204" pitchFamily="34" charset="0"/>
            </a:endParaRPr>
          </a:p>
          <a:p>
            <a:pPr marL="285750" indent="-285750">
              <a:buClr>
                <a:schemeClr val="bg2"/>
              </a:buClr>
              <a:buFont typeface="Wingdings" panose="05000000000000000000" pitchFamily="2" charset="2"/>
              <a:buChar char="l"/>
            </a:pPr>
            <a:r>
              <a:rPr lang="en-GB" altLang="zh-CN" b="1" dirty="0">
                <a:solidFill>
                  <a:schemeClr val="bg2"/>
                </a:solidFill>
                <a:latin typeface="Source Sans Pro" panose="020B0503030403020204" pitchFamily="34" charset="0"/>
                <a:ea typeface="Source Sans Pro" panose="020B0503030403020204" pitchFamily="34" charset="0"/>
              </a:rPr>
              <a:t>Name conflicts in variables and functions</a:t>
            </a:r>
            <a:endParaRPr lang="en-GB" altLang="zh-CN" b="1" dirty="0">
              <a:solidFill>
                <a:schemeClr val="bg2"/>
              </a:solidFill>
              <a:latin typeface="Source Sans Pro" panose="020B0503030403020204" pitchFamily="34" charset="0"/>
              <a:ea typeface="Source Sans Pro" panose="020B0503030403020204" pitchFamily="34" charset="0"/>
            </a:endParaRPr>
          </a:p>
          <a:p>
            <a:pPr marL="285750" indent="-285750">
              <a:buClr>
                <a:schemeClr val="bg2"/>
              </a:buClr>
              <a:buFont typeface="Wingdings" panose="05000000000000000000" pitchFamily="2" charset="2"/>
              <a:buChar char="l"/>
            </a:pPr>
            <a:r>
              <a:rPr lang="en-GB" altLang="zh-CN" b="1" dirty="0">
                <a:solidFill>
                  <a:schemeClr val="bg2"/>
                </a:solidFill>
                <a:latin typeface="Source Sans Pro" panose="020B0503030403020204" pitchFamily="34" charset="0"/>
                <a:ea typeface="Source Sans Pro" panose="020B0503030403020204" pitchFamily="34" charset="0"/>
              </a:rPr>
              <a:t>How to cooperate with other programmers</a:t>
            </a:r>
            <a:endParaRPr lang="en-GB" altLang="zh-CN" b="1" dirty="0">
              <a:solidFill>
                <a:schemeClr val="bg2"/>
              </a:solidFill>
              <a:latin typeface="Source Sans Pro" panose="020B0503030403020204" pitchFamily="34" charset="0"/>
              <a:ea typeface="Source Sans Pro" panose="020B0503030403020204" pitchFamily="34" charset="0"/>
            </a:endParaRPr>
          </a:p>
          <a:p>
            <a:pPr marL="285750" indent="-285750">
              <a:buClr>
                <a:schemeClr val="bg2"/>
              </a:buClr>
              <a:buFont typeface="Wingdings" panose="05000000000000000000" pitchFamily="2" charset="2"/>
              <a:buChar char="l"/>
            </a:pPr>
            <a:r>
              <a:rPr lang="en-GB" altLang="zh-CN" b="1" dirty="0">
                <a:solidFill>
                  <a:schemeClr val="bg2"/>
                </a:solidFill>
                <a:latin typeface="Source Sans Pro" panose="020B0503030403020204" pitchFamily="34" charset="0"/>
                <a:ea typeface="Source Sans Pro" panose="020B0503030403020204" pitchFamily="34" charset="0"/>
              </a:rPr>
              <a:t>How to maintain such a huge project   </a:t>
            </a:r>
            <a:endParaRPr lang="en-GB" altLang="zh-CN" b="1" dirty="0">
              <a:solidFill>
                <a:schemeClr val="bg2"/>
              </a:solidFill>
              <a:latin typeface="Source Sans Pro" panose="020B0503030403020204" pitchFamily="34" charset="0"/>
              <a:ea typeface="Source Sans Pro" panose="020B0503030403020204" pitchFamily="34" charset="0"/>
            </a:endParaRPr>
          </a:p>
          <a:p>
            <a:r>
              <a:rPr lang="en-GB" altLang="zh-CN" b="1" dirty="0">
                <a:solidFill>
                  <a:schemeClr val="bg2"/>
                </a:solidFill>
                <a:latin typeface="Source Sans Pro" panose="020B0503030403020204" pitchFamily="34" charset="0"/>
                <a:ea typeface="Source Sans Pro" panose="020B0503030403020204" pitchFamily="34" charset="0"/>
              </a:rPr>
              <a:t>We need a mechanism to deal with the complicated problems in real world</a:t>
            </a:r>
            <a:endParaRPr lang="en-GB" altLang="zh-CN" b="1" dirty="0">
              <a:solidFill>
                <a:schemeClr val="bg2"/>
              </a:solidFill>
              <a:latin typeface="Source Sans Pro" panose="020B0503030403020204" pitchFamily="34" charset="0"/>
              <a:ea typeface="Source Sans Pro" panose="020B0503030403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US" altLang="zh-CN" dirty="0"/>
              <a:t>Questions From Past Exercise</a:t>
            </a:r>
            <a:endParaRPr kumimoji="1" lang="zh-CN" altLang="en-US" dirty="0"/>
          </a:p>
        </p:txBody>
      </p:sp>
      <p:sp>
        <p:nvSpPr>
          <p:cNvPr id="3" name="文本占位符 2"/>
          <p:cNvSpPr>
            <a:spLocks noGrp="1"/>
          </p:cNvSpPr>
          <p:nvPr>
            <p:ph type="body" idx="1"/>
          </p:nvPr>
        </p:nvSpPr>
        <p:spPr>
          <a:xfrm>
            <a:off x="221164" y="1068425"/>
            <a:ext cx="8374195" cy="3638675"/>
          </a:xfrm>
        </p:spPr>
        <p:txBody>
          <a:bodyPr>
            <a:noAutofit/>
          </a:bodyPr>
          <a:lstStyle/>
          <a:p>
            <a:pPr>
              <a:buFont typeface="+mj-lt"/>
              <a:buAutoNum type="arabicPeriod"/>
            </a:pPr>
            <a:r>
              <a:rPr kumimoji="1" lang="en-US" altLang="zh-CN" sz="1400" dirty="0">
                <a:solidFill>
                  <a:schemeClr val="bg2"/>
                </a:solidFill>
                <a:latin typeface="Source Sans Pro" panose="020B0503030403020204" pitchFamily="34" charset="0"/>
                <a:ea typeface="Source Sans Pro" panose="020B0503030403020204" pitchFamily="34" charset="0"/>
              </a:rPr>
              <a:t>When we study trigonometry, we use </a:t>
            </a:r>
            <a:r>
              <a:rPr kumimoji="1" lang="en-US" altLang="zh-CN" sz="1400" dirty="0">
                <a:solidFill>
                  <a:schemeClr val="tx1"/>
                </a:solidFill>
                <a:latin typeface="Source Sans Pro" panose="020B0503030403020204" pitchFamily="34" charset="0"/>
                <a:ea typeface="Source Sans Pro" panose="020B0503030403020204" pitchFamily="34" charset="0"/>
              </a:rPr>
              <a:t>a, b, c </a:t>
            </a:r>
            <a:r>
              <a:rPr kumimoji="1" lang="en-US" altLang="zh-CN" sz="1400" dirty="0">
                <a:solidFill>
                  <a:schemeClr val="bg2"/>
                </a:solidFill>
                <a:latin typeface="Source Sans Pro" panose="020B0503030403020204" pitchFamily="34" charset="0"/>
                <a:ea typeface="Source Sans Pro" panose="020B0503030403020204" pitchFamily="34" charset="0"/>
              </a:rPr>
              <a:t>to denote the lengths of three edges of </a:t>
            </a:r>
            <a:r>
              <a:rPr kumimoji="1" lang="en-US" altLang="zh-CN" sz="1400" dirty="0">
                <a:solidFill>
                  <a:schemeClr val="tx1"/>
                </a:solidFill>
                <a:latin typeface="Source Sans Pro" panose="020B0503030403020204" pitchFamily="34" charset="0"/>
                <a:ea typeface="Source Sans Pro" panose="020B0503030403020204" pitchFamily="34" charset="0"/>
              </a:rPr>
              <a:t>a triangle</a:t>
            </a:r>
            <a:endParaRPr kumimoji="1" lang="en-US" altLang="zh-CN" sz="1400" dirty="0">
              <a:solidFill>
                <a:schemeClr val="tx1"/>
              </a:solidFill>
              <a:latin typeface="Source Sans Pro" panose="020B0503030403020204" pitchFamily="34" charset="0"/>
              <a:ea typeface="Source Sans Pro" panose="020B0503030403020204" pitchFamily="34" charset="0"/>
            </a:endParaRPr>
          </a:p>
          <a:p>
            <a:pPr>
              <a:buFont typeface="+mj-lt"/>
              <a:buAutoNum type="arabicPeriod"/>
            </a:pPr>
            <a:r>
              <a:rPr kumimoji="1" lang="en-US" altLang="zh-CN" sz="1400" dirty="0">
                <a:solidFill>
                  <a:schemeClr val="bg2"/>
                </a:solidFill>
                <a:latin typeface="Source Sans Pro" panose="020B0503030403020204" pitchFamily="34" charset="0"/>
                <a:ea typeface="Source Sans Pro" panose="020B0503030403020204" pitchFamily="34" charset="0"/>
              </a:rPr>
              <a:t> In the same Python file, we also use </a:t>
            </a:r>
            <a:r>
              <a:rPr kumimoji="1" lang="en-US" altLang="zh-CN" sz="1400" dirty="0">
                <a:solidFill>
                  <a:schemeClr val="tx1"/>
                </a:solidFill>
                <a:latin typeface="Source Sans Pro" panose="020B0503030403020204" pitchFamily="34" charset="0"/>
                <a:ea typeface="Source Sans Pro" panose="020B0503030403020204" pitchFamily="34" charset="0"/>
              </a:rPr>
              <a:t>a, b, c</a:t>
            </a:r>
            <a:r>
              <a:rPr kumimoji="1" lang="en-US" altLang="zh-CN" sz="1400" dirty="0">
                <a:solidFill>
                  <a:schemeClr val="bg2"/>
                </a:solidFill>
                <a:latin typeface="Source Sans Pro" panose="020B0503030403020204" pitchFamily="34" charset="0"/>
                <a:ea typeface="Source Sans Pro" panose="020B0503030403020204" pitchFamily="34" charset="0"/>
              </a:rPr>
              <a:t> to denote coefficients of the </a:t>
            </a:r>
            <a:r>
              <a:rPr kumimoji="1" lang="en-US" altLang="zh-CN" sz="1400" dirty="0">
                <a:solidFill>
                  <a:schemeClr val="tx1"/>
                </a:solidFill>
                <a:latin typeface="Source Sans Pro" panose="020B0503030403020204" pitchFamily="34" charset="0"/>
                <a:ea typeface="Source Sans Pro" panose="020B0503030403020204" pitchFamily="34" charset="0"/>
              </a:rPr>
              <a:t>quadratic polynomial with one variable</a:t>
            </a:r>
            <a:endParaRPr kumimoji="1" lang="en-US" altLang="zh-CN" sz="1400" dirty="0">
              <a:solidFill>
                <a:schemeClr val="tx1"/>
              </a:solidFill>
              <a:latin typeface="Source Sans Pro" panose="020B0503030403020204" pitchFamily="34" charset="0"/>
              <a:ea typeface="Source Sans Pro" panose="020B0503030403020204" pitchFamily="34" charset="0"/>
            </a:endParaRPr>
          </a:p>
          <a:p>
            <a:pPr lvl="1">
              <a:buFont typeface="Arial" panose="020B0604020202020204" pitchFamily="34" charset="0"/>
              <a:buChar char="•"/>
            </a:pPr>
            <a:r>
              <a:rPr kumimoji="1" lang="en-US" altLang="zh-CN" sz="1200" dirty="0">
                <a:solidFill>
                  <a:schemeClr val="bg2"/>
                </a:solidFill>
                <a:latin typeface="Source Sans Pro" panose="020B0503030403020204" pitchFamily="34" charset="0"/>
                <a:ea typeface="Source Sans Pro" panose="020B0503030403020204" pitchFamily="34" charset="0"/>
              </a:rPr>
              <a:t>There will be some </a:t>
            </a:r>
            <a:r>
              <a:rPr kumimoji="1" lang="en-US" altLang="zh-CN" sz="1200" dirty="0">
                <a:solidFill>
                  <a:schemeClr val="tx1"/>
                </a:solidFill>
                <a:latin typeface="Source Sans Pro" panose="020B0503030403020204" pitchFamily="34" charset="0"/>
                <a:ea typeface="Source Sans Pro" panose="020B0503030403020204" pitchFamily="34" charset="0"/>
              </a:rPr>
              <a:t>conflicts</a:t>
            </a:r>
            <a:r>
              <a:rPr kumimoji="1" lang="en-US" altLang="zh-CN" sz="1200" dirty="0">
                <a:solidFill>
                  <a:schemeClr val="bg2"/>
                </a:solidFill>
                <a:latin typeface="Source Sans Pro" panose="020B0503030403020204" pitchFamily="34" charset="0"/>
                <a:ea typeface="Source Sans Pro" panose="020B0503030403020204" pitchFamily="34" charset="0"/>
              </a:rPr>
              <a:t> between a, b, c in two scenarios</a:t>
            </a:r>
            <a:endParaRPr kumimoji="1" lang="en-US" altLang="zh-CN" sz="1200" dirty="0">
              <a:solidFill>
                <a:schemeClr val="bg2"/>
              </a:solidFill>
              <a:latin typeface="Source Sans Pro" panose="020B0503030403020204" pitchFamily="34" charset="0"/>
              <a:ea typeface="Source Sans Pro" panose="020B0503030403020204" pitchFamily="34" charset="0"/>
            </a:endParaRPr>
          </a:p>
          <a:p>
            <a:pPr>
              <a:buFont typeface="+mj-lt"/>
              <a:buAutoNum type="arabicPeriod"/>
            </a:pPr>
            <a:r>
              <a:rPr kumimoji="1" lang="en-US" altLang="zh-CN" sz="1400" dirty="0">
                <a:solidFill>
                  <a:schemeClr val="bg2"/>
                </a:solidFill>
                <a:latin typeface="Source Sans Pro" panose="020B0503030403020204" pitchFamily="34" charset="0"/>
                <a:ea typeface="Source Sans Pro" panose="020B0503030403020204" pitchFamily="34" charset="0"/>
              </a:rPr>
              <a:t>We may also use a, b, c in a tuple unpack: a, b, c = t</a:t>
            </a:r>
            <a:endParaRPr kumimoji="1" lang="en-US" altLang="zh-CN" sz="1400" dirty="0">
              <a:solidFill>
                <a:schemeClr val="bg2"/>
              </a:solidFill>
              <a:latin typeface="Source Sans Pro" panose="020B0503030403020204" pitchFamily="34" charset="0"/>
              <a:ea typeface="Source Sans Pro" panose="020B0503030403020204" pitchFamily="34" charset="0"/>
            </a:endParaRPr>
          </a:p>
          <a:p>
            <a:r>
              <a:rPr kumimoji="1" lang="en-US" altLang="zh-CN" sz="1400" dirty="0">
                <a:solidFill>
                  <a:schemeClr val="bg2"/>
                </a:solidFill>
                <a:latin typeface="Source Sans Pro" panose="020B0503030403020204" pitchFamily="34" charset="0"/>
                <a:ea typeface="Source Sans Pro" panose="020B0503030403020204" pitchFamily="34" charset="0"/>
              </a:rPr>
              <a:t>It is very </a:t>
            </a:r>
            <a:r>
              <a:rPr kumimoji="1" lang="en-US" altLang="zh-CN" sz="1400" dirty="0">
                <a:solidFill>
                  <a:schemeClr val="tx1"/>
                </a:solidFill>
                <a:latin typeface="Source Sans Pro" panose="020B0503030403020204" pitchFamily="34" charset="0"/>
                <a:ea typeface="Source Sans Pro" panose="020B0503030403020204" pitchFamily="34" charset="0"/>
              </a:rPr>
              <a:t>messy</a:t>
            </a:r>
            <a:r>
              <a:rPr kumimoji="1" lang="en-US" altLang="zh-CN" sz="1400" dirty="0">
                <a:solidFill>
                  <a:schemeClr val="bg2"/>
                </a:solidFill>
                <a:latin typeface="Source Sans Pro" panose="020B0503030403020204" pitchFamily="34" charset="0"/>
                <a:ea typeface="Source Sans Pro" panose="020B0503030403020204" pitchFamily="34" charset="0"/>
              </a:rPr>
              <a:t> for a single Python file</a:t>
            </a:r>
            <a:r>
              <a:rPr kumimoji="1" lang="en-US" altLang="zh-CN" sz="1400" dirty="0">
                <a:solidFill>
                  <a:schemeClr val="tx1"/>
                </a:solidFill>
                <a:latin typeface="Source Sans Pro" panose="020B0503030403020204" pitchFamily="34" charset="0"/>
                <a:ea typeface="Source Sans Pro" panose="020B0503030403020204" pitchFamily="34" charset="0"/>
              </a:rPr>
              <a:t>.  Chaos many lead to disaster</a:t>
            </a:r>
            <a:endParaRPr kumimoji="1" lang="en-US" altLang="zh-CN" sz="1400" dirty="0">
              <a:solidFill>
                <a:schemeClr val="tx1"/>
              </a:solidFill>
              <a:latin typeface="Source Sans Pro" panose="020B0503030403020204" pitchFamily="34" charset="0"/>
              <a:ea typeface="Source Sans Pro" panose="020B0503030403020204" pitchFamily="34" charset="0"/>
            </a:endParaRPr>
          </a:p>
          <a:p>
            <a:r>
              <a:rPr kumimoji="1" lang="en-US" altLang="zh-CN" sz="1400" dirty="0">
                <a:solidFill>
                  <a:schemeClr val="bg2"/>
                </a:solidFill>
                <a:latin typeface="Source Sans Pro" panose="020B0503030403020204" pitchFamily="34" charset="0"/>
                <a:ea typeface="Source Sans Pro" panose="020B0503030403020204" pitchFamily="34" charset="0"/>
              </a:rPr>
              <a:t>We need a mechanism (Python Grammar) to </a:t>
            </a:r>
            <a:r>
              <a:rPr kumimoji="1" lang="en-US" altLang="zh-CN" sz="1400" dirty="0">
                <a:solidFill>
                  <a:schemeClr val="tx1"/>
                </a:solidFill>
                <a:latin typeface="Source Sans Pro" panose="020B0503030403020204" pitchFamily="34" charset="0"/>
                <a:ea typeface="Source Sans Pro" panose="020B0503030403020204" pitchFamily="34" charset="0"/>
              </a:rPr>
              <a:t>resolve these issues</a:t>
            </a:r>
            <a:endParaRPr kumimoji="1" lang="en-US" altLang="zh-CN" sz="1400" dirty="0">
              <a:solidFill>
                <a:schemeClr val="tx1"/>
              </a:solidFill>
              <a:latin typeface="Source Sans Pro" panose="020B0503030403020204" pitchFamily="34" charset="0"/>
              <a:ea typeface="Source Sans Pro" panose="020B0503030403020204" pitchFamily="34" charset="0"/>
            </a:endParaRPr>
          </a:p>
          <a:p>
            <a:pPr lvl="1"/>
            <a:r>
              <a:rPr kumimoji="1" lang="en-US" altLang="zh-CN" sz="1200" dirty="0">
                <a:solidFill>
                  <a:schemeClr val="bg2"/>
                </a:solidFill>
                <a:latin typeface="Source Sans Pro" panose="020B0503030403020204" pitchFamily="34" charset="0"/>
                <a:ea typeface="Source Sans Pro" panose="020B0503030403020204" pitchFamily="34" charset="0"/>
              </a:rPr>
              <a:t>Encapsulate a, b, c and operations in a triangle </a:t>
            </a:r>
            <a:endParaRPr kumimoji="1" lang="en-US" altLang="zh-CN" sz="1200" dirty="0">
              <a:solidFill>
                <a:schemeClr val="bg2"/>
              </a:solidFill>
              <a:latin typeface="Source Sans Pro" panose="020B0503030403020204" pitchFamily="34" charset="0"/>
              <a:ea typeface="Source Sans Pro" panose="020B0503030403020204" pitchFamily="34" charset="0"/>
            </a:endParaRPr>
          </a:p>
          <a:p>
            <a:pPr lvl="1"/>
            <a:r>
              <a:rPr kumimoji="1" lang="en-US" altLang="zh-CN" sz="1200" dirty="0">
                <a:solidFill>
                  <a:schemeClr val="bg2"/>
                </a:solidFill>
                <a:latin typeface="Source Sans Pro" panose="020B0503030403020204" pitchFamily="34" charset="0"/>
                <a:ea typeface="Source Sans Pro" panose="020B0503030403020204" pitchFamily="34" charset="0"/>
              </a:rPr>
              <a:t>Encapsulate a, b, c and operations in a quadratic polynomial</a:t>
            </a:r>
            <a:endParaRPr kumimoji="1" lang="en-US" altLang="zh-CN" sz="1200" dirty="0">
              <a:solidFill>
                <a:schemeClr val="bg2"/>
              </a:solidFill>
              <a:latin typeface="Source Sans Pro" panose="020B0503030403020204" pitchFamily="34" charset="0"/>
              <a:ea typeface="Source Sans Pro" panose="020B0503030403020204" pitchFamily="34" charset="0"/>
            </a:endParaRPr>
          </a:p>
          <a:p>
            <a:pPr lvl="1"/>
            <a:r>
              <a:rPr kumimoji="1" lang="en-US" altLang="zh-CN" sz="1200" dirty="0">
                <a:solidFill>
                  <a:schemeClr val="bg2"/>
                </a:solidFill>
                <a:latin typeface="Source Sans Pro" panose="020B0503030403020204" pitchFamily="34" charset="0"/>
                <a:ea typeface="Source Sans Pro" panose="020B0503030403020204" pitchFamily="34" charset="0"/>
              </a:rPr>
              <a:t>Keep both (a, b, c) and operations above isolated from a, b, c in the tuple unpack</a:t>
            </a:r>
            <a:endParaRPr kumimoji="1" lang="en-US" altLang="zh-CN" sz="1200" dirty="0">
              <a:solidFill>
                <a:schemeClr val="bg2"/>
              </a:solidFill>
              <a:latin typeface="Source Sans Pro" panose="020B0503030403020204" pitchFamily="34" charset="0"/>
              <a:ea typeface="Source Sans Pro" panose="020B0503030403020204" pitchFamily="34" charset="0"/>
            </a:endParaRPr>
          </a:p>
          <a:p>
            <a:r>
              <a:rPr kumimoji="1" lang="en-US" altLang="zh-CN" sz="1400" dirty="0">
                <a:solidFill>
                  <a:schemeClr val="bg2"/>
                </a:solidFill>
                <a:latin typeface="Source Sans Pro" panose="020B0503030403020204" pitchFamily="34" charset="0"/>
                <a:ea typeface="Source Sans Pro" panose="020B0503030403020204" pitchFamily="34" charset="0"/>
              </a:rPr>
              <a:t>We may also hope to </a:t>
            </a:r>
            <a:endParaRPr kumimoji="1" lang="en-US" altLang="zh-CN" sz="1400" dirty="0">
              <a:solidFill>
                <a:schemeClr val="bg2"/>
              </a:solidFill>
              <a:latin typeface="Source Sans Pro" panose="020B0503030403020204" pitchFamily="34" charset="0"/>
              <a:ea typeface="Source Sans Pro" panose="020B0503030403020204" pitchFamily="34" charset="0"/>
            </a:endParaRPr>
          </a:p>
          <a:p>
            <a:pPr lvl="1"/>
            <a:r>
              <a:rPr kumimoji="1" lang="en-US" altLang="zh-CN" sz="1200" dirty="0">
                <a:solidFill>
                  <a:schemeClr val="bg2"/>
                </a:solidFill>
                <a:latin typeface="Source Sans Pro" panose="020B0503030403020204" pitchFamily="34" charset="0"/>
                <a:ea typeface="Source Sans Pro" panose="020B0503030403020204" pitchFamily="34" charset="0"/>
              </a:rPr>
              <a:t>Reuse the code in the packs of Triangle and Polynomial</a:t>
            </a:r>
            <a:endParaRPr kumimoji="1" lang="en-US" altLang="zh-CN" sz="1200" dirty="0">
              <a:solidFill>
                <a:schemeClr val="bg2"/>
              </a:solidFill>
              <a:latin typeface="Source Sans Pro" panose="020B0503030403020204" pitchFamily="34" charset="0"/>
              <a:ea typeface="Source Sans Pro" panose="020B0503030403020204" pitchFamily="34" charset="0"/>
            </a:endParaRPr>
          </a:p>
          <a:p>
            <a:r>
              <a:rPr kumimoji="1" lang="en-US" altLang="zh-CN" sz="1400" dirty="0">
                <a:solidFill>
                  <a:schemeClr val="bg2"/>
                </a:solidFill>
                <a:latin typeface="Source Sans Pro" panose="020B0503030403020204" pitchFamily="34" charset="0"/>
                <a:ea typeface="Source Sans Pro" panose="020B0503030403020204" pitchFamily="34" charset="0"/>
              </a:rPr>
              <a:t>That’s what we</a:t>
            </a:r>
            <a:r>
              <a:rPr kumimoji="1" lang="zh-CN" altLang="en-US" sz="1400" dirty="0">
                <a:solidFill>
                  <a:schemeClr val="bg2"/>
                </a:solidFill>
                <a:latin typeface="Source Sans Pro" panose="020B0503030403020204" pitchFamily="34" charset="0"/>
                <a:ea typeface="Source Sans Pro" panose="020B0503030403020204" pitchFamily="34" charset="0"/>
              </a:rPr>
              <a:t> </a:t>
            </a:r>
            <a:r>
              <a:rPr kumimoji="1" lang="en-US" altLang="zh-CN" sz="1400" dirty="0">
                <a:solidFill>
                  <a:schemeClr val="bg2"/>
                </a:solidFill>
                <a:latin typeface="Source Sans Pro" panose="020B0503030403020204" pitchFamily="34" charset="0"/>
                <a:ea typeface="Source Sans Pro" panose="020B0503030403020204" pitchFamily="34" charset="0"/>
              </a:rPr>
              <a:t>called</a:t>
            </a:r>
            <a:r>
              <a:rPr kumimoji="1" lang="zh-CN" altLang="en-US" sz="1400" dirty="0">
                <a:solidFill>
                  <a:schemeClr val="bg2"/>
                </a:solidFill>
                <a:latin typeface="Source Sans Pro" panose="020B0503030403020204" pitchFamily="34" charset="0"/>
                <a:ea typeface="Source Sans Pro" panose="020B0503030403020204" pitchFamily="34" charset="0"/>
              </a:rPr>
              <a:t> </a:t>
            </a:r>
            <a:r>
              <a:rPr kumimoji="1" lang="en-US" altLang="zh-CN" sz="1400" dirty="0">
                <a:solidFill>
                  <a:schemeClr val="tx1"/>
                </a:solidFill>
                <a:latin typeface="Source Sans Pro" panose="020B0503030403020204" pitchFamily="34" charset="0"/>
                <a:ea typeface="Source Sans Pro" panose="020B0503030403020204" pitchFamily="34" charset="0"/>
              </a:rPr>
              <a:t>class</a:t>
            </a:r>
            <a:endParaRPr kumimoji="1" lang="en-US" altLang="zh-CN" sz="1400" dirty="0">
              <a:solidFill>
                <a:schemeClr val="tx1"/>
              </a:solidFill>
              <a:latin typeface="Source Sans Pro" panose="020B0503030403020204" pitchFamily="34" charset="0"/>
              <a:ea typeface="Source Sans Pro" panose="020B0503030403020204" pitchFamily="34" charset="0"/>
            </a:endParaRPr>
          </a:p>
          <a:p>
            <a:pPr lvl="1"/>
            <a:r>
              <a:rPr kumimoji="1" lang="en-US" altLang="zh-CN" sz="1200" dirty="0">
                <a:solidFill>
                  <a:schemeClr val="tx1"/>
                </a:solidFill>
                <a:latin typeface="Source Sans Pro" panose="020B0503030403020204" pitchFamily="34" charset="0"/>
                <a:ea typeface="Source Sans Pro" panose="020B0503030403020204" pitchFamily="34" charset="0"/>
              </a:rPr>
              <a:t>Data: Variables</a:t>
            </a:r>
            <a:endParaRPr kumimoji="1" lang="en-US" altLang="zh-CN" sz="1200" dirty="0">
              <a:solidFill>
                <a:schemeClr val="tx1"/>
              </a:solidFill>
              <a:latin typeface="Source Sans Pro" panose="020B0503030403020204" pitchFamily="34" charset="0"/>
              <a:ea typeface="Source Sans Pro" panose="020B0503030403020204" pitchFamily="34" charset="0"/>
            </a:endParaRPr>
          </a:p>
          <a:p>
            <a:pPr lvl="1"/>
            <a:r>
              <a:rPr kumimoji="1" lang="en-US" altLang="zh-CN" sz="1200" dirty="0">
                <a:solidFill>
                  <a:schemeClr val="tx1"/>
                </a:solidFill>
                <a:latin typeface="Source Sans Pro" panose="020B0503030403020204" pitchFamily="34" charset="0"/>
                <a:ea typeface="Source Sans Pro" panose="020B0503030403020204" pitchFamily="34" charset="0"/>
              </a:rPr>
              <a:t>Method: Member functions</a:t>
            </a:r>
            <a:endParaRPr kumimoji="1" lang="en-US" altLang="zh-CN" sz="1200" dirty="0">
              <a:solidFill>
                <a:schemeClr val="tx1"/>
              </a:solidFill>
              <a:latin typeface="Source Sans Pro" panose="020B0503030403020204" pitchFamily="34" charset="0"/>
              <a:ea typeface="Source Sans Pro" panose="020B0503030403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Class</a:t>
            </a:r>
            <a:endParaRPr lang="en-US" altLang="zh-CN" dirty="0"/>
          </a:p>
        </p:txBody>
      </p:sp>
      <p:sp>
        <p:nvSpPr>
          <p:cNvPr id="3" name="文本占位符 2"/>
          <p:cNvSpPr>
            <a:spLocks noGrp="1"/>
          </p:cNvSpPr>
          <p:nvPr>
            <p:ph type="body" idx="1"/>
          </p:nvPr>
        </p:nvSpPr>
        <p:spPr>
          <a:xfrm>
            <a:off x="311700" y="1103400"/>
            <a:ext cx="8520600" cy="2279880"/>
          </a:xfrm>
        </p:spPr>
        <p:txBody>
          <a:bodyPr>
            <a:noAutofit/>
          </a:bodyPr>
          <a:lstStyle/>
          <a:p>
            <a:r>
              <a:rPr lang="zh-CN" altLang="en-US" sz="1400" dirty="0">
                <a:solidFill>
                  <a:schemeClr val="bg2"/>
                </a:solidFill>
                <a:latin typeface="Source Sans Pro" panose="020B0503030403020204" pitchFamily="34" charset="0"/>
                <a:ea typeface="黑体" panose="02010609060101010101" pitchFamily="49" charset="-122"/>
              </a:rPr>
              <a:t>数据类型 </a:t>
            </a:r>
            <a:r>
              <a:rPr lang="en-US" altLang="zh-CN" sz="1400" dirty="0">
                <a:solidFill>
                  <a:schemeClr val="bg2"/>
                </a:solidFill>
                <a:latin typeface="Source Sans Pro" panose="020B0503030403020204" pitchFamily="34" charset="0"/>
                <a:ea typeface="Source Sans Pro" panose="020B0503030403020204" pitchFamily="34" charset="0"/>
              </a:rPr>
              <a:t>int,</a:t>
            </a:r>
            <a:r>
              <a:rPr lang="zh-CN" altLang="en-US" sz="1400" dirty="0">
                <a:solidFill>
                  <a:schemeClr val="bg2"/>
                </a:solidFill>
                <a:latin typeface="Source Sans Pro" panose="020B0503030403020204" pitchFamily="34" charset="0"/>
                <a:ea typeface="黑体" panose="02010609060101010101" pitchFamily="49" charset="-122"/>
              </a:rPr>
              <a:t> </a:t>
            </a:r>
            <a:r>
              <a:rPr lang="en-US" altLang="zh-CN" sz="1400" dirty="0">
                <a:solidFill>
                  <a:schemeClr val="bg2"/>
                </a:solidFill>
                <a:latin typeface="Source Sans Pro" panose="020B0503030403020204" pitchFamily="34" charset="0"/>
                <a:ea typeface="Source Sans Pro" panose="020B0503030403020204" pitchFamily="34" charset="0"/>
              </a:rPr>
              <a:t>float,</a:t>
            </a:r>
            <a:r>
              <a:rPr lang="zh-CN" altLang="en-US" sz="1400" dirty="0">
                <a:solidFill>
                  <a:schemeClr val="bg2"/>
                </a:solidFill>
                <a:latin typeface="Source Sans Pro" panose="020B0503030403020204" pitchFamily="34" charset="0"/>
                <a:ea typeface="黑体" panose="02010609060101010101" pitchFamily="49" charset="-122"/>
              </a:rPr>
              <a:t> </a:t>
            </a:r>
            <a:r>
              <a:rPr lang="en-US" altLang="zh-CN" sz="1400" dirty="0">
                <a:solidFill>
                  <a:schemeClr val="bg2"/>
                </a:solidFill>
                <a:latin typeface="Source Sans Pro" panose="020B0503030403020204" pitchFamily="34" charset="0"/>
                <a:ea typeface="Source Sans Pro" panose="020B0503030403020204" pitchFamily="34" charset="0"/>
              </a:rPr>
              <a:t>complex,</a:t>
            </a:r>
            <a:r>
              <a:rPr lang="zh-CN" altLang="en-US" sz="1400" dirty="0">
                <a:solidFill>
                  <a:schemeClr val="bg2"/>
                </a:solidFill>
                <a:latin typeface="Source Sans Pro" panose="020B0503030403020204" pitchFamily="34" charset="0"/>
                <a:ea typeface="黑体" panose="02010609060101010101" pitchFamily="49" charset="-122"/>
              </a:rPr>
              <a:t> </a:t>
            </a:r>
            <a:r>
              <a:rPr lang="en-US" altLang="zh-CN" sz="1400" dirty="0">
                <a:solidFill>
                  <a:schemeClr val="bg2"/>
                </a:solidFill>
                <a:latin typeface="Source Sans Pro" panose="020B0503030403020204" pitchFamily="34" charset="0"/>
                <a:ea typeface="Source Sans Pro" panose="020B0503030403020204" pitchFamily="34" charset="0"/>
              </a:rPr>
              <a:t>str</a:t>
            </a:r>
            <a:endParaRPr lang="en-US" altLang="zh-CN" sz="1400" dirty="0">
              <a:solidFill>
                <a:schemeClr val="bg2"/>
              </a:solidFill>
              <a:latin typeface="Source Sans Pro" panose="020B0503030403020204" pitchFamily="34" charset="0"/>
              <a:ea typeface="Source Sans Pro" panose="020B0503030403020204" pitchFamily="34" charset="0"/>
            </a:endParaRPr>
          </a:p>
          <a:p>
            <a:r>
              <a:rPr lang="en-US" altLang="zh-CN" sz="1400" dirty="0">
                <a:solidFill>
                  <a:schemeClr val="bg2"/>
                </a:solidFill>
                <a:latin typeface="Source Sans Pro" panose="020B0503030403020204" pitchFamily="34" charset="0"/>
                <a:ea typeface="Source Sans Pro" panose="020B0503030403020204" pitchFamily="34" charset="0"/>
              </a:rPr>
              <a:t>Python</a:t>
            </a:r>
            <a:r>
              <a:rPr lang="zh-CN" altLang="en-US" sz="1400" dirty="0">
                <a:solidFill>
                  <a:schemeClr val="bg2"/>
                </a:solidFill>
                <a:latin typeface="Source Sans Pro" panose="020B0503030403020204" pitchFamily="34" charset="0"/>
                <a:ea typeface="黑体" panose="02010609060101010101" pitchFamily="49" charset="-122"/>
              </a:rPr>
              <a:t>中，不同类型</a:t>
            </a:r>
            <a:r>
              <a:rPr lang="en-US" altLang="zh-CN" sz="1400" dirty="0">
                <a:solidFill>
                  <a:schemeClr val="bg2"/>
                </a:solidFill>
                <a:latin typeface="Source Sans Pro" panose="020B0503030403020204" pitchFamily="34" charset="0"/>
                <a:ea typeface="Source Sans Pro" panose="020B0503030403020204" pitchFamily="34" charset="0"/>
              </a:rPr>
              <a:t>type()</a:t>
            </a:r>
            <a:r>
              <a:rPr lang="zh-CN" altLang="en-US" sz="1400" dirty="0">
                <a:solidFill>
                  <a:schemeClr val="bg2"/>
                </a:solidFill>
                <a:latin typeface="Source Sans Pro" panose="020B0503030403020204" pitchFamily="34" charset="0"/>
                <a:ea typeface="黑体" panose="02010609060101010101" pitchFamily="49" charset="-122"/>
              </a:rPr>
              <a:t>就是不同的</a:t>
            </a:r>
            <a:r>
              <a:rPr lang="en-US" altLang="zh-CN" sz="1400" dirty="0">
                <a:solidFill>
                  <a:schemeClr val="bg2"/>
                </a:solidFill>
                <a:latin typeface="Source Sans Pro" panose="020B0503030403020204" pitchFamily="34" charset="0"/>
                <a:ea typeface="Source Sans Pro" panose="020B0503030403020204" pitchFamily="34" charset="0"/>
              </a:rPr>
              <a:t>class</a:t>
            </a:r>
            <a:endParaRPr lang="en-US" altLang="zh-CN" sz="1400" dirty="0">
              <a:solidFill>
                <a:schemeClr val="bg2"/>
              </a:solidFill>
              <a:latin typeface="Source Sans Pro" panose="020B0503030403020204" pitchFamily="34" charset="0"/>
              <a:ea typeface="Source Sans Pro" panose="020B0503030403020204" pitchFamily="34" charset="0"/>
            </a:endParaRPr>
          </a:p>
          <a:p>
            <a:r>
              <a:rPr lang="en-US" altLang="zh-CN" sz="1400" dirty="0">
                <a:solidFill>
                  <a:schemeClr val="bg2"/>
                </a:solidFill>
                <a:latin typeface="Source Sans Pro" panose="020B0503030403020204" pitchFamily="34" charset="0"/>
                <a:ea typeface="Source Sans Pro" panose="020B0503030403020204" pitchFamily="34" charset="0"/>
              </a:rPr>
              <a:t>class:</a:t>
            </a:r>
            <a:r>
              <a:rPr lang="zh-CN" altLang="en-US" sz="1400" dirty="0">
                <a:solidFill>
                  <a:schemeClr val="bg2"/>
                </a:solidFill>
                <a:latin typeface="Source Sans Pro" panose="020B0503030403020204" pitchFamily="34" charset="0"/>
                <a:ea typeface="黑体" panose="02010609060101010101" pitchFamily="49" charset="-122"/>
              </a:rPr>
              <a:t> 把数据和函数打包在一起，就构成一个</a:t>
            </a:r>
            <a:r>
              <a:rPr lang="en-US" altLang="zh-CN" sz="1400" dirty="0">
                <a:solidFill>
                  <a:schemeClr val="bg2"/>
                </a:solidFill>
                <a:latin typeface="Source Sans Pro" panose="020B0503030403020204" pitchFamily="34" charset="0"/>
                <a:ea typeface="Source Sans Pro" panose="020B0503030403020204" pitchFamily="34" charset="0"/>
              </a:rPr>
              <a:t>class</a:t>
            </a:r>
            <a:r>
              <a:rPr lang="zh-CN" altLang="en-US" sz="1400" dirty="0">
                <a:solidFill>
                  <a:schemeClr val="bg2"/>
                </a:solidFill>
                <a:latin typeface="Source Sans Pro" panose="020B0503030403020204" pitchFamily="34" charset="0"/>
                <a:ea typeface="黑体" panose="02010609060101010101" pitchFamily="49" charset="-122"/>
              </a:rPr>
              <a:t>。好处之一是：</a:t>
            </a:r>
            <a:r>
              <a:rPr lang="zh-CN" altLang="en-US" sz="1400" dirty="0">
                <a:solidFill>
                  <a:schemeClr val="tx1"/>
                </a:solidFill>
                <a:latin typeface="Source Sans Pro" panose="020B0503030403020204" pitchFamily="34" charset="0"/>
                <a:ea typeface="黑体" panose="02010609060101010101" pitchFamily="49" charset="-122"/>
              </a:rPr>
              <a:t>可以和其它的数据和函数隔离开</a:t>
            </a:r>
            <a:endParaRPr lang="en-US" altLang="zh-CN" sz="1400" dirty="0">
              <a:solidFill>
                <a:schemeClr val="tx1"/>
              </a:solidFill>
              <a:latin typeface="Source Sans Pro" panose="020B0503030403020204" pitchFamily="34" charset="0"/>
              <a:ea typeface="Source Sans Pro" panose="020B0503030403020204" pitchFamily="34" charset="0"/>
            </a:endParaRPr>
          </a:p>
          <a:p>
            <a:pPr lvl="1"/>
            <a:r>
              <a:rPr lang="zh-CN" altLang="en-US" sz="1200" dirty="0">
                <a:solidFill>
                  <a:schemeClr val="bg2"/>
                </a:solidFill>
                <a:latin typeface="Source Sans Pro" panose="020B0503030403020204" pitchFamily="34" charset="0"/>
                <a:ea typeface="黑体" panose="02010609060101010101" pitchFamily="49" charset="-122"/>
              </a:rPr>
              <a:t>在三角形研究中，</a:t>
            </a:r>
            <a:r>
              <a:rPr lang="en-US" altLang="zh-CN" sz="1200" dirty="0">
                <a:solidFill>
                  <a:schemeClr val="bg2"/>
                </a:solidFill>
                <a:latin typeface="Source Sans Pro" panose="020B0503030403020204" pitchFamily="34" charset="0"/>
                <a:ea typeface="Source Sans Pro" panose="020B0503030403020204" pitchFamily="34" charset="0"/>
              </a:rPr>
              <a:t>x,</a:t>
            </a:r>
            <a:r>
              <a:rPr lang="zh-CN" altLang="en-US" sz="1200" dirty="0">
                <a:solidFill>
                  <a:schemeClr val="bg2"/>
                </a:solidFill>
                <a:latin typeface="Source Sans Pro" panose="020B0503030403020204" pitchFamily="34" charset="0"/>
                <a:ea typeface="黑体" panose="02010609060101010101" pitchFamily="49" charset="-122"/>
              </a:rPr>
              <a:t> </a:t>
            </a:r>
            <a:r>
              <a:rPr lang="en-US" altLang="zh-CN" sz="1200" dirty="0">
                <a:solidFill>
                  <a:schemeClr val="bg2"/>
                </a:solidFill>
                <a:latin typeface="Source Sans Pro" panose="020B0503030403020204" pitchFamily="34" charset="0"/>
                <a:ea typeface="Source Sans Pro" panose="020B0503030403020204" pitchFamily="34" charset="0"/>
              </a:rPr>
              <a:t>y,</a:t>
            </a:r>
            <a:r>
              <a:rPr lang="zh-CN" altLang="en-US" sz="1200" dirty="0">
                <a:solidFill>
                  <a:schemeClr val="bg2"/>
                </a:solidFill>
                <a:latin typeface="Source Sans Pro" panose="020B0503030403020204" pitchFamily="34" charset="0"/>
                <a:ea typeface="黑体" panose="02010609060101010101" pitchFamily="49" charset="-122"/>
              </a:rPr>
              <a:t> </a:t>
            </a:r>
            <a:r>
              <a:rPr lang="en-US" altLang="zh-CN" sz="1200" dirty="0">
                <a:solidFill>
                  <a:schemeClr val="bg2"/>
                </a:solidFill>
                <a:latin typeface="Source Sans Pro" panose="020B0503030403020204" pitchFamily="34" charset="0"/>
                <a:ea typeface="Source Sans Pro" panose="020B0503030403020204" pitchFamily="34" charset="0"/>
              </a:rPr>
              <a:t>z</a:t>
            </a:r>
            <a:r>
              <a:rPr lang="zh-CN" altLang="en-US" sz="1200" dirty="0">
                <a:solidFill>
                  <a:schemeClr val="bg2"/>
                </a:solidFill>
                <a:latin typeface="Source Sans Pro" panose="020B0503030403020204" pitchFamily="34" charset="0"/>
                <a:ea typeface="黑体" panose="02010609060101010101" pitchFamily="49" charset="-122"/>
              </a:rPr>
              <a:t> 是三条边，可以定义三角形相关的函数</a:t>
            </a:r>
            <a:endParaRPr lang="en-US" altLang="zh-CN" sz="1200" dirty="0">
              <a:solidFill>
                <a:schemeClr val="bg2"/>
              </a:solidFill>
              <a:latin typeface="Source Sans Pro" panose="020B0503030403020204" pitchFamily="34" charset="0"/>
              <a:ea typeface="Source Sans Pro" panose="020B0503030403020204" pitchFamily="34" charset="0"/>
            </a:endParaRPr>
          </a:p>
          <a:p>
            <a:pPr lvl="1"/>
            <a:r>
              <a:rPr lang="zh-CN" altLang="en-US" sz="1200" dirty="0">
                <a:solidFill>
                  <a:schemeClr val="bg2"/>
                </a:solidFill>
                <a:latin typeface="Source Sans Pro" panose="020B0503030403020204" pitchFamily="34" charset="0"/>
                <a:ea typeface="黑体" panose="02010609060101010101" pitchFamily="49" charset="-122"/>
              </a:rPr>
              <a:t>在代数问题中，</a:t>
            </a:r>
            <a:r>
              <a:rPr lang="en-US" altLang="zh-CN" sz="1200" dirty="0">
                <a:solidFill>
                  <a:schemeClr val="bg2"/>
                </a:solidFill>
                <a:latin typeface="Source Sans Pro" panose="020B0503030403020204" pitchFamily="34" charset="0"/>
                <a:ea typeface="Source Sans Pro" panose="020B0503030403020204" pitchFamily="34" charset="0"/>
              </a:rPr>
              <a:t>x,</a:t>
            </a:r>
            <a:r>
              <a:rPr lang="zh-CN" altLang="en-US" sz="1200" dirty="0">
                <a:solidFill>
                  <a:schemeClr val="bg2"/>
                </a:solidFill>
                <a:latin typeface="Source Sans Pro" panose="020B0503030403020204" pitchFamily="34" charset="0"/>
                <a:ea typeface="黑体" panose="02010609060101010101" pitchFamily="49" charset="-122"/>
              </a:rPr>
              <a:t> </a:t>
            </a:r>
            <a:r>
              <a:rPr lang="en-US" altLang="zh-CN" sz="1200" dirty="0">
                <a:solidFill>
                  <a:schemeClr val="bg2"/>
                </a:solidFill>
                <a:latin typeface="Source Sans Pro" panose="020B0503030403020204" pitchFamily="34" charset="0"/>
                <a:ea typeface="Source Sans Pro" panose="020B0503030403020204" pitchFamily="34" charset="0"/>
              </a:rPr>
              <a:t>y,</a:t>
            </a:r>
            <a:r>
              <a:rPr lang="zh-CN" altLang="en-US" sz="1200" dirty="0">
                <a:solidFill>
                  <a:schemeClr val="bg2"/>
                </a:solidFill>
                <a:latin typeface="Source Sans Pro" panose="020B0503030403020204" pitchFamily="34" charset="0"/>
                <a:ea typeface="黑体" panose="02010609060101010101" pitchFamily="49" charset="-122"/>
              </a:rPr>
              <a:t> </a:t>
            </a:r>
            <a:r>
              <a:rPr lang="en-US" altLang="zh-CN" sz="1200" dirty="0">
                <a:solidFill>
                  <a:schemeClr val="bg2"/>
                </a:solidFill>
                <a:latin typeface="Source Sans Pro" panose="020B0503030403020204" pitchFamily="34" charset="0"/>
                <a:ea typeface="Source Sans Pro" panose="020B0503030403020204" pitchFamily="34" charset="0"/>
              </a:rPr>
              <a:t>z</a:t>
            </a:r>
            <a:r>
              <a:rPr lang="zh-CN" altLang="en-US" sz="1200" dirty="0">
                <a:solidFill>
                  <a:schemeClr val="bg2"/>
                </a:solidFill>
                <a:latin typeface="Source Sans Pro" panose="020B0503030403020204" pitchFamily="34" charset="0"/>
                <a:ea typeface="黑体" panose="02010609060101010101" pitchFamily="49" charset="-122"/>
              </a:rPr>
              <a:t>是多项式的变量，可以定义多项式相关的函数</a:t>
            </a:r>
            <a:endParaRPr lang="en-US" altLang="zh-CN" sz="1200" dirty="0">
              <a:solidFill>
                <a:schemeClr val="bg2"/>
              </a:solidFill>
              <a:latin typeface="Source Sans Pro" panose="020B0503030403020204" pitchFamily="34" charset="0"/>
              <a:ea typeface="Source Sans Pro" panose="020B0503030403020204" pitchFamily="34" charset="0"/>
            </a:endParaRPr>
          </a:p>
          <a:p>
            <a:pPr lvl="1"/>
            <a:r>
              <a:rPr lang="zh-CN" altLang="en-US" sz="1200" dirty="0">
                <a:solidFill>
                  <a:schemeClr val="bg2"/>
                </a:solidFill>
                <a:latin typeface="Source Sans Pro" panose="020B0503030403020204" pitchFamily="34" charset="0"/>
                <a:ea typeface="黑体" panose="02010609060101010101" pitchFamily="49" charset="-122"/>
              </a:rPr>
              <a:t>为了避免同一文件中，可能的</a:t>
            </a:r>
            <a:r>
              <a:rPr lang="en-US" altLang="zh-CN" sz="1200" dirty="0">
                <a:solidFill>
                  <a:schemeClr val="bg2"/>
                </a:solidFill>
                <a:latin typeface="Source Sans Pro" panose="020B0503030403020204" pitchFamily="34" charset="0"/>
                <a:ea typeface="Source Sans Pro" panose="020B0503030403020204" pitchFamily="34" charset="0"/>
              </a:rPr>
              <a:t>x,</a:t>
            </a:r>
            <a:r>
              <a:rPr lang="zh-CN" altLang="en-US" sz="1200" dirty="0">
                <a:solidFill>
                  <a:schemeClr val="bg2"/>
                </a:solidFill>
                <a:latin typeface="Source Sans Pro" panose="020B0503030403020204" pitchFamily="34" charset="0"/>
                <a:ea typeface="黑体" panose="02010609060101010101" pitchFamily="49" charset="-122"/>
              </a:rPr>
              <a:t> </a:t>
            </a:r>
            <a:r>
              <a:rPr lang="en-US" altLang="zh-CN" sz="1200" dirty="0">
                <a:solidFill>
                  <a:schemeClr val="bg2"/>
                </a:solidFill>
                <a:latin typeface="Source Sans Pro" panose="020B0503030403020204" pitchFamily="34" charset="0"/>
                <a:ea typeface="Source Sans Pro" panose="020B0503030403020204" pitchFamily="34" charset="0"/>
              </a:rPr>
              <a:t>y,</a:t>
            </a:r>
            <a:r>
              <a:rPr lang="zh-CN" altLang="en-US" sz="1200" dirty="0">
                <a:solidFill>
                  <a:schemeClr val="bg2"/>
                </a:solidFill>
                <a:latin typeface="Source Sans Pro" panose="020B0503030403020204" pitchFamily="34" charset="0"/>
                <a:ea typeface="黑体" panose="02010609060101010101" pitchFamily="49" charset="-122"/>
              </a:rPr>
              <a:t> </a:t>
            </a:r>
            <a:r>
              <a:rPr lang="en-US" altLang="zh-CN" sz="1200" dirty="0">
                <a:solidFill>
                  <a:schemeClr val="bg2"/>
                </a:solidFill>
                <a:latin typeface="Source Sans Pro" panose="020B0503030403020204" pitchFamily="34" charset="0"/>
                <a:ea typeface="Source Sans Pro" panose="020B0503030403020204" pitchFamily="34" charset="0"/>
              </a:rPr>
              <a:t>z</a:t>
            </a:r>
            <a:r>
              <a:rPr lang="zh-CN" altLang="en-US" sz="1200" dirty="0">
                <a:solidFill>
                  <a:schemeClr val="bg2"/>
                </a:solidFill>
                <a:latin typeface="Source Sans Pro" panose="020B0503030403020204" pitchFamily="34" charset="0"/>
                <a:ea typeface="黑体" panose="02010609060101010101" pitchFamily="49" charset="-122"/>
              </a:rPr>
              <a:t>冲突，用</a:t>
            </a:r>
            <a:r>
              <a:rPr lang="en-US" altLang="zh-CN" sz="1200" dirty="0">
                <a:solidFill>
                  <a:schemeClr val="bg2"/>
                </a:solidFill>
                <a:latin typeface="Source Sans Pro" panose="020B0503030403020204" pitchFamily="34" charset="0"/>
                <a:ea typeface="Source Sans Pro" panose="020B0503030403020204" pitchFamily="34" charset="0"/>
              </a:rPr>
              <a:t>class</a:t>
            </a:r>
            <a:r>
              <a:rPr lang="zh-CN" altLang="en-US" sz="1200" dirty="0">
                <a:solidFill>
                  <a:schemeClr val="bg2"/>
                </a:solidFill>
                <a:latin typeface="Source Sans Pro" panose="020B0503030403020204" pitchFamily="34" charset="0"/>
                <a:ea typeface="黑体" panose="02010609060101010101" pitchFamily="49" charset="-122"/>
              </a:rPr>
              <a:t>将三角形和多项式分别</a:t>
            </a:r>
            <a:r>
              <a:rPr lang="zh-CN" altLang="en-US" sz="1200" dirty="0">
                <a:solidFill>
                  <a:schemeClr val="bg2"/>
                </a:solidFill>
                <a:latin typeface="Source Sans Pro" panose="020B0503030403020204" pitchFamily="34" charset="0"/>
                <a:ea typeface="黑体" panose="02010609060101010101" pitchFamily="49" charset="-122"/>
              </a:rPr>
              <a:t>打包为</a:t>
            </a:r>
            <a:r>
              <a:rPr lang="zh-CN" altLang="en-US" sz="1200" dirty="0">
                <a:solidFill>
                  <a:schemeClr val="bg2"/>
                </a:solidFill>
                <a:latin typeface="Source Sans Pro" panose="020B0503030403020204" pitchFamily="34" charset="0"/>
                <a:ea typeface="黑体" panose="02010609060101010101" pitchFamily="49" charset="-122"/>
              </a:rPr>
              <a:t>类，隔离开</a:t>
            </a:r>
            <a:endParaRPr lang="en-US" altLang="zh-CN" sz="1200" dirty="0">
              <a:solidFill>
                <a:schemeClr val="bg2"/>
              </a:solidFill>
              <a:latin typeface="Source Sans Pro" panose="020B0503030403020204" pitchFamily="34" charset="0"/>
              <a:ea typeface="Source Sans Pro" panose="020B0503030403020204" pitchFamily="34" charset="0"/>
            </a:endParaRPr>
          </a:p>
          <a:p>
            <a:r>
              <a:rPr lang="en-US" altLang="zh-CN" sz="1400" dirty="0">
                <a:solidFill>
                  <a:schemeClr val="bg2"/>
                </a:solidFill>
                <a:latin typeface="Source Sans Pro" panose="020B0503030403020204" pitchFamily="34" charset="0"/>
                <a:ea typeface="Source Sans Pro" panose="020B0503030403020204" pitchFamily="34" charset="0"/>
              </a:rPr>
              <a:t>class</a:t>
            </a:r>
            <a:r>
              <a:rPr lang="zh-CN" altLang="en-US" sz="1400" dirty="0">
                <a:solidFill>
                  <a:schemeClr val="bg2"/>
                </a:solidFill>
                <a:latin typeface="Source Sans Pro" panose="020B0503030403020204" pitchFamily="34" charset="0"/>
                <a:ea typeface="黑体" panose="02010609060101010101" pitchFamily="49" charset="-122"/>
              </a:rPr>
              <a:t>中的函数和变量属于这个类所特有，不会和外面的同名函数或者变量冲突</a:t>
            </a:r>
            <a:endParaRPr lang="en-US" altLang="zh-CN" sz="1400" dirty="0">
              <a:solidFill>
                <a:schemeClr val="bg2"/>
              </a:solidFill>
              <a:latin typeface="Source Sans Pro" panose="020B0503030403020204" pitchFamily="34" charset="0"/>
              <a:ea typeface="Source Sans Pro" panose="020B0503030403020204" pitchFamily="34" charset="0"/>
            </a:endParaRPr>
          </a:p>
          <a:p>
            <a:r>
              <a:rPr lang="zh-CN" altLang="en-US" sz="1400" dirty="0">
                <a:solidFill>
                  <a:schemeClr val="tx1"/>
                </a:solidFill>
                <a:latin typeface="Source Sans Pro" panose="020B0503030403020204" pitchFamily="34" charset="0"/>
                <a:ea typeface="黑体" panose="02010609060101010101" pitchFamily="49" charset="-122"/>
              </a:rPr>
              <a:t>用法</a:t>
            </a:r>
            <a:r>
              <a:rPr lang="zh-CN" altLang="en-US" sz="1400" dirty="0">
                <a:solidFill>
                  <a:schemeClr val="bg2"/>
                </a:solidFill>
                <a:latin typeface="Source Sans Pro" panose="020B0503030403020204" pitchFamily="34" charset="0"/>
                <a:ea typeface="黑体" panose="02010609060101010101" pitchFamily="49" charset="-122"/>
              </a:rPr>
              <a:t> </a:t>
            </a:r>
            <a:r>
              <a:rPr lang="en-US" altLang="zh-CN" sz="1400" dirty="0" err="1">
                <a:solidFill>
                  <a:schemeClr val="bg2"/>
                </a:solidFill>
                <a:latin typeface="Source Sans Pro" panose="020B0503030403020204" pitchFamily="34" charset="0"/>
                <a:ea typeface="Source Sans Pro" panose="020B0503030403020204" pitchFamily="34" charset="0"/>
              </a:rPr>
              <a:t>x.func</a:t>
            </a:r>
            <a:r>
              <a:rPr lang="en-US" altLang="zh-CN" sz="1400" dirty="0">
                <a:solidFill>
                  <a:schemeClr val="bg2"/>
                </a:solidFill>
                <a:latin typeface="Source Sans Pro" panose="020B0503030403020204" pitchFamily="34" charset="0"/>
                <a:ea typeface="Source Sans Pro" panose="020B0503030403020204" pitchFamily="34" charset="0"/>
              </a:rPr>
              <a:t>(</a:t>
            </a:r>
            <a:r>
              <a:rPr lang="en-US" altLang="zh-CN" sz="1400" dirty="0" err="1">
                <a:solidFill>
                  <a:schemeClr val="bg2"/>
                </a:solidFill>
                <a:latin typeface="Source Sans Pro" panose="020B0503030403020204" pitchFamily="34" charset="0"/>
                <a:ea typeface="Source Sans Pro" panose="020B0503030403020204" pitchFamily="34" charset="0"/>
              </a:rPr>
              <a:t>parm</a:t>
            </a:r>
            <a:r>
              <a:rPr lang="en-US" altLang="zh-CN" sz="1400" dirty="0">
                <a:solidFill>
                  <a:schemeClr val="bg2"/>
                </a:solidFill>
                <a:latin typeface="Source Sans Pro" panose="020B0503030403020204" pitchFamily="34" charset="0"/>
                <a:ea typeface="Source Sans Pro" panose="020B0503030403020204" pitchFamily="34" charset="0"/>
              </a:rPr>
              <a:t>)</a:t>
            </a:r>
            <a:endParaRPr lang="en-US" altLang="zh-CN" sz="1400" dirty="0">
              <a:solidFill>
                <a:schemeClr val="bg2"/>
              </a:solidFill>
              <a:latin typeface="Source Sans Pro" panose="020B0503030403020204" pitchFamily="34" charset="0"/>
              <a:ea typeface="Source Sans Pro" panose="020B0503030403020204" pitchFamily="34" charset="0"/>
            </a:endParaRPr>
          </a:p>
          <a:p>
            <a:pPr lvl="1"/>
            <a:r>
              <a:rPr lang="en-US" altLang="zh-CN" sz="1200" dirty="0">
                <a:solidFill>
                  <a:schemeClr val="bg2"/>
                </a:solidFill>
                <a:latin typeface="Source Sans Pro" panose="020B0503030403020204" pitchFamily="34" charset="0"/>
                <a:ea typeface="Source Sans Pro" panose="020B0503030403020204" pitchFamily="34" charset="0"/>
              </a:rPr>
              <a:t>.</a:t>
            </a:r>
            <a:r>
              <a:rPr lang="zh-CN" altLang="en-US" sz="1200" dirty="0">
                <a:solidFill>
                  <a:schemeClr val="bg2"/>
                </a:solidFill>
                <a:latin typeface="Source Sans Pro" panose="020B0503030403020204" pitchFamily="34" charset="0"/>
                <a:ea typeface="黑体" panose="02010609060101010101" pitchFamily="49" charset="-122"/>
              </a:rPr>
              <a:t> 表示</a:t>
            </a:r>
            <a:r>
              <a:rPr lang="en-US" altLang="zh-CN" sz="1200" dirty="0" err="1">
                <a:solidFill>
                  <a:schemeClr val="bg2"/>
                </a:solidFill>
                <a:latin typeface="Source Sans Pro" panose="020B0503030403020204" pitchFamily="34" charset="0"/>
                <a:ea typeface="Source Sans Pro" panose="020B0503030403020204" pitchFamily="34" charset="0"/>
              </a:rPr>
              <a:t>func</a:t>
            </a:r>
            <a:r>
              <a:rPr lang="zh-CN" altLang="en-US" sz="1200" dirty="0">
                <a:solidFill>
                  <a:schemeClr val="bg2"/>
                </a:solidFill>
                <a:latin typeface="Source Sans Pro" panose="020B0503030403020204" pitchFamily="34" charset="0"/>
                <a:ea typeface="黑体" panose="02010609060101010101" pitchFamily="49" charset="-122"/>
              </a:rPr>
              <a:t>是</a:t>
            </a:r>
            <a:r>
              <a:rPr lang="en-US" altLang="zh-CN" sz="1200" dirty="0">
                <a:solidFill>
                  <a:schemeClr val="bg2"/>
                </a:solidFill>
                <a:latin typeface="Source Sans Pro" panose="020B0503030403020204" pitchFamily="34" charset="0"/>
                <a:ea typeface="Source Sans Pro" panose="020B0503030403020204" pitchFamily="34" charset="0"/>
              </a:rPr>
              <a:t>x</a:t>
            </a:r>
            <a:r>
              <a:rPr lang="zh-CN" altLang="en-US" sz="1200" dirty="0">
                <a:solidFill>
                  <a:schemeClr val="bg2"/>
                </a:solidFill>
                <a:latin typeface="Source Sans Pro" panose="020B0503030403020204" pitchFamily="34" charset="0"/>
                <a:ea typeface="黑体" panose="02010609060101010101" pitchFamily="49" charset="-122"/>
              </a:rPr>
              <a:t>中的函数，不是其它地方的 </a:t>
            </a:r>
            <a:r>
              <a:rPr lang="en-US" altLang="zh-CN" sz="1200" dirty="0">
                <a:solidFill>
                  <a:schemeClr val="bg2"/>
                </a:solidFill>
                <a:latin typeface="Source Sans Pro" panose="020B0503030403020204" pitchFamily="34" charset="0"/>
                <a:ea typeface="Source Sans Pro" panose="020B0503030403020204" pitchFamily="34" charset="0"/>
              </a:rPr>
              <a:t>(</a:t>
            </a:r>
            <a:r>
              <a:rPr lang="zh-CN" altLang="en-US" sz="1200" dirty="0">
                <a:solidFill>
                  <a:schemeClr val="tx1"/>
                </a:solidFill>
                <a:latin typeface="Source Sans Pro" panose="020B0503030403020204" pitchFamily="34" charset="0"/>
                <a:ea typeface="黑体" panose="02010609060101010101" pitchFamily="49" charset="-122"/>
              </a:rPr>
              <a:t>先学会用，具体原理在第</a:t>
            </a:r>
            <a:r>
              <a:rPr lang="en-US" altLang="zh-CN" sz="1200" dirty="0">
                <a:solidFill>
                  <a:schemeClr val="tx1"/>
                </a:solidFill>
                <a:latin typeface="Source Sans Pro" panose="020B0503030403020204" pitchFamily="34" charset="0"/>
                <a:ea typeface="Source Sans Pro" panose="020B0503030403020204" pitchFamily="34" charset="0"/>
              </a:rPr>
              <a:t>9</a:t>
            </a:r>
            <a:r>
              <a:rPr lang="zh-CN" altLang="en-US" sz="1200" dirty="0">
                <a:solidFill>
                  <a:schemeClr val="tx1"/>
                </a:solidFill>
                <a:latin typeface="Source Sans Pro" panose="020B0503030403020204" pitchFamily="34" charset="0"/>
                <a:ea typeface="黑体" panose="02010609060101010101" pitchFamily="49" charset="-122"/>
              </a:rPr>
              <a:t>讲</a:t>
            </a:r>
            <a:r>
              <a:rPr lang="en-US" altLang="zh-CN" sz="1200" dirty="0">
                <a:solidFill>
                  <a:schemeClr val="bg2"/>
                </a:solidFill>
                <a:latin typeface="Source Sans Pro" panose="020B0503030403020204" pitchFamily="34" charset="0"/>
                <a:ea typeface="Source Sans Pro" panose="020B0503030403020204" pitchFamily="34" charset="0"/>
              </a:rPr>
              <a:t>)</a:t>
            </a:r>
            <a:endParaRPr lang="en-US" altLang="zh-CN" sz="1200" dirty="0">
              <a:solidFill>
                <a:schemeClr val="bg2"/>
              </a:solidFill>
              <a:latin typeface="Source Sans Pro" panose="020B0503030403020204" pitchFamily="34" charset="0"/>
              <a:ea typeface="Source Sans Pro" panose="020B0503030403020204" pitchFamily="34" charset="0"/>
            </a:endParaRPr>
          </a:p>
        </p:txBody>
      </p:sp>
      <p:sp>
        <p:nvSpPr>
          <p:cNvPr id="8" name="TextBox 15"/>
          <p:cNvSpPr txBox="1"/>
          <p:nvPr/>
        </p:nvSpPr>
        <p:spPr>
          <a:xfrm>
            <a:off x="65772" y="4825090"/>
            <a:ext cx="4310743" cy="246221"/>
          </a:xfrm>
          <a:prstGeom prst="rect">
            <a:avLst/>
          </a:prstGeom>
          <a:noFill/>
          <a:ln w="12700">
            <a:noFill/>
          </a:ln>
        </p:spPr>
        <p:txBody>
          <a:bodyPr wrap="square">
            <a:spAutoFit/>
          </a:bodyPr>
          <a:lstStyle/>
          <a:p>
            <a:r>
              <a:rPr lang="en-US" altLang="zh-CN" sz="1000" dirty="0">
                <a:solidFill>
                  <a:schemeClr val="bg2"/>
                </a:solidFill>
                <a:latin typeface="Source Sans Pro" panose="020B0503030403020204" pitchFamily="34" charset="0"/>
              </a:rPr>
              <a:t>https://docs.python.org/3/library/math.html</a:t>
            </a:r>
            <a:endParaRPr lang="en-US" altLang="zh-CN" sz="1000" dirty="0">
              <a:solidFill>
                <a:schemeClr val="bg2"/>
              </a:solidFill>
              <a:latin typeface="Source Sans Pro" panose="020B0503030403020204" pitchFamily="34" charset="0"/>
            </a:endParaRPr>
          </a:p>
        </p:txBody>
      </p:sp>
      <p:pic>
        <p:nvPicPr>
          <p:cNvPr id="12" name="Picture 11"/>
          <p:cNvPicPr>
            <a:picLocks noChangeAspect="1"/>
          </p:cNvPicPr>
          <p:nvPr/>
        </p:nvPicPr>
        <p:blipFill>
          <a:blip r:embed="rId1"/>
          <a:stretch>
            <a:fillRect/>
          </a:stretch>
        </p:blipFill>
        <p:spPr>
          <a:xfrm>
            <a:off x="533285" y="3498932"/>
            <a:ext cx="4038715" cy="1082336"/>
          </a:xfrm>
          <a:prstGeom prst="rect">
            <a:avLst/>
          </a:prstGeom>
        </p:spPr>
      </p:pic>
      <p:pic>
        <p:nvPicPr>
          <p:cNvPr id="15" name="Picture 14"/>
          <p:cNvPicPr>
            <a:picLocks noChangeAspect="1"/>
          </p:cNvPicPr>
          <p:nvPr/>
        </p:nvPicPr>
        <p:blipFill>
          <a:blip r:embed="rId2"/>
          <a:stretch>
            <a:fillRect/>
          </a:stretch>
        </p:blipFill>
        <p:spPr>
          <a:xfrm>
            <a:off x="4645891" y="3884064"/>
            <a:ext cx="4429389" cy="312071"/>
          </a:xfrm>
          <a:prstGeom prst="rect">
            <a:avLst/>
          </a:prstGeom>
        </p:spPr>
      </p:pic>
      <p:sp>
        <p:nvSpPr>
          <p:cNvPr id="4" name="文本框 3"/>
          <p:cNvSpPr txBox="1"/>
          <p:nvPr/>
        </p:nvSpPr>
        <p:spPr>
          <a:xfrm>
            <a:off x="7377764" y="756725"/>
            <a:ext cx="1369398" cy="307777"/>
          </a:xfrm>
          <a:prstGeom prst="rect">
            <a:avLst/>
          </a:prstGeom>
          <a:noFill/>
        </p:spPr>
        <p:txBody>
          <a:bodyPr wrap="square" rtlCol="0">
            <a:spAutoFit/>
          </a:bodyPr>
          <a:lstStyle/>
          <a:p>
            <a:r>
              <a:rPr lang="en-US" altLang="zh-CN" dirty="0"/>
              <a:t>Recall </a:t>
            </a:r>
            <a:r>
              <a:rPr lang="en-US" altLang="zh-CN" dirty="0" err="1"/>
              <a:t>Lec</a:t>
            </a:r>
            <a:r>
              <a:rPr lang="en-US" altLang="zh-CN" dirty="0"/>
              <a:t>. 3</a:t>
            </a: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a:t>Class and Object</a:t>
            </a:r>
            <a:endParaRPr kumimoji="1" lang="zh-CN" altLang="en-US" dirty="0"/>
          </a:p>
        </p:txBody>
      </p:sp>
      <p:sp>
        <p:nvSpPr>
          <p:cNvPr id="3" name="文本占位符 2"/>
          <p:cNvSpPr>
            <a:spLocks noGrp="1"/>
          </p:cNvSpPr>
          <p:nvPr>
            <p:ph type="body" idx="1"/>
          </p:nvPr>
        </p:nvSpPr>
        <p:spPr>
          <a:xfrm>
            <a:off x="221165" y="1461484"/>
            <a:ext cx="5929378" cy="3509964"/>
          </a:xfrm>
        </p:spPr>
        <p:txBody>
          <a:bodyPr>
            <a:noAutofit/>
          </a:bodyPr>
          <a:lstStyle/>
          <a:p>
            <a:pPr>
              <a:lnSpc>
                <a:spcPct val="125000"/>
              </a:lnSpc>
            </a:pPr>
            <a:r>
              <a:rPr kumimoji="1" lang="zh-CN" altLang="en-US" sz="1400" dirty="0">
                <a:solidFill>
                  <a:schemeClr val="bg2"/>
                </a:solidFill>
                <a:latin typeface="Source Sans Pro" panose="020B0503030403020204" pitchFamily="34" charset="0"/>
                <a:ea typeface="黑体" panose="02010609060101010101" pitchFamily="49" charset="-122"/>
              </a:rPr>
              <a:t>类的一个实例</a:t>
            </a:r>
            <a:r>
              <a:rPr kumimoji="1" lang="en-US" altLang="zh-CN" sz="1400" dirty="0">
                <a:solidFill>
                  <a:schemeClr val="bg2"/>
                </a:solidFill>
                <a:latin typeface="Source Sans Pro" panose="020B0503030403020204" pitchFamily="34" charset="0"/>
                <a:ea typeface="Source Sans Pro" panose="020B0503030403020204" pitchFamily="34" charset="0"/>
              </a:rPr>
              <a:t>(</a:t>
            </a:r>
            <a:r>
              <a:rPr kumimoji="1" lang="en-GB" altLang="zh-CN" sz="1400" dirty="0">
                <a:solidFill>
                  <a:schemeClr val="bg2"/>
                </a:solidFill>
                <a:latin typeface="Source Sans Pro" panose="020B0503030403020204" pitchFamily="34" charset="0"/>
                <a:ea typeface="Source Sans Pro" panose="020B0503030403020204" pitchFamily="34" charset="0"/>
              </a:rPr>
              <a:t>instance)</a:t>
            </a:r>
            <a:r>
              <a:rPr kumimoji="1" lang="zh-CN" altLang="en-US" sz="1400" dirty="0">
                <a:solidFill>
                  <a:schemeClr val="bg2"/>
                </a:solidFill>
                <a:latin typeface="Source Sans Pro" panose="020B0503030403020204" pitchFamily="34" charset="0"/>
                <a:ea typeface="黑体" panose="02010609060101010101" pitchFamily="49" charset="-122"/>
              </a:rPr>
              <a:t>叫做对象</a:t>
            </a:r>
            <a:r>
              <a:rPr kumimoji="1" lang="en-US" altLang="zh-CN" sz="1400" dirty="0">
                <a:solidFill>
                  <a:schemeClr val="bg2"/>
                </a:solidFill>
                <a:latin typeface="Source Sans Pro" panose="020B0503030403020204" pitchFamily="34" charset="0"/>
                <a:ea typeface="Source Sans Pro" panose="020B0503030403020204" pitchFamily="34" charset="0"/>
              </a:rPr>
              <a:t>(</a:t>
            </a:r>
            <a:r>
              <a:rPr kumimoji="1" lang="en-GB" altLang="zh-CN" sz="1400" dirty="0">
                <a:solidFill>
                  <a:schemeClr val="bg2"/>
                </a:solidFill>
                <a:latin typeface="Source Sans Pro" panose="020B0503030403020204" pitchFamily="34" charset="0"/>
                <a:ea typeface="Source Sans Pro" panose="020B0503030403020204" pitchFamily="34" charset="0"/>
              </a:rPr>
              <a:t>object)</a:t>
            </a:r>
            <a:r>
              <a:rPr kumimoji="1" lang="zh-CN" altLang="en-GB" sz="1400" dirty="0">
                <a:solidFill>
                  <a:schemeClr val="bg2"/>
                </a:solidFill>
                <a:latin typeface="Source Sans Pro" panose="020B0503030403020204" pitchFamily="34" charset="0"/>
                <a:ea typeface="黑体" panose="02010609060101010101" pitchFamily="49" charset="-122"/>
              </a:rPr>
              <a:t>：</a:t>
            </a:r>
            <a:endParaRPr kumimoji="1" lang="zh-CN" altLang="en-GB" sz="1400" dirty="0">
              <a:solidFill>
                <a:schemeClr val="bg2"/>
              </a:solidFill>
              <a:latin typeface="Source Sans Pro" panose="020B0503030403020204" pitchFamily="34" charset="0"/>
              <a:ea typeface="黑体" panose="02010609060101010101" pitchFamily="49" charset="-122"/>
            </a:endParaRPr>
          </a:p>
          <a:p>
            <a:pPr lvl="1"/>
            <a:r>
              <a:rPr kumimoji="1" lang="zh-CN" altLang="en-US" sz="1200" dirty="0">
                <a:solidFill>
                  <a:schemeClr val="bg2"/>
                </a:solidFill>
                <a:latin typeface="Source Sans Pro" panose="020B0503030403020204" pitchFamily="34" charset="0"/>
                <a:ea typeface="黑体" panose="02010609060101010101" pitchFamily="49" charset="-122"/>
              </a:rPr>
              <a:t>类和对象的关系</a:t>
            </a:r>
            <a:r>
              <a:rPr kumimoji="1" lang="en-US" altLang="zh-CN" sz="1200" dirty="0">
                <a:solidFill>
                  <a:schemeClr val="bg2"/>
                </a:solidFill>
                <a:latin typeface="Source Sans Pro" panose="020B0503030403020204" pitchFamily="34" charset="0"/>
                <a:ea typeface="Source Sans Pro" panose="020B0503030403020204" pitchFamily="34" charset="0"/>
              </a:rPr>
              <a:t>: </a:t>
            </a:r>
            <a:r>
              <a:rPr kumimoji="1" lang="zh-CN" altLang="en-US" sz="1200" dirty="0">
                <a:solidFill>
                  <a:schemeClr val="bg2"/>
                </a:solidFill>
                <a:latin typeface="Source Sans Pro" panose="020B0503030403020204" pitchFamily="34" charset="0"/>
                <a:ea typeface="黑体" panose="02010609060101010101" pitchFamily="49" charset="-122"/>
              </a:rPr>
              <a:t>集合与个体</a:t>
            </a:r>
            <a:endParaRPr kumimoji="1" lang="zh-CN" altLang="en-US" sz="1200" dirty="0">
              <a:solidFill>
                <a:schemeClr val="bg2"/>
              </a:solidFill>
              <a:latin typeface="Source Sans Pro" panose="020B0503030403020204" pitchFamily="34" charset="0"/>
              <a:ea typeface="黑体" panose="02010609060101010101" pitchFamily="49" charset="-122"/>
            </a:endParaRPr>
          </a:p>
          <a:p>
            <a:pPr lvl="1"/>
            <a:r>
              <a:rPr kumimoji="1" lang="zh-CN" altLang="en-US" sz="1200" dirty="0">
                <a:solidFill>
                  <a:schemeClr val="bg2"/>
                </a:solidFill>
                <a:latin typeface="Source Sans Pro" panose="020B0503030403020204" pitchFamily="34" charset="0"/>
                <a:ea typeface="黑体" panose="02010609060101010101" pitchFamily="49" charset="-122"/>
              </a:rPr>
              <a:t>中国人：姚明。球星：</a:t>
            </a:r>
            <a:r>
              <a:rPr kumimoji="1" lang="en-US" altLang="zh-CN" sz="1200" dirty="0">
                <a:solidFill>
                  <a:schemeClr val="bg2"/>
                </a:solidFill>
                <a:latin typeface="Source Sans Pro" panose="020B0503030403020204" pitchFamily="34" charset="0"/>
                <a:ea typeface="Source Sans Pro" panose="020B0503030403020204" pitchFamily="34" charset="0"/>
              </a:rPr>
              <a:t>Messi</a:t>
            </a:r>
            <a:r>
              <a:rPr kumimoji="1" lang="zh-CN" altLang="en-US" sz="1200" dirty="0">
                <a:solidFill>
                  <a:schemeClr val="bg2"/>
                </a:solidFill>
                <a:latin typeface="Source Sans Pro" panose="020B0503030403020204" pitchFamily="34" charset="0"/>
                <a:ea typeface="黑体" panose="02010609060101010101" pitchFamily="49" charset="-122"/>
              </a:rPr>
              <a:t>。动物：狗。狗：哈士奇</a:t>
            </a:r>
            <a:endParaRPr kumimoji="1" lang="en-GB" altLang="zh-CN" sz="1400" dirty="0">
              <a:solidFill>
                <a:schemeClr val="bg2"/>
              </a:solidFill>
              <a:latin typeface="Source Sans Pro" panose="020B0503030403020204" pitchFamily="34" charset="0"/>
              <a:ea typeface="Source Sans Pro" panose="020B0503030403020204" pitchFamily="34" charset="0"/>
            </a:endParaRPr>
          </a:p>
          <a:p>
            <a:r>
              <a:rPr kumimoji="1" lang="en-GB" altLang="zh-CN" sz="1400" dirty="0">
                <a:solidFill>
                  <a:schemeClr val="bg2"/>
                </a:solidFill>
                <a:latin typeface="Source Sans Pro" panose="020B0503030403020204" pitchFamily="34" charset="0"/>
                <a:ea typeface="Source Sans Pro" panose="020B0503030403020204" pitchFamily="34" charset="0"/>
              </a:rPr>
              <a:t>Python</a:t>
            </a:r>
            <a:r>
              <a:rPr kumimoji="1" lang="zh-CN" altLang="en-US" sz="1400" dirty="0">
                <a:solidFill>
                  <a:schemeClr val="bg2"/>
                </a:solidFill>
                <a:latin typeface="Source Sans Pro" panose="020B0503030403020204" pitchFamily="34" charset="0"/>
                <a:ea typeface="黑体" panose="02010609060101010101" pitchFamily="49" charset="-122"/>
              </a:rPr>
              <a:t>自带的类</a:t>
            </a:r>
            <a:r>
              <a:rPr kumimoji="1" lang="en-US" altLang="zh-CN" sz="1400" dirty="0">
                <a:solidFill>
                  <a:schemeClr val="bg2"/>
                </a:solidFill>
                <a:latin typeface="Source Sans Pro" panose="020B0503030403020204" pitchFamily="34" charset="0"/>
                <a:ea typeface="Source Sans Pro" panose="020B0503030403020204" pitchFamily="34" charset="0"/>
              </a:rPr>
              <a:t>: </a:t>
            </a:r>
            <a:r>
              <a:rPr kumimoji="1" lang="en-GB" altLang="zh-CN" sz="1400" dirty="0">
                <a:solidFill>
                  <a:schemeClr val="bg2"/>
                </a:solidFill>
                <a:latin typeface="Source Sans Pro" panose="020B0503030403020204" pitchFamily="34" charset="0"/>
                <a:ea typeface="Source Sans Pro" panose="020B0503030403020204" pitchFamily="34" charset="0"/>
              </a:rPr>
              <a:t>str, int, float, list, tuple, dict, set</a:t>
            </a:r>
            <a:endParaRPr kumimoji="1" lang="en-GB" altLang="zh-CN" sz="1400" dirty="0">
              <a:solidFill>
                <a:schemeClr val="bg2"/>
              </a:solidFill>
              <a:latin typeface="Source Sans Pro" panose="020B0503030403020204" pitchFamily="34" charset="0"/>
              <a:ea typeface="Source Sans Pro" panose="020B0503030403020204" pitchFamily="34" charset="0"/>
            </a:endParaRPr>
          </a:p>
          <a:p>
            <a:pPr lvl="1"/>
            <a:r>
              <a:rPr kumimoji="1" lang="en-US" altLang="zh-CN" sz="1200" dirty="0">
                <a:solidFill>
                  <a:schemeClr val="bg2"/>
                </a:solidFill>
                <a:latin typeface="Source Sans Pro" panose="020B0503030403020204" pitchFamily="34" charset="0"/>
                <a:ea typeface="Source Sans Pro" panose="020B0503030403020204" pitchFamily="34" charset="0"/>
              </a:rPr>
              <a:t>a</a:t>
            </a:r>
            <a:r>
              <a:rPr kumimoji="1" lang="en-GB" altLang="zh-CN" sz="1200" dirty="0">
                <a:solidFill>
                  <a:schemeClr val="bg2"/>
                </a:solidFill>
                <a:latin typeface="Source Sans Pro" panose="020B0503030403020204" pitchFamily="34" charset="0"/>
                <a:ea typeface="Source Sans Pro" panose="020B0503030403020204" pitchFamily="34" charset="0"/>
              </a:rPr>
              <a:t> = “hello” # a </a:t>
            </a:r>
            <a:r>
              <a:rPr kumimoji="1" lang="zh-CN" altLang="en-US" sz="1200" dirty="0">
                <a:solidFill>
                  <a:schemeClr val="bg2"/>
                </a:solidFill>
                <a:latin typeface="Source Sans Pro" panose="020B0503030403020204" pitchFamily="34" charset="0"/>
                <a:ea typeface="黑体" panose="02010609060101010101" pitchFamily="49" charset="-122"/>
              </a:rPr>
              <a:t>是</a:t>
            </a:r>
            <a:r>
              <a:rPr kumimoji="1" lang="en-GB" altLang="zh-CN" sz="1200" dirty="0">
                <a:solidFill>
                  <a:schemeClr val="bg2"/>
                </a:solidFill>
                <a:latin typeface="Source Sans Pro" panose="020B0503030403020204" pitchFamily="34" charset="0"/>
                <a:ea typeface="Source Sans Pro" panose="020B0503030403020204" pitchFamily="34" charset="0"/>
              </a:rPr>
              <a:t>str</a:t>
            </a:r>
            <a:r>
              <a:rPr kumimoji="1" lang="zh-CN" altLang="en-US" sz="1200" dirty="0">
                <a:solidFill>
                  <a:schemeClr val="bg2"/>
                </a:solidFill>
                <a:latin typeface="Source Sans Pro" panose="020B0503030403020204" pitchFamily="34" charset="0"/>
                <a:ea typeface="黑体" panose="02010609060101010101" pitchFamily="49" charset="-122"/>
              </a:rPr>
              <a:t>的一个对象</a:t>
            </a:r>
            <a:r>
              <a:rPr kumimoji="1" lang="en-US" altLang="zh-CN" sz="1200" dirty="0">
                <a:solidFill>
                  <a:schemeClr val="bg2"/>
                </a:solidFill>
                <a:latin typeface="Source Sans Pro" panose="020B0503030403020204" pitchFamily="34" charset="0"/>
                <a:ea typeface="Source Sans Pro" panose="020B0503030403020204" pitchFamily="34" charset="0"/>
              </a:rPr>
              <a:t>(</a:t>
            </a:r>
            <a:r>
              <a:rPr kumimoji="1" lang="zh-CN" altLang="en-US" sz="1200" dirty="0">
                <a:solidFill>
                  <a:schemeClr val="bg2"/>
                </a:solidFill>
                <a:latin typeface="Source Sans Pro" panose="020B0503030403020204" pitchFamily="34" charset="0"/>
                <a:ea typeface="黑体" panose="02010609060101010101" pitchFamily="49" charset="-122"/>
              </a:rPr>
              <a:t>实例</a:t>
            </a:r>
            <a:r>
              <a:rPr kumimoji="1" lang="en-US" altLang="zh-CN" sz="1200" dirty="0">
                <a:solidFill>
                  <a:schemeClr val="bg2"/>
                </a:solidFill>
                <a:latin typeface="Source Sans Pro" panose="020B0503030403020204" pitchFamily="34" charset="0"/>
                <a:ea typeface="Source Sans Pro" panose="020B0503030403020204" pitchFamily="34" charset="0"/>
              </a:rPr>
              <a:t>)</a:t>
            </a:r>
            <a:endParaRPr kumimoji="1" lang="en-US" altLang="zh-CN" sz="1200" dirty="0">
              <a:solidFill>
                <a:schemeClr val="bg2"/>
              </a:solidFill>
              <a:latin typeface="Source Sans Pro" panose="020B0503030403020204" pitchFamily="34" charset="0"/>
              <a:ea typeface="Source Sans Pro" panose="020B0503030403020204" pitchFamily="34" charset="0"/>
            </a:endParaRPr>
          </a:p>
          <a:p>
            <a:pPr lvl="1"/>
            <a:r>
              <a:rPr kumimoji="1" lang="en-US" altLang="zh-CN" sz="1200" dirty="0">
                <a:solidFill>
                  <a:schemeClr val="bg2"/>
                </a:solidFill>
                <a:latin typeface="Source Sans Pro" panose="020B0503030403020204" pitchFamily="34" charset="0"/>
                <a:ea typeface="Source Sans Pro" panose="020B0503030403020204" pitchFamily="34" charset="0"/>
              </a:rPr>
              <a:t>b</a:t>
            </a:r>
            <a:r>
              <a:rPr kumimoji="1" lang="en-GB" altLang="zh-CN" sz="1200" dirty="0">
                <a:solidFill>
                  <a:schemeClr val="bg2"/>
                </a:solidFill>
                <a:latin typeface="Source Sans Pro" panose="020B0503030403020204" pitchFamily="34" charset="0"/>
                <a:ea typeface="Source Sans Pro" panose="020B0503030403020204" pitchFamily="34" charset="0"/>
              </a:rPr>
              <a:t> = 123 # b </a:t>
            </a:r>
            <a:r>
              <a:rPr kumimoji="1" lang="zh-CN" altLang="en-US" sz="1200" dirty="0">
                <a:solidFill>
                  <a:schemeClr val="bg2"/>
                </a:solidFill>
                <a:latin typeface="Source Sans Pro" panose="020B0503030403020204" pitchFamily="34" charset="0"/>
                <a:ea typeface="黑体" panose="02010609060101010101" pitchFamily="49" charset="-122"/>
              </a:rPr>
              <a:t>是</a:t>
            </a:r>
            <a:r>
              <a:rPr kumimoji="1" lang="en-GB" altLang="zh-CN" sz="1200" dirty="0">
                <a:solidFill>
                  <a:schemeClr val="bg2"/>
                </a:solidFill>
                <a:latin typeface="Source Sans Pro" panose="020B0503030403020204" pitchFamily="34" charset="0"/>
                <a:ea typeface="Source Sans Pro" panose="020B0503030403020204" pitchFamily="34" charset="0"/>
              </a:rPr>
              <a:t>int</a:t>
            </a:r>
            <a:r>
              <a:rPr kumimoji="1" lang="zh-CN" altLang="en-US" sz="1200" dirty="0">
                <a:solidFill>
                  <a:schemeClr val="bg2"/>
                </a:solidFill>
                <a:latin typeface="Source Sans Pro" panose="020B0503030403020204" pitchFamily="34" charset="0"/>
                <a:ea typeface="黑体" panose="02010609060101010101" pitchFamily="49" charset="-122"/>
              </a:rPr>
              <a:t>的一个对象</a:t>
            </a:r>
            <a:endParaRPr kumimoji="1" lang="zh-CN" altLang="en-US" sz="1200" dirty="0">
              <a:solidFill>
                <a:schemeClr val="bg2"/>
              </a:solidFill>
              <a:latin typeface="Source Sans Pro" panose="020B0503030403020204" pitchFamily="34" charset="0"/>
              <a:ea typeface="黑体" panose="02010609060101010101" pitchFamily="49" charset="-122"/>
            </a:endParaRPr>
          </a:p>
          <a:p>
            <a:pPr lvl="1"/>
            <a:r>
              <a:rPr kumimoji="1" lang="en-US" altLang="zh-CN" sz="1200" dirty="0">
                <a:solidFill>
                  <a:schemeClr val="bg2"/>
                </a:solidFill>
                <a:latin typeface="Source Sans Pro" panose="020B0503030403020204" pitchFamily="34" charset="0"/>
                <a:ea typeface="Source Sans Pro" panose="020B0503030403020204" pitchFamily="34" charset="0"/>
              </a:rPr>
              <a:t>c</a:t>
            </a:r>
            <a:r>
              <a:rPr kumimoji="1" lang="en-GB" altLang="zh-CN" sz="1200" dirty="0">
                <a:solidFill>
                  <a:schemeClr val="bg2"/>
                </a:solidFill>
                <a:latin typeface="Source Sans Pro" panose="020B0503030403020204" pitchFamily="34" charset="0"/>
                <a:ea typeface="Source Sans Pro" panose="020B0503030403020204" pitchFamily="34" charset="0"/>
              </a:rPr>
              <a:t> = [1, -1, [1]] # c </a:t>
            </a:r>
            <a:r>
              <a:rPr kumimoji="1" lang="zh-CN" altLang="en-US" sz="1200" dirty="0">
                <a:solidFill>
                  <a:schemeClr val="bg2"/>
                </a:solidFill>
                <a:latin typeface="Source Sans Pro" panose="020B0503030403020204" pitchFamily="34" charset="0"/>
                <a:ea typeface="黑体" panose="02010609060101010101" pitchFamily="49" charset="-122"/>
              </a:rPr>
              <a:t>是</a:t>
            </a:r>
            <a:r>
              <a:rPr kumimoji="1" lang="en-GB" altLang="zh-CN" sz="1200" dirty="0">
                <a:solidFill>
                  <a:schemeClr val="bg2"/>
                </a:solidFill>
                <a:latin typeface="Source Sans Pro" panose="020B0503030403020204" pitchFamily="34" charset="0"/>
                <a:ea typeface="Source Sans Pro" panose="020B0503030403020204" pitchFamily="34" charset="0"/>
              </a:rPr>
              <a:t>list</a:t>
            </a:r>
            <a:r>
              <a:rPr kumimoji="1" lang="zh-CN" altLang="en-US" sz="1200" dirty="0">
                <a:solidFill>
                  <a:schemeClr val="bg2"/>
                </a:solidFill>
                <a:latin typeface="Source Sans Pro" panose="020B0503030403020204" pitchFamily="34" charset="0"/>
                <a:ea typeface="黑体" panose="02010609060101010101" pitchFamily="49" charset="-122"/>
              </a:rPr>
              <a:t>的一个对象</a:t>
            </a:r>
            <a:endParaRPr kumimoji="1" lang="zh-CN" altLang="en-US" sz="1200" dirty="0">
              <a:solidFill>
                <a:schemeClr val="bg2"/>
              </a:solidFill>
              <a:latin typeface="Source Sans Pro" panose="020B0503030403020204" pitchFamily="34" charset="0"/>
              <a:ea typeface="黑体" panose="02010609060101010101" pitchFamily="49" charset="-122"/>
            </a:endParaRPr>
          </a:p>
          <a:p>
            <a:pPr lvl="1"/>
            <a:r>
              <a:rPr kumimoji="1" lang="en-US" altLang="zh-CN" sz="1200" dirty="0">
                <a:solidFill>
                  <a:schemeClr val="bg2"/>
                </a:solidFill>
                <a:latin typeface="Source Sans Pro" panose="020B0503030403020204" pitchFamily="34" charset="0"/>
                <a:ea typeface="Source Sans Pro" panose="020B0503030403020204" pitchFamily="34" charset="0"/>
              </a:rPr>
              <a:t>d</a:t>
            </a:r>
            <a:r>
              <a:rPr kumimoji="1" lang="en-GB" altLang="zh-CN" sz="1200" dirty="0">
                <a:solidFill>
                  <a:schemeClr val="bg2"/>
                </a:solidFill>
                <a:latin typeface="Source Sans Pro" panose="020B0503030403020204" pitchFamily="34" charset="0"/>
                <a:ea typeface="Source Sans Pro" panose="020B0503030403020204" pitchFamily="34" charset="0"/>
              </a:rPr>
              <a:t> = {1, 2, 3} #d </a:t>
            </a:r>
            <a:r>
              <a:rPr kumimoji="1" lang="zh-CN" altLang="en-US" sz="1200" dirty="0">
                <a:solidFill>
                  <a:schemeClr val="bg2"/>
                </a:solidFill>
                <a:latin typeface="Source Sans Pro" panose="020B0503030403020204" pitchFamily="34" charset="0"/>
                <a:ea typeface="黑体" panose="02010609060101010101" pitchFamily="49" charset="-122"/>
              </a:rPr>
              <a:t>是</a:t>
            </a:r>
            <a:r>
              <a:rPr kumimoji="1" lang="en-GB" altLang="zh-CN" sz="1200" dirty="0">
                <a:solidFill>
                  <a:schemeClr val="bg2"/>
                </a:solidFill>
                <a:latin typeface="Source Sans Pro" panose="020B0503030403020204" pitchFamily="34" charset="0"/>
                <a:ea typeface="Source Sans Pro" panose="020B0503030403020204" pitchFamily="34" charset="0"/>
              </a:rPr>
              <a:t>set</a:t>
            </a:r>
            <a:r>
              <a:rPr kumimoji="1" lang="zh-CN" altLang="en-US" sz="1200" dirty="0">
                <a:solidFill>
                  <a:schemeClr val="bg2"/>
                </a:solidFill>
                <a:latin typeface="Source Sans Pro" panose="020B0503030403020204" pitchFamily="34" charset="0"/>
                <a:ea typeface="黑体" panose="02010609060101010101" pitchFamily="49" charset="-122"/>
              </a:rPr>
              <a:t>的一个对象</a:t>
            </a:r>
            <a:endParaRPr kumimoji="1" lang="en-US" altLang="zh-CN" sz="1200" dirty="0">
              <a:solidFill>
                <a:schemeClr val="bg2"/>
              </a:solidFill>
              <a:latin typeface="Source Sans Pro" panose="020B0503030403020204" pitchFamily="34" charset="0"/>
              <a:ea typeface="Source Sans Pro" panose="020B0503030403020204" pitchFamily="34" charset="0"/>
            </a:endParaRPr>
          </a:p>
          <a:p>
            <a:r>
              <a:rPr kumimoji="1" lang="zh-CN" altLang="en-US" sz="1400" dirty="0">
                <a:solidFill>
                  <a:schemeClr val="bg2"/>
                </a:solidFill>
                <a:latin typeface="Source Sans Pro" panose="020B0503030403020204" pitchFamily="34" charset="0"/>
                <a:ea typeface="黑体" panose="02010609060101010101" pitchFamily="49" charset="-122"/>
              </a:rPr>
              <a:t>类方法，所有</a:t>
            </a:r>
            <a:r>
              <a:rPr kumimoji="1" lang="zh-CN" altLang="en-US" sz="1400" dirty="0">
                <a:solidFill>
                  <a:schemeClr val="tx1"/>
                </a:solidFill>
                <a:latin typeface="Source Sans Pro" panose="020B0503030403020204" pitchFamily="34" charset="0"/>
                <a:ea typeface="黑体" panose="02010609060101010101" pitchFamily="49" charset="-122"/>
              </a:rPr>
              <a:t>对象都具有</a:t>
            </a:r>
            <a:r>
              <a:rPr kumimoji="1" lang="zh-CN" altLang="en-US" sz="1400" dirty="0">
                <a:solidFill>
                  <a:schemeClr val="bg2"/>
                </a:solidFill>
                <a:latin typeface="Source Sans Pro" panose="020B0503030403020204" pitchFamily="34" charset="0"/>
                <a:ea typeface="黑体" panose="02010609060101010101" pitchFamily="49" charset="-122"/>
              </a:rPr>
              <a:t>的方法</a:t>
            </a:r>
            <a:r>
              <a:rPr kumimoji="1" lang="en-US" altLang="zh-CN" sz="1400" dirty="0">
                <a:solidFill>
                  <a:schemeClr val="bg2"/>
                </a:solidFill>
                <a:latin typeface="Source Sans Pro" panose="020B0503030403020204" pitchFamily="34" charset="0"/>
                <a:ea typeface="黑体" panose="02010609060101010101" pitchFamily="49" charset="-122"/>
              </a:rPr>
              <a:t>(</a:t>
            </a:r>
            <a:r>
              <a:rPr kumimoji="1" lang="zh-CN" altLang="en-US" sz="1400" dirty="0">
                <a:solidFill>
                  <a:schemeClr val="bg2"/>
                </a:solidFill>
                <a:latin typeface="Source Sans Pro" panose="020B0503030403020204" pitchFamily="34" charset="0"/>
                <a:ea typeface="黑体" panose="02010609060101010101" pitchFamily="49" charset="-122"/>
              </a:rPr>
              <a:t>以</a:t>
            </a:r>
            <a:r>
              <a:rPr kumimoji="1" lang="en-US" altLang="zh-CN" sz="1200" dirty="0">
                <a:solidFill>
                  <a:schemeClr val="bg2"/>
                </a:solidFill>
                <a:latin typeface="Source Sans Pro" panose="020B0503030403020204" pitchFamily="34" charset="0"/>
                <a:ea typeface="Source Sans Pro" panose="020B0503030403020204" pitchFamily="34" charset="0"/>
              </a:rPr>
              <a:t>txt = “hello world”</a:t>
            </a:r>
            <a:r>
              <a:rPr kumimoji="1" lang="zh-CN" altLang="en-US" sz="1200" dirty="0">
                <a:solidFill>
                  <a:schemeClr val="bg2"/>
                </a:solidFill>
                <a:latin typeface="Source Sans Pro" panose="020B0503030403020204" pitchFamily="34" charset="0"/>
                <a:ea typeface="Source Sans Pro" panose="020B0503030403020204" pitchFamily="34" charset="0"/>
              </a:rPr>
              <a:t>为例</a:t>
            </a:r>
            <a:r>
              <a:rPr kumimoji="1" lang="en-US" altLang="zh-CN" sz="1200" dirty="0">
                <a:solidFill>
                  <a:schemeClr val="bg2"/>
                </a:solidFill>
                <a:latin typeface="Source Sans Pro" panose="020B0503030403020204" pitchFamily="34" charset="0"/>
                <a:ea typeface="Source Sans Pro" panose="020B0503030403020204" pitchFamily="34" charset="0"/>
              </a:rPr>
              <a:t>)</a:t>
            </a:r>
            <a:endParaRPr kumimoji="1" lang="en-US" altLang="zh-CN" sz="1200" dirty="0">
              <a:solidFill>
                <a:schemeClr val="bg2"/>
              </a:solidFill>
              <a:latin typeface="Source Sans Pro" panose="020B0503030403020204" pitchFamily="34" charset="0"/>
              <a:ea typeface="Source Sans Pro" panose="020B0503030403020204" pitchFamily="34" charset="0"/>
            </a:endParaRPr>
          </a:p>
          <a:p>
            <a:pPr lvl="1"/>
            <a:r>
              <a:rPr kumimoji="1" lang="en-US" altLang="zh-CN" sz="1200" dirty="0" err="1">
                <a:solidFill>
                  <a:schemeClr val="bg2"/>
                </a:solidFill>
                <a:latin typeface="Source Sans Pro" panose="020B0503030403020204" pitchFamily="34" charset="0"/>
                <a:ea typeface="Source Sans Pro" panose="020B0503030403020204" pitchFamily="34" charset="0"/>
              </a:rPr>
              <a:t>txt.</a:t>
            </a:r>
            <a:r>
              <a:rPr kumimoji="1" lang="en-US" altLang="zh-CN" sz="1200" dirty="0" err="1">
                <a:solidFill>
                  <a:schemeClr val="tx1"/>
                </a:solidFill>
                <a:latin typeface="Source Sans Pro" panose="020B0503030403020204" pitchFamily="34" charset="0"/>
                <a:ea typeface="Source Sans Pro" panose="020B0503030403020204" pitchFamily="34" charset="0"/>
              </a:rPr>
              <a:t>find</a:t>
            </a:r>
            <a:r>
              <a:rPr kumimoji="1" lang="en-US" altLang="zh-CN" sz="1200" dirty="0">
                <a:solidFill>
                  <a:schemeClr val="bg2"/>
                </a:solidFill>
                <a:latin typeface="Source Sans Pro" panose="020B0503030403020204" pitchFamily="34" charset="0"/>
                <a:ea typeface="Source Sans Pro" panose="020B0503030403020204" pitchFamily="34" charset="0"/>
              </a:rPr>
              <a:t>(‘o’)</a:t>
            </a:r>
            <a:endParaRPr kumimoji="1" lang="en-US" altLang="zh-CN" sz="1200" dirty="0">
              <a:solidFill>
                <a:schemeClr val="bg2"/>
              </a:solidFill>
              <a:latin typeface="Source Sans Pro" panose="020B0503030403020204" pitchFamily="34" charset="0"/>
              <a:ea typeface="Source Sans Pro" panose="020B0503030403020204" pitchFamily="34" charset="0"/>
            </a:endParaRPr>
          </a:p>
          <a:p>
            <a:pPr lvl="1"/>
            <a:r>
              <a:rPr kumimoji="1" lang="en-US" altLang="zh-CN" sz="1200" dirty="0" err="1">
                <a:solidFill>
                  <a:schemeClr val="bg2"/>
                </a:solidFill>
                <a:latin typeface="Source Sans Pro" panose="020B0503030403020204" pitchFamily="34" charset="0"/>
                <a:ea typeface="Source Sans Pro" panose="020B0503030403020204" pitchFamily="34" charset="0"/>
              </a:rPr>
              <a:t>txt.</a:t>
            </a:r>
            <a:r>
              <a:rPr kumimoji="1" lang="en-US" altLang="zh-CN" sz="1200" dirty="0" err="1">
                <a:solidFill>
                  <a:schemeClr val="tx1"/>
                </a:solidFill>
                <a:latin typeface="Source Sans Pro" panose="020B0503030403020204" pitchFamily="34" charset="0"/>
                <a:ea typeface="Source Sans Pro" panose="020B0503030403020204" pitchFamily="34" charset="0"/>
              </a:rPr>
              <a:t>count</a:t>
            </a:r>
            <a:r>
              <a:rPr kumimoji="1" lang="en-US" altLang="zh-CN" sz="1200" dirty="0">
                <a:solidFill>
                  <a:schemeClr val="bg2"/>
                </a:solidFill>
                <a:latin typeface="Source Sans Pro" panose="020B0503030403020204" pitchFamily="34" charset="0"/>
                <a:ea typeface="Source Sans Pro" panose="020B0503030403020204" pitchFamily="34" charset="0"/>
              </a:rPr>
              <a:t>(‘l’)</a:t>
            </a:r>
            <a:endParaRPr kumimoji="1" lang="en-US" altLang="zh-CN" sz="1200" dirty="0">
              <a:solidFill>
                <a:schemeClr val="bg2"/>
              </a:solidFill>
              <a:latin typeface="Source Sans Pro" panose="020B0503030403020204" pitchFamily="34" charset="0"/>
              <a:ea typeface="Source Sans Pro" panose="020B0503030403020204" pitchFamily="34" charset="0"/>
            </a:endParaRPr>
          </a:p>
          <a:p>
            <a:r>
              <a:rPr kumimoji="1" lang="zh-CN" altLang="en-US" sz="1400" dirty="0">
                <a:solidFill>
                  <a:schemeClr val="bg2"/>
                </a:solidFill>
                <a:latin typeface="Source Sans Pro" panose="020B0503030403020204" pitchFamily="34" charset="0"/>
                <a:ea typeface="黑体" panose="02010609060101010101" pitchFamily="49" charset="-122"/>
              </a:rPr>
              <a:t>同义词</a:t>
            </a:r>
            <a:endParaRPr kumimoji="1" lang="zh-CN" altLang="en-US" sz="1400" dirty="0">
              <a:solidFill>
                <a:schemeClr val="bg2"/>
              </a:solidFill>
              <a:latin typeface="Source Sans Pro" panose="020B0503030403020204" pitchFamily="34" charset="0"/>
              <a:ea typeface="黑体" panose="02010609060101010101" pitchFamily="49" charset="-122"/>
            </a:endParaRPr>
          </a:p>
          <a:p>
            <a:pPr lvl="1"/>
            <a:r>
              <a:rPr kumimoji="1" lang="zh-CN" altLang="en-US" sz="1200" dirty="0">
                <a:solidFill>
                  <a:schemeClr val="tx1"/>
                </a:solidFill>
                <a:latin typeface="Source Sans Pro" panose="020B0503030403020204" pitchFamily="34" charset="0"/>
                <a:ea typeface="黑体" panose="02010609060101010101" pitchFamily="49" charset="-122"/>
              </a:rPr>
              <a:t>属性、变量、成员变量</a:t>
            </a:r>
            <a:endParaRPr kumimoji="1" lang="zh-CN" altLang="en-US" sz="1200" dirty="0">
              <a:solidFill>
                <a:schemeClr val="tx1"/>
              </a:solidFill>
              <a:latin typeface="Source Sans Pro" panose="020B0503030403020204" pitchFamily="34" charset="0"/>
              <a:ea typeface="黑体" panose="02010609060101010101" pitchFamily="49" charset="-122"/>
            </a:endParaRPr>
          </a:p>
          <a:p>
            <a:pPr lvl="1"/>
            <a:r>
              <a:rPr kumimoji="1" lang="zh-CN" altLang="en-US" sz="1200" dirty="0">
                <a:solidFill>
                  <a:schemeClr val="tx1"/>
                </a:solidFill>
                <a:latin typeface="Source Sans Pro" panose="020B0503030403020204" pitchFamily="34" charset="0"/>
                <a:ea typeface="黑体" panose="02010609060101010101" pitchFamily="49" charset="-122"/>
              </a:rPr>
              <a:t>函数、方法、行为、成员函数</a:t>
            </a:r>
            <a:endParaRPr kumimoji="1" lang="en-US" altLang="zh-CN" sz="1200" dirty="0">
              <a:solidFill>
                <a:schemeClr val="tx1"/>
              </a:solidFill>
              <a:latin typeface="Source Sans Pro" panose="020B0503030403020204" pitchFamily="34" charset="0"/>
              <a:ea typeface="Source Sans Pro" panose="020B0503030403020204" pitchFamily="34" charset="0"/>
            </a:endParaRPr>
          </a:p>
        </p:txBody>
      </p:sp>
      <p:sp>
        <p:nvSpPr>
          <p:cNvPr id="5" name="Rectangle 1"/>
          <p:cNvSpPr/>
          <p:nvPr/>
        </p:nvSpPr>
        <p:spPr>
          <a:xfrm>
            <a:off x="6092792" y="4261767"/>
            <a:ext cx="2648973" cy="623400"/>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b="1" dirty="0">
                <a:solidFill>
                  <a:schemeClr val="tx1"/>
                </a:solidFill>
                <a:latin typeface="黑体" panose="02010609060101010101" pitchFamily="49" charset="-122"/>
                <a:ea typeface="黑体" panose="02010609060101010101" pitchFamily="49" charset="-122"/>
              </a:rPr>
              <a:t>物以类聚，人以群分</a:t>
            </a:r>
            <a:endParaRPr lang="zh-CN" altLang="en-US" sz="1200" b="1" dirty="0">
              <a:solidFill>
                <a:schemeClr val="tx1"/>
              </a:solidFill>
              <a:latin typeface="黑体" panose="02010609060101010101" pitchFamily="49" charset="-122"/>
              <a:ea typeface="黑体" panose="02010609060101010101" pitchFamily="49" charset="-122"/>
            </a:endParaRPr>
          </a:p>
          <a:p>
            <a:r>
              <a:rPr lang="zh-CN" altLang="en-US" sz="1200" b="1" dirty="0">
                <a:solidFill>
                  <a:schemeClr val="bg2"/>
                </a:solidFill>
                <a:latin typeface="黑体" panose="02010609060101010101" pitchFamily="49" charset="-122"/>
                <a:ea typeface="黑体" panose="02010609060101010101" pitchFamily="49" charset="-122"/>
              </a:rPr>
              <a:t>类</a:t>
            </a:r>
            <a:r>
              <a:rPr lang="en-GB" altLang="zh-CN" sz="1200" b="1" dirty="0">
                <a:solidFill>
                  <a:schemeClr val="bg2"/>
                </a:solidFill>
                <a:latin typeface="Source Sans Pro" panose="020B0503030403020204" pitchFamily="34" charset="0"/>
                <a:ea typeface="Source Sans Pro" panose="020B0503030403020204" pitchFamily="34" charset="0"/>
              </a:rPr>
              <a:t>class</a:t>
            </a:r>
            <a:r>
              <a:rPr lang="zh-CN" altLang="en-GB" sz="1200" b="1" dirty="0">
                <a:solidFill>
                  <a:schemeClr val="bg2"/>
                </a:solidFill>
                <a:latin typeface="Source Sans Pro" panose="020B0503030403020204" pitchFamily="34" charset="0"/>
                <a:ea typeface="Source Sans Pro" panose="020B0503030403020204" pitchFamily="34" charset="0"/>
              </a:rPr>
              <a:t>，</a:t>
            </a:r>
            <a:r>
              <a:rPr lang="zh-CN" altLang="en-US" sz="1200" b="1" dirty="0">
                <a:solidFill>
                  <a:schemeClr val="bg2"/>
                </a:solidFill>
                <a:latin typeface="黑体" panose="02010609060101010101" pitchFamily="49" charset="-122"/>
                <a:ea typeface="黑体" panose="02010609060101010101" pitchFamily="49" charset="-122"/>
              </a:rPr>
              <a:t>对象</a:t>
            </a:r>
            <a:r>
              <a:rPr lang="en-GB" altLang="zh-CN" sz="1200" b="1" dirty="0">
                <a:solidFill>
                  <a:schemeClr val="bg2"/>
                </a:solidFill>
                <a:latin typeface="Source Sans Pro" panose="020B0503030403020204" pitchFamily="34" charset="0"/>
                <a:ea typeface="Source Sans Pro" panose="020B0503030403020204" pitchFamily="34" charset="0"/>
              </a:rPr>
              <a:t>object</a:t>
            </a:r>
            <a:r>
              <a:rPr lang="zh-CN" altLang="en-GB" sz="1200" b="1" dirty="0">
                <a:solidFill>
                  <a:schemeClr val="bg2"/>
                </a:solidFill>
                <a:latin typeface="Source Sans Pro" panose="020B0503030403020204" pitchFamily="34" charset="0"/>
                <a:ea typeface="Source Sans Pro" panose="020B0503030403020204" pitchFamily="34" charset="0"/>
              </a:rPr>
              <a:t>，</a:t>
            </a:r>
            <a:r>
              <a:rPr lang="zh-CN" altLang="en-US" sz="1200" b="1" dirty="0">
                <a:solidFill>
                  <a:schemeClr val="bg2"/>
                </a:solidFill>
                <a:latin typeface="黑体" panose="02010609060101010101" pitchFamily="49" charset="-122"/>
                <a:ea typeface="黑体" panose="02010609060101010101" pitchFamily="49" charset="-122"/>
              </a:rPr>
              <a:t>实例</a:t>
            </a:r>
            <a:r>
              <a:rPr lang="en-GB" altLang="zh-CN" sz="1200" b="1" dirty="0">
                <a:solidFill>
                  <a:schemeClr val="bg2"/>
                </a:solidFill>
                <a:latin typeface="Source Sans Pro" panose="020B0503030403020204" pitchFamily="34" charset="0"/>
                <a:ea typeface="Source Sans Pro" panose="020B0503030403020204" pitchFamily="34" charset="0"/>
              </a:rPr>
              <a:t>instance</a:t>
            </a:r>
            <a:endParaRPr lang="en-GB" altLang="zh-CN" sz="1200" b="1" dirty="0">
              <a:solidFill>
                <a:schemeClr val="bg2"/>
              </a:solidFill>
              <a:latin typeface="Source Sans Pro" panose="020B0503030403020204" pitchFamily="34" charset="0"/>
              <a:ea typeface="Source Sans Pro" panose="020B0503030403020204" pitchFamily="34" charset="0"/>
            </a:endParaRPr>
          </a:p>
          <a:p>
            <a:r>
              <a:rPr lang="zh-CN" altLang="en-US" sz="1200" b="1" dirty="0">
                <a:solidFill>
                  <a:schemeClr val="bg2"/>
                </a:solidFill>
                <a:latin typeface="Source Sans Pro" panose="020B0503030403020204" pitchFamily="34" charset="0"/>
                <a:ea typeface="Source Sans Pro" panose="020B0503030403020204" pitchFamily="34" charset="0"/>
              </a:rPr>
              <a:t>类：打包封装 数据</a:t>
            </a:r>
            <a:r>
              <a:rPr lang="en-US" altLang="zh-CN" sz="1200" b="1" dirty="0">
                <a:solidFill>
                  <a:schemeClr val="bg2"/>
                </a:solidFill>
                <a:latin typeface="Source Sans Pro" panose="020B0503030403020204" pitchFamily="34" charset="0"/>
                <a:ea typeface="Source Sans Pro" panose="020B0503030403020204" pitchFamily="34" charset="0"/>
              </a:rPr>
              <a:t>+</a:t>
            </a:r>
            <a:r>
              <a:rPr lang="zh-CN" altLang="en-US" sz="1200" b="1" dirty="0">
                <a:solidFill>
                  <a:schemeClr val="bg2"/>
                </a:solidFill>
                <a:latin typeface="Source Sans Pro" panose="020B0503030403020204" pitchFamily="34" charset="0"/>
                <a:ea typeface="Source Sans Pro" panose="020B0503030403020204" pitchFamily="34" charset="0"/>
              </a:rPr>
              <a:t>函数</a:t>
            </a:r>
            <a:endParaRPr lang="zh-CN" altLang="en-US" sz="1200" b="1" dirty="0">
              <a:solidFill>
                <a:schemeClr val="bg2"/>
              </a:solidFill>
              <a:latin typeface="Source Sans Pro" panose="020B0503030403020204" pitchFamily="34" charset="0"/>
              <a:ea typeface="Source Sans Pro" panose="020B0503030403020204" pitchFamily="34" charset="0"/>
            </a:endParaRPr>
          </a:p>
        </p:txBody>
      </p:sp>
      <p:pic>
        <p:nvPicPr>
          <p:cNvPr id="6" name="Picture 2" descr="Adopt-A-Cat Month® - American Humane - American Human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221995" y="1461484"/>
            <a:ext cx="2519770" cy="1398011"/>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p:cNvSpPr txBox="1"/>
          <p:nvPr/>
        </p:nvSpPr>
        <p:spPr>
          <a:xfrm>
            <a:off x="559932" y="1111066"/>
            <a:ext cx="8088747" cy="307777"/>
          </a:xfrm>
          <a:prstGeom prst="rect">
            <a:avLst/>
          </a:prstGeom>
          <a:solidFill>
            <a:srgbClr val="7030A0"/>
          </a:solidFill>
        </p:spPr>
        <p:txBody>
          <a:bodyPr wrap="square" rtlCol="0">
            <a:spAutoFit/>
          </a:bodyPr>
          <a:lstStyle/>
          <a:p>
            <a:r>
              <a:rPr lang="zh-CN" altLang="en-US" dirty="0">
                <a:solidFill>
                  <a:schemeClr val="bg1"/>
                </a:solidFill>
                <a:latin typeface="Source Sans Pro" panose="020B0503030403020204" pitchFamily="34" charset="0"/>
                <a:ea typeface="黑体" panose="02010609060101010101" pitchFamily="49" charset="-122"/>
              </a:rPr>
              <a:t>类</a:t>
            </a:r>
            <a:r>
              <a:rPr lang="en-US" altLang="zh-CN" dirty="0">
                <a:solidFill>
                  <a:schemeClr val="bg1"/>
                </a:solidFill>
                <a:latin typeface="Source Sans Pro" panose="020B0503030403020204" pitchFamily="34" charset="0"/>
                <a:ea typeface="Source Sans Pro" panose="020B0503030403020204" pitchFamily="34" charset="0"/>
              </a:rPr>
              <a:t>(class)</a:t>
            </a:r>
            <a:r>
              <a:rPr lang="en-US" altLang="zh-CN" dirty="0">
                <a:solidFill>
                  <a:schemeClr val="bg1"/>
                </a:solidFill>
                <a:latin typeface="Source Sans Pro" panose="020B0503030403020204" pitchFamily="34" charset="0"/>
                <a:ea typeface="黑体" panose="02010609060101010101" pitchFamily="49" charset="-122"/>
              </a:rPr>
              <a:t>:</a:t>
            </a:r>
            <a:r>
              <a:rPr lang="zh-CN" altLang="en-US" dirty="0">
                <a:solidFill>
                  <a:schemeClr val="bg1"/>
                </a:solidFill>
                <a:latin typeface="Source Sans Pro" panose="020B0503030403020204" pitchFamily="34" charset="0"/>
                <a:ea typeface="黑体" panose="02010609060101010101" pitchFamily="49" charset="-122"/>
              </a:rPr>
              <a:t> 具有相同属性</a:t>
            </a:r>
            <a:r>
              <a:rPr lang="en-US" altLang="zh-CN" dirty="0">
                <a:solidFill>
                  <a:schemeClr val="bg1"/>
                </a:solidFill>
                <a:latin typeface="Source Sans Pro" panose="020B0503030403020204" pitchFamily="34" charset="0"/>
                <a:ea typeface="Source Sans Pro" panose="020B0503030403020204" pitchFamily="34" charset="0"/>
              </a:rPr>
              <a:t>(attribute)</a:t>
            </a:r>
            <a:r>
              <a:rPr lang="zh-CN" altLang="en-US" dirty="0">
                <a:solidFill>
                  <a:schemeClr val="bg1"/>
                </a:solidFill>
                <a:latin typeface="Source Sans Pro" panose="020B0503030403020204" pitchFamily="34" charset="0"/>
                <a:ea typeface="黑体" panose="02010609060101010101" pitchFamily="49" charset="-122"/>
              </a:rPr>
              <a:t>和行为</a:t>
            </a:r>
            <a:r>
              <a:rPr lang="en-US" altLang="zh-CN" dirty="0">
                <a:solidFill>
                  <a:schemeClr val="bg1"/>
                </a:solidFill>
                <a:latin typeface="Source Sans Pro" panose="020B0503030403020204" pitchFamily="34" charset="0"/>
                <a:ea typeface="Source Sans Pro" panose="020B0503030403020204" pitchFamily="34" charset="0"/>
              </a:rPr>
              <a:t>(method)</a:t>
            </a:r>
            <a:r>
              <a:rPr lang="zh-CN" altLang="en-US" dirty="0">
                <a:solidFill>
                  <a:schemeClr val="bg1"/>
                </a:solidFill>
                <a:latin typeface="Source Sans Pro" panose="020B0503030403020204" pitchFamily="34" charset="0"/>
                <a:ea typeface="黑体" panose="02010609060101010101" pitchFamily="49" charset="-122"/>
              </a:rPr>
              <a:t>的个体的集合</a:t>
            </a:r>
            <a:endParaRPr lang="zh-CN" altLang="en-US" dirty="0">
              <a:solidFill>
                <a:schemeClr val="bg1"/>
              </a:solidFill>
              <a:latin typeface="Source Sans Pro" panose="020B0503030403020204" pitchFamily="34" charset="0"/>
              <a:ea typeface="黑体" panose="02010609060101010101" pitchFamily="49"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a:t>Class and Type</a:t>
            </a:r>
            <a:endParaRPr kumimoji="1" lang="zh-CN" altLang="en-US" dirty="0"/>
          </a:p>
        </p:txBody>
      </p:sp>
      <p:sp>
        <p:nvSpPr>
          <p:cNvPr id="3" name="文本占位符 2"/>
          <p:cNvSpPr>
            <a:spLocks noGrp="1"/>
          </p:cNvSpPr>
          <p:nvPr>
            <p:ph type="body" idx="1"/>
          </p:nvPr>
        </p:nvSpPr>
        <p:spPr>
          <a:xfrm>
            <a:off x="311700" y="1152475"/>
            <a:ext cx="3390043" cy="1119087"/>
          </a:xfrm>
        </p:spPr>
        <p:txBody>
          <a:bodyPr>
            <a:noAutofit/>
          </a:bodyPr>
          <a:lstStyle/>
          <a:p>
            <a:r>
              <a:rPr kumimoji="1" lang="en-GB" altLang="zh-CN" sz="1400" dirty="0">
                <a:solidFill>
                  <a:schemeClr val="bg2"/>
                </a:solidFill>
              </a:rPr>
              <a:t>Values have their own </a:t>
            </a:r>
            <a:r>
              <a:rPr kumimoji="1" lang="en-GB" altLang="zh-CN" sz="1400" dirty="0">
                <a:solidFill>
                  <a:schemeClr val="tx1"/>
                </a:solidFill>
              </a:rPr>
              <a:t>types (class)</a:t>
            </a:r>
            <a:endParaRPr kumimoji="1" lang="en-GB" altLang="zh-CN" sz="1400" dirty="0">
              <a:solidFill>
                <a:schemeClr val="tx1"/>
              </a:solidFill>
            </a:endParaRPr>
          </a:p>
          <a:p>
            <a:r>
              <a:rPr kumimoji="1" lang="en-GB" altLang="zh-CN" sz="1400" dirty="0">
                <a:solidFill>
                  <a:schemeClr val="bg2"/>
                </a:solidFill>
              </a:rPr>
              <a:t>Variables are defined by “=”: assignment expression</a:t>
            </a:r>
            <a:endParaRPr kumimoji="1" lang="en-GB" altLang="zh-CN" sz="1400" dirty="0">
              <a:solidFill>
                <a:schemeClr val="bg2"/>
              </a:solidFill>
            </a:endParaRPr>
          </a:p>
          <a:p>
            <a:pPr lvl="1"/>
            <a:r>
              <a:rPr kumimoji="1" lang="en-GB" altLang="zh-CN" sz="1200" dirty="0">
                <a:solidFill>
                  <a:schemeClr val="bg2"/>
                </a:solidFill>
              </a:rPr>
              <a:t>The type of a variable could be changed in python</a:t>
            </a:r>
            <a:endParaRPr kumimoji="1" lang="en-GB" altLang="zh-CN" sz="1200" dirty="0">
              <a:solidFill>
                <a:schemeClr val="bg2"/>
              </a:solidFill>
            </a:endParaRPr>
          </a:p>
          <a:p>
            <a:r>
              <a:rPr kumimoji="1" lang="en-GB" altLang="zh-CN" sz="1400" dirty="0">
                <a:solidFill>
                  <a:schemeClr val="bg2"/>
                </a:solidFill>
              </a:rPr>
              <a:t>Functions are also a kind of data  </a:t>
            </a:r>
            <a:endParaRPr kumimoji="1" lang="en-GB" altLang="zh-CN" sz="1400" dirty="0">
              <a:solidFill>
                <a:schemeClr val="bg2"/>
              </a:solidFill>
            </a:endParaRPr>
          </a:p>
        </p:txBody>
      </p:sp>
      <p:pic>
        <p:nvPicPr>
          <p:cNvPr id="5" name="图片 4" descr="文本&#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066162" y="3788755"/>
            <a:ext cx="1964326" cy="1252790"/>
          </a:xfrm>
          <a:prstGeom prst="rect">
            <a:avLst/>
          </a:prstGeom>
        </p:spPr>
      </p:pic>
      <p:sp>
        <p:nvSpPr>
          <p:cNvPr id="6" name="Rectangle 1"/>
          <p:cNvSpPr/>
          <p:nvPr/>
        </p:nvSpPr>
        <p:spPr>
          <a:xfrm>
            <a:off x="7066162" y="3151259"/>
            <a:ext cx="1085927" cy="284847"/>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dirty="0">
                <a:solidFill>
                  <a:schemeClr val="bg2"/>
                </a:solidFill>
                <a:latin typeface="Source Sans Pro" panose="020B0503030403020204" pitchFamily="34" charset="0"/>
                <a:ea typeface="Source Sans Pro" panose="020B0503030403020204" pitchFamily="34" charset="0"/>
              </a:rPr>
              <a:t>Type == Class</a:t>
            </a:r>
            <a:endParaRPr lang="zh-CN" altLang="en-US" sz="1200" dirty="0">
              <a:solidFill>
                <a:schemeClr val="bg2"/>
              </a:solidFill>
              <a:latin typeface="Source Sans Pro" panose="020B0503030403020204" pitchFamily="34" charset="0"/>
              <a:ea typeface="Source Sans Pro" panose="020B0503030403020204" pitchFamily="34" charset="0"/>
            </a:endParaRPr>
          </a:p>
        </p:txBody>
      </p:sp>
      <p:pic>
        <p:nvPicPr>
          <p:cNvPr id="8" name="图片 7"/>
          <p:cNvPicPr>
            <a:picLocks noChangeAspect="1"/>
          </p:cNvPicPr>
          <p:nvPr/>
        </p:nvPicPr>
        <p:blipFill>
          <a:blip r:embed="rId2"/>
          <a:stretch>
            <a:fillRect/>
          </a:stretch>
        </p:blipFill>
        <p:spPr>
          <a:xfrm>
            <a:off x="3635654" y="1282880"/>
            <a:ext cx="3351555" cy="37586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a:t>Keyword: </a:t>
            </a:r>
            <a:r>
              <a:rPr kumimoji="1" lang="en-GB" altLang="zh-CN" dirty="0">
                <a:solidFill>
                  <a:schemeClr val="tx1"/>
                </a:solidFill>
              </a:rPr>
              <a:t>class</a:t>
            </a:r>
            <a:endParaRPr kumimoji="1" lang="zh-CN" altLang="en-US" dirty="0">
              <a:solidFill>
                <a:schemeClr val="tx1"/>
              </a:solidFill>
            </a:endParaRPr>
          </a:p>
        </p:txBody>
      </p:sp>
      <p:sp>
        <p:nvSpPr>
          <p:cNvPr id="3" name="文本占位符 2"/>
          <p:cNvSpPr>
            <a:spLocks noGrp="1"/>
          </p:cNvSpPr>
          <p:nvPr>
            <p:ph type="body" idx="1"/>
          </p:nvPr>
        </p:nvSpPr>
        <p:spPr>
          <a:xfrm>
            <a:off x="311700" y="1152475"/>
            <a:ext cx="4332821" cy="3823786"/>
          </a:xfrm>
        </p:spPr>
        <p:txBody>
          <a:bodyPr>
            <a:normAutofit/>
          </a:bodyPr>
          <a:lstStyle/>
          <a:p>
            <a:r>
              <a:rPr kumimoji="1" lang="en-GB" altLang="zh-CN" sz="1400" dirty="0">
                <a:solidFill>
                  <a:schemeClr val="tx1"/>
                </a:solidFill>
              </a:rPr>
              <a:t>class</a:t>
            </a:r>
            <a:r>
              <a:rPr kumimoji="1" lang="en-GB" altLang="zh-CN" sz="1400" dirty="0">
                <a:solidFill>
                  <a:schemeClr val="bg2"/>
                </a:solidFill>
              </a:rPr>
              <a:t> ClassName:</a:t>
            </a:r>
            <a:endParaRPr kumimoji="1" lang="en-GB" altLang="zh-CN" sz="1400" dirty="0">
              <a:solidFill>
                <a:schemeClr val="bg2"/>
              </a:solidFill>
            </a:endParaRPr>
          </a:p>
          <a:p>
            <a:pPr marL="114300" indent="0">
              <a:buNone/>
            </a:pPr>
            <a:r>
              <a:rPr kumimoji="1" lang="en-GB" altLang="zh-CN" sz="1400" dirty="0">
                <a:solidFill>
                  <a:schemeClr val="bg2"/>
                </a:solidFill>
              </a:rPr>
              <a:t>	          # begin your code here</a:t>
            </a:r>
            <a:endParaRPr kumimoji="1" lang="en-GB" altLang="zh-CN" sz="1400" dirty="0">
              <a:solidFill>
                <a:schemeClr val="bg2"/>
              </a:solidFill>
            </a:endParaRPr>
          </a:p>
          <a:p>
            <a:r>
              <a:rPr kumimoji="1" lang="en-GB" altLang="zh-CN" sz="1400" dirty="0">
                <a:solidFill>
                  <a:schemeClr val="bg2"/>
                </a:solidFill>
              </a:rPr>
              <a:t>Initialize an object: </a:t>
            </a:r>
            <a:r>
              <a:rPr kumimoji="1" lang="en-GB" altLang="zh-CN" sz="1400" dirty="0">
                <a:solidFill>
                  <a:schemeClr val="tx1"/>
                </a:solidFill>
              </a:rPr>
              <a:t>x = </a:t>
            </a:r>
            <a:r>
              <a:rPr kumimoji="1" lang="en-GB" altLang="zh-CN" sz="1400" dirty="0" err="1">
                <a:solidFill>
                  <a:schemeClr val="tx1"/>
                </a:solidFill>
              </a:rPr>
              <a:t>ClassName</a:t>
            </a:r>
            <a:r>
              <a:rPr kumimoji="1" lang="en-GB" altLang="zh-CN" sz="1400" dirty="0">
                <a:solidFill>
                  <a:schemeClr val="tx1"/>
                </a:solidFill>
              </a:rPr>
              <a:t>()</a:t>
            </a:r>
            <a:endParaRPr kumimoji="1" lang="en-GB" altLang="zh-CN" sz="1400" dirty="0">
              <a:solidFill>
                <a:schemeClr val="tx1"/>
              </a:solidFill>
            </a:endParaRPr>
          </a:p>
          <a:p>
            <a:pPr marL="114300" indent="0">
              <a:buNone/>
            </a:pPr>
            <a:endParaRPr kumimoji="1" lang="en-GB" altLang="zh-CN" sz="1400" dirty="0">
              <a:solidFill>
                <a:schemeClr val="bg2"/>
              </a:solidFill>
            </a:endParaRPr>
          </a:p>
          <a:p>
            <a:pPr marL="114300" indent="0">
              <a:buNone/>
            </a:pPr>
            <a:endParaRPr kumimoji="1" lang="en-GB" altLang="zh-CN" sz="1400" dirty="0">
              <a:solidFill>
                <a:schemeClr val="bg2"/>
              </a:solidFill>
            </a:endParaRPr>
          </a:p>
          <a:p>
            <a:r>
              <a:rPr kumimoji="1" lang="en-GB" altLang="zh-CN" sz="1400" dirty="0">
                <a:solidFill>
                  <a:schemeClr val="bg2"/>
                </a:solidFill>
              </a:rPr>
              <a:t>Class Empty is the simplest class. All its details are default by python</a:t>
            </a:r>
            <a:endParaRPr kumimoji="1" lang="en-GB" altLang="zh-CN" sz="1400" dirty="0">
              <a:solidFill>
                <a:schemeClr val="bg2"/>
              </a:solidFill>
            </a:endParaRPr>
          </a:p>
        </p:txBody>
      </p:sp>
      <p:pic>
        <p:nvPicPr>
          <p:cNvPr id="4" name="图片 3" descr="文本&#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644521" y="820647"/>
            <a:ext cx="1612805" cy="1174235"/>
          </a:xfrm>
          <a:prstGeom prst="rect">
            <a:avLst/>
          </a:prstGeom>
        </p:spPr>
      </p:pic>
      <p:pic>
        <p:nvPicPr>
          <p:cNvPr id="5" name="图片 4" descr="文本&#10;&#10;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4520" y="2119529"/>
            <a:ext cx="3149951" cy="452221"/>
          </a:xfrm>
          <a:prstGeom prst="rect">
            <a:avLst/>
          </a:prstGeom>
        </p:spPr>
      </p:pic>
      <p:sp>
        <p:nvSpPr>
          <p:cNvPr id="8" name="Rectangle 1"/>
          <p:cNvSpPr/>
          <p:nvPr/>
        </p:nvSpPr>
        <p:spPr>
          <a:xfrm>
            <a:off x="7645786" y="817928"/>
            <a:ext cx="1397689" cy="280937"/>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b="1" dirty="0">
                <a:solidFill>
                  <a:schemeClr val="tx1"/>
                </a:solidFill>
                <a:latin typeface="Source Sans Pro" panose="020B0503030403020204" pitchFamily="34" charset="0"/>
                <a:ea typeface="Source Sans Pro" panose="020B0503030403020204" pitchFamily="34" charset="0"/>
              </a:rPr>
              <a:t>规范：</a:t>
            </a:r>
            <a:r>
              <a:rPr lang="en-US" altLang="zh-CN" sz="1200" b="1" dirty="0" err="1">
                <a:solidFill>
                  <a:schemeClr val="tx1"/>
                </a:solidFill>
                <a:latin typeface="Source Sans Pro" panose="020B0503030403020204" pitchFamily="34" charset="0"/>
                <a:ea typeface="Source Sans Pro" panose="020B0503030403020204" pitchFamily="34" charset="0"/>
              </a:rPr>
              <a:t>ClassName</a:t>
            </a:r>
            <a:endParaRPr lang="zh-CN" altLang="en-US" sz="1200" b="1" dirty="0">
              <a:solidFill>
                <a:schemeClr val="tx1"/>
              </a:solidFill>
              <a:latin typeface="Source Sans Pro" panose="020B0503030403020204" pitchFamily="34" charset="0"/>
              <a:ea typeface="Source Sans Pro" panose="020B0503030403020204" pitchFamily="34" charset="0"/>
            </a:endParaRPr>
          </a:p>
        </p:txBody>
      </p:sp>
      <p:pic>
        <p:nvPicPr>
          <p:cNvPr id="10" name="图片 9"/>
          <p:cNvPicPr>
            <a:picLocks noChangeAspect="1"/>
          </p:cNvPicPr>
          <p:nvPr/>
        </p:nvPicPr>
        <p:blipFill>
          <a:blip r:embed="rId3"/>
          <a:stretch>
            <a:fillRect/>
          </a:stretch>
        </p:blipFill>
        <p:spPr>
          <a:xfrm>
            <a:off x="4644520" y="2735282"/>
            <a:ext cx="4398955" cy="1656940"/>
          </a:xfrm>
          <a:prstGeom prst="rect">
            <a:avLst/>
          </a:prstGeom>
        </p:spPr>
      </p:pic>
      <p:pic>
        <p:nvPicPr>
          <p:cNvPr id="12" name="图片 11"/>
          <p:cNvPicPr>
            <a:picLocks noChangeAspect="1"/>
          </p:cNvPicPr>
          <p:nvPr/>
        </p:nvPicPr>
        <p:blipFill>
          <a:blip r:embed="rId4"/>
          <a:stretch>
            <a:fillRect/>
          </a:stretch>
        </p:blipFill>
        <p:spPr>
          <a:xfrm>
            <a:off x="4644521" y="4538182"/>
            <a:ext cx="4398955" cy="37719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a:t>Class </a:t>
            </a:r>
            <a:r>
              <a:rPr kumimoji="1" lang="en-US" altLang="zh-CN" dirty="0"/>
              <a:t>and Encapsulation (</a:t>
            </a:r>
            <a:r>
              <a:rPr kumimoji="1" lang="zh-CN" altLang="en-US" dirty="0"/>
              <a:t>封装</a:t>
            </a:r>
            <a:r>
              <a:rPr kumimoji="1" lang="en-US" altLang="zh-CN" dirty="0"/>
              <a:t>)</a:t>
            </a:r>
            <a:r>
              <a:rPr kumimoji="1" lang="en-GB" altLang="zh-CN" dirty="0"/>
              <a:t> </a:t>
            </a:r>
            <a:br>
              <a:rPr kumimoji="1" lang="en-GB" altLang="zh-CN" dirty="0"/>
            </a:br>
            <a:br>
              <a:rPr kumimoji="1" lang="en-GB" altLang="zh-CN" dirty="0"/>
            </a:br>
            <a:endParaRPr kumimoji="1" lang="zh-CN" altLang="en-US" dirty="0"/>
          </a:p>
        </p:txBody>
      </p:sp>
      <p:sp>
        <p:nvSpPr>
          <p:cNvPr id="3" name="文本占位符 2"/>
          <p:cNvSpPr>
            <a:spLocks noGrp="1"/>
          </p:cNvSpPr>
          <p:nvPr>
            <p:ph type="body" idx="1"/>
          </p:nvPr>
        </p:nvSpPr>
        <p:spPr>
          <a:xfrm>
            <a:off x="311700" y="1152474"/>
            <a:ext cx="4282372" cy="3863145"/>
          </a:xfrm>
        </p:spPr>
        <p:txBody>
          <a:bodyPr>
            <a:noAutofit/>
          </a:bodyPr>
          <a:lstStyle/>
          <a:p>
            <a:r>
              <a:rPr kumimoji="1" lang="en-GB" altLang="zh-CN" sz="1400" dirty="0">
                <a:solidFill>
                  <a:schemeClr val="bg2"/>
                </a:solidFill>
              </a:rPr>
              <a:t>Class := attributes + methods</a:t>
            </a:r>
            <a:endParaRPr kumimoji="1" lang="en-GB" altLang="zh-CN" sz="1400" dirty="0">
              <a:solidFill>
                <a:schemeClr val="bg2"/>
              </a:solidFill>
            </a:endParaRPr>
          </a:p>
          <a:p>
            <a:pPr lvl="1"/>
            <a:r>
              <a:rPr kumimoji="1" lang="en-GB" altLang="zh-CN" sz="1200" dirty="0">
                <a:solidFill>
                  <a:schemeClr val="bg2"/>
                </a:solidFill>
              </a:rPr>
              <a:t>Attribute</a:t>
            </a:r>
            <a:r>
              <a:rPr kumimoji="1" lang="zh-CN" altLang="en-GB" sz="1200" dirty="0">
                <a:solidFill>
                  <a:schemeClr val="bg2"/>
                </a:solidFill>
              </a:rPr>
              <a:t>：</a:t>
            </a:r>
            <a:r>
              <a:rPr kumimoji="1" lang="zh-CN" altLang="en-US" sz="1200" dirty="0">
                <a:solidFill>
                  <a:schemeClr val="bg2"/>
                </a:solidFill>
                <a:latin typeface="黑体" panose="02010609060101010101" pitchFamily="49" charset="-122"/>
                <a:ea typeface="黑体" panose="02010609060101010101" pitchFamily="49" charset="-122"/>
              </a:rPr>
              <a:t>属性</a:t>
            </a:r>
            <a:r>
              <a:rPr kumimoji="1" lang="en-US" altLang="zh-CN" sz="1200" dirty="0">
                <a:solidFill>
                  <a:schemeClr val="bg2"/>
                </a:solidFill>
                <a:latin typeface="黑体" panose="02010609060101010101" pitchFamily="49" charset="-122"/>
                <a:ea typeface="黑体" panose="02010609060101010101" pitchFamily="49" charset="-122"/>
              </a:rPr>
              <a:t>(</a:t>
            </a:r>
            <a:r>
              <a:rPr kumimoji="1" lang="zh-CN" altLang="en-US" sz="1200" dirty="0">
                <a:solidFill>
                  <a:schemeClr val="bg2"/>
                </a:solidFill>
                <a:latin typeface="黑体" panose="02010609060101010101" pitchFamily="49" charset="-122"/>
                <a:ea typeface="黑体" panose="02010609060101010101" pitchFamily="49" charset="-122"/>
              </a:rPr>
              <a:t>变量</a:t>
            </a:r>
            <a:r>
              <a:rPr kumimoji="1" lang="en-US" altLang="zh-CN" sz="1200" dirty="0">
                <a:solidFill>
                  <a:schemeClr val="bg2"/>
                </a:solidFill>
                <a:latin typeface="黑体" panose="02010609060101010101" pitchFamily="49" charset="-122"/>
                <a:ea typeface="黑体" panose="02010609060101010101" pitchFamily="49" charset="-122"/>
              </a:rPr>
              <a:t>)</a:t>
            </a:r>
            <a:r>
              <a:rPr kumimoji="1" lang="zh-CN" altLang="en-US" sz="1200" dirty="0">
                <a:solidFill>
                  <a:schemeClr val="bg2"/>
                </a:solidFill>
                <a:latin typeface="黑体" panose="02010609060101010101" pitchFamily="49" charset="-122"/>
                <a:ea typeface="黑体" panose="02010609060101010101" pitchFamily="49" charset="-122"/>
              </a:rPr>
              <a:t>，数据，例如三角形的三条边长度</a:t>
            </a:r>
            <a:endParaRPr kumimoji="1" lang="zh-CN" altLang="en-US" sz="1200" dirty="0">
              <a:solidFill>
                <a:schemeClr val="bg2"/>
              </a:solidFill>
              <a:latin typeface="黑体" panose="02010609060101010101" pitchFamily="49" charset="-122"/>
              <a:ea typeface="黑体" panose="02010609060101010101" pitchFamily="49" charset="-122"/>
            </a:endParaRPr>
          </a:p>
          <a:p>
            <a:pPr lvl="1"/>
            <a:r>
              <a:rPr kumimoji="1" lang="en-GB" altLang="zh-CN" sz="1200" dirty="0">
                <a:solidFill>
                  <a:schemeClr val="bg2"/>
                </a:solidFill>
              </a:rPr>
              <a:t>Method</a:t>
            </a:r>
            <a:r>
              <a:rPr kumimoji="1" lang="zh-CN" altLang="en-GB" sz="1200" dirty="0">
                <a:solidFill>
                  <a:schemeClr val="bg2"/>
                </a:solidFill>
              </a:rPr>
              <a:t>：</a:t>
            </a:r>
            <a:r>
              <a:rPr kumimoji="1" lang="zh-CN" altLang="en-US" sz="1200" dirty="0">
                <a:solidFill>
                  <a:schemeClr val="bg2"/>
                </a:solidFill>
                <a:latin typeface="黑体" panose="02010609060101010101" pitchFamily="49" charset="-122"/>
                <a:ea typeface="黑体" panose="02010609060101010101" pitchFamily="49" charset="-122"/>
              </a:rPr>
              <a:t>方法</a:t>
            </a:r>
            <a:r>
              <a:rPr kumimoji="1" lang="en-US" altLang="zh-CN" sz="1200" dirty="0">
                <a:solidFill>
                  <a:schemeClr val="bg2"/>
                </a:solidFill>
                <a:latin typeface="黑体" panose="02010609060101010101" pitchFamily="49" charset="-122"/>
                <a:ea typeface="黑体" panose="02010609060101010101" pitchFamily="49" charset="-122"/>
              </a:rPr>
              <a:t>(</a:t>
            </a:r>
            <a:r>
              <a:rPr kumimoji="1" lang="zh-CN" altLang="en-US" sz="1200" dirty="0">
                <a:solidFill>
                  <a:schemeClr val="bg2"/>
                </a:solidFill>
                <a:latin typeface="黑体" panose="02010609060101010101" pitchFamily="49" charset="-122"/>
                <a:ea typeface="黑体" panose="02010609060101010101" pitchFamily="49" charset="-122"/>
              </a:rPr>
              <a:t>函数</a:t>
            </a:r>
            <a:r>
              <a:rPr kumimoji="1" lang="en-US" altLang="zh-CN" sz="1200" dirty="0">
                <a:solidFill>
                  <a:schemeClr val="bg2"/>
                </a:solidFill>
                <a:latin typeface="黑体" panose="02010609060101010101" pitchFamily="49" charset="-122"/>
                <a:ea typeface="黑体" panose="02010609060101010101" pitchFamily="49" charset="-122"/>
              </a:rPr>
              <a:t>)</a:t>
            </a:r>
            <a:r>
              <a:rPr kumimoji="1" lang="zh-CN" altLang="en-US" sz="1200" dirty="0">
                <a:solidFill>
                  <a:schemeClr val="bg2"/>
                </a:solidFill>
                <a:latin typeface="黑体" panose="02010609060101010101" pitchFamily="49" charset="-122"/>
                <a:ea typeface="黑体" panose="02010609060101010101" pitchFamily="49" charset="-122"/>
              </a:rPr>
              <a:t>，处理数据的各种函数，例如计算面积，计算各个角度，计算外接圆、内切圆等等</a:t>
            </a:r>
            <a:endParaRPr kumimoji="1" lang="zh-CN" altLang="en-US" sz="1200" dirty="0">
              <a:solidFill>
                <a:schemeClr val="bg2"/>
              </a:solidFill>
              <a:latin typeface="黑体" panose="02010609060101010101" pitchFamily="49" charset="-122"/>
              <a:ea typeface="黑体" panose="02010609060101010101" pitchFamily="49" charset="-122"/>
            </a:endParaRPr>
          </a:p>
          <a:p>
            <a:pPr lvl="2">
              <a:buSzPct val="77000"/>
            </a:pPr>
            <a:r>
              <a:rPr kumimoji="1" lang="en-GB" altLang="zh-CN" sz="1200" dirty="0">
                <a:solidFill>
                  <a:schemeClr val="bg2"/>
                </a:solidFill>
              </a:rPr>
              <a:t>area(), angles()……</a:t>
            </a:r>
            <a:endParaRPr kumimoji="1" lang="en-GB" altLang="zh-CN" sz="2000" dirty="0">
              <a:solidFill>
                <a:schemeClr val="bg2"/>
              </a:solidFill>
            </a:endParaRPr>
          </a:p>
          <a:p>
            <a:r>
              <a:rPr kumimoji="1" lang="en-GB" altLang="zh-CN" sz="1400" dirty="0">
                <a:solidFill>
                  <a:schemeClr val="bg2"/>
                </a:solidFill>
              </a:rPr>
              <a:t>class Triangle:</a:t>
            </a:r>
            <a:endParaRPr kumimoji="1" lang="en-GB" altLang="zh-CN" sz="1400" dirty="0">
              <a:solidFill>
                <a:schemeClr val="bg2"/>
              </a:solidFill>
            </a:endParaRPr>
          </a:p>
          <a:p>
            <a:pPr marL="114300" indent="0">
              <a:buNone/>
            </a:pPr>
            <a:r>
              <a:rPr kumimoji="1" lang="en-GB" altLang="zh-CN" sz="1400" dirty="0">
                <a:solidFill>
                  <a:schemeClr val="bg2"/>
                </a:solidFill>
              </a:rPr>
              <a:t>      	</a:t>
            </a:r>
            <a:r>
              <a:rPr kumimoji="1" lang="en-GB" altLang="zh-CN" sz="1200" dirty="0">
                <a:solidFill>
                  <a:schemeClr val="bg2"/>
                </a:solidFill>
              </a:rPr>
              <a:t>……</a:t>
            </a:r>
            <a:endParaRPr kumimoji="1" lang="en-GB" altLang="zh-CN" sz="1200" dirty="0">
              <a:solidFill>
                <a:schemeClr val="bg2"/>
              </a:solidFill>
            </a:endParaRPr>
          </a:p>
          <a:p>
            <a:r>
              <a:rPr kumimoji="1" lang="en-GB" altLang="zh-CN" sz="1400" dirty="0">
                <a:solidFill>
                  <a:schemeClr val="tx1"/>
                </a:solidFill>
              </a:rPr>
              <a:t>Usage of attributes and methods:  </a:t>
            </a:r>
            <a:r>
              <a:rPr kumimoji="1" lang="en-GB" altLang="zh-CN" sz="1400" dirty="0" err="1">
                <a:solidFill>
                  <a:schemeClr val="tx1"/>
                </a:solidFill>
              </a:rPr>
              <a:t>object.attr</a:t>
            </a:r>
            <a:r>
              <a:rPr kumimoji="1" lang="en-GB" altLang="zh-CN" sz="1400" dirty="0">
                <a:solidFill>
                  <a:schemeClr val="tx1"/>
                </a:solidFill>
              </a:rPr>
              <a:t> or </a:t>
            </a:r>
            <a:r>
              <a:rPr kumimoji="1" lang="en-GB" altLang="zh-CN" sz="1400" dirty="0" err="1">
                <a:solidFill>
                  <a:schemeClr val="tx1"/>
                </a:solidFill>
              </a:rPr>
              <a:t>object.method</a:t>
            </a:r>
            <a:r>
              <a:rPr kumimoji="1" lang="en-GB" altLang="zh-CN" sz="1400" dirty="0">
                <a:solidFill>
                  <a:schemeClr val="tx1"/>
                </a:solidFill>
              </a:rPr>
              <a:t>()</a:t>
            </a:r>
            <a:endParaRPr kumimoji="1" lang="en-GB" altLang="zh-CN" sz="1400" dirty="0">
              <a:solidFill>
                <a:schemeClr val="tx1"/>
              </a:solidFill>
            </a:endParaRPr>
          </a:p>
          <a:p>
            <a:pPr lvl="1"/>
            <a:r>
              <a:rPr kumimoji="1" lang="en-GB" altLang="zh-CN" sz="1200" dirty="0">
                <a:solidFill>
                  <a:schemeClr val="bg2"/>
                </a:solidFill>
              </a:rPr>
              <a:t>x = Triangle() print(</a:t>
            </a:r>
            <a:r>
              <a:rPr kumimoji="1" lang="en-GB" altLang="zh-CN" sz="1200" dirty="0" err="1">
                <a:solidFill>
                  <a:schemeClr val="bg2"/>
                </a:solidFill>
              </a:rPr>
              <a:t>x.a</a:t>
            </a:r>
            <a:r>
              <a:rPr kumimoji="1" lang="en-GB" altLang="zh-CN" sz="1200" dirty="0">
                <a:solidFill>
                  <a:schemeClr val="bg2"/>
                </a:solidFill>
              </a:rPr>
              <a:t>) print(</a:t>
            </a:r>
            <a:r>
              <a:rPr kumimoji="1" lang="en-GB" altLang="zh-CN" sz="1200" dirty="0" err="1">
                <a:solidFill>
                  <a:schemeClr val="bg2"/>
                </a:solidFill>
              </a:rPr>
              <a:t>x.area</a:t>
            </a:r>
            <a:r>
              <a:rPr kumimoji="1" lang="en-GB" altLang="zh-CN" sz="1200" dirty="0">
                <a:solidFill>
                  <a:schemeClr val="bg2"/>
                </a:solidFill>
              </a:rPr>
              <a:t>()) </a:t>
            </a:r>
            <a:endParaRPr kumimoji="1" lang="en-GB" altLang="zh-CN" sz="1200" dirty="0">
              <a:solidFill>
                <a:schemeClr val="bg2"/>
              </a:solidFill>
            </a:endParaRPr>
          </a:p>
          <a:p>
            <a:pPr lvl="1"/>
            <a:r>
              <a:rPr kumimoji="1" lang="en-GB" altLang="zh-CN" sz="1200" dirty="0">
                <a:solidFill>
                  <a:schemeClr val="bg2"/>
                </a:solidFill>
              </a:rPr>
              <a:t>y = Triangle() print(</a:t>
            </a:r>
            <a:r>
              <a:rPr kumimoji="1" lang="en-GB" altLang="zh-CN" sz="1200" dirty="0" err="1">
                <a:solidFill>
                  <a:schemeClr val="bg2"/>
                </a:solidFill>
              </a:rPr>
              <a:t>y.a</a:t>
            </a:r>
            <a:r>
              <a:rPr kumimoji="1" lang="en-GB" altLang="zh-CN" sz="1200" dirty="0">
                <a:solidFill>
                  <a:schemeClr val="bg2"/>
                </a:solidFill>
              </a:rPr>
              <a:t>) print(</a:t>
            </a:r>
            <a:r>
              <a:rPr kumimoji="1" lang="en-GB" altLang="zh-CN" sz="1200" dirty="0" err="1">
                <a:solidFill>
                  <a:schemeClr val="bg2"/>
                </a:solidFill>
              </a:rPr>
              <a:t>y.area</a:t>
            </a:r>
            <a:r>
              <a:rPr kumimoji="1" lang="en-GB" altLang="zh-CN" sz="1200" dirty="0">
                <a:solidFill>
                  <a:schemeClr val="bg2"/>
                </a:solidFill>
              </a:rPr>
              <a:t>())</a:t>
            </a:r>
            <a:endParaRPr kumimoji="1" lang="en-GB" altLang="zh-CN" sz="1200" dirty="0">
              <a:solidFill>
                <a:schemeClr val="bg2"/>
              </a:solidFill>
            </a:endParaRPr>
          </a:p>
          <a:p>
            <a:pPr lvl="1"/>
            <a:r>
              <a:rPr kumimoji="1" lang="en-GB" altLang="zh-CN" sz="1200" dirty="0">
                <a:solidFill>
                  <a:schemeClr val="bg2"/>
                </a:solidFill>
              </a:rPr>
              <a:t>(x, y </a:t>
            </a:r>
            <a:r>
              <a:rPr kumimoji="1" lang="zh-CN" altLang="en-US" sz="1200" dirty="0">
                <a:solidFill>
                  <a:schemeClr val="bg2"/>
                </a:solidFill>
                <a:latin typeface="黑体" panose="02010609060101010101" pitchFamily="49" charset="-122"/>
                <a:ea typeface="黑体" panose="02010609060101010101" pitchFamily="49" charset="-122"/>
              </a:rPr>
              <a:t>表明范围</a:t>
            </a:r>
            <a:r>
              <a:rPr kumimoji="1" lang="en-US" altLang="zh-CN" sz="1200" dirty="0">
                <a:solidFill>
                  <a:schemeClr val="bg2"/>
                </a:solidFill>
              </a:rPr>
              <a:t>, </a:t>
            </a:r>
            <a:r>
              <a:rPr kumimoji="1" lang="en-GB" altLang="zh-CN" sz="1200" dirty="0">
                <a:solidFill>
                  <a:schemeClr val="bg2"/>
                </a:solidFill>
              </a:rPr>
              <a:t>a</a:t>
            </a:r>
            <a:r>
              <a:rPr kumimoji="1" lang="zh-CN" altLang="en-US" sz="1200" dirty="0">
                <a:solidFill>
                  <a:schemeClr val="bg2"/>
                </a:solidFill>
                <a:latin typeface="黑体" panose="02010609060101010101" pitchFamily="49" charset="-122"/>
                <a:ea typeface="黑体" panose="02010609060101010101" pitchFamily="49" charset="-122"/>
              </a:rPr>
              <a:t>和</a:t>
            </a:r>
            <a:r>
              <a:rPr kumimoji="1" lang="en-GB" altLang="zh-CN" sz="1200" dirty="0">
                <a:solidFill>
                  <a:schemeClr val="bg2"/>
                </a:solidFill>
              </a:rPr>
              <a:t>area</a:t>
            </a:r>
            <a:r>
              <a:rPr kumimoji="1" lang="zh-CN" altLang="en-US" sz="1200" dirty="0">
                <a:solidFill>
                  <a:schemeClr val="bg2"/>
                </a:solidFill>
                <a:latin typeface="黑体" panose="02010609060101010101" pitchFamily="49" charset="-122"/>
                <a:ea typeface="黑体" panose="02010609060101010101" pitchFamily="49" charset="-122"/>
              </a:rPr>
              <a:t>表明操作</a:t>
            </a:r>
            <a:r>
              <a:rPr kumimoji="1" lang="en-US" altLang="zh-CN" sz="1200" dirty="0">
                <a:solidFill>
                  <a:schemeClr val="bg2"/>
                </a:solidFill>
              </a:rPr>
              <a:t>)</a:t>
            </a:r>
            <a:endParaRPr kumimoji="1" lang="en-US" altLang="zh-CN" sz="1200" dirty="0">
              <a:solidFill>
                <a:schemeClr val="bg2"/>
              </a:solidFill>
            </a:endParaRPr>
          </a:p>
          <a:p>
            <a:pPr marL="596900" lvl="1" indent="0">
              <a:buNone/>
            </a:pPr>
            <a:r>
              <a:rPr kumimoji="1" lang="en-US" altLang="zh-CN" sz="1200" dirty="0">
                <a:solidFill>
                  <a:schemeClr val="bg2"/>
                </a:solidFill>
                <a:latin typeface="黑体" panose="02010609060101010101" pitchFamily="49" charset="-122"/>
                <a:ea typeface="黑体" panose="02010609060101010101" pitchFamily="49" charset="-122"/>
              </a:rPr>
              <a:t>    </a:t>
            </a:r>
            <a:r>
              <a:rPr kumimoji="1" lang="zh-CN" altLang="en-US" sz="1200" dirty="0">
                <a:solidFill>
                  <a:schemeClr val="bg2"/>
                </a:solidFill>
                <a:latin typeface="黑体" panose="02010609060101010101" pitchFamily="49" charset="-122"/>
                <a:ea typeface="黑体" panose="02010609060101010101" pitchFamily="49" charset="-122"/>
              </a:rPr>
              <a:t>上海市</a:t>
            </a:r>
            <a:r>
              <a:rPr kumimoji="1" lang="en-US" altLang="zh-CN" sz="1200" dirty="0">
                <a:solidFill>
                  <a:schemeClr val="bg2"/>
                </a:solidFill>
                <a:latin typeface="黑体" panose="02010609060101010101" pitchFamily="49" charset="-122"/>
                <a:ea typeface="黑体" panose="02010609060101010101" pitchFamily="49" charset="-122"/>
              </a:rPr>
              <a:t>.</a:t>
            </a:r>
            <a:r>
              <a:rPr kumimoji="1" lang="zh-CN" altLang="en-US" sz="1200" dirty="0">
                <a:solidFill>
                  <a:schemeClr val="bg2"/>
                </a:solidFill>
                <a:latin typeface="黑体" panose="02010609060101010101" pitchFamily="49" charset="-122"/>
                <a:ea typeface="黑体" panose="02010609060101010101" pitchFamily="49" charset="-122"/>
              </a:rPr>
              <a:t>闵行区</a:t>
            </a:r>
            <a:r>
              <a:rPr kumimoji="1" lang="en-US" altLang="zh-CN" sz="1200" dirty="0">
                <a:solidFill>
                  <a:schemeClr val="bg2"/>
                </a:solidFill>
                <a:latin typeface="黑体" panose="02010609060101010101" pitchFamily="49" charset="-122"/>
                <a:ea typeface="黑体" panose="02010609060101010101" pitchFamily="49" charset="-122"/>
              </a:rPr>
              <a:t>.</a:t>
            </a:r>
            <a:r>
              <a:rPr kumimoji="1" lang="zh-CN" altLang="en-US" sz="1200" dirty="0">
                <a:solidFill>
                  <a:schemeClr val="bg2"/>
                </a:solidFill>
                <a:latin typeface="黑体" panose="02010609060101010101" pitchFamily="49" charset="-122"/>
                <a:ea typeface="黑体" panose="02010609060101010101" pitchFamily="49" charset="-122"/>
              </a:rPr>
              <a:t>东川路</a:t>
            </a:r>
            <a:r>
              <a:rPr kumimoji="1" lang="en-US" altLang="zh-CN" sz="1200" dirty="0">
                <a:solidFill>
                  <a:schemeClr val="bg2"/>
                </a:solidFill>
                <a:latin typeface="黑体" panose="02010609060101010101" pitchFamily="49" charset="-122"/>
                <a:ea typeface="黑体" panose="02010609060101010101" pitchFamily="49" charset="-122"/>
              </a:rPr>
              <a:t>.800</a:t>
            </a:r>
            <a:r>
              <a:rPr kumimoji="1" lang="zh-CN" altLang="en-US" sz="1200" dirty="0">
                <a:solidFill>
                  <a:schemeClr val="bg2"/>
                </a:solidFill>
                <a:latin typeface="黑体" panose="02010609060101010101" pitchFamily="49" charset="-122"/>
                <a:ea typeface="黑体" panose="02010609060101010101" pitchFamily="49" charset="-122"/>
              </a:rPr>
              <a:t>号</a:t>
            </a:r>
            <a:endParaRPr kumimoji="1" lang="zh-CN" altLang="en-US" sz="1200" dirty="0">
              <a:solidFill>
                <a:schemeClr val="bg2"/>
              </a:solidFill>
              <a:latin typeface="黑体" panose="02010609060101010101" pitchFamily="49" charset="-122"/>
              <a:ea typeface="黑体" panose="02010609060101010101" pitchFamily="49" charset="-122"/>
            </a:endParaRPr>
          </a:p>
        </p:txBody>
      </p:sp>
      <p:pic>
        <p:nvPicPr>
          <p:cNvPr id="4" name="Picture 4" descr="Text&#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042175" y="1366310"/>
            <a:ext cx="2444039" cy="1240124"/>
          </a:xfrm>
          <a:prstGeom prst="rect">
            <a:avLst/>
          </a:prstGeom>
        </p:spPr>
      </p:pic>
      <p:pic>
        <p:nvPicPr>
          <p:cNvPr id="5" name="Picture 7" descr="A picture containing schematic&#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42175" y="3029514"/>
            <a:ext cx="2362969" cy="478874"/>
          </a:xfrm>
          <a:prstGeom prst="rect">
            <a:avLst/>
          </a:prstGeom>
        </p:spPr>
      </p:pic>
      <p:sp>
        <p:nvSpPr>
          <p:cNvPr id="6" name="Rectangle 1"/>
          <p:cNvSpPr/>
          <p:nvPr/>
        </p:nvSpPr>
        <p:spPr>
          <a:xfrm>
            <a:off x="5042175" y="3931468"/>
            <a:ext cx="1409102" cy="272534"/>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b="1" dirty="0">
                <a:solidFill>
                  <a:schemeClr val="tx1"/>
                </a:solidFill>
                <a:latin typeface="黑体" panose="02010609060101010101" pitchFamily="49" charset="-122"/>
                <a:ea typeface="黑体" panose="02010609060101010101" pitchFamily="49" charset="-122"/>
              </a:rPr>
              <a:t>. : </a:t>
            </a:r>
            <a:r>
              <a:rPr lang="zh-CN" altLang="en-US" sz="1200" b="1" dirty="0">
                <a:solidFill>
                  <a:schemeClr val="tx1"/>
                </a:solidFill>
                <a:latin typeface="黑体" panose="02010609060101010101" pitchFamily="49" charset="-122"/>
                <a:ea typeface="黑体" panose="02010609060101010101" pitchFamily="49" charset="-122"/>
              </a:rPr>
              <a:t>表示从属关系</a:t>
            </a:r>
            <a:endParaRPr lang="zh-CN" altLang="en-US" sz="1200" b="1" dirty="0">
              <a:solidFill>
                <a:schemeClr val="tx1"/>
              </a:solidFill>
              <a:latin typeface="黑体" panose="02010609060101010101" pitchFamily="49" charset="-122"/>
              <a:ea typeface="黑体" panose="02010609060101010101" pitchFamily="49"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a:t>“.” operator</a:t>
            </a:r>
            <a:endParaRPr kumimoji="1" lang="zh-CN" altLang="en-US" dirty="0"/>
          </a:p>
        </p:txBody>
      </p:sp>
      <p:sp>
        <p:nvSpPr>
          <p:cNvPr id="3" name="文本占位符 2"/>
          <p:cNvSpPr>
            <a:spLocks noGrp="1"/>
          </p:cNvSpPr>
          <p:nvPr>
            <p:ph type="body" idx="1"/>
          </p:nvPr>
        </p:nvSpPr>
        <p:spPr>
          <a:xfrm>
            <a:off x="311700" y="1152475"/>
            <a:ext cx="8520600" cy="564339"/>
          </a:xfrm>
        </p:spPr>
        <p:txBody>
          <a:bodyPr>
            <a:noAutofit/>
          </a:bodyPr>
          <a:lstStyle/>
          <a:p>
            <a:r>
              <a:rPr kumimoji="1" lang="en-GB" altLang="zh-CN" sz="1400" dirty="0" err="1">
                <a:solidFill>
                  <a:schemeClr val="bg2"/>
                </a:solidFill>
              </a:rPr>
              <a:t>x.y</a:t>
            </a:r>
            <a:r>
              <a:rPr kumimoji="1" lang="en-GB" altLang="zh-CN" sz="1400" dirty="0">
                <a:solidFill>
                  <a:schemeClr val="bg2"/>
                </a:solidFill>
              </a:rPr>
              <a:t>: y is a variable inside the scope of x. “.” could distinguish </a:t>
            </a:r>
            <a:r>
              <a:rPr kumimoji="1" lang="en-GB" altLang="zh-CN" sz="1400" dirty="0" err="1">
                <a:solidFill>
                  <a:schemeClr val="bg2"/>
                </a:solidFill>
              </a:rPr>
              <a:t>x.y</a:t>
            </a:r>
            <a:r>
              <a:rPr kumimoji="1" lang="en-GB" altLang="zh-CN" sz="1400" dirty="0">
                <a:solidFill>
                  <a:schemeClr val="bg2"/>
                </a:solidFill>
              </a:rPr>
              <a:t> from the y outside x</a:t>
            </a:r>
            <a:endParaRPr kumimoji="1" lang="en-GB" altLang="zh-CN" sz="1400" dirty="0">
              <a:solidFill>
                <a:schemeClr val="bg2"/>
              </a:solidFill>
            </a:endParaRPr>
          </a:p>
          <a:p>
            <a:r>
              <a:rPr kumimoji="1" lang="en-GB" altLang="zh-CN" sz="1400" dirty="0" err="1">
                <a:solidFill>
                  <a:schemeClr val="bg2"/>
                </a:solidFill>
              </a:rPr>
              <a:t>x.y</a:t>
            </a:r>
            <a:r>
              <a:rPr kumimoji="1" lang="en-GB" altLang="zh-CN" sz="1400" dirty="0">
                <a:solidFill>
                  <a:schemeClr val="bg2"/>
                </a:solidFill>
              </a:rPr>
              <a:t> could also be defined by “=’ </a:t>
            </a:r>
            <a:endParaRPr kumimoji="1" lang="en-GB" altLang="zh-CN" sz="1400" dirty="0">
              <a:solidFill>
                <a:schemeClr val="bg2"/>
              </a:solidFill>
            </a:endParaRPr>
          </a:p>
        </p:txBody>
      </p:sp>
      <p:pic>
        <p:nvPicPr>
          <p:cNvPr id="4" name="图片 3" descr="图片包含 文本&#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07952" y="1750258"/>
            <a:ext cx="2685032" cy="2350752"/>
          </a:xfrm>
          <a:prstGeom prst="rect">
            <a:avLst/>
          </a:prstGeom>
        </p:spPr>
      </p:pic>
      <p:pic>
        <p:nvPicPr>
          <p:cNvPr id="5" name="图片 4" descr="文本&#10;&#10;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7952" y="4163369"/>
            <a:ext cx="2336351" cy="289314"/>
          </a:xfrm>
          <a:prstGeom prst="rect">
            <a:avLst/>
          </a:prstGeom>
        </p:spPr>
      </p:pic>
      <p:pic>
        <p:nvPicPr>
          <p:cNvPr id="6" name="图片 5" descr="日历&#10;&#10;描述已自动生成"/>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67325" y="1771330"/>
            <a:ext cx="1686625" cy="1767768"/>
          </a:xfrm>
          <a:prstGeom prst="rect">
            <a:avLst/>
          </a:prstGeom>
        </p:spPr>
      </p:pic>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67325" y="4169281"/>
            <a:ext cx="2074100" cy="284123"/>
          </a:xfrm>
          <a:prstGeom prst="rect">
            <a:avLst/>
          </a:prstGeom>
        </p:spPr>
      </p:pic>
      <p:pic>
        <p:nvPicPr>
          <p:cNvPr id="8" name="图片 7" descr="文本&#10;&#10;描述已自动生成"/>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67325" y="3615196"/>
            <a:ext cx="2129818" cy="320055"/>
          </a:xfrm>
          <a:prstGeom prst="rect">
            <a:avLst/>
          </a:prstGeom>
        </p:spPr>
      </p:pic>
      <p:pic>
        <p:nvPicPr>
          <p:cNvPr id="9" name="图片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467325" y="4661152"/>
            <a:ext cx="5030134" cy="398218"/>
          </a:xfrm>
          <a:prstGeom prst="rect">
            <a:avLst/>
          </a:prstGeom>
        </p:spPr>
      </p:pic>
      <p:sp>
        <p:nvSpPr>
          <p:cNvPr id="12" name="文本占位符 2"/>
          <p:cNvSpPr txBox="1"/>
          <p:nvPr/>
        </p:nvSpPr>
        <p:spPr>
          <a:xfrm>
            <a:off x="5230999" y="1638814"/>
            <a:ext cx="3605729" cy="1900284"/>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2"/>
              </a:buClr>
              <a:buSzPts val="1800"/>
              <a:buFont typeface="Source Sans Pro" panose="020B0503030403020204"/>
              <a:buChar char="●"/>
              <a:defRPr sz="18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1pPr>
            <a:lvl2pPr marL="914400" marR="0" lvl="1"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2pPr>
            <a:lvl3pPr marL="1371600" marR="0" lvl="2"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3pPr>
            <a:lvl4pPr marL="1828800" marR="0" lvl="3"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4pPr>
            <a:lvl5pPr marL="2286000" marR="0" lvl="4"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5pPr>
            <a:lvl6pPr marL="2743200" marR="0" lvl="5"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6pPr>
            <a:lvl7pPr marL="3200400" marR="0" lvl="6"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7pPr>
            <a:lvl8pPr marL="3657600" marR="0" lvl="7"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8pPr>
            <a:lvl9pPr marL="4114800" marR="0" lvl="8"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9pPr>
          </a:lstStyle>
          <a:p>
            <a:r>
              <a:rPr lang="zh-CN" altLang="en-US" sz="1200" dirty="0">
                <a:solidFill>
                  <a:schemeClr val="bg2"/>
                </a:solidFill>
                <a:latin typeface="黑体" panose="02010609060101010101" pitchFamily="49" charset="-122"/>
                <a:ea typeface="黑体" panose="02010609060101010101" pitchFamily="49" charset="-122"/>
              </a:rPr>
              <a:t>对象内部的属性和外部的属性互不干扰</a:t>
            </a:r>
            <a:endParaRPr lang="zh-CN" altLang="en-US" sz="1200" dirty="0">
              <a:solidFill>
                <a:schemeClr val="bg2"/>
              </a:solidFill>
              <a:latin typeface="黑体" panose="02010609060101010101" pitchFamily="49" charset="-122"/>
              <a:ea typeface="黑体" panose="02010609060101010101" pitchFamily="49" charset="-122"/>
            </a:endParaRPr>
          </a:p>
          <a:p>
            <a:r>
              <a:rPr lang="zh-CN" altLang="en-US" sz="1200" dirty="0">
                <a:solidFill>
                  <a:schemeClr val="bg2"/>
                </a:solidFill>
                <a:latin typeface="黑体" panose="02010609060101010101" pitchFamily="49" charset="-122"/>
                <a:ea typeface="黑体" panose="02010609060101010101" pitchFamily="49" charset="-122"/>
              </a:rPr>
              <a:t>对象之间的属性也互不干扰</a:t>
            </a:r>
            <a:endParaRPr lang="zh-CN" altLang="en-US" sz="1200" dirty="0">
              <a:solidFill>
                <a:schemeClr val="bg2"/>
              </a:solidFill>
              <a:latin typeface="黑体" panose="02010609060101010101" pitchFamily="49" charset="-122"/>
              <a:ea typeface="黑体" panose="02010609060101010101" pitchFamily="49" charset="-122"/>
            </a:endParaRPr>
          </a:p>
          <a:p>
            <a:r>
              <a:rPr lang="en-US" altLang="zh-CN" sz="1200" dirty="0">
                <a:solidFill>
                  <a:schemeClr val="bg2"/>
                </a:solidFill>
              </a:rPr>
              <a:t>Line 4215-4230</a:t>
            </a:r>
            <a:r>
              <a:rPr lang="zh-CN" altLang="en-US" sz="1200" dirty="0">
                <a:solidFill>
                  <a:schemeClr val="bg2"/>
                </a:solidFill>
              </a:rPr>
              <a:t>，</a:t>
            </a:r>
            <a:r>
              <a:rPr lang="en-US" altLang="zh-CN" sz="1200" dirty="0">
                <a:solidFill>
                  <a:schemeClr val="bg2"/>
                </a:solidFill>
              </a:rPr>
              <a:t>line 4233-4248: </a:t>
            </a:r>
            <a:r>
              <a:rPr lang="en-US" altLang="zh-CN" sz="1200" dirty="0">
                <a:solidFill>
                  <a:schemeClr val="bg2"/>
                </a:solidFill>
                <a:latin typeface="黑体" panose="02010609060101010101" pitchFamily="49" charset="-122"/>
                <a:ea typeface="黑体" panose="02010609060101010101" pitchFamily="49" charset="-122"/>
              </a:rPr>
              <a:t>1</a:t>
            </a:r>
            <a:r>
              <a:rPr lang="zh-CN" altLang="en-US" sz="1200" dirty="0">
                <a:solidFill>
                  <a:schemeClr val="bg2"/>
                </a:solidFill>
                <a:latin typeface="黑体" panose="02010609060101010101" pitchFamily="49" charset="-122"/>
                <a:ea typeface="黑体" panose="02010609060101010101" pitchFamily="49" charset="-122"/>
              </a:rPr>
              <a:t>是不可修改对象，</a:t>
            </a:r>
            <a:r>
              <a:rPr lang="en-US" altLang="zh-CN" sz="1200" dirty="0">
                <a:solidFill>
                  <a:schemeClr val="bg2"/>
                </a:solidFill>
                <a:latin typeface="黑体" panose="02010609060101010101" pitchFamily="49" charset="-122"/>
                <a:ea typeface="黑体" panose="02010609060101010101" pitchFamily="49" charset="-122"/>
              </a:rPr>
              <a:t>[1]</a:t>
            </a:r>
            <a:r>
              <a:rPr lang="zh-CN" altLang="en-US" sz="1200" dirty="0">
                <a:solidFill>
                  <a:schemeClr val="bg2"/>
                </a:solidFill>
                <a:latin typeface="黑体" panose="02010609060101010101" pitchFamily="49" charset="-122"/>
                <a:ea typeface="黑体" panose="02010609060101010101" pitchFamily="49" charset="-122"/>
              </a:rPr>
              <a:t>是可修改对象，系统为了节约内存，有时候会共用不可修改对象。可修改对象一定不会共用</a:t>
            </a:r>
            <a:endParaRPr lang="zh-CN" altLang="en-US" sz="1200" dirty="0">
              <a:solidFill>
                <a:schemeClr val="bg2"/>
              </a:solidFill>
              <a:latin typeface="黑体" panose="02010609060101010101" pitchFamily="49" charset="-122"/>
              <a:ea typeface="黑体" panose="02010609060101010101" pitchFamily="49" charset="-122"/>
            </a:endParaRPr>
          </a:p>
          <a:p>
            <a:r>
              <a:rPr lang="en-US" altLang="zh-CN" sz="1200" dirty="0">
                <a:solidFill>
                  <a:schemeClr val="bg2"/>
                </a:solidFill>
              </a:rPr>
              <a:t>e1, e2 </a:t>
            </a:r>
            <a:r>
              <a:rPr lang="zh-CN" altLang="en-US" sz="1200" dirty="0">
                <a:solidFill>
                  <a:schemeClr val="bg2"/>
                </a:solidFill>
                <a:latin typeface="黑体" panose="02010609060101010101" pitchFamily="49" charset="-122"/>
                <a:ea typeface="黑体" panose="02010609060101010101" pitchFamily="49" charset="-122"/>
              </a:rPr>
              <a:t>都通过“</a:t>
            </a:r>
            <a:r>
              <a:rPr lang="en-US" altLang="zh-CN" sz="1200" dirty="0">
                <a:solidFill>
                  <a:schemeClr val="bg2"/>
                </a:solidFill>
                <a:latin typeface="黑体" panose="02010609060101010101" pitchFamily="49" charset="-122"/>
                <a:ea typeface="黑体" panose="02010609060101010101" pitchFamily="49" charset="-122"/>
              </a:rPr>
              <a:t>.”</a:t>
            </a:r>
            <a:r>
              <a:rPr lang="zh-CN" altLang="en-US" sz="1200" dirty="0">
                <a:solidFill>
                  <a:schemeClr val="bg2"/>
                </a:solidFill>
                <a:latin typeface="黑体" panose="02010609060101010101" pitchFamily="49" charset="-122"/>
                <a:ea typeface="黑体" panose="02010609060101010101" pitchFamily="49" charset="-122"/>
              </a:rPr>
              <a:t>添加了内部的变量</a:t>
            </a:r>
            <a:r>
              <a:rPr lang="en-US" altLang="zh-CN" sz="1200" dirty="0">
                <a:solidFill>
                  <a:schemeClr val="bg2"/>
                </a:solidFill>
              </a:rPr>
              <a:t>a, b, c. e3</a:t>
            </a:r>
            <a:r>
              <a:rPr lang="zh-CN" altLang="en-US" sz="1200" dirty="0">
                <a:solidFill>
                  <a:schemeClr val="bg2"/>
                </a:solidFill>
                <a:latin typeface="黑体" panose="02010609060101010101" pitchFamily="49" charset="-122"/>
                <a:ea typeface="黑体" panose="02010609060101010101" pitchFamily="49" charset="-122"/>
              </a:rPr>
              <a:t>没有添加，所以</a:t>
            </a:r>
            <a:r>
              <a:rPr lang="en-US" altLang="zh-CN" sz="1200" dirty="0">
                <a:solidFill>
                  <a:schemeClr val="bg2"/>
                </a:solidFill>
              </a:rPr>
              <a:t>e3</a:t>
            </a:r>
            <a:r>
              <a:rPr lang="zh-CN" altLang="en-US" sz="1200" dirty="0">
                <a:solidFill>
                  <a:schemeClr val="bg2"/>
                </a:solidFill>
                <a:latin typeface="黑体" panose="02010609060101010101" pitchFamily="49" charset="-122"/>
                <a:ea typeface="黑体" panose="02010609060101010101" pitchFamily="49" charset="-122"/>
              </a:rPr>
              <a:t>报错</a:t>
            </a:r>
            <a:endParaRPr lang="zh-CN" altLang="en-US" sz="1200" dirty="0">
              <a:solidFill>
                <a:schemeClr val="bg2"/>
              </a:solidFill>
              <a:latin typeface="黑体" panose="02010609060101010101" pitchFamily="49" charset="-122"/>
              <a:ea typeface="黑体" panose="02010609060101010101" pitchFamily="49" charset="-122"/>
            </a:endParaRPr>
          </a:p>
        </p:txBody>
      </p:sp>
      <p:sp>
        <p:nvSpPr>
          <p:cNvPr id="13" name="Rectangle 1"/>
          <p:cNvSpPr/>
          <p:nvPr/>
        </p:nvSpPr>
        <p:spPr>
          <a:xfrm>
            <a:off x="6464224" y="3615196"/>
            <a:ext cx="2368076" cy="494203"/>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b="1" dirty="0">
                <a:solidFill>
                  <a:schemeClr val="tx1"/>
                </a:solidFill>
                <a:latin typeface="黑体" panose="02010609060101010101" pitchFamily="49" charset="-122"/>
                <a:ea typeface="黑体" panose="02010609060101010101" pitchFamily="49" charset="-122"/>
              </a:rPr>
              <a:t>如果我们需要所有</a:t>
            </a:r>
            <a:r>
              <a:rPr lang="en-US" altLang="zh-CN" sz="1200" b="1" dirty="0">
                <a:solidFill>
                  <a:schemeClr val="tx1"/>
                </a:solidFill>
                <a:latin typeface="Source Sans Pro" panose="020B0503030403020204" pitchFamily="34" charset="0"/>
                <a:ea typeface="Source Sans Pro" panose="020B0503030403020204" pitchFamily="34" charset="0"/>
              </a:rPr>
              <a:t>Empty</a:t>
            </a:r>
            <a:r>
              <a:rPr lang="zh-CN" altLang="en-US" sz="1200" b="1" dirty="0">
                <a:solidFill>
                  <a:schemeClr val="tx1"/>
                </a:solidFill>
                <a:latin typeface="黑体" panose="02010609060101010101" pitchFamily="49" charset="-122"/>
                <a:ea typeface="黑体" panose="02010609060101010101" pitchFamily="49" charset="-122"/>
              </a:rPr>
              <a:t>的对象都自动具有</a:t>
            </a:r>
            <a:r>
              <a:rPr lang="en-US" altLang="zh-CN" sz="1200" b="1" dirty="0">
                <a:solidFill>
                  <a:schemeClr val="tx1"/>
                </a:solidFill>
                <a:latin typeface="Source Sans Pro" panose="020B0503030403020204" pitchFamily="34" charset="0"/>
                <a:ea typeface="Source Sans Pro" panose="020B0503030403020204" pitchFamily="34" charset="0"/>
              </a:rPr>
              <a:t>a, b, c</a:t>
            </a:r>
            <a:r>
              <a:rPr lang="zh-CN" altLang="en-US" sz="1200" b="1" dirty="0">
                <a:solidFill>
                  <a:schemeClr val="tx1"/>
                </a:solidFill>
                <a:latin typeface="黑体" panose="02010609060101010101" pitchFamily="49" charset="-122"/>
                <a:ea typeface="黑体" panose="02010609060101010101" pitchFamily="49" charset="-122"/>
              </a:rPr>
              <a:t>三个属性呢？？ </a:t>
            </a:r>
            <a:endParaRPr lang="zh-CN" altLang="en-US" sz="1200" b="1" dirty="0">
              <a:solidFill>
                <a:schemeClr val="tx1"/>
              </a:solidFill>
              <a:latin typeface="黑体" panose="02010609060101010101" pitchFamily="49" charset="-122"/>
              <a:ea typeface="黑体" panose="02010609060101010101" pitchFamily="49"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a:t>Class: Challenge</a:t>
            </a:r>
            <a:endParaRPr kumimoji="1" lang="zh-CN" altLang="en-US" dirty="0"/>
          </a:p>
        </p:txBody>
      </p:sp>
      <p:sp>
        <p:nvSpPr>
          <p:cNvPr id="3" name="文本占位符 2"/>
          <p:cNvSpPr>
            <a:spLocks noGrp="1"/>
          </p:cNvSpPr>
          <p:nvPr>
            <p:ph type="body" idx="1"/>
          </p:nvPr>
        </p:nvSpPr>
        <p:spPr>
          <a:xfrm>
            <a:off x="311700" y="1152475"/>
            <a:ext cx="8520600" cy="3873572"/>
          </a:xfrm>
        </p:spPr>
        <p:txBody>
          <a:bodyPr>
            <a:noAutofit/>
          </a:bodyPr>
          <a:lstStyle/>
          <a:p>
            <a:pPr>
              <a:buFont typeface="+mj-lt"/>
              <a:buAutoNum type="arabicPeriod"/>
            </a:pPr>
            <a:r>
              <a:rPr kumimoji="1" lang="zh-CN" altLang="en-US" sz="1400" dirty="0">
                <a:solidFill>
                  <a:schemeClr val="bg2"/>
                </a:solidFill>
                <a:latin typeface="Source Sans Pro" panose="020B0503030403020204" pitchFamily="34" charset="0"/>
                <a:ea typeface="黑体" panose="02010609060101010101" pitchFamily="49" charset="-122"/>
              </a:rPr>
              <a:t>如何保证</a:t>
            </a:r>
            <a:r>
              <a:rPr kumimoji="1" lang="zh-CN" altLang="en-US" sz="1400" dirty="0">
                <a:solidFill>
                  <a:schemeClr val="tx1"/>
                </a:solidFill>
                <a:latin typeface="Source Sans Pro" panose="020B0503030403020204" pitchFamily="34" charset="0"/>
                <a:ea typeface="黑体" panose="02010609060101010101" pitchFamily="49" charset="-122"/>
              </a:rPr>
              <a:t>同一个类</a:t>
            </a:r>
            <a:r>
              <a:rPr kumimoji="1" lang="zh-CN" altLang="en-US" sz="1400" dirty="0">
                <a:solidFill>
                  <a:schemeClr val="bg2"/>
                </a:solidFill>
                <a:latin typeface="Source Sans Pro" panose="020B0503030403020204" pitchFamily="34" charset="0"/>
                <a:ea typeface="黑体" panose="02010609060101010101" pitchFamily="49" charset="-122"/>
              </a:rPr>
              <a:t>所有的对象都具有</a:t>
            </a:r>
            <a:r>
              <a:rPr kumimoji="1" lang="zh-CN" altLang="en-US" sz="1400" dirty="0">
                <a:solidFill>
                  <a:schemeClr val="tx1"/>
                </a:solidFill>
                <a:latin typeface="Source Sans Pro" panose="020B0503030403020204" pitchFamily="34" charset="0"/>
                <a:ea typeface="黑体" panose="02010609060101010101" pitchFamily="49" charset="-122"/>
              </a:rPr>
              <a:t>相同的属性和方法</a:t>
            </a:r>
            <a:endParaRPr kumimoji="1" lang="zh-CN" altLang="en-US" sz="1400" dirty="0">
              <a:solidFill>
                <a:schemeClr val="tx1"/>
              </a:solidFill>
              <a:latin typeface="Source Sans Pro" panose="020B0503030403020204" pitchFamily="34" charset="0"/>
              <a:ea typeface="黑体" panose="02010609060101010101" pitchFamily="49" charset="-122"/>
            </a:endParaRPr>
          </a:p>
          <a:p>
            <a:pPr lvl="1">
              <a:buSzPct val="77000"/>
            </a:pPr>
            <a:r>
              <a:rPr kumimoji="1" lang="en-GB" altLang="zh-CN" sz="1200" dirty="0">
                <a:solidFill>
                  <a:schemeClr val="bg2"/>
                </a:solidFill>
                <a:latin typeface="Source Sans Pro" panose="020B0503030403020204" pitchFamily="34" charset="0"/>
                <a:ea typeface="Source Sans Pro" panose="020B0503030403020204" pitchFamily="34" charset="0"/>
              </a:rPr>
              <a:t>class Dog</a:t>
            </a:r>
            <a:r>
              <a:rPr kumimoji="1" lang="zh-CN" altLang="en-US" sz="1200" dirty="0">
                <a:solidFill>
                  <a:schemeClr val="bg2"/>
                </a:solidFill>
                <a:latin typeface="Source Sans Pro" panose="020B0503030403020204" pitchFamily="34" charset="0"/>
                <a:ea typeface="黑体" panose="02010609060101010101" pitchFamily="49" charset="-122"/>
              </a:rPr>
              <a:t>：狗都有颜色，一双眼睛</a:t>
            </a:r>
            <a:r>
              <a:rPr kumimoji="1" lang="zh-CN" altLang="en-GB" sz="1200" dirty="0">
                <a:solidFill>
                  <a:schemeClr val="bg2"/>
                </a:solidFill>
                <a:latin typeface="Source Sans Pro" panose="020B0503030403020204" pitchFamily="34" charset="0"/>
                <a:ea typeface="黑体" panose="02010609060101010101" pitchFamily="49" charset="-122"/>
              </a:rPr>
              <a:t>、</a:t>
            </a:r>
            <a:r>
              <a:rPr kumimoji="1" lang="zh-CN" altLang="en-US" sz="1200" dirty="0">
                <a:solidFill>
                  <a:schemeClr val="bg2"/>
                </a:solidFill>
                <a:latin typeface="Source Sans Pro" panose="020B0503030403020204" pitchFamily="34" charset="0"/>
                <a:ea typeface="黑体" panose="02010609060101010101" pitchFamily="49" charset="-122"/>
              </a:rPr>
              <a:t>四条腿</a:t>
            </a:r>
            <a:r>
              <a:rPr kumimoji="1" lang="zh-CN" altLang="en-GB" sz="1200" dirty="0">
                <a:solidFill>
                  <a:schemeClr val="bg2"/>
                </a:solidFill>
                <a:latin typeface="Source Sans Pro" panose="020B0503030403020204" pitchFamily="34" charset="0"/>
                <a:ea typeface="黑体" panose="02010609060101010101" pitchFamily="49" charset="-122"/>
              </a:rPr>
              <a:t>，</a:t>
            </a:r>
            <a:r>
              <a:rPr kumimoji="1" lang="zh-CN" altLang="en-US" sz="1200" dirty="0">
                <a:solidFill>
                  <a:schemeClr val="bg2"/>
                </a:solidFill>
                <a:latin typeface="Source Sans Pro" panose="020B0503030403020204" pitchFamily="34" charset="0"/>
                <a:ea typeface="黑体" panose="02010609060101010101" pitchFamily="49" charset="-122"/>
              </a:rPr>
              <a:t>一条尾巴</a:t>
            </a:r>
            <a:endParaRPr kumimoji="1" lang="en-US" altLang="zh-CN" sz="1200" dirty="0">
              <a:solidFill>
                <a:schemeClr val="bg2"/>
              </a:solidFill>
              <a:latin typeface="Source Sans Pro" panose="020B0503030403020204" pitchFamily="34" charset="0"/>
              <a:ea typeface="黑体" panose="02010609060101010101" pitchFamily="49" charset="-122"/>
            </a:endParaRPr>
          </a:p>
          <a:p>
            <a:pPr lvl="1">
              <a:buSzPct val="77000"/>
            </a:pPr>
            <a:r>
              <a:rPr kumimoji="1" lang="zh-CN" altLang="en-US" sz="1200" dirty="0">
                <a:solidFill>
                  <a:schemeClr val="bg2"/>
                </a:solidFill>
                <a:latin typeface="Source Sans Pro" panose="020B0503030403020204" pitchFamily="34" charset="0"/>
                <a:ea typeface="黑体" panose="02010609060101010101" pitchFamily="49" charset="-122"/>
              </a:rPr>
              <a:t>每个狗都是单独的属性</a:t>
            </a:r>
            <a:r>
              <a:rPr kumimoji="1" lang="en-US" altLang="zh-CN" sz="1200" dirty="0">
                <a:solidFill>
                  <a:schemeClr val="bg2"/>
                </a:solidFill>
                <a:latin typeface="Source Sans Pro" panose="020B0503030403020204" pitchFamily="34" charset="0"/>
                <a:ea typeface="黑体" panose="02010609060101010101" pitchFamily="49" charset="-122"/>
              </a:rPr>
              <a:t>(</a:t>
            </a:r>
            <a:r>
              <a:rPr kumimoji="1" lang="zh-CN" altLang="en-US" sz="1200" dirty="0">
                <a:solidFill>
                  <a:schemeClr val="bg2"/>
                </a:solidFill>
                <a:latin typeface="Source Sans Pro" panose="020B0503030403020204" pitchFamily="34" charset="0"/>
                <a:ea typeface="黑体" panose="02010609060101010101" pitchFamily="49" charset="-122"/>
              </a:rPr>
              <a:t>数据</a:t>
            </a:r>
            <a:r>
              <a:rPr kumimoji="1" lang="en-US" altLang="zh-CN" sz="1200" dirty="0">
                <a:solidFill>
                  <a:schemeClr val="bg2"/>
                </a:solidFill>
                <a:latin typeface="Source Sans Pro" panose="020B0503030403020204" pitchFamily="34" charset="0"/>
                <a:ea typeface="黑体" panose="02010609060101010101" pitchFamily="49" charset="-122"/>
              </a:rPr>
              <a:t>)</a:t>
            </a:r>
            <a:r>
              <a:rPr kumimoji="1" lang="zh-CN" altLang="en-US" sz="1200" dirty="0">
                <a:solidFill>
                  <a:schemeClr val="bg2"/>
                </a:solidFill>
                <a:latin typeface="Source Sans Pro" panose="020B0503030403020204" pitchFamily="34" charset="0"/>
                <a:ea typeface="黑体" panose="02010609060101010101" pitchFamily="49" charset="-122"/>
              </a:rPr>
              <a:t>和方法</a:t>
            </a:r>
            <a:r>
              <a:rPr kumimoji="1" lang="en-US" altLang="zh-CN" sz="1200" dirty="0">
                <a:solidFill>
                  <a:schemeClr val="bg2"/>
                </a:solidFill>
                <a:latin typeface="Source Sans Pro" panose="020B0503030403020204" pitchFamily="34" charset="0"/>
                <a:ea typeface="黑体" panose="02010609060101010101" pitchFamily="49" charset="-122"/>
              </a:rPr>
              <a:t>(</a:t>
            </a:r>
            <a:r>
              <a:rPr kumimoji="1" lang="zh-CN" altLang="en-US" sz="1200" dirty="0">
                <a:solidFill>
                  <a:schemeClr val="bg2"/>
                </a:solidFill>
                <a:latin typeface="Source Sans Pro" panose="020B0503030403020204" pitchFamily="34" charset="0"/>
                <a:ea typeface="黑体" panose="02010609060101010101" pitchFamily="49" charset="-122"/>
              </a:rPr>
              <a:t>函数</a:t>
            </a:r>
            <a:r>
              <a:rPr kumimoji="1" lang="en-US" altLang="zh-CN" sz="1200" dirty="0">
                <a:solidFill>
                  <a:schemeClr val="bg2"/>
                </a:solidFill>
                <a:latin typeface="Source Sans Pro" panose="020B0503030403020204" pitchFamily="34" charset="0"/>
                <a:ea typeface="黑体" panose="02010609060101010101" pitchFamily="49" charset="-122"/>
              </a:rPr>
              <a:t>):</a:t>
            </a:r>
            <a:r>
              <a:rPr kumimoji="1" lang="zh-CN" altLang="en-US" sz="1200" dirty="0">
                <a:solidFill>
                  <a:schemeClr val="bg2"/>
                </a:solidFill>
                <a:latin typeface="Source Sans Pro" panose="020B0503030403020204" pitchFamily="34" charset="0"/>
                <a:ea typeface="黑体" panose="02010609060101010101" pitchFamily="49" charset="-122"/>
              </a:rPr>
              <a:t> </a:t>
            </a:r>
            <a:r>
              <a:rPr kumimoji="1" lang="zh-CN" altLang="en-US" sz="1200" dirty="0">
                <a:solidFill>
                  <a:schemeClr val="tx1"/>
                </a:solidFill>
                <a:latin typeface="Source Sans Pro" panose="020B0503030403020204" pitchFamily="34" charset="0"/>
                <a:ea typeface="黑体" panose="02010609060101010101" pitchFamily="49" charset="-122"/>
              </a:rPr>
              <a:t>空间消耗</a:t>
            </a:r>
            <a:endParaRPr kumimoji="1" lang="zh-CN" altLang="en-US" sz="1200" dirty="0">
              <a:solidFill>
                <a:schemeClr val="tx1"/>
              </a:solidFill>
              <a:latin typeface="Source Sans Pro" panose="020B0503030403020204" pitchFamily="34" charset="0"/>
              <a:ea typeface="黑体" panose="02010609060101010101" pitchFamily="49" charset="-122"/>
            </a:endParaRPr>
          </a:p>
          <a:p>
            <a:pPr>
              <a:buFont typeface="+mj-lt"/>
              <a:buAutoNum type="arabicPeriod"/>
            </a:pPr>
            <a:r>
              <a:rPr kumimoji="1" lang="zh-CN" altLang="en-US" sz="1400" dirty="0">
                <a:solidFill>
                  <a:schemeClr val="bg2"/>
                </a:solidFill>
                <a:latin typeface="Source Sans Pro" panose="020B0503030403020204" pitchFamily="34" charset="0"/>
                <a:ea typeface="黑体" panose="02010609060101010101" pitchFamily="49" charset="-122"/>
              </a:rPr>
              <a:t>如何</a:t>
            </a:r>
            <a:r>
              <a:rPr kumimoji="1" lang="zh-CN" altLang="en-US" sz="1400" dirty="0">
                <a:solidFill>
                  <a:schemeClr val="tx1"/>
                </a:solidFill>
                <a:latin typeface="Source Sans Pro" panose="020B0503030403020204" pitchFamily="34" charset="0"/>
                <a:ea typeface="黑体" panose="02010609060101010101" pitchFamily="49" charset="-122"/>
              </a:rPr>
              <a:t>共享程序</a:t>
            </a:r>
            <a:r>
              <a:rPr kumimoji="1" lang="en-US" altLang="zh-CN" sz="1400" dirty="0">
                <a:solidFill>
                  <a:schemeClr val="tx1"/>
                </a:solidFill>
                <a:latin typeface="Source Sans Pro" panose="020B0503030403020204" pitchFamily="34" charset="0"/>
                <a:ea typeface="Source Sans Pro" panose="020B0503030403020204" pitchFamily="34" charset="0"/>
              </a:rPr>
              <a:t>: </a:t>
            </a:r>
            <a:r>
              <a:rPr kumimoji="1" lang="zh-CN" altLang="en-US" sz="1400" dirty="0">
                <a:solidFill>
                  <a:schemeClr val="tx1"/>
                </a:solidFill>
                <a:latin typeface="Source Sans Pro" panose="020B0503030403020204" pitchFamily="34" charset="0"/>
                <a:ea typeface="黑体" panose="02010609060101010101" pitchFamily="49" charset="-122"/>
              </a:rPr>
              <a:t>方法</a:t>
            </a:r>
            <a:r>
              <a:rPr kumimoji="1" lang="en-US" altLang="zh-CN" sz="1400" dirty="0">
                <a:solidFill>
                  <a:schemeClr val="tx1"/>
                </a:solidFill>
                <a:latin typeface="Source Sans Pro" panose="020B0503030403020204" pitchFamily="34" charset="0"/>
                <a:ea typeface="Source Sans Pro" panose="020B0503030403020204" pitchFamily="34" charset="0"/>
              </a:rPr>
              <a:t>(</a:t>
            </a:r>
            <a:r>
              <a:rPr kumimoji="1" lang="zh-CN" altLang="en-US" sz="1400" dirty="0">
                <a:solidFill>
                  <a:schemeClr val="tx1"/>
                </a:solidFill>
                <a:latin typeface="Source Sans Pro" panose="020B0503030403020204" pitchFamily="34" charset="0"/>
                <a:ea typeface="黑体" panose="02010609060101010101" pitchFamily="49" charset="-122"/>
              </a:rPr>
              <a:t>函数</a:t>
            </a:r>
            <a:r>
              <a:rPr kumimoji="1" lang="en-US" altLang="zh-CN" sz="1400" dirty="0">
                <a:solidFill>
                  <a:schemeClr val="tx1"/>
                </a:solidFill>
                <a:latin typeface="Source Sans Pro" panose="020B0503030403020204" pitchFamily="34" charset="0"/>
                <a:ea typeface="Source Sans Pro" panose="020B0503030403020204" pitchFamily="34" charset="0"/>
              </a:rPr>
              <a:t>)</a:t>
            </a:r>
            <a:r>
              <a:rPr kumimoji="1" lang="zh-CN" altLang="en-US" sz="1400" dirty="0">
                <a:solidFill>
                  <a:schemeClr val="tx1"/>
                </a:solidFill>
                <a:latin typeface="Source Sans Pro" panose="020B0503030403020204" pitchFamily="34" charset="0"/>
                <a:ea typeface="黑体" panose="02010609060101010101" pitchFamily="49" charset="-122"/>
              </a:rPr>
              <a:t>调用</a:t>
            </a:r>
            <a:endParaRPr kumimoji="1" lang="en-US" altLang="zh-CN" sz="1400" dirty="0">
              <a:solidFill>
                <a:schemeClr val="tx1"/>
              </a:solidFill>
              <a:latin typeface="Source Sans Pro" panose="020B0503030403020204" pitchFamily="34" charset="0"/>
              <a:ea typeface="Source Sans Pro" panose="020B0503030403020204" pitchFamily="34" charset="0"/>
            </a:endParaRPr>
          </a:p>
          <a:p>
            <a:pPr lvl="1">
              <a:buSzPct val="77000"/>
            </a:pPr>
            <a:r>
              <a:rPr kumimoji="1" lang="en-GB" altLang="zh-CN" sz="1200" dirty="0">
                <a:solidFill>
                  <a:schemeClr val="bg2"/>
                </a:solidFill>
                <a:latin typeface="Source Sans Pro" panose="020B0503030403020204" pitchFamily="34" charset="0"/>
                <a:ea typeface="Source Sans Pro" panose="020B0503030403020204" pitchFamily="34" charset="0"/>
              </a:rPr>
              <a:t>red_dog, white_dog, red_dog.bite(), white_dog.bite()</a:t>
            </a:r>
            <a:endParaRPr kumimoji="1" lang="en-GB" altLang="zh-CN" sz="1200" dirty="0">
              <a:solidFill>
                <a:schemeClr val="bg2"/>
              </a:solidFill>
              <a:latin typeface="Source Sans Pro" panose="020B0503030403020204" pitchFamily="34" charset="0"/>
              <a:ea typeface="Source Sans Pro" panose="020B0503030403020204" pitchFamily="34" charset="0"/>
            </a:endParaRPr>
          </a:p>
          <a:p>
            <a:pPr lvl="1">
              <a:buSzPct val="77000"/>
            </a:pPr>
            <a:r>
              <a:rPr kumimoji="1" lang="zh-CN" altLang="en-US" sz="1200" dirty="0">
                <a:solidFill>
                  <a:schemeClr val="bg2"/>
                </a:solidFill>
                <a:latin typeface="Source Sans Pro" panose="020B0503030403020204" pitchFamily="34" charset="0"/>
                <a:ea typeface="黑体" panose="02010609060101010101" pitchFamily="49" charset="-122"/>
              </a:rPr>
              <a:t>调用</a:t>
            </a:r>
            <a:r>
              <a:rPr kumimoji="1" lang="en-GB" altLang="zh-CN" sz="1200" dirty="0">
                <a:solidFill>
                  <a:schemeClr val="bg2"/>
                </a:solidFill>
                <a:latin typeface="Source Sans Pro" panose="020B0503030403020204" pitchFamily="34" charset="0"/>
                <a:ea typeface="Source Sans Pro" panose="020B0503030403020204" pitchFamily="34" charset="0"/>
              </a:rPr>
              <a:t>bite()</a:t>
            </a:r>
            <a:r>
              <a:rPr kumimoji="1" lang="zh-CN" altLang="en-US" sz="1200" dirty="0">
                <a:solidFill>
                  <a:schemeClr val="bg2"/>
                </a:solidFill>
                <a:latin typeface="Source Sans Pro" panose="020B0503030403020204" pitchFamily="34" charset="0"/>
                <a:ea typeface="黑体" panose="02010609060101010101" pitchFamily="49" charset="-122"/>
              </a:rPr>
              <a:t>时，知道是</a:t>
            </a:r>
            <a:r>
              <a:rPr kumimoji="1" lang="en-GB" altLang="zh-CN" sz="1200" dirty="0">
                <a:solidFill>
                  <a:schemeClr val="bg2"/>
                </a:solidFill>
                <a:latin typeface="Source Sans Pro" panose="020B0503030403020204" pitchFamily="34" charset="0"/>
                <a:ea typeface="Source Sans Pro" panose="020B0503030403020204" pitchFamily="34" charset="0"/>
              </a:rPr>
              <a:t>white_dog</a:t>
            </a:r>
            <a:r>
              <a:rPr kumimoji="1" lang="zh-CN" altLang="en-US" sz="1200" dirty="0">
                <a:solidFill>
                  <a:schemeClr val="bg2"/>
                </a:solidFill>
                <a:latin typeface="Source Sans Pro" panose="020B0503030403020204" pitchFamily="34" charset="0"/>
                <a:ea typeface="黑体" panose="02010609060101010101" pitchFamily="49" charset="-122"/>
              </a:rPr>
              <a:t>还是</a:t>
            </a:r>
            <a:r>
              <a:rPr kumimoji="1" lang="en-GB" altLang="zh-CN" sz="1200" dirty="0">
                <a:solidFill>
                  <a:schemeClr val="bg2"/>
                </a:solidFill>
                <a:latin typeface="Source Sans Pro" panose="020B0503030403020204" pitchFamily="34" charset="0"/>
                <a:ea typeface="Source Sans Pro" panose="020B0503030403020204" pitchFamily="34" charset="0"/>
              </a:rPr>
              <a:t>red_dog</a:t>
            </a:r>
            <a:endParaRPr kumimoji="1" lang="en-GB" altLang="zh-CN" sz="1200" dirty="0">
              <a:solidFill>
                <a:schemeClr val="bg2"/>
              </a:solidFill>
              <a:latin typeface="Source Sans Pro" panose="020B0503030403020204" pitchFamily="34" charset="0"/>
              <a:ea typeface="Source Sans Pro" panose="020B0503030403020204" pitchFamily="34" charset="0"/>
            </a:endParaRPr>
          </a:p>
          <a:p>
            <a:pPr lvl="1">
              <a:buSzPct val="77000"/>
            </a:pPr>
            <a:r>
              <a:rPr kumimoji="1" lang="zh-CN" altLang="en-US" sz="1200" dirty="0">
                <a:solidFill>
                  <a:schemeClr val="bg2"/>
                </a:solidFill>
                <a:latin typeface="Source Sans Pro" panose="020B0503030403020204" pitchFamily="34" charset="0"/>
                <a:ea typeface="黑体" panose="02010609060101010101" pitchFamily="49" charset="-122"/>
              </a:rPr>
              <a:t>不同的对象</a:t>
            </a:r>
            <a:r>
              <a:rPr kumimoji="1" lang="zh-CN" altLang="en-US" sz="1200" dirty="0">
                <a:solidFill>
                  <a:schemeClr val="tx1"/>
                </a:solidFill>
                <a:latin typeface="Source Sans Pro" panose="020B0503030403020204" pitchFamily="34" charset="0"/>
                <a:ea typeface="黑体" panose="02010609060101010101" pitchFamily="49" charset="-122"/>
              </a:rPr>
              <a:t>互相不干扰，独立运行</a:t>
            </a:r>
            <a:endParaRPr kumimoji="1" lang="en-GB" altLang="zh-CN" sz="1200" dirty="0">
              <a:solidFill>
                <a:schemeClr val="bg2"/>
              </a:solidFill>
              <a:latin typeface="Source Sans Pro" panose="020B0503030403020204" pitchFamily="34" charset="0"/>
              <a:ea typeface="Source Sans Pro" panose="020B0503030403020204" pitchFamily="34" charset="0"/>
            </a:endParaRPr>
          </a:p>
          <a:p>
            <a:pPr lvl="1">
              <a:buSzPct val="77000"/>
            </a:pPr>
            <a:r>
              <a:rPr kumimoji="1" lang="zh-CN" altLang="en-US" sz="1200" dirty="0">
                <a:solidFill>
                  <a:schemeClr val="bg2"/>
                </a:solidFill>
                <a:latin typeface="Source Sans Pro" panose="020B0503030403020204" pitchFamily="34" charset="0"/>
                <a:ea typeface="黑体" panose="02010609060101010101" pitchFamily="49" charset="-122"/>
              </a:rPr>
              <a:t>如果</a:t>
            </a:r>
            <a:r>
              <a:rPr kumimoji="1" lang="en-GB" altLang="zh-CN" sz="1200" dirty="0">
                <a:solidFill>
                  <a:schemeClr val="bg2"/>
                </a:solidFill>
                <a:latin typeface="Source Sans Pro" panose="020B0503030403020204" pitchFamily="34" charset="0"/>
                <a:ea typeface="Source Sans Pro" panose="020B0503030403020204" pitchFamily="34" charset="0"/>
              </a:rPr>
              <a:t>bite()</a:t>
            </a:r>
            <a:r>
              <a:rPr kumimoji="1" lang="zh-CN" altLang="en-US" sz="1200" dirty="0">
                <a:solidFill>
                  <a:schemeClr val="bg2"/>
                </a:solidFill>
                <a:latin typeface="Source Sans Pro" panose="020B0503030403020204" pitchFamily="34" charset="0"/>
                <a:ea typeface="黑体" panose="02010609060101010101" pitchFamily="49" charset="-122"/>
              </a:rPr>
              <a:t>含有参数，知道是哪个参数</a:t>
            </a:r>
            <a:endParaRPr kumimoji="1" lang="zh-CN" altLang="en-US" sz="1200" dirty="0">
              <a:solidFill>
                <a:schemeClr val="bg2"/>
              </a:solidFill>
              <a:latin typeface="Source Sans Pro" panose="020B0503030403020204" pitchFamily="34" charset="0"/>
              <a:ea typeface="黑体" panose="02010609060101010101" pitchFamily="49" charset="-122"/>
            </a:endParaRPr>
          </a:p>
          <a:p>
            <a:r>
              <a:rPr kumimoji="1" lang="en-US" altLang="zh-CN" sz="1400" dirty="0">
                <a:solidFill>
                  <a:schemeClr val="bg2"/>
                </a:solidFill>
                <a:latin typeface="Source Sans Pro" panose="020B0503030403020204" pitchFamily="34" charset="0"/>
                <a:ea typeface="Source Sans Pro" panose="020B0503030403020204" pitchFamily="34" charset="0"/>
              </a:rPr>
              <a:t>__</a:t>
            </a:r>
            <a:r>
              <a:rPr kumimoji="1" lang="en-US" altLang="zh-CN" sz="1400" dirty="0" err="1">
                <a:solidFill>
                  <a:schemeClr val="bg2"/>
                </a:solidFill>
                <a:latin typeface="Source Sans Pro" panose="020B0503030403020204" pitchFamily="34" charset="0"/>
                <a:ea typeface="Source Sans Pro" panose="020B0503030403020204" pitchFamily="34" charset="0"/>
              </a:rPr>
              <a:t>init</a:t>
            </a:r>
            <a:r>
              <a:rPr kumimoji="1" lang="en-US" altLang="zh-CN" sz="1400" dirty="0">
                <a:solidFill>
                  <a:schemeClr val="bg2"/>
                </a:solidFill>
                <a:latin typeface="Source Sans Pro" panose="020B0503030403020204" pitchFamily="34" charset="0"/>
                <a:ea typeface="Source Sans Pro" panose="020B0503030403020204" pitchFamily="34" charset="0"/>
              </a:rPr>
              <a:t>__():</a:t>
            </a:r>
            <a:r>
              <a:rPr kumimoji="1" lang="zh-CN" altLang="en-US" sz="1400" dirty="0">
                <a:solidFill>
                  <a:schemeClr val="bg2"/>
                </a:solidFill>
                <a:latin typeface="Source Sans Pro" panose="020B0503030403020204" pitchFamily="34" charset="0"/>
                <a:ea typeface="黑体" panose="02010609060101010101" pitchFamily="49" charset="-122"/>
              </a:rPr>
              <a:t> </a:t>
            </a:r>
            <a:r>
              <a:rPr kumimoji="1" lang="zh-CN" altLang="en-US" sz="1400" dirty="0">
                <a:solidFill>
                  <a:schemeClr val="tx1"/>
                </a:solidFill>
                <a:latin typeface="Source Sans Pro" panose="020B0503030403020204" pitchFamily="34" charset="0"/>
                <a:ea typeface="黑体" panose="02010609060101010101" pitchFamily="49" charset="-122"/>
              </a:rPr>
              <a:t>定义对象时， 自动运行</a:t>
            </a:r>
            <a:endParaRPr kumimoji="1" lang="en-US" altLang="zh-CN" sz="1400" dirty="0">
              <a:solidFill>
                <a:schemeClr val="tx1"/>
              </a:solidFill>
              <a:latin typeface="Source Sans Pro" panose="020B0503030403020204" pitchFamily="34" charset="0"/>
              <a:ea typeface="Source Sans Pro" panose="020B0503030403020204" pitchFamily="34" charset="0"/>
            </a:endParaRPr>
          </a:p>
          <a:p>
            <a:r>
              <a:rPr kumimoji="1" lang="en-US" altLang="zh-CN" sz="1400" dirty="0">
                <a:solidFill>
                  <a:schemeClr val="bg2"/>
                </a:solidFill>
                <a:latin typeface="Source Sans Pro" panose="020B0503030403020204" pitchFamily="34" charset="0"/>
                <a:ea typeface="Source Sans Pro" panose="020B0503030403020204" pitchFamily="34" charset="0"/>
              </a:rPr>
              <a:t>self: </a:t>
            </a:r>
            <a:r>
              <a:rPr kumimoji="1" lang="zh-CN" altLang="en-US" sz="1400" dirty="0">
                <a:solidFill>
                  <a:schemeClr val="tx1"/>
                </a:solidFill>
                <a:latin typeface="Source Sans Pro" panose="020B0503030403020204" pitchFamily="34" charset="0"/>
                <a:ea typeface="黑体" panose="02010609060101010101" pitchFamily="49" charset="-122"/>
              </a:rPr>
              <a:t>类内部用来保存额外的信息，区分不同对象</a:t>
            </a:r>
            <a:endParaRPr kumimoji="1" lang="en-US" altLang="zh-CN" sz="1400" dirty="0">
              <a:solidFill>
                <a:schemeClr val="tx1"/>
              </a:solidFill>
              <a:latin typeface="Source Sans Pro" panose="020B0503030403020204" pitchFamily="34" charset="0"/>
              <a:ea typeface="Source Sans Pro" panose="020B0503030403020204" pitchFamily="34" charset="0"/>
            </a:endParaRPr>
          </a:p>
          <a:p>
            <a:pPr lvl="1"/>
            <a:r>
              <a:rPr kumimoji="1" lang="en-US" altLang="zh-CN" sz="1200" dirty="0">
                <a:solidFill>
                  <a:schemeClr val="bg2"/>
                </a:solidFill>
                <a:latin typeface="Source Sans Pro" panose="020B0503030403020204" pitchFamily="34" charset="0"/>
                <a:ea typeface="Source Sans Pro" panose="020B0503030403020204" pitchFamily="34" charset="0"/>
              </a:rPr>
              <a:t>Line 26, self = </a:t>
            </a:r>
            <a:r>
              <a:rPr kumimoji="1" lang="en-US" altLang="zh-CN" sz="1200" dirty="0" err="1">
                <a:solidFill>
                  <a:schemeClr val="bg2"/>
                </a:solidFill>
                <a:latin typeface="Source Sans Pro" panose="020B0503030403020204" pitchFamily="34" charset="0"/>
                <a:ea typeface="Source Sans Pro" panose="020B0503030403020204" pitchFamily="34" charset="0"/>
              </a:rPr>
              <a:t>black_dog</a:t>
            </a:r>
            <a:r>
              <a:rPr kumimoji="1" lang="en-US" altLang="zh-CN" sz="1200" dirty="0">
                <a:solidFill>
                  <a:schemeClr val="bg2"/>
                </a:solidFill>
                <a:latin typeface="Source Sans Pro" panose="020B0503030403020204" pitchFamily="34" charset="0"/>
                <a:ea typeface="Source Sans Pro" panose="020B0503030403020204" pitchFamily="34" charset="0"/>
              </a:rPr>
              <a:t>, </a:t>
            </a:r>
            <a:r>
              <a:rPr kumimoji="1" lang="zh-CN" altLang="en-US" sz="1200" dirty="0">
                <a:solidFill>
                  <a:schemeClr val="bg2"/>
                </a:solidFill>
                <a:latin typeface="Source Sans Pro" panose="020B0503030403020204" pitchFamily="34" charset="0"/>
                <a:ea typeface="黑体" panose="02010609060101010101" pitchFamily="49" charset="-122"/>
              </a:rPr>
              <a:t>自动运行 </a:t>
            </a:r>
            <a:r>
              <a:rPr kumimoji="1" lang="en-US" altLang="zh-CN" sz="1200" dirty="0">
                <a:solidFill>
                  <a:schemeClr val="bg2"/>
                </a:solidFill>
                <a:latin typeface="Source Sans Pro" panose="020B0503030403020204" pitchFamily="34" charset="0"/>
                <a:ea typeface="Source Sans Pro" panose="020B0503030403020204" pitchFamily="34" charset="0"/>
              </a:rPr>
              <a:t>__</a:t>
            </a:r>
            <a:r>
              <a:rPr kumimoji="1" lang="en-US" altLang="zh-CN" sz="1200" dirty="0" err="1">
                <a:solidFill>
                  <a:schemeClr val="bg2"/>
                </a:solidFill>
                <a:latin typeface="Source Sans Pro" panose="020B0503030403020204" pitchFamily="34" charset="0"/>
                <a:ea typeface="Source Sans Pro" panose="020B0503030403020204" pitchFamily="34" charset="0"/>
              </a:rPr>
              <a:t>init</a:t>
            </a:r>
            <a:r>
              <a:rPr kumimoji="1" lang="en-US" altLang="zh-CN" sz="1200" dirty="0">
                <a:solidFill>
                  <a:schemeClr val="bg2"/>
                </a:solidFill>
                <a:latin typeface="Source Sans Pro" panose="020B0503030403020204" pitchFamily="34" charset="0"/>
                <a:ea typeface="Source Sans Pro" panose="020B0503030403020204" pitchFamily="34" charset="0"/>
              </a:rPr>
              <a:t>__()</a:t>
            </a:r>
            <a:endParaRPr kumimoji="1" lang="en-US" altLang="zh-CN" sz="1200" dirty="0">
              <a:solidFill>
                <a:schemeClr val="bg2"/>
              </a:solidFill>
              <a:latin typeface="Source Sans Pro" panose="020B0503030403020204" pitchFamily="34" charset="0"/>
              <a:ea typeface="Source Sans Pro" panose="020B0503030403020204" pitchFamily="34" charset="0"/>
            </a:endParaRPr>
          </a:p>
          <a:p>
            <a:pPr lvl="1"/>
            <a:r>
              <a:rPr kumimoji="1" lang="en-US" altLang="zh-CN" sz="1200" dirty="0">
                <a:solidFill>
                  <a:schemeClr val="bg2"/>
                </a:solidFill>
                <a:latin typeface="Source Sans Pro" panose="020B0503030403020204" pitchFamily="34" charset="0"/>
                <a:ea typeface="Source Sans Pro" panose="020B0503030403020204" pitchFamily="34" charset="0"/>
              </a:rPr>
              <a:t>Line 27, self = </a:t>
            </a:r>
            <a:r>
              <a:rPr kumimoji="1" lang="en-US" altLang="zh-CN" sz="1200" dirty="0" err="1">
                <a:solidFill>
                  <a:schemeClr val="bg2"/>
                </a:solidFill>
                <a:latin typeface="Source Sans Pro" panose="020B0503030403020204" pitchFamily="34" charset="0"/>
                <a:ea typeface="Source Sans Pro" panose="020B0503030403020204" pitchFamily="34" charset="0"/>
              </a:rPr>
              <a:t>white_dog</a:t>
            </a:r>
            <a:r>
              <a:rPr kumimoji="1" lang="en-US" altLang="zh-CN" sz="1200" dirty="0">
                <a:solidFill>
                  <a:schemeClr val="bg2"/>
                </a:solidFill>
                <a:latin typeface="Source Sans Pro" panose="020B0503030403020204" pitchFamily="34" charset="0"/>
                <a:ea typeface="Source Sans Pro" panose="020B0503030403020204" pitchFamily="34" charset="0"/>
              </a:rPr>
              <a:t>, </a:t>
            </a:r>
            <a:r>
              <a:rPr kumimoji="1" lang="zh-CN" altLang="en-US" sz="1200" dirty="0">
                <a:solidFill>
                  <a:schemeClr val="bg2"/>
                </a:solidFill>
                <a:latin typeface="Source Sans Pro" panose="020B0503030403020204" pitchFamily="34" charset="0"/>
                <a:ea typeface="黑体" panose="02010609060101010101" pitchFamily="49" charset="-122"/>
              </a:rPr>
              <a:t>自动运行 </a:t>
            </a:r>
            <a:r>
              <a:rPr kumimoji="1" lang="en-US" altLang="zh-CN" sz="1200" dirty="0">
                <a:solidFill>
                  <a:schemeClr val="bg2"/>
                </a:solidFill>
                <a:latin typeface="Source Sans Pro" panose="020B0503030403020204" pitchFamily="34" charset="0"/>
                <a:ea typeface="Source Sans Pro" panose="020B0503030403020204" pitchFamily="34" charset="0"/>
              </a:rPr>
              <a:t>__</a:t>
            </a:r>
            <a:r>
              <a:rPr kumimoji="1" lang="en-US" altLang="zh-CN" sz="1200" dirty="0" err="1">
                <a:solidFill>
                  <a:schemeClr val="bg2"/>
                </a:solidFill>
                <a:latin typeface="Source Sans Pro" panose="020B0503030403020204" pitchFamily="34" charset="0"/>
                <a:ea typeface="Source Sans Pro" panose="020B0503030403020204" pitchFamily="34" charset="0"/>
              </a:rPr>
              <a:t>init</a:t>
            </a:r>
            <a:r>
              <a:rPr kumimoji="1" lang="en-US" altLang="zh-CN" sz="1200" dirty="0">
                <a:solidFill>
                  <a:schemeClr val="bg2"/>
                </a:solidFill>
                <a:latin typeface="Source Sans Pro" panose="020B0503030403020204" pitchFamily="34" charset="0"/>
                <a:ea typeface="Source Sans Pro" panose="020B0503030403020204" pitchFamily="34" charset="0"/>
              </a:rPr>
              <a:t>__()</a:t>
            </a:r>
            <a:endParaRPr kumimoji="1" lang="en-US" altLang="zh-CN" sz="1200" dirty="0">
              <a:solidFill>
                <a:schemeClr val="bg2"/>
              </a:solidFill>
              <a:latin typeface="Source Sans Pro" panose="020B0503030403020204" pitchFamily="34" charset="0"/>
              <a:ea typeface="Source Sans Pro" panose="020B0503030403020204" pitchFamily="34" charset="0"/>
            </a:endParaRPr>
          </a:p>
          <a:p>
            <a:pPr lvl="1"/>
            <a:r>
              <a:rPr kumimoji="1" lang="en-US" altLang="zh-CN" sz="1200" dirty="0">
                <a:solidFill>
                  <a:schemeClr val="bg2"/>
                </a:solidFill>
                <a:latin typeface="Source Sans Pro" panose="020B0503030403020204" pitchFamily="34" charset="0"/>
                <a:ea typeface="Source Sans Pro" panose="020B0503030403020204" pitchFamily="34" charset="0"/>
              </a:rPr>
              <a:t>Line 29, Line 30, </a:t>
            </a:r>
            <a:r>
              <a:rPr kumimoji="1" lang="zh-CN" altLang="en-US" sz="1200" dirty="0">
                <a:solidFill>
                  <a:schemeClr val="bg2"/>
                </a:solidFill>
                <a:latin typeface="Source Sans Pro" panose="020B0503030403020204" pitchFamily="34" charset="0"/>
                <a:ea typeface="黑体" panose="02010609060101010101" pitchFamily="49" charset="-122"/>
              </a:rPr>
              <a:t>运行时可以正常区分开 </a:t>
            </a:r>
            <a:r>
              <a:rPr kumimoji="1" lang="en-US" altLang="zh-CN" sz="1200" dirty="0" err="1">
                <a:solidFill>
                  <a:schemeClr val="bg2"/>
                </a:solidFill>
                <a:latin typeface="Source Sans Pro" panose="020B0503030403020204" pitchFamily="34" charset="0"/>
                <a:ea typeface="Source Sans Pro" panose="020B0503030403020204" pitchFamily="34" charset="0"/>
              </a:rPr>
              <a:t>white_dog</a:t>
            </a:r>
            <a:r>
              <a:rPr kumimoji="1" lang="en-US" altLang="zh-CN" sz="1200" dirty="0">
                <a:solidFill>
                  <a:schemeClr val="bg2"/>
                </a:solidFill>
                <a:latin typeface="Source Sans Pro" panose="020B0503030403020204" pitchFamily="34" charset="0"/>
                <a:ea typeface="Source Sans Pro" panose="020B0503030403020204" pitchFamily="34" charset="0"/>
              </a:rPr>
              <a:t> </a:t>
            </a:r>
            <a:r>
              <a:rPr kumimoji="1" lang="zh-CN" altLang="en-US" sz="1200" dirty="0">
                <a:solidFill>
                  <a:schemeClr val="bg2"/>
                </a:solidFill>
                <a:latin typeface="Source Sans Pro" panose="020B0503030403020204" pitchFamily="34" charset="0"/>
                <a:ea typeface="黑体" panose="02010609060101010101" pitchFamily="49" charset="-122"/>
              </a:rPr>
              <a:t>和 </a:t>
            </a:r>
            <a:r>
              <a:rPr kumimoji="1" lang="en-US" altLang="zh-CN" sz="1200" dirty="0" err="1">
                <a:solidFill>
                  <a:schemeClr val="bg2"/>
                </a:solidFill>
                <a:latin typeface="Source Sans Pro" panose="020B0503030403020204" pitchFamily="34" charset="0"/>
                <a:ea typeface="Source Sans Pro" panose="020B0503030403020204" pitchFamily="34" charset="0"/>
              </a:rPr>
              <a:t>black_dog</a:t>
            </a:r>
            <a:endParaRPr kumimoji="1" lang="en-US" altLang="zh-CN" sz="1200" dirty="0">
              <a:solidFill>
                <a:schemeClr val="bg2"/>
              </a:solidFill>
              <a:latin typeface="Source Sans Pro" panose="020B0503030403020204" pitchFamily="34" charset="0"/>
              <a:ea typeface="Source Sans Pro" panose="020B0503030403020204" pitchFamily="34" charset="0"/>
            </a:endParaRPr>
          </a:p>
          <a:p>
            <a:pPr lvl="2">
              <a:buSzPct val="77000"/>
            </a:pPr>
            <a:r>
              <a:rPr kumimoji="1" lang="en-US" altLang="zh-CN" sz="1200" dirty="0" err="1">
                <a:solidFill>
                  <a:schemeClr val="bg2"/>
                </a:solidFill>
                <a:latin typeface="Source Sans Pro" panose="020B0503030403020204" pitchFamily="34" charset="0"/>
                <a:ea typeface="Source Sans Pro" panose="020B0503030403020204" pitchFamily="34" charset="0"/>
              </a:rPr>
              <a:t>black_dog.color</a:t>
            </a:r>
            <a:endParaRPr kumimoji="1" lang="en-US" altLang="zh-CN" sz="1200" dirty="0">
              <a:solidFill>
                <a:schemeClr val="bg2"/>
              </a:solidFill>
              <a:latin typeface="Source Sans Pro" panose="020B0503030403020204" pitchFamily="34" charset="0"/>
              <a:ea typeface="Source Sans Pro" panose="020B0503030403020204" pitchFamily="34" charset="0"/>
            </a:endParaRPr>
          </a:p>
          <a:p>
            <a:pPr lvl="2">
              <a:buSzPct val="77000"/>
            </a:pPr>
            <a:r>
              <a:rPr kumimoji="1" lang="en-US" altLang="zh-CN" sz="1200" dirty="0" err="1">
                <a:solidFill>
                  <a:schemeClr val="bg2"/>
                </a:solidFill>
                <a:latin typeface="Source Sans Pro" panose="020B0503030403020204" pitchFamily="34" charset="0"/>
                <a:ea typeface="Source Sans Pro" panose="020B0503030403020204" pitchFamily="34" charset="0"/>
              </a:rPr>
              <a:t>white_dog.color</a:t>
            </a:r>
            <a:endParaRPr kumimoji="1" lang="en-GB" altLang="zh-CN" sz="1200" dirty="0">
              <a:solidFill>
                <a:schemeClr val="bg2"/>
              </a:solidFill>
              <a:latin typeface="Source Sans Pro" panose="020B0503030403020204" pitchFamily="34" charset="0"/>
              <a:ea typeface="Source Sans Pro" panose="020B0503030403020204" pitchFamily="34" charset="0"/>
            </a:endParaRPr>
          </a:p>
        </p:txBody>
      </p:sp>
      <p:sp>
        <p:nvSpPr>
          <p:cNvPr id="4" name="Rectangle 1"/>
          <p:cNvSpPr/>
          <p:nvPr/>
        </p:nvSpPr>
        <p:spPr>
          <a:xfrm>
            <a:off x="5563402" y="4295842"/>
            <a:ext cx="3268898" cy="677681"/>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tx1"/>
              </a:buClr>
            </a:pPr>
            <a:r>
              <a:rPr lang="zh-CN" altLang="en-US" sz="1200" dirty="0">
                <a:solidFill>
                  <a:schemeClr val="tx1"/>
                </a:solidFill>
                <a:latin typeface="Source Sans Pro" panose="020B0503030403020204" pitchFamily="34" charset="0"/>
                <a:ea typeface="黑体" panose="02010609060101010101" pitchFamily="49" charset="-122"/>
              </a:rPr>
              <a:t>权衡：引入一个新的机制往往也带来新的问题</a:t>
            </a:r>
            <a:endParaRPr lang="en-US" altLang="zh-CN" sz="1200" dirty="0">
              <a:solidFill>
                <a:schemeClr val="tx1"/>
              </a:solidFill>
              <a:latin typeface="Source Sans Pro" panose="020B0503030403020204" pitchFamily="34" charset="0"/>
              <a:ea typeface="Source Sans Pro" panose="020B0503030403020204" pitchFamily="34" charset="0"/>
            </a:endParaRPr>
          </a:p>
          <a:p>
            <a:pPr marL="228600" indent="-228600">
              <a:buClr>
                <a:schemeClr val="tx1"/>
              </a:buClr>
              <a:buFont typeface="+mj-lt"/>
              <a:buAutoNum type="arabicPeriod"/>
            </a:pPr>
            <a:r>
              <a:rPr lang="zh-CN" altLang="en-US" sz="1200" dirty="0">
                <a:solidFill>
                  <a:schemeClr val="tx1"/>
                </a:solidFill>
                <a:latin typeface="Source Sans Pro" panose="020B0503030403020204" pitchFamily="34" charset="0"/>
                <a:ea typeface="黑体" panose="02010609060101010101" pitchFamily="49" charset="-122"/>
              </a:rPr>
              <a:t>构造函数</a:t>
            </a:r>
            <a:r>
              <a:rPr lang="en-US" altLang="zh-CN" sz="1200" dirty="0">
                <a:solidFill>
                  <a:schemeClr val="tx1"/>
                </a:solidFill>
                <a:latin typeface="Source Sans Pro" panose="020B0503030403020204" pitchFamily="34" charset="0"/>
                <a:ea typeface="Source Sans Pro" panose="020B0503030403020204" pitchFamily="34" charset="0"/>
              </a:rPr>
              <a:t>__</a:t>
            </a:r>
            <a:r>
              <a:rPr lang="en-US" altLang="zh-CN" sz="1200" dirty="0" err="1">
                <a:solidFill>
                  <a:schemeClr val="tx1"/>
                </a:solidFill>
                <a:latin typeface="Source Sans Pro" panose="020B0503030403020204" pitchFamily="34" charset="0"/>
                <a:ea typeface="Source Sans Pro" panose="020B0503030403020204" pitchFamily="34" charset="0"/>
              </a:rPr>
              <a:t>init</a:t>
            </a:r>
            <a:r>
              <a:rPr lang="en-US" altLang="zh-CN" sz="1200" dirty="0">
                <a:solidFill>
                  <a:schemeClr val="tx1"/>
                </a:solidFill>
                <a:latin typeface="Source Sans Pro" panose="020B0503030403020204" pitchFamily="34" charset="0"/>
                <a:ea typeface="Source Sans Pro" panose="020B0503030403020204" pitchFamily="34" charset="0"/>
              </a:rPr>
              <a:t>__(): </a:t>
            </a:r>
            <a:r>
              <a:rPr lang="zh-CN" altLang="en-US" sz="1200" dirty="0">
                <a:solidFill>
                  <a:schemeClr val="tx1"/>
                </a:solidFill>
                <a:latin typeface="Source Sans Pro" panose="020B0503030403020204" pitchFamily="34" charset="0"/>
                <a:ea typeface="黑体" panose="02010609060101010101" pitchFamily="49" charset="-122"/>
              </a:rPr>
              <a:t>保证统一性</a:t>
            </a:r>
            <a:endParaRPr lang="zh-CN" altLang="en-US" sz="1200" dirty="0">
              <a:solidFill>
                <a:schemeClr val="tx1"/>
              </a:solidFill>
              <a:latin typeface="Source Sans Pro" panose="020B0503030403020204" pitchFamily="34" charset="0"/>
              <a:ea typeface="黑体" panose="02010609060101010101" pitchFamily="49" charset="-122"/>
            </a:endParaRPr>
          </a:p>
          <a:p>
            <a:pPr marL="228600" indent="-228600">
              <a:buClr>
                <a:schemeClr val="tx1"/>
              </a:buClr>
              <a:buFont typeface="+mj-lt"/>
              <a:buAutoNum type="arabicPeriod"/>
            </a:pPr>
            <a:r>
              <a:rPr lang="en-US" altLang="zh-CN" sz="1200" dirty="0">
                <a:solidFill>
                  <a:schemeClr val="tx1"/>
                </a:solidFill>
                <a:latin typeface="Source Sans Pro" panose="020B0503030403020204" pitchFamily="34" charset="0"/>
                <a:ea typeface="Source Sans Pro" panose="020B0503030403020204" pitchFamily="34" charset="0"/>
              </a:rPr>
              <a:t>self</a:t>
            </a:r>
            <a:r>
              <a:rPr lang="zh-CN" altLang="en-US" sz="1200" dirty="0">
                <a:solidFill>
                  <a:schemeClr val="tx1"/>
                </a:solidFill>
                <a:latin typeface="Source Sans Pro" panose="020B0503030403020204" pitchFamily="34" charset="0"/>
                <a:ea typeface="黑体" panose="02010609060101010101" pitchFamily="49" charset="-122"/>
              </a:rPr>
              <a:t>，用来区分不同对象</a:t>
            </a:r>
            <a:endParaRPr lang="zh-CN" altLang="en-US" sz="1200" dirty="0">
              <a:solidFill>
                <a:schemeClr val="tx1"/>
              </a:solidFill>
              <a:latin typeface="Source Sans Pro" panose="020B0503030403020204" pitchFamily="34" charset="0"/>
              <a:ea typeface="黑体" panose="02010609060101010101" pitchFamily="49" charset="-122"/>
            </a:endParaRPr>
          </a:p>
        </p:txBody>
      </p:sp>
      <p:pic>
        <p:nvPicPr>
          <p:cNvPr id="12" name="图片 11" descr="文本&#10;&#10;描述已自动生成"/>
          <p:cNvPicPr>
            <a:picLocks noChangeAspect="1"/>
          </p:cNvPicPr>
          <p:nvPr/>
        </p:nvPicPr>
        <p:blipFill>
          <a:blip r:embed="rId1"/>
          <a:stretch>
            <a:fillRect/>
          </a:stretch>
        </p:blipFill>
        <p:spPr>
          <a:xfrm>
            <a:off x="5607486" y="1571506"/>
            <a:ext cx="3224814" cy="1786261"/>
          </a:xfrm>
          <a:prstGeom prst="rect">
            <a:avLst/>
          </a:prstGeom>
        </p:spPr>
      </p:pic>
      <p:pic>
        <p:nvPicPr>
          <p:cNvPr id="14" name="图片 13"/>
          <p:cNvPicPr>
            <a:picLocks noChangeAspect="1"/>
          </p:cNvPicPr>
          <p:nvPr/>
        </p:nvPicPr>
        <p:blipFill>
          <a:blip r:embed="rId2"/>
          <a:stretch>
            <a:fillRect/>
          </a:stretch>
        </p:blipFill>
        <p:spPr>
          <a:xfrm>
            <a:off x="5607486" y="3441817"/>
            <a:ext cx="1245701" cy="26600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a:t>Class design: __</a:t>
            </a:r>
            <a:r>
              <a:rPr kumimoji="1" lang="en-GB" altLang="zh-CN" dirty="0" err="1"/>
              <a:t>init</a:t>
            </a:r>
            <a:r>
              <a:rPr kumimoji="1" lang="en-GB" altLang="zh-CN" dirty="0"/>
              <a:t>__(self) </a:t>
            </a:r>
            <a:r>
              <a:rPr kumimoji="1" lang="zh-CN" altLang="en-US" dirty="0"/>
              <a:t>构造函数</a:t>
            </a:r>
            <a:endParaRPr kumimoji="1" lang="zh-CN" altLang="en-US" dirty="0"/>
          </a:p>
        </p:txBody>
      </p:sp>
      <p:sp>
        <p:nvSpPr>
          <p:cNvPr id="3" name="文本占位符 2"/>
          <p:cNvSpPr>
            <a:spLocks noGrp="1"/>
          </p:cNvSpPr>
          <p:nvPr>
            <p:ph type="body" idx="1"/>
          </p:nvPr>
        </p:nvSpPr>
        <p:spPr>
          <a:xfrm>
            <a:off x="311700" y="1152475"/>
            <a:ext cx="8461727" cy="1878546"/>
          </a:xfrm>
        </p:spPr>
        <p:txBody>
          <a:bodyPr>
            <a:noAutofit/>
          </a:bodyPr>
          <a:lstStyle/>
          <a:p>
            <a:r>
              <a:rPr kumimoji="1" lang="en-GB" altLang="zh-CN" sz="1400" dirty="0">
                <a:solidFill>
                  <a:schemeClr val="bg2"/>
                </a:solidFill>
              </a:rPr>
              <a:t>def __init__(self): “__init__(self)” is a reserved method in python classes. </a:t>
            </a:r>
            <a:endParaRPr kumimoji="1" lang="en-GB" altLang="zh-CN" sz="1400" dirty="0">
              <a:solidFill>
                <a:schemeClr val="bg2"/>
              </a:solidFill>
            </a:endParaRPr>
          </a:p>
          <a:p>
            <a:r>
              <a:rPr kumimoji="1" lang="en-GB" altLang="zh-CN" sz="1400" dirty="0">
                <a:solidFill>
                  <a:schemeClr val="bg2"/>
                </a:solidFill>
              </a:rPr>
              <a:t>All classes contain a __init__()</a:t>
            </a:r>
            <a:endParaRPr kumimoji="1" lang="en-GB" altLang="zh-CN" sz="1400" dirty="0">
              <a:solidFill>
                <a:schemeClr val="bg2"/>
              </a:solidFill>
            </a:endParaRPr>
          </a:p>
          <a:p>
            <a:r>
              <a:rPr kumimoji="1" lang="en-GB" altLang="zh-CN" sz="1400" dirty="0">
                <a:solidFill>
                  <a:schemeClr val="bg2"/>
                </a:solidFill>
              </a:rPr>
              <a:t>This method is called </a:t>
            </a:r>
            <a:r>
              <a:rPr kumimoji="1" lang="en-GB" altLang="zh-CN" sz="1400" dirty="0">
                <a:solidFill>
                  <a:schemeClr val="tx1"/>
                </a:solidFill>
              </a:rPr>
              <a:t>automatically (</a:t>
            </a:r>
            <a:r>
              <a:rPr kumimoji="1" lang="zh-CN" altLang="en-US" sz="1400" dirty="0">
                <a:solidFill>
                  <a:schemeClr val="tx1"/>
                </a:solidFill>
                <a:latin typeface="黑体" panose="02010609060101010101" pitchFamily="49" charset="-122"/>
                <a:ea typeface="黑体" panose="02010609060101010101" pitchFamily="49" charset="-122"/>
              </a:rPr>
              <a:t>自动运行</a:t>
            </a:r>
            <a:r>
              <a:rPr kumimoji="1" lang="en-GB" altLang="zh-CN" sz="1400" dirty="0">
                <a:solidFill>
                  <a:schemeClr val="tx1"/>
                </a:solidFill>
              </a:rPr>
              <a:t>)</a:t>
            </a:r>
            <a:r>
              <a:rPr kumimoji="1" lang="en-GB" altLang="zh-CN" sz="1400" dirty="0">
                <a:solidFill>
                  <a:schemeClr val="bg2"/>
                </a:solidFill>
              </a:rPr>
              <a:t> when an object is </a:t>
            </a:r>
            <a:r>
              <a:rPr kumimoji="1" lang="en-GB" altLang="zh-CN" sz="1400" dirty="0">
                <a:solidFill>
                  <a:schemeClr val="tx1"/>
                </a:solidFill>
              </a:rPr>
              <a:t>created</a:t>
            </a:r>
            <a:r>
              <a:rPr kumimoji="1" lang="en-GB" altLang="zh-CN" sz="1400" dirty="0">
                <a:solidFill>
                  <a:schemeClr val="bg2"/>
                </a:solidFill>
              </a:rPr>
              <a:t> from the class and it allow the class to </a:t>
            </a:r>
            <a:r>
              <a:rPr kumimoji="1" lang="en-GB" altLang="zh-CN" sz="1400" dirty="0">
                <a:solidFill>
                  <a:schemeClr val="tx1"/>
                </a:solidFill>
              </a:rPr>
              <a:t>initialize</a:t>
            </a:r>
            <a:r>
              <a:rPr kumimoji="1" lang="en-GB" altLang="zh-CN" sz="1400" dirty="0">
                <a:solidFill>
                  <a:schemeClr val="bg2"/>
                </a:solidFill>
              </a:rPr>
              <a:t> the attributes of a class</a:t>
            </a:r>
            <a:endParaRPr kumimoji="1" lang="en-GB" altLang="zh-CN" sz="1400" dirty="0">
              <a:solidFill>
                <a:schemeClr val="bg2"/>
              </a:solidFill>
            </a:endParaRPr>
          </a:p>
          <a:p>
            <a:r>
              <a:rPr kumimoji="1" lang="en-GB" altLang="zh-CN" sz="1400" dirty="0">
                <a:solidFill>
                  <a:schemeClr val="bg2"/>
                </a:solidFill>
              </a:rPr>
              <a:t>It is known as a </a:t>
            </a:r>
            <a:r>
              <a:rPr kumimoji="1" lang="en-GB" altLang="zh-CN" sz="1400" dirty="0">
                <a:solidFill>
                  <a:schemeClr val="tx1"/>
                </a:solidFill>
              </a:rPr>
              <a:t>constructor </a:t>
            </a:r>
            <a:r>
              <a:rPr kumimoji="1" lang="en-GB" altLang="zh-CN" sz="1400" dirty="0">
                <a:solidFill>
                  <a:schemeClr val="tx1"/>
                </a:solidFill>
                <a:latin typeface="黑体" panose="02010609060101010101" pitchFamily="49" charset="-122"/>
                <a:ea typeface="黑体" panose="02010609060101010101" pitchFamily="49" charset="-122"/>
              </a:rPr>
              <a:t>(</a:t>
            </a:r>
            <a:r>
              <a:rPr kumimoji="1" lang="zh-CN" altLang="en-US" sz="1400" dirty="0">
                <a:solidFill>
                  <a:schemeClr val="tx1"/>
                </a:solidFill>
                <a:latin typeface="黑体" panose="02010609060101010101" pitchFamily="49" charset="-122"/>
                <a:ea typeface="黑体" panose="02010609060101010101" pitchFamily="49" charset="-122"/>
              </a:rPr>
              <a:t>构造函数</a:t>
            </a:r>
            <a:r>
              <a:rPr kumimoji="1" lang="en-US" altLang="zh-CN" sz="1400" dirty="0">
                <a:solidFill>
                  <a:schemeClr val="tx1"/>
                </a:solidFill>
                <a:latin typeface="黑体" panose="02010609060101010101" pitchFamily="49" charset="-122"/>
                <a:ea typeface="黑体" panose="02010609060101010101" pitchFamily="49" charset="-122"/>
              </a:rPr>
              <a:t>) </a:t>
            </a:r>
            <a:r>
              <a:rPr kumimoji="1" lang="en-GB" altLang="zh-CN" sz="1400" dirty="0">
                <a:solidFill>
                  <a:schemeClr val="bg2"/>
                </a:solidFill>
              </a:rPr>
              <a:t>in object oriented concepts.</a:t>
            </a:r>
            <a:endParaRPr kumimoji="1" lang="en-GB" altLang="zh-CN" sz="1400" dirty="0">
              <a:solidFill>
                <a:schemeClr val="bg2"/>
              </a:solidFill>
            </a:endParaRPr>
          </a:p>
          <a:p>
            <a:r>
              <a:rPr kumimoji="1" lang="en-GB" altLang="zh-CN" sz="1400" dirty="0">
                <a:solidFill>
                  <a:schemeClr val="bg2"/>
                </a:solidFill>
              </a:rPr>
              <a:t>Use the __init__() function to assign values to object properties, or other operations that are necessary to do when the object is being created</a:t>
            </a:r>
            <a:endParaRPr kumimoji="1" lang="en-GB" altLang="zh-CN" sz="1400" dirty="0">
              <a:solidFill>
                <a:schemeClr val="bg2"/>
              </a:solidFill>
            </a:endParaRPr>
          </a:p>
        </p:txBody>
      </p:sp>
      <p:graphicFrame>
        <p:nvGraphicFramePr>
          <p:cNvPr id="4" name="表格 8"/>
          <p:cNvGraphicFramePr>
            <a:graphicFrameLocks noGrp="1"/>
          </p:cNvGraphicFramePr>
          <p:nvPr/>
        </p:nvGraphicFramePr>
        <p:xfrm>
          <a:off x="805304" y="3051752"/>
          <a:ext cx="2669416" cy="1878546"/>
        </p:xfrm>
        <a:graphic>
          <a:graphicData uri="http://schemas.openxmlformats.org/drawingml/2006/table">
            <a:tbl>
              <a:tblPr firstRow="1" bandRow="1"/>
              <a:tblGrid>
                <a:gridCol w="2669416"/>
              </a:tblGrid>
              <a:tr h="313091">
                <a:tc>
                  <a:txBody>
                    <a:bodyPr/>
                    <a:lstStyle>
                      <a:lvl1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1pPr>
                      <a:lvl2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2pPr>
                      <a:lvl3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3pPr>
                      <a:lvl4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4pPr>
                      <a:lvl5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5pPr>
                      <a:lvl6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6pPr>
                      <a:lvl7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7pPr>
                      <a:lvl8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8pPr>
                      <a:lvl9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9pPr>
                    </a:lstStyle>
                    <a:p>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r>
              <a:tr h="313091">
                <a:tc>
                  <a:txBody>
                    <a:bodyPr/>
                    <a:lstStyle>
                      <a:lvl1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1pPr>
                      <a:lvl2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2pPr>
                      <a:lvl3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3pPr>
                      <a:lvl4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4pPr>
                      <a:lvl5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5pPr>
                      <a:lvl6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6pPr>
                      <a:lvl7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7pPr>
                      <a:lvl8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8pPr>
                      <a:lvl9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9pPr>
                    </a:lstStyle>
                    <a:p>
                      <a:r>
                        <a:rPr lang="en-US" altLang="zh-CN" dirty="0"/>
                        <a:t>class </a:t>
                      </a:r>
                      <a:r>
                        <a:rPr lang="en-US" altLang="zh-CN" dirty="0" err="1"/>
                        <a:t>ClassName</a:t>
                      </a:r>
                      <a:r>
                        <a:rPr lang="en-US" altLang="zh-CN" dirty="0"/>
                        <a:t> </a:t>
                      </a:r>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r>
              <a:tr h="313091">
                <a:tc>
                  <a:txBody>
                    <a:bodyPr/>
                    <a:lstStyle>
                      <a:lvl1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1pPr>
                      <a:lvl2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2pPr>
                      <a:lvl3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3pPr>
                      <a:lvl4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4pPr>
                      <a:lvl5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5pPr>
                      <a:lvl6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6pPr>
                      <a:lvl7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7pPr>
                      <a:lvl8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8pPr>
                      <a:lvl9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9pPr>
                    </a:lstStyle>
                    <a:p>
                      <a:r>
                        <a:rPr lang="en-US" altLang="zh-CN" dirty="0"/>
                        <a:t>    __</a:t>
                      </a:r>
                      <a:r>
                        <a:rPr lang="en-US" altLang="zh-CN" dirty="0" err="1"/>
                        <a:t>init</a:t>
                      </a:r>
                      <a:r>
                        <a:rPr lang="en-US" altLang="zh-CN" dirty="0"/>
                        <a:t>__(self, parameters)</a:t>
                      </a:r>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r>
              <a:tr h="313091">
                <a:tc>
                  <a:txBody>
                    <a:bodyPr/>
                    <a:lstStyle>
                      <a:lvl1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1pPr>
                      <a:lvl2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2pPr>
                      <a:lvl3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3pPr>
                      <a:lvl4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4pPr>
                      <a:lvl5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5pPr>
                      <a:lvl6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6pPr>
                      <a:lvl7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7pPr>
                      <a:lvl8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8pPr>
                      <a:lvl9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9pPr>
                    </a:lstStyle>
                    <a:p>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r>
              <a:tr h="313091">
                <a:tc>
                  <a:txBody>
                    <a:bodyPr/>
                    <a:lstStyle>
                      <a:lvl1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1pPr>
                      <a:lvl2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2pPr>
                      <a:lvl3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3pPr>
                      <a:lvl4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4pPr>
                      <a:lvl5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5pPr>
                      <a:lvl6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6pPr>
                      <a:lvl7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7pPr>
                      <a:lvl8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8pPr>
                      <a:lvl9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9pPr>
                    </a:lstStyle>
                    <a:p>
                      <a:endParaRPr lang="en-US" altLang="zh-CN"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r>
              <a:tr h="313091">
                <a:tc>
                  <a:txBody>
                    <a:bodyPr/>
                    <a:lstStyle>
                      <a:lvl1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1pPr>
                      <a:lvl2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2pPr>
                      <a:lvl3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3pPr>
                      <a:lvl4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4pPr>
                      <a:lvl5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5pPr>
                      <a:lvl6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6pPr>
                      <a:lvl7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7pPr>
                      <a:lvl8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8pPr>
                      <a:lvl9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9pPr>
                    </a:lstStyle>
                    <a:p>
                      <a:r>
                        <a:rPr lang="en-US" altLang="zh-CN" dirty="0"/>
                        <a:t>……</a:t>
                      </a:r>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r>
            </a:tbl>
          </a:graphicData>
        </a:graphic>
      </p:graphicFrame>
      <p:sp>
        <p:nvSpPr>
          <p:cNvPr id="5" name="Rectangle 1"/>
          <p:cNvSpPr/>
          <p:nvPr/>
        </p:nvSpPr>
        <p:spPr>
          <a:xfrm>
            <a:off x="4308206" y="3850104"/>
            <a:ext cx="4354531" cy="1028425"/>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tx1"/>
              </a:buClr>
            </a:pPr>
            <a:r>
              <a:rPr lang="en-GB" altLang="zh-CN" sz="1200" dirty="0">
                <a:solidFill>
                  <a:schemeClr val="bg2"/>
                </a:solidFill>
                <a:latin typeface="Source Sans Pro" panose="020B0503030403020204" pitchFamily="34" charset="0"/>
                <a:ea typeface="Source Sans Pro" panose="020B0503030403020204" pitchFamily="34" charset="0"/>
              </a:rPr>
              <a:t>__</a:t>
            </a:r>
            <a:r>
              <a:rPr lang="en-GB" altLang="zh-CN" sz="1200" dirty="0" err="1">
                <a:solidFill>
                  <a:schemeClr val="bg2"/>
                </a:solidFill>
                <a:latin typeface="Source Sans Pro" panose="020B0503030403020204" pitchFamily="34" charset="0"/>
                <a:ea typeface="Source Sans Pro" panose="020B0503030403020204" pitchFamily="34" charset="0"/>
              </a:rPr>
              <a:t>init</a:t>
            </a:r>
            <a:r>
              <a:rPr lang="en-GB" altLang="zh-CN" sz="1200" dirty="0">
                <a:solidFill>
                  <a:schemeClr val="bg2"/>
                </a:solidFill>
                <a:latin typeface="Source Sans Pro" panose="020B0503030403020204" pitchFamily="34" charset="0"/>
                <a:ea typeface="Source Sans Pro" panose="020B0503030403020204" pitchFamily="34" charset="0"/>
              </a:rPr>
              <a:t>__(): </a:t>
            </a:r>
            <a:r>
              <a:rPr lang="zh-CN" altLang="en-US" sz="1200" dirty="0">
                <a:solidFill>
                  <a:schemeClr val="bg2"/>
                </a:solidFill>
                <a:latin typeface="黑体" panose="02010609060101010101" pitchFamily="49" charset="-122"/>
                <a:ea typeface="黑体" panose="02010609060101010101" pitchFamily="49" charset="-122"/>
              </a:rPr>
              <a:t>以</a:t>
            </a:r>
            <a:r>
              <a:rPr lang="zh-CN" altLang="en-US" sz="2800" b="1" dirty="0">
                <a:solidFill>
                  <a:srgbClr val="0070C0"/>
                </a:solidFill>
                <a:latin typeface="黑体" panose="02010609060101010101" pitchFamily="49" charset="-122"/>
                <a:ea typeface="黑体" panose="02010609060101010101" pitchFamily="49" charset="-122"/>
              </a:rPr>
              <a:t>两个</a:t>
            </a:r>
            <a:r>
              <a:rPr lang="zh-CN" altLang="en-US" sz="2800" b="1" dirty="0">
                <a:solidFill>
                  <a:schemeClr val="tx1"/>
                </a:solidFill>
                <a:latin typeface="黑体" panose="02010609060101010101" pitchFamily="49" charset="-122"/>
                <a:ea typeface="黑体" panose="02010609060101010101" pitchFamily="49" charset="-122"/>
              </a:rPr>
              <a:t>连续</a:t>
            </a:r>
            <a:r>
              <a:rPr lang="zh-CN" altLang="en-US" sz="2800" b="1" dirty="0">
                <a:solidFill>
                  <a:srgbClr val="00B0F0"/>
                </a:solidFill>
                <a:latin typeface="黑体" panose="02010609060101010101" pitchFamily="49" charset="-122"/>
                <a:ea typeface="黑体" panose="02010609060101010101" pitchFamily="49" charset="-122"/>
              </a:rPr>
              <a:t>下划线</a:t>
            </a:r>
            <a:r>
              <a:rPr lang="zh-CN" altLang="en-US" dirty="0">
                <a:solidFill>
                  <a:schemeClr val="bg2"/>
                </a:solidFill>
                <a:latin typeface="黑体" panose="02010609060101010101" pitchFamily="49" charset="-122"/>
                <a:ea typeface="黑体" panose="02010609060101010101" pitchFamily="49" charset="-122"/>
              </a:rPr>
              <a:t>“</a:t>
            </a:r>
            <a:r>
              <a:rPr lang="en-US" altLang="zh-CN" dirty="0">
                <a:solidFill>
                  <a:schemeClr val="bg2"/>
                </a:solidFill>
                <a:latin typeface="黑体" panose="02010609060101010101" pitchFamily="49" charset="-122"/>
                <a:ea typeface="黑体" panose="02010609060101010101" pitchFamily="49" charset="-122"/>
              </a:rPr>
              <a:t>_ _” </a:t>
            </a:r>
            <a:r>
              <a:rPr lang="zh-CN" altLang="en-US" sz="1200" dirty="0">
                <a:solidFill>
                  <a:schemeClr val="bg2"/>
                </a:solidFill>
                <a:latin typeface="黑体" panose="02010609060101010101" pitchFamily="49" charset="-122"/>
                <a:ea typeface="黑体" panose="02010609060101010101" pitchFamily="49" charset="-122"/>
              </a:rPr>
              <a:t>开始和结束</a:t>
            </a:r>
            <a:endParaRPr lang="zh-CN" altLang="en-US" sz="1200" dirty="0">
              <a:solidFill>
                <a:schemeClr val="bg2"/>
              </a:solidFill>
              <a:latin typeface="黑体" panose="02010609060101010101" pitchFamily="49" charset="-122"/>
              <a:ea typeface="黑体" panose="02010609060101010101" pitchFamily="49" charset="-122"/>
            </a:endParaRPr>
          </a:p>
          <a:p>
            <a:pPr>
              <a:buClr>
                <a:schemeClr val="tx1"/>
              </a:buClr>
            </a:pPr>
            <a:r>
              <a:rPr lang="en-GB" altLang="zh-CN" sz="1200" dirty="0" err="1">
                <a:solidFill>
                  <a:schemeClr val="bg2"/>
                </a:solidFill>
                <a:latin typeface="Source Sans Pro" panose="020B0503030403020204" pitchFamily="34" charset="0"/>
                <a:ea typeface="Source Sans Pro" panose="020B0503030403020204" pitchFamily="34" charset="0"/>
              </a:rPr>
              <a:t>init</a:t>
            </a:r>
            <a:r>
              <a:rPr lang="zh-CN" altLang="en-GB" sz="1200" dirty="0">
                <a:solidFill>
                  <a:schemeClr val="bg2"/>
                </a:solidFill>
                <a:latin typeface="Source Sans Pro" panose="020B0503030403020204" pitchFamily="34" charset="0"/>
                <a:ea typeface="Source Sans Pro" panose="020B0503030403020204" pitchFamily="34" charset="0"/>
              </a:rPr>
              <a:t>：</a:t>
            </a:r>
            <a:r>
              <a:rPr lang="en-GB" altLang="zh-CN" sz="1200" dirty="0">
                <a:solidFill>
                  <a:schemeClr val="tx1"/>
                </a:solidFill>
                <a:latin typeface="Source Sans Pro" panose="020B0503030403020204" pitchFamily="34" charset="0"/>
                <a:ea typeface="Source Sans Pro" panose="020B0503030403020204" pitchFamily="34" charset="0"/>
              </a:rPr>
              <a:t>initialization</a:t>
            </a:r>
            <a:r>
              <a:rPr lang="zh-CN" altLang="en-US" sz="1200" dirty="0">
                <a:solidFill>
                  <a:schemeClr val="bg2"/>
                </a:solidFill>
                <a:latin typeface="黑体" panose="02010609060101010101" pitchFamily="49" charset="-122"/>
                <a:ea typeface="黑体" panose="02010609060101010101" pitchFamily="49" charset="-122"/>
              </a:rPr>
              <a:t>的缩写</a:t>
            </a:r>
            <a:endParaRPr lang="en-US" altLang="zh-CN" sz="1200" dirty="0">
              <a:solidFill>
                <a:schemeClr val="bg2"/>
              </a:solidFill>
              <a:latin typeface="黑体" panose="02010609060101010101" pitchFamily="49" charset="-122"/>
              <a:ea typeface="黑体" panose="02010609060101010101" pitchFamily="49" charset="-122"/>
            </a:endParaRPr>
          </a:p>
          <a:p>
            <a:pPr>
              <a:buClr>
                <a:schemeClr val="tx1"/>
              </a:buClr>
            </a:pPr>
            <a:r>
              <a:rPr lang="en-US" altLang="zh-CN" sz="1200" dirty="0">
                <a:solidFill>
                  <a:schemeClr val="bg2"/>
                </a:solidFill>
                <a:latin typeface="黑体" panose="02010609060101010101" pitchFamily="49" charset="-122"/>
                <a:ea typeface="黑体" panose="02010609060101010101" pitchFamily="49" charset="-122"/>
              </a:rPr>
              <a:t>Python</a:t>
            </a:r>
            <a:r>
              <a:rPr lang="zh-CN" altLang="en-US" sz="1200" dirty="0">
                <a:solidFill>
                  <a:schemeClr val="bg2"/>
                </a:solidFill>
                <a:latin typeface="黑体" panose="02010609060101010101" pitchFamily="49" charset="-122"/>
                <a:ea typeface="黑体" panose="02010609060101010101" pitchFamily="49" charset="-122"/>
              </a:rPr>
              <a:t>中以</a:t>
            </a:r>
            <a:r>
              <a:rPr lang="en-US" altLang="zh-CN" sz="1200" dirty="0">
                <a:solidFill>
                  <a:schemeClr val="bg2"/>
                </a:solidFill>
                <a:latin typeface="黑体" panose="02010609060101010101" pitchFamily="49" charset="-122"/>
                <a:ea typeface="黑体" panose="02010609060101010101" pitchFamily="49" charset="-122"/>
              </a:rPr>
              <a:t>__xxx__()</a:t>
            </a:r>
            <a:r>
              <a:rPr lang="zh-CN" altLang="en-US" sz="1200" dirty="0">
                <a:solidFill>
                  <a:schemeClr val="bg2"/>
                </a:solidFill>
                <a:latin typeface="黑体" panose="02010609060101010101" pitchFamily="49" charset="-122"/>
                <a:ea typeface="黑体" panose="02010609060101010101" pitchFamily="49" charset="-122"/>
              </a:rPr>
              <a:t>形式的函数都具有特殊意义</a:t>
            </a:r>
            <a:endParaRPr lang="zh-CN" altLang="en-US" sz="1200" dirty="0">
              <a:solidFill>
                <a:schemeClr val="bg2"/>
              </a:solidFill>
              <a:latin typeface="黑体" panose="02010609060101010101" pitchFamily="49" charset="-122"/>
              <a:ea typeface="黑体" panose="02010609060101010101" pitchFamily="49"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a:t>Class: self</a:t>
            </a:r>
            <a:endParaRPr kumimoji="1" lang="zh-CN" altLang="en-US" dirty="0"/>
          </a:p>
        </p:txBody>
      </p:sp>
      <p:sp>
        <p:nvSpPr>
          <p:cNvPr id="3" name="文本占位符 2"/>
          <p:cNvSpPr>
            <a:spLocks noGrp="1"/>
          </p:cNvSpPr>
          <p:nvPr>
            <p:ph type="body" idx="1"/>
          </p:nvPr>
        </p:nvSpPr>
        <p:spPr>
          <a:xfrm>
            <a:off x="311700" y="1152475"/>
            <a:ext cx="8520600" cy="2702443"/>
          </a:xfrm>
        </p:spPr>
        <p:txBody>
          <a:bodyPr>
            <a:noAutofit/>
          </a:bodyPr>
          <a:lstStyle/>
          <a:p>
            <a:r>
              <a:rPr kumimoji="1" lang="en-US" altLang="zh-CN" sz="1400" dirty="0">
                <a:solidFill>
                  <a:schemeClr val="bg2"/>
                </a:solidFill>
                <a:latin typeface="Source Sans Pro" panose="020B0503030403020204" pitchFamily="34" charset="0"/>
                <a:ea typeface="Source Sans Pro" panose="020B0503030403020204" pitchFamily="34" charset="0"/>
              </a:rPr>
              <a:t>s</a:t>
            </a:r>
            <a:r>
              <a:rPr kumimoji="1" lang="en-GB" altLang="zh-CN" sz="1400" dirty="0">
                <a:solidFill>
                  <a:schemeClr val="bg2"/>
                </a:solidFill>
                <a:latin typeface="Source Sans Pro" panose="020B0503030403020204" pitchFamily="34" charset="0"/>
                <a:ea typeface="Source Sans Pro" panose="020B0503030403020204" pitchFamily="34" charset="0"/>
              </a:rPr>
              <a:t>elf: myself, yourself, themselves ……</a:t>
            </a:r>
            <a:endParaRPr kumimoji="1" lang="en-GB" altLang="zh-CN" sz="1400" dirty="0">
              <a:solidFill>
                <a:schemeClr val="bg2"/>
              </a:solidFill>
              <a:latin typeface="Source Sans Pro" panose="020B0503030403020204" pitchFamily="34" charset="0"/>
              <a:ea typeface="Source Sans Pro" panose="020B0503030403020204" pitchFamily="34" charset="0"/>
            </a:endParaRPr>
          </a:p>
          <a:p>
            <a:r>
              <a:rPr kumimoji="1" lang="en-GB" altLang="zh-CN" sz="1400" dirty="0">
                <a:solidFill>
                  <a:schemeClr val="bg2"/>
                </a:solidFill>
                <a:latin typeface="Source Sans Pro" panose="020B0503030403020204" pitchFamily="34" charset="0"/>
                <a:ea typeface="Source Sans Pro" panose="020B0503030403020204" pitchFamily="34" charset="0"/>
              </a:rPr>
              <a:t>The first parameter in methods __init__(self) must be </a:t>
            </a:r>
            <a:r>
              <a:rPr kumimoji="1" lang="en-GB" altLang="zh-CN" sz="1400" dirty="0">
                <a:solidFill>
                  <a:schemeClr val="tx1"/>
                </a:solidFill>
                <a:latin typeface="Source Sans Pro" panose="020B0503030403020204" pitchFamily="34" charset="0"/>
                <a:ea typeface="Source Sans Pro" panose="020B0503030403020204" pitchFamily="34" charset="0"/>
              </a:rPr>
              <a:t>self</a:t>
            </a:r>
            <a:endParaRPr kumimoji="1" lang="en-GB" altLang="zh-CN" sz="1400" dirty="0">
              <a:solidFill>
                <a:schemeClr val="tx1"/>
              </a:solidFill>
              <a:latin typeface="Source Sans Pro" panose="020B0503030403020204" pitchFamily="34" charset="0"/>
              <a:ea typeface="Source Sans Pro" panose="020B0503030403020204" pitchFamily="34" charset="0"/>
            </a:endParaRPr>
          </a:p>
          <a:p>
            <a:r>
              <a:rPr kumimoji="1" lang="en-GB" altLang="zh-CN" sz="1400" dirty="0">
                <a:solidFill>
                  <a:schemeClr val="bg2"/>
                </a:solidFill>
                <a:latin typeface="Source Sans Pro" panose="020B0503030403020204" pitchFamily="34" charset="0"/>
                <a:ea typeface="Source Sans Pro" panose="020B0503030403020204" pitchFamily="34" charset="0"/>
              </a:rPr>
              <a:t>When define an object, self will point to th</a:t>
            </a:r>
            <a:r>
              <a:rPr kumimoji="1" lang="en-US" altLang="zh-CN" sz="1400" dirty="0">
                <a:solidFill>
                  <a:schemeClr val="bg2"/>
                </a:solidFill>
                <a:latin typeface="Source Sans Pro" panose="020B0503030403020204" pitchFamily="34" charset="0"/>
                <a:ea typeface="Source Sans Pro" panose="020B0503030403020204" pitchFamily="34" charset="0"/>
              </a:rPr>
              <a:t>at</a:t>
            </a:r>
            <a:r>
              <a:rPr kumimoji="1" lang="en-GB" altLang="zh-CN" sz="1400" dirty="0">
                <a:solidFill>
                  <a:schemeClr val="bg2"/>
                </a:solidFill>
                <a:latin typeface="Source Sans Pro" panose="020B0503030403020204" pitchFamily="34" charset="0"/>
                <a:ea typeface="Source Sans Pro" panose="020B0503030403020204" pitchFamily="34" charset="0"/>
              </a:rPr>
              <a:t> object</a:t>
            </a:r>
            <a:endParaRPr kumimoji="1" lang="en-GB" altLang="zh-CN" sz="1400" dirty="0">
              <a:solidFill>
                <a:schemeClr val="bg2"/>
              </a:solidFill>
              <a:latin typeface="Source Sans Pro" panose="020B0503030403020204" pitchFamily="34" charset="0"/>
              <a:ea typeface="Source Sans Pro" panose="020B0503030403020204" pitchFamily="34" charset="0"/>
            </a:endParaRPr>
          </a:p>
          <a:p>
            <a:pPr lvl="1"/>
            <a:r>
              <a:rPr kumimoji="1" lang="en-GB" altLang="zh-CN" sz="1200" dirty="0">
                <a:solidFill>
                  <a:schemeClr val="bg2"/>
                </a:solidFill>
                <a:latin typeface="Source Sans Pro" panose="020B0503030403020204" pitchFamily="34" charset="0"/>
                <a:ea typeface="Source Sans Pro" panose="020B0503030403020204" pitchFamily="34" charset="0"/>
              </a:rPr>
              <a:t>white_dog = Dog()  # self = white_dog</a:t>
            </a:r>
            <a:endParaRPr kumimoji="1" lang="en-GB" altLang="zh-CN" sz="1200" dirty="0">
              <a:solidFill>
                <a:schemeClr val="bg2"/>
              </a:solidFill>
              <a:latin typeface="Source Sans Pro" panose="020B0503030403020204" pitchFamily="34" charset="0"/>
              <a:ea typeface="Source Sans Pro" panose="020B0503030403020204" pitchFamily="34" charset="0"/>
            </a:endParaRPr>
          </a:p>
          <a:p>
            <a:pPr lvl="1"/>
            <a:r>
              <a:rPr kumimoji="1" lang="en-GB" altLang="zh-CN" sz="1200" dirty="0">
                <a:solidFill>
                  <a:schemeClr val="bg2"/>
                </a:solidFill>
                <a:latin typeface="Source Sans Pro" panose="020B0503030403020204" pitchFamily="34" charset="0"/>
                <a:ea typeface="Source Sans Pro" panose="020B0503030403020204" pitchFamily="34" charset="0"/>
              </a:rPr>
              <a:t>black_dog = Dog() # self = red_dog</a:t>
            </a:r>
            <a:endParaRPr kumimoji="1" lang="en-GB" altLang="zh-CN" sz="1200" dirty="0">
              <a:solidFill>
                <a:schemeClr val="bg2"/>
              </a:solidFill>
              <a:latin typeface="Source Sans Pro" panose="020B0503030403020204" pitchFamily="34" charset="0"/>
              <a:ea typeface="Source Sans Pro" panose="020B0503030403020204" pitchFamily="34" charset="0"/>
            </a:endParaRPr>
          </a:p>
          <a:p>
            <a:r>
              <a:rPr kumimoji="1" lang="en-GB" altLang="zh-CN" sz="1400" dirty="0">
                <a:solidFill>
                  <a:schemeClr val="bg2"/>
                </a:solidFill>
                <a:latin typeface="Source Sans Pro" panose="020B0503030403020204" pitchFamily="34" charset="0"/>
                <a:ea typeface="Source Sans Pro" panose="020B0503030403020204" pitchFamily="34" charset="0"/>
              </a:rPr>
              <a:t>__init__()</a:t>
            </a:r>
            <a:r>
              <a:rPr kumimoji="1" lang="zh-CN" altLang="en-US" sz="1400" dirty="0">
                <a:solidFill>
                  <a:schemeClr val="bg2"/>
                </a:solidFill>
                <a:latin typeface="Source Sans Pro" panose="020B0503030403020204" pitchFamily="34" charset="0"/>
                <a:ea typeface="黑体" panose="02010609060101010101" pitchFamily="49" charset="-122"/>
              </a:rPr>
              <a:t>保证统一性，</a:t>
            </a:r>
            <a:r>
              <a:rPr kumimoji="1" lang="en-GB" altLang="zh-CN" sz="1400" dirty="0">
                <a:solidFill>
                  <a:schemeClr val="bg2"/>
                </a:solidFill>
                <a:latin typeface="Source Sans Pro" panose="020B0503030403020204" pitchFamily="34" charset="0"/>
                <a:ea typeface="Source Sans Pro" panose="020B0503030403020204" pitchFamily="34" charset="0"/>
              </a:rPr>
              <a:t>self</a:t>
            </a:r>
            <a:r>
              <a:rPr kumimoji="1" lang="zh-CN" altLang="en-US" sz="1400" dirty="0">
                <a:solidFill>
                  <a:schemeClr val="bg2"/>
                </a:solidFill>
                <a:latin typeface="Source Sans Pro" panose="020B0503030403020204" pitchFamily="34" charset="0"/>
                <a:ea typeface="黑体" panose="02010609060101010101" pitchFamily="49" charset="-122"/>
              </a:rPr>
              <a:t>保证唯一性</a:t>
            </a:r>
            <a:r>
              <a:rPr kumimoji="1" lang="en-US" altLang="zh-CN" sz="1400" dirty="0">
                <a:solidFill>
                  <a:schemeClr val="bg2"/>
                </a:solidFill>
                <a:latin typeface="Source Sans Pro" panose="020B0503030403020204" pitchFamily="34" charset="0"/>
                <a:ea typeface="黑体" panose="02010609060101010101" pitchFamily="49" charset="-122"/>
              </a:rPr>
              <a:t>, </a:t>
            </a:r>
            <a:r>
              <a:rPr kumimoji="1" lang="zh-CN" altLang="en-US" sz="1400" dirty="0">
                <a:solidFill>
                  <a:schemeClr val="bg2"/>
                </a:solidFill>
                <a:latin typeface="Source Sans Pro" panose="020B0503030403020204" pitchFamily="34" charset="0"/>
                <a:ea typeface="黑体" panose="02010609060101010101" pitchFamily="49" charset="-122"/>
              </a:rPr>
              <a:t>不和其它对象冲突</a:t>
            </a:r>
            <a:endParaRPr kumimoji="1" lang="zh-CN" altLang="en-US" sz="1400" dirty="0">
              <a:solidFill>
                <a:schemeClr val="bg2"/>
              </a:solidFill>
              <a:latin typeface="Source Sans Pro" panose="020B0503030403020204" pitchFamily="34" charset="0"/>
              <a:ea typeface="黑体" panose="02010609060101010101" pitchFamily="49" charset="-122"/>
            </a:endParaRPr>
          </a:p>
          <a:p>
            <a:r>
              <a:rPr kumimoji="1" lang="zh-CN" altLang="en-US" sz="1400" dirty="0">
                <a:solidFill>
                  <a:schemeClr val="bg2"/>
                </a:solidFill>
                <a:latin typeface="Source Sans Pro" panose="020B0503030403020204" pitchFamily="34" charset="0"/>
                <a:ea typeface="黑体" panose="02010609060101010101" pitchFamily="49" charset="-122"/>
              </a:rPr>
              <a:t>类的定义在程序里面也只是一段代码，只有具体定义一个对象时，才会使用。</a:t>
            </a:r>
            <a:r>
              <a:rPr kumimoji="1" lang="en-GB" altLang="zh-CN" sz="1400" dirty="0">
                <a:solidFill>
                  <a:schemeClr val="bg2"/>
                </a:solidFill>
                <a:latin typeface="Source Sans Pro" panose="020B0503030403020204" pitchFamily="34" charset="0"/>
                <a:ea typeface="Source Sans Pro" panose="020B0503030403020204" pitchFamily="34" charset="0"/>
              </a:rPr>
              <a:t>Self</a:t>
            </a:r>
            <a:r>
              <a:rPr kumimoji="1" lang="zh-CN" altLang="en-US" sz="1400" dirty="0">
                <a:solidFill>
                  <a:schemeClr val="bg2"/>
                </a:solidFill>
                <a:latin typeface="Source Sans Pro" panose="020B0503030403020204" pitchFamily="34" charset="0"/>
                <a:ea typeface="黑体" panose="02010609060101010101" pitchFamily="49" charset="-122"/>
              </a:rPr>
              <a:t>保证了程序可以区分开是哪个对象 </a:t>
            </a:r>
            <a:r>
              <a:rPr kumimoji="1" lang="en-US" altLang="zh-CN" sz="1400" dirty="0">
                <a:solidFill>
                  <a:schemeClr val="bg2"/>
                </a:solidFill>
                <a:latin typeface="Source Sans Pro" panose="020B0503030403020204" pitchFamily="34" charset="0"/>
                <a:ea typeface="Source Sans Pro" panose="020B0503030403020204" pitchFamily="34" charset="0"/>
              </a:rPr>
              <a:t>(</a:t>
            </a:r>
            <a:r>
              <a:rPr kumimoji="1" lang="en-GB" altLang="zh-CN" sz="1400" dirty="0">
                <a:solidFill>
                  <a:schemeClr val="bg2"/>
                </a:solidFill>
                <a:latin typeface="Source Sans Pro" panose="020B0503030403020204" pitchFamily="34" charset="0"/>
                <a:ea typeface="Source Sans Pro" panose="020B0503030403020204" pitchFamily="34" charset="0"/>
              </a:rPr>
              <a:t>white_dog or red_dog) </a:t>
            </a:r>
            <a:endParaRPr kumimoji="1" lang="en-GB" altLang="zh-CN" sz="1400" dirty="0">
              <a:solidFill>
                <a:schemeClr val="bg2"/>
              </a:solidFill>
              <a:latin typeface="Source Sans Pro" panose="020B0503030403020204" pitchFamily="34" charset="0"/>
              <a:ea typeface="Source Sans Pro" panose="020B0503030403020204" pitchFamily="34" charset="0"/>
            </a:endParaRPr>
          </a:p>
          <a:p>
            <a:r>
              <a:rPr kumimoji="1" lang="en-US" altLang="zh-CN" sz="1400" dirty="0">
                <a:solidFill>
                  <a:schemeClr val="bg2"/>
                </a:solidFill>
                <a:latin typeface="Source Sans Pro" panose="020B0503030403020204" pitchFamily="34" charset="0"/>
                <a:ea typeface="Source Sans Pro" panose="020B0503030403020204" pitchFamily="34" charset="0"/>
              </a:rPr>
              <a:t>self</a:t>
            </a:r>
            <a:r>
              <a:rPr kumimoji="1" lang="zh-CN" altLang="en-US" sz="1400" dirty="0">
                <a:solidFill>
                  <a:schemeClr val="tx1"/>
                </a:solidFill>
                <a:latin typeface="Source Sans Pro" panose="020B0503030403020204" pitchFamily="34" charset="0"/>
                <a:ea typeface="黑体" panose="02010609060101010101" pitchFamily="49" charset="-122"/>
              </a:rPr>
              <a:t>不是</a:t>
            </a:r>
            <a:r>
              <a:rPr kumimoji="1" lang="en-US" altLang="zh-CN" sz="1400" dirty="0">
                <a:solidFill>
                  <a:schemeClr val="tx1"/>
                </a:solidFill>
                <a:latin typeface="Source Sans Pro" panose="020B0503030403020204" pitchFamily="34" charset="0"/>
                <a:ea typeface="Source Sans Pro" panose="020B0503030403020204" pitchFamily="34" charset="0"/>
              </a:rPr>
              <a:t>keyword</a:t>
            </a:r>
            <a:r>
              <a:rPr kumimoji="1" lang="zh-CN" altLang="en-US" sz="1400" dirty="0">
                <a:solidFill>
                  <a:schemeClr val="bg2"/>
                </a:solidFill>
                <a:latin typeface="Source Sans Pro" panose="020B0503030403020204" pitchFamily="34" charset="0"/>
                <a:ea typeface="黑体" panose="02010609060101010101" pitchFamily="49" charset="-122"/>
              </a:rPr>
              <a:t>，可以用其它单词</a:t>
            </a:r>
            <a:r>
              <a:rPr kumimoji="1" lang="en-US" altLang="zh-CN" sz="1400" dirty="0">
                <a:solidFill>
                  <a:schemeClr val="bg2"/>
                </a:solidFill>
                <a:latin typeface="Source Sans Pro" panose="020B0503030403020204" pitchFamily="34" charset="0"/>
                <a:ea typeface="Source Sans Pro" panose="020B0503030403020204" pitchFamily="34" charset="0"/>
              </a:rPr>
              <a:t>(this)</a:t>
            </a:r>
            <a:r>
              <a:rPr kumimoji="1" lang="zh-CN" altLang="en-US" sz="1400" dirty="0">
                <a:solidFill>
                  <a:schemeClr val="bg2"/>
                </a:solidFill>
                <a:latin typeface="Source Sans Pro" panose="020B0503030403020204" pitchFamily="34" charset="0"/>
                <a:ea typeface="黑体" panose="02010609060101010101" pitchFamily="49" charset="-122"/>
              </a:rPr>
              <a:t>代替它，但习惯上都用</a:t>
            </a:r>
            <a:r>
              <a:rPr kumimoji="1" lang="en-US" altLang="zh-CN" sz="1400" dirty="0">
                <a:solidFill>
                  <a:schemeClr val="bg2"/>
                </a:solidFill>
                <a:latin typeface="Source Sans Pro" panose="020B0503030403020204" pitchFamily="34" charset="0"/>
                <a:ea typeface="Source Sans Pro" panose="020B0503030403020204" pitchFamily="34" charset="0"/>
              </a:rPr>
              <a:t>self. </a:t>
            </a:r>
            <a:endParaRPr kumimoji="1" lang="en-US" altLang="zh-CN" sz="1400" dirty="0">
              <a:solidFill>
                <a:schemeClr val="bg2"/>
              </a:solidFill>
              <a:latin typeface="Source Sans Pro" panose="020B0503030403020204" pitchFamily="34" charset="0"/>
              <a:ea typeface="Source Sans Pro" panose="020B0503030403020204" pitchFamily="34" charset="0"/>
            </a:endParaRPr>
          </a:p>
          <a:p>
            <a:r>
              <a:rPr kumimoji="1" lang="zh-CN" altLang="en-US" sz="1400" dirty="0">
                <a:solidFill>
                  <a:schemeClr val="bg2"/>
                </a:solidFill>
                <a:latin typeface="Source Sans Pro" panose="020B0503030403020204" pitchFamily="34" charset="0"/>
                <a:ea typeface="黑体" panose="02010609060101010101" pitchFamily="49" charset="-122"/>
              </a:rPr>
              <a:t>第一个参数默认是</a:t>
            </a:r>
            <a:r>
              <a:rPr kumimoji="1" lang="en-US" altLang="zh-CN" sz="1400" dirty="0">
                <a:solidFill>
                  <a:schemeClr val="bg2"/>
                </a:solidFill>
                <a:latin typeface="Source Sans Pro" panose="020B0503030403020204" pitchFamily="34" charset="0"/>
                <a:ea typeface="Source Sans Pro" panose="020B0503030403020204" pitchFamily="34" charset="0"/>
              </a:rPr>
              <a:t>self, __</a:t>
            </a:r>
            <a:r>
              <a:rPr kumimoji="1" lang="en-US" altLang="zh-CN" sz="1400" dirty="0" err="1">
                <a:solidFill>
                  <a:schemeClr val="bg2"/>
                </a:solidFill>
                <a:latin typeface="Source Sans Pro" panose="020B0503030403020204" pitchFamily="34" charset="0"/>
                <a:ea typeface="Source Sans Pro" panose="020B0503030403020204" pitchFamily="34" charset="0"/>
              </a:rPr>
              <a:t>init</a:t>
            </a:r>
            <a:r>
              <a:rPr kumimoji="1" lang="en-US" altLang="zh-CN" sz="1400" dirty="0">
                <a:solidFill>
                  <a:schemeClr val="bg2"/>
                </a:solidFill>
                <a:latin typeface="Source Sans Pro" panose="020B0503030403020204" pitchFamily="34" charset="0"/>
                <a:ea typeface="Source Sans Pro" panose="020B0503030403020204" pitchFamily="34" charset="0"/>
              </a:rPr>
              <a:t>__()</a:t>
            </a:r>
            <a:r>
              <a:rPr kumimoji="1" lang="zh-CN" altLang="en-US" sz="1400" dirty="0">
                <a:solidFill>
                  <a:schemeClr val="bg2"/>
                </a:solidFill>
                <a:latin typeface="Source Sans Pro" panose="020B0503030403020204" pitchFamily="34" charset="0"/>
                <a:ea typeface="黑体" panose="02010609060101010101" pitchFamily="49" charset="-122"/>
              </a:rPr>
              <a:t>没有参数会报错</a:t>
            </a:r>
            <a:endParaRPr kumimoji="1" lang="zh-CN" altLang="en-US" sz="1400" dirty="0">
              <a:solidFill>
                <a:schemeClr val="bg2"/>
              </a:solidFill>
              <a:latin typeface="Source Sans Pro" panose="020B0503030403020204" pitchFamily="34" charset="0"/>
              <a:ea typeface="黑体" panose="02010609060101010101" pitchFamily="49" charset="-122"/>
            </a:endParaRPr>
          </a:p>
          <a:p>
            <a:r>
              <a:rPr kumimoji="1" lang="zh-CN" altLang="en-US" sz="1400" dirty="0">
                <a:solidFill>
                  <a:srgbClr val="7030A0"/>
                </a:solidFill>
                <a:latin typeface="Source Sans Pro" panose="020B0503030403020204" pitchFamily="34" charset="0"/>
                <a:ea typeface="黑体" panose="02010609060101010101" pitchFamily="49" charset="-122"/>
              </a:rPr>
              <a:t>定义对象</a:t>
            </a:r>
            <a:r>
              <a:rPr kumimoji="1" lang="zh-CN" altLang="en-US" sz="1400" dirty="0">
                <a:solidFill>
                  <a:schemeClr val="bg2"/>
                </a:solidFill>
                <a:latin typeface="Source Sans Pro" panose="020B0503030403020204" pitchFamily="34" charset="0"/>
                <a:ea typeface="黑体" panose="02010609060101010101" pitchFamily="49" charset="-122"/>
              </a:rPr>
              <a:t>的时候，</a:t>
            </a:r>
            <a:r>
              <a:rPr kumimoji="1" lang="zh-CN" altLang="en-US" sz="1400" dirty="0">
                <a:solidFill>
                  <a:srgbClr val="7030A0"/>
                </a:solidFill>
                <a:latin typeface="Source Sans Pro" panose="020B0503030403020204" pitchFamily="34" charset="0"/>
                <a:ea typeface="黑体" panose="02010609060101010101" pitchFamily="49" charset="-122"/>
              </a:rPr>
              <a:t>不用用户传递</a:t>
            </a:r>
            <a:r>
              <a:rPr kumimoji="1" lang="en-US" altLang="zh-CN" sz="1400" dirty="0">
                <a:solidFill>
                  <a:srgbClr val="7030A0"/>
                </a:solidFill>
                <a:latin typeface="Source Sans Pro" panose="020B0503030403020204" pitchFamily="34" charset="0"/>
                <a:ea typeface="Source Sans Pro" panose="020B0503030403020204" pitchFamily="34" charset="0"/>
              </a:rPr>
              <a:t>self</a:t>
            </a:r>
            <a:r>
              <a:rPr kumimoji="1" lang="zh-CN" altLang="en-US" sz="1400" dirty="0">
                <a:solidFill>
                  <a:schemeClr val="bg2"/>
                </a:solidFill>
                <a:latin typeface="Source Sans Pro" panose="020B0503030403020204" pitchFamily="34" charset="0"/>
                <a:ea typeface="黑体" panose="02010609060101010101" pitchFamily="49" charset="-122"/>
              </a:rPr>
              <a:t>，系统会自己传递 </a:t>
            </a:r>
            <a:r>
              <a:rPr kumimoji="1" lang="en-US" altLang="zh-CN" sz="1400" dirty="0">
                <a:solidFill>
                  <a:schemeClr val="bg2"/>
                </a:solidFill>
                <a:latin typeface="Source Sans Pro" panose="020B0503030403020204" pitchFamily="34" charset="0"/>
                <a:ea typeface="Source Sans Pro" panose="020B0503030403020204" pitchFamily="34" charset="0"/>
              </a:rPr>
              <a:t>(</a:t>
            </a:r>
            <a:r>
              <a:rPr kumimoji="1" lang="zh-CN" altLang="en-US" sz="1400" dirty="0">
                <a:solidFill>
                  <a:schemeClr val="bg2"/>
                </a:solidFill>
                <a:latin typeface="Source Sans Pro" panose="020B0503030403020204" pitchFamily="34" charset="0"/>
                <a:ea typeface="黑体" panose="02010609060101010101" pitchFamily="49" charset="-122"/>
              </a:rPr>
              <a:t>参数数量会</a:t>
            </a:r>
            <a:r>
              <a:rPr kumimoji="1" lang="zh-CN" altLang="en-US" sz="1400" dirty="0">
                <a:solidFill>
                  <a:srgbClr val="7030A0"/>
                </a:solidFill>
                <a:latin typeface="Source Sans Pro" panose="020B0503030403020204" pitchFamily="34" charset="0"/>
                <a:ea typeface="黑体" panose="02010609060101010101" pitchFamily="49" charset="-122"/>
              </a:rPr>
              <a:t>少一个</a:t>
            </a:r>
            <a:r>
              <a:rPr kumimoji="1" lang="en-US" altLang="zh-CN" sz="1400" dirty="0">
                <a:solidFill>
                  <a:schemeClr val="bg2"/>
                </a:solidFill>
                <a:latin typeface="Source Sans Pro" panose="020B0503030403020204" pitchFamily="34" charset="0"/>
                <a:ea typeface="Source Sans Pro" panose="020B0503030403020204" pitchFamily="34" charset="0"/>
              </a:rPr>
              <a:t>). </a:t>
            </a:r>
            <a:r>
              <a:rPr kumimoji="1" lang="zh-CN" altLang="en-US" sz="1400" dirty="0">
                <a:solidFill>
                  <a:schemeClr val="bg2"/>
                </a:solidFill>
                <a:latin typeface="Source Sans Pro" panose="020B0503030403020204" pitchFamily="34" charset="0"/>
                <a:ea typeface="黑体" panose="02010609060101010101" pitchFamily="49" charset="-122"/>
              </a:rPr>
              <a:t>调用没有</a:t>
            </a:r>
            <a:r>
              <a:rPr kumimoji="1" lang="en-US" altLang="zh-CN" sz="1400" dirty="0">
                <a:solidFill>
                  <a:schemeClr val="bg2"/>
                </a:solidFill>
                <a:latin typeface="Source Sans Pro" panose="020B0503030403020204" pitchFamily="34" charset="0"/>
                <a:ea typeface="Source Sans Pro" panose="020B0503030403020204" pitchFamily="34" charset="0"/>
              </a:rPr>
              <a:t>self</a:t>
            </a:r>
            <a:r>
              <a:rPr kumimoji="1" lang="zh-CN" altLang="en-US" sz="1400" dirty="0">
                <a:solidFill>
                  <a:schemeClr val="bg2"/>
                </a:solidFill>
                <a:latin typeface="Source Sans Pro" panose="020B0503030403020204" pitchFamily="34" charset="0"/>
                <a:ea typeface="黑体" panose="02010609060101010101" pitchFamily="49" charset="-122"/>
              </a:rPr>
              <a:t>的函数会报错</a:t>
            </a:r>
            <a:endParaRPr kumimoji="1" lang="en-GB" altLang="zh-CN" sz="1400" dirty="0">
              <a:solidFill>
                <a:schemeClr val="bg2"/>
              </a:solidFill>
              <a:latin typeface="Source Sans Pro" panose="020B0503030403020204" pitchFamily="34" charset="0"/>
              <a:ea typeface="Source Sans Pro" panose="020B0503030403020204" pitchFamily="34" charset="0"/>
            </a:endParaRPr>
          </a:p>
          <a:p>
            <a:endParaRPr kumimoji="1" lang="en-GB" altLang="zh-CN" sz="1400" dirty="0">
              <a:solidFill>
                <a:schemeClr val="bg2"/>
              </a:solidFill>
            </a:endParaRPr>
          </a:p>
        </p:txBody>
      </p:sp>
      <p:sp>
        <p:nvSpPr>
          <p:cNvPr id="5" name="Rectangle 1"/>
          <p:cNvSpPr/>
          <p:nvPr/>
        </p:nvSpPr>
        <p:spPr>
          <a:xfrm>
            <a:off x="7214134" y="4436596"/>
            <a:ext cx="1513282" cy="395482"/>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tx1"/>
              </a:buClr>
            </a:pPr>
            <a:r>
              <a:rPr lang="zh-CN" altLang="en-US" sz="1200" dirty="0">
                <a:solidFill>
                  <a:schemeClr val="tx1"/>
                </a:solidFill>
                <a:latin typeface="Source Sans Pro" panose="020B0503030403020204" pitchFamily="34" charset="0"/>
                <a:ea typeface="黑体" panose="02010609060101010101" pitchFamily="49" charset="-122"/>
              </a:rPr>
              <a:t>定义</a:t>
            </a:r>
            <a:r>
              <a:rPr lang="en-US" altLang="zh-CN" sz="1200" dirty="0">
                <a:solidFill>
                  <a:schemeClr val="tx1"/>
                </a:solidFill>
                <a:latin typeface="Source Sans Pro" panose="020B0503030403020204" pitchFamily="34" charset="0"/>
                <a:ea typeface="Source Sans Pro" panose="020B0503030403020204" pitchFamily="34" charset="0"/>
              </a:rPr>
              <a:t>: </a:t>
            </a:r>
            <a:r>
              <a:rPr lang="en-GB" altLang="zh-CN" sz="1200" dirty="0">
                <a:solidFill>
                  <a:schemeClr val="tx1"/>
                </a:solidFill>
                <a:latin typeface="Source Sans Pro" panose="020B0503030403020204" pitchFamily="34" charset="0"/>
                <a:ea typeface="Source Sans Pro" panose="020B0503030403020204" pitchFamily="34" charset="0"/>
              </a:rPr>
              <a:t>x = </a:t>
            </a:r>
            <a:r>
              <a:rPr lang="en-GB" altLang="zh-CN" sz="1200" dirty="0" err="1">
                <a:solidFill>
                  <a:schemeClr val="tx1"/>
                </a:solidFill>
                <a:latin typeface="Source Sans Pro" panose="020B0503030403020204" pitchFamily="34" charset="0"/>
                <a:ea typeface="Source Sans Pro" panose="020B0503030403020204" pitchFamily="34" charset="0"/>
              </a:rPr>
              <a:t>ClassName</a:t>
            </a:r>
            <a:r>
              <a:rPr lang="en-GB" altLang="zh-CN" sz="1200" dirty="0">
                <a:solidFill>
                  <a:schemeClr val="tx1"/>
                </a:solidFill>
                <a:latin typeface="Source Sans Pro" panose="020B0503030403020204" pitchFamily="34" charset="0"/>
                <a:ea typeface="Source Sans Pro" panose="020B0503030403020204" pitchFamily="34" charset="0"/>
              </a:rPr>
              <a:t>()</a:t>
            </a:r>
            <a:endParaRPr lang="en-GB" altLang="zh-CN" sz="1200" dirty="0">
              <a:solidFill>
                <a:schemeClr val="tx1"/>
              </a:solidFill>
              <a:latin typeface="Source Sans Pro" panose="020B0503030403020204" pitchFamily="34" charset="0"/>
              <a:ea typeface="Source Sans Pro" panose="020B0503030403020204" pitchFamily="34" charset="0"/>
            </a:endParaRPr>
          </a:p>
          <a:p>
            <a:pPr>
              <a:buClr>
                <a:schemeClr val="tx1"/>
              </a:buClr>
            </a:pPr>
            <a:r>
              <a:rPr lang="zh-CN" altLang="en-US" sz="1200" dirty="0">
                <a:solidFill>
                  <a:schemeClr val="tx1"/>
                </a:solidFill>
                <a:latin typeface="Source Sans Pro" panose="020B0503030403020204" pitchFamily="34" charset="0"/>
                <a:ea typeface="黑体" panose="02010609060101010101" pitchFamily="49" charset="-122"/>
              </a:rPr>
              <a:t>隐含</a:t>
            </a:r>
            <a:r>
              <a:rPr lang="en-US" altLang="zh-CN" sz="1200" dirty="0">
                <a:solidFill>
                  <a:schemeClr val="tx1"/>
                </a:solidFill>
                <a:latin typeface="Source Sans Pro" panose="020B0503030403020204" pitchFamily="34" charset="0"/>
                <a:ea typeface="Source Sans Pro" panose="020B0503030403020204" pitchFamily="34" charset="0"/>
              </a:rPr>
              <a:t>: </a:t>
            </a:r>
            <a:r>
              <a:rPr lang="en-GB" altLang="zh-CN" sz="1200" dirty="0">
                <a:solidFill>
                  <a:schemeClr val="tx1"/>
                </a:solidFill>
                <a:latin typeface="Source Sans Pro" panose="020B0503030403020204" pitchFamily="34" charset="0"/>
                <a:ea typeface="Source Sans Pro" panose="020B0503030403020204" pitchFamily="34" charset="0"/>
              </a:rPr>
              <a:t>self = x</a:t>
            </a:r>
            <a:endParaRPr lang="en-GB" altLang="zh-CN" sz="1200" dirty="0">
              <a:solidFill>
                <a:schemeClr val="tx1"/>
              </a:solidFill>
              <a:latin typeface="Source Sans Pro" panose="020B0503030403020204" pitchFamily="34" charset="0"/>
              <a:ea typeface="Source Sans Pro" panose="020B0503030403020204" pitchFamily="34" charset="0"/>
            </a:endParaRPr>
          </a:p>
        </p:txBody>
      </p:sp>
      <p:graphicFrame>
        <p:nvGraphicFramePr>
          <p:cNvPr id="8" name="表格 8"/>
          <p:cNvGraphicFramePr>
            <a:graphicFrameLocks noGrp="1"/>
          </p:cNvGraphicFramePr>
          <p:nvPr/>
        </p:nvGraphicFramePr>
        <p:xfrm>
          <a:off x="6462262" y="1017596"/>
          <a:ext cx="2194686" cy="1612145"/>
        </p:xfrm>
        <a:graphic>
          <a:graphicData uri="http://schemas.openxmlformats.org/drawingml/2006/table">
            <a:tbl>
              <a:tblPr firstRow="1" bandRow="1"/>
              <a:tblGrid>
                <a:gridCol w="2194686"/>
              </a:tblGrid>
              <a:tr h="322429">
                <a:tc>
                  <a:txBody>
                    <a:bodyPr/>
                    <a:lstStyle>
                      <a:lvl1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1pPr>
                      <a:lvl2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2pPr>
                      <a:lvl3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3pPr>
                      <a:lvl4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4pPr>
                      <a:lvl5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5pPr>
                      <a:lvl6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6pPr>
                      <a:lvl7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7pPr>
                      <a:lvl8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8pPr>
                      <a:lvl9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9pPr>
                    </a:lstStyle>
                    <a:p>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r>
              <a:tr h="322429">
                <a:tc>
                  <a:txBody>
                    <a:bodyPr/>
                    <a:lstStyle>
                      <a:lvl1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1pPr>
                      <a:lvl2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2pPr>
                      <a:lvl3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3pPr>
                      <a:lvl4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4pPr>
                      <a:lvl5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5pPr>
                      <a:lvl6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6pPr>
                      <a:lvl7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7pPr>
                      <a:lvl8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8pPr>
                      <a:lvl9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9pPr>
                    </a:lstStyle>
                    <a:p>
                      <a:r>
                        <a:rPr lang="en-US" altLang="zh-CN" dirty="0"/>
                        <a:t>class </a:t>
                      </a:r>
                      <a:r>
                        <a:rPr lang="en-US" altLang="zh-CN" dirty="0" err="1"/>
                        <a:t>ClassName</a:t>
                      </a:r>
                      <a:r>
                        <a:rPr lang="en-US" altLang="zh-CN" dirty="0"/>
                        <a:t> </a:t>
                      </a:r>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r>
              <a:tr h="322429">
                <a:tc>
                  <a:txBody>
                    <a:bodyPr/>
                    <a:lstStyle>
                      <a:lvl1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1pPr>
                      <a:lvl2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2pPr>
                      <a:lvl3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3pPr>
                      <a:lvl4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4pPr>
                      <a:lvl5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5pPr>
                      <a:lvl6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6pPr>
                      <a:lvl7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7pPr>
                      <a:lvl8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8pPr>
                      <a:lvl9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9pPr>
                    </a:lstStyle>
                    <a:p>
                      <a:r>
                        <a:rPr lang="en-US" altLang="zh-CN" dirty="0"/>
                        <a:t>    __</a:t>
                      </a:r>
                      <a:r>
                        <a:rPr lang="en-US" altLang="zh-CN" dirty="0" err="1"/>
                        <a:t>init</a:t>
                      </a:r>
                      <a:r>
                        <a:rPr lang="en-US" altLang="zh-CN" dirty="0"/>
                        <a:t>__(self, parameters)</a:t>
                      </a:r>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r>
              <a:tr h="322429">
                <a:tc>
                  <a:txBody>
                    <a:bodyPr/>
                    <a:lstStyle>
                      <a:lvl1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1pPr>
                      <a:lvl2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2pPr>
                      <a:lvl3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3pPr>
                      <a:lvl4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4pPr>
                      <a:lvl5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5pPr>
                      <a:lvl6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6pPr>
                      <a:lvl7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7pPr>
                      <a:lvl8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8pPr>
                      <a:lvl9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9pPr>
                    </a:lstStyle>
                    <a:p>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r>
              <a:tr h="322429">
                <a:tc>
                  <a:txBody>
                    <a:bodyPr/>
                    <a:lstStyle>
                      <a:lvl1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1pPr>
                      <a:lvl2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2pPr>
                      <a:lvl3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3pPr>
                      <a:lvl4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4pPr>
                      <a:lvl5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5pPr>
                      <a:lvl6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6pPr>
                      <a:lvl7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7pPr>
                      <a:lvl8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8pPr>
                      <a:lvl9pPr marR="0" algn="l" rtl="0">
                        <a:lnSpc>
                          <a:spcPct val="100000"/>
                        </a:lnSpc>
                        <a:spcBef>
                          <a:spcPts val="0"/>
                        </a:spcBef>
                        <a:spcAft>
                          <a:spcPts val="0"/>
                        </a:spcAft>
                        <a:buClr>
                          <a:srgbClr val="000000"/>
                        </a:buClr>
                        <a:buFont typeface="Arial" panose="020B0604020202020204"/>
                        <a:defRPr sz="1400" b="0" i="0" u="none" strike="noStrike" cap="none">
                          <a:solidFill>
                            <a:schemeClr val="tx1"/>
                          </a:solidFill>
                          <a:latin typeface="Tw Cen MT" panose="020B0602020104020603"/>
                          <a:sym typeface="Arial" panose="020B0604020202020204"/>
                        </a:defRPr>
                      </a:lvl9pPr>
                    </a:lstStyle>
                    <a:p>
                      <a:r>
                        <a:rPr lang="en-US" altLang="zh-CN" dirty="0"/>
                        <a:t>……</a:t>
                      </a:r>
                      <a:endParaRPr lang="zh-CN" altLang="en-US" dirty="0"/>
                    </a:p>
                  </a:txBody>
                  <a:tcP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r>
            </a:tbl>
          </a:graphicData>
        </a:graphic>
      </p:graphicFrame>
      <p:pic>
        <p:nvPicPr>
          <p:cNvPr id="9" name="图片 8" descr="文本&#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37547" y="3913241"/>
            <a:ext cx="2297093" cy="918837"/>
          </a:xfrm>
          <a:prstGeom prst="rect">
            <a:avLst/>
          </a:prstGeom>
        </p:spPr>
      </p:pic>
      <p:pic>
        <p:nvPicPr>
          <p:cNvPr id="10" name="图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6848" y="4426571"/>
            <a:ext cx="4095078" cy="40550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a:t>__</a:t>
            </a:r>
            <a:r>
              <a:rPr kumimoji="1" lang="en-GB" altLang="zh-CN" dirty="0" err="1"/>
              <a:t>init</a:t>
            </a:r>
            <a:r>
              <a:rPr kumimoji="1" lang="en-GB" altLang="zh-CN" dirty="0"/>
              <a:t>__() and self</a:t>
            </a:r>
            <a:endParaRPr kumimoji="1" lang="zh-CN" altLang="en-US" dirty="0"/>
          </a:p>
        </p:txBody>
      </p:sp>
      <p:sp>
        <p:nvSpPr>
          <p:cNvPr id="4" name="Rectangle 1"/>
          <p:cNvSpPr/>
          <p:nvPr/>
        </p:nvSpPr>
        <p:spPr>
          <a:xfrm>
            <a:off x="576414" y="4016885"/>
            <a:ext cx="5334918" cy="1068423"/>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tx1"/>
              </a:buClr>
            </a:pPr>
            <a:r>
              <a:rPr lang="en-GB" altLang="zh-CN" sz="1200" dirty="0">
                <a:solidFill>
                  <a:schemeClr val="bg2"/>
                </a:solidFill>
                <a:latin typeface="Source Sans Pro" panose="020B0503030403020204" pitchFamily="34" charset="0"/>
                <a:ea typeface="Source Sans Pro" panose="020B0503030403020204" pitchFamily="34" charset="0"/>
              </a:rPr>
              <a:t>1. __init__()</a:t>
            </a:r>
            <a:r>
              <a:rPr lang="zh-CN" altLang="en-US" sz="1200" dirty="0">
                <a:solidFill>
                  <a:schemeClr val="bg2"/>
                </a:solidFill>
                <a:latin typeface="Source Sans Pro" panose="020B0503030403020204" pitchFamily="34" charset="0"/>
                <a:ea typeface="黑体" panose="02010609060101010101" pitchFamily="49" charset="-122"/>
              </a:rPr>
              <a:t>被在对象创建时，被自动调用</a:t>
            </a:r>
            <a:endParaRPr lang="zh-CN" altLang="en-US" sz="1200" dirty="0">
              <a:solidFill>
                <a:schemeClr val="bg2"/>
              </a:solidFill>
              <a:latin typeface="Source Sans Pro" panose="020B0503030403020204" pitchFamily="34" charset="0"/>
              <a:ea typeface="黑体" panose="02010609060101010101" pitchFamily="49" charset="-122"/>
            </a:endParaRPr>
          </a:p>
          <a:p>
            <a:pPr>
              <a:buClr>
                <a:schemeClr val="tx1"/>
              </a:buClr>
            </a:pPr>
            <a:r>
              <a:rPr lang="en-US" altLang="zh-CN" sz="1200" dirty="0">
                <a:solidFill>
                  <a:schemeClr val="bg2"/>
                </a:solidFill>
                <a:latin typeface="Source Sans Pro" panose="020B0503030403020204" pitchFamily="34" charset="0"/>
                <a:ea typeface="Source Sans Pro" panose="020B0503030403020204" pitchFamily="34" charset="0"/>
              </a:rPr>
              <a:t>2. </a:t>
            </a:r>
            <a:r>
              <a:rPr lang="zh-CN" altLang="en-US" sz="1200" dirty="0">
                <a:solidFill>
                  <a:schemeClr val="bg2"/>
                </a:solidFill>
                <a:latin typeface="Source Sans Pro" panose="020B0503030403020204" pitchFamily="34" charset="0"/>
                <a:ea typeface="黑体" panose="02010609060101010101" pitchFamily="49" charset="-122"/>
              </a:rPr>
              <a:t>定义</a:t>
            </a:r>
            <a:r>
              <a:rPr lang="en-US" altLang="zh-CN" sz="1200" dirty="0">
                <a:solidFill>
                  <a:schemeClr val="bg2"/>
                </a:solidFill>
                <a:latin typeface="Source Sans Pro" panose="020B0503030403020204" pitchFamily="34" charset="0"/>
                <a:ea typeface="Source Sans Pro" panose="020B0503030403020204" pitchFamily="34" charset="0"/>
              </a:rPr>
              <a:t>: </a:t>
            </a:r>
            <a:r>
              <a:rPr lang="en-GB" altLang="zh-CN" sz="1200" dirty="0">
                <a:solidFill>
                  <a:schemeClr val="bg2"/>
                </a:solidFill>
                <a:latin typeface="Source Sans Pro" panose="020B0503030403020204" pitchFamily="34" charset="0"/>
                <a:ea typeface="Source Sans Pro" panose="020B0503030403020204" pitchFamily="34" charset="0"/>
              </a:rPr>
              <a:t>x = </a:t>
            </a:r>
            <a:r>
              <a:rPr lang="en-GB" altLang="zh-CN" sz="1200" dirty="0" err="1">
                <a:solidFill>
                  <a:schemeClr val="bg2"/>
                </a:solidFill>
                <a:latin typeface="Source Sans Pro" panose="020B0503030403020204" pitchFamily="34" charset="0"/>
                <a:ea typeface="Source Sans Pro" panose="020B0503030403020204" pitchFamily="34" charset="0"/>
              </a:rPr>
              <a:t>ClassName</a:t>
            </a:r>
            <a:r>
              <a:rPr lang="en-GB" altLang="zh-CN" sz="1200" dirty="0">
                <a:solidFill>
                  <a:schemeClr val="bg2"/>
                </a:solidFill>
                <a:latin typeface="Source Sans Pro" panose="020B0503030403020204" pitchFamily="34" charset="0"/>
                <a:ea typeface="Source Sans Pro" panose="020B0503030403020204" pitchFamily="34" charset="0"/>
              </a:rPr>
              <a:t>()</a:t>
            </a:r>
            <a:endParaRPr lang="en-GB" altLang="zh-CN" sz="1200" dirty="0">
              <a:solidFill>
                <a:schemeClr val="bg2"/>
              </a:solidFill>
              <a:latin typeface="Source Sans Pro" panose="020B0503030403020204" pitchFamily="34" charset="0"/>
              <a:ea typeface="Source Sans Pro" panose="020B0503030403020204" pitchFamily="34" charset="0"/>
            </a:endParaRPr>
          </a:p>
          <a:p>
            <a:pPr>
              <a:buClr>
                <a:schemeClr val="tx1"/>
              </a:buClr>
            </a:pPr>
            <a:r>
              <a:rPr lang="en-GB" altLang="zh-CN" sz="1200" dirty="0">
                <a:solidFill>
                  <a:schemeClr val="bg2"/>
                </a:solidFill>
                <a:latin typeface="Source Sans Pro" panose="020B0503030403020204" pitchFamily="34" charset="0"/>
                <a:ea typeface="Source Sans Pro" panose="020B0503030403020204" pitchFamily="34" charset="0"/>
              </a:rPr>
              <a:t>      </a:t>
            </a:r>
            <a:r>
              <a:rPr lang="zh-CN" altLang="en-US" sz="1200" dirty="0">
                <a:solidFill>
                  <a:schemeClr val="bg2"/>
                </a:solidFill>
                <a:latin typeface="Source Sans Pro" panose="020B0503030403020204" pitchFamily="34" charset="0"/>
                <a:ea typeface="黑体" panose="02010609060101010101" pitchFamily="49" charset="-122"/>
              </a:rPr>
              <a:t>隐含</a:t>
            </a:r>
            <a:r>
              <a:rPr lang="en-US" altLang="zh-CN" sz="1200" dirty="0">
                <a:solidFill>
                  <a:schemeClr val="bg2"/>
                </a:solidFill>
                <a:latin typeface="Source Sans Pro" panose="020B0503030403020204" pitchFamily="34" charset="0"/>
                <a:ea typeface="Source Sans Pro" panose="020B0503030403020204" pitchFamily="34" charset="0"/>
              </a:rPr>
              <a:t>: </a:t>
            </a:r>
            <a:r>
              <a:rPr lang="en-GB" altLang="zh-CN" sz="1200" dirty="0">
                <a:solidFill>
                  <a:schemeClr val="bg2"/>
                </a:solidFill>
                <a:latin typeface="Source Sans Pro" panose="020B0503030403020204" pitchFamily="34" charset="0"/>
                <a:ea typeface="Source Sans Pro" panose="020B0503030403020204" pitchFamily="34" charset="0"/>
              </a:rPr>
              <a:t>self = x</a:t>
            </a:r>
            <a:endParaRPr lang="en-GB" altLang="zh-CN" sz="1200" dirty="0">
              <a:solidFill>
                <a:schemeClr val="bg2"/>
              </a:solidFill>
              <a:latin typeface="Source Sans Pro" panose="020B0503030403020204" pitchFamily="34" charset="0"/>
              <a:ea typeface="Source Sans Pro" panose="020B0503030403020204" pitchFamily="34" charset="0"/>
            </a:endParaRPr>
          </a:p>
          <a:p>
            <a:pPr>
              <a:buClr>
                <a:schemeClr val="tx1"/>
              </a:buClr>
            </a:pPr>
            <a:r>
              <a:rPr lang="zh-CN" altLang="en-US" sz="1200" dirty="0">
                <a:solidFill>
                  <a:schemeClr val="bg2"/>
                </a:solidFill>
                <a:latin typeface="Source Sans Pro" panose="020B0503030403020204" pitchFamily="34" charset="0"/>
                <a:ea typeface="黑体" panose="02010609060101010101" pitchFamily="49" charset="-122"/>
              </a:rPr>
              <a:t>对象和对象之间会共享函数，所以</a:t>
            </a:r>
            <a:r>
              <a:rPr lang="en-GB" altLang="zh-CN" sz="1200" dirty="0">
                <a:solidFill>
                  <a:schemeClr val="bg2"/>
                </a:solidFill>
                <a:latin typeface="Source Sans Pro" panose="020B0503030403020204" pitchFamily="34" charset="0"/>
                <a:ea typeface="Source Sans Pro" panose="020B0503030403020204" pitchFamily="34" charset="0"/>
              </a:rPr>
              <a:t>self</a:t>
            </a:r>
            <a:r>
              <a:rPr lang="zh-CN" altLang="en-US" sz="1200" dirty="0">
                <a:solidFill>
                  <a:schemeClr val="bg2"/>
                </a:solidFill>
                <a:latin typeface="Source Sans Pro" panose="020B0503030403020204" pitchFamily="34" charset="0"/>
                <a:ea typeface="黑体" panose="02010609060101010101" pitchFamily="49" charset="-122"/>
              </a:rPr>
              <a:t>保证了函数运行的互不干扰</a:t>
            </a:r>
            <a:endParaRPr lang="en-US" altLang="zh-CN" sz="1200" dirty="0">
              <a:solidFill>
                <a:schemeClr val="bg2"/>
              </a:solidFill>
              <a:latin typeface="Source Sans Pro" panose="020B0503030403020204" pitchFamily="34" charset="0"/>
              <a:ea typeface="黑体" panose="02010609060101010101" pitchFamily="49" charset="-122"/>
            </a:endParaRPr>
          </a:p>
          <a:p>
            <a:pPr>
              <a:buClr>
                <a:schemeClr val="tx1"/>
              </a:buClr>
            </a:pPr>
            <a:r>
              <a:rPr lang="en-US" altLang="zh-CN" sz="1200" b="1" dirty="0">
                <a:solidFill>
                  <a:srgbClr val="7030A0"/>
                </a:solidFill>
                <a:latin typeface="Source Sans Pro" panose="020B0503030403020204" pitchFamily="34" charset="0"/>
                <a:ea typeface="黑体" panose="02010609060101010101" pitchFamily="49" charset="-122"/>
              </a:rPr>
              <a:t>self</a:t>
            </a:r>
            <a:r>
              <a:rPr lang="zh-CN" altLang="en-US" sz="1200" b="1" dirty="0">
                <a:solidFill>
                  <a:srgbClr val="7030A0"/>
                </a:solidFill>
                <a:latin typeface="Source Sans Pro" panose="020B0503030403020204" pitchFamily="34" charset="0"/>
                <a:ea typeface="黑体" panose="02010609060101010101" pitchFamily="49" charset="-122"/>
              </a:rPr>
              <a:t>在对象调用函数时，不用传递。已经默认知道了</a:t>
            </a:r>
            <a:endParaRPr lang="zh-CN" altLang="en-US" sz="1200" b="1" dirty="0">
              <a:solidFill>
                <a:srgbClr val="7030A0"/>
              </a:solidFill>
              <a:latin typeface="Source Sans Pro" panose="020B0503030403020204" pitchFamily="34" charset="0"/>
              <a:ea typeface="黑体" panose="02010609060101010101" pitchFamily="49" charset="-122"/>
            </a:endParaRPr>
          </a:p>
        </p:txBody>
      </p:sp>
      <p:pic>
        <p:nvPicPr>
          <p:cNvPr id="6" name="图片 5" descr="文本&#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006810" y="1956212"/>
            <a:ext cx="2544773" cy="1231075"/>
          </a:xfrm>
          <a:prstGeom prst="rect">
            <a:avLst/>
          </a:prstGeom>
        </p:spPr>
      </p:pic>
      <p:pic>
        <p:nvPicPr>
          <p:cNvPr id="7" name="图片 6"/>
          <p:cNvPicPr>
            <a:picLocks noChangeAspect="1"/>
          </p:cNvPicPr>
          <p:nvPr/>
        </p:nvPicPr>
        <p:blipFill>
          <a:blip r:embed="rId2"/>
          <a:stretch>
            <a:fillRect/>
          </a:stretch>
        </p:blipFill>
        <p:spPr>
          <a:xfrm>
            <a:off x="576414" y="1212862"/>
            <a:ext cx="4828172" cy="271777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a:t>Member Attributes</a:t>
            </a:r>
            <a:endParaRPr kumimoji="1" lang="zh-CN" altLang="en-US" dirty="0"/>
          </a:p>
        </p:txBody>
      </p:sp>
      <p:sp>
        <p:nvSpPr>
          <p:cNvPr id="3" name="文本占位符 2"/>
          <p:cNvSpPr>
            <a:spLocks noGrp="1"/>
          </p:cNvSpPr>
          <p:nvPr>
            <p:ph type="body" idx="1"/>
          </p:nvPr>
        </p:nvSpPr>
        <p:spPr>
          <a:xfrm>
            <a:off x="3793021" y="2489721"/>
            <a:ext cx="4741682" cy="2428788"/>
          </a:xfrm>
        </p:spPr>
        <p:txBody>
          <a:bodyPr>
            <a:normAutofit/>
          </a:bodyPr>
          <a:lstStyle/>
          <a:p>
            <a:r>
              <a:rPr kumimoji="1" lang="en-GB" altLang="zh-CN" sz="1400" dirty="0">
                <a:solidFill>
                  <a:schemeClr val="bg2"/>
                </a:solidFill>
              </a:rPr>
              <a:t>x, y</a:t>
            </a:r>
            <a:r>
              <a:rPr kumimoji="1" lang="zh-CN" altLang="en-US" sz="1400" dirty="0">
                <a:solidFill>
                  <a:schemeClr val="bg2"/>
                </a:solidFill>
                <a:latin typeface="黑体" panose="02010609060101010101" pitchFamily="49" charset="-122"/>
                <a:ea typeface="黑体" panose="02010609060101010101" pitchFamily="49" charset="-122"/>
              </a:rPr>
              <a:t>是参数，</a:t>
            </a:r>
            <a:r>
              <a:rPr kumimoji="1" lang="en-GB" altLang="zh-CN" sz="1400" dirty="0" err="1">
                <a:solidFill>
                  <a:schemeClr val="bg2"/>
                </a:solidFill>
              </a:rPr>
              <a:t>self.x</a:t>
            </a:r>
            <a:r>
              <a:rPr kumimoji="1" lang="zh-CN" altLang="en-US" sz="1400" dirty="0">
                <a:solidFill>
                  <a:schemeClr val="bg2"/>
                </a:solidFill>
              </a:rPr>
              <a:t>和</a:t>
            </a:r>
            <a:r>
              <a:rPr kumimoji="1" lang="en-GB" altLang="zh-CN" sz="1400" dirty="0" err="1">
                <a:solidFill>
                  <a:schemeClr val="bg2"/>
                </a:solidFill>
              </a:rPr>
              <a:t>self.y</a:t>
            </a:r>
            <a:r>
              <a:rPr kumimoji="1" lang="en-GB" altLang="zh-CN" sz="1400" dirty="0">
                <a:solidFill>
                  <a:schemeClr val="bg2"/>
                </a:solidFill>
              </a:rPr>
              <a:t> </a:t>
            </a:r>
            <a:r>
              <a:rPr kumimoji="1" lang="zh-CN" altLang="en-US" sz="1400" dirty="0">
                <a:solidFill>
                  <a:schemeClr val="bg2"/>
                </a:solidFill>
                <a:latin typeface="黑体" panose="02010609060101010101" pitchFamily="49" charset="-122"/>
                <a:ea typeface="黑体" panose="02010609060101010101" pitchFamily="49" charset="-122"/>
              </a:rPr>
              <a:t>表示将定义的对象的</a:t>
            </a:r>
            <a:r>
              <a:rPr kumimoji="1" lang="en-GB" altLang="zh-CN" sz="1400" dirty="0">
                <a:solidFill>
                  <a:schemeClr val="bg2"/>
                </a:solidFill>
              </a:rPr>
              <a:t>x </a:t>
            </a:r>
            <a:r>
              <a:rPr kumimoji="1" lang="zh-CN" altLang="en-US" sz="1400" dirty="0">
                <a:solidFill>
                  <a:schemeClr val="bg2"/>
                </a:solidFill>
                <a:latin typeface="黑体" panose="02010609060101010101" pitchFamily="49" charset="-122"/>
                <a:ea typeface="黑体" panose="02010609060101010101" pitchFamily="49" charset="-122"/>
              </a:rPr>
              <a:t>和</a:t>
            </a:r>
            <a:r>
              <a:rPr kumimoji="1" lang="en-GB" altLang="zh-CN" sz="1400" dirty="0">
                <a:solidFill>
                  <a:schemeClr val="bg2"/>
                </a:solidFill>
              </a:rPr>
              <a:t>y</a:t>
            </a:r>
            <a:endParaRPr kumimoji="1" lang="en-GB" altLang="zh-CN" sz="1400" dirty="0">
              <a:solidFill>
                <a:schemeClr val="bg2"/>
              </a:solidFill>
            </a:endParaRPr>
          </a:p>
          <a:p>
            <a:pPr lvl="1"/>
            <a:r>
              <a:rPr kumimoji="1" lang="en-GB" altLang="zh-CN" sz="1200" dirty="0">
                <a:solidFill>
                  <a:schemeClr val="bg2"/>
                </a:solidFill>
              </a:rPr>
              <a:t>Line 3965, 3966</a:t>
            </a:r>
            <a:r>
              <a:rPr kumimoji="1" lang="zh-CN" altLang="en-US" sz="1200" dirty="0">
                <a:solidFill>
                  <a:schemeClr val="bg2"/>
                </a:solidFill>
                <a:latin typeface="黑体" panose="02010609060101010101" pitchFamily="49" charset="-122"/>
                <a:ea typeface="黑体" panose="02010609060101010101" pitchFamily="49" charset="-122"/>
              </a:rPr>
              <a:t>只有两个参数</a:t>
            </a:r>
            <a:endParaRPr kumimoji="1" lang="zh-CN" altLang="en-US" sz="1200" dirty="0">
              <a:solidFill>
                <a:schemeClr val="bg2"/>
              </a:solidFill>
              <a:latin typeface="黑体" panose="02010609060101010101" pitchFamily="49" charset="-122"/>
              <a:ea typeface="黑体" panose="02010609060101010101" pitchFamily="49" charset="-122"/>
            </a:endParaRPr>
          </a:p>
          <a:p>
            <a:r>
              <a:rPr kumimoji="1" lang="en-GB" altLang="zh-CN" sz="1400" dirty="0">
                <a:solidFill>
                  <a:schemeClr val="bg2"/>
                </a:solidFill>
              </a:rPr>
              <a:t>Line 3965—3970, pt1 and pt2 have the same position. Their address are different</a:t>
            </a:r>
            <a:endParaRPr kumimoji="1" lang="en-GB" altLang="zh-CN" sz="1400" dirty="0">
              <a:solidFill>
                <a:schemeClr val="bg2"/>
              </a:solidFill>
            </a:endParaRPr>
          </a:p>
          <a:p>
            <a:r>
              <a:rPr kumimoji="1" lang="en-GB" altLang="zh-CN" sz="1400" dirty="0">
                <a:solidFill>
                  <a:schemeClr val="bg2"/>
                </a:solidFill>
              </a:rPr>
              <a:t>Line 3972—3977, you may use the attributes like general variables</a:t>
            </a:r>
            <a:endParaRPr kumimoji="1" lang="en-GB" altLang="zh-CN" sz="1400" dirty="0">
              <a:solidFill>
                <a:schemeClr val="bg2"/>
              </a:solidFill>
            </a:endParaRPr>
          </a:p>
          <a:p>
            <a:r>
              <a:rPr kumimoji="1" lang="en-GB" altLang="zh-CN" sz="1400" dirty="0">
                <a:solidFill>
                  <a:schemeClr val="bg2"/>
                </a:solidFill>
              </a:rPr>
              <a:t>Line 3952 Vs. Line 3965, __</a:t>
            </a:r>
            <a:r>
              <a:rPr kumimoji="1" lang="en-GB" altLang="zh-CN" sz="1400" dirty="0" err="1">
                <a:solidFill>
                  <a:schemeClr val="bg2"/>
                </a:solidFill>
              </a:rPr>
              <a:t>init</a:t>
            </a:r>
            <a:r>
              <a:rPr kumimoji="1" lang="en-GB" altLang="zh-CN" sz="1400" dirty="0">
                <a:solidFill>
                  <a:schemeClr val="bg2"/>
                </a:solidFill>
              </a:rPr>
              <a:t>__ has 3 parameters. When initialize an object, self is not needed</a:t>
            </a:r>
            <a:endParaRPr kumimoji="1" lang="en-GB" altLang="zh-CN" sz="1400" dirty="0">
              <a:solidFill>
                <a:schemeClr val="bg2"/>
              </a:solidFill>
            </a:endParaRPr>
          </a:p>
          <a:p>
            <a:r>
              <a:rPr kumimoji="1" lang="en-GB" altLang="zh-CN" sz="1400" dirty="0">
                <a:solidFill>
                  <a:schemeClr val="bg2"/>
                </a:solidFill>
              </a:rPr>
              <a:t>__</a:t>
            </a:r>
            <a:r>
              <a:rPr kumimoji="1" lang="en-GB" altLang="zh-CN" sz="1400" dirty="0" err="1">
                <a:solidFill>
                  <a:schemeClr val="bg2"/>
                </a:solidFill>
              </a:rPr>
              <a:t>init</a:t>
            </a:r>
            <a:r>
              <a:rPr kumimoji="1" lang="en-GB" altLang="zh-CN" sz="1400" dirty="0">
                <a:solidFill>
                  <a:schemeClr val="bg2"/>
                </a:solidFill>
              </a:rPr>
              <a:t>__ will be called when the object is created</a:t>
            </a:r>
            <a:endParaRPr kumimoji="1" lang="en-GB" altLang="zh-CN" sz="1400" dirty="0">
              <a:solidFill>
                <a:schemeClr val="bg2"/>
              </a:solidFill>
            </a:endParaRPr>
          </a:p>
        </p:txBody>
      </p:sp>
      <p:pic>
        <p:nvPicPr>
          <p:cNvPr id="4" name="图片 3" descr="文本&#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08634" y="1042353"/>
            <a:ext cx="2952092" cy="3058794"/>
          </a:xfrm>
          <a:prstGeom prst="rect">
            <a:avLst/>
          </a:prstGeom>
        </p:spPr>
      </p:pic>
      <p:pic>
        <p:nvPicPr>
          <p:cNvPr id="6" name="图片 5" descr="文本&#10;&#10;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93021" y="1042353"/>
            <a:ext cx="2015825" cy="617249"/>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3021" y="2041325"/>
            <a:ext cx="3238234" cy="363652"/>
          </a:xfrm>
          <a:prstGeom prst="rect">
            <a:avLst/>
          </a:prstGeom>
        </p:spPr>
      </p:pic>
      <p:sp>
        <p:nvSpPr>
          <p:cNvPr id="8" name="Rectangle 1"/>
          <p:cNvSpPr/>
          <p:nvPr/>
        </p:nvSpPr>
        <p:spPr>
          <a:xfrm>
            <a:off x="6696667" y="1039277"/>
            <a:ext cx="1838036" cy="623400"/>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tx1"/>
              </a:buClr>
            </a:pPr>
            <a:r>
              <a:rPr lang="en-US" altLang="zh-CN" sz="1200" dirty="0">
                <a:solidFill>
                  <a:schemeClr val="tx1"/>
                </a:solidFill>
                <a:latin typeface="Source Sans Pro" panose="020B0503030403020204" pitchFamily="34" charset="0"/>
                <a:ea typeface="Source Sans Pro" panose="020B0503030403020204" pitchFamily="34" charset="0"/>
              </a:rPr>
              <a:t>3953</a:t>
            </a:r>
            <a:r>
              <a:rPr lang="zh-CN" altLang="en-US" sz="1200" dirty="0">
                <a:solidFill>
                  <a:schemeClr val="tx1"/>
                </a:solidFill>
                <a:latin typeface="Source Sans Pro" panose="020B0503030403020204" pitchFamily="34" charset="0"/>
                <a:ea typeface="Source Sans Pro" panose="020B0503030403020204" pitchFamily="34" charset="0"/>
              </a:rPr>
              <a:t>：”</a:t>
            </a:r>
            <a:r>
              <a:rPr lang="en-US" altLang="zh-CN" sz="1200" dirty="0">
                <a:solidFill>
                  <a:schemeClr val="tx1"/>
                </a:solidFill>
                <a:latin typeface="Source Sans Pro" panose="020B0503030403020204" pitchFamily="34" charset="0"/>
                <a:ea typeface="Source Sans Pro" panose="020B0503030403020204" pitchFamily="34" charset="0"/>
              </a:rPr>
              <a:t>=” </a:t>
            </a:r>
            <a:r>
              <a:rPr lang="zh-CN" altLang="en-US" sz="1200" dirty="0">
                <a:solidFill>
                  <a:schemeClr val="tx1"/>
                </a:solidFill>
                <a:latin typeface="黑体" panose="02010609060101010101" pitchFamily="49" charset="-122"/>
                <a:ea typeface="黑体" panose="02010609060101010101" pitchFamily="49" charset="-122"/>
              </a:rPr>
              <a:t>定义变量</a:t>
            </a:r>
            <a:endParaRPr lang="zh-CN" altLang="en-US" sz="1200" dirty="0">
              <a:solidFill>
                <a:schemeClr val="tx1"/>
              </a:solidFill>
              <a:latin typeface="黑体" panose="02010609060101010101" pitchFamily="49" charset="-122"/>
              <a:ea typeface="黑体" panose="02010609060101010101" pitchFamily="49" charset="-122"/>
            </a:endParaRPr>
          </a:p>
          <a:p>
            <a:pPr>
              <a:buClr>
                <a:schemeClr val="tx1"/>
              </a:buClr>
            </a:pPr>
            <a:r>
              <a:rPr lang="en-US" altLang="zh-CN" sz="1200" dirty="0">
                <a:solidFill>
                  <a:schemeClr val="tx1"/>
                </a:solidFill>
                <a:latin typeface="Source Sans Pro" panose="020B0503030403020204" pitchFamily="34" charset="0"/>
                <a:ea typeface="Source Sans Pro" panose="020B0503030403020204" pitchFamily="34" charset="0"/>
              </a:rPr>
              <a:t>3965</a:t>
            </a:r>
            <a:r>
              <a:rPr lang="zh-CN" altLang="en-US" sz="1200" dirty="0">
                <a:solidFill>
                  <a:schemeClr val="tx1"/>
                </a:solidFill>
                <a:latin typeface="Source Sans Pro" panose="020B0503030403020204" pitchFamily="34" charset="0"/>
                <a:ea typeface="Source Sans Pro" panose="020B0503030403020204" pitchFamily="34" charset="0"/>
              </a:rPr>
              <a:t>： </a:t>
            </a:r>
            <a:r>
              <a:rPr lang="en-GB" altLang="zh-CN" sz="1200" dirty="0">
                <a:solidFill>
                  <a:schemeClr val="tx1"/>
                </a:solidFill>
                <a:latin typeface="Source Sans Pro" panose="020B0503030403020204" pitchFamily="34" charset="0"/>
                <a:ea typeface="Source Sans Pro" panose="020B0503030403020204" pitchFamily="34" charset="0"/>
              </a:rPr>
              <a:t>self = pt1</a:t>
            </a:r>
            <a:endParaRPr lang="en-GB" altLang="zh-CN" sz="1200" dirty="0">
              <a:solidFill>
                <a:schemeClr val="tx1"/>
              </a:solidFill>
              <a:latin typeface="Source Sans Pro" panose="020B0503030403020204" pitchFamily="34" charset="0"/>
              <a:ea typeface="Source Sans Pro" panose="020B0503030403020204" pitchFamily="34" charset="0"/>
            </a:endParaRPr>
          </a:p>
          <a:p>
            <a:pPr>
              <a:buClr>
                <a:schemeClr val="tx1"/>
              </a:buClr>
            </a:pPr>
            <a:r>
              <a:rPr lang="en-GB" altLang="zh-CN" sz="1200" dirty="0">
                <a:solidFill>
                  <a:schemeClr val="tx1"/>
                </a:solidFill>
                <a:latin typeface="Source Sans Pro" panose="020B0503030403020204" pitchFamily="34" charset="0"/>
                <a:ea typeface="Source Sans Pro" panose="020B0503030403020204" pitchFamily="34" charset="0"/>
              </a:rPr>
              <a:t>3966:    self = pt2</a:t>
            </a:r>
            <a:endParaRPr lang="en-GB" altLang="zh-CN" sz="1200" dirty="0">
              <a:solidFill>
                <a:schemeClr val="tx1"/>
              </a:solidFill>
              <a:latin typeface="Source Sans Pro" panose="020B0503030403020204" pitchFamily="34" charset="0"/>
              <a:ea typeface="Source Sans Pro" panose="020B0503030403020204" pitchFamily="34" charset="0"/>
            </a:endParaRPr>
          </a:p>
        </p:txBody>
      </p:sp>
      <p:pic>
        <p:nvPicPr>
          <p:cNvPr id="12" name="图片 11" descr="文本&#10;&#10;描述已自动生成"/>
          <p:cNvPicPr>
            <a:picLocks noChangeAspect="1"/>
          </p:cNvPicPr>
          <p:nvPr/>
        </p:nvPicPr>
        <p:blipFill>
          <a:blip r:embed="rId4"/>
          <a:stretch>
            <a:fillRect/>
          </a:stretch>
        </p:blipFill>
        <p:spPr>
          <a:xfrm>
            <a:off x="408634" y="4221191"/>
            <a:ext cx="2224838" cy="85285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a:t>Class Point: default parameters</a:t>
            </a:r>
            <a:endParaRPr kumimoji="1" lang="zh-CN" altLang="en-US" dirty="0"/>
          </a:p>
        </p:txBody>
      </p:sp>
      <p:pic>
        <p:nvPicPr>
          <p:cNvPr id="4" name="图片 3" descr="文本&#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90835" y="1608106"/>
            <a:ext cx="3514725" cy="1666875"/>
          </a:xfrm>
          <a:prstGeom prst="rect">
            <a:avLst/>
          </a:prstGeom>
        </p:spPr>
      </p:pic>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41008" y="2236755"/>
            <a:ext cx="609600" cy="40957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a:t>Class Dog</a:t>
            </a:r>
            <a:endParaRPr kumimoji="1" lang="zh-CN" altLang="en-US" dirty="0"/>
          </a:p>
        </p:txBody>
      </p:sp>
      <p:pic>
        <p:nvPicPr>
          <p:cNvPr id="5" name="图片 4" descr="图形用户界面, 文本&#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291365" y="3731359"/>
            <a:ext cx="3272672" cy="451940"/>
          </a:xfrm>
          <a:prstGeom prst="rect">
            <a:avLst/>
          </a:prstGeom>
        </p:spPr>
      </p:pic>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1365" y="1068425"/>
            <a:ext cx="2095500" cy="15716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undefin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35031" y="1068425"/>
            <a:ext cx="1491599" cy="1758015"/>
          </a:xfrm>
          <a:prstGeom prst="rect">
            <a:avLst/>
          </a:prstGeom>
          <a:noFill/>
          <a:extLst>
            <a:ext uri="{909E8E84-426E-40DD-AFC4-6F175D3DCCD1}">
              <a14:hiddenFill xmlns:a14="http://schemas.microsoft.com/office/drawing/2010/main">
                <a:solidFill>
                  <a:srgbClr val="FFFFFF"/>
                </a:solidFill>
              </a14:hiddenFill>
            </a:ext>
          </a:extLst>
        </p:spPr>
      </p:pic>
      <p:pic>
        <p:nvPicPr>
          <p:cNvPr id="6" name="图片 5"/>
          <p:cNvPicPr>
            <a:picLocks noChangeAspect="1"/>
          </p:cNvPicPr>
          <p:nvPr/>
        </p:nvPicPr>
        <p:blipFill>
          <a:blip r:embed="rId4"/>
          <a:stretch>
            <a:fillRect/>
          </a:stretch>
        </p:blipFill>
        <p:spPr>
          <a:xfrm>
            <a:off x="123038" y="1068425"/>
            <a:ext cx="5020161" cy="385852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a:t>Member functions</a:t>
            </a:r>
            <a:endParaRPr kumimoji="1" lang="zh-CN" altLang="en-US" dirty="0"/>
          </a:p>
        </p:txBody>
      </p:sp>
      <p:sp>
        <p:nvSpPr>
          <p:cNvPr id="3" name="文本占位符 2"/>
          <p:cNvSpPr>
            <a:spLocks noGrp="1"/>
          </p:cNvSpPr>
          <p:nvPr>
            <p:ph type="body" idx="1"/>
          </p:nvPr>
        </p:nvSpPr>
        <p:spPr>
          <a:xfrm>
            <a:off x="311700" y="1152475"/>
            <a:ext cx="8520600" cy="840236"/>
          </a:xfrm>
        </p:spPr>
        <p:txBody>
          <a:bodyPr>
            <a:noAutofit/>
          </a:bodyPr>
          <a:lstStyle/>
          <a:p>
            <a:r>
              <a:rPr kumimoji="1" lang="en-GB" altLang="zh-CN" sz="1400" dirty="0">
                <a:solidFill>
                  <a:schemeClr val="bg2"/>
                </a:solidFill>
              </a:rPr>
              <a:t>Member functions: the same with the general function definition, except that the first parameter should be </a:t>
            </a:r>
            <a:r>
              <a:rPr kumimoji="1" lang="en-GB" altLang="zh-CN" sz="1400" dirty="0">
                <a:solidFill>
                  <a:schemeClr val="tx1"/>
                </a:solidFill>
              </a:rPr>
              <a:t>self</a:t>
            </a:r>
            <a:endParaRPr kumimoji="1" lang="en-GB" altLang="zh-CN" sz="1400" dirty="0">
              <a:solidFill>
                <a:schemeClr val="tx1"/>
              </a:solidFill>
            </a:endParaRPr>
          </a:p>
          <a:p>
            <a:r>
              <a:rPr kumimoji="1" lang="en-GB" altLang="zh-CN" sz="1400" dirty="0">
                <a:solidFill>
                  <a:schemeClr val="bg2"/>
                </a:solidFill>
              </a:rPr>
              <a:t>When called member functions, </a:t>
            </a:r>
            <a:r>
              <a:rPr kumimoji="1" lang="en-GB" altLang="zh-CN" sz="1400" dirty="0">
                <a:solidFill>
                  <a:schemeClr val="tx1"/>
                </a:solidFill>
              </a:rPr>
              <a:t>self is omitted</a:t>
            </a:r>
            <a:endParaRPr kumimoji="1" lang="en-GB" altLang="zh-CN" sz="1400" dirty="0">
              <a:solidFill>
                <a:schemeClr val="tx1"/>
              </a:solidFill>
            </a:endParaRPr>
          </a:p>
        </p:txBody>
      </p:sp>
      <p:pic>
        <p:nvPicPr>
          <p:cNvPr id="7" name="图片 6" descr="文本&#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811922" y="4269483"/>
            <a:ext cx="2743697" cy="368846"/>
          </a:xfrm>
          <a:prstGeom prst="rect">
            <a:avLst/>
          </a:prstGeom>
        </p:spPr>
      </p:pic>
      <p:sp>
        <p:nvSpPr>
          <p:cNvPr id="8" name="Rectangle 1"/>
          <p:cNvSpPr/>
          <p:nvPr/>
        </p:nvSpPr>
        <p:spPr>
          <a:xfrm>
            <a:off x="3569970" y="111760"/>
            <a:ext cx="4538980" cy="1129665"/>
          </a:xfrm>
          <a:prstGeom prst="rect">
            <a:avLst/>
          </a:prstGeom>
          <a:noFill/>
          <a:ln>
            <a:solidFill>
              <a:schemeClr val="bg1"/>
            </a:solidFill>
          </a:ln>
          <a:extLst>
            <a:ext uri="{909E8E84-426E-40DD-AFC4-6F175D3DCCD1}">
              <a14:hiddenFill xmlns:a14="http://schemas.microsoft.com/office/drawing/2010/main">
                <a:solidFill>
                  <a:schemeClr val="tx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tx1"/>
              </a:buClr>
            </a:pPr>
            <a:r>
              <a:rPr lang="zh-CN" altLang="en-US" sz="3600" dirty="0">
                <a:ln>
                  <a:noFill/>
                </a:ln>
                <a:solidFill>
                  <a:srgbClr val="FF0000"/>
                </a:solidFill>
                <a:highlight>
                  <a:srgbClr val="FFFF00"/>
                </a:highlight>
                <a:latin typeface="黑体" panose="02010609060101010101" pitchFamily="49" charset="-122"/>
                <a:ea typeface="黑体" panose="02010609060101010101" pitchFamily="49" charset="-122"/>
              </a:rPr>
              <a:t>不建议</a:t>
            </a:r>
            <a:r>
              <a:rPr lang="en-US" altLang="zh-CN" sz="3600" dirty="0">
                <a:ln>
                  <a:noFill/>
                </a:ln>
                <a:solidFill>
                  <a:srgbClr val="FF0000"/>
                </a:solidFill>
                <a:highlight>
                  <a:srgbClr val="FFFF00"/>
                </a:highlight>
                <a:latin typeface="黑体" panose="02010609060101010101" pitchFamily="49" charset="-122"/>
                <a:ea typeface="黑体" panose="02010609060101010101" pitchFamily="49" charset="-122"/>
              </a:rPr>
              <a:t>10-14</a:t>
            </a:r>
            <a:r>
              <a:rPr lang="zh-CN" altLang="en-US" sz="3600" dirty="0">
                <a:ln>
                  <a:noFill/>
                </a:ln>
                <a:solidFill>
                  <a:srgbClr val="FF0000"/>
                </a:solidFill>
                <a:highlight>
                  <a:srgbClr val="FFFF00"/>
                </a:highlight>
                <a:latin typeface="黑体" panose="02010609060101010101" pitchFamily="49" charset="-122"/>
                <a:ea typeface="黑体" panose="02010609060101010101" pitchFamily="49" charset="-122"/>
              </a:rPr>
              <a:t>这种写法</a:t>
            </a:r>
            <a:endParaRPr lang="zh-CN" altLang="en-US" sz="3600" dirty="0">
              <a:ln>
                <a:noFill/>
              </a:ln>
              <a:solidFill>
                <a:srgbClr val="FF0000"/>
              </a:solidFill>
              <a:highlight>
                <a:srgbClr val="FFFF00"/>
              </a:highlight>
              <a:latin typeface="黑体" panose="02010609060101010101" pitchFamily="49" charset="-122"/>
              <a:ea typeface="黑体" panose="02010609060101010101" pitchFamily="49" charset="-122"/>
            </a:endParaRPr>
          </a:p>
        </p:txBody>
      </p:sp>
      <p:pic>
        <p:nvPicPr>
          <p:cNvPr id="9" name="图片 8"/>
          <p:cNvPicPr>
            <a:picLocks noChangeAspect="1"/>
          </p:cNvPicPr>
          <p:nvPr/>
        </p:nvPicPr>
        <p:blipFill>
          <a:blip r:embed="rId2"/>
          <a:stretch>
            <a:fillRect/>
          </a:stretch>
        </p:blipFill>
        <p:spPr>
          <a:xfrm>
            <a:off x="503203" y="1992711"/>
            <a:ext cx="5143544" cy="3041120"/>
          </a:xfrm>
          <a:prstGeom prst="rect">
            <a:avLst/>
          </a:prstGeom>
        </p:spPr>
      </p:pic>
      <p:pic>
        <p:nvPicPr>
          <p:cNvPr id="11" name="图片 10"/>
          <p:cNvPicPr>
            <a:picLocks noChangeAspect="1"/>
          </p:cNvPicPr>
          <p:nvPr/>
        </p:nvPicPr>
        <p:blipFill>
          <a:blip r:embed="rId3"/>
          <a:stretch>
            <a:fillRect/>
          </a:stretch>
        </p:blipFill>
        <p:spPr>
          <a:xfrm>
            <a:off x="6069026" y="1576338"/>
            <a:ext cx="2486593" cy="2571751"/>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a:solidFill>
                  <a:srgbClr val="FF0000"/>
                </a:solidFill>
                <a:highlight>
                  <a:srgbClr val="FFFF00"/>
                </a:highlight>
              </a:rPr>
              <a:t>Member functions: no self</a:t>
            </a:r>
            <a:endParaRPr kumimoji="1" lang="en-GB" altLang="zh-CN" dirty="0">
              <a:solidFill>
                <a:srgbClr val="FF0000"/>
              </a:solidFill>
              <a:highlight>
                <a:srgbClr val="FFFF00"/>
              </a:highlight>
            </a:endParaRPr>
          </a:p>
        </p:txBody>
      </p:sp>
      <p:sp>
        <p:nvSpPr>
          <p:cNvPr id="3" name="文本占位符 2"/>
          <p:cNvSpPr>
            <a:spLocks noGrp="1"/>
          </p:cNvSpPr>
          <p:nvPr>
            <p:ph type="body" idx="1"/>
          </p:nvPr>
        </p:nvSpPr>
        <p:spPr>
          <a:xfrm>
            <a:off x="311700" y="1152476"/>
            <a:ext cx="8520600" cy="686392"/>
          </a:xfrm>
        </p:spPr>
        <p:txBody>
          <a:bodyPr>
            <a:normAutofit/>
          </a:bodyPr>
          <a:lstStyle/>
          <a:p>
            <a:r>
              <a:rPr kumimoji="1" lang="en-GB" altLang="zh-CN" sz="1400" dirty="0">
                <a:solidFill>
                  <a:schemeClr val="bg2"/>
                </a:solidFill>
              </a:rPr>
              <a:t>Member functions without self </a:t>
            </a:r>
            <a:r>
              <a:rPr kumimoji="1" lang="en-GB" altLang="zh-CN" sz="1400" dirty="0">
                <a:solidFill>
                  <a:schemeClr val="tx1"/>
                </a:solidFill>
              </a:rPr>
              <a:t>cannot be called by an object</a:t>
            </a:r>
            <a:r>
              <a:rPr kumimoji="1" lang="en-GB" altLang="zh-CN" sz="1400" dirty="0">
                <a:solidFill>
                  <a:schemeClr val="bg2"/>
                </a:solidFill>
              </a:rPr>
              <a:t>, but called inside the class implementation via: </a:t>
            </a:r>
            <a:r>
              <a:rPr kumimoji="1" lang="en-GB" altLang="zh-CN" sz="1400" dirty="0" err="1">
                <a:solidFill>
                  <a:schemeClr val="tx1"/>
                </a:solidFill>
              </a:rPr>
              <a:t>ClassName.func</a:t>
            </a:r>
            <a:r>
              <a:rPr kumimoji="1" lang="en-GB" altLang="zh-CN" sz="1400" dirty="0">
                <a:solidFill>
                  <a:schemeClr val="tx1"/>
                </a:solidFill>
              </a:rPr>
              <a:t>()</a:t>
            </a:r>
            <a:endParaRPr kumimoji="1" lang="en-GB" altLang="zh-CN" sz="1400" dirty="0">
              <a:solidFill>
                <a:schemeClr val="tx1"/>
              </a:solidFill>
            </a:endParaRPr>
          </a:p>
        </p:txBody>
      </p:sp>
      <p:pic>
        <p:nvPicPr>
          <p:cNvPr id="4" name="图片 3" descr="文本&#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41619" y="1775083"/>
            <a:ext cx="2419359" cy="2345486"/>
          </a:xfrm>
          <a:prstGeom prst="rect">
            <a:avLst/>
          </a:prstGeom>
        </p:spPr>
      </p:pic>
      <p:pic>
        <p:nvPicPr>
          <p:cNvPr id="5" name="图片 4" descr="电脑萤幕的截图&#10;&#10;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619" y="4250114"/>
            <a:ext cx="4225265" cy="577776"/>
          </a:xfrm>
          <a:prstGeom prst="rect">
            <a:avLst/>
          </a:prstGeom>
        </p:spPr>
      </p:pic>
      <p:pic>
        <p:nvPicPr>
          <p:cNvPr id="6" name="图片 5" descr="文本&#10;&#10;描述已自动生成"/>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59670" y="1775083"/>
            <a:ext cx="2419359" cy="2725687"/>
          </a:xfrm>
          <a:prstGeom prst="rect">
            <a:avLst/>
          </a:prstGeom>
        </p:spPr>
      </p:pic>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10456" y="4030600"/>
            <a:ext cx="295208" cy="439027"/>
          </a:xfrm>
          <a:prstGeom prst="rect">
            <a:avLst/>
          </a:prstGeom>
        </p:spPr>
      </p:pic>
      <p:sp>
        <p:nvSpPr>
          <p:cNvPr id="9" name="Rectangle 1"/>
          <p:cNvSpPr/>
          <p:nvPr/>
        </p:nvSpPr>
        <p:spPr>
          <a:xfrm>
            <a:off x="5159670" y="4690725"/>
            <a:ext cx="3185433" cy="274330"/>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tx1"/>
              </a:buClr>
            </a:pPr>
            <a:r>
              <a:rPr lang="en-GB" altLang="zh-CN" sz="1200" dirty="0">
                <a:solidFill>
                  <a:schemeClr val="bg2"/>
                </a:solidFill>
                <a:latin typeface="Source Sans Pro" panose="020B0503030403020204" pitchFamily="34" charset="0"/>
                <a:ea typeface="Source Sans Pro" panose="020B0503030403020204" pitchFamily="34" charset="0"/>
              </a:rPr>
              <a:t>Line 4284, error: add is not a function of self</a:t>
            </a:r>
            <a:endParaRPr lang="en-GB" altLang="zh-CN" sz="1200" dirty="0">
              <a:solidFill>
                <a:schemeClr val="bg2"/>
              </a:solidFill>
              <a:latin typeface="Source Sans Pro" panose="020B0503030403020204" pitchFamily="34" charset="0"/>
              <a:ea typeface="Source Sans Pro" panose="020B0503030403020204" pitchFamily="34" charset="0"/>
            </a:endParaRPr>
          </a:p>
        </p:txBody>
      </p:sp>
      <p:sp>
        <p:nvSpPr>
          <p:cNvPr id="11" name="文本框 10"/>
          <p:cNvSpPr txBox="1"/>
          <p:nvPr/>
        </p:nvSpPr>
        <p:spPr>
          <a:xfrm>
            <a:off x="3150789" y="2197650"/>
            <a:ext cx="1241659" cy="276999"/>
          </a:xfrm>
          <a:prstGeom prst="rect">
            <a:avLst/>
          </a:prstGeom>
          <a:noFill/>
        </p:spPr>
        <p:txBody>
          <a:bodyPr wrap="square">
            <a:spAutoFit/>
          </a:bodyPr>
          <a:lstStyle/>
          <a:p>
            <a:pPr>
              <a:buClr>
                <a:schemeClr val="tx1"/>
              </a:buClr>
            </a:pPr>
            <a:r>
              <a:rPr lang="en-GB" altLang="zh-CN" sz="1200" dirty="0">
                <a:solidFill>
                  <a:schemeClr val="tx1"/>
                </a:solidFill>
                <a:latin typeface="Source Sans Pro" panose="020B0503030403020204" pitchFamily="34" charset="0"/>
                <a:ea typeface="Source Sans Pro" panose="020B0503030403020204" pitchFamily="34" charset="0"/>
              </a:rPr>
              <a:t>Line 4288, u=self</a:t>
            </a:r>
            <a:endParaRPr lang="en-GB" altLang="zh-CN" sz="1200" dirty="0">
              <a:solidFill>
                <a:schemeClr val="tx1"/>
              </a:solidFill>
              <a:latin typeface="Source Sans Pro" panose="020B0503030403020204" pitchFamily="34" charset="0"/>
              <a:ea typeface="Source Sans Pro" panose="020B0503030403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a:t>class Triangle, self</a:t>
            </a:r>
            <a:endParaRPr kumimoji="1" lang="zh-CN" altLang="en-US" dirty="0"/>
          </a:p>
        </p:txBody>
      </p:sp>
      <p:sp>
        <p:nvSpPr>
          <p:cNvPr id="3" name="文本占位符 2"/>
          <p:cNvSpPr>
            <a:spLocks noGrp="1"/>
          </p:cNvSpPr>
          <p:nvPr>
            <p:ph type="body" idx="1"/>
          </p:nvPr>
        </p:nvSpPr>
        <p:spPr>
          <a:xfrm>
            <a:off x="4987142" y="1196404"/>
            <a:ext cx="4082362" cy="3825007"/>
          </a:xfrm>
        </p:spPr>
        <p:txBody>
          <a:bodyPr>
            <a:noAutofit/>
          </a:bodyPr>
          <a:lstStyle/>
          <a:p>
            <a:pPr marL="114300" indent="0">
              <a:buNone/>
            </a:pPr>
            <a:r>
              <a:rPr kumimoji="1" lang="en-GB" altLang="zh-CN" sz="1400" dirty="0">
                <a:solidFill>
                  <a:schemeClr val="bg2"/>
                </a:solidFill>
              </a:rPr>
              <a:t>Q: </a:t>
            </a:r>
            <a:r>
              <a:rPr kumimoji="1" lang="zh-CN" altLang="en-US" sz="1400" dirty="0">
                <a:solidFill>
                  <a:schemeClr val="bg2"/>
                </a:solidFill>
                <a:latin typeface="黑体" panose="02010609060101010101" pitchFamily="49" charset="-122"/>
                <a:ea typeface="黑体" panose="02010609060101010101" pitchFamily="49" charset="-122"/>
              </a:rPr>
              <a:t>为什么有个</a:t>
            </a:r>
            <a:r>
              <a:rPr kumimoji="1" lang="en-GB" altLang="zh-CN" sz="1400" dirty="0">
                <a:solidFill>
                  <a:schemeClr val="bg2"/>
                </a:solidFill>
              </a:rPr>
              <a:t>self</a:t>
            </a:r>
            <a:r>
              <a:rPr kumimoji="1" lang="zh-CN" altLang="en-GB" sz="1400" dirty="0">
                <a:solidFill>
                  <a:schemeClr val="bg2"/>
                </a:solidFill>
              </a:rPr>
              <a:t>？</a:t>
            </a:r>
            <a:r>
              <a:rPr kumimoji="1" lang="zh-CN" altLang="en-US" sz="1400" dirty="0">
                <a:solidFill>
                  <a:schemeClr val="bg2"/>
                </a:solidFill>
                <a:latin typeface="黑体" panose="02010609060101010101" pitchFamily="49" charset="-122"/>
                <a:ea typeface="黑体" panose="02010609060101010101" pitchFamily="49" charset="-122"/>
              </a:rPr>
              <a:t>为什么</a:t>
            </a:r>
            <a:r>
              <a:rPr kumimoji="1" lang="en-US" altLang="zh-CN" sz="1400" dirty="0">
                <a:solidFill>
                  <a:schemeClr val="bg2"/>
                </a:solidFill>
              </a:rPr>
              <a:t>__</a:t>
            </a:r>
            <a:r>
              <a:rPr kumimoji="1" lang="en-GB" altLang="zh-CN" sz="1400" dirty="0" err="1">
                <a:solidFill>
                  <a:schemeClr val="bg2"/>
                </a:solidFill>
              </a:rPr>
              <a:t>init</a:t>
            </a:r>
            <a:r>
              <a:rPr kumimoji="1" lang="en-GB" altLang="zh-CN" sz="1400" dirty="0">
                <a:solidFill>
                  <a:schemeClr val="bg2"/>
                </a:solidFill>
              </a:rPr>
              <a:t>__()</a:t>
            </a:r>
            <a:r>
              <a:rPr kumimoji="1" lang="zh-CN" altLang="en-US" sz="1400" dirty="0">
                <a:solidFill>
                  <a:schemeClr val="bg2"/>
                </a:solidFill>
                <a:latin typeface="黑体" panose="02010609060101010101" pitchFamily="49" charset="-122"/>
                <a:ea typeface="黑体" panose="02010609060101010101" pitchFamily="49" charset="-122"/>
              </a:rPr>
              <a:t>有四个参数，而</a:t>
            </a:r>
            <a:r>
              <a:rPr kumimoji="1" lang="en-GB" altLang="zh-CN" sz="1400" dirty="0">
                <a:solidFill>
                  <a:schemeClr val="bg2"/>
                </a:solidFill>
              </a:rPr>
              <a:t>tr1, tr2</a:t>
            </a:r>
            <a:r>
              <a:rPr kumimoji="1" lang="zh-CN" altLang="en-US" sz="1400" dirty="0">
                <a:solidFill>
                  <a:schemeClr val="bg2"/>
                </a:solidFill>
                <a:latin typeface="黑体" panose="02010609060101010101" pitchFamily="49" charset="-122"/>
                <a:ea typeface="黑体" panose="02010609060101010101" pitchFamily="49" charset="-122"/>
              </a:rPr>
              <a:t>定义时只传递了三个参数</a:t>
            </a:r>
            <a:endParaRPr kumimoji="1" lang="zh-CN" altLang="en-US" sz="1400" dirty="0">
              <a:solidFill>
                <a:schemeClr val="bg2"/>
              </a:solidFill>
              <a:latin typeface="黑体" panose="02010609060101010101" pitchFamily="49" charset="-122"/>
              <a:ea typeface="黑体" panose="02010609060101010101" pitchFamily="49" charset="-122"/>
            </a:endParaRPr>
          </a:p>
          <a:p>
            <a:r>
              <a:rPr kumimoji="1" lang="zh-CN" altLang="en-US" sz="1200" dirty="0">
                <a:solidFill>
                  <a:schemeClr val="bg2"/>
                </a:solidFill>
                <a:latin typeface="黑体" panose="02010609060101010101" pitchFamily="49" charset="-122"/>
                <a:ea typeface="黑体" panose="02010609060101010101" pitchFamily="49" charset="-122"/>
              </a:rPr>
              <a:t>不同对象的属性，保存在不同的内存位置</a:t>
            </a:r>
            <a:r>
              <a:rPr kumimoji="1" lang="en-US" altLang="zh-CN" sz="1200" dirty="0">
                <a:solidFill>
                  <a:schemeClr val="bg2"/>
                </a:solidFill>
                <a:latin typeface="黑体" panose="02010609060101010101" pitchFamily="49" charset="-122"/>
                <a:ea typeface="黑体" panose="02010609060101010101" pitchFamily="49" charset="-122"/>
              </a:rPr>
              <a:t>: </a:t>
            </a:r>
            <a:r>
              <a:rPr kumimoji="1" lang="en-GB" altLang="zh-CN" sz="1200" dirty="0">
                <a:solidFill>
                  <a:schemeClr val="bg2"/>
                </a:solidFill>
              </a:rPr>
              <a:t>tr1.a, tr2.a</a:t>
            </a:r>
            <a:endParaRPr kumimoji="1" lang="en-GB" altLang="zh-CN" sz="1200" dirty="0">
              <a:solidFill>
                <a:schemeClr val="bg2"/>
              </a:solidFill>
            </a:endParaRPr>
          </a:p>
          <a:p>
            <a:r>
              <a:rPr kumimoji="1" lang="zh-CN" altLang="en-US" sz="1200" dirty="0">
                <a:solidFill>
                  <a:schemeClr val="bg2"/>
                </a:solidFill>
                <a:latin typeface="黑体" panose="02010609060101010101" pitchFamily="49" charset="-122"/>
                <a:ea typeface="黑体" panose="02010609060101010101" pitchFamily="49" charset="-122"/>
              </a:rPr>
              <a:t>为了节省内存空间。同一类的不同对象，共享方法</a:t>
            </a:r>
            <a:r>
              <a:rPr kumimoji="1" lang="en-US" altLang="zh-CN" sz="1200" dirty="0">
                <a:solidFill>
                  <a:schemeClr val="bg2"/>
                </a:solidFill>
                <a:latin typeface="黑体" panose="02010609060101010101" pitchFamily="49" charset="-122"/>
                <a:ea typeface="黑体" panose="02010609060101010101" pitchFamily="49" charset="-122"/>
              </a:rPr>
              <a:t>(</a:t>
            </a:r>
            <a:r>
              <a:rPr kumimoji="1" lang="zh-CN" altLang="en-US" sz="1200" dirty="0">
                <a:solidFill>
                  <a:schemeClr val="bg2"/>
                </a:solidFill>
                <a:latin typeface="黑体" panose="02010609060101010101" pitchFamily="49" charset="-122"/>
                <a:ea typeface="黑体" panose="02010609060101010101" pitchFamily="49" charset="-122"/>
              </a:rPr>
              <a:t>函数</a:t>
            </a:r>
            <a:r>
              <a:rPr kumimoji="1" lang="en-US" altLang="zh-CN" sz="1200" dirty="0">
                <a:solidFill>
                  <a:schemeClr val="bg2"/>
                </a:solidFill>
                <a:latin typeface="黑体" panose="02010609060101010101" pitchFamily="49" charset="-122"/>
                <a:ea typeface="黑体" panose="02010609060101010101" pitchFamily="49" charset="-122"/>
              </a:rPr>
              <a:t>)</a:t>
            </a:r>
            <a:r>
              <a:rPr kumimoji="1" lang="zh-CN" altLang="en-US" sz="1200" dirty="0">
                <a:solidFill>
                  <a:schemeClr val="bg2"/>
                </a:solidFill>
                <a:latin typeface="黑体" panose="02010609060101010101" pitchFamily="49" charset="-122"/>
                <a:ea typeface="黑体" panose="02010609060101010101" pitchFamily="49" charset="-122"/>
              </a:rPr>
              <a:t>的空间。执行的时候，都是跳转到同一段代码。</a:t>
            </a:r>
            <a:r>
              <a:rPr kumimoji="1" lang="zh-CN" altLang="en-US" sz="1200" dirty="0">
                <a:solidFill>
                  <a:schemeClr val="tx1"/>
                </a:solidFill>
                <a:latin typeface="黑体" panose="02010609060101010101" pitchFamily="49" charset="-122"/>
                <a:ea typeface="黑体" panose="02010609060101010101" pitchFamily="49" charset="-122"/>
              </a:rPr>
              <a:t>问题：严重干扰，如何区分</a:t>
            </a:r>
            <a:r>
              <a:rPr kumimoji="1" lang="en-GB" altLang="zh-CN" sz="1200" dirty="0">
                <a:solidFill>
                  <a:schemeClr val="tx1"/>
                </a:solidFill>
              </a:rPr>
              <a:t>a</a:t>
            </a:r>
            <a:r>
              <a:rPr kumimoji="1" lang="zh-CN" altLang="en-US" sz="1200" dirty="0">
                <a:solidFill>
                  <a:schemeClr val="tx1"/>
                </a:solidFill>
                <a:latin typeface="黑体" panose="02010609060101010101" pitchFamily="49" charset="-122"/>
                <a:ea typeface="黑体" panose="02010609060101010101" pitchFamily="49" charset="-122"/>
              </a:rPr>
              <a:t>是属于</a:t>
            </a:r>
            <a:r>
              <a:rPr kumimoji="1" lang="en-GB" altLang="zh-CN" sz="1200" dirty="0">
                <a:solidFill>
                  <a:schemeClr val="tx1"/>
                </a:solidFill>
              </a:rPr>
              <a:t>tr1</a:t>
            </a:r>
            <a:r>
              <a:rPr kumimoji="1" lang="zh-CN" altLang="en-US" sz="1200" dirty="0">
                <a:solidFill>
                  <a:schemeClr val="tx1"/>
                </a:solidFill>
                <a:latin typeface="黑体" panose="02010609060101010101" pitchFamily="49" charset="-122"/>
                <a:ea typeface="黑体" panose="02010609060101010101" pitchFamily="49" charset="-122"/>
              </a:rPr>
              <a:t>还是</a:t>
            </a:r>
            <a:r>
              <a:rPr kumimoji="1" lang="en-GB" altLang="zh-CN" sz="1200" dirty="0">
                <a:solidFill>
                  <a:schemeClr val="tx1"/>
                </a:solidFill>
              </a:rPr>
              <a:t>tr2</a:t>
            </a:r>
            <a:endParaRPr kumimoji="1" lang="en-GB" altLang="zh-CN" sz="1200" dirty="0">
              <a:solidFill>
                <a:schemeClr val="tx1"/>
              </a:solidFill>
            </a:endParaRPr>
          </a:p>
          <a:p>
            <a:r>
              <a:rPr kumimoji="1" lang="en-GB" altLang="zh-CN" sz="1200" dirty="0">
                <a:solidFill>
                  <a:schemeClr val="bg2"/>
                </a:solidFill>
              </a:rPr>
              <a:t>self</a:t>
            </a:r>
            <a:r>
              <a:rPr kumimoji="1" lang="zh-CN" altLang="en-US" sz="1200" dirty="0">
                <a:solidFill>
                  <a:schemeClr val="bg2"/>
                </a:solidFill>
                <a:latin typeface="黑体" panose="02010609060101010101" pitchFamily="49" charset="-122"/>
                <a:ea typeface="黑体" panose="02010609060101010101" pitchFamily="49" charset="-122"/>
              </a:rPr>
              <a:t>是一个</a:t>
            </a:r>
            <a:r>
              <a:rPr kumimoji="1" lang="zh-CN" altLang="en-US" sz="1200" dirty="0">
                <a:solidFill>
                  <a:schemeClr val="tx1"/>
                </a:solidFill>
                <a:latin typeface="黑体" panose="02010609060101010101" pitchFamily="49" charset="-122"/>
                <a:ea typeface="黑体" panose="02010609060101010101" pitchFamily="49" charset="-122"/>
              </a:rPr>
              <a:t>隐藏参数</a:t>
            </a:r>
            <a:r>
              <a:rPr kumimoji="1" lang="zh-CN" altLang="en-US" sz="1200" dirty="0">
                <a:solidFill>
                  <a:schemeClr val="bg2"/>
                </a:solidFill>
                <a:latin typeface="黑体" panose="02010609060101010101" pitchFamily="49" charset="-122"/>
                <a:ea typeface="黑体" panose="02010609060101010101" pitchFamily="49" charset="-122"/>
              </a:rPr>
              <a:t>，当定义对象时，</a:t>
            </a:r>
            <a:r>
              <a:rPr kumimoji="1" lang="en-GB" altLang="zh-CN" sz="1200" dirty="0">
                <a:solidFill>
                  <a:schemeClr val="bg2"/>
                </a:solidFill>
              </a:rPr>
              <a:t>self</a:t>
            </a:r>
            <a:r>
              <a:rPr kumimoji="1" lang="zh-CN" altLang="en-US" sz="1200" dirty="0">
                <a:solidFill>
                  <a:schemeClr val="bg2"/>
                </a:solidFill>
                <a:latin typeface="黑体" panose="02010609060101010101" pitchFamily="49" charset="-122"/>
                <a:ea typeface="黑体" panose="02010609060101010101" pitchFamily="49" charset="-122"/>
              </a:rPr>
              <a:t>被</a:t>
            </a:r>
            <a:r>
              <a:rPr kumimoji="1" lang="zh-CN" altLang="en-US" sz="1200" dirty="0">
                <a:solidFill>
                  <a:schemeClr val="tx1"/>
                </a:solidFill>
                <a:latin typeface="黑体" panose="02010609060101010101" pitchFamily="49" charset="-122"/>
                <a:ea typeface="黑体" panose="02010609060101010101" pitchFamily="49" charset="-122"/>
              </a:rPr>
              <a:t>自动指向该对象</a:t>
            </a:r>
            <a:endParaRPr kumimoji="1" lang="zh-CN" altLang="en-US" sz="1200" dirty="0">
              <a:solidFill>
                <a:schemeClr val="tx1"/>
              </a:solidFill>
              <a:latin typeface="黑体" panose="02010609060101010101" pitchFamily="49" charset="-122"/>
              <a:ea typeface="黑体" panose="02010609060101010101" pitchFamily="49" charset="-122"/>
            </a:endParaRPr>
          </a:p>
          <a:p>
            <a:r>
              <a:rPr kumimoji="1" lang="zh-CN" altLang="en-US" sz="1200" dirty="0">
                <a:solidFill>
                  <a:schemeClr val="bg2"/>
                </a:solidFill>
              </a:rPr>
              <a:t>	</a:t>
            </a:r>
            <a:r>
              <a:rPr kumimoji="1" lang="en-GB" altLang="zh-CN" sz="1200" dirty="0">
                <a:solidFill>
                  <a:schemeClr val="bg2"/>
                </a:solidFill>
              </a:rPr>
              <a:t>tr1 = Triangle(</a:t>
            </a:r>
            <a:r>
              <a:rPr kumimoji="1" lang="en-GB" altLang="zh-CN" sz="1200" dirty="0">
                <a:solidFill>
                  <a:schemeClr val="tx1"/>
                </a:solidFill>
              </a:rPr>
              <a:t>1,1,1</a:t>
            </a:r>
            <a:r>
              <a:rPr kumimoji="1" lang="en-GB" altLang="zh-CN" sz="1200" dirty="0">
                <a:solidFill>
                  <a:schemeClr val="bg2"/>
                </a:solidFill>
              </a:rPr>
              <a:t>) # </a:t>
            </a:r>
            <a:r>
              <a:rPr kumimoji="1" lang="zh-CN" altLang="en-US" sz="1200" dirty="0">
                <a:solidFill>
                  <a:schemeClr val="bg2"/>
                </a:solidFill>
                <a:latin typeface="黑体" panose="02010609060101010101" pitchFamily="49" charset="-122"/>
                <a:ea typeface="黑体" panose="02010609060101010101" pitchFamily="49" charset="-122"/>
              </a:rPr>
              <a:t>系统默认 </a:t>
            </a:r>
            <a:r>
              <a:rPr kumimoji="1" lang="en-GB" altLang="zh-CN" sz="1200" dirty="0">
                <a:solidFill>
                  <a:schemeClr val="bg2"/>
                </a:solidFill>
              </a:rPr>
              <a:t>self=tr1</a:t>
            </a:r>
            <a:endParaRPr kumimoji="1" lang="en-GB" altLang="zh-CN" sz="1200" dirty="0">
              <a:solidFill>
                <a:schemeClr val="bg2"/>
              </a:solidFill>
            </a:endParaRPr>
          </a:p>
          <a:p>
            <a:r>
              <a:rPr kumimoji="1" lang="en-GB" altLang="zh-CN" sz="1200" dirty="0">
                <a:solidFill>
                  <a:schemeClr val="bg2"/>
                </a:solidFill>
              </a:rPr>
              <a:t>	tr2 = Triangle()          #</a:t>
            </a:r>
            <a:r>
              <a:rPr kumimoji="1" lang="zh-CN" altLang="en-US" sz="1200" dirty="0">
                <a:solidFill>
                  <a:schemeClr val="bg2"/>
                </a:solidFill>
                <a:latin typeface="黑体" panose="02010609060101010101" pitchFamily="49" charset="-122"/>
                <a:ea typeface="黑体" panose="02010609060101010101" pitchFamily="49" charset="-122"/>
              </a:rPr>
              <a:t>系统默认</a:t>
            </a:r>
            <a:r>
              <a:rPr kumimoji="1" lang="zh-CN" altLang="en-US" sz="1200" dirty="0">
                <a:solidFill>
                  <a:schemeClr val="bg2"/>
                </a:solidFill>
              </a:rPr>
              <a:t> </a:t>
            </a:r>
            <a:r>
              <a:rPr kumimoji="1" lang="en-GB" altLang="zh-CN" sz="1200" dirty="0">
                <a:solidFill>
                  <a:schemeClr val="bg2"/>
                </a:solidFill>
              </a:rPr>
              <a:t>self=tr2</a:t>
            </a:r>
            <a:endParaRPr kumimoji="1" lang="en-GB" altLang="zh-CN" sz="1200" dirty="0">
              <a:solidFill>
                <a:schemeClr val="bg2"/>
              </a:solidFill>
            </a:endParaRPr>
          </a:p>
          <a:p>
            <a:r>
              <a:rPr kumimoji="1" lang="zh-CN" altLang="en-US" sz="1200" dirty="0">
                <a:solidFill>
                  <a:schemeClr val="bg2"/>
                </a:solidFill>
                <a:latin typeface="黑体" panose="02010609060101010101" pitchFamily="49" charset="-122"/>
                <a:ea typeface="黑体" panose="02010609060101010101" pitchFamily="49" charset="-122"/>
              </a:rPr>
              <a:t>类的方法调用的时候，</a:t>
            </a:r>
            <a:r>
              <a:rPr kumimoji="1" lang="en-GB" altLang="zh-CN" sz="1200" dirty="0">
                <a:solidFill>
                  <a:schemeClr val="bg2"/>
                </a:solidFill>
              </a:rPr>
              <a:t>self</a:t>
            </a:r>
            <a:r>
              <a:rPr kumimoji="1" lang="zh-CN" altLang="en-US" sz="1200" dirty="0">
                <a:solidFill>
                  <a:schemeClr val="bg2"/>
                </a:solidFill>
                <a:latin typeface="黑体" panose="02010609060101010101" pitchFamily="49" charset="-122"/>
                <a:ea typeface="黑体" panose="02010609060101010101" pitchFamily="49" charset="-122"/>
              </a:rPr>
              <a:t>会</a:t>
            </a:r>
            <a:r>
              <a:rPr kumimoji="1" lang="zh-CN" altLang="en-US" sz="1200" dirty="0">
                <a:solidFill>
                  <a:schemeClr val="tx1"/>
                </a:solidFill>
                <a:latin typeface="黑体" panose="02010609060101010101" pitchFamily="49" charset="-122"/>
                <a:ea typeface="黑体" panose="02010609060101010101" pitchFamily="49" charset="-122"/>
              </a:rPr>
              <a:t>自动传递过去</a:t>
            </a:r>
            <a:endParaRPr kumimoji="1" lang="zh-CN" altLang="en-US" sz="1200" dirty="0">
              <a:solidFill>
                <a:schemeClr val="tx1"/>
              </a:solidFill>
              <a:latin typeface="黑体" panose="02010609060101010101" pitchFamily="49" charset="-122"/>
              <a:ea typeface="黑体" panose="02010609060101010101" pitchFamily="49" charset="-122"/>
            </a:endParaRPr>
          </a:p>
          <a:p>
            <a:r>
              <a:rPr kumimoji="1" lang="zh-CN" altLang="en-US" sz="1200" dirty="0">
                <a:solidFill>
                  <a:schemeClr val="bg2"/>
                </a:solidFill>
                <a:latin typeface="黑体" panose="02010609060101010101" pitchFamily="49" charset="-122"/>
                <a:ea typeface="黑体" panose="02010609060101010101" pitchFamily="49" charset="-122"/>
              </a:rPr>
              <a:t>没有</a:t>
            </a:r>
            <a:r>
              <a:rPr kumimoji="1" lang="en-GB" altLang="zh-CN" sz="1200" dirty="0">
                <a:solidFill>
                  <a:schemeClr val="bg2"/>
                </a:solidFill>
              </a:rPr>
              <a:t>self</a:t>
            </a:r>
            <a:r>
              <a:rPr kumimoji="1" lang="zh-CN" altLang="en-US" sz="1200" dirty="0">
                <a:solidFill>
                  <a:schemeClr val="bg2"/>
                </a:solidFill>
                <a:latin typeface="黑体" panose="02010609060101010101" pitchFamily="49" charset="-122"/>
                <a:ea typeface="黑体" panose="02010609060101010101" pitchFamily="49" charset="-122"/>
              </a:rPr>
              <a:t>的函数无法使用，使用会报错：参数数量不匹配</a:t>
            </a:r>
            <a:endParaRPr kumimoji="1" lang="zh-CN" altLang="en-US" sz="1200" dirty="0">
              <a:solidFill>
                <a:schemeClr val="bg2"/>
              </a:solidFill>
              <a:latin typeface="黑体" panose="02010609060101010101" pitchFamily="49" charset="-122"/>
              <a:ea typeface="黑体" panose="02010609060101010101" pitchFamily="49" charset="-122"/>
            </a:endParaRPr>
          </a:p>
          <a:p>
            <a:r>
              <a:rPr kumimoji="1" lang="zh-CN" altLang="en-US" sz="1200" dirty="0">
                <a:solidFill>
                  <a:schemeClr val="bg2"/>
                </a:solidFill>
                <a:latin typeface="黑体" panose="02010609060101010101" pitchFamily="49" charset="-122"/>
                <a:ea typeface="黑体" panose="02010609060101010101" pitchFamily="49" charset="-122"/>
                <a:cs typeface="Arial" panose="020B0604020202020204" pitchFamily="34" charset="0"/>
              </a:rPr>
              <a:t>在类中使用属性和方法时，前面必须加</a:t>
            </a:r>
            <a:r>
              <a:rPr kumimoji="1" lang="en-GB" altLang="zh-CN" sz="1200" dirty="0">
                <a:solidFill>
                  <a:schemeClr val="bg2"/>
                </a:solidFill>
              </a:rPr>
              <a:t>self: </a:t>
            </a:r>
            <a:r>
              <a:rPr kumimoji="1" lang="en-GB" altLang="zh-CN" sz="1200" dirty="0" err="1">
                <a:solidFill>
                  <a:schemeClr val="bg2"/>
                </a:solidFill>
              </a:rPr>
              <a:t>self.xxx</a:t>
            </a:r>
            <a:r>
              <a:rPr kumimoji="1" lang="en-GB" altLang="zh-CN" sz="1200" dirty="0">
                <a:solidFill>
                  <a:schemeClr val="bg2"/>
                </a:solidFill>
              </a:rPr>
              <a:t>, </a:t>
            </a:r>
            <a:r>
              <a:rPr kumimoji="1" lang="en-GB" altLang="zh-CN" sz="1200" dirty="0" err="1">
                <a:solidFill>
                  <a:schemeClr val="bg2"/>
                </a:solidFill>
              </a:rPr>
              <a:t>self.xxx</a:t>
            </a:r>
            <a:r>
              <a:rPr kumimoji="1" lang="en-GB" altLang="zh-CN" sz="1200" dirty="0">
                <a:solidFill>
                  <a:schemeClr val="bg2"/>
                </a:solidFill>
              </a:rPr>
              <a:t>()</a:t>
            </a:r>
            <a:endParaRPr kumimoji="1" lang="en-GB" altLang="zh-CN" sz="1200" dirty="0">
              <a:solidFill>
                <a:schemeClr val="bg2"/>
              </a:solidFill>
            </a:endParaRPr>
          </a:p>
          <a:p>
            <a:r>
              <a:rPr kumimoji="1" lang="en-GB" altLang="zh-CN" sz="1200" dirty="0" err="1">
                <a:solidFill>
                  <a:schemeClr val="tx1"/>
                </a:solidFill>
              </a:rPr>
              <a:t>self.x</a:t>
            </a:r>
            <a:r>
              <a:rPr kumimoji="1" lang="en-GB" altLang="zh-CN" sz="1200" dirty="0">
                <a:solidFill>
                  <a:schemeClr val="tx1"/>
                </a:solidFill>
              </a:rPr>
              <a:t> </a:t>
            </a:r>
            <a:r>
              <a:rPr kumimoji="1" lang="zh-CN" altLang="en-US" sz="1200" dirty="0">
                <a:solidFill>
                  <a:schemeClr val="tx1"/>
                </a:solidFill>
                <a:latin typeface="黑体" panose="02010609060101010101" pitchFamily="49" charset="-122"/>
                <a:ea typeface="黑体" panose="02010609060101010101" pitchFamily="49" charset="-122"/>
              </a:rPr>
              <a:t>和</a:t>
            </a:r>
            <a:r>
              <a:rPr kumimoji="1" lang="en-GB" altLang="zh-CN" sz="1200" dirty="0">
                <a:solidFill>
                  <a:schemeClr val="tx1"/>
                </a:solidFill>
              </a:rPr>
              <a:t>x</a:t>
            </a:r>
            <a:r>
              <a:rPr kumimoji="1" lang="zh-CN" altLang="en-GB" sz="1200" dirty="0">
                <a:solidFill>
                  <a:schemeClr val="tx1"/>
                </a:solidFill>
              </a:rPr>
              <a:t>，</a:t>
            </a:r>
            <a:r>
              <a:rPr kumimoji="1" lang="en-GB" altLang="zh-CN" sz="1200" dirty="0" err="1">
                <a:solidFill>
                  <a:schemeClr val="tx1"/>
                </a:solidFill>
              </a:rPr>
              <a:t>self.f</a:t>
            </a:r>
            <a:r>
              <a:rPr kumimoji="1" lang="en-GB" altLang="zh-CN" sz="1200" dirty="0">
                <a:solidFill>
                  <a:schemeClr val="tx1"/>
                </a:solidFill>
              </a:rPr>
              <a:t>()</a:t>
            </a:r>
            <a:r>
              <a:rPr kumimoji="1" lang="zh-CN" altLang="en-US" sz="1200" dirty="0">
                <a:solidFill>
                  <a:schemeClr val="tx1"/>
                </a:solidFill>
                <a:latin typeface="黑体" panose="02010609060101010101" pitchFamily="49" charset="-122"/>
                <a:ea typeface="黑体" panose="02010609060101010101" pitchFamily="49" charset="-122"/>
              </a:rPr>
              <a:t>和</a:t>
            </a:r>
            <a:r>
              <a:rPr kumimoji="1" lang="en-GB" altLang="zh-CN" sz="1200" dirty="0">
                <a:solidFill>
                  <a:schemeClr val="tx1"/>
                </a:solidFill>
              </a:rPr>
              <a:t>f()</a:t>
            </a:r>
            <a:r>
              <a:rPr kumimoji="1" lang="zh-CN" altLang="en-US" sz="1200" dirty="0">
                <a:solidFill>
                  <a:schemeClr val="tx1"/>
                </a:solidFill>
                <a:latin typeface="黑体" panose="02010609060101010101" pitchFamily="49" charset="-122"/>
                <a:ea typeface="黑体" panose="02010609060101010101" pitchFamily="49" charset="-122"/>
              </a:rPr>
              <a:t>是不同的方法和属性</a:t>
            </a:r>
            <a:endParaRPr kumimoji="1" lang="zh-CN" altLang="en-US" sz="1200" dirty="0">
              <a:solidFill>
                <a:schemeClr val="tx1"/>
              </a:solidFill>
              <a:latin typeface="黑体" panose="02010609060101010101" pitchFamily="49" charset="-122"/>
              <a:ea typeface="黑体" panose="02010609060101010101" pitchFamily="49" charset="-122"/>
            </a:endParaRPr>
          </a:p>
        </p:txBody>
      </p:sp>
      <p:pic>
        <p:nvPicPr>
          <p:cNvPr id="6" name="Picture 7" descr="A close up of a clock&#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36480" y="4404966"/>
            <a:ext cx="985350" cy="587017"/>
          </a:xfrm>
          <a:prstGeom prst="rect">
            <a:avLst/>
          </a:prstGeom>
        </p:spPr>
      </p:pic>
      <p:sp>
        <p:nvSpPr>
          <p:cNvPr id="7" name="文本占位符 2"/>
          <p:cNvSpPr txBox="1"/>
          <p:nvPr/>
        </p:nvSpPr>
        <p:spPr>
          <a:xfrm>
            <a:off x="1523294" y="4134796"/>
            <a:ext cx="3703224" cy="98415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2"/>
              </a:buClr>
              <a:buSzPts val="1800"/>
              <a:buFont typeface="Source Sans Pro" panose="020B0503030403020204"/>
              <a:buChar char="●"/>
              <a:defRPr sz="18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1pPr>
            <a:lvl2pPr marL="914400" marR="0" lvl="1"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2pPr>
            <a:lvl3pPr marL="1371600" marR="0" lvl="2"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3pPr>
            <a:lvl4pPr marL="1828800" marR="0" lvl="3"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4pPr>
            <a:lvl5pPr marL="2286000" marR="0" lvl="4"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5pPr>
            <a:lvl6pPr marL="2743200" marR="0" lvl="5"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6pPr>
            <a:lvl7pPr marL="3200400" marR="0" lvl="6"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7pPr>
            <a:lvl8pPr marL="3657600" marR="0" lvl="7"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8pPr>
            <a:lvl9pPr marL="4114800" marR="0" lvl="8"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9pPr>
          </a:lstStyle>
          <a:p>
            <a:r>
              <a:rPr kumimoji="1" lang="en-GB" altLang="zh-CN" sz="1200" dirty="0">
                <a:solidFill>
                  <a:schemeClr val="bg2"/>
                </a:solidFill>
              </a:rPr>
              <a:t>tr1, tr2</a:t>
            </a:r>
            <a:r>
              <a:rPr kumimoji="1" lang="zh-CN" altLang="en-US" sz="1200" dirty="0">
                <a:solidFill>
                  <a:schemeClr val="bg2"/>
                </a:solidFill>
                <a:latin typeface="黑体" panose="02010609060101010101" pitchFamily="49" charset="-122"/>
                <a:ea typeface="黑体" panose="02010609060101010101" pitchFamily="49" charset="-122"/>
              </a:rPr>
              <a:t>是两个独立的对象，虽然属于同一个类</a:t>
            </a:r>
            <a:endParaRPr kumimoji="1" lang="zh-CN" altLang="en-US" sz="1200" dirty="0">
              <a:solidFill>
                <a:schemeClr val="bg2"/>
              </a:solidFill>
              <a:latin typeface="黑体" panose="02010609060101010101" pitchFamily="49" charset="-122"/>
              <a:ea typeface="黑体" panose="02010609060101010101" pitchFamily="49" charset="-122"/>
            </a:endParaRPr>
          </a:p>
          <a:p>
            <a:r>
              <a:rPr kumimoji="1" lang="en-GB" altLang="zh-CN" sz="1200" dirty="0">
                <a:solidFill>
                  <a:schemeClr val="bg2"/>
                </a:solidFill>
              </a:rPr>
              <a:t>Tr1, tr2</a:t>
            </a:r>
            <a:r>
              <a:rPr kumimoji="1" lang="zh-CN" altLang="en-US" sz="1200" dirty="0">
                <a:solidFill>
                  <a:schemeClr val="bg2"/>
                </a:solidFill>
                <a:latin typeface="黑体" panose="02010609060101010101" pitchFamily="49" charset="-122"/>
                <a:ea typeface="黑体" panose="02010609060101010101" pitchFamily="49" charset="-122"/>
              </a:rPr>
              <a:t>的属性和方法都可以直接使用，和普通变量一样</a:t>
            </a:r>
            <a:endParaRPr kumimoji="1" lang="zh-CN" altLang="en-US" sz="1200" dirty="0">
              <a:solidFill>
                <a:schemeClr val="bg2"/>
              </a:solidFill>
              <a:latin typeface="黑体" panose="02010609060101010101" pitchFamily="49" charset="-122"/>
              <a:ea typeface="黑体" panose="02010609060101010101" pitchFamily="49" charset="-122"/>
            </a:endParaRPr>
          </a:p>
          <a:p>
            <a:r>
              <a:rPr kumimoji="1" lang="en-US" altLang="zh-CN" sz="1200" dirty="0">
                <a:solidFill>
                  <a:schemeClr val="bg2"/>
                </a:solidFill>
                <a:latin typeface="黑体" panose="02010609060101010101" pitchFamily="49" charset="-122"/>
                <a:ea typeface="黑体" panose="02010609060101010101" pitchFamily="49" charset="-122"/>
              </a:rPr>
              <a:t>. </a:t>
            </a:r>
            <a:r>
              <a:rPr kumimoji="1" lang="zh-CN" altLang="en-US" sz="1200" dirty="0">
                <a:solidFill>
                  <a:schemeClr val="bg2"/>
                </a:solidFill>
                <a:latin typeface="黑体" panose="02010609060101010101" pitchFamily="49" charset="-122"/>
                <a:ea typeface="黑体" panose="02010609060101010101" pitchFamily="49" charset="-122"/>
              </a:rPr>
              <a:t>运算符：表明作用范围</a:t>
            </a:r>
            <a:endParaRPr kumimoji="1" lang="zh-CN" altLang="en-US" sz="1200" dirty="0">
              <a:solidFill>
                <a:schemeClr val="bg2"/>
              </a:solidFill>
              <a:latin typeface="黑体" panose="02010609060101010101" pitchFamily="49" charset="-122"/>
              <a:ea typeface="黑体" panose="02010609060101010101" pitchFamily="49" charset="-122"/>
            </a:endParaRPr>
          </a:p>
        </p:txBody>
      </p:sp>
      <p:sp>
        <p:nvSpPr>
          <p:cNvPr id="8" name="Rectangle 1"/>
          <p:cNvSpPr/>
          <p:nvPr/>
        </p:nvSpPr>
        <p:spPr>
          <a:xfrm>
            <a:off x="6335091" y="240036"/>
            <a:ext cx="2497209" cy="409977"/>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tx1"/>
              </a:buClr>
            </a:pPr>
            <a:r>
              <a:rPr lang="zh-CN" altLang="en-US" sz="1200" dirty="0">
                <a:solidFill>
                  <a:schemeClr val="tx1"/>
                </a:solidFill>
                <a:latin typeface="黑体" panose="02010609060101010101" pitchFamily="49" charset="-122"/>
                <a:ea typeface="黑体" panose="02010609060101010101" pitchFamily="49" charset="-122"/>
              </a:rPr>
              <a:t>同一个类的不同对象</a:t>
            </a:r>
            <a:endParaRPr lang="zh-CN" altLang="en-US" sz="1200" dirty="0">
              <a:solidFill>
                <a:schemeClr val="tx1"/>
              </a:solidFill>
              <a:latin typeface="黑体" panose="02010609060101010101" pitchFamily="49" charset="-122"/>
              <a:ea typeface="黑体" panose="02010609060101010101" pitchFamily="49" charset="-122"/>
            </a:endParaRPr>
          </a:p>
          <a:p>
            <a:pPr marL="285750" indent="-285750">
              <a:buClr>
                <a:schemeClr val="tx1"/>
              </a:buClr>
              <a:buFont typeface="Wingdings" panose="05000000000000000000" pitchFamily="2" charset="2"/>
              <a:buChar char="l"/>
            </a:pPr>
            <a:r>
              <a:rPr lang="zh-CN" altLang="en-US" sz="1200" dirty="0">
                <a:solidFill>
                  <a:schemeClr val="tx1"/>
                </a:solidFill>
                <a:latin typeface="黑体" panose="02010609060101010101" pitchFamily="49" charset="-122"/>
                <a:ea typeface="黑体" panose="02010609060101010101" pitchFamily="49" charset="-122"/>
              </a:rPr>
              <a:t>属性、方法独立，互相不干扰</a:t>
            </a:r>
            <a:endParaRPr lang="zh-CN" altLang="en-US" sz="1200" dirty="0">
              <a:solidFill>
                <a:schemeClr val="tx1"/>
              </a:solidFill>
              <a:latin typeface="黑体" panose="02010609060101010101" pitchFamily="49" charset="-122"/>
              <a:ea typeface="黑体" panose="02010609060101010101" pitchFamily="49" charset="-122"/>
            </a:endParaRPr>
          </a:p>
        </p:txBody>
      </p:sp>
      <p:sp>
        <p:nvSpPr>
          <p:cNvPr id="9" name="文本框 8"/>
          <p:cNvSpPr txBox="1"/>
          <p:nvPr/>
        </p:nvSpPr>
        <p:spPr>
          <a:xfrm>
            <a:off x="5152251" y="703123"/>
            <a:ext cx="3752143" cy="526318"/>
          </a:xfrm>
          <a:prstGeom prst="rect">
            <a:avLst/>
          </a:prstGeom>
          <a:noFill/>
        </p:spPr>
        <p:txBody>
          <a:bodyPr wrap="square" rtlCol="0">
            <a:spAutoFit/>
          </a:bodyPr>
          <a:lstStyle/>
          <a:p>
            <a:r>
              <a:rPr lang="en-US" altLang="zh-CN" b="0" i="0" dirty="0">
                <a:solidFill>
                  <a:schemeClr val="bg2"/>
                </a:solidFill>
                <a:effectLst/>
                <a:latin typeface="Source Sans Pro" panose="020B0503030403020204" pitchFamily="34" charset="0"/>
                <a:ea typeface="Source Sans Pro" panose="020B0503030403020204" pitchFamily="34" charset="0"/>
              </a:rPr>
              <a:t>__</a:t>
            </a:r>
            <a:r>
              <a:rPr lang="en-US" altLang="zh-CN" b="0" i="0" dirty="0" err="1">
                <a:solidFill>
                  <a:schemeClr val="bg2"/>
                </a:solidFill>
                <a:effectLst/>
                <a:latin typeface="Source Sans Pro" panose="020B0503030403020204" pitchFamily="34" charset="0"/>
                <a:ea typeface="Source Sans Pro" panose="020B0503030403020204" pitchFamily="34" charset="0"/>
              </a:rPr>
              <a:t>init</a:t>
            </a:r>
            <a:r>
              <a:rPr lang="en-US" altLang="zh-CN" b="0" i="0" dirty="0">
                <a:solidFill>
                  <a:schemeClr val="bg2"/>
                </a:solidFill>
                <a:effectLst/>
                <a:latin typeface="Source Sans Pro" panose="020B0503030403020204" pitchFamily="34" charset="0"/>
                <a:ea typeface="Source Sans Pro" panose="020B0503030403020204" pitchFamily="34" charset="0"/>
              </a:rPr>
              <a:t>__: </a:t>
            </a:r>
            <a:r>
              <a:rPr lang="zh-CN" altLang="en-US" b="0" i="0" dirty="0">
                <a:solidFill>
                  <a:schemeClr val="bg2"/>
                </a:solidFill>
                <a:effectLst/>
                <a:latin typeface="Source Sans Pro" panose="020B0503030403020204" pitchFamily="34" charset="0"/>
                <a:ea typeface="黑体" panose="02010609060101010101" pitchFamily="49" charset="-122"/>
              </a:rPr>
              <a:t>表明所有的</a:t>
            </a:r>
            <a:r>
              <a:rPr lang="en-US" altLang="zh-CN" b="0" i="0" dirty="0">
                <a:solidFill>
                  <a:schemeClr val="bg2"/>
                </a:solidFill>
                <a:effectLst/>
                <a:latin typeface="Source Sans Pro" panose="020B0503030403020204" pitchFamily="34" charset="0"/>
                <a:ea typeface="Source Sans Pro" panose="020B0503030403020204" pitchFamily="34" charset="0"/>
              </a:rPr>
              <a:t>Triangle</a:t>
            </a:r>
            <a:r>
              <a:rPr lang="zh-CN" altLang="en-US" b="0" i="0" dirty="0">
                <a:solidFill>
                  <a:schemeClr val="bg2"/>
                </a:solidFill>
                <a:effectLst/>
                <a:latin typeface="Source Sans Pro" panose="020B0503030403020204" pitchFamily="34" charset="0"/>
                <a:ea typeface="黑体" panose="02010609060101010101" pitchFamily="49" charset="-122"/>
              </a:rPr>
              <a:t>对象都有</a:t>
            </a:r>
            <a:r>
              <a:rPr lang="en-US" altLang="zh-CN" b="0" i="0" dirty="0">
                <a:solidFill>
                  <a:schemeClr val="bg2"/>
                </a:solidFill>
                <a:effectLst/>
                <a:latin typeface="Source Sans Pro" panose="020B0503030403020204" pitchFamily="34" charset="0"/>
                <a:ea typeface="Source Sans Pro" panose="020B0503030403020204" pitchFamily="34" charset="0"/>
              </a:rPr>
              <a:t>a, b, c</a:t>
            </a:r>
            <a:r>
              <a:rPr lang="zh-CN" altLang="en-US" b="0" i="0" dirty="0">
                <a:solidFill>
                  <a:schemeClr val="bg2"/>
                </a:solidFill>
                <a:effectLst/>
                <a:latin typeface="Source Sans Pro" panose="020B0503030403020204" pitchFamily="34" charset="0"/>
                <a:ea typeface="黑体" panose="02010609060101010101" pitchFamily="49" charset="-122"/>
              </a:rPr>
              <a:t>三个属性，并且默认为</a:t>
            </a:r>
            <a:r>
              <a:rPr lang="en-US" altLang="zh-CN" b="0" i="0" dirty="0">
                <a:solidFill>
                  <a:schemeClr val="bg2"/>
                </a:solidFill>
                <a:effectLst/>
                <a:latin typeface="Source Sans Pro" panose="020B0503030403020204" pitchFamily="34" charset="0"/>
                <a:ea typeface="Source Sans Pro" panose="020B0503030403020204" pitchFamily="34" charset="0"/>
              </a:rPr>
              <a:t>0</a:t>
            </a:r>
            <a:endParaRPr lang="en-US" altLang="zh-CN" b="0" i="0" dirty="0">
              <a:solidFill>
                <a:schemeClr val="bg2"/>
              </a:solidFill>
              <a:effectLst/>
              <a:latin typeface="Source Sans Pro" panose="020B0503030403020204" pitchFamily="34" charset="0"/>
              <a:ea typeface="Source Sans Pro" panose="020B0503030403020204" pitchFamily="34" charset="0"/>
            </a:endParaRPr>
          </a:p>
        </p:txBody>
      </p:sp>
      <p:pic>
        <p:nvPicPr>
          <p:cNvPr id="11" name="图片 10"/>
          <p:cNvPicPr>
            <a:picLocks noChangeAspect="1"/>
          </p:cNvPicPr>
          <p:nvPr/>
        </p:nvPicPr>
        <p:blipFill>
          <a:blip r:embed="rId2"/>
          <a:stretch>
            <a:fillRect/>
          </a:stretch>
        </p:blipFill>
        <p:spPr>
          <a:xfrm>
            <a:off x="336480" y="1078421"/>
            <a:ext cx="4479654" cy="1102137"/>
          </a:xfrm>
          <a:prstGeom prst="rect">
            <a:avLst/>
          </a:prstGeom>
        </p:spPr>
      </p:pic>
      <p:pic>
        <p:nvPicPr>
          <p:cNvPr id="10" name="图片 9"/>
          <p:cNvPicPr>
            <a:picLocks noChangeAspect="1"/>
          </p:cNvPicPr>
          <p:nvPr/>
        </p:nvPicPr>
        <p:blipFill>
          <a:blip r:embed="rId3"/>
          <a:stretch>
            <a:fillRect/>
          </a:stretch>
        </p:blipFill>
        <p:spPr>
          <a:xfrm>
            <a:off x="336480" y="1991446"/>
            <a:ext cx="4493626" cy="223492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a:t>class Triangle</a:t>
            </a:r>
            <a:endParaRPr kumimoji="1" lang="zh-CN" altLang="en-US" dirty="0"/>
          </a:p>
        </p:txBody>
      </p:sp>
      <p:sp>
        <p:nvSpPr>
          <p:cNvPr id="3" name="文本占位符 2"/>
          <p:cNvSpPr>
            <a:spLocks noGrp="1"/>
          </p:cNvSpPr>
          <p:nvPr>
            <p:ph type="body" idx="1"/>
          </p:nvPr>
        </p:nvSpPr>
        <p:spPr>
          <a:xfrm>
            <a:off x="4875170" y="3117842"/>
            <a:ext cx="3957130" cy="1392869"/>
          </a:xfrm>
        </p:spPr>
        <p:txBody>
          <a:bodyPr>
            <a:noAutofit/>
          </a:bodyPr>
          <a:lstStyle/>
          <a:p>
            <a:pPr marL="114300" indent="0">
              <a:buNone/>
            </a:pPr>
            <a:r>
              <a:rPr kumimoji="1" lang="en-US" altLang="zh-CN" sz="1400" dirty="0">
                <a:solidFill>
                  <a:schemeClr val="bg2"/>
                </a:solidFill>
                <a:latin typeface="黑体" panose="02010609060101010101" pitchFamily="49" charset="-122"/>
                <a:ea typeface="黑体" panose="02010609060101010101" pitchFamily="49" charset="-122"/>
              </a:rPr>
              <a:t>1. </a:t>
            </a:r>
            <a:r>
              <a:rPr kumimoji="1" lang="zh-CN" altLang="en-US" sz="1400" dirty="0">
                <a:solidFill>
                  <a:schemeClr val="bg2"/>
                </a:solidFill>
                <a:latin typeface="黑体" panose="02010609060101010101" pitchFamily="49" charset="-122"/>
                <a:ea typeface="黑体" panose="02010609060101010101" pitchFamily="49" charset="-122"/>
              </a:rPr>
              <a:t>类的成员函数和普通函数的定义一样，除了第一个参数是</a:t>
            </a:r>
            <a:r>
              <a:rPr kumimoji="1" lang="en-GB" altLang="zh-CN" sz="1400" dirty="0">
                <a:solidFill>
                  <a:schemeClr val="bg2"/>
                </a:solidFill>
              </a:rPr>
              <a:t>self</a:t>
            </a:r>
            <a:endParaRPr kumimoji="1" lang="en-GB" altLang="zh-CN" sz="1400" dirty="0">
              <a:solidFill>
                <a:schemeClr val="bg2"/>
              </a:solidFill>
            </a:endParaRPr>
          </a:p>
          <a:p>
            <a:pPr marL="114300" indent="0">
              <a:buNone/>
            </a:pPr>
            <a:r>
              <a:rPr kumimoji="1" lang="en-GB" altLang="zh-CN" sz="1400" dirty="0">
                <a:solidFill>
                  <a:schemeClr val="bg2"/>
                </a:solidFill>
                <a:latin typeface="黑体" panose="02010609060101010101" pitchFamily="49" charset="-122"/>
                <a:ea typeface="黑体" panose="02010609060101010101" pitchFamily="49" charset="-122"/>
              </a:rPr>
              <a:t>2. </a:t>
            </a:r>
            <a:r>
              <a:rPr kumimoji="1" lang="zh-CN" altLang="en-US" sz="1400" dirty="0">
                <a:solidFill>
                  <a:schemeClr val="bg2"/>
                </a:solidFill>
                <a:latin typeface="黑体" panose="02010609060101010101" pitchFamily="49" charset="-122"/>
                <a:ea typeface="黑体" panose="02010609060101010101" pitchFamily="49" charset="-122"/>
              </a:rPr>
              <a:t>类方法的执行规律和普通函数一样， 除了不需要传递</a:t>
            </a:r>
            <a:r>
              <a:rPr kumimoji="1" lang="en-GB" altLang="zh-CN" sz="1400" dirty="0">
                <a:solidFill>
                  <a:schemeClr val="bg2"/>
                </a:solidFill>
              </a:rPr>
              <a:t>self</a:t>
            </a:r>
            <a:r>
              <a:rPr kumimoji="1" lang="zh-CN" altLang="en-US" sz="1400" dirty="0">
                <a:solidFill>
                  <a:schemeClr val="bg2"/>
                </a:solidFill>
                <a:latin typeface="黑体" panose="02010609060101010101" pitchFamily="49" charset="-122"/>
                <a:ea typeface="黑体" panose="02010609060101010101" pitchFamily="49" charset="-122"/>
              </a:rPr>
              <a:t>进去</a:t>
            </a:r>
            <a:endParaRPr kumimoji="1" lang="zh-CN" altLang="en-US" sz="1400" dirty="0">
              <a:solidFill>
                <a:schemeClr val="bg2"/>
              </a:solidFill>
              <a:latin typeface="黑体" panose="02010609060101010101" pitchFamily="49" charset="-122"/>
              <a:ea typeface="黑体" panose="02010609060101010101" pitchFamily="49" charset="-122"/>
            </a:endParaRPr>
          </a:p>
          <a:p>
            <a:pPr marL="114300" indent="0">
              <a:buNone/>
            </a:pPr>
            <a:r>
              <a:rPr kumimoji="1" lang="en-US" altLang="zh-CN" sz="1400" dirty="0">
                <a:solidFill>
                  <a:schemeClr val="bg2"/>
                </a:solidFill>
                <a:latin typeface="黑体" panose="02010609060101010101" pitchFamily="49" charset="-122"/>
                <a:ea typeface="黑体" panose="02010609060101010101" pitchFamily="49" charset="-122"/>
              </a:rPr>
              <a:t>3. </a:t>
            </a:r>
            <a:r>
              <a:rPr kumimoji="1" lang="zh-CN" altLang="en-US" sz="1400" dirty="0">
                <a:solidFill>
                  <a:schemeClr val="bg2"/>
                </a:solidFill>
                <a:latin typeface="黑体" panose="02010609060101010101" pitchFamily="49" charset="-122"/>
                <a:ea typeface="黑体" panose="02010609060101010101" pitchFamily="49" charset="-122"/>
              </a:rPr>
              <a:t>函数内使用成员属性，必须加</a:t>
            </a:r>
            <a:r>
              <a:rPr kumimoji="1" lang="en-GB" altLang="zh-CN" sz="1400" dirty="0">
                <a:solidFill>
                  <a:schemeClr val="bg2"/>
                </a:solidFill>
              </a:rPr>
              <a:t>self.</a:t>
            </a:r>
            <a:endParaRPr kumimoji="1" lang="en-GB" altLang="zh-CN" sz="1400" dirty="0">
              <a:solidFill>
                <a:schemeClr val="bg2"/>
              </a:solidFill>
            </a:endParaRPr>
          </a:p>
        </p:txBody>
      </p:sp>
      <p:pic>
        <p:nvPicPr>
          <p:cNvPr id="6" name="Picture 7" descr="A picture containing text&#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533580" y="1101231"/>
            <a:ext cx="1335830" cy="309913"/>
          </a:xfrm>
          <a:prstGeom prst="rect">
            <a:avLst/>
          </a:prstGeom>
        </p:spPr>
      </p:pic>
      <p:sp>
        <p:nvSpPr>
          <p:cNvPr id="7" name="Rectangle 1"/>
          <p:cNvSpPr/>
          <p:nvPr/>
        </p:nvSpPr>
        <p:spPr>
          <a:xfrm>
            <a:off x="5354227" y="4698474"/>
            <a:ext cx="3062715" cy="260875"/>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tx1"/>
              </a:buClr>
            </a:pPr>
            <a:r>
              <a:rPr lang="zh-CN" altLang="en-US" sz="1200" dirty="0">
                <a:solidFill>
                  <a:schemeClr val="tx1"/>
                </a:solidFill>
                <a:latin typeface="Source Sans Pro" panose="020B0503030403020204" pitchFamily="34" charset="0"/>
                <a:ea typeface="黑体" panose="02010609060101010101" pitchFamily="49" charset="-122"/>
              </a:rPr>
              <a:t>使用类自己的函数或者属性时，必须加</a:t>
            </a:r>
            <a:r>
              <a:rPr lang="en-GB" altLang="zh-CN" sz="1200" dirty="0">
                <a:solidFill>
                  <a:schemeClr val="tx1"/>
                </a:solidFill>
                <a:latin typeface="Source Sans Pro" panose="020B0503030403020204" pitchFamily="34" charset="0"/>
                <a:ea typeface="Source Sans Pro" panose="020B0503030403020204" pitchFamily="34" charset="0"/>
              </a:rPr>
              <a:t>self</a:t>
            </a:r>
            <a:endParaRPr lang="en-GB" altLang="zh-CN" sz="1200" dirty="0">
              <a:solidFill>
                <a:schemeClr val="tx1"/>
              </a:solidFill>
              <a:latin typeface="Source Sans Pro" panose="020B0503030403020204" pitchFamily="34" charset="0"/>
              <a:ea typeface="Source Sans Pro" panose="020B0503030403020204" pitchFamily="34" charset="0"/>
            </a:endParaRPr>
          </a:p>
        </p:txBody>
      </p:sp>
      <p:pic>
        <p:nvPicPr>
          <p:cNvPr id="11" name="图片 10"/>
          <p:cNvPicPr>
            <a:picLocks noChangeAspect="1"/>
          </p:cNvPicPr>
          <p:nvPr/>
        </p:nvPicPr>
        <p:blipFill>
          <a:blip r:embed="rId2"/>
          <a:stretch>
            <a:fillRect/>
          </a:stretch>
        </p:blipFill>
        <p:spPr>
          <a:xfrm>
            <a:off x="51448" y="1093720"/>
            <a:ext cx="4661378" cy="4010601"/>
          </a:xfrm>
          <a:prstGeom prst="rect">
            <a:avLst/>
          </a:prstGeom>
        </p:spPr>
      </p:pic>
      <p:pic>
        <p:nvPicPr>
          <p:cNvPr id="13" name="图片 12"/>
          <p:cNvPicPr>
            <a:picLocks noChangeAspect="1"/>
          </p:cNvPicPr>
          <p:nvPr/>
        </p:nvPicPr>
        <p:blipFill>
          <a:blip r:embed="rId3"/>
          <a:stretch>
            <a:fillRect/>
          </a:stretch>
        </p:blipFill>
        <p:spPr>
          <a:xfrm>
            <a:off x="5074818" y="1099256"/>
            <a:ext cx="2300949" cy="168337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a:t>Class </a:t>
            </a:r>
            <a:r>
              <a:rPr kumimoji="1" lang="en-GB" altLang="zh-CN" dirty="0" err="1"/>
              <a:t>HappyNumber</a:t>
            </a:r>
            <a:endParaRPr kumimoji="1" lang="zh-CN" altLang="en-US" dirty="0"/>
          </a:p>
        </p:txBody>
      </p:sp>
      <p:sp>
        <p:nvSpPr>
          <p:cNvPr id="3" name="文本占位符 2"/>
          <p:cNvSpPr>
            <a:spLocks noGrp="1"/>
          </p:cNvSpPr>
          <p:nvPr>
            <p:ph type="body" idx="1"/>
          </p:nvPr>
        </p:nvSpPr>
        <p:spPr>
          <a:xfrm>
            <a:off x="311700" y="1152475"/>
            <a:ext cx="3474593" cy="3446618"/>
          </a:xfrm>
        </p:spPr>
        <p:txBody>
          <a:bodyPr>
            <a:normAutofit/>
          </a:bodyPr>
          <a:lstStyle/>
          <a:p>
            <a:pPr marL="114300" indent="0">
              <a:buNone/>
            </a:pPr>
            <a:r>
              <a:rPr kumimoji="1" lang="en-GB" altLang="zh-CN" sz="1400" dirty="0">
                <a:solidFill>
                  <a:schemeClr val="bg2"/>
                </a:solidFill>
              </a:rPr>
              <a:t>A </a:t>
            </a:r>
            <a:r>
              <a:rPr kumimoji="1" lang="en-GB" altLang="zh-CN" sz="1400" dirty="0">
                <a:solidFill>
                  <a:schemeClr val="tx1"/>
                </a:solidFill>
              </a:rPr>
              <a:t>happy number </a:t>
            </a:r>
            <a:r>
              <a:rPr kumimoji="1" lang="en-GB" altLang="zh-CN" sz="1400" dirty="0">
                <a:solidFill>
                  <a:schemeClr val="bg2"/>
                </a:solidFill>
              </a:rPr>
              <a:t>is a number defined by the following process:</a:t>
            </a:r>
            <a:endParaRPr kumimoji="1" lang="en-GB" altLang="zh-CN" sz="1400" dirty="0">
              <a:solidFill>
                <a:schemeClr val="bg2"/>
              </a:solidFill>
            </a:endParaRPr>
          </a:p>
          <a:p>
            <a:pPr>
              <a:buClr>
                <a:schemeClr val="bg2"/>
              </a:buClr>
              <a:buFont typeface="+mj-lt"/>
              <a:buAutoNum type="arabicPeriod"/>
            </a:pPr>
            <a:r>
              <a:rPr kumimoji="1" lang="en-GB" altLang="zh-CN" sz="1400" dirty="0">
                <a:solidFill>
                  <a:schemeClr val="bg2"/>
                </a:solidFill>
              </a:rPr>
              <a:t>Starting with any positive integer, replace the number by the sum of the squares of its digits.</a:t>
            </a:r>
            <a:endParaRPr kumimoji="1" lang="en-GB" altLang="zh-CN" sz="1400" dirty="0">
              <a:solidFill>
                <a:schemeClr val="bg2"/>
              </a:solidFill>
            </a:endParaRPr>
          </a:p>
          <a:p>
            <a:pPr>
              <a:buClr>
                <a:schemeClr val="bg2"/>
              </a:buClr>
              <a:buFont typeface="+mj-lt"/>
              <a:buAutoNum type="arabicPeriod"/>
            </a:pPr>
            <a:r>
              <a:rPr kumimoji="1" lang="en-GB" altLang="zh-CN" sz="1400" dirty="0">
                <a:solidFill>
                  <a:schemeClr val="bg2"/>
                </a:solidFill>
              </a:rPr>
              <a:t>Repeat the process until the number equals 1 (where it will stay), or it </a:t>
            </a:r>
            <a:r>
              <a:rPr kumimoji="1" lang="en-GB" altLang="zh-CN" sz="1400" dirty="0">
                <a:solidFill>
                  <a:schemeClr val="tx1"/>
                </a:solidFill>
              </a:rPr>
              <a:t>loops endlessly in a cycle </a:t>
            </a:r>
            <a:r>
              <a:rPr kumimoji="1" lang="en-GB" altLang="zh-CN" sz="1400" dirty="0">
                <a:solidFill>
                  <a:schemeClr val="bg2"/>
                </a:solidFill>
              </a:rPr>
              <a:t>which does not include 1.</a:t>
            </a:r>
            <a:endParaRPr kumimoji="1" lang="en-GB" altLang="zh-CN" sz="1400" dirty="0">
              <a:solidFill>
                <a:schemeClr val="bg2"/>
              </a:solidFill>
            </a:endParaRPr>
          </a:p>
          <a:p>
            <a:pPr>
              <a:buClr>
                <a:schemeClr val="bg2"/>
              </a:buClr>
              <a:buFont typeface="+mj-lt"/>
              <a:buAutoNum type="arabicPeriod"/>
            </a:pPr>
            <a:r>
              <a:rPr kumimoji="1" lang="en-GB" altLang="zh-CN" sz="1400" dirty="0">
                <a:solidFill>
                  <a:schemeClr val="bg2"/>
                </a:solidFill>
              </a:rPr>
              <a:t>Those numbers for which this process </a:t>
            </a:r>
            <a:r>
              <a:rPr kumimoji="1" lang="en-GB" altLang="zh-CN" sz="1400" dirty="0">
                <a:solidFill>
                  <a:schemeClr val="tx1"/>
                </a:solidFill>
              </a:rPr>
              <a:t>ends in 1 </a:t>
            </a:r>
            <a:r>
              <a:rPr kumimoji="1" lang="en-GB" altLang="zh-CN" sz="1400" dirty="0">
                <a:solidFill>
                  <a:schemeClr val="bg2"/>
                </a:solidFill>
              </a:rPr>
              <a:t>are happy.</a:t>
            </a:r>
            <a:endParaRPr kumimoji="1" lang="en-GB" altLang="zh-CN" sz="1400" dirty="0">
              <a:solidFill>
                <a:schemeClr val="bg2"/>
              </a:solidFill>
            </a:endParaRPr>
          </a:p>
        </p:txBody>
      </p:sp>
      <p:pic>
        <p:nvPicPr>
          <p:cNvPr id="4" name="图片 3" descr="文本&#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846971" y="21943"/>
            <a:ext cx="4336225" cy="3357645"/>
          </a:xfrm>
          <a:prstGeom prst="rect">
            <a:avLst/>
          </a:prstGeom>
        </p:spPr>
      </p:pic>
      <p:pic>
        <p:nvPicPr>
          <p:cNvPr id="5" name="图片 4" descr="文本&#10;&#10;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46971" y="3435041"/>
            <a:ext cx="2470652" cy="1686516"/>
          </a:xfrm>
          <a:prstGeom prst="rect">
            <a:avLst/>
          </a:prstGeom>
        </p:spPr>
      </p:pic>
      <p:pic>
        <p:nvPicPr>
          <p:cNvPr id="6" name="图片 5" descr="文本&#10;&#10;描述已自动生成"/>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0788" y="3435041"/>
            <a:ext cx="2667275" cy="95377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a:t>Scope of functions and variables</a:t>
            </a:r>
            <a:endParaRPr kumimoji="1" lang="zh-CN" altLang="en-US" dirty="0"/>
          </a:p>
        </p:txBody>
      </p:sp>
      <p:sp>
        <p:nvSpPr>
          <p:cNvPr id="3" name="文本占位符 2"/>
          <p:cNvSpPr>
            <a:spLocks noGrp="1"/>
          </p:cNvSpPr>
          <p:nvPr>
            <p:ph type="body" idx="1"/>
          </p:nvPr>
        </p:nvSpPr>
        <p:spPr>
          <a:xfrm>
            <a:off x="5456976" y="3479869"/>
            <a:ext cx="3513151" cy="861126"/>
          </a:xfrm>
        </p:spPr>
        <p:txBody>
          <a:bodyPr>
            <a:noAutofit/>
          </a:bodyPr>
          <a:lstStyle/>
          <a:p>
            <a:r>
              <a:rPr kumimoji="1" lang="en-GB" altLang="zh-CN" sz="1400" dirty="0">
                <a:solidFill>
                  <a:schemeClr val="bg2"/>
                </a:solidFill>
              </a:rPr>
              <a:t>area()</a:t>
            </a:r>
            <a:r>
              <a:rPr kumimoji="1" lang="zh-CN" altLang="en-US" sz="1400" dirty="0">
                <a:solidFill>
                  <a:schemeClr val="bg2"/>
                </a:solidFill>
                <a:latin typeface="黑体" panose="02010609060101010101" pitchFamily="49" charset="-122"/>
                <a:ea typeface="黑体" panose="02010609060101010101" pitchFamily="49" charset="-122"/>
              </a:rPr>
              <a:t>和</a:t>
            </a:r>
            <a:r>
              <a:rPr kumimoji="1" lang="en-GB" altLang="zh-CN" sz="1400" dirty="0" err="1">
                <a:solidFill>
                  <a:schemeClr val="bg2"/>
                </a:solidFill>
              </a:rPr>
              <a:t>xxx.area</a:t>
            </a:r>
            <a:r>
              <a:rPr kumimoji="1" lang="en-GB" altLang="zh-CN" sz="1400" dirty="0">
                <a:solidFill>
                  <a:schemeClr val="bg2"/>
                </a:solidFill>
              </a:rPr>
              <a:t>()</a:t>
            </a:r>
            <a:r>
              <a:rPr kumimoji="1" lang="zh-CN" altLang="en-US" sz="1400" dirty="0">
                <a:solidFill>
                  <a:schemeClr val="bg2"/>
                </a:solidFill>
                <a:latin typeface="黑体" panose="02010609060101010101" pitchFamily="49" charset="-122"/>
                <a:ea typeface="黑体" panose="02010609060101010101" pitchFamily="49" charset="-122"/>
              </a:rPr>
              <a:t>是两个函数</a:t>
            </a:r>
            <a:endParaRPr kumimoji="1" lang="zh-CN" altLang="en-US" sz="1400" dirty="0">
              <a:solidFill>
                <a:schemeClr val="bg2"/>
              </a:solidFill>
              <a:latin typeface="黑体" panose="02010609060101010101" pitchFamily="49" charset="-122"/>
              <a:ea typeface="黑体" panose="02010609060101010101" pitchFamily="49" charset="-122"/>
            </a:endParaRPr>
          </a:p>
          <a:p>
            <a:r>
              <a:rPr kumimoji="1" lang="zh-CN" altLang="en-US" sz="1400" dirty="0">
                <a:solidFill>
                  <a:schemeClr val="bg2"/>
                </a:solidFill>
                <a:latin typeface="黑体" panose="02010609060101010101" pitchFamily="49" charset="-122"/>
                <a:ea typeface="黑体" panose="02010609060101010101" pitchFamily="49" charset="-122"/>
              </a:rPr>
              <a:t>类里面的函数要加</a:t>
            </a:r>
            <a:r>
              <a:rPr kumimoji="1" lang="en-GB" altLang="zh-CN" sz="1400" dirty="0">
                <a:solidFill>
                  <a:schemeClr val="bg2"/>
                </a:solidFill>
              </a:rPr>
              <a:t>self</a:t>
            </a:r>
            <a:endParaRPr kumimoji="1" lang="en-GB" altLang="zh-CN" sz="1400" dirty="0">
              <a:solidFill>
                <a:schemeClr val="bg2"/>
              </a:solidFill>
            </a:endParaRPr>
          </a:p>
          <a:p>
            <a:r>
              <a:rPr kumimoji="1" lang="zh-CN" altLang="en-US" sz="1400" dirty="0">
                <a:solidFill>
                  <a:schemeClr val="bg2"/>
                </a:solidFill>
                <a:latin typeface="黑体" panose="02010609060101010101" pitchFamily="49" charset="-122"/>
                <a:ea typeface="黑体" panose="02010609060101010101" pitchFamily="49" charset="-122"/>
              </a:rPr>
              <a:t>不同作用范围的两个物体是</a:t>
            </a:r>
            <a:r>
              <a:rPr kumimoji="1" lang="zh-CN" altLang="en-US" sz="1400" dirty="0">
                <a:solidFill>
                  <a:schemeClr val="tx1"/>
                </a:solidFill>
                <a:latin typeface="黑体" panose="02010609060101010101" pitchFamily="49" charset="-122"/>
                <a:ea typeface="黑体" panose="02010609060101010101" pitchFamily="49" charset="-122"/>
              </a:rPr>
              <a:t>隔离</a:t>
            </a:r>
            <a:r>
              <a:rPr kumimoji="1" lang="zh-CN" altLang="en-US" sz="1400" dirty="0">
                <a:solidFill>
                  <a:schemeClr val="bg2"/>
                </a:solidFill>
                <a:latin typeface="黑体" panose="02010609060101010101" pitchFamily="49" charset="-122"/>
                <a:ea typeface="黑体" panose="02010609060101010101" pitchFamily="49" charset="-122"/>
              </a:rPr>
              <a:t>的</a:t>
            </a:r>
            <a:endParaRPr kumimoji="1" lang="zh-CN" altLang="en-US" sz="1400" dirty="0">
              <a:solidFill>
                <a:schemeClr val="bg2"/>
              </a:solidFill>
              <a:latin typeface="黑体" panose="02010609060101010101" pitchFamily="49" charset="-122"/>
              <a:ea typeface="黑体" panose="02010609060101010101" pitchFamily="49" charset="-122"/>
            </a:endParaRPr>
          </a:p>
        </p:txBody>
      </p:sp>
      <p:pic>
        <p:nvPicPr>
          <p:cNvPr id="5" name="Picture 7" descr="A picture containing logo&#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680016" y="2579400"/>
            <a:ext cx="1663700" cy="508000"/>
          </a:xfrm>
          <a:prstGeom prst="rect">
            <a:avLst/>
          </a:prstGeom>
        </p:spPr>
      </p:pic>
      <p:pic>
        <p:nvPicPr>
          <p:cNvPr id="7" name="图片 6"/>
          <p:cNvPicPr>
            <a:picLocks noChangeAspect="1"/>
          </p:cNvPicPr>
          <p:nvPr/>
        </p:nvPicPr>
        <p:blipFill>
          <a:blip r:embed="rId2"/>
          <a:stretch>
            <a:fillRect/>
          </a:stretch>
        </p:blipFill>
        <p:spPr>
          <a:xfrm>
            <a:off x="173873" y="1068425"/>
            <a:ext cx="5010050" cy="4037951"/>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a:t>Without __</a:t>
            </a:r>
            <a:r>
              <a:rPr kumimoji="1" lang="en-GB" altLang="zh-CN" dirty="0" err="1"/>
              <a:t>init</a:t>
            </a:r>
            <a:r>
              <a:rPr kumimoji="1" lang="en-GB" altLang="zh-CN" dirty="0"/>
              <a:t>__</a:t>
            </a:r>
            <a:endParaRPr kumimoji="1" lang="zh-CN" altLang="en-US" dirty="0"/>
          </a:p>
        </p:txBody>
      </p:sp>
      <p:sp>
        <p:nvSpPr>
          <p:cNvPr id="3" name="文本占位符 2"/>
          <p:cNvSpPr>
            <a:spLocks noGrp="1"/>
          </p:cNvSpPr>
          <p:nvPr>
            <p:ph type="body" idx="1"/>
          </p:nvPr>
        </p:nvSpPr>
        <p:spPr>
          <a:xfrm>
            <a:off x="5420413" y="1395167"/>
            <a:ext cx="3533341" cy="1348033"/>
          </a:xfrm>
        </p:spPr>
        <p:txBody>
          <a:bodyPr>
            <a:noAutofit/>
          </a:bodyPr>
          <a:lstStyle/>
          <a:p>
            <a:pPr marL="114300" indent="0">
              <a:buNone/>
            </a:pPr>
            <a:r>
              <a:rPr kumimoji="1" lang="zh-CN" altLang="en-US" sz="1400" dirty="0">
                <a:solidFill>
                  <a:schemeClr val="bg2"/>
                </a:solidFill>
                <a:latin typeface="黑体" panose="02010609060101010101" pitchFamily="49" charset="-122"/>
                <a:ea typeface="黑体" panose="02010609060101010101" pitchFamily="49" charset="-122"/>
              </a:rPr>
              <a:t>没有</a:t>
            </a:r>
            <a:r>
              <a:rPr kumimoji="1" lang="en-US" altLang="zh-CN" sz="1400" dirty="0">
                <a:solidFill>
                  <a:schemeClr val="bg2"/>
                </a:solidFill>
              </a:rPr>
              <a:t>__</a:t>
            </a:r>
            <a:r>
              <a:rPr kumimoji="1" lang="en-GB" altLang="zh-CN" sz="1400" dirty="0" err="1">
                <a:solidFill>
                  <a:schemeClr val="bg2"/>
                </a:solidFill>
              </a:rPr>
              <a:t>init</a:t>
            </a:r>
            <a:r>
              <a:rPr kumimoji="1" lang="en-GB" altLang="zh-CN" sz="1400" dirty="0">
                <a:solidFill>
                  <a:schemeClr val="bg2"/>
                </a:solidFill>
              </a:rPr>
              <a:t>__()</a:t>
            </a:r>
            <a:r>
              <a:rPr kumimoji="1" lang="zh-CN" altLang="en-US" sz="1400" dirty="0">
                <a:solidFill>
                  <a:schemeClr val="bg2"/>
                </a:solidFill>
                <a:latin typeface="黑体" panose="02010609060101010101" pitchFamily="49" charset="-122"/>
                <a:ea typeface="黑体" panose="02010609060101010101" pitchFamily="49" charset="-122"/>
              </a:rPr>
              <a:t>函数</a:t>
            </a:r>
            <a:endParaRPr kumimoji="1" lang="zh-CN" altLang="en-US" sz="1400" dirty="0">
              <a:solidFill>
                <a:schemeClr val="bg2"/>
              </a:solidFill>
              <a:latin typeface="黑体" panose="02010609060101010101" pitchFamily="49" charset="-122"/>
              <a:ea typeface="黑体" panose="02010609060101010101" pitchFamily="49" charset="-122"/>
            </a:endParaRPr>
          </a:p>
          <a:p>
            <a:r>
              <a:rPr kumimoji="1" lang="zh-CN" altLang="en-US" sz="1400" dirty="0">
                <a:solidFill>
                  <a:schemeClr val="bg2"/>
                </a:solidFill>
                <a:latin typeface="黑体" panose="02010609060101010101" pitchFamily="49" charset="-122"/>
                <a:ea typeface="黑体" panose="02010609060101010101" pitchFamily="49" charset="-122"/>
              </a:rPr>
              <a:t>类</a:t>
            </a:r>
            <a:r>
              <a:rPr kumimoji="1" lang="en-GB" altLang="zh-CN" sz="1400" dirty="0">
                <a:solidFill>
                  <a:schemeClr val="bg2"/>
                </a:solidFill>
              </a:rPr>
              <a:t>Test1</a:t>
            </a:r>
            <a:r>
              <a:rPr kumimoji="1" lang="zh-CN" altLang="en-US" sz="1400" dirty="0">
                <a:solidFill>
                  <a:schemeClr val="bg2"/>
                </a:solidFill>
                <a:latin typeface="黑体" panose="02010609060101010101" pitchFamily="49" charset="-122"/>
                <a:ea typeface="黑体" panose="02010609060101010101" pitchFamily="49" charset="-122"/>
              </a:rPr>
              <a:t>的对象没有共同的属性</a:t>
            </a:r>
            <a:endParaRPr kumimoji="1" lang="zh-CN" altLang="en-US" sz="1400" dirty="0">
              <a:solidFill>
                <a:schemeClr val="bg2"/>
              </a:solidFill>
              <a:latin typeface="黑体" panose="02010609060101010101" pitchFamily="49" charset="-122"/>
              <a:ea typeface="黑体" panose="02010609060101010101" pitchFamily="49" charset="-122"/>
            </a:endParaRPr>
          </a:p>
          <a:p>
            <a:r>
              <a:rPr kumimoji="1" lang="en-GB" altLang="zh-CN" sz="1400" dirty="0">
                <a:solidFill>
                  <a:schemeClr val="bg2"/>
                </a:solidFill>
              </a:rPr>
              <a:t>Python</a:t>
            </a:r>
            <a:r>
              <a:rPr kumimoji="1" lang="zh-CN" altLang="en-US" sz="1400" dirty="0">
                <a:solidFill>
                  <a:schemeClr val="bg2"/>
                </a:solidFill>
                <a:latin typeface="黑体" panose="02010609060101010101" pitchFamily="49" charset="-122"/>
                <a:ea typeface="黑体" panose="02010609060101010101" pitchFamily="49" charset="-122"/>
              </a:rPr>
              <a:t>自动推导变量的类型</a:t>
            </a:r>
            <a:endParaRPr kumimoji="1" lang="zh-CN" altLang="en-US" sz="1400" dirty="0">
              <a:solidFill>
                <a:schemeClr val="bg2"/>
              </a:solidFill>
              <a:latin typeface="黑体" panose="02010609060101010101" pitchFamily="49" charset="-122"/>
              <a:ea typeface="黑体" panose="02010609060101010101" pitchFamily="49" charset="-122"/>
            </a:endParaRPr>
          </a:p>
          <a:p>
            <a:r>
              <a:rPr kumimoji="1" lang="en-GB" altLang="zh-CN" sz="1400" dirty="0">
                <a:solidFill>
                  <a:schemeClr val="bg2"/>
                </a:solidFill>
              </a:rPr>
              <a:t>t1</a:t>
            </a:r>
            <a:r>
              <a:rPr kumimoji="1" lang="zh-CN" altLang="en-US" sz="1400" dirty="0">
                <a:solidFill>
                  <a:schemeClr val="bg2"/>
                </a:solidFill>
                <a:latin typeface="黑体" panose="02010609060101010101" pitchFamily="49" charset="-122"/>
                <a:ea typeface="黑体" panose="02010609060101010101" pitchFamily="49" charset="-122"/>
              </a:rPr>
              <a:t>有自己的的属性</a:t>
            </a:r>
            <a:r>
              <a:rPr kumimoji="1" lang="en-GB" altLang="zh-CN" sz="1400" dirty="0">
                <a:solidFill>
                  <a:schemeClr val="bg2"/>
                </a:solidFill>
              </a:rPr>
              <a:t>a, b, c</a:t>
            </a:r>
            <a:endParaRPr kumimoji="1" lang="en-GB" altLang="zh-CN" sz="1400" dirty="0">
              <a:solidFill>
                <a:schemeClr val="bg2"/>
              </a:solidFill>
            </a:endParaRPr>
          </a:p>
          <a:p>
            <a:r>
              <a:rPr kumimoji="1" lang="en-GB" altLang="zh-CN" sz="1400" dirty="0">
                <a:solidFill>
                  <a:schemeClr val="bg2"/>
                </a:solidFill>
              </a:rPr>
              <a:t>t2</a:t>
            </a:r>
            <a:r>
              <a:rPr kumimoji="1" lang="zh-CN" altLang="en-US" sz="1400" dirty="0">
                <a:solidFill>
                  <a:schemeClr val="bg2"/>
                </a:solidFill>
                <a:latin typeface="黑体" panose="02010609060101010101" pitchFamily="49" charset="-122"/>
                <a:ea typeface="黑体" panose="02010609060101010101" pitchFamily="49" charset="-122"/>
              </a:rPr>
              <a:t>没有属性</a:t>
            </a:r>
            <a:r>
              <a:rPr kumimoji="1" lang="en-GB" altLang="zh-CN" sz="1400" dirty="0">
                <a:solidFill>
                  <a:schemeClr val="bg2"/>
                </a:solidFill>
              </a:rPr>
              <a:t>a, b, c </a:t>
            </a:r>
            <a:endParaRPr kumimoji="1" lang="en-GB" altLang="zh-CN" sz="1400" dirty="0">
              <a:solidFill>
                <a:schemeClr val="bg2"/>
              </a:solidFill>
            </a:endParaRPr>
          </a:p>
        </p:txBody>
      </p:sp>
      <p:pic>
        <p:nvPicPr>
          <p:cNvPr id="5" name="Picture 5" descr="Text&#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0246" y="3966793"/>
            <a:ext cx="7816304" cy="1147068"/>
          </a:xfrm>
          <a:prstGeom prst="rect">
            <a:avLst/>
          </a:prstGeom>
        </p:spPr>
      </p:pic>
      <p:pic>
        <p:nvPicPr>
          <p:cNvPr id="7" name="图片 6"/>
          <p:cNvPicPr>
            <a:picLocks noChangeAspect="1"/>
          </p:cNvPicPr>
          <p:nvPr/>
        </p:nvPicPr>
        <p:blipFill>
          <a:blip r:embed="rId2"/>
          <a:stretch>
            <a:fillRect/>
          </a:stretch>
        </p:blipFill>
        <p:spPr>
          <a:xfrm>
            <a:off x="190246" y="980663"/>
            <a:ext cx="4285502" cy="286824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a:t>Python classes/objects</a:t>
            </a:r>
            <a:endParaRPr kumimoji="1" lang="zh-CN" altLang="en-US" dirty="0"/>
          </a:p>
        </p:txBody>
      </p:sp>
      <p:sp>
        <p:nvSpPr>
          <p:cNvPr id="3" name="文本占位符 2"/>
          <p:cNvSpPr>
            <a:spLocks noGrp="1"/>
          </p:cNvSpPr>
          <p:nvPr>
            <p:ph type="body" idx="1"/>
          </p:nvPr>
        </p:nvSpPr>
        <p:spPr/>
        <p:txBody>
          <a:bodyPr>
            <a:noAutofit/>
          </a:bodyPr>
          <a:lstStyle/>
          <a:p>
            <a:r>
              <a:rPr kumimoji="1" lang="en-GB" altLang="zh-CN" sz="1400" dirty="0">
                <a:solidFill>
                  <a:schemeClr val="bg2"/>
                </a:solidFill>
              </a:rPr>
              <a:t>Python is an object oriented programming language</a:t>
            </a:r>
            <a:endParaRPr kumimoji="1" lang="en-GB" altLang="zh-CN" sz="1400" dirty="0">
              <a:solidFill>
                <a:schemeClr val="bg2"/>
              </a:solidFill>
            </a:endParaRPr>
          </a:p>
          <a:p>
            <a:r>
              <a:rPr kumimoji="1" lang="en-GB" altLang="zh-CN" sz="1400" dirty="0">
                <a:solidFill>
                  <a:schemeClr val="bg2"/>
                </a:solidFill>
              </a:rPr>
              <a:t>Almost everything in Python is an object, with its properties and methods</a:t>
            </a:r>
            <a:endParaRPr kumimoji="1" lang="en-GB" altLang="zh-CN" sz="1400" dirty="0">
              <a:solidFill>
                <a:schemeClr val="bg2"/>
              </a:solidFill>
            </a:endParaRPr>
          </a:p>
          <a:p>
            <a:r>
              <a:rPr kumimoji="1" lang="en-GB" altLang="zh-CN" sz="1400" dirty="0">
                <a:solidFill>
                  <a:schemeClr val="bg2"/>
                </a:solidFill>
              </a:rPr>
              <a:t>A Class is like an object constructor, or a "blueprint" for creating objects</a:t>
            </a:r>
            <a:endParaRPr kumimoji="1" lang="en-GB" altLang="zh-CN" sz="1400" dirty="0">
              <a:solidFill>
                <a:schemeClr val="bg2"/>
              </a:solidFill>
            </a:endParaRPr>
          </a:p>
          <a:p>
            <a:r>
              <a:rPr kumimoji="1" lang="en-GB" altLang="zh-CN" sz="1400" dirty="0">
                <a:solidFill>
                  <a:schemeClr val="bg2"/>
                </a:solidFill>
              </a:rPr>
              <a:t>Procedural programming paradigm: write functions that operate data</a:t>
            </a:r>
            <a:endParaRPr kumimoji="1" lang="en-GB" altLang="zh-CN" sz="1400" dirty="0">
              <a:solidFill>
                <a:schemeClr val="bg2"/>
              </a:solidFill>
            </a:endParaRPr>
          </a:p>
          <a:p>
            <a:r>
              <a:rPr kumimoji="1" lang="en-GB" altLang="zh-CN" sz="1400" dirty="0">
                <a:solidFill>
                  <a:schemeClr val="bg2"/>
                </a:solidFill>
              </a:rPr>
              <a:t>Python is an object-oriented Programming (OOP) Language</a:t>
            </a:r>
            <a:endParaRPr kumimoji="1" lang="en-GB" altLang="zh-CN" sz="1400" dirty="0">
              <a:solidFill>
                <a:schemeClr val="bg2"/>
              </a:solidFill>
            </a:endParaRPr>
          </a:p>
          <a:p>
            <a:r>
              <a:rPr kumimoji="1" lang="en-GB" altLang="zh-CN" sz="1400" dirty="0">
                <a:solidFill>
                  <a:schemeClr val="bg2"/>
                </a:solidFill>
              </a:rPr>
              <a:t>OOP has its root in 1960s. In 1980s, it became  the main programming paradigm</a:t>
            </a:r>
            <a:endParaRPr kumimoji="1" lang="en-GB" altLang="zh-CN" sz="1400" dirty="0">
              <a:solidFill>
                <a:schemeClr val="bg2"/>
              </a:solidFill>
            </a:endParaRPr>
          </a:p>
          <a:p>
            <a:pPr lvl="1"/>
            <a:r>
              <a:rPr kumimoji="1" lang="en-GB" altLang="zh-CN" dirty="0">
                <a:solidFill>
                  <a:schemeClr val="bg2"/>
                </a:solidFill>
              </a:rPr>
              <a:t>Rapid growing software size and complexity</a:t>
            </a:r>
            <a:endParaRPr kumimoji="1" lang="en-GB" altLang="zh-CN" dirty="0">
              <a:solidFill>
                <a:schemeClr val="bg2"/>
              </a:solidFill>
            </a:endParaRPr>
          </a:p>
          <a:p>
            <a:pPr lvl="1"/>
            <a:r>
              <a:rPr kumimoji="1" lang="en-GB" altLang="zh-CN" dirty="0">
                <a:solidFill>
                  <a:schemeClr val="bg2"/>
                </a:solidFill>
              </a:rPr>
              <a:t>The focus is object that contains both data and functionality</a:t>
            </a:r>
            <a:endParaRPr kumimoji="1" lang="en-GB" altLang="zh-CN" dirty="0">
              <a:solidFill>
                <a:schemeClr val="bg2"/>
              </a:solidFill>
            </a:endParaRPr>
          </a:p>
          <a:p>
            <a:pPr lvl="1"/>
            <a:r>
              <a:rPr kumimoji="1" lang="en-GB" altLang="zh-CN" dirty="0">
                <a:solidFill>
                  <a:schemeClr val="bg2"/>
                </a:solidFill>
              </a:rPr>
              <a:t>Each object definition corresponds to some object or concept in the real world, and the functions that operate on that object correspond to the ways real-world objects interact</a:t>
            </a:r>
            <a:endParaRPr kumimoji="1" lang="en-GB" altLang="zh-CN" dirty="0">
              <a:solidFill>
                <a:schemeClr val="bg2"/>
              </a:solidFill>
            </a:endParaRPr>
          </a:p>
          <a:p>
            <a:r>
              <a:rPr kumimoji="1" lang="en-GB" altLang="zh-CN" sz="1400" dirty="0">
                <a:solidFill>
                  <a:schemeClr val="bg2"/>
                </a:solidFill>
              </a:rPr>
              <a:t>Commonly known OO Languages: C++, Java, Python</a:t>
            </a:r>
            <a:endParaRPr kumimoji="1" lang="en-GB" altLang="zh-CN" sz="1400" dirty="0">
              <a:solidFill>
                <a:schemeClr val="bg2"/>
              </a:solidFill>
            </a:endParaRPr>
          </a:p>
          <a:p>
            <a:pPr lvl="1"/>
            <a:r>
              <a:rPr kumimoji="1" lang="en-GB" altLang="zh-CN" dirty="0">
                <a:solidFill>
                  <a:schemeClr val="bg2"/>
                </a:solidFill>
              </a:rPr>
              <a:t>Class and object </a:t>
            </a:r>
            <a:endParaRPr kumimoji="1" lang="en-GB" altLang="zh-CN" dirty="0">
              <a:solidFill>
                <a:schemeClr val="bg2"/>
              </a:solidFill>
            </a:endParaRPr>
          </a:p>
          <a:p>
            <a:r>
              <a:rPr kumimoji="1" lang="en-GB" altLang="zh-CN" sz="1400" dirty="0">
                <a:solidFill>
                  <a:schemeClr val="bg2"/>
                </a:solidFill>
              </a:rPr>
              <a:t>For more details: https://</a:t>
            </a:r>
            <a:r>
              <a:rPr kumimoji="1" lang="en-GB" altLang="zh-CN" sz="1400" dirty="0" err="1">
                <a:solidFill>
                  <a:schemeClr val="bg2"/>
                </a:solidFill>
              </a:rPr>
              <a:t>en.wikipedia.org</a:t>
            </a:r>
            <a:r>
              <a:rPr kumimoji="1" lang="en-GB" altLang="zh-CN" sz="1400" dirty="0">
                <a:solidFill>
                  <a:schemeClr val="bg2"/>
                </a:solidFill>
              </a:rPr>
              <a:t>/wiki/Object-</a:t>
            </a:r>
            <a:r>
              <a:rPr kumimoji="1" lang="en-GB" altLang="zh-CN" sz="1400" dirty="0" err="1">
                <a:solidFill>
                  <a:schemeClr val="bg2"/>
                </a:solidFill>
              </a:rPr>
              <a:t>oriented_programming</a:t>
            </a:r>
            <a:endParaRPr kumimoji="1" lang="en-GB" altLang="zh-CN" sz="1400" dirty="0">
              <a:solidFill>
                <a:schemeClr val="bg2"/>
              </a:solidFill>
            </a:endParaRPr>
          </a:p>
        </p:txBody>
      </p:sp>
      <p:sp>
        <p:nvSpPr>
          <p:cNvPr id="4" name="Rectangle 1"/>
          <p:cNvSpPr/>
          <p:nvPr/>
        </p:nvSpPr>
        <p:spPr>
          <a:xfrm>
            <a:off x="5790942" y="4568875"/>
            <a:ext cx="3041358" cy="368846"/>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tx1"/>
              </a:buClr>
            </a:pPr>
            <a:r>
              <a:rPr lang="zh-CN" altLang="en-US" b="1" dirty="0">
                <a:solidFill>
                  <a:schemeClr val="tx1"/>
                </a:solidFill>
                <a:latin typeface="黑体" panose="02010609060101010101" pitchFamily="49" charset="-122"/>
                <a:ea typeface="黑体" panose="02010609060101010101" pitchFamily="49" charset="-122"/>
              </a:rPr>
              <a:t>如果没有</a:t>
            </a:r>
            <a:r>
              <a:rPr lang="en-GB" altLang="zh-CN" b="1" dirty="0">
                <a:solidFill>
                  <a:schemeClr val="tx1"/>
                </a:solidFill>
                <a:latin typeface="Source Sans Pro" panose="020B0503030403020204" pitchFamily="34" charset="0"/>
                <a:ea typeface="Source Sans Pro" panose="020B0503030403020204" pitchFamily="34" charset="0"/>
              </a:rPr>
              <a:t>OO</a:t>
            </a:r>
            <a:r>
              <a:rPr lang="zh-CN" altLang="en-GB" b="1" dirty="0">
                <a:solidFill>
                  <a:schemeClr val="tx1"/>
                </a:solidFill>
                <a:latin typeface="黑体" panose="02010609060101010101" pitchFamily="49" charset="-122"/>
                <a:ea typeface="黑体" panose="02010609060101010101" pitchFamily="49" charset="-122"/>
              </a:rPr>
              <a:t>，</a:t>
            </a:r>
            <a:r>
              <a:rPr lang="zh-CN" altLang="en-US" b="1" dirty="0">
                <a:solidFill>
                  <a:schemeClr val="tx1"/>
                </a:solidFill>
                <a:latin typeface="黑体" panose="02010609060101010101" pitchFamily="49" charset="-122"/>
                <a:ea typeface="黑体" panose="02010609060101010101" pitchFamily="49" charset="-122"/>
              </a:rPr>
              <a:t>所有东西都写在一起</a:t>
            </a:r>
            <a:r>
              <a:rPr lang="en-US" altLang="zh-CN" b="1" dirty="0">
                <a:solidFill>
                  <a:schemeClr val="tx1"/>
                </a:solidFill>
                <a:latin typeface="黑体" panose="02010609060101010101" pitchFamily="49" charset="-122"/>
                <a:ea typeface="黑体" panose="02010609060101010101" pitchFamily="49" charset="-122"/>
              </a:rPr>
              <a:t>?</a:t>
            </a:r>
            <a:endParaRPr lang="en-US" altLang="zh-CN" b="1" dirty="0">
              <a:solidFill>
                <a:schemeClr val="tx1"/>
              </a:solidFill>
              <a:latin typeface="黑体" panose="02010609060101010101" pitchFamily="49" charset="-122"/>
              <a:ea typeface="黑体" panose="02010609060101010101" pitchFamily="49"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a:t>Exercise</a:t>
            </a:r>
            <a:endParaRPr kumimoji="1" lang="zh-CN" altLang="en-US" dirty="0"/>
          </a:p>
        </p:txBody>
      </p:sp>
      <p:sp>
        <p:nvSpPr>
          <p:cNvPr id="3" name="文本占位符 2"/>
          <p:cNvSpPr>
            <a:spLocks noGrp="1"/>
          </p:cNvSpPr>
          <p:nvPr>
            <p:ph type="body" idx="1"/>
          </p:nvPr>
        </p:nvSpPr>
        <p:spPr/>
        <p:txBody>
          <a:bodyPr>
            <a:normAutofit/>
          </a:bodyPr>
          <a:lstStyle/>
          <a:p>
            <a:r>
              <a:rPr kumimoji="1" lang="zh-CN" altLang="en-US" sz="1400" dirty="0">
                <a:solidFill>
                  <a:schemeClr val="bg2"/>
                </a:solidFill>
                <a:latin typeface="黑体" panose="02010609060101010101" pitchFamily="49" charset="-122"/>
                <a:ea typeface="黑体" panose="02010609060101010101" pitchFamily="49" charset="-122"/>
              </a:rPr>
              <a:t>实现</a:t>
            </a:r>
            <a:r>
              <a:rPr kumimoji="1" lang="en-GB" altLang="zh-CN" sz="1400" dirty="0">
                <a:solidFill>
                  <a:schemeClr val="bg2"/>
                </a:solidFill>
              </a:rPr>
              <a:t>Triangle</a:t>
            </a:r>
            <a:r>
              <a:rPr kumimoji="1" lang="zh-CN" altLang="en-US" sz="1400" dirty="0">
                <a:solidFill>
                  <a:schemeClr val="bg2"/>
                </a:solidFill>
                <a:latin typeface="黑体" panose="02010609060101010101" pitchFamily="49" charset="-122"/>
                <a:ea typeface="黑体" panose="02010609060101010101" pitchFamily="49" charset="-122"/>
              </a:rPr>
              <a:t>类</a:t>
            </a:r>
            <a:endParaRPr kumimoji="1" lang="zh-CN" altLang="en-US" sz="1400" dirty="0">
              <a:solidFill>
                <a:schemeClr val="bg2"/>
              </a:solidFill>
              <a:latin typeface="黑体" panose="02010609060101010101" pitchFamily="49" charset="-122"/>
              <a:ea typeface="黑体" panose="02010609060101010101" pitchFamily="49" charset="-122"/>
            </a:endParaRPr>
          </a:p>
          <a:p>
            <a:r>
              <a:rPr kumimoji="1" lang="zh-CN" altLang="en-US" sz="1400" dirty="0">
                <a:solidFill>
                  <a:schemeClr val="bg2"/>
                </a:solidFill>
                <a:latin typeface="黑体" panose="02010609060101010101" pitchFamily="49" charset="-122"/>
                <a:ea typeface="黑体" panose="02010609060101010101" pitchFamily="49" charset="-122"/>
              </a:rPr>
              <a:t>实现</a:t>
            </a:r>
            <a:r>
              <a:rPr kumimoji="1" lang="en-GB" altLang="zh-CN" sz="1400" dirty="0">
                <a:solidFill>
                  <a:schemeClr val="bg2"/>
                </a:solidFill>
              </a:rPr>
              <a:t>vector</a:t>
            </a:r>
            <a:r>
              <a:rPr kumimoji="1" lang="zh-CN" altLang="en-US" sz="1400" dirty="0">
                <a:solidFill>
                  <a:schemeClr val="bg2"/>
                </a:solidFill>
                <a:latin typeface="黑体" panose="02010609060101010101" pitchFamily="49" charset="-122"/>
                <a:ea typeface="黑体" panose="02010609060101010101" pitchFamily="49" charset="-122"/>
              </a:rPr>
              <a:t>类</a:t>
            </a:r>
            <a:endParaRPr kumimoji="1" lang="zh-CN" altLang="en-US" sz="1400" dirty="0">
              <a:solidFill>
                <a:schemeClr val="bg2"/>
              </a:solidFill>
              <a:latin typeface="黑体" panose="02010609060101010101" pitchFamily="49" charset="-122"/>
              <a:ea typeface="黑体" panose="02010609060101010101" pitchFamily="49" charset="-122"/>
            </a:endParaRPr>
          </a:p>
          <a:p>
            <a:pPr lvl="1"/>
            <a:r>
              <a:rPr kumimoji="1" lang="zh-CN" altLang="en-US" sz="1200" dirty="0">
                <a:solidFill>
                  <a:schemeClr val="bg2"/>
                </a:solidFill>
                <a:latin typeface="黑体" panose="02010609060101010101" pitchFamily="49" charset="-122"/>
                <a:ea typeface="黑体" panose="02010609060101010101" pitchFamily="49" charset="-122"/>
              </a:rPr>
              <a:t>属性：一个</a:t>
            </a:r>
            <a:r>
              <a:rPr kumimoji="1" lang="en-GB" altLang="zh-CN" sz="1200" dirty="0">
                <a:solidFill>
                  <a:schemeClr val="bg2"/>
                </a:solidFill>
              </a:rPr>
              <a:t>n</a:t>
            </a:r>
            <a:r>
              <a:rPr kumimoji="1" lang="zh-CN" altLang="en-US" sz="1200" dirty="0">
                <a:solidFill>
                  <a:schemeClr val="bg2"/>
                </a:solidFill>
                <a:latin typeface="黑体" panose="02010609060101010101" pitchFamily="49" charset="-122"/>
                <a:ea typeface="黑体" panose="02010609060101010101" pitchFamily="49" charset="-122"/>
              </a:rPr>
              <a:t>维的</a:t>
            </a:r>
            <a:r>
              <a:rPr kumimoji="1" lang="en-GB" altLang="zh-CN" sz="1200" dirty="0">
                <a:solidFill>
                  <a:schemeClr val="bg2"/>
                </a:solidFill>
              </a:rPr>
              <a:t>list</a:t>
            </a:r>
            <a:endParaRPr kumimoji="1" lang="en-GB" altLang="zh-CN" sz="1200" dirty="0">
              <a:solidFill>
                <a:schemeClr val="bg2"/>
              </a:solidFill>
            </a:endParaRPr>
          </a:p>
          <a:p>
            <a:pPr lvl="1"/>
            <a:r>
              <a:rPr kumimoji="1" lang="zh-CN" altLang="en-US" sz="1200" dirty="0">
                <a:solidFill>
                  <a:schemeClr val="bg2"/>
                </a:solidFill>
                <a:latin typeface="黑体" panose="02010609060101010101" pitchFamily="49" charset="-122"/>
                <a:ea typeface="黑体" panose="02010609060101010101" pitchFamily="49" charset="-122"/>
              </a:rPr>
              <a:t>方法</a:t>
            </a:r>
            <a:endParaRPr kumimoji="1" lang="zh-CN" altLang="en-US" sz="1200" dirty="0">
              <a:solidFill>
                <a:schemeClr val="bg2"/>
              </a:solidFill>
              <a:latin typeface="黑体" panose="02010609060101010101" pitchFamily="49" charset="-122"/>
              <a:ea typeface="黑体" panose="02010609060101010101" pitchFamily="49" charset="-122"/>
            </a:endParaRPr>
          </a:p>
          <a:p>
            <a:pPr lvl="2">
              <a:buSzPct val="77000"/>
            </a:pPr>
            <a:r>
              <a:rPr kumimoji="1" lang="zh-CN" altLang="en-US" sz="1200" dirty="0">
                <a:solidFill>
                  <a:schemeClr val="bg2"/>
                </a:solidFill>
                <a:latin typeface="黑体" panose="02010609060101010101" pitchFamily="49" charset="-122"/>
                <a:ea typeface="黑体" panose="02010609060101010101" pitchFamily="49" charset="-122"/>
              </a:rPr>
              <a:t>长度</a:t>
            </a:r>
            <a:r>
              <a:rPr kumimoji="1" lang="en-GB" altLang="zh-CN" sz="1200" dirty="0">
                <a:solidFill>
                  <a:schemeClr val="bg2"/>
                </a:solidFill>
              </a:rPr>
              <a:t>length(self)</a:t>
            </a:r>
            <a:endParaRPr kumimoji="1" lang="en-GB" altLang="zh-CN" sz="1200" dirty="0">
              <a:solidFill>
                <a:schemeClr val="bg2"/>
              </a:solidFill>
            </a:endParaRPr>
          </a:p>
          <a:p>
            <a:pPr lvl="2">
              <a:buSzPct val="77000"/>
            </a:pPr>
            <a:r>
              <a:rPr kumimoji="1" lang="en-GB" altLang="zh-CN" sz="1200" dirty="0" err="1">
                <a:solidFill>
                  <a:schemeClr val="bg2"/>
                </a:solidFill>
              </a:rPr>
              <a:t>print_length</a:t>
            </a:r>
            <a:r>
              <a:rPr kumimoji="1" lang="en-GB" altLang="zh-CN" sz="1200" dirty="0">
                <a:solidFill>
                  <a:schemeClr val="bg2"/>
                </a:solidFill>
              </a:rPr>
              <a:t>()</a:t>
            </a:r>
            <a:endParaRPr kumimoji="1" lang="en-GB" altLang="zh-CN" sz="1200" dirty="0">
              <a:solidFill>
                <a:schemeClr val="bg2"/>
              </a:solidFill>
            </a:endParaRPr>
          </a:p>
          <a:p>
            <a:pPr lvl="2">
              <a:buSzPct val="77000"/>
            </a:pPr>
            <a:r>
              <a:rPr kumimoji="1" lang="zh-CN" altLang="en-US" sz="1200" dirty="0">
                <a:solidFill>
                  <a:schemeClr val="bg2"/>
                </a:solidFill>
                <a:latin typeface="黑体" panose="02010609060101010101" pitchFamily="49" charset="-122"/>
                <a:ea typeface="黑体" panose="02010609060101010101" pitchFamily="49" charset="-122"/>
              </a:rPr>
              <a:t>方向</a:t>
            </a:r>
            <a:r>
              <a:rPr kumimoji="1" lang="en-GB" altLang="zh-CN" sz="1200" dirty="0">
                <a:solidFill>
                  <a:schemeClr val="bg2"/>
                </a:solidFill>
              </a:rPr>
              <a:t>angle(self)</a:t>
            </a:r>
            <a:endParaRPr kumimoji="1" lang="en-GB" altLang="zh-CN" sz="1200" dirty="0">
              <a:solidFill>
                <a:schemeClr val="bg2"/>
              </a:solidFill>
            </a:endParaRPr>
          </a:p>
          <a:p>
            <a:pPr lvl="2">
              <a:buSzPct val="77000"/>
            </a:pPr>
            <a:r>
              <a:rPr kumimoji="1" lang="en-GB" altLang="zh-CN" sz="1200" dirty="0" err="1">
                <a:solidFill>
                  <a:schemeClr val="bg2"/>
                </a:solidFill>
              </a:rPr>
              <a:t>Print_angle</a:t>
            </a:r>
            <a:r>
              <a:rPr kumimoji="1" lang="en-GB" altLang="zh-CN" sz="1200" dirty="0">
                <a:solidFill>
                  <a:schemeClr val="bg2"/>
                </a:solidFill>
              </a:rPr>
              <a:t>()</a:t>
            </a:r>
            <a:endParaRPr kumimoji="1" lang="en-GB" altLang="zh-CN" sz="1200" dirty="0">
              <a:solidFill>
                <a:schemeClr val="bg2"/>
              </a:solidFill>
            </a:endParaRPr>
          </a:p>
          <a:p>
            <a:pPr lvl="2">
              <a:buSzPct val="77000"/>
            </a:pPr>
            <a:r>
              <a:rPr kumimoji="1" lang="zh-CN" altLang="en-US" sz="1200" dirty="0">
                <a:solidFill>
                  <a:schemeClr val="bg2"/>
                </a:solidFill>
                <a:latin typeface="黑体" panose="02010609060101010101" pitchFamily="49" charset="-122"/>
                <a:ea typeface="黑体" panose="02010609060101010101" pitchFamily="49" charset="-122"/>
              </a:rPr>
              <a:t>点积</a:t>
            </a:r>
            <a:r>
              <a:rPr kumimoji="1" lang="en-GB" altLang="zh-CN" sz="1200" dirty="0">
                <a:solidFill>
                  <a:schemeClr val="bg2"/>
                </a:solidFill>
              </a:rPr>
              <a:t>dot(self, other)</a:t>
            </a:r>
            <a:endParaRPr kumimoji="1" lang="en-GB" altLang="zh-CN" sz="1200" dirty="0">
              <a:solidFill>
                <a:schemeClr val="bg2"/>
              </a:solidFill>
            </a:endParaRPr>
          </a:p>
          <a:p>
            <a:pPr lvl="2">
              <a:buSzPct val="77000"/>
            </a:pPr>
            <a:r>
              <a:rPr kumimoji="1" lang="zh-CN" altLang="en-US" sz="1200" dirty="0">
                <a:solidFill>
                  <a:schemeClr val="bg2"/>
                </a:solidFill>
                <a:latin typeface="黑体" panose="02010609060101010101" pitchFamily="49" charset="-122"/>
                <a:ea typeface="黑体" panose="02010609060101010101" pitchFamily="49" charset="-122"/>
              </a:rPr>
              <a:t>伸缩</a:t>
            </a:r>
            <a:r>
              <a:rPr kumimoji="1" lang="en-GB" altLang="zh-CN" sz="1200" dirty="0">
                <a:solidFill>
                  <a:schemeClr val="bg2"/>
                </a:solidFill>
              </a:rPr>
              <a:t>scale(self, ratio)</a:t>
            </a:r>
            <a:endParaRPr kumimoji="1" lang="en-GB" altLang="zh-CN" sz="1200" dirty="0">
              <a:solidFill>
                <a:schemeClr val="bg2"/>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a:t>Class Variables</a:t>
            </a:r>
            <a:endParaRPr kumimoji="1" lang="zh-CN" altLang="en-US" dirty="0"/>
          </a:p>
        </p:txBody>
      </p:sp>
      <p:sp>
        <p:nvSpPr>
          <p:cNvPr id="3" name="文本占位符 2"/>
          <p:cNvSpPr>
            <a:spLocks noGrp="1"/>
          </p:cNvSpPr>
          <p:nvPr>
            <p:ph type="body" idx="1"/>
          </p:nvPr>
        </p:nvSpPr>
        <p:spPr>
          <a:xfrm>
            <a:off x="311700" y="1152475"/>
            <a:ext cx="8520600" cy="798873"/>
          </a:xfrm>
        </p:spPr>
        <p:txBody>
          <a:bodyPr>
            <a:normAutofit/>
          </a:bodyPr>
          <a:lstStyle/>
          <a:p>
            <a:r>
              <a:rPr kumimoji="1" lang="en-GB" altLang="zh-CN" sz="1400" dirty="0">
                <a:solidFill>
                  <a:schemeClr val="bg2"/>
                </a:solidFill>
              </a:rPr>
              <a:t>In general, </a:t>
            </a:r>
            <a:r>
              <a:rPr kumimoji="1" lang="en-GB" altLang="zh-CN" sz="1400" dirty="0">
                <a:solidFill>
                  <a:schemeClr val="tx1"/>
                </a:solidFill>
              </a:rPr>
              <a:t>instance variables</a:t>
            </a:r>
            <a:r>
              <a:rPr kumimoji="1" lang="en-GB" altLang="zh-CN" sz="1400" dirty="0">
                <a:solidFill>
                  <a:srgbClr val="C00000"/>
                </a:solidFill>
              </a:rPr>
              <a:t> </a:t>
            </a:r>
            <a:r>
              <a:rPr kumimoji="1" lang="en-GB" altLang="zh-CN" sz="1400" dirty="0">
                <a:solidFill>
                  <a:schemeClr val="bg2"/>
                </a:solidFill>
              </a:rPr>
              <a:t>are for data </a:t>
            </a:r>
            <a:r>
              <a:rPr kumimoji="1" lang="en-GB" altLang="zh-CN" sz="1400" dirty="0">
                <a:solidFill>
                  <a:schemeClr val="tx1"/>
                </a:solidFill>
              </a:rPr>
              <a:t>unique</a:t>
            </a:r>
            <a:r>
              <a:rPr kumimoji="1" lang="en-GB" altLang="zh-CN" sz="1400" dirty="0">
                <a:solidFill>
                  <a:schemeClr val="bg2"/>
                </a:solidFill>
              </a:rPr>
              <a:t> to each instance </a:t>
            </a:r>
            <a:endParaRPr kumimoji="1" lang="en-GB" altLang="zh-CN" sz="1400" dirty="0">
              <a:solidFill>
                <a:schemeClr val="bg2"/>
              </a:solidFill>
            </a:endParaRPr>
          </a:p>
          <a:p>
            <a:r>
              <a:rPr kumimoji="1" lang="en-GB" altLang="zh-CN" sz="1400" dirty="0">
                <a:solidFill>
                  <a:schemeClr val="tx1"/>
                </a:solidFill>
              </a:rPr>
              <a:t>class variables </a:t>
            </a:r>
            <a:r>
              <a:rPr kumimoji="1" lang="en-GB" altLang="zh-CN" sz="1400" dirty="0">
                <a:solidFill>
                  <a:schemeClr val="bg2"/>
                </a:solidFill>
              </a:rPr>
              <a:t>are for attributes </a:t>
            </a:r>
            <a:r>
              <a:rPr kumimoji="1" lang="en-GB" altLang="zh-CN" sz="1400" dirty="0">
                <a:solidFill>
                  <a:schemeClr val="tx1"/>
                </a:solidFill>
              </a:rPr>
              <a:t>shared</a:t>
            </a:r>
            <a:r>
              <a:rPr kumimoji="1" lang="en-GB" altLang="zh-CN" sz="1400" dirty="0">
                <a:solidFill>
                  <a:schemeClr val="bg2"/>
                </a:solidFill>
              </a:rPr>
              <a:t> by all instances of the class</a:t>
            </a:r>
            <a:endParaRPr kumimoji="1" lang="en-GB" altLang="zh-CN" sz="1400" dirty="0">
              <a:solidFill>
                <a:schemeClr val="bg2"/>
              </a:solidFill>
            </a:endParaRPr>
          </a:p>
        </p:txBody>
      </p:sp>
      <p:sp>
        <p:nvSpPr>
          <p:cNvPr id="4" name="Rectangle 1"/>
          <p:cNvSpPr/>
          <p:nvPr/>
        </p:nvSpPr>
        <p:spPr>
          <a:xfrm>
            <a:off x="5409398" y="3773087"/>
            <a:ext cx="3281500" cy="695176"/>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tx1"/>
              </a:buClr>
            </a:pPr>
            <a:r>
              <a:rPr lang="zh-CN" altLang="en-US" sz="1200" dirty="0">
                <a:solidFill>
                  <a:srgbClr val="7030A0"/>
                </a:solidFill>
                <a:latin typeface="Source Sans Pro" panose="020B0503030403020204" pitchFamily="34" charset="0"/>
                <a:ea typeface="黑体" panose="02010609060101010101" pitchFamily="49" charset="-122"/>
              </a:rPr>
              <a:t>类变量 </a:t>
            </a:r>
            <a:r>
              <a:rPr lang="en-US" altLang="zh-CN" sz="1200" dirty="0">
                <a:solidFill>
                  <a:srgbClr val="7030A0"/>
                </a:solidFill>
                <a:latin typeface="Source Sans Pro" panose="020B0503030403020204" pitchFamily="34" charset="0"/>
                <a:ea typeface="黑体" panose="02010609060101010101" pitchFamily="49" charset="-122"/>
              </a:rPr>
              <a:t>Vs.</a:t>
            </a:r>
            <a:r>
              <a:rPr lang="zh-CN" altLang="en-US" sz="1200" dirty="0">
                <a:solidFill>
                  <a:srgbClr val="7030A0"/>
                </a:solidFill>
                <a:latin typeface="Source Sans Pro" panose="020B0503030403020204" pitchFamily="34" charset="0"/>
                <a:ea typeface="黑体" panose="02010609060101010101" pitchFamily="49" charset="-122"/>
              </a:rPr>
              <a:t> 对象变量</a:t>
            </a:r>
            <a:endParaRPr lang="en-US" altLang="zh-CN" sz="1200" dirty="0">
              <a:solidFill>
                <a:srgbClr val="7030A0"/>
              </a:solidFill>
              <a:latin typeface="Source Sans Pro" panose="020B0503030403020204" pitchFamily="34" charset="0"/>
              <a:ea typeface="黑体" panose="02010609060101010101" pitchFamily="49" charset="-122"/>
            </a:endParaRPr>
          </a:p>
          <a:p>
            <a:pPr>
              <a:buClr>
                <a:schemeClr val="tx1"/>
              </a:buClr>
            </a:pPr>
            <a:r>
              <a:rPr lang="zh-CN" altLang="en-US" sz="1200" dirty="0">
                <a:solidFill>
                  <a:schemeClr val="bg2"/>
                </a:solidFill>
                <a:latin typeface="Source Sans Pro" panose="020B0503030403020204" pitchFamily="34" charset="0"/>
                <a:ea typeface="黑体" panose="02010609060101010101" pitchFamily="49" charset="-122"/>
              </a:rPr>
              <a:t>所有人都有自己的姓名</a:t>
            </a:r>
            <a:r>
              <a:rPr lang="en-US" altLang="zh-CN" sz="1200" dirty="0">
                <a:solidFill>
                  <a:schemeClr val="bg2"/>
                </a:solidFill>
                <a:latin typeface="Source Sans Pro" panose="020B0503030403020204" pitchFamily="34" charset="0"/>
                <a:ea typeface="Source Sans Pro" panose="020B0503030403020204" pitchFamily="34" charset="0"/>
              </a:rPr>
              <a:t>(</a:t>
            </a:r>
            <a:r>
              <a:rPr lang="en-GB" altLang="zh-CN" sz="1200" dirty="0">
                <a:solidFill>
                  <a:schemeClr val="bg2"/>
                </a:solidFill>
                <a:latin typeface="Source Sans Pro" panose="020B0503030403020204" pitchFamily="34" charset="0"/>
                <a:ea typeface="Source Sans Pro" panose="020B0503030403020204" pitchFamily="34" charset="0"/>
              </a:rPr>
              <a:t>instance)</a:t>
            </a:r>
            <a:r>
              <a:rPr lang="zh-CN" altLang="en-GB" sz="1200" dirty="0">
                <a:solidFill>
                  <a:schemeClr val="bg2"/>
                </a:solidFill>
                <a:latin typeface="Source Sans Pro" panose="020B0503030403020204" pitchFamily="34" charset="0"/>
                <a:ea typeface="黑体" panose="02010609060101010101" pitchFamily="49" charset="-122"/>
              </a:rPr>
              <a:t>，</a:t>
            </a:r>
            <a:r>
              <a:rPr lang="zh-CN" altLang="en-US" sz="1200" dirty="0">
                <a:solidFill>
                  <a:schemeClr val="bg2"/>
                </a:solidFill>
                <a:latin typeface="Source Sans Pro" panose="020B0503030403020204" pitchFamily="34" charset="0"/>
                <a:ea typeface="黑体" panose="02010609060101010101" pitchFamily="49" charset="-122"/>
              </a:rPr>
              <a:t>但只有一个国籍</a:t>
            </a:r>
            <a:r>
              <a:rPr lang="en-US" altLang="zh-CN" sz="1200" dirty="0">
                <a:solidFill>
                  <a:schemeClr val="bg2"/>
                </a:solidFill>
                <a:latin typeface="Source Sans Pro" panose="020B0503030403020204" pitchFamily="34" charset="0"/>
                <a:ea typeface="Source Sans Pro" panose="020B0503030403020204" pitchFamily="34" charset="0"/>
              </a:rPr>
              <a:t>(</a:t>
            </a:r>
            <a:r>
              <a:rPr lang="en-GB" altLang="zh-CN" sz="1200" dirty="0">
                <a:solidFill>
                  <a:schemeClr val="bg2"/>
                </a:solidFill>
                <a:latin typeface="Source Sans Pro" panose="020B0503030403020204" pitchFamily="34" charset="0"/>
                <a:ea typeface="Source Sans Pro" panose="020B0503030403020204" pitchFamily="34" charset="0"/>
              </a:rPr>
              <a:t>class)</a:t>
            </a:r>
            <a:endParaRPr lang="en-GB" altLang="zh-CN" sz="1200" dirty="0">
              <a:solidFill>
                <a:schemeClr val="bg2"/>
              </a:solidFill>
              <a:latin typeface="Source Sans Pro" panose="020B0503030403020204" pitchFamily="34" charset="0"/>
              <a:ea typeface="Source Sans Pro" panose="020B0503030403020204" pitchFamily="34" charset="0"/>
            </a:endParaRPr>
          </a:p>
        </p:txBody>
      </p:sp>
      <p:pic>
        <p:nvPicPr>
          <p:cNvPr id="5" name="Picture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11524" y="1916042"/>
            <a:ext cx="3853256" cy="2552221"/>
          </a:xfrm>
          <a:prstGeom prst="rect">
            <a:avLst/>
          </a:prstGeom>
        </p:spPr>
      </p:pic>
      <p:pic>
        <p:nvPicPr>
          <p:cNvPr id="6"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8726" y="1923112"/>
            <a:ext cx="3752172" cy="751677"/>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a:t>Class Methods</a:t>
            </a:r>
            <a:endParaRPr kumimoji="1" lang="zh-CN" altLang="en-US" dirty="0"/>
          </a:p>
        </p:txBody>
      </p:sp>
      <p:sp>
        <p:nvSpPr>
          <p:cNvPr id="3" name="文本占位符 2"/>
          <p:cNvSpPr>
            <a:spLocks noGrp="1"/>
          </p:cNvSpPr>
          <p:nvPr>
            <p:ph type="body" idx="1"/>
          </p:nvPr>
        </p:nvSpPr>
        <p:spPr>
          <a:xfrm>
            <a:off x="311700" y="1152474"/>
            <a:ext cx="8520600" cy="661887"/>
          </a:xfrm>
        </p:spPr>
        <p:txBody>
          <a:bodyPr>
            <a:noAutofit/>
          </a:bodyPr>
          <a:lstStyle/>
          <a:p>
            <a:r>
              <a:rPr kumimoji="1" lang="en-GB" altLang="zh-CN" sz="1400" dirty="0">
                <a:solidFill>
                  <a:srgbClr val="FF0000"/>
                </a:solidFill>
                <a:highlight>
                  <a:srgbClr val="FFFF00"/>
                </a:highlight>
              </a:rPr>
              <a:t>Class methods are methods shared by all instances of the class. </a:t>
            </a:r>
            <a:endParaRPr kumimoji="1" lang="en-GB" altLang="zh-CN" sz="1400" dirty="0">
              <a:solidFill>
                <a:srgbClr val="FF0000"/>
              </a:solidFill>
              <a:highlight>
                <a:srgbClr val="FFFF00"/>
              </a:highlight>
            </a:endParaRPr>
          </a:p>
          <a:p>
            <a:r>
              <a:rPr kumimoji="1" lang="en-GB" altLang="zh-CN" sz="1400" dirty="0">
                <a:solidFill>
                  <a:schemeClr val="bg2"/>
                </a:solidFill>
              </a:rPr>
              <a:t>Without even instantiating an object, we can access class methods</a:t>
            </a:r>
            <a:endParaRPr kumimoji="1" lang="en-GB" altLang="zh-CN" sz="1400" dirty="0">
              <a:solidFill>
                <a:schemeClr val="bg2"/>
              </a:solidFill>
            </a:endParaRPr>
          </a:p>
        </p:txBody>
      </p:sp>
      <p:pic>
        <p:nvPicPr>
          <p:cNvPr id="4"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84237" y="1807729"/>
            <a:ext cx="4386017" cy="2179111"/>
          </a:xfrm>
          <a:prstGeom prst="rect">
            <a:avLst/>
          </a:prstGeom>
        </p:spPr>
      </p:pic>
      <p:pic>
        <p:nvPicPr>
          <p:cNvPr id="5"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4237" y="4402477"/>
            <a:ext cx="2979029" cy="202798"/>
          </a:xfrm>
          <a:prstGeom prst="rect">
            <a:avLst/>
          </a:prstGeom>
        </p:spPr>
      </p:pic>
      <p:pic>
        <p:nvPicPr>
          <p:cNvPr id="7" name="图片 6" descr="手机屏幕截图&#10;&#10;中度可信度描述已自动生成"/>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6543" y="4402477"/>
            <a:ext cx="528278" cy="469580"/>
          </a:xfrm>
          <a:prstGeom prst="rect">
            <a:avLst/>
          </a:prstGeom>
        </p:spPr>
      </p:pic>
      <p:pic>
        <p:nvPicPr>
          <p:cNvPr id="9" name="图片 8"/>
          <p:cNvPicPr>
            <a:picLocks noChangeAspect="1"/>
          </p:cNvPicPr>
          <p:nvPr/>
        </p:nvPicPr>
        <p:blipFill>
          <a:blip r:embed="rId4"/>
          <a:stretch>
            <a:fillRect/>
          </a:stretch>
        </p:blipFill>
        <p:spPr>
          <a:xfrm>
            <a:off x="5806543" y="1807729"/>
            <a:ext cx="2659536" cy="2279603"/>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a:t>Class Variable</a:t>
            </a:r>
            <a:r>
              <a:rPr kumimoji="1" lang="zh-CN" altLang="en-US" dirty="0"/>
              <a:t> </a:t>
            </a:r>
            <a:r>
              <a:rPr kumimoji="1" lang="en-US" altLang="zh-CN" dirty="0"/>
              <a:t>and</a:t>
            </a:r>
            <a:r>
              <a:rPr kumimoji="1" lang="zh-CN" altLang="en-US" dirty="0"/>
              <a:t> </a:t>
            </a:r>
            <a:r>
              <a:rPr kumimoji="1" lang="en-US" altLang="zh-CN" dirty="0"/>
              <a:t>Class</a:t>
            </a:r>
            <a:r>
              <a:rPr kumimoji="1" lang="zh-CN" altLang="en-US" dirty="0"/>
              <a:t> </a:t>
            </a:r>
            <a:r>
              <a:rPr kumimoji="1" lang="en-US" altLang="zh-CN" dirty="0"/>
              <a:t>method</a:t>
            </a:r>
            <a:endParaRPr kumimoji="1" lang="zh-CN" altLang="en-US" dirty="0"/>
          </a:p>
        </p:txBody>
      </p:sp>
      <p:sp>
        <p:nvSpPr>
          <p:cNvPr id="3" name="文本占位符 2"/>
          <p:cNvSpPr>
            <a:spLocks noGrp="1"/>
          </p:cNvSpPr>
          <p:nvPr>
            <p:ph type="body" idx="1"/>
          </p:nvPr>
        </p:nvSpPr>
        <p:spPr>
          <a:xfrm>
            <a:off x="311700" y="1152475"/>
            <a:ext cx="8520600" cy="1090211"/>
          </a:xfrm>
        </p:spPr>
        <p:txBody>
          <a:bodyPr>
            <a:noAutofit/>
          </a:bodyPr>
          <a:lstStyle/>
          <a:p>
            <a:r>
              <a:rPr kumimoji="1" lang="en-GB" altLang="zh-CN" sz="1400" dirty="0">
                <a:solidFill>
                  <a:schemeClr val="bg2"/>
                </a:solidFill>
              </a:rPr>
              <a:t>Instance </a:t>
            </a:r>
            <a:r>
              <a:rPr kumimoji="1" lang="en-GB" altLang="zh-CN" sz="1400" dirty="0">
                <a:solidFill>
                  <a:schemeClr val="tx1"/>
                </a:solidFill>
              </a:rPr>
              <a:t>variables/methods </a:t>
            </a:r>
            <a:r>
              <a:rPr kumimoji="1" lang="en-GB" altLang="zh-CN" sz="1400" dirty="0">
                <a:solidFill>
                  <a:schemeClr val="bg2"/>
                </a:solidFill>
              </a:rPr>
              <a:t>are owned by the instance itself. No interference!</a:t>
            </a:r>
            <a:endParaRPr kumimoji="1" lang="en-GB" altLang="zh-CN" sz="1400" dirty="0">
              <a:solidFill>
                <a:schemeClr val="bg2"/>
              </a:solidFill>
            </a:endParaRPr>
          </a:p>
          <a:p>
            <a:pPr lvl="1"/>
            <a:r>
              <a:rPr kumimoji="1" lang="en-GB" altLang="zh-CN" sz="1200" dirty="0">
                <a:solidFill>
                  <a:schemeClr val="bg2"/>
                </a:solidFill>
              </a:rPr>
              <a:t>You must define an instance first to use them</a:t>
            </a:r>
            <a:endParaRPr kumimoji="1" lang="en-GB" altLang="zh-CN" sz="1200" dirty="0">
              <a:solidFill>
                <a:schemeClr val="bg2"/>
              </a:solidFill>
            </a:endParaRPr>
          </a:p>
          <a:p>
            <a:r>
              <a:rPr kumimoji="1" lang="en-GB" altLang="zh-CN" sz="1400" dirty="0">
                <a:solidFill>
                  <a:schemeClr val="tx1"/>
                </a:solidFill>
              </a:rPr>
              <a:t>Class variables/methods </a:t>
            </a:r>
            <a:r>
              <a:rPr kumimoji="1" lang="en-GB" altLang="zh-CN" sz="1400" dirty="0">
                <a:solidFill>
                  <a:schemeClr val="bg2"/>
                </a:solidFill>
              </a:rPr>
              <a:t>are shared by all instances of the class</a:t>
            </a:r>
            <a:endParaRPr kumimoji="1" lang="en-GB" altLang="zh-CN" sz="1400" dirty="0">
              <a:solidFill>
                <a:schemeClr val="bg2"/>
              </a:solidFill>
            </a:endParaRPr>
          </a:p>
          <a:p>
            <a:pPr lvl="1"/>
            <a:r>
              <a:rPr kumimoji="1" lang="en-GB" altLang="zh-CN" sz="1200" dirty="0">
                <a:solidFill>
                  <a:schemeClr val="bg2"/>
                </a:solidFill>
              </a:rPr>
              <a:t>To use a class variables/methods, you don’t need to define an instance first</a:t>
            </a:r>
            <a:endParaRPr kumimoji="1" lang="en-GB" altLang="zh-CN" sz="1200" dirty="0">
              <a:solidFill>
                <a:schemeClr val="bg2"/>
              </a:solidFill>
            </a:endParaRPr>
          </a:p>
        </p:txBody>
      </p:sp>
      <p:sp>
        <p:nvSpPr>
          <p:cNvPr id="4" name="Rectangle 1"/>
          <p:cNvSpPr/>
          <p:nvPr/>
        </p:nvSpPr>
        <p:spPr>
          <a:xfrm>
            <a:off x="5495376" y="4093747"/>
            <a:ext cx="2877537" cy="754368"/>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tx1"/>
              </a:buClr>
            </a:pPr>
            <a:r>
              <a:rPr lang="zh-CN" altLang="en-US" sz="1200" dirty="0">
                <a:solidFill>
                  <a:schemeClr val="bg2"/>
                </a:solidFill>
                <a:latin typeface="黑体" panose="02010609060101010101" pitchFamily="49" charset="-122"/>
                <a:ea typeface="黑体" panose="02010609060101010101" pitchFamily="49" charset="-122"/>
              </a:rPr>
              <a:t>类属性</a:t>
            </a:r>
            <a:r>
              <a:rPr lang="en-US" altLang="zh-CN" sz="1200" dirty="0">
                <a:solidFill>
                  <a:schemeClr val="bg2"/>
                </a:solidFill>
                <a:latin typeface="黑体" panose="02010609060101010101" pitchFamily="49" charset="-122"/>
                <a:ea typeface="黑体" panose="02010609060101010101" pitchFamily="49" charset="-122"/>
              </a:rPr>
              <a:t>/</a:t>
            </a:r>
            <a:r>
              <a:rPr lang="zh-CN" altLang="en-US" sz="1200" dirty="0">
                <a:solidFill>
                  <a:schemeClr val="bg2"/>
                </a:solidFill>
                <a:latin typeface="黑体" panose="02010609060101010101" pitchFamily="49" charset="-122"/>
                <a:ea typeface="黑体" panose="02010609060101010101" pitchFamily="49" charset="-122"/>
              </a:rPr>
              <a:t>方法：类的所有对象共享同一份</a:t>
            </a:r>
            <a:endParaRPr lang="zh-CN" altLang="en-US" sz="1200" dirty="0">
              <a:solidFill>
                <a:schemeClr val="bg2"/>
              </a:solidFill>
              <a:latin typeface="黑体" panose="02010609060101010101" pitchFamily="49" charset="-122"/>
              <a:ea typeface="黑体" panose="02010609060101010101" pitchFamily="49" charset="-122"/>
            </a:endParaRPr>
          </a:p>
          <a:p>
            <a:pPr marL="285750" indent="-285750">
              <a:buClr>
                <a:schemeClr val="tx1"/>
              </a:buClr>
              <a:buFont typeface="Wingdings" panose="05000000000000000000" pitchFamily="2" charset="2"/>
              <a:buChar char="l"/>
            </a:pPr>
            <a:r>
              <a:rPr lang="zh-CN" altLang="en-US" sz="1200" dirty="0">
                <a:solidFill>
                  <a:schemeClr val="bg2"/>
                </a:solidFill>
                <a:latin typeface="黑体" panose="02010609060101010101" pitchFamily="49" charset="-122"/>
                <a:ea typeface="黑体" panose="02010609060101010101" pitchFamily="49" charset="-122"/>
              </a:rPr>
              <a:t>不用实例化对象</a:t>
            </a:r>
            <a:endParaRPr lang="zh-CN" altLang="en-US" sz="1200" dirty="0">
              <a:solidFill>
                <a:schemeClr val="bg2"/>
              </a:solidFill>
              <a:latin typeface="黑体" panose="02010609060101010101" pitchFamily="49" charset="-122"/>
              <a:ea typeface="黑体" panose="02010609060101010101" pitchFamily="49" charset="-122"/>
            </a:endParaRPr>
          </a:p>
          <a:p>
            <a:pPr>
              <a:buClr>
                <a:schemeClr val="tx1"/>
              </a:buClr>
            </a:pPr>
            <a:r>
              <a:rPr lang="zh-CN" altLang="en-US" sz="1200" dirty="0">
                <a:solidFill>
                  <a:schemeClr val="bg2"/>
                </a:solidFill>
                <a:latin typeface="黑体" panose="02010609060101010101" pitchFamily="49" charset="-122"/>
                <a:ea typeface="黑体" panose="02010609060101010101" pitchFamily="49" charset="-122"/>
              </a:rPr>
              <a:t>实例属性</a:t>
            </a:r>
            <a:r>
              <a:rPr lang="en-US" altLang="zh-CN" sz="1200" dirty="0">
                <a:solidFill>
                  <a:schemeClr val="bg2"/>
                </a:solidFill>
                <a:latin typeface="黑体" panose="02010609060101010101" pitchFamily="49" charset="-122"/>
                <a:ea typeface="黑体" panose="02010609060101010101" pitchFamily="49" charset="-122"/>
              </a:rPr>
              <a:t>/</a:t>
            </a:r>
            <a:r>
              <a:rPr lang="zh-CN" altLang="en-US" sz="1200" dirty="0">
                <a:solidFill>
                  <a:schemeClr val="bg2"/>
                </a:solidFill>
                <a:latin typeface="黑体" panose="02010609060101010101" pitchFamily="49" charset="-122"/>
                <a:ea typeface="黑体" panose="02010609060101010101" pitchFamily="49" charset="-122"/>
              </a:rPr>
              <a:t>方法：各个对象各有一份</a:t>
            </a:r>
            <a:endParaRPr lang="zh-CN" altLang="en-US" sz="1200" dirty="0">
              <a:solidFill>
                <a:schemeClr val="bg2"/>
              </a:solidFill>
              <a:latin typeface="黑体" panose="02010609060101010101" pitchFamily="49" charset="-122"/>
              <a:ea typeface="黑体" panose="02010609060101010101" pitchFamily="49" charset="-122"/>
            </a:endParaRPr>
          </a:p>
        </p:txBody>
      </p:sp>
      <p:pic>
        <p:nvPicPr>
          <p:cNvPr id="5" name="Picture 9" descr="Text&#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70517" y="2242686"/>
            <a:ext cx="2877537" cy="2605429"/>
          </a:xfrm>
          <a:prstGeom prst="rect">
            <a:avLst/>
          </a:prstGeom>
        </p:spPr>
      </p:pic>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11503" y="2242687"/>
            <a:ext cx="360608" cy="1090212"/>
          </a:xfrm>
          <a:prstGeom prst="rect">
            <a:avLst/>
          </a:prstGeom>
        </p:spPr>
      </p:pic>
      <p:sp>
        <p:nvSpPr>
          <p:cNvPr id="7" name="文本占位符 2"/>
          <p:cNvSpPr txBox="1"/>
          <p:nvPr/>
        </p:nvSpPr>
        <p:spPr>
          <a:xfrm>
            <a:off x="5698155" y="2194566"/>
            <a:ext cx="2674757" cy="754368"/>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2"/>
              </a:buClr>
              <a:buSzPts val="1800"/>
              <a:buFont typeface="Source Sans Pro" panose="020B0503030403020204"/>
              <a:buChar char="●"/>
              <a:defRPr sz="18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1pPr>
            <a:lvl2pPr marL="914400" marR="0" lvl="1"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2pPr>
            <a:lvl3pPr marL="1371600" marR="0" lvl="2"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3pPr>
            <a:lvl4pPr marL="1828800" marR="0" lvl="3"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4pPr>
            <a:lvl5pPr marL="2286000" marR="0" lvl="4"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5pPr>
            <a:lvl6pPr marL="2743200" marR="0" lvl="5"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6pPr>
            <a:lvl7pPr marL="3200400" marR="0" lvl="6"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7pPr>
            <a:lvl8pPr marL="3657600" marR="0" lvl="7"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8pPr>
            <a:lvl9pPr marL="4114800" marR="0" lvl="8"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9pPr>
          </a:lstStyle>
          <a:p>
            <a:pPr marL="114300" indent="0">
              <a:buFont typeface="Source Sans Pro" panose="020B0503030403020204"/>
              <a:buNone/>
            </a:pPr>
            <a:r>
              <a:rPr kumimoji="1" lang="zh-CN" altLang="en-US" sz="1200" dirty="0">
                <a:solidFill>
                  <a:schemeClr val="bg2"/>
                </a:solidFill>
                <a:latin typeface="黑体" panose="02010609060101010101" pitchFamily="49" charset="-122"/>
                <a:ea typeface="黑体" panose="02010609060101010101" pitchFamily="49" charset="-122"/>
              </a:rPr>
              <a:t>类对象</a:t>
            </a:r>
            <a:r>
              <a:rPr kumimoji="1" lang="en-US" altLang="zh-CN" sz="1200" dirty="0">
                <a:solidFill>
                  <a:schemeClr val="bg2"/>
                </a:solidFill>
                <a:latin typeface="黑体" panose="02010609060101010101" pitchFamily="49" charset="-122"/>
                <a:ea typeface="黑体" panose="02010609060101010101" pitchFamily="49" charset="-122"/>
              </a:rPr>
              <a:t>/</a:t>
            </a:r>
            <a:r>
              <a:rPr kumimoji="1" lang="zh-CN" altLang="en-US" sz="1200" dirty="0">
                <a:solidFill>
                  <a:schemeClr val="bg2"/>
                </a:solidFill>
                <a:latin typeface="黑体" panose="02010609060101010101" pitchFamily="49" charset="-122"/>
                <a:ea typeface="黑体" panose="02010609060101010101" pitchFamily="49" charset="-122"/>
              </a:rPr>
              <a:t>函数实例化之前就可以使用</a:t>
            </a:r>
            <a:endParaRPr kumimoji="1" lang="zh-CN" altLang="en-US" sz="1200" dirty="0">
              <a:solidFill>
                <a:schemeClr val="bg2"/>
              </a:solidFill>
              <a:latin typeface="黑体" panose="02010609060101010101" pitchFamily="49" charset="-122"/>
              <a:ea typeface="黑体" panose="02010609060101010101" pitchFamily="49" charset="-122"/>
            </a:endParaRPr>
          </a:p>
          <a:p>
            <a:pPr marL="114300" indent="0" algn="ctr">
              <a:buFont typeface="Source Sans Pro" panose="020B0503030403020204"/>
              <a:buNone/>
            </a:pPr>
            <a:r>
              <a:rPr kumimoji="1" lang="en-GB" altLang="zh-CN" sz="1200" dirty="0" err="1">
                <a:solidFill>
                  <a:schemeClr val="bg2"/>
                </a:solidFill>
              </a:rPr>
              <a:t>Classname.xxx</a:t>
            </a:r>
            <a:endParaRPr kumimoji="1" lang="en-GB" altLang="zh-CN" sz="1200" dirty="0">
              <a:solidFill>
                <a:schemeClr val="bg2"/>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a:t>Private Methods </a:t>
            </a:r>
            <a:r>
              <a:rPr kumimoji="1" lang="en-US" altLang="zh-CN"/>
              <a:t>_, </a:t>
            </a:r>
            <a:r>
              <a:rPr kumimoji="1" lang="en-US" altLang="zh-CN" dirty="0"/>
              <a:t>__</a:t>
            </a:r>
            <a:endParaRPr kumimoji="1" lang="zh-CN" altLang="en-US" dirty="0"/>
          </a:p>
        </p:txBody>
      </p:sp>
      <p:sp>
        <p:nvSpPr>
          <p:cNvPr id="3" name="文本占位符 2"/>
          <p:cNvSpPr>
            <a:spLocks noGrp="1"/>
          </p:cNvSpPr>
          <p:nvPr>
            <p:ph type="body" idx="1"/>
          </p:nvPr>
        </p:nvSpPr>
        <p:spPr>
          <a:xfrm>
            <a:off x="311700" y="1152476"/>
            <a:ext cx="8399163" cy="1489660"/>
          </a:xfrm>
        </p:spPr>
        <p:txBody>
          <a:bodyPr>
            <a:noAutofit/>
          </a:bodyPr>
          <a:lstStyle/>
          <a:p>
            <a:r>
              <a:rPr kumimoji="1" lang="en-GB" altLang="zh-CN" sz="1400" dirty="0">
                <a:solidFill>
                  <a:schemeClr val="tx1"/>
                </a:solidFill>
              </a:rPr>
              <a:t>“Private” </a:t>
            </a:r>
            <a:r>
              <a:rPr kumimoji="1" lang="en-GB" altLang="zh-CN" sz="1400" dirty="0">
                <a:solidFill>
                  <a:schemeClr val="bg2"/>
                </a:solidFill>
              </a:rPr>
              <a:t>instance variables that cannot be accessed except from inside an object don’t exist in Python </a:t>
            </a:r>
            <a:endParaRPr kumimoji="1" lang="en-GB" altLang="zh-CN" sz="1400" dirty="0">
              <a:solidFill>
                <a:schemeClr val="bg2"/>
              </a:solidFill>
            </a:endParaRPr>
          </a:p>
          <a:p>
            <a:r>
              <a:rPr kumimoji="1" lang="en-GB" altLang="zh-CN" sz="1400" dirty="0">
                <a:solidFill>
                  <a:schemeClr val="bg2"/>
                </a:solidFill>
              </a:rPr>
              <a:t>However, there is </a:t>
            </a:r>
            <a:r>
              <a:rPr kumimoji="1" lang="en-GB" altLang="zh-CN" sz="1400" dirty="0">
                <a:solidFill>
                  <a:schemeClr val="tx1"/>
                </a:solidFill>
              </a:rPr>
              <a:t>a convention </a:t>
            </a:r>
            <a:r>
              <a:rPr kumimoji="1" lang="en-GB" altLang="zh-CN" sz="1400" dirty="0">
                <a:solidFill>
                  <a:schemeClr val="bg2"/>
                </a:solidFill>
              </a:rPr>
              <a:t>that is followed by most Python code: </a:t>
            </a:r>
            <a:endParaRPr kumimoji="1" lang="en-GB" altLang="zh-CN" sz="1400" dirty="0">
              <a:solidFill>
                <a:schemeClr val="bg2"/>
              </a:solidFill>
            </a:endParaRPr>
          </a:p>
          <a:p>
            <a:pPr lvl="1"/>
            <a:r>
              <a:rPr kumimoji="1" lang="en-GB" altLang="zh-CN" sz="1200" dirty="0">
                <a:solidFill>
                  <a:schemeClr val="bg2"/>
                </a:solidFill>
              </a:rPr>
              <a:t>a name prefixed with an </a:t>
            </a:r>
            <a:r>
              <a:rPr kumimoji="1" lang="en-GB" altLang="zh-CN" sz="1200" dirty="0">
                <a:solidFill>
                  <a:schemeClr val="tx1"/>
                </a:solidFill>
              </a:rPr>
              <a:t>underscore</a:t>
            </a:r>
            <a:r>
              <a:rPr kumimoji="1" lang="en-GB" altLang="zh-CN" sz="1200" dirty="0">
                <a:solidFill>
                  <a:schemeClr val="bg2"/>
                </a:solidFill>
              </a:rPr>
              <a:t> (e.g. _spam) should be treated as a </a:t>
            </a:r>
            <a:r>
              <a:rPr kumimoji="1" lang="en-GB" altLang="zh-CN" sz="1200" dirty="0">
                <a:solidFill>
                  <a:schemeClr val="tx1"/>
                </a:solidFill>
              </a:rPr>
              <a:t>non-public</a:t>
            </a:r>
            <a:r>
              <a:rPr kumimoji="1" lang="zh-CN" altLang="en-US" sz="1200" dirty="0">
                <a:solidFill>
                  <a:schemeClr val="bg2"/>
                </a:solidFill>
              </a:rPr>
              <a:t> </a:t>
            </a:r>
            <a:r>
              <a:rPr kumimoji="1" lang="en-GB" altLang="zh-CN" sz="1200" dirty="0">
                <a:solidFill>
                  <a:schemeClr val="bg2"/>
                </a:solidFill>
              </a:rPr>
              <a:t>part of the API (whether it is a function, a method or a data member). It should be</a:t>
            </a:r>
            <a:r>
              <a:rPr kumimoji="1" lang="zh-CN" altLang="en-US" sz="1200" dirty="0">
                <a:solidFill>
                  <a:schemeClr val="bg2"/>
                </a:solidFill>
              </a:rPr>
              <a:t> </a:t>
            </a:r>
            <a:r>
              <a:rPr kumimoji="1" lang="en-GB" altLang="zh-CN" sz="1200" dirty="0">
                <a:solidFill>
                  <a:schemeClr val="bg2"/>
                </a:solidFill>
              </a:rPr>
              <a:t>considered an implementation detail and subject to change without notice</a:t>
            </a:r>
            <a:endParaRPr kumimoji="1" lang="en-GB" altLang="zh-CN" sz="1200" dirty="0">
              <a:solidFill>
                <a:schemeClr val="bg2"/>
              </a:solidFill>
            </a:endParaRPr>
          </a:p>
          <a:p>
            <a:pPr lvl="1"/>
            <a:r>
              <a:rPr kumimoji="1" lang="en-US" altLang="zh-CN" sz="1200" dirty="0">
                <a:solidFill>
                  <a:schemeClr val="bg2"/>
                </a:solidFill>
              </a:rPr>
              <a:t>To define a private method prefix the member name with the </a:t>
            </a:r>
            <a:r>
              <a:rPr kumimoji="1" lang="en-US" altLang="zh-CN" sz="1200" dirty="0">
                <a:solidFill>
                  <a:schemeClr val="tx1"/>
                </a:solidFill>
              </a:rPr>
              <a:t>double underscore “__”</a:t>
            </a:r>
            <a:endParaRPr kumimoji="1" lang="en-GB" altLang="zh-CN" sz="1200" dirty="0">
              <a:solidFill>
                <a:schemeClr val="tx1"/>
              </a:solidFill>
            </a:endParaRPr>
          </a:p>
        </p:txBody>
      </p:sp>
      <p:sp>
        <p:nvSpPr>
          <p:cNvPr id="4" name="Rectangle 1"/>
          <p:cNvSpPr/>
          <p:nvPr/>
        </p:nvSpPr>
        <p:spPr>
          <a:xfrm>
            <a:off x="6522657" y="4776117"/>
            <a:ext cx="2272751" cy="257973"/>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tx1"/>
              </a:buClr>
            </a:pPr>
            <a:r>
              <a:rPr lang="en-GB" altLang="zh-CN" sz="1200" dirty="0">
                <a:solidFill>
                  <a:schemeClr val="tx1"/>
                </a:solidFill>
                <a:latin typeface="Source Sans Pro" panose="020B0503030403020204" pitchFamily="34" charset="0"/>
                <a:ea typeface="Source Sans Pro" panose="020B0503030403020204" pitchFamily="34" charset="0"/>
              </a:rPr>
              <a:t>non-public</a:t>
            </a:r>
            <a:r>
              <a:rPr lang="en-GB" altLang="zh-CN" sz="1200" dirty="0">
                <a:solidFill>
                  <a:schemeClr val="tx1"/>
                </a:solidFill>
                <a:latin typeface="黑体" panose="02010609060101010101" pitchFamily="49" charset="-122"/>
                <a:ea typeface="黑体" panose="02010609060101010101" pitchFamily="49" charset="-122"/>
              </a:rPr>
              <a:t>: </a:t>
            </a:r>
            <a:r>
              <a:rPr lang="zh-CN" altLang="en-US" sz="1200" dirty="0">
                <a:solidFill>
                  <a:schemeClr val="tx1"/>
                </a:solidFill>
                <a:latin typeface="黑体" panose="02010609060101010101" pitchFamily="49" charset="-122"/>
                <a:ea typeface="黑体" panose="02010609060101010101" pitchFamily="49" charset="-122"/>
              </a:rPr>
              <a:t>不建议</a:t>
            </a:r>
            <a:r>
              <a:rPr lang="en-US" altLang="zh-CN" sz="1200" dirty="0">
                <a:solidFill>
                  <a:schemeClr val="tx1"/>
                </a:solidFill>
                <a:latin typeface="黑体" panose="02010609060101010101" pitchFamily="49" charset="-122"/>
                <a:ea typeface="黑体" panose="02010609060101010101" pitchFamily="49" charset="-122"/>
              </a:rPr>
              <a:t>(</a:t>
            </a:r>
            <a:r>
              <a:rPr lang="zh-CN" altLang="en-US" sz="1200" dirty="0">
                <a:solidFill>
                  <a:schemeClr val="tx1"/>
                </a:solidFill>
                <a:latin typeface="黑体" panose="02010609060101010101" pitchFamily="49" charset="-122"/>
                <a:ea typeface="黑体" panose="02010609060101010101" pitchFamily="49" charset="-122"/>
              </a:rPr>
              <a:t>禁止</a:t>
            </a:r>
            <a:r>
              <a:rPr lang="en-US" altLang="zh-CN" sz="1200" dirty="0">
                <a:solidFill>
                  <a:schemeClr val="tx1"/>
                </a:solidFill>
                <a:latin typeface="黑体" panose="02010609060101010101" pitchFamily="49" charset="-122"/>
                <a:ea typeface="黑体" panose="02010609060101010101" pitchFamily="49" charset="-122"/>
              </a:rPr>
              <a:t>)</a:t>
            </a:r>
            <a:r>
              <a:rPr lang="zh-CN" altLang="en-US" sz="1200" dirty="0">
                <a:solidFill>
                  <a:schemeClr val="tx1"/>
                </a:solidFill>
                <a:latin typeface="黑体" panose="02010609060101010101" pitchFamily="49" charset="-122"/>
                <a:ea typeface="黑体" panose="02010609060101010101" pitchFamily="49" charset="-122"/>
              </a:rPr>
              <a:t>使用</a:t>
            </a:r>
            <a:endParaRPr lang="zh-CN" altLang="en-US" sz="1200" dirty="0">
              <a:solidFill>
                <a:schemeClr val="tx1"/>
              </a:solidFill>
              <a:latin typeface="黑体" panose="02010609060101010101" pitchFamily="49" charset="-122"/>
              <a:ea typeface="黑体" panose="02010609060101010101" pitchFamily="49" charset="-122"/>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540671" y="2694429"/>
            <a:ext cx="3254737" cy="1974277"/>
          </a:xfrm>
          <a:prstGeom prst="rect">
            <a:avLst/>
          </a:prstGeom>
        </p:spPr>
      </p:pic>
      <p:sp>
        <p:nvSpPr>
          <p:cNvPr id="7" name="文本框 6"/>
          <p:cNvSpPr txBox="1"/>
          <p:nvPr/>
        </p:nvSpPr>
        <p:spPr>
          <a:xfrm>
            <a:off x="499359" y="2694429"/>
            <a:ext cx="4819966" cy="2092881"/>
          </a:xfrm>
          <a:prstGeom prst="rect">
            <a:avLst/>
          </a:prstGeom>
          <a:noFill/>
        </p:spPr>
        <p:txBody>
          <a:bodyPr wrap="square">
            <a:spAutoFit/>
          </a:bodyPr>
          <a:lstStyle/>
          <a:p>
            <a:r>
              <a:rPr lang="en-US" altLang="zh-CN" sz="1000" dirty="0">
                <a:latin typeface="Source Sans Pro" panose="020B0503030403020204" pitchFamily="34" charset="0"/>
                <a:ea typeface="Source Sans Pro" panose="020B0503030403020204" pitchFamily="34" charset="0"/>
              </a:rPr>
              <a:t>The double underscore "__" does not mean a "private variable". You use it to define variables which are "class local" and which can not be easily overridden by subclasses. It </a:t>
            </a:r>
            <a:r>
              <a:rPr lang="en-US" altLang="zh-CN" sz="1000" dirty="0">
                <a:solidFill>
                  <a:schemeClr val="tx1"/>
                </a:solidFill>
                <a:latin typeface="Source Sans Pro" panose="020B0503030403020204" pitchFamily="34" charset="0"/>
                <a:ea typeface="Source Sans Pro" panose="020B0503030403020204" pitchFamily="34" charset="0"/>
              </a:rPr>
              <a:t>mangles</a:t>
            </a:r>
            <a:r>
              <a:rPr lang="en-US" altLang="zh-CN" sz="1000" dirty="0">
                <a:latin typeface="Source Sans Pro" panose="020B0503030403020204" pitchFamily="34" charset="0"/>
                <a:ea typeface="Source Sans Pro" panose="020B0503030403020204" pitchFamily="34" charset="0"/>
              </a:rPr>
              <a:t> the variables name.</a:t>
            </a:r>
            <a:endParaRPr lang="en-US" altLang="zh-CN" sz="1000" dirty="0">
              <a:latin typeface="Source Sans Pro" panose="020B0503030403020204" pitchFamily="34" charset="0"/>
              <a:ea typeface="Source Sans Pro" panose="020B0503030403020204" pitchFamily="34" charset="0"/>
            </a:endParaRPr>
          </a:p>
          <a:p>
            <a:endParaRPr lang="en-US" altLang="zh-CN" sz="1000" dirty="0">
              <a:latin typeface="Source Sans Pro" panose="020B0503030403020204" pitchFamily="34" charset="0"/>
              <a:ea typeface="Source Sans Pro" panose="020B0503030403020204" pitchFamily="34" charset="0"/>
            </a:endParaRPr>
          </a:p>
          <a:p>
            <a:r>
              <a:rPr lang="en-US" altLang="zh-CN" sz="1000" dirty="0">
                <a:latin typeface="Source Sans Pro" panose="020B0503030403020204" pitchFamily="34" charset="0"/>
                <a:ea typeface="Source Sans Pro" panose="020B0503030403020204" pitchFamily="34" charset="0"/>
              </a:rPr>
              <a:t>For example:</a:t>
            </a:r>
            <a:endParaRPr lang="en-US" altLang="zh-CN" sz="1000" dirty="0">
              <a:latin typeface="Source Sans Pro" panose="020B0503030403020204" pitchFamily="34" charset="0"/>
              <a:ea typeface="Source Sans Pro" panose="020B0503030403020204" pitchFamily="34" charset="0"/>
            </a:endParaRPr>
          </a:p>
          <a:p>
            <a:endParaRPr lang="en-US" altLang="zh-CN" sz="1000" dirty="0">
              <a:latin typeface="Source Sans Pro" panose="020B0503030403020204" pitchFamily="34" charset="0"/>
              <a:ea typeface="Source Sans Pro" panose="020B0503030403020204" pitchFamily="34" charset="0"/>
            </a:endParaRPr>
          </a:p>
          <a:p>
            <a:r>
              <a:rPr lang="en-US" altLang="zh-CN" sz="1000" dirty="0">
                <a:latin typeface="Source Sans Pro" panose="020B0503030403020204" pitchFamily="34" charset="0"/>
                <a:ea typeface="Source Sans Pro" panose="020B0503030403020204" pitchFamily="34" charset="0"/>
              </a:rPr>
              <a:t>class A(object):</a:t>
            </a:r>
            <a:endParaRPr lang="en-US" altLang="zh-CN" sz="1000" dirty="0">
              <a:latin typeface="Source Sans Pro" panose="020B0503030403020204" pitchFamily="34" charset="0"/>
              <a:ea typeface="Source Sans Pro" panose="020B0503030403020204" pitchFamily="34" charset="0"/>
            </a:endParaRPr>
          </a:p>
          <a:p>
            <a:r>
              <a:rPr lang="en-US" altLang="zh-CN" sz="1000" dirty="0">
                <a:latin typeface="Source Sans Pro" panose="020B0503030403020204" pitchFamily="34" charset="0"/>
                <a:ea typeface="Source Sans Pro" panose="020B0503030403020204" pitchFamily="34" charset="0"/>
              </a:rPr>
              <a:t>    def __</a:t>
            </a:r>
            <a:r>
              <a:rPr lang="en-US" altLang="zh-CN" sz="1000" dirty="0" err="1">
                <a:latin typeface="Source Sans Pro" panose="020B0503030403020204" pitchFamily="34" charset="0"/>
                <a:ea typeface="Source Sans Pro" panose="020B0503030403020204" pitchFamily="34" charset="0"/>
              </a:rPr>
              <a:t>init</a:t>
            </a:r>
            <a:r>
              <a:rPr lang="en-US" altLang="zh-CN" sz="1000" dirty="0">
                <a:latin typeface="Source Sans Pro" panose="020B0503030403020204" pitchFamily="34" charset="0"/>
                <a:ea typeface="Source Sans Pro" panose="020B0503030403020204" pitchFamily="34" charset="0"/>
              </a:rPr>
              <a:t>__(self):</a:t>
            </a:r>
            <a:endParaRPr lang="en-US" altLang="zh-CN" sz="1000" dirty="0">
              <a:latin typeface="Source Sans Pro" panose="020B0503030403020204" pitchFamily="34" charset="0"/>
              <a:ea typeface="Source Sans Pro" panose="020B0503030403020204" pitchFamily="34" charset="0"/>
            </a:endParaRPr>
          </a:p>
          <a:p>
            <a:r>
              <a:rPr lang="en-US" altLang="zh-CN" sz="1000" dirty="0">
                <a:latin typeface="Source Sans Pro" panose="020B0503030403020204" pitchFamily="34" charset="0"/>
                <a:ea typeface="Source Sans Pro" panose="020B0503030403020204" pitchFamily="34" charset="0"/>
              </a:rPr>
              <a:t>        self.__</a:t>
            </a:r>
            <a:r>
              <a:rPr lang="en-US" altLang="zh-CN" sz="1000" dirty="0" err="1">
                <a:latin typeface="Source Sans Pro" panose="020B0503030403020204" pitchFamily="34" charset="0"/>
                <a:ea typeface="Source Sans Pro" panose="020B0503030403020204" pitchFamily="34" charset="0"/>
              </a:rPr>
              <a:t>foobar</a:t>
            </a:r>
            <a:r>
              <a:rPr lang="en-US" altLang="zh-CN" sz="1000" dirty="0">
                <a:latin typeface="Source Sans Pro" panose="020B0503030403020204" pitchFamily="34" charset="0"/>
                <a:ea typeface="Source Sans Pro" panose="020B0503030403020204" pitchFamily="34" charset="0"/>
              </a:rPr>
              <a:t> = None # Will be automatically mangled to self._A__</a:t>
            </a:r>
            <a:r>
              <a:rPr lang="en-US" altLang="zh-CN" sz="1000" dirty="0" err="1">
                <a:latin typeface="Source Sans Pro" panose="020B0503030403020204" pitchFamily="34" charset="0"/>
                <a:ea typeface="Source Sans Pro" panose="020B0503030403020204" pitchFamily="34" charset="0"/>
              </a:rPr>
              <a:t>foobar</a:t>
            </a:r>
            <a:endParaRPr lang="en-US" altLang="zh-CN" sz="1000" dirty="0">
              <a:latin typeface="Source Sans Pro" panose="020B0503030403020204" pitchFamily="34" charset="0"/>
              <a:ea typeface="Source Sans Pro" panose="020B0503030403020204" pitchFamily="34" charset="0"/>
            </a:endParaRPr>
          </a:p>
          <a:p>
            <a:endParaRPr lang="en-US" altLang="zh-CN" sz="1000" dirty="0">
              <a:latin typeface="Source Sans Pro" panose="020B0503030403020204" pitchFamily="34" charset="0"/>
              <a:ea typeface="Source Sans Pro" panose="020B0503030403020204" pitchFamily="34" charset="0"/>
            </a:endParaRPr>
          </a:p>
          <a:p>
            <a:r>
              <a:rPr lang="en-US" altLang="zh-CN" sz="1000" dirty="0">
                <a:latin typeface="Source Sans Pro" panose="020B0503030403020204" pitchFamily="34" charset="0"/>
                <a:ea typeface="Source Sans Pro" panose="020B0503030403020204" pitchFamily="34" charset="0"/>
              </a:rPr>
              <a:t>class B(A):</a:t>
            </a:r>
            <a:endParaRPr lang="en-US" altLang="zh-CN" sz="1000" dirty="0">
              <a:latin typeface="Source Sans Pro" panose="020B0503030403020204" pitchFamily="34" charset="0"/>
              <a:ea typeface="Source Sans Pro" panose="020B0503030403020204" pitchFamily="34" charset="0"/>
            </a:endParaRPr>
          </a:p>
          <a:p>
            <a:r>
              <a:rPr lang="en-US" altLang="zh-CN" sz="1000" dirty="0">
                <a:latin typeface="Source Sans Pro" panose="020B0503030403020204" pitchFamily="34" charset="0"/>
                <a:ea typeface="Source Sans Pro" panose="020B0503030403020204" pitchFamily="34" charset="0"/>
              </a:rPr>
              <a:t>    def __</a:t>
            </a:r>
            <a:r>
              <a:rPr lang="en-US" altLang="zh-CN" sz="1000" dirty="0" err="1">
                <a:latin typeface="Source Sans Pro" panose="020B0503030403020204" pitchFamily="34" charset="0"/>
                <a:ea typeface="Source Sans Pro" panose="020B0503030403020204" pitchFamily="34" charset="0"/>
              </a:rPr>
              <a:t>init</a:t>
            </a:r>
            <a:r>
              <a:rPr lang="en-US" altLang="zh-CN" sz="1000" dirty="0">
                <a:latin typeface="Source Sans Pro" panose="020B0503030403020204" pitchFamily="34" charset="0"/>
                <a:ea typeface="Source Sans Pro" panose="020B0503030403020204" pitchFamily="34" charset="0"/>
              </a:rPr>
              <a:t>__(self):</a:t>
            </a:r>
            <a:endParaRPr lang="en-US" altLang="zh-CN" sz="1000" dirty="0">
              <a:latin typeface="Source Sans Pro" panose="020B0503030403020204" pitchFamily="34" charset="0"/>
              <a:ea typeface="Source Sans Pro" panose="020B0503030403020204" pitchFamily="34" charset="0"/>
            </a:endParaRPr>
          </a:p>
          <a:p>
            <a:r>
              <a:rPr lang="en-US" altLang="zh-CN" sz="1000" dirty="0">
                <a:latin typeface="Source Sans Pro" panose="020B0503030403020204" pitchFamily="34" charset="0"/>
                <a:ea typeface="Source Sans Pro" panose="020B0503030403020204" pitchFamily="34" charset="0"/>
              </a:rPr>
              <a:t>        self.__</a:t>
            </a:r>
            <a:r>
              <a:rPr lang="en-US" altLang="zh-CN" sz="1000" dirty="0" err="1">
                <a:latin typeface="Source Sans Pro" panose="020B0503030403020204" pitchFamily="34" charset="0"/>
                <a:ea typeface="Source Sans Pro" panose="020B0503030403020204" pitchFamily="34" charset="0"/>
              </a:rPr>
              <a:t>foobar</a:t>
            </a:r>
            <a:r>
              <a:rPr lang="en-US" altLang="zh-CN" sz="1000" dirty="0">
                <a:latin typeface="Source Sans Pro" panose="020B0503030403020204" pitchFamily="34" charset="0"/>
                <a:ea typeface="Source Sans Pro" panose="020B0503030403020204" pitchFamily="34" charset="0"/>
              </a:rPr>
              <a:t> = 1 # Will be automatically mangled to self._B__</a:t>
            </a:r>
            <a:r>
              <a:rPr lang="en-US" altLang="zh-CN" sz="1000" dirty="0" err="1">
                <a:latin typeface="Source Sans Pro" panose="020B0503030403020204" pitchFamily="34" charset="0"/>
                <a:ea typeface="Source Sans Pro" panose="020B0503030403020204" pitchFamily="34" charset="0"/>
              </a:rPr>
              <a:t>foobar</a:t>
            </a:r>
            <a:endParaRPr lang="zh-CN" altLang="en-US" sz="1000" dirty="0">
              <a:latin typeface="Source Sans Pro" panose="020B0503030403020204" pitchFamily="34" charset="0"/>
            </a:endParaRPr>
          </a:p>
        </p:txBody>
      </p:sp>
      <p:sp>
        <p:nvSpPr>
          <p:cNvPr id="9" name="文本框 8"/>
          <p:cNvSpPr txBox="1"/>
          <p:nvPr/>
        </p:nvSpPr>
        <p:spPr>
          <a:xfrm>
            <a:off x="81816" y="4864003"/>
            <a:ext cx="5380522" cy="246221"/>
          </a:xfrm>
          <a:prstGeom prst="rect">
            <a:avLst/>
          </a:prstGeom>
          <a:noFill/>
        </p:spPr>
        <p:txBody>
          <a:bodyPr wrap="square">
            <a:spAutoFit/>
          </a:bodyPr>
          <a:lstStyle/>
          <a:p>
            <a:r>
              <a:rPr lang="zh-CN" altLang="en-US" sz="1000" dirty="0"/>
              <a:t>https://stackoverflow.com/questions/1641219/does-python-have-private-variables-in-classes</a:t>
            </a:r>
            <a:endParaRPr lang="zh-CN" alt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US" altLang="zh-CN" dirty="0">
                <a:latin typeface="Raleway" pitchFamily="34" charset="0"/>
                <a:ea typeface="Source Sans Pro" panose="020B0503030403020204" pitchFamily="34" charset="0"/>
              </a:rPr>
              <a:t>Inheritance</a:t>
            </a:r>
            <a:endParaRPr dirty="0">
              <a:latin typeface="Raleway" pitchFamily="34" charset="0"/>
              <a:ea typeface="Source Sans Pro" panose="020B0503030403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a:t>Evolution and Inheritance (</a:t>
            </a:r>
            <a:r>
              <a:rPr kumimoji="1" lang="zh-CN" altLang="en-US" dirty="0"/>
              <a:t>继承</a:t>
            </a:r>
            <a:r>
              <a:rPr kumimoji="1" lang="en-US" altLang="zh-CN" dirty="0"/>
              <a:t>)</a:t>
            </a:r>
            <a:endParaRPr kumimoji="1" lang="zh-CN" altLang="en-US" dirty="0"/>
          </a:p>
        </p:txBody>
      </p:sp>
      <p:sp>
        <p:nvSpPr>
          <p:cNvPr id="3" name="文本占位符 2"/>
          <p:cNvSpPr>
            <a:spLocks noGrp="1"/>
          </p:cNvSpPr>
          <p:nvPr>
            <p:ph type="body" idx="1"/>
          </p:nvPr>
        </p:nvSpPr>
        <p:spPr>
          <a:xfrm>
            <a:off x="311700" y="2390740"/>
            <a:ext cx="8520600" cy="1697054"/>
          </a:xfrm>
        </p:spPr>
        <p:txBody>
          <a:bodyPr>
            <a:normAutofit/>
          </a:bodyPr>
          <a:lstStyle/>
          <a:p>
            <a:r>
              <a:rPr kumimoji="1" lang="en-GB" altLang="zh-CN" sz="1400" dirty="0">
                <a:solidFill>
                  <a:schemeClr val="bg2"/>
                </a:solidFill>
              </a:rPr>
              <a:t>Inheritance: Classes can inherit from other classes</a:t>
            </a:r>
            <a:endParaRPr kumimoji="1" lang="en-GB" altLang="zh-CN" sz="1400" dirty="0">
              <a:solidFill>
                <a:schemeClr val="bg2"/>
              </a:solidFill>
            </a:endParaRPr>
          </a:p>
          <a:p>
            <a:r>
              <a:rPr kumimoji="1" lang="en-GB" altLang="zh-CN" sz="1400" dirty="0">
                <a:solidFill>
                  <a:schemeClr val="bg2"/>
                </a:solidFill>
              </a:rPr>
              <a:t>A class can inherit </a:t>
            </a:r>
            <a:r>
              <a:rPr kumimoji="1" lang="en-GB" altLang="zh-CN" sz="1400" dirty="0">
                <a:solidFill>
                  <a:schemeClr val="tx1"/>
                </a:solidFill>
              </a:rPr>
              <a:t>attributes</a:t>
            </a:r>
            <a:r>
              <a:rPr kumimoji="1" lang="en-GB" altLang="zh-CN" sz="1400" dirty="0">
                <a:solidFill>
                  <a:schemeClr val="bg2"/>
                </a:solidFill>
              </a:rPr>
              <a:t> and </a:t>
            </a:r>
            <a:r>
              <a:rPr kumimoji="1" lang="en-GB" altLang="zh-CN" sz="1400" dirty="0" err="1">
                <a:solidFill>
                  <a:schemeClr val="tx1"/>
                </a:solidFill>
              </a:rPr>
              <a:t>behaviour</a:t>
            </a:r>
            <a:r>
              <a:rPr kumimoji="1" lang="en-GB" altLang="zh-CN" sz="1400" dirty="0">
                <a:solidFill>
                  <a:schemeClr val="bg2"/>
                </a:solidFill>
              </a:rPr>
              <a:t> methods from another class, called the </a:t>
            </a:r>
            <a:r>
              <a:rPr kumimoji="1" lang="en-GB" altLang="zh-CN" sz="1400" dirty="0">
                <a:solidFill>
                  <a:schemeClr val="tx1"/>
                </a:solidFill>
              </a:rPr>
              <a:t>superclass</a:t>
            </a:r>
            <a:r>
              <a:rPr kumimoji="1" lang="en-GB" altLang="zh-CN" sz="1400" dirty="0">
                <a:solidFill>
                  <a:schemeClr val="bg2"/>
                </a:solidFill>
              </a:rPr>
              <a:t> </a:t>
            </a:r>
            <a:r>
              <a:rPr kumimoji="1" lang="en-GB" altLang="zh-CN" sz="1400" dirty="0">
                <a:solidFill>
                  <a:schemeClr val="bg2"/>
                </a:solidFill>
                <a:latin typeface="黑体" panose="02010609060101010101" pitchFamily="49" charset="-122"/>
                <a:ea typeface="黑体" panose="02010609060101010101" pitchFamily="49" charset="-122"/>
              </a:rPr>
              <a:t>(</a:t>
            </a:r>
            <a:r>
              <a:rPr kumimoji="1" lang="zh-CN" altLang="en-US" sz="1400" dirty="0">
                <a:solidFill>
                  <a:schemeClr val="bg2"/>
                </a:solidFill>
                <a:latin typeface="黑体" panose="02010609060101010101" pitchFamily="49" charset="-122"/>
                <a:ea typeface="黑体" panose="02010609060101010101" pitchFamily="49" charset="-122"/>
              </a:rPr>
              <a:t>超类</a:t>
            </a:r>
            <a:r>
              <a:rPr kumimoji="1" lang="en-US" altLang="zh-CN" sz="1400" dirty="0">
                <a:solidFill>
                  <a:schemeClr val="bg2"/>
                </a:solidFill>
                <a:latin typeface="黑体" panose="02010609060101010101" pitchFamily="49" charset="-122"/>
                <a:ea typeface="黑体" panose="02010609060101010101" pitchFamily="49" charset="-122"/>
              </a:rPr>
              <a:t>)</a:t>
            </a:r>
            <a:r>
              <a:rPr kumimoji="1" lang="en-US" altLang="zh-CN" sz="1400" dirty="0">
                <a:solidFill>
                  <a:schemeClr val="bg2"/>
                </a:solidFill>
              </a:rPr>
              <a:t>. </a:t>
            </a:r>
            <a:r>
              <a:rPr kumimoji="1" lang="en-GB" altLang="zh-CN" sz="1400" dirty="0" err="1">
                <a:solidFill>
                  <a:schemeClr val="bg2"/>
                </a:solidFill>
              </a:rPr>
              <a:t>Superclasses</a:t>
            </a:r>
            <a:r>
              <a:rPr kumimoji="1" lang="en-GB" altLang="zh-CN" sz="1400" dirty="0">
                <a:solidFill>
                  <a:schemeClr val="bg2"/>
                </a:solidFill>
              </a:rPr>
              <a:t> are sometimes called ancestors as well</a:t>
            </a:r>
            <a:endParaRPr kumimoji="1" lang="en-GB" altLang="zh-CN" sz="1400" dirty="0">
              <a:solidFill>
                <a:schemeClr val="bg2"/>
              </a:solidFill>
            </a:endParaRPr>
          </a:p>
          <a:p>
            <a:r>
              <a:rPr kumimoji="1" lang="en-GB" altLang="zh-CN" sz="1400" dirty="0">
                <a:solidFill>
                  <a:schemeClr val="bg2"/>
                </a:solidFill>
              </a:rPr>
              <a:t>A class which inherits from a superclass is called a </a:t>
            </a:r>
            <a:r>
              <a:rPr kumimoji="1" lang="en-GB" altLang="zh-CN" sz="1400" dirty="0">
                <a:solidFill>
                  <a:schemeClr val="tx1"/>
                </a:solidFill>
              </a:rPr>
              <a:t>subclass</a:t>
            </a:r>
            <a:r>
              <a:rPr kumimoji="1" lang="en-GB" altLang="zh-CN" sz="1400" dirty="0">
                <a:solidFill>
                  <a:schemeClr val="bg2"/>
                </a:solidFill>
              </a:rPr>
              <a:t> </a:t>
            </a:r>
            <a:r>
              <a:rPr kumimoji="1" lang="en-GB" altLang="zh-CN" sz="1400" dirty="0">
                <a:solidFill>
                  <a:schemeClr val="bg2"/>
                </a:solidFill>
                <a:latin typeface="黑体" panose="02010609060101010101" pitchFamily="49" charset="-122"/>
                <a:ea typeface="黑体" panose="02010609060101010101" pitchFamily="49" charset="-122"/>
              </a:rPr>
              <a:t>(</a:t>
            </a:r>
            <a:r>
              <a:rPr kumimoji="1" lang="zh-CN" altLang="en-US" sz="1400" dirty="0">
                <a:solidFill>
                  <a:schemeClr val="bg2"/>
                </a:solidFill>
                <a:latin typeface="黑体" panose="02010609060101010101" pitchFamily="49" charset="-122"/>
                <a:ea typeface="黑体" panose="02010609060101010101" pitchFamily="49" charset="-122"/>
              </a:rPr>
              <a:t>子类</a:t>
            </a:r>
            <a:r>
              <a:rPr kumimoji="1" lang="en-US" altLang="zh-CN" sz="1400" dirty="0">
                <a:solidFill>
                  <a:schemeClr val="bg2"/>
                </a:solidFill>
                <a:latin typeface="黑体" panose="02010609060101010101" pitchFamily="49" charset="-122"/>
                <a:ea typeface="黑体" panose="02010609060101010101" pitchFamily="49" charset="-122"/>
              </a:rPr>
              <a:t>)</a:t>
            </a:r>
            <a:r>
              <a:rPr kumimoji="1" lang="en-US" altLang="zh-CN" sz="1400" dirty="0">
                <a:solidFill>
                  <a:schemeClr val="bg2"/>
                </a:solidFill>
              </a:rPr>
              <a:t>, </a:t>
            </a:r>
            <a:r>
              <a:rPr kumimoji="1" lang="en-GB" altLang="zh-CN" sz="1400" dirty="0">
                <a:solidFill>
                  <a:schemeClr val="bg2"/>
                </a:solidFill>
              </a:rPr>
              <a:t>also called </a:t>
            </a:r>
            <a:r>
              <a:rPr kumimoji="1" lang="en-GB" altLang="zh-CN" sz="1400" dirty="0">
                <a:solidFill>
                  <a:schemeClr val="tx1"/>
                </a:solidFill>
              </a:rPr>
              <a:t>heir class </a:t>
            </a:r>
            <a:r>
              <a:rPr kumimoji="1" lang="en-GB" altLang="zh-CN" sz="1400" dirty="0">
                <a:solidFill>
                  <a:schemeClr val="bg2"/>
                </a:solidFill>
              </a:rPr>
              <a:t>or </a:t>
            </a:r>
            <a:r>
              <a:rPr kumimoji="1" lang="en-GB" altLang="zh-CN" sz="1400" dirty="0">
                <a:solidFill>
                  <a:schemeClr val="tx1"/>
                </a:solidFill>
              </a:rPr>
              <a:t>child class</a:t>
            </a:r>
            <a:endParaRPr kumimoji="1" lang="en-GB" altLang="zh-CN" sz="1400" dirty="0">
              <a:solidFill>
                <a:schemeClr val="tx1"/>
              </a:solidFill>
            </a:endParaRPr>
          </a:p>
          <a:p>
            <a:r>
              <a:rPr kumimoji="1" lang="en-GB" altLang="zh-CN" sz="1400" dirty="0">
                <a:solidFill>
                  <a:schemeClr val="tx1"/>
                </a:solidFill>
              </a:rPr>
              <a:t>Evolution</a:t>
            </a:r>
            <a:r>
              <a:rPr kumimoji="1" lang="en-GB" altLang="zh-CN" sz="1400" dirty="0">
                <a:solidFill>
                  <a:schemeClr val="bg2"/>
                </a:solidFill>
              </a:rPr>
              <a:t>: Subclass may have their own attributes and methods</a:t>
            </a:r>
            <a:endParaRPr kumimoji="1" lang="en-GB" altLang="zh-CN" sz="1400" dirty="0">
              <a:solidFill>
                <a:schemeClr val="bg2"/>
              </a:solidFill>
            </a:endParaRPr>
          </a:p>
          <a:p>
            <a:r>
              <a:rPr kumimoji="1" lang="en-GB" altLang="zh-CN" sz="1400" dirty="0">
                <a:solidFill>
                  <a:schemeClr val="bg2"/>
                </a:solidFill>
              </a:rPr>
              <a:t>Inheritance</a:t>
            </a:r>
            <a:r>
              <a:rPr kumimoji="1" lang="zh-CN" altLang="en-US" sz="1400" dirty="0">
                <a:solidFill>
                  <a:schemeClr val="bg2"/>
                </a:solidFill>
              </a:rPr>
              <a:t> </a:t>
            </a:r>
            <a:r>
              <a:rPr kumimoji="1" lang="en-US" altLang="zh-CN" sz="1400" dirty="0">
                <a:solidFill>
                  <a:schemeClr val="bg2"/>
                </a:solidFill>
              </a:rPr>
              <a:t>and</a:t>
            </a:r>
            <a:r>
              <a:rPr kumimoji="1" lang="zh-CN" altLang="en-US" sz="1400" dirty="0">
                <a:solidFill>
                  <a:schemeClr val="bg2"/>
                </a:solidFill>
              </a:rPr>
              <a:t> </a:t>
            </a:r>
            <a:r>
              <a:rPr kumimoji="1" lang="en-GB" altLang="zh-CN" sz="1400" dirty="0">
                <a:solidFill>
                  <a:schemeClr val="bg2"/>
                </a:solidFill>
              </a:rPr>
              <a:t>Evolution</a:t>
            </a:r>
            <a:r>
              <a:rPr kumimoji="1" lang="zh-CN" altLang="en-US" sz="1400" dirty="0">
                <a:solidFill>
                  <a:schemeClr val="bg2"/>
                </a:solidFill>
              </a:rPr>
              <a:t> </a:t>
            </a:r>
            <a:r>
              <a:rPr kumimoji="1" lang="en-US" altLang="zh-CN" sz="1400" dirty="0">
                <a:solidFill>
                  <a:schemeClr val="bg2"/>
                </a:solidFill>
              </a:rPr>
              <a:t>—</a:t>
            </a:r>
            <a:r>
              <a:rPr kumimoji="1" lang="zh-CN" altLang="en-US" sz="1400" dirty="0">
                <a:solidFill>
                  <a:schemeClr val="bg2"/>
                </a:solidFill>
              </a:rPr>
              <a:t> </a:t>
            </a:r>
            <a:r>
              <a:rPr kumimoji="1" lang="en-GB" altLang="zh-CN" sz="1400" dirty="0">
                <a:solidFill>
                  <a:schemeClr val="bg2"/>
                </a:solidFill>
              </a:rPr>
              <a:t>poly</a:t>
            </a:r>
            <a:r>
              <a:rPr kumimoji="1" lang="en-US" altLang="zh-CN" sz="1400" dirty="0">
                <a:solidFill>
                  <a:schemeClr val="bg2"/>
                </a:solidFill>
              </a:rPr>
              <a:t>morphism</a:t>
            </a:r>
            <a:endParaRPr kumimoji="1" lang="en-GB" altLang="zh-CN" sz="1400" dirty="0">
              <a:solidFill>
                <a:schemeClr val="bg2"/>
              </a:solidFill>
            </a:endParaRPr>
          </a:p>
        </p:txBody>
      </p:sp>
      <p:pic>
        <p:nvPicPr>
          <p:cNvPr id="5" name="Picture 6" descr="210 Evolution Stages From Ape To Human Stock Photos, Pictures &amp;amp;  Royalty-Free Images - iStock"/>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218853" y="1034915"/>
            <a:ext cx="4192056" cy="1397352"/>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3"/>
          <p:cNvSpPr txBox="1"/>
          <p:nvPr/>
        </p:nvSpPr>
        <p:spPr>
          <a:xfrm>
            <a:off x="500773" y="1596457"/>
            <a:ext cx="3072443" cy="307777"/>
          </a:xfrm>
          <a:prstGeom prst="rect">
            <a:avLst/>
          </a:prstGeom>
          <a:solidFill>
            <a:srgbClr val="7030A0"/>
          </a:solidFill>
        </p:spPr>
        <p:txBody>
          <a:bodyPr wrap="square" rtlCol="0">
            <a:spAutoFit/>
          </a:bodyPr>
          <a:lstStyle/>
          <a:p>
            <a:r>
              <a:rPr lang="zh-CN" altLang="en-US" dirty="0">
                <a:solidFill>
                  <a:schemeClr val="bg1"/>
                </a:solidFill>
                <a:latin typeface="Source Sans Pro" panose="020B0503030403020204" pitchFamily="34" charset="0"/>
                <a:ea typeface="黑体" panose="02010609060101010101" pitchFamily="49" charset="-122"/>
              </a:rPr>
              <a:t>软件的生命周期： 开发、部署、维护</a:t>
            </a:r>
            <a:endParaRPr lang="zh-CN" altLang="en-US" dirty="0">
              <a:solidFill>
                <a:schemeClr val="bg1"/>
              </a:solidFill>
              <a:latin typeface="Source Sans Pro" panose="020B0503030403020204" pitchFamily="34" charset="0"/>
              <a:ea typeface="黑体" panose="02010609060101010101" pitchFamily="49"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a:t>Inheritance Syntax</a:t>
            </a:r>
            <a:endParaRPr kumimoji="1" lang="zh-CN" altLang="en-US" dirty="0"/>
          </a:p>
        </p:txBody>
      </p:sp>
      <p:sp>
        <p:nvSpPr>
          <p:cNvPr id="3" name="文本占位符 2"/>
          <p:cNvSpPr>
            <a:spLocks noGrp="1"/>
          </p:cNvSpPr>
          <p:nvPr>
            <p:ph type="body" idx="1"/>
          </p:nvPr>
        </p:nvSpPr>
        <p:spPr>
          <a:xfrm>
            <a:off x="311700" y="1152475"/>
            <a:ext cx="8520600" cy="623400"/>
          </a:xfrm>
        </p:spPr>
        <p:txBody>
          <a:bodyPr>
            <a:noAutofit/>
          </a:bodyPr>
          <a:lstStyle/>
          <a:p>
            <a:r>
              <a:rPr kumimoji="1" lang="en-GB" altLang="zh-CN" sz="1400" dirty="0">
                <a:solidFill>
                  <a:schemeClr val="bg2"/>
                </a:solidFill>
              </a:rPr>
              <a:t>The syntax for a subclass definition looks like this:</a:t>
            </a:r>
            <a:endParaRPr kumimoji="1" lang="en-GB" altLang="zh-CN" sz="1400" dirty="0">
              <a:solidFill>
                <a:schemeClr val="bg2"/>
              </a:solidFill>
            </a:endParaRPr>
          </a:p>
          <a:p>
            <a:pPr marL="114300" indent="0">
              <a:buNone/>
            </a:pPr>
            <a:r>
              <a:rPr kumimoji="1" lang="en-GB" altLang="zh-CN" sz="1400" dirty="0">
                <a:solidFill>
                  <a:schemeClr val="bg2"/>
                </a:solidFill>
              </a:rPr>
              <a:t>	</a:t>
            </a:r>
            <a:r>
              <a:rPr kumimoji="1" lang="en-GB" altLang="zh-CN" sz="1400" dirty="0">
                <a:solidFill>
                  <a:schemeClr val="tx1"/>
                </a:solidFill>
              </a:rPr>
              <a:t>class </a:t>
            </a:r>
            <a:r>
              <a:rPr kumimoji="1" lang="en-GB" altLang="zh-CN" sz="1400" dirty="0" err="1">
                <a:solidFill>
                  <a:schemeClr val="tx1"/>
                </a:solidFill>
              </a:rPr>
              <a:t>DerivedClassName</a:t>
            </a:r>
            <a:r>
              <a:rPr kumimoji="1" lang="en-GB" altLang="zh-CN" sz="1400" dirty="0">
                <a:solidFill>
                  <a:schemeClr val="tx1"/>
                </a:solidFill>
              </a:rPr>
              <a:t>(BaseClassName1, BaseClassName2, … ):</a:t>
            </a:r>
            <a:endParaRPr kumimoji="1" lang="en-GB" altLang="zh-CN" sz="1400" dirty="0">
              <a:solidFill>
                <a:schemeClr val="tx1"/>
              </a:solidFill>
            </a:endParaRPr>
          </a:p>
        </p:txBody>
      </p:sp>
      <p:sp>
        <p:nvSpPr>
          <p:cNvPr id="4" name="Rectangle 1"/>
          <p:cNvSpPr/>
          <p:nvPr/>
        </p:nvSpPr>
        <p:spPr>
          <a:xfrm>
            <a:off x="7636617" y="4501731"/>
            <a:ext cx="1415945" cy="434483"/>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tx1"/>
              </a:buClr>
            </a:pPr>
            <a:r>
              <a:rPr lang="zh-CN" altLang="en-US" sz="1200" dirty="0">
                <a:solidFill>
                  <a:schemeClr val="bg2"/>
                </a:solidFill>
                <a:latin typeface="黑体" panose="02010609060101010101" pitchFamily="49" charset="-122"/>
                <a:ea typeface="黑体" panose="02010609060101010101" pitchFamily="49" charset="-122"/>
              </a:rPr>
              <a:t>继承：拥有超类所有的属性和方法</a:t>
            </a:r>
            <a:endParaRPr lang="zh-CN" altLang="en-US" sz="1200" dirty="0">
              <a:solidFill>
                <a:schemeClr val="bg2"/>
              </a:solidFill>
              <a:latin typeface="黑体" panose="02010609060101010101" pitchFamily="49" charset="-122"/>
              <a:ea typeface="黑体" panose="02010609060101010101" pitchFamily="49" charset="-122"/>
            </a:endParaRPr>
          </a:p>
        </p:txBody>
      </p:sp>
      <p:pic>
        <p:nvPicPr>
          <p:cNvPr id="8" name="Picture 7"/>
          <p:cNvPicPr>
            <a:picLocks noChangeAspect="1"/>
          </p:cNvPicPr>
          <p:nvPr/>
        </p:nvPicPr>
        <p:blipFill>
          <a:blip r:embed="rId1"/>
          <a:stretch>
            <a:fillRect/>
          </a:stretch>
        </p:blipFill>
        <p:spPr>
          <a:xfrm>
            <a:off x="91438" y="1740092"/>
            <a:ext cx="4463935" cy="2338980"/>
          </a:xfrm>
          <a:prstGeom prst="rect">
            <a:avLst/>
          </a:prstGeom>
        </p:spPr>
      </p:pic>
      <p:pic>
        <p:nvPicPr>
          <p:cNvPr id="9" name="Picture 8"/>
          <p:cNvPicPr>
            <a:picLocks noChangeAspect="1"/>
          </p:cNvPicPr>
          <p:nvPr/>
        </p:nvPicPr>
        <p:blipFill>
          <a:blip r:embed="rId2"/>
          <a:stretch>
            <a:fillRect/>
          </a:stretch>
        </p:blipFill>
        <p:spPr>
          <a:xfrm>
            <a:off x="4588627" y="1740092"/>
            <a:ext cx="4463935" cy="2119567"/>
          </a:xfrm>
          <a:prstGeom prst="rect">
            <a:avLst/>
          </a:prstGeom>
        </p:spPr>
      </p:pic>
      <p:pic>
        <p:nvPicPr>
          <p:cNvPr id="11" name="Picture 10" descr="A black background with white text&#10;&#10;Description automatically generated"/>
          <p:cNvPicPr>
            <a:picLocks noChangeAspect="1"/>
          </p:cNvPicPr>
          <p:nvPr/>
        </p:nvPicPr>
        <p:blipFill>
          <a:blip r:embed="rId3"/>
          <a:stretch>
            <a:fillRect/>
          </a:stretch>
        </p:blipFill>
        <p:spPr>
          <a:xfrm>
            <a:off x="7570233" y="3909844"/>
            <a:ext cx="1482329" cy="496508"/>
          </a:xfrm>
          <a:prstGeom prst="rect">
            <a:avLst/>
          </a:prstGeom>
        </p:spPr>
      </p:pic>
      <p:sp>
        <p:nvSpPr>
          <p:cNvPr id="12" name="文本框 9"/>
          <p:cNvSpPr txBox="1"/>
          <p:nvPr/>
        </p:nvSpPr>
        <p:spPr>
          <a:xfrm>
            <a:off x="4588627" y="4208160"/>
            <a:ext cx="3073162" cy="646331"/>
          </a:xfrm>
          <a:prstGeom prst="rect">
            <a:avLst/>
          </a:prstGeom>
          <a:noFill/>
        </p:spPr>
        <p:txBody>
          <a:bodyPr wrap="square">
            <a:spAutoFit/>
          </a:bodyPr>
          <a:lstStyle/>
          <a:p>
            <a:r>
              <a:rPr lang="en-US" altLang="zh-CN" sz="1200" dirty="0">
                <a:latin typeface="Source Sans Pro" panose="020B0503030403020204" pitchFamily="34" charset="0"/>
                <a:ea typeface="Source Sans Pro" panose="020B0503030403020204" pitchFamily="34" charset="0"/>
              </a:rPr>
              <a:t>Manager</a:t>
            </a:r>
            <a:r>
              <a:rPr lang="zh-CN" altLang="en-US" sz="1200" dirty="0">
                <a:latin typeface="Source Sans Pro" panose="020B0503030403020204" pitchFamily="34" charset="0"/>
                <a:ea typeface="黑体" panose="02010609060101010101" pitchFamily="49" charset="-122"/>
              </a:rPr>
              <a:t>类</a:t>
            </a:r>
            <a:endParaRPr lang="zh-CN" altLang="en-US" sz="1200" dirty="0">
              <a:latin typeface="Source Sans Pro" panose="020B0503030403020204" pitchFamily="34" charset="0"/>
              <a:ea typeface="黑体" panose="02010609060101010101" pitchFamily="49" charset="-122"/>
            </a:endParaRPr>
          </a:p>
          <a:p>
            <a:r>
              <a:rPr lang="zh-CN" altLang="en-US" sz="1200" dirty="0">
                <a:latin typeface="Source Sans Pro" panose="020B0503030403020204" pitchFamily="34" charset="0"/>
                <a:ea typeface="黑体" panose="02010609060101010101" pitchFamily="49" charset="-122"/>
              </a:rPr>
              <a:t>继承</a:t>
            </a:r>
            <a:r>
              <a:rPr lang="en-US" altLang="zh-CN" sz="1200" dirty="0">
                <a:latin typeface="Source Sans Pro" panose="020B0503030403020204" pitchFamily="34" charset="0"/>
                <a:ea typeface="Source Sans Pro" panose="020B0503030403020204" pitchFamily="34" charset="0"/>
              </a:rPr>
              <a:t>Person: </a:t>
            </a:r>
            <a:r>
              <a:rPr lang="zh-CN" altLang="en-US" sz="1200" dirty="0">
                <a:latin typeface="Source Sans Pro" panose="020B0503030403020204" pitchFamily="34" charset="0"/>
                <a:ea typeface="黑体" panose="02010609060101010101" pitchFamily="49" charset="-122"/>
              </a:rPr>
              <a:t>具有</a:t>
            </a:r>
            <a:r>
              <a:rPr lang="en-US" altLang="zh-CN" sz="1200" dirty="0">
                <a:latin typeface="Source Sans Pro" panose="020B0503030403020204" pitchFamily="34" charset="0"/>
                <a:ea typeface="Source Sans Pro" panose="020B0503030403020204" pitchFamily="34" charset="0"/>
              </a:rPr>
              <a:t>Person</a:t>
            </a:r>
            <a:r>
              <a:rPr lang="zh-CN" altLang="en-US" sz="1200" dirty="0">
                <a:latin typeface="Source Sans Pro" panose="020B0503030403020204" pitchFamily="34" charset="0"/>
                <a:ea typeface="黑体" panose="02010609060101010101" pitchFamily="49" charset="-122"/>
              </a:rPr>
              <a:t>的所有属性和方法</a:t>
            </a:r>
            <a:endParaRPr lang="zh-CN" altLang="en-US" sz="1200" dirty="0">
              <a:latin typeface="Source Sans Pro" panose="020B0503030403020204" pitchFamily="34" charset="0"/>
              <a:ea typeface="黑体" panose="02010609060101010101" pitchFamily="49" charset="-122"/>
            </a:endParaRPr>
          </a:p>
          <a:p>
            <a:r>
              <a:rPr lang="zh-CN" altLang="en-US" sz="1200" dirty="0">
                <a:latin typeface="Source Sans Pro" panose="020B0503030403020204" pitchFamily="34" charset="0"/>
                <a:ea typeface="黑体" panose="02010609060101010101" pitchFamily="49" charset="-122"/>
              </a:rPr>
              <a:t>自己的方法和属性 </a:t>
            </a:r>
            <a:endParaRPr lang="zh-CN" altLang="en-US" sz="1200" dirty="0">
              <a:latin typeface="Source Sans Pro" panose="020B0503030403020204" pitchFamily="34" charset="0"/>
              <a:ea typeface="黑体" panose="02010609060101010101" pitchFamily="49" charset="-122"/>
            </a:endParaRPr>
          </a:p>
        </p:txBody>
      </p:sp>
      <p:sp>
        <p:nvSpPr>
          <p:cNvPr id="6" name="TextBox 5"/>
          <p:cNvSpPr txBox="1"/>
          <p:nvPr/>
        </p:nvSpPr>
        <p:spPr>
          <a:xfrm>
            <a:off x="91438" y="4208159"/>
            <a:ext cx="3761652" cy="830997"/>
          </a:xfrm>
          <a:prstGeom prst="rect">
            <a:avLst/>
          </a:prstGeom>
          <a:noFill/>
        </p:spPr>
        <p:txBody>
          <a:bodyPr wrap="square">
            <a:spAutoFit/>
          </a:bodyPr>
          <a:lstStyle/>
          <a:p>
            <a:r>
              <a:rPr lang="en-US" altLang="zh-CN" sz="1200" dirty="0">
                <a:latin typeface="Source Sans Pro" panose="020B0503030403020204" pitchFamily="34" charset="0"/>
                <a:ea typeface="Source Sans Pro" panose="020B0503030403020204" pitchFamily="34" charset="0"/>
              </a:rPr>
              <a:t>Person</a:t>
            </a:r>
            <a:r>
              <a:rPr lang="zh-CN" altLang="en-US" sz="1200" dirty="0">
                <a:latin typeface="Source Sans Pro" panose="020B0503030403020204" pitchFamily="34" charset="0"/>
                <a:ea typeface="黑体" panose="02010609060101010101" pitchFamily="49" charset="-122"/>
              </a:rPr>
              <a:t>类</a:t>
            </a:r>
            <a:endParaRPr lang="zh-CN" altLang="en-US" sz="1200" dirty="0">
              <a:latin typeface="Source Sans Pro" panose="020B0503030403020204" pitchFamily="34" charset="0"/>
              <a:ea typeface="黑体" panose="02010609060101010101" pitchFamily="49" charset="-122"/>
            </a:endParaRPr>
          </a:p>
          <a:p>
            <a:r>
              <a:rPr lang="zh-CN" altLang="en-US" sz="1200" dirty="0">
                <a:latin typeface="Source Sans Pro" panose="020B0503030403020204" pitchFamily="34" charset="0"/>
                <a:ea typeface="黑体" panose="02010609060101010101" pitchFamily="49" charset="-122"/>
              </a:rPr>
              <a:t>属性：</a:t>
            </a:r>
            <a:r>
              <a:rPr lang="en-US" altLang="zh-CN" sz="1200" dirty="0">
                <a:latin typeface="Source Sans Pro" panose="020B0503030403020204" pitchFamily="34" charset="0"/>
                <a:ea typeface="Source Sans Pro" panose="020B0503030403020204" pitchFamily="34" charset="0"/>
              </a:rPr>
              <a:t>name, job, pay</a:t>
            </a:r>
            <a:endParaRPr lang="en-US" altLang="zh-CN" sz="1200" dirty="0">
              <a:latin typeface="Source Sans Pro" panose="020B0503030403020204" pitchFamily="34" charset="0"/>
              <a:ea typeface="Source Sans Pro" panose="020B0503030403020204" pitchFamily="34" charset="0"/>
            </a:endParaRPr>
          </a:p>
          <a:p>
            <a:r>
              <a:rPr lang="zh-CN" altLang="en-US" sz="1200" dirty="0">
                <a:latin typeface="Source Sans Pro" panose="020B0503030403020204" pitchFamily="34" charset="0"/>
                <a:ea typeface="黑体" panose="02010609060101010101" pitchFamily="49" charset="-122"/>
              </a:rPr>
              <a:t>方法：</a:t>
            </a:r>
            <a:r>
              <a:rPr lang="en-US" altLang="zh-CN" sz="1200" dirty="0" err="1">
                <a:latin typeface="Source Sans Pro" panose="020B0503030403020204" pitchFamily="34" charset="0"/>
                <a:ea typeface="Source Sans Pro" panose="020B0503030403020204" pitchFamily="34" charset="0"/>
              </a:rPr>
              <a:t>get_last_name</a:t>
            </a:r>
            <a:r>
              <a:rPr lang="en-US" altLang="zh-CN" sz="1200" dirty="0">
                <a:latin typeface="Source Sans Pro" panose="020B0503030403020204" pitchFamily="34" charset="0"/>
                <a:ea typeface="Source Sans Pro" panose="020B0503030403020204" pitchFamily="34" charset="0"/>
              </a:rPr>
              <a:t>(), </a:t>
            </a:r>
            <a:r>
              <a:rPr lang="en-US" altLang="zh-CN" sz="1200" dirty="0" err="1">
                <a:latin typeface="Source Sans Pro" panose="020B0503030403020204" pitchFamily="34" charset="0"/>
                <a:ea typeface="Source Sans Pro" panose="020B0503030403020204" pitchFamily="34" charset="0"/>
              </a:rPr>
              <a:t>give_raise</a:t>
            </a:r>
            <a:r>
              <a:rPr lang="en-US" altLang="zh-CN" sz="1200" dirty="0">
                <a:latin typeface="Source Sans Pro" panose="020B0503030403020204" pitchFamily="34" charset="0"/>
                <a:ea typeface="Source Sans Pro" panose="020B0503030403020204" pitchFamily="34" charset="0"/>
              </a:rPr>
              <a:t>(), __</a:t>
            </a:r>
            <a:r>
              <a:rPr lang="en-US" altLang="zh-CN" sz="1200" dirty="0" err="1">
                <a:latin typeface="Source Sans Pro" panose="020B0503030403020204" pitchFamily="34" charset="0"/>
                <a:ea typeface="Source Sans Pro" panose="020B0503030403020204" pitchFamily="34" charset="0"/>
              </a:rPr>
              <a:t>repr</a:t>
            </a:r>
            <a:r>
              <a:rPr lang="en-US" altLang="zh-CN" sz="1200" dirty="0">
                <a:latin typeface="Source Sans Pro" panose="020B0503030403020204" pitchFamily="34" charset="0"/>
                <a:ea typeface="Source Sans Pro" panose="020B0503030403020204" pitchFamily="34" charset="0"/>
              </a:rPr>
              <a:t>__()</a:t>
            </a:r>
            <a:endParaRPr lang="en-US" altLang="zh-CN" sz="1200" dirty="0">
              <a:latin typeface="Source Sans Pro" panose="020B0503030403020204" pitchFamily="34" charset="0"/>
              <a:ea typeface="Source Sans Pro" panose="020B0503030403020204" pitchFamily="34" charset="0"/>
            </a:endParaRPr>
          </a:p>
          <a:p>
            <a:r>
              <a:rPr lang="en-GB" altLang="zh-CN" sz="1200" dirty="0">
                <a:solidFill>
                  <a:schemeClr val="bg2"/>
                </a:solidFill>
                <a:latin typeface="Source Sans Pro" panose="020B0503030403020204" pitchFamily="34" charset="0"/>
                <a:ea typeface="Source Sans Pro" panose="020B0503030403020204" pitchFamily="34" charset="0"/>
              </a:rPr>
              <a:t>__str__() for print()</a:t>
            </a:r>
            <a:endParaRPr lang="en-GB" altLang="zh-CN" sz="1200" dirty="0">
              <a:solidFill>
                <a:schemeClr val="bg2"/>
              </a:solidFill>
              <a:latin typeface="Source Sans Pro" panose="020B0503030403020204" pitchFamily="34" charset="0"/>
              <a:ea typeface="Source Sans Pro" panose="020B0503030403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a:t>Functions with the same name</a:t>
            </a:r>
            <a:endParaRPr kumimoji="1" lang="zh-CN" altLang="en-US" dirty="0"/>
          </a:p>
        </p:txBody>
      </p:sp>
      <p:sp>
        <p:nvSpPr>
          <p:cNvPr id="3" name="文本占位符 2"/>
          <p:cNvSpPr>
            <a:spLocks noGrp="1"/>
          </p:cNvSpPr>
          <p:nvPr>
            <p:ph type="body" idx="1"/>
          </p:nvPr>
        </p:nvSpPr>
        <p:spPr>
          <a:xfrm>
            <a:off x="311700" y="1152475"/>
            <a:ext cx="8520600" cy="1175946"/>
          </a:xfrm>
        </p:spPr>
        <p:txBody>
          <a:bodyPr>
            <a:normAutofit/>
          </a:bodyPr>
          <a:lstStyle/>
          <a:p>
            <a:r>
              <a:rPr kumimoji="1" lang="en-GB" altLang="zh-CN" sz="1400" dirty="0">
                <a:solidFill>
                  <a:schemeClr val="bg2"/>
                </a:solidFill>
              </a:rPr>
              <a:t>Python</a:t>
            </a:r>
            <a:r>
              <a:rPr kumimoji="1" lang="zh-CN" altLang="en-US" sz="1400" dirty="0">
                <a:solidFill>
                  <a:schemeClr val="bg2"/>
                </a:solidFill>
                <a:latin typeface="黑体" panose="02010609060101010101" pitchFamily="49" charset="-122"/>
                <a:ea typeface="黑体" panose="02010609060101010101" pitchFamily="49" charset="-122"/>
              </a:rPr>
              <a:t>中，函数必须在使用前定义</a:t>
            </a:r>
            <a:endParaRPr kumimoji="1" lang="zh-CN" altLang="en-US" sz="1400" dirty="0">
              <a:solidFill>
                <a:schemeClr val="bg2"/>
              </a:solidFill>
              <a:latin typeface="黑体" panose="02010609060101010101" pitchFamily="49" charset="-122"/>
              <a:ea typeface="黑体" panose="02010609060101010101" pitchFamily="49" charset="-122"/>
            </a:endParaRPr>
          </a:p>
          <a:p>
            <a:r>
              <a:rPr kumimoji="1" lang="en-GB" altLang="zh-CN" sz="1400" dirty="0">
                <a:solidFill>
                  <a:schemeClr val="bg2"/>
                </a:solidFill>
              </a:rPr>
              <a:t>Python</a:t>
            </a:r>
            <a:r>
              <a:rPr kumimoji="1" lang="zh-CN" altLang="en-US" sz="1400" dirty="0">
                <a:solidFill>
                  <a:schemeClr val="bg2"/>
                </a:solidFill>
                <a:latin typeface="黑体" panose="02010609060101010101" pitchFamily="49" charset="-122"/>
                <a:ea typeface="黑体" panose="02010609060101010101" pitchFamily="49" charset="-122"/>
              </a:rPr>
              <a:t>中，两个同名函数， 无论参数是否相同，后面的函数会</a:t>
            </a:r>
            <a:r>
              <a:rPr kumimoji="1" lang="zh-CN" altLang="en-US" sz="1400" dirty="0">
                <a:solidFill>
                  <a:schemeClr val="tx1"/>
                </a:solidFill>
                <a:latin typeface="黑体" panose="02010609060101010101" pitchFamily="49" charset="-122"/>
                <a:ea typeface="黑体" panose="02010609060101010101" pitchFamily="49" charset="-122"/>
              </a:rPr>
              <a:t>覆盖</a:t>
            </a:r>
            <a:r>
              <a:rPr kumimoji="1" lang="zh-CN" altLang="en-US" sz="1400" dirty="0">
                <a:solidFill>
                  <a:schemeClr val="bg2"/>
                </a:solidFill>
                <a:latin typeface="黑体" panose="02010609060101010101" pitchFamily="49" charset="-122"/>
                <a:ea typeface="黑体" panose="02010609060101010101" pitchFamily="49" charset="-122"/>
              </a:rPr>
              <a:t>前面的函数。即，</a:t>
            </a:r>
            <a:r>
              <a:rPr kumimoji="1" lang="en-GB" altLang="zh-CN" sz="1400" dirty="0">
                <a:solidFill>
                  <a:schemeClr val="bg2"/>
                </a:solidFill>
              </a:rPr>
              <a:t>python</a:t>
            </a:r>
            <a:r>
              <a:rPr kumimoji="1" lang="zh-CN" altLang="en-US" sz="1400" dirty="0">
                <a:solidFill>
                  <a:schemeClr val="bg2"/>
                </a:solidFill>
                <a:latin typeface="黑体" panose="02010609060101010101" pitchFamily="49" charset="-122"/>
                <a:ea typeface="黑体" panose="02010609060101010101" pitchFamily="49" charset="-122"/>
              </a:rPr>
              <a:t>中</a:t>
            </a:r>
            <a:r>
              <a:rPr kumimoji="1" lang="zh-CN" altLang="en-US" sz="1400" strike="sngStrike" dirty="0">
                <a:solidFill>
                  <a:schemeClr val="tx1"/>
                </a:solidFill>
                <a:latin typeface="黑体" panose="02010609060101010101" pitchFamily="49" charset="-122"/>
                <a:ea typeface="黑体" panose="02010609060101010101" pitchFamily="49" charset="-122"/>
              </a:rPr>
              <a:t>没有重载</a:t>
            </a:r>
            <a:r>
              <a:rPr kumimoji="1" lang="zh-CN" altLang="en-US" sz="1400" dirty="0">
                <a:solidFill>
                  <a:schemeClr val="tx1"/>
                </a:solidFill>
                <a:latin typeface="黑体" panose="02010609060101010101" pitchFamily="49" charset="-122"/>
                <a:ea typeface="黑体" panose="02010609060101010101" pitchFamily="49" charset="-122"/>
              </a:rPr>
              <a:t>，只有重写</a:t>
            </a:r>
            <a:endParaRPr kumimoji="1" lang="zh-CN" altLang="en-US" sz="1400" dirty="0">
              <a:solidFill>
                <a:schemeClr val="tx1"/>
              </a:solidFill>
              <a:latin typeface="黑体" panose="02010609060101010101" pitchFamily="49" charset="-122"/>
              <a:ea typeface="黑体" panose="02010609060101010101" pitchFamily="49" charset="-122"/>
            </a:endParaRPr>
          </a:p>
        </p:txBody>
      </p:sp>
      <p:sp>
        <p:nvSpPr>
          <p:cNvPr id="6" name="文本框 5"/>
          <p:cNvSpPr txBox="1"/>
          <p:nvPr/>
        </p:nvSpPr>
        <p:spPr>
          <a:xfrm>
            <a:off x="7257273" y="380928"/>
            <a:ext cx="612668" cy="307777"/>
          </a:xfrm>
          <a:prstGeom prst="rect">
            <a:avLst/>
          </a:prstGeom>
          <a:noFill/>
        </p:spPr>
        <p:txBody>
          <a:bodyPr wrap="none" rtlCol="0">
            <a:spAutoFit/>
          </a:bodyPr>
          <a:lstStyle/>
          <a:p>
            <a:r>
              <a:rPr lang="en-US" altLang="zh-CN" dirty="0" err="1">
                <a:solidFill>
                  <a:schemeClr val="tx1"/>
                </a:solidFill>
                <a:latin typeface="Source Sans Pro" panose="020B0503030403020204" pitchFamily="34" charset="0"/>
                <a:ea typeface="Source Sans Pro" panose="020B0503030403020204" pitchFamily="34" charset="0"/>
              </a:rPr>
              <a:t>Lec</a:t>
            </a:r>
            <a:r>
              <a:rPr lang="en-US" altLang="zh-CN" dirty="0">
                <a:solidFill>
                  <a:schemeClr val="tx1"/>
                </a:solidFill>
                <a:latin typeface="Source Sans Pro" panose="020B0503030403020204" pitchFamily="34" charset="0"/>
                <a:ea typeface="Source Sans Pro" panose="020B0503030403020204" pitchFamily="34" charset="0"/>
              </a:rPr>
              <a:t>.</a:t>
            </a:r>
            <a:r>
              <a:rPr lang="zh-CN" altLang="en-US" dirty="0">
                <a:solidFill>
                  <a:schemeClr val="tx1"/>
                </a:solidFill>
                <a:latin typeface="Source Sans Pro" panose="020B0503030403020204" pitchFamily="34" charset="0"/>
                <a:ea typeface="Source Sans Pro" panose="020B0503030403020204" pitchFamily="34" charset="0"/>
              </a:rPr>
              <a:t> </a:t>
            </a:r>
            <a:r>
              <a:rPr lang="en-US" altLang="zh-CN" dirty="0">
                <a:solidFill>
                  <a:schemeClr val="tx1"/>
                </a:solidFill>
                <a:latin typeface="Source Sans Pro" panose="020B0503030403020204" pitchFamily="34" charset="0"/>
                <a:ea typeface="Source Sans Pro" panose="020B0503030403020204" pitchFamily="34" charset="0"/>
              </a:rPr>
              <a:t>4</a:t>
            </a:r>
            <a:endParaRPr lang="zh-CN" altLang="en-US" dirty="0">
              <a:solidFill>
                <a:schemeClr val="tx1"/>
              </a:solidFill>
              <a:latin typeface="Source Sans Pro" panose="020B0503030403020204" pitchFamily="34" charset="0"/>
            </a:endParaRPr>
          </a:p>
        </p:txBody>
      </p:sp>
      <p:pic>
        <p:nvPicPr>
          <p:cNvPr id="7" name="Picture 6"/>
          <p:cNvPicPr>
            <a:picLocks noChangeAspect="1"/>
          </p:cNvPicPr>
          <p:nvPr/>
        </p:nvPicPr>
        <p:blipFill>
          <a:blip r:embed="rId1"/>
          <a:stretch>
            <a:fillRect/>
          </a:stretch>
        </p:blipFill>
        <p:spPr>
          <a:xfrm>
            <a:off x="802524" y="2057747"/>
            <a:ext cx="4700501" cy="2445347"/>
          </a:xfrm>
          <a:prstGeom prst="rect">
            <a:avLst/>
          </a:prstGeom>
        </p:spPr>
      </p:pic>
      <p:pic>
        <p:nvPicPr>
          <p:cNvPr id="9" name="Picture 8" descr="A black background with white text&#10;&#10;Description automatically generated"/>
          <p:cNvPicPr>
            <a:picLocks noChangeAspect="1"/>
          </p:cNvPicPr>
          <p:nvPr/>
        </p:nvPicPr>
        <p:blipFill>
          <a:blip r:embed="rId2"/>
          <a:stretch>
            <a:fillRect/>
          </a:stretch>
        </p:blipFill>
        <p:spPr>
          <a:xfrm>
            <a:off x="6005195" y="3100070"/>
            <a:ext cx="2585085" cy="36068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a:t>Overriding (</a:t>
            </a:r>
            <a:r>
              <a:rPr kumimoji="1" lang="zh-CN" altLang="en-US" dirty="0"/>
              <a:t>重写</a:t>
            </a:r>
            <a:r>
              <a:rPr kumimoji="1" lang="en-US" altLang="zh-CN" dirty="0"/>
              <a:t>)</a:t>
            </a:r>
            <a:endParaRPr kumimoji="1" lang="zh-CN" altLang="en-US" dirty="0"/>
          </a:p>
        </p:txBody>
      </p:sp>
      <p:sp>
        <p:nvSpPr>
          <p:cNvPr id="3" name="文本占位符 2"/>
          <p:cNvSpPr>
            <a:spLocks noGrp="1"/>
          </p:cNvSpPr>
          <p:nvPr>
            <p:ph type="body" idx="1"/>
          </p:nvPr>
        </p:nvSpPr>
        <p:spPr>
          <a:xfrm>
            <a:off x="311700" y="1152475"/>
            <a:ext cx="8520600" cy="1130845"/>
          </a:xfrm>
        </p:spPr>
        <p:txBody>
          <a:bodyPr>
            <a:noAutofit/>
          </a:bodyPr>
          <a:lstStyle/>
          <a:p>
            <a:r>
              <a:rPr kumimoji="1" lang="en-GB" altLang="zh-CN" sz="1400" dirty="0">
                <a:solidFill>
                  <a:schemeClr val="bg2"/>
                </a:solidFill>
              </a:rPr>
              <a:t>Method overriding is an object-oriented programming feature that allows a subclass to </a:t>
            </a:r>
            <a:r>
              <a:rPr kumimoji="1" lang="en-GB" altLang="zh-CN" sz="1400" dirty="0">
                <a:solidFill>
                  <a:schemeClr val="tx1"/>
                </a:solidFill>
              </a:rPr>
              <a:t>provide a different implementation of a method </a:t>
            </a:r>
            <a:r>
              <a:rPr kumimoji="1" lang="en-GB" altLang="zh-CN" sz="1400" dirty="0">
                <a:solidFill>
                  <a:schemeClr val="bg2"/>
                </a:solidFill>
              </a:rPr>
              <a:t>that is already defined by its superclass or by one of its </a:t>
            </a:r>
            <a:r>
              <a:rPr kumimoji="1" lang="en-GB" altLang="zh-CN" sz="1400" dirty="0" err="1">
                <a:solidFill>
                  <a:schemeClr val="bg2"/>
                </a:solidFill>
              </a:rPr>
              <a:t>superclasses</a:t>
            </a:r>
            <a:endParaRPr kumimoji="1" lang="en-GB" altLang="zh-CN" sz="1400" dirty="0">
              <a:solidFill>
                <a:schemeClr val="bg2"/>
              </a:solidFill>
            </a:endParaRPr>
          </a:p>
          <a:p>
            <a:r>
              <a:rPr kumimoji="1" lang="en-GB" altLang="zh-CN" sz="1400" dirty="0">
                <a:solidFill>
                  <a:schemeClr val="bg2"/>
                </a:solidFill>
              </a:rPr>
              <a:t>The implementation in the subclass overrides the implementation of the superclass by providing a method with the </a:t>
            </a:r>
            <a:r>
              <a:rPr kumimoji="1" lang="en-GB" altLang="zh-CN" sz="1400" dirty="0">
                <a:solidFill>
                  <a:schemeClr val="tx1"/>
                </a:solidFill>
              </a:rPr>
              <a:t>same name </a:t>
            </a:r>
            <a:r>
              <a:rPr kumimoji="1" lang="en-GB" altLang="zh-CN" sz="1400" dirty="0">
                <a:solidFill>
                  <a:schemeClr val="bg2"/>
                </a:solidFill>
              </a:rPr>
              <a:t>as the method of the parent class</a:t>
            </a:r>
            <a:endParaRPr kumimoji="1" lang="en-GB" altLang="zh-CN" sz="1400" dirty="0">
              <a:solidFill>
                <a:schemeClr val="bg2"/>
              </a:solidFill>
            </a:endParaRPr>
          </a:p>
        </p:txBody>
      </p:sp>
      <p:sp>
        <p:nvSpPr>
          <p:cNvPr id="4" name="Rectangle 1"/>
          <p:cNvSpPr/>
          <p:nvPr/>
        </p:nvSpPr>
        <p:spPr>
          <a:xfrm>
            <a:off x="7180446" y="4519615"/>
            <a:ext cx="1734604" cy="461799"/>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tx1"/>
              </a:buClr>
            </a:pPr>
            <a:r>
              <a:rPr lang="zh-CN" altLang="en-US" sz="1200" dirty="0">
                <a:solidFill>
                  <a:schemeClr val="bg2"/>
                </a:solidFill>
                <a:latin typeface="黑体" panose="02010609060101010101" pitchFamily="49" charset="-122"/>
                <a:ea typeface="黑体" panose="02010609060101010101" pitchFamily="49" charset="-122"/>
              </a:rPr>
              <a:t>重写：子类覆盖超类</a:t>
            </a:r>
            <a:endParaRPr lang="zh-CN" altLang="en-US" sz="1200" dirty="0">
              <a:solidFill>
                <a:schemeClr val="bg2"/>
              </a:solidFill>
              <a:latin typeface="黑体" panose="02010609060101010101" pitchFamily="49" charset="-122"/>
              <a:ea typeface="黑体" panose="02010609060101010101" pitchFamily="49" charset="-122"/>
            </a:endParaRPr>
          </a:p>
          <a:p>
            <a:pPr>
              <a:buClr>
                <a:schemeClr val="tx1"/>
              </a:buClr>
            </a:pPr>
            <a:r>
              <a:rPr lang="zh-CN" altLang="en-US" sz="1200" dirty="0">
                <a:solidFill>
                  <a:schemeClr val="bg2"/>
                </a:solidFill>
                <a:latin typeface="黑体" panose="02010609060101010101" pitchFamily="49" charset="-122"/>
                <a:ea typeface="黑体" panose="02010609060101010101" pitchFamily="49" charset="-122"/>
              </a:rPr>
              <a:t>“年轻人有自己的想法”</a:t>
            </a:r>
            <a:endParaRPr lang="zh-CN" altLang="en-US" sz="1200" dirty="0">
              <a:solidFill>
                <a:schemeClr val="bg2"/>
              </a:solidFill>
              <a:latin typeface="黑体" panose="02010609060101010101" pitchFamily="49" charset="-122"/>
              <a:ea typeface="黑体" panose="02010609060101010101" pitchFamily="49" charset="-122"/>
            </a:endParaRPr>
          </a:p>
        </p:txBody>
      </p:sp>
      <p:sp>
        <p:nvSpPr>
          <p:cNvPr id="11" name="文本框 10"/>
          <p:cNvSpPr txBox="1"/>
          <p:nvPr/>
        </p:nvSpPr>
        <p:spPr>
          <a:xfrm>
            <a:off x="481667" y="4456479"/>
            <a:ext cx="5564609" cy="634789"/>
          </a:xfrm>
          <a:prstGeom prst="rect">
            <a:avLst/>
          </a:prstGeom>
          <a:noFill/>
        </p:spPr>
        <p:txBody>
          <a:bodyPr wrap="square" rtlCol="0">
            <a:spAutoFit/>
          </a:bodyPr>
          <a:lstStyle/>
          <a:p>
            <a:r>
              <a:rPr lang="en-US" altLang="zh-CN" sz="1200" b="0" i="0" dirty="0">
                <a:solidFill>
                  <a:schemeClr val="bg2"/>
                </a:solidFill>
                <a:effectLst/>
                <a:latin typeface="Source Sans Pro" panose="020B0503030403020204" pitchFamily="34" charset="0"/>
                <a:ea typeface="Source Sans Pro" panose="020B0503030403020204" pitchFamily="34" charset="0"/>
              </a:rPr>
              <a:t>super().</a:t>
            </a:r>
            <a:r>
              <a:rPr lang="en-US" altLang="zh-CN" sz="1200" b="0" i="0" dirty="0" err="1">
                <a:solidFill>
                  <a:schemeClr val="bg2"/>
                </a:solidFill>
                <a:effectLst/>
                <a:latin typeface="Source Sans Pro" panose="020B0503030403020204" pitchFamily="34" charset="0"/>
                <a:ea typeface="Source Sans Pro" panose="020B0503030403020204" pitchFamily="34" charset="0"/>
              </a:rPr>
              <a:t>giveRaise</a:t>
            </a:r>
            <a:r>
              <a:rPr lang="en-US" altLang="zh-CN" sz="1200" b="0" i="0" dirty="0">
                <a:solidFill>
                  <a:schemeClr val="bg2"/>
                </a:solidFill>
                <a:effectLst/>
                <a:latin typeface="Source Sans Pro" panose="020B0503030403020204" pitchFamily="34" charset="0"/>
                <a:ea typeface="Source Sans Pro" panose="020B0503030403020204" pitchFamily="34" charset="0"/>
              </a:rPr>
              <a:t>()</a:t>
            </a:r>
            <a:r>
              <a:rPr lang="zh-CN" altLang="en-US" sz="1200" b="0" i="0" dirty="0">
                <a:solidFill>
                  <a:schemeClr val="bg2"/>
                </a:solidFill>
                <a:effectLst/>
                <a:latin typeface="Source Sans Pro" panose="020B0503030403020204" pitchFamily="34" charset="0"/>
                <a:ea typeface="黑体" panose="02010609060101010101" pitchFamily="49" charset="-122"/>
              </a:rPr>
              <a:t>可以起到和</a:t>
            </a:r>
            <a:r>
              <a:rPr lang="en-US" altLang="zh-CN" sz="1200" b="0" i="0" dirty="0" err="1">
                <a:solidFill>
                  <a:schemeClr val="tx1"/>
                </a:solidFill>
                <a:effectLst/>
                <a:latin typeface="Source Sans Pro" panose="020B0503030403020204" pitchFamily="34" charset="0"/>
                <a:ea typeface="Source Sans Pro" panose="020B0503030403020204" pitchFamily="34" charset="0"/>
              </a:rPr>
              <a:t>Person.giveRaise</a:t>
            </a:r>
            <a:r>
              <a:rPr lang="en-US" altLang="zh-CN" sz="1200" b="0" i="0" dirty="0">
                <a:solidFill>
                  <a:schemeClr val="tx1"/>
                </a:solidFill>
                <a:effectLst/>
                <a:latin typeface="Source Sans Pro" panose="020B0503030403020204" pitchFamily="34" charset="0"/>
                <a:ea typeface="Source Sans Pro" panose="020B0503030403020204" pitchFamily="34" charset="0"/>
              </a:rPr>
              <a:t>()</a:t>
            </a:r>
            <a:r>
              <a:rPr lang="zh-CN" altLang="en-US" sz="1200" b="0" i="0" dirty="0">
                <a:solidFill>
                  <a:schemeClr val="bg2"/>
                </a:solidFill>
                <a:effectLst/>
                <a:latin typeface="Source Sans Pro" panose="020B0503030403020204" pitchFamily="34" charset="0"/>
                <a:ea typeface="黑体" panose="02010609060101010101" pitchFamily="49" charset="-122"/>
              </a:rPr>
              <a:t>相同的功能，但是</a:t>
            </a:r>
            <a:r>
              <a:rPr lang="zh-CN" altLang="en-US" sz="1200" b="0" i="0" dirty="0">
                <a:solidFill>
                  <a:schemeClr val="bg2"/>
                </a:solidFill>
                <a:effectLst/>
                <a:highlight>
                  <a:srgbClr val="FFFF00"/>
                </a:highlight>
                <a:latin typeface="Source Sans Pro" panose="020B0503030403020204" pitchFamily="34" charset="0"/>
                <a:ea typeface="黑体" panose="02010609060101010101" pitchFamily="49" charset="-122"/>
              </a:rPr>
              <a:t>不推荐用</a:t>
            </a:r>
            <a:r>
              <a:rPr lang="en-US" altLang="zh-CN" sz="1200" b="0" i="0" dirty="0">
                <a:solidFill>
                  <a:schemeClr val="bg2"/>
                </a:solidFill>
                <a:effectLst/>
                <a:highlight>
                  <a:srgbClr val="FFFF00"/>
                </a:highlight>
                <a:latin typeface="Source Sans Pro" panose="020B0503030403020204" pitchFamily="34" charset="0"/>
                <a:ea typeface="Source Sans Pro" panose="020B0503030403020204" pitchFamily="34" charset="0"/>
              </a:rPr>
              <a:t>super()</a:t>
            </a:r>
            <a:endParaRPr lang="en-US" altLang="zh-CN" sz="1200" b="0" i="0" dirty="0">
              <a:solidFill>
                <a:schemeClr val="bg2"/>
              </a:solidFill>
              <a:effectLst/>
              <a:latin typeface="Source Sans Pro" panose="020B0503030403020204" pitchFamily="34" charset="0"/>
              <a:ea typeface="Source Sans Pro" panose="020B0503030403020204" pitchFamily="34" charset="0"/>
            </a:endParaRPr>
          </a:p>
          <a:p>
            <a:pPr marL="457200" indent="-342900">
              <a:lnSpc>
                <a:spcPct val="115000"/>
              </a:lnSpc>
              <a:buClr>
                <a:schemeClr val="lt2"/>
              </a:buClr>
              <a:buSzPts val="1800"/>
              <a:buFont typeface="Source Sans Pro" panose="020B0503030403020204"/>
              <a:buChar char="●"/>
            </a:pPr>
            <a:r>
              <a:rPr kumimoji="1" lang="en-US" altLang="zh-CN" sz="1000" dirty="0" err="1">
                <a:solidFill>
                  <a:schemeClr val="bg2"/>
                </a:solidFill>
                <a:latin typeface="Source Sans Pro" panose="020B0503030403020204" pitchFamily="34" charset="0"/>
                <a:ea typeface="Source Sans Pro" panose="020B0503030403020204" pitchFamily="34" charset="0"/>
                <a:sym typeface="Source Sans Pro" panose="020B0503030403020204"/>
              </a:rPr>
              <a:t>Person.giveRaise</a:t>
            </a:r>
            <a:r>
              <a:rPr kumimoji="1" lang="en-US" altLang="zh-CN" sz="1000" dirty="0">
                <a:solidFill>
                  <a:schemeClr val="bg2"/>
                </a:solidFill>
                <a:latin typeface="Source Sans Pro" panose="020B0503030403020204" pitchFamily="34" charset="0"/>
                <a:ea typeface="Source Sans Pro" panose="020B0503030403020204" pitchFamily="34" charset="0"/>
                <a:sym typeface="Source Sans Pro" panose="020B0503030403020204"/>
              </a:rPr>
              <a:t>()</a:t>
            </a:r>
            <a:r>
              <a:rPr kumimoji="1" lang="zh-CN" altLang="en-US" sz="1000" dirty="0">
                <a:solidFill>
                  <a:schemeClr val="bg2"/>
                </a:solidFill>
                <a:latin typeface="Source Sans Pro" panose="020B0503030403020204" pitchFamily="34" charset="0"/>
                <a:ea typeface="黑体" panose="02010609060101010101" pitchFamily="49" charset="-122"/>
                <a:sym typeface="Source Sans Pro" panose="020B0503030403020204"/>
              </a:rPr>
              <a:t>比</a:t>
            </a:r>
            <a:r>
              <a:rPr kumimoji="1" lang="en-US" altLang="zh-CN" sz="1000" dirty="0">
                <a:solidFill>
                  <a:schemeClr val="bg2"/>
                </a:solidFill>
                <a:latin typeface="Source Sans Pro" panose="020B0503030403020204" pitchFamily="34" charset="0"/>
                <a:ea typeface="Source Sans Pro" panose="020B0503030403020204" pitchFamily="34" charset="0"/>
                <a:sym typeface="Source Sans Pro" panose="020B0503030403020204"/>
              </a:rPr>
              <a:t>super</a:t>
            </a:r>
            <a:r>
              <a:rPr kumimoji="1" lang="zh-CN" altLang="en-US" sz="1000" dirty="0">
                <a:solidFill>
                  <a:schemeClr val="bg2"/>
                </a:solidFill>
                <a:latin typeface="Source Sans Pro" panose="020B0503030403020204" pitchFamily="34" charset="0"/>
                <a:ea typeface="黑体" panose="02010609060101010101" pitchFamily="49" charset="-122"/>
                <a:sym typeface="Source Sans Pro" panose="020B0503030403020204"/>
              </a:rPr>
              <a:t>更清晰</a:t>
            </a:r>
            <a:endParaRPr kumimoji="1" lang="zh-CN" altLang="en-US" sz="1000" dirty="0">
              <a:solidFill>
                <a:schemeClr val="bg2"/>
              </a:solidFill>
              <a:latin typeface="Source Sans Pro" panose="020B0503030403020204" pitchFamily="34" charset="0"/>
              <a:ea typeface="黑体" panose="02010609060101010101" pitchFamily="49" charset="-122"/>
              <a:sym typeface="Source Sans Pro" panose="020B0503030403020204"/>
            </a:endParaRPr>
          </a:p>
          <a:p>
            <a:pPr marL="457200" indent="-342900">
              <a:lnSpc>
                <a:spcPct val="115000"/>
              </a:lnSpc>
              <a:buClr>
                <a:schemeClr val="lt2"/>
              </a:buClr>
              <a:buSzPts val="1800"/>
              <a:buFont typeface="Source Sans Pro" panose="020B0503030403020204"/>
              <a:buChar char="●"/>
            </a:pPr>
            <a:r>
              <a:rPr kumimoji="1" lang="zh-CN" altLang="en-US" sz="1000" dirty="0">
                <a:solidFill>
                  <a:schemeClr val="bg2"/>
                </a:solidFill>
                <a:latin typeface="Source Sans Pro" panose="020B0503030403020204" pitchFamily="34" charset="0"/>
                <a:ea typeface="黑体" panose="02010609060101010101" pitchFamily="49" charset="-122"/>
                <a:sym typeface="Source Sans Pro" panose="020B0503030403020204"/>
              </a:rPr>
              <a:t>一个类可以继承多个类，</a:t>
            </a:r>
            <a:r>
              <a:rPr kumimoji="1" lang="en-US" altLang="zh-CN" sz="1000" dirty="0">
                <a:solidFill>
                  <a:schemeClr val="bg2"/>
                </a:solidFill>
                <a:latin typeface="Source Sans Pro" panose="020B0503030403020204" pitchFamily="34" charset="0"/>
                <a:ea typeface="Source Sans Pro" panose="020B0503030403020204" pitchFamily="34" charset="0"/>
                <a:sym typeface="Source Sans Pro" panose="020B0503030403020204"/>
              </a:rPr>
              <a:t>super()</a:t>
            </a:r>
            <a:r>
              <a:rPr kumimoji="1" lang="zh-CN" altLang="en-US" sz="1000" dirty="0">
                <a:solidFill>
                  <a:schemeClr val="bg2"/>
                </a:solidFill>
                <a:latin typeface="Source Sans Pro" panose="020B0503030403020204" pitchFamily="34" charset="0"/>
                <a:ea typeface="黑体" panose="02010609060101010101" pitchFamily="49" charset="-122"/>
                <a:sym typeface="Source Sans Pro" panose="020B0503030403020204"/>
              </a:rPr>
              <a:t>有歧义</a:t>
            </a:r>
            <a:endParaRPr kumimoji="1" lang="zh-CN" altLang="en-US" sz="1000" dirty="0">
              <a:solidFill>
                <a:schemeClr val="bg2"/>
              </a:solidFill>
              <a:latin typeface="Source Sans Pro" panose="020B0503030403020204" pitchFamily="34" charset="0"/>
              <a:ea typeface="黑体" panose="02010609060101010101" pitchFamily="49" charset="-122"/>
              <a:sym typeface="Source Sans Pro" panose="020B0503030403020204"/>
            </a:endParaRPr>
          </a:p>
        </p:txBody>
      </p:sp>
      <p:pic>
        <p:nvPicPr>
          <p:cNvPr id="12" name="Picture 11"/>
          <p:cNvPicPr>
            <a:picLocks noChangeAspect="1"/>
          </p:cNvPicPr>
          <p:nvPr/>
        </p:nvPicPr>
        <p:blipFill>
          <a:blip r:embed="rId1"/>
          <a:stretch>
            <a:fillRect/>
          </a:stretch>
        </p:blipFill>
        <p:spPr>
          <a:xfrm>
            <a:off x="481667" y="2226511"/>
            <a:ext cx="5155360" cy="2167509"/>
          </a:xfrm>
          <a:prstGeom prst="rect">
            <a:avLst/>
          </a:prstGeom>
        </p:spPr>
      </p:pic>
      <p:pic>
        <p:nvPicPr>
          <p:cNvPr id="14" name="Picture 13" descr="A black background with white text&#10;&#10;Description automatically generated"/>
          <p:cNvPicPr>
            <a:picLocks noChangeAspect="1"/>
          </p:cNvPicPr>
          <p:nvPr/>
        </p:nvPicPr>
        <p:blipFill>
          <a:blip r:embed="rId2"/>
          <a:stretch>
            <a:fillRect/>
          </a:stretch>
        </p:blipFill>
        <p:spPr>
          <a:xfrm>
            <a:off x="6046276" y="2784858"/>
            <a:ext cx="1892379" cy="475425"/>
          </a:xfrm>
          <a:prstGeom prst="rect">
            <a:avLst/>
          </a:prstGeom>
        </p:spPr>
      </p:pic>
      <p:sp>
        <p:nvSpPr>
          <p:cNvPr id="15" name="TextBox 20"/>
          <p:cNvSpPr txBox="1"/>
          <p:nvPr/>
        </p:nvSpPr>
        <p:spPr>
          <a:xfrm>
            <a:off x="822799" y="2600088"/>
            <a:ext cx="3392749" cy="184770"/>
          </a:xfrm>
          <a:prstGeom prst="rect">
            <a:avLst/>
          </a:prstGeom>
          <a:noFill/>
          <a:ln w="19050">
            <a:solidFill>
              <a:srgbClr val="C00000"/>
            </a:solidFill>
          </a:ln>
        </p:spPr>
        <p:style>
          <a:lnRef idx="0">
            <a:scrgbClr r="0" g="0" b="0"/>
          </a:lnRef>
          <a:fillRef idx="0">
            <a:scrgbClr r="0" g="0" b="0"/>
          </a:fillRef>
          <a:effectRef idx="0">
            <a:scrgbClr r="0" g="0" b="0"/>
          </a:effectRef>
          <a:fontRef idx="major"/>
        </p:style>
        <p:txBody>
          <a:bodyPr wrap="square" rtlCol="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endParaRPr lang="zh-CN" altLang="en-US" dirty="0">
              <a:solidFill>
                <a:srgbClr val="C00000"/>
              </a:solidFill>
            </a:endParaRPr>
          </a:p>
        </p:txBody>
      </p:sp>
      <p:sp>
        <p:nvSpPr>
          <p:cNvPr id="16" name="TextBox 20"/>
          <p:cNvSpPr txBox="1"/>
          <p:nvPr/>
        </p:nvSpPr>
        <p:spPr>
          <a:xfrm>
            <a:off x="1108202" y="3277514"/>
            <a:ext cx="3392749" cy="184770"/>
          </a:xfrm>
          <a:prstGeom prst="rect">
            <a:avLst/>
          </a:prstGeom>
          <a:noFill/>
          <a:ln w="19050">
            <a:solidFill>
              <a:srgbClr val="C00000"/>
            </a:solidFill>
          </a:ln>
        </p:spPr>
        <p:style>
          <a:lnRef idx="0">
            <a:scrgbClr r="0" g="0" b="0"/>
          </a:lnRef>
          <a:fillRef idx="0">
            <a:scrgbClr r="0" g="0" b="0"/>
          </a:fillRef>
          <a:effectRef idx="0">
            <a:scrgbClr r="0" g="0" b="0"/>
          </a:effectRef>
          <a:fontRef idx="major"/>
        </p:style>
        <p:txBody>
          <a:bodyPr wrap="square" rtlCol="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endParaRPr lang="zh-CN" altLang="en-US" dirty="0">
              <a:solidFill>
                <a:srgbClr val="C00000"/>
              </a:solidFill>
            </a:endParaRPr>
          </a:p>
        </p:txBody>
      </p:sp>
      <p:cxnSp>
        <p:nvCxnSpPr>
          <p:cNvPr id="5" name="曲线连接符 4"/>
          <p:cNvCxnSpPr/>
          <p:nvPr/>
        </p:nvCxnSpPr>
        <p:spPr>
          <a:xfrm>
            <a:off x="1538605" y="5010150"/>
            <a:ext cx="459105" cy="208915"/>
          </a:xfrm>
          <a:prstGeom prst="curvedConnector3">
            <a:avLst>
              <a:gd name="adj1" fmla="val 50069"/>
            </a:avLst>
          </a:prstGeom>
          <a:ln>
            <a:tailEnd type="arrow"/>
          </a:ln>
        </p:spPr>
        <p:style>
          <a:lnRef idx="2">
            <a:schemeClr val="accent1"/>
          </a:lnRef>
          <a:fillRef idx="0">
            <a:srgbClr val="FFFFFF"/>
          </a:fillRef>
          <a:effectRef idx="0">
            <a:srgbClr val="FFFFFF"/>
          </a:effectRef>
          <a:fontRef idx="minor">
            <a:schemeClr val="tx1"/>
          </a:fontRef>
        </p:style>
      </p:cxnSp>
      <p:sp>
        <p:nvSpPr>
          <p:cNvPr id="6" name="文本框 5"/>
          <p:cNvSpPr txBox="1"/>
          <p:nvPr/>
        </p:nvSpPr>
        <p:spPr>
          <a:xfrm>
            <a:off x="1950720" y="5144135"/>
            <a:ext cx="1247775" cy="306705"/>
          </a:xfrm>
          <a:prstGeom prst="rect">
            <a:avLst/>
          </a:prstGeom>
          <a:noFill/>
        </p:spPr>
        <p:txBody>
          <a:bodyPr wrap="square" rtlCol="0">
            <a:spAutoFit/>
          </a:bodyPr>
          <a:p>
            <a:r>
              <a:rPr lang="zh-CN" altLang="en-US"/>
              <a:t>很少这么</a:t>
            </a:r>
            <a:r>
              <a:rPr lang="zh-CN" altLang="en-US"/>
              <a:t>做</a:t>
            </a:r>
            <a:endParaRPr lang="zh-CN" altLang="en-US"/>
          </a:p>
        </p:txBody>
      </p:sp>
      <p:sp>
        <p:nvSpPr>
          <p:cNvPr id="7" name="文本框 6"/>
          <p:cNvSpPr txBox="1"/>
          <p:nvPr/>
        </p:nvSpPr>
        <p:spPr>
          <a:xfrm>
            <a:off x="5804535" y="2308225"/>
            <a:ext cx="1256665" cy="306705"/>
          </a:xfrm>
          <a:prstGeom prst="rect">
            <a:avLst/>
          </a:prstGeom>
          <a:noFill/>
        </p:spPr>
        <p:txBody>
          <a:bodyPr wrap="square" rtlCol="0">
            <a:spAutoFit/>
          </a:bodyPr>
          <a:p>
            <a:r>
              <a:rPr lang="zh-CN" altLang="en-US"/>
              <a:t>没有</a:t>
            </a:r>
            <a:r>
              <a:rPr lang="en-US" altLang="zh-CN"/>
              <a:t>return</a:t>
            </a:r>
            <a:endParaRPr lang="en-US" altLang="zh-CN"/>
          </a:p>
        </p:txBody>
      </p:sp>
      <p:cxnSp>
        <p:nvCxnSpPr>
          <p:cNvPr id="8" name="曲线连接符 7"/>
          <p:cNvCxnSpPr/>
          <p:nvPr/>
        </p:nvCxnSpPr>
        <p:spPr>
          <a:xfrm flipV="1">
            <a:off x="3500120" y="2521585"/>
            <a:ext cx="2388235" cy="157480"/>
          </a:xfrm>
          <a:prstGeom prst="curvedConnector3">
            <a:avLst>
              <a:gd name="adj1" fmla="val 50013"/>
            </a:avLst>
          </a:prstGeom>
          <a:ln>
            <a:solidFill>
              <a:srgbClr val="FFFF00"/>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a:t>Overriding __</a:t>
            </a:r>
            <a:r>
              <a:rPr kumimoji="1" lang="en-GB" altLang="zh-CN" dirty="0" err="1"/>
              <a:t>init</a:t>
            </a:r>
            <a:r>
              <a:rPr kumimoji="1" lang="en-GB" altLang="zh-CN" dirty="0"/>
              <a:t>__()</a:t>
            </a:r>
            <a:endParaRPr kumimoji="1" lang="zh-CN" altLang="en-US" dirty="0"/>
          </a:p>
        </p:txBody>
      </p:sp>
      <p:sp>
        <p:nvSpPr>
          <p:cNvPr id="3" name="文本占位符 2"/>
          <p:cNvSpPr>
            <a:spLocks noGrp="1"/>
          </p:cNvSpPr>
          <p:nvPr>
            <p:ph type="body" idx="1"/>
          </p:nvPr>
        </p:nvSpPr>
        <p:spPr>
          <a:xfrm>
            <a:off x="311700" y="1152475"/>
            <a:ext cx="8520600" cy="525496"/>
          </a:xfrm>
        </p:spPr>
        <p:txBody>
          <a:bodyPr>
            <a:normAutofit/>
          </a:bodyPr>
          <a:lstStyle/>
          <a:p>
            <a:r>
              <a:rPr kumimoji="1" lang="en-GB" altLang="zh-CN" sz="1400" dirty="0">
                <a:solidFill>
                  <a:schemeClr val="bg2"/>
                </a:solidFill>
              </a:rPr>
              <a:t>To add new members to the attributes. </a:t>
            </a:r>
            <a:endParaRPr kumimoji="1" lang="en-GB" altLang="zh-CN" sz="1400" dirty="0">
              <a:solidFill>
                <a:schemeClr val="bg2"/>
              </a:solidFill>
            </a:endParaRPr>
          </a:p>
        </p:txBody>
      </p:sp>
      <p:pic>
        <p:nvPicPr>
          <p:cNvPr id="7" name="图片 6" descr="文本&#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070082" y="2649159"/>
            <a:ext cx="2762218" cy="679663"/>
          </a:xfrm>
          <a:prstGeom prst="rect">
            <a:avLst/>
          </a:prstGeom>
        </p:spPr>
      </p:pic>
      <p:sp>
        <p:nvSpPr>
          <p:cNvPr id="8" name="Rectangle 1"/>
          <p:cNvSpPr/>
          <p:nvPr/>
        </p:nvSpPr>
        <p:spPr>
          <a:xfrm>
            <a:off x="5928861" y="4250383"/>
            <a:ext cx="3044659" cy="548640"/>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tx1"/>
              </a:buClr>
            </a:pPr>
            <a:r>
              <a:rPr lang="zh-CN" altLang="en-US" sz="1200" dirty="0">
                <a:solidFill>
                  <a:schemeClr val="tx1"/>
                </a:solidFill>
                <a:latin typeface="黑体" panose="02010609060101010101" pitchFamily="49" charset="-122"/>
                <a:ea typeface="黑体" panose="02010609060101010101" pitchFamily="49" charset="-122"/>
              </a:rPr>
              <a:t>注意：</a:t>
            </a:r>
            <a:r>
              <a:rPr lang="zh-CN" altLang="en-US" sz="1200" dirty="0">
                <a:solidFill>
                  <a:srgbClr val="FF0000"/>
                </a:solidFill>
                <a:highlight>
                  <a:srgbClr val="FFFF00"/>
                </a:highlight>
                <a:latin typeface="黑体" panose="02010609060101010101" pitchFamily="49" charset="-122"/>
                <a:ea typeface="黑体" panose="02010609060101010101" pitchFamily="49" charset="-122"/>
              </a:rPr>
              <a:t>删除</a:t>
            </a:r>
            <a:r>
              <a:rPr lang="en-GB" altLang="zh-CN" sz="1200" dirty="0">
                <a:solidFill>
                  <a:srgbClr val="FF0000"/>
                </a:solidFill>
                <a:highlight>
                  <a:srgbClr val="FFFF00"/>
                </a:highlight>
                <a:latin typeface="Source Sans Pro" panose="020B0503030403020204" pitchFamily="34" charset="0"/>
                <a:ea typeface="Source Sans Pro" panose="020B0503030403020204" pitchFamily="34" charset="0"/>
              </a:rPr>
              <a:t>Person.__</a:t>
            </a:r>
            <a:r>
              <a:rPr lang="en-GB" altLang="zh-CN" sz="1200" dirty="0" err="1">
                <a:solidFill>
                  <a:srgbClr val="FF0000"/>
                </a:solidFill>
                <a:highlight>
                  <a:srgbClr val="FFFF00"/>
                </a:highlight>
                <a:latin typeface="Source Sans Pro" panose="020B0503030403020204" pitchFamily="34" charset="0"/>
                <a:ea typeface="Source Sans Pro" panose="020B0503030403020204" pitchFamily="34" charset="0"/>
              </a:rPr>
              <a:t>init</a:t>
            </a:r>
            <a:r>
              <a:rPr lang="en-GB" altLang="zh-CN" sz="1200" dirty="0">
                <a:solidFill>
                  <a:srgbClr val="FF0000"/>
                </a:solidFill>
                <a:highlight>
                  <a:srgbClr val="FFFF00"/>
                </a:highlight>
                <a:latin typeface="Source Sans Pro" panose="020B0503030403020204" pitchFamily="34" charset="0"/>
                <a:ea typeface="Source Sans Pro" panose="020B0503030403020204" pitchFamily="34" charset="0"/>
              </a:rPr>
              <a:t>__(self, name, '</a:t>
            </a:r>
            <a:r>
              <a:rPr lang="en-GB" altLang="zh-CN" sz="1200" dirty="0" err="1">
                <a:solidFill>
                  <a:srgbClr val="FF0000"/>
                </a:solidFill>
                <a:highlight>
                  <a:srgbClr val="FFFF00"/>
                </a:highlight>
                <a:latin typeface="Source Sans Pro" panose="020B0503030403020204" pitchFamily="34" charset="0"/>
                <a:ea typeface="Source Sans Pro" panose="020B0503030403020204" pitchFamily="34" charset="0"/>
              </a:rPr>
              <a:t>mgr</a:t>
            </a:r>
            <a:r>
              <a:rPr lang="en-GB" altLang="zh-CN" sz="1200" dirty="0">
                <a:solidFill>
                  <a:srgbClr val="FF0000"/>
                </a:solidFill>
                <a:highlight>
                  <a:srgbClr val="FFFF00"/>
                </a:highlight>
                <a:latin typeface="Source Sans Pro" panose="020B0503030403020204" pitchFamily="34" charset="0"/>
                <a:ea typeface="Source Sans Pro" panose="020B0503030403020204" pitchFamily="34" charset="0"/>
              </a:rPr>
              <a:t>', pay)</a:t>
            </a:r>
            <a:r>
              <a:rPr lang="zh-CN" altLang="en-US" sz="1200" dirty="0">
                <a:solidFill>
                  <a:srgbClr val="FF0000"/>
                </a:solidFill>
                <a:highlight>
                  <a:srgbClr val="FFFF00"/>
                </a:highlight>
                <a:latin typeface="黑体" panose="02010609060101010101" pitchFamily="49" charset="-122"/>
                <a:ea typeface="黑体" panose="02010609060101010101" pitchFamily="49" charset="-122"/>
              </a:rPr>
              <a:t>则</a:t>
            </a:r>
            <a:r>
              <a:rPr lang="en-GB" altLang="zh-CN" sz="1200" dirty="0">
                <a:solidFill>
                  <a:srgbClr val="FF0000"/>
                </a:solidFill>
                <a:highlight>
                  <a:srgbClr val="FFFF00"/>
                </a:highlight>
                <a:latin typeface="Source Sans Pro" panose="020B0503030403020204" pitchFamily="34" charset="0"/>
                <a:ea typeface="Source Sans Pro" panose="020B0503030403020204" pitchFamily="34" charset="0"/>
              </a:rPr>
              <a:t>manager</a:t>
            </a:r>
            <a:r>
              <a:rPr lang="zh-CN" altLang="en-US" sz="1200" dirty="0">
                <a:solidFill>
                  <a:srgbClr val="FF0000"/>
                </a:solidFill>
                <a:highlight>
                  <a:srgbClr val="FFFF00"/>
                </a:highlight>
                <a:latin typeface="黑体" panose="02010609060101010101" pitchFamily="49" charset="-122"/>
                <a:ea typeface="黑体" panose="02010609060101010101" pitchFamily="49" charset="-122"/>
              </a:rPr>
              <a:t>将没有</a:t>
            </a:r>
            <a:r>
              <a:rPr lang="en-GB" altLang="zh-CN" sz="1200" dirty="0">
                <a:solidFill>
                  <a:srgbClr val="FF0000"/>
                </a:solidFill>
                <a:highlight>
                  <a:srgbClr val="FFFF00"/>
                </a:highlight>
                <a:latin typeface="Source Sans Pro" panose="020B0503030403020204" pitchFamily="34" charset="0"/>
                <a:ea typeface="Source Sans Pro" panose="020B0503030403020204" pitchFamily="34" charset="0"/>
              </a:rPr>
              <a:t>name, job, pay.</a:t>
            </a:r>
            <a:endParaRPr lang="en-GB" altLang="zh-CN" sz="1200" dirty="0">
              <a:solidFill>
                <a:srgbClr val="FF0000"/>
              </a:solidFill>
              <a:highlight>
                <a:srgbClr val="FFFF00"/>
              </a:highlight>
              <a:latin typeface="Source Sans Pro" panose="020B0503030403020204" pitchFamily="34" charset="0"/>
              <a:ea typeface="Source Sans Pro" panose="020B0503030403020204" pitchFamily="34" charset="0"/>
            </a:endParaRPr>
          </a:p>
          <a:p>
            <a:pPr>
              <a:buClr>
                <a:schemeClr val="tx1"/>
              </a:buClr>
            </a:pPr>
            <a:r>
              <a:rPr lang="zh-CN" altLang="en-US" sz="1200" dirty="0">
                <a:solidFill>
                  <a:srgbClr val="FF0000"/>
                </a:solidFill>
                <a:highlight>
                  <a:srgbClr val="FFFF00"/>
                </a:highlight>
                <a:latin typeface="黑体" panose="02010609060101010101" pitchFamily="49" charset="-122"/>
                <a:ea typeface="黑体" panose="02010609060101010101" pitchFamily="49" charset="-122"/>
              </a:rPr>
              <a:t>必须先调用父类的</a:t>
            </a:r>
            <a:r>
              <a:rPr lang="en-US" altLang="zh-CN" sz="1200" dirty="0">
                <a:solidFill>
                  <a:srgbClr val="FF0000"/>
                </a:solidFill>
                <a:highlight>
                  <a:srgbClr val="FFFF00"/>
                </a:highlight>
                <a:latin typeface="Source Sans Pro" panose="020B0503030403020204" pitchFamily="34" charset="0"/>
                <a:ea typeface="Source Sans Pro" panose="020B0503030403020204" pitchFamily="34" charset="0"/>
              </a:rPr>
              <a:t>__</a:t>
            </a:r>
            <a:r>
              <a:rPr lang="en-US" altLang="zh-CN" sz="1200" dirty="0" err="1">
                <a:solidFill>
                  <a:srgbClr val="FF0000"/>
                </a:solidFill>
                <a:highlight>
                  <a:srgbClr val="FFFF00"/>
                </a:highlight>
                <a:latin typeface="Source Sans Pro" panose="020B0503030403020204" pitchFamily="34" charset="0"/>
                <a:ea typeface="Source Sans Pro" panose="020B0503030403020204" pitchFamily="34" charset="0"/>
              </a:rPr>
              <a:t>init</a:t>
            </a:r>
            <a:r>
              <a:rPr lang="en-US" altLang="zh-CN" sz="1200" dirty="0">
                <a:solidFill>
                  <a:srgbClr val="FF0000"/>
                </a:solidFill>
                <a:highlight>
                  <a:srgbClr val="FFFF00"/>
                </a:highlight>
                <a:latin typeface="Source Sans Pro" panose="020B0503030403020204" pitchFamily="34" charset="0"/>
                <a:ea typeface="Source Sans Pro" panose="020B0503030403020204" pitchFamily="34" charset="0"/>
              </a:rPr>
              <a:t>__()</a:t>
            </a:r>
            <a:endParaRPr lang="en-US" altLang="zh-CN" sz="1200" dirty="0">
              <a:solidFill>
                <a:srgbClr val="FF0000"/>
              </a:solidFill>
              <a:highlight>
                <a:srgbClr val="FFFF00"/>
              </a:highlight>
              <a:latin typeface="Source Sans Pro" panose="020B0503030403020204" pitchFamily="34" charset="0"/>
              <a:ea typeface="Source Sans Pro" panose="020B0503030403020204" pitchFamily="34" charset="0"/>
            </a:endParaRPr>
          </a:p>
        </p:txBody>
      </p:sp>
      <p:pic>
        <p:nvPicPr>
          <p:cNvPr id="9" name="Picture 8"/>
          <p:cNvPicPr>
            <a:picLocks noChangeAspect="1"/>
          </p:cNvPicPr>
          <p:nvPr/>
        </p:nvPicPr>
        <p:blipFill>
          <a:blip r:embed="rId2"/>
          <a:stretch>
            <a:fillRect/>
          </a:stretch>
        </p:blipFill>
        <p:spPr>
          <a:xfrm>
            <a:off x="311700" y="1504113"/>
            <a:ext cx="5380070" cy="3498068"/>
          </a:xfrm>
          <a:prstGeom prst="rect">
            <a:avLst/>
          </a:prstGeom>
        </p:spPr>
      </p:pic>
      <p:sp>
        <p:nvSpPr>
          <p:cNvPr id="10" name="TextBox 10"/>
          <p:cNvSpPr txBox="1"/>
          <p:nvPr/>
        </p:nvSpPr>
        <p:spPr>
          <a:xfrm>
            <a:off x="1421197" y="2243720"/>
            <a:ext cx="2926079" cy="180682"/>
          </a:xfrm>
          <a:prstGeom prst="rect">
            <a:avLst/>
          </a:prstGeom>
          <a:noFill/>
          <a:ln w="19050">
            <a:solidFill>
              <a:srgbClr val="C00000"/>
            </a:solidFill>
          </a:ln>
        </p:spPr>
        <p:style>
          <a:lnRef idx="0">
            <a:scrgbClr r="0" g="0" b="0"/>
          </a:lnRef>
          <a:fillRef idx="0">
            <a:scrgbClr r="0" g="0" b="0"/>
          </a:fillRef>
          <a:effectRef idx="0">
            <a:scrgbClr r="0" g="0" b="0"/>
          </a:effectRef>
          <a:fontRef idx="major"/>
        </p:style>
        <p:txBody>
          <a:bodyPr wrap="square" rtlCol="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endParaRPr lang="en-US" altLang="zh-CN" sz="1200" dirty="0">
              <a:solidFill>
                <a:srgbClr val="C0000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err="1"/>
              <a:t>issubclass</a:t>
            </a:r>
            <a:r>
              <a:rPr kumimoji="1" lang="en-GB" altLang="zh-CN" dirty="0"/>
              <a:t>() and </a:t>
            </a:r>
            <a:r>
              <a:rPr kumimoji="1" lang="en-GB" altLang="zh-CN" dirty="0" err="1"/>
              <a:t>isinstance</a:t>
            </a:r>
            <a:r>
              <a:rPr kumimoji="1" lang="en-GB" altLang="zh-CN" dirty="0"/>
              <a:t>()</a:t>
            </a:r>
            <a:br>
              <a:rPr kumimoji="1" lang="en-GB" altLang="zh-CN" dirty="0"/>
            </a:br>
            <a:br>
              <a:rPr kumimoji="1" lang="en-GB" altLang="zh-CN" dirty="0"/>
            </a:br>
            <a:endParaRPr kumimoji="1" lang="zh-CN" altLang="en-US" dirty="0"/>
          </a:p>
        </p:txBody>
      </p:sp>
      <p:sp>
        <p:nvSpPr>
          <p:cNvPr id="3" name="文本占位符 2"/>
          <p:cNvSpPr>
            <a:spLocks noGrp="1"/>
          </p:cNvSpPr>
          <p:nvPr>
            <p:ph type="body" idx="1"/>
          </p:nvPr>
        </p:nvSpPr>
        <p:spPr>
          <a:xfrm>
            <a:off x="311700" y="1152475"/>
            <a:ext cx="8520600" cy="864861"/>
          </a:xfrm>
        </p:spPr>
        <p:txBody>
          <a:bodyPr>
            <a:noAutofit/>
          </a:bodyPr>
          <a:lstStyle/>
          <a:p>
            <a:r>
              <a:rPr kumimoji="1" lang="en-GB" altLang="zh-CN" sz="1400" dirty="0">
                <a:solidFill>
                  <a:schemeClr val="bg2"/>
                </a:solidFill>
                <a:latin typeface="Source Sans Pro" panose="020B0503030403020204" pitchFamily="34" charset="0"/>
                <a:ea typeface="Source Sans Pro" panose="020B0503030403020204" pitchFamily="34" charset="0"/>
              </a:rPr>
              <a:t>Python (from version 3.x), </a:t>
            </a:r>
            <a:r>
              <a:rPr kumimoji="1" lang="en-GB" altLang="zh-CN" sz="1400" dirty="0">
                <a:solidFill>
                  <a:schemeClr val="tx1"/>
                </a:solidFill>
                <a:latin typeface="Source Sans Pro" panose="020B0503030403020204" pitchFamily="34" charset="0"/>
                <a:ea typeface="Source Sans Pro" panose="020B0503030403020204" pitchFamily="34" charset="0"/>
              </a:rPr>
              <a:t>object</a:t>
            </a:r>
            <a:r>
              <a:rPr kumimoji="1" lang="en-GB" altLang="zh-CN" sz="1400" dirty="0">
                <a:solidFill>
                  <a:schemeClr val="bg2"/>
                </a:solidFill>
                <a:latin typeface="Source Sans Pro" panose="020B0503030403020204" pitchFamily="34" charset="0"/>
                <a:ea typeface="Source Sans Pro" panose="020B0503030403020204" pitchFamily="34" charset="0"/>
              </a:rPr>
              <a:t> is root of all classes.</a:t>
            </a:r>
            <a:endParaRPr kumimoji="1" lang="en-GB" altLang="zh-CN" sz="1400" dirty="0">
              <a:solidFill>
                <a:schemeClr val="bg2"/>
              </a:solidFill>
            </a:endParaRPr>
          </a:p>
          <a:p>
            <a:r>
              <a:rPr kumimoji="1" lang="en-GB" altLang="zh-CN" sz="1400" dirty="0">
                <a:solidFill>
                  <a:schemeClr val="bg2"/>
                </a:solidFill>
              </a:rPr>
              <a:t>Python provides a function issubclass() that directly tells us if a class is subclass of another class. </a:t>
            </a:r>
            <a:r>
              <a:rPr kumimoji="1" lang="en-GB" altLang="zh-CN" sz="1400" dirty="0" err="1">
                <a:solidFill>
                  <a:schemeClr val="bg2"/>
                </a:solidFill>
              </a:rPr>
              <a:t>isinstance</a:t>
            </a:r>
            <a:r>
              <a:rPr kumimoji="1" lang="en-GB" altLang="zh-CN" sz="1400" dirty="0">
                <a:solidFill>
                  <a:schemeClr val="bg2"/>
                </a:solidFill>
              </a:rPr>
              <a:t>() will tell us if a variable is an object of a class</a:t>
            </a:r>
            <a:endParaRPr kumimoji="1" lang="en-GB" altLang="zh-CN" sz="1400" dirty="0">
              <a:solidFill>
                <a:schemeClr val="bg2"/>
              </a:solidFill>
            </a:endParaRPr>
          </a:p>
        </p:txBody>
      </p:sp>
      <p:pic>
        <p:nvPicPr>
          <p:cNvPr id="4"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321869" y="1986130"/>
            <a:ext cx="2669551" cy="3091948"/>
          </a:xfrm>
          <a:prstGeom prst="rect">
            <a:avLst/>
          </a:prstGeom>
        </p:spPr>
      </p:pic>
      <p:pic>
        <p:nvPicPr>
          <p:cNvPr id="5"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48886" y="3184483"/>
            <a:ext cx="451907" cy="695242"/>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a:solidFill>
                  <a:srgbClr val="FF0000"/>
                </a:solidFill>
                <a:highlight>
                  <a:srgbClr val="FFFF00"/>
                </a:highlight>
              </a:rPr>
              <a:t>==</a:t>
            </a:r>
            <a:r>
              <a:rPr kumimoji="1" lang="en-US" altLang="en-GB" dirty="0">
                <a:solidFill>
                  <a:srgbClr val="FF0000"/>
                </a:solidFill>
                <a:highlight>
                  <a:srgbClr val="FFFF00"/>
                </a:highlight>
              </a:rPr>
              <a:t>(</a:t>
            </a:r>
            <a:r>
              <a:rPr kumimoji="1" lang="zh-CN" altLang="en-US" dirty="0">
                <a:solidFill>
                  <a:srgbClr val="FF0000"/>
                </a:solidFill>
                <a:highlight>
                  <a:srgbClr val="FFFF00"/>
                </a:highlight>
              </a:rPr>
              <a:t>值</a:t>
            </a:r>
            <a:r>
              <a:rPr kumimoji="1" lang="en-US" altLang="en-GB" dirty="0">
                <a:solidFill>
                  <a:srgbClr val="FF0000"/>
                </a:solidFill>
                <a:highlight>
                  <a:srgbClr val="FFFF00"/>
                </a:highlight>
              </a:rPr>
              <a:t>)</a:t>
            </a:r>
            <a:r>
              <a:rPr kumimoji="1" lang="en-GB" altLang="zh-CN" dirty="0">
                <a:solidFill>
                  <a:srgbClr val="FF0000"/>
                </a:solidFill>
                <a:highlight>
                  <a:srgbClr val="FFFF00"/>
                </a:highlight>
              </a:rPr>
              <a:t> VS. is</a:t>
            </a:r>
            <a:r>
              <a:rPr kumimoji="1" lang="en-US" altLang="en-GB" dirty="0">
                <a:solidFill>
                  <a:srgbClr val="FF0000"/>
                </a:solidFill>
                <a:highlight>
                  <a:srgbClr val="FFFF00"/>
                </a:highlight>
              </a:rPr>
              <a:t>(</a:t>
            </a:r>
            <a:r>
              <a:rPr kumimoji="1" lang="zh-CN" altLang="en-US" dirty="0">
                <a:solidFill>
                  <a:srgbClr val="FF0000"/>
                </a:solidFill>
                <a:highlight>
                  <a:srgbClr val="FFFF00"/>
                </a:highlight>
              </a:rPr>
              <a:t>值和</a:t>
            </a:r>
            <a:r>
              <a:rPr kumimoji="1" lang="en-US" altLang="en-GB" dirty="0">
                <a:solidFill>
                  <a:srgbClr val="FF0000"/>
                </a:solidFill>
                <a:highlight>
                  <a:srgbClr val="FFFF00"/>
                </a:highlight>
              </a:rPr>
              <a:t>id)</a:t>
            </a:r>
            <a:endParaRPr kumimoji="1" lang="en-US" altLang="en-GB" dirty="0">
              <a:solidFill>
                <a:srgbClr val="FF0000"/>
              </a:solidFill>
              <a:highlight>
                <a:srgbClr val="FFFF00"/>
              </a:highlight>
            </a:endParaRPr>
          </a:p>
        </p:txBody>
      </p:sp>
      <p:sp>
        <p:nvSpPr>
          <p:cNvPr id="3" name="文本占位符 2"/>
          <p:cNvSpPr>
            <a:spLocks noGrp="1"/>
          </p:cNvSpPr>
          <p:nvPr>
            <p:ph type="body" idx="1"/>
          </p:nvPr>
        </p:nvSpPr>
        <p:spPr>
          <a:xfrm>
            <a:off x="311700" y="1015614"/>
            <a:ext cx="8520600" cy="1020670"/>
          </a:xfrm>
        </p:spPr>
        <p:txBody>
          <a:bodyPr>
            <a:noAutofit/>
          </a:bodyPr>
          <a:lstStyle/>
          <a:p>
            <a:r>
              <a:rPr kumimoji="1" lang="en-GB" altLang="zh-CN" sz="1400" dirty="0">
                <a:solidFill>
                  <a:schemeClr val="bg2"/>
                </a:solidFill>
              </a:rPr>
              <a:t>The </a:t>
            </a:r>
            <a:r>
              <a:rPr kumimoji="1" lang="en-GB" altLang="zh-CN" sz="1400" dirty="0">
                <a:solidFill>
                  <a:schemeClr val="tx1"/>
                </a:solidFill>
              </a:rPr>
              <a:t>==</a:t>
            </a:r>
            <a:r>
              <a:rPr kumimoji="1" lang="en-GB" altLang="zh-CN" sz="1400" dirty="0">
                <a:solidFill>
                  <a:schemeClr val="bg2"/>
                </a:solidFill>
              </a:rPr>
              <a:t> operator tests value equivalence. Python performs an equivalence test, comparing </a:t>
            </a:r>
            <a:r>
              <a:rPr kumimoji="1" lang="en-GB" altLang="zh-CN" sz="1400" dirty="0">
                <a:solidFill>
                  <a:schemeClr val="tx1"/>
                </a:solidFill>
              </a:rPr>
              <a:t>all nested </a:t>
            </a:r>
            <a:r>
              <a:rPr kumimoji="1" lang="en-GB" altLang="zh-CN" sz="1400" dirty="0">
                <a:solidFill>
                  <a:schemeClr val="bg2"/>
                </a:solidFill>
              </a:rPr>
              <a:t>objects </a:t>
            </a:r>
            <a:r>
              <a:rPr kumimoji="1" lang="en-GB" altLang="zh-CN" sz="1400" dirty="0">
                <a:solidFill>
                  <a:schemeClr val="tx1"/>
                </a:solidFill>
              </a:rPr>
              <a:t>recursively</a:t>
            </a:r>
            <a:endParaRPr kumimoji="1" lang="en-GB" altLang="zh-CN" sz="1400" dirty="0">
              <a:solidFill>
                <a:schemeClr val="tx1"/>
              </a:solidFill>
            </a:endParaRPr>
          </a:p>
          <a:p>
            <a:r>
              <a:rPr kumimoji="1" lang="en-GB" altLang="zh-CN" sz="1400" dirty="0">
                <a:solidFill>
                  <a:schemeClr val="bg2"/>
                </a:solidFill>
              </a:rPr>
              <a:t>The </a:t>
            </a:r>
            <a:r>
              <a:rPr kumimoji="1" lang="en-GB" altLang="zh-CN" sz="1400" dirty="0">
                <a:solidFill>
                  <a:schemeClr val="tx1"/>
                </a:solidFill>
              </a:rPr>
              <a:t>is</a:t>
            </a:r>
            <a:r>
              <a:rPr kumimoji="1" lang="en-GB" altLang="zh-CN" sz="1400" dirty="0">
                <a:solidFill>
                  <a:schemeClr val="bg2"/>
                </a:solidFill>
              </a:rPr>
              <a:t> operator tests object </a:t>
            </a:r>
            <a:r>
              <a:rPr kumimoji="1" lang="en-GB" altLang="zh-CN" sz="1400" dirty="0">
                <a:solidFill>
                  <a:schemeClr val="tx1"/>
                </a:solidFill>
              </a:rPr>
              <a:t>identity (</a:t>
            </a:r>
            <a:r>
              <a:rPr kumimoji="1" lang="zh-CN" altLang="en-US" sz="1400" dirty="0">
                <a:solidFill>
                  <a:schemeClr val="tx1"/>
                </a:solidFill>
                <a:latin typeface="黑体" panose="02010609060101010101" pitchFamily="49" charset="-122"/>
                <a:ea typeface="黑体" panose="02010609060101010101" pitchFamily="49" charset="-122"/>
              </a:rPr>
              <a:t>身份证</a:t>
            </a:r>
            <a:r>
              <a:rPr kumimoji="1" lang="en-GB" altLang="zh-CN" sz="1400" dirty="0">
                <a:solidFill>
                  <a:schemeClr val="tx1"/>
                </a:solidFill>
              </a:rPr>
              <a:t>)</a:t>
            </a:r>
            <a:r>
              <a:rPr kumimoji="1" lang="en-GB" altLang="zh-CN" sz="1400" dirty="0">
                <a:solidFill>
                  <a:schemeClr val="bg2"/>
                </a:solidFill>
              </a:rPr>
              <a:t>. Python tests whether the two are really the same object (i.e., live </a:t>
            </a:r>
            <a:r>
              <a:rPr kumimoji="1" lang="en-GB" altLang="zh-CN" sz="1400" dirty="0">
                <a:solidFill>
                  <a:schemeClr val="tx1"/>
                </a:solidFill>
              </a:rPr>
              <a:t>at the same address in memory</a:t>
            </a:r>
            <a:r>
              <a:rPr kumimoji="1" lang="en-GB" altLang="zh-CN" sz="1400" dirty="0">
                <a:solidFill>
                  <a:schemeClr val="bg2"/>
                </a:solidFill>
              </a:rPr>
              <a:t>)</a:t>
            </a:r>
            <a:endParaRPr kumimoji="1" lang="en-GB" altLang="zh-CN" sz="1400" dirty="0">
              <a:solidFill>
                <a:schemeClr val="bg2"/>
              </a:solidFill>
            </a:endParaRPr>
          </a:p>
        </p:txBody>
      </p:sp>
      <p:pic>
        <p:nvPicPr>
          <p:cNvPr id="5" name="Picture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07095" y="2894487"/>
            <a:ext cx="955423" cy="172370"/>
          </a:xfrm>
          <a:prstGeom prst="rect">
            <a:avLst/>
          </a:prstGeom>
        </p:spPr>
      </p:pic>
      <p:pic>
        <p:nvPicPr>
          <p:cNvPr id="8" name="Picture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7095" y="4564713"/>
            <a:ext cx="733380" cy="343374"/>
          </a:xfrm>
          <a:prstGeom prst="rect">
            <a:avLst/>
          </a:prstGeom>
        </p:spPr>
      </p:pic>
      <p:pic>
        <p:nvPicPr>
          <p:cNvPr id="9" name="Picture 18" descr="A close up of a sign&#10;&#10;Description automatically generate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35252" y="4107774"/>
            <a:ext cx="727942" cy="429664"/>
          </a:xfrm>
          <a:prstGeom prst="rect">
            <a:avLst/>
          </a:prstGeom>
        </p:spPr>
      </p:pic>
      <p:sp>
        <p:nvSpPr>
          <p:cNvPr id="13" name="Rectangle 1"/>
          <p:cNvSpPr/>
          <p:nvPr/>
        </p:nvSpPr>
        <p:spPr>
          <a:xfrm>
            <a:off x="2981525" y="4698475"/>
            <a:ext cx="1150220" cy="251354"/>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tx1"/>
              </a:buClr>
            </a:pPr>
            <a:r>
              <a:rPr lang="en-GB" altLang="zh-CN" sz="1200" dirty="0">
                <a:solidFill>
                  <a:schemeClr val="tx1"/>
                </a:solidFill>
                <a:latin typeface="Source Sans Pro" panose="020B0503030403020204" pitchFamily="34" charset="0"/>
                <a:ea typeface="Source Sans Pro" panose="020B0503030403020204" pitchFamily="34" charset="0"/>
              </a:rPr>
              <a:t>is </a:t>
            </a:r>
            <a:r>
              <a:rPr lang="zh-CN" altLang="en-US" sz="1200" dirty="0">
                <a:solidFill>
                  <a:schemeClr val="tx1"/>
                </a:solidFill>
                <a:latin typeface="黑体" panose="02010609060101010101" pitchFamily="49" charset="-122"/>
                <a:ea typeface="黑体" panose="02010609060101010101" pitchFamily="49" charset="-122"/>
              </a:rPr>
              <a:t>依赖于</a:t>
            </a:r>
            <a:r>
              <a:rPr lang="zh-CN" altLang="en-US" sz="1200" dirty="0">
                <a:solidFill>
                  <a:schemeClr val="bg2"/>
                </a:solidFill>
                <a:latin typeface="黑体" panose="02010609060101010101" pitchFamily="49" charset="-122"/>
                <a:ea typeface="黑体" panose="02010609060101010101" pitchFamily="49" charset="-122"/>
              </a:rPr>
              <a:t>系统</a:t>
            </a:r>
            <a:endParaRPr lang="zh-CN" altLang="en-US" sz="1200" dirty="0">
              <a:solidFill>
                <a:schemeClr val="bg2"/>
              </a:solidFill>
              <a:latin typeface="黑体" panose="02010609060101010101" pitchFamily="49" charset="-122"/>
              <a:ea typeface="黑体" panose="02010609060101010101" pitchFamily="49" charset="-122"/>
            </a:endParaRPr>
          </a:p>
        </p:txBody>
      </p:sp>
      <p:pic>
        <p:nvPicPr>
          <p:cNvPr id="14" name="图片 13"/>
          <p:cNvPicPr>
            <a:picLocks noChangeAspect="1"/>
          </p:cNvPicPr>
          <p:nvPr/>
        </p:nvPicPr>
        <p:blipFill>
          <a:blip r:embed="rId4"/>
          <a:stretch>
            <a:fillRect/>
          </a:stretch>
        </p:blipFill>
        <p:spPr>
          <a:xfrm>
            <a:off x="4435252" y="2054035"/>
            <a:ext cx="1862297" cy="1917070"/>
          </a:xfrm>
          <a:prstGeom prst="rect">
            <a:avLst/>
          </a:prstGeom>
        </p:spPr>
      </p:pic>
      <p:pic>
        <p:nvPicPr>
          <p:cNvPr id="18" name="图片 17"/>
          <p:cNvPicPr>
            <a:picLocks noChangeAspect="1"/>
          </p:cNvPicPr>
          <p:nvPr/>
        </p:nvPicPr>
        <p:blipFill>
          <a:blip r:embed="rId5"/>
          <a:stretch>
            <a:fillRect/>
          </a:stretch>
        </p:blipFill>
        <p:spPr>
          <a:xfrm>
            <a:off x="407095" y="2070861"/>
            <a:ext cx="3724650" cy="789049"/>
          </a:xfrm>
          <a:prstGeom prst="rect">
            <a:avLst/>
          </a:prstGeom>
        </p:spPr>
      </p:pic>
      <p:pic>
        <p:nvPicPr>
          <p:cNvPr id="20" name="图片 19"/>
          <p:cNvPicPr>
            <a:picLocks noChangeAspect="1"/>
          </p:cNvPicPr>
          <p:nvPr/>
        </p:nvPicPr>
        <p:blipFill>
          <a:blip r:embed="rId6"/>
          <a:stretch>
            <a:fillRect/>
          </a:stretch>
        </p:blipFill>
        <p:spPr>
          <a:xfrm>
            <a:off x="407095" y="3122793"/>
            <a:ext cx="2977715" cy="1390149"/>
          </a:xfrm>
          <a:prstGeom prst="rect">
            <a:avLst/>
          </a:prstGeom>
        </p:spPr>
      </p:pic>
      <p:pic>
        <p:nvPicPr>
          <p:cNvPr id="22" name="图片 21"/>
          <p:cNvPicPr>
            <a:picLocks noChangeAspect="1"/>
          </p:cNvPicPr>
          <p:nvPr/>
        </p:nvPicPr>
        <p:blipFill>
          <a:blip r:embed="rId7"/>
          <a:stretch>
            <a:fillRect/>
          </a:stretch>
        </p:blipFill>
        <p:spPr>
          <a:xfrm>
            <a:off x="6570539" y="2070861"/>
            <a:ext cx="1927239" cy="1133670"/>
          </a:xfrm>
          <a:prstGeom prst="rect">
            <a:avLst/>
          </a:prstGeom>
        </p:spPr>
      </p:pic>
      <p:sp>
        <p:nvSpPr>
          <p:cNvPr id="24" name="文本框 23"/>
          <p:cNvSpPr txBox="1"/>
          <p:nvPr/>
        </p:nvSpPr>
        <p:spPr>
          <a:xfrm>
            <a:off x="6533368" y="3221568"/>
            <a:ext cx="1751798" cy="246221"/>
          </a:xfrm>
          <a:prstGeom prst="rect">
            <a:avLst/>
          </a:prstGeom>
          <a:noFill/>
        </p:spPr>
        <p:txBody>
          <a:bodyPr wrap="square">
            <a:spAutoFit/>
          </a:bodyPr>
          <a:lstStyle/>
          <a:p>
            <a:r>
              <a:rPr lang="en-US" altLang="zh-CN" sz="1000" b="0" dirty="0">
                <a:solidFill>
                  <a:schemeClr val="bg2"/>
                </a:solidFill>
                <a:effectLst/>
                <a:latin typeface="Consolas" panose="020B0609020204030204" pitchFamily="49" charset="0"/>
              </a:rPr>
              <a:t>False True </a:t>
            </a:r>
            <a:r>
              <a:rPr lang="en-US" altLang="zh-CN" sz="1000" b="0" dirty="0" err="1">
                <a:solidFill>
                  <a:schemeClr val="bg2"/>
                </a:solidFill>
                <a:effectLst/>
                <a:latin typeface="Consolas" panose="020B0609020204030204" pitchFamily="49" charset="0"/>
              </a:rPr>
              <a:t>HelloSJTU</a:t>
            </a:r>
            <a:endParaRPr lang="en-US" altLang="zh-CN" sz="1000" b="0" dirty="0">
              <a:solidFill>
                <a:schemeClr val="bg2"/>
              </a:solidFill>
              <a:effectLst/>
              <a:latin typeface="Consolas" panose="020B0609020204030204" pitchFamily="49" charset="0"/>
            </a:endParaRPr>
          </a:p>
        </p:txBody>
      </p:sp>
      <p:pic>
        <p:nvPicPr>
          <p:cNvPr id="26" name="图片 25"/>
          <p:cNvPicPr>
            <a:picLocks noChangeAspect="1"/>
          </p:cNvPicPr>
          <p:nvPr/>
        </p:nvPicPr>
        <p:blipFill>
          <a:blip r:embed="rId8"/>
          <a:stretch>
            <a:fillRect/>
          </a:stretch>
        </p:blipFill>
        <p:spPr>
          <a:xfrm>
            <a:off x="6570539" y="3467789"/>
            <a:ext cx="1894570" cy="1537945"/>
          </a:xfrm>
          <a:prstGeom prst="rect">
            <a:avLst/>
          </a:prstGeom>
        </p:spPr>
      </p:pic>
      <p:pic>
        <p:nvPicPr>
          <p:cNvPr id="28" name="图片 27"/>
          <p:cNvPicPr>
            <a:picLocks noChangeAspect="1"/>
          </p:cNvPicPr>
          <p:nvPr/>
        </p:nvPicPr>
        <p:blipFill>
          <a:blip r:embed="rId9"/>
          <a:stretch>
            <a:fillRect/>
          </a:stretch>
        </p:blipFill>
        <p:spPr>
          <a:xfrm>
            <a:off x="8497778" y="4735603"/>
            <a:ext cx="602409" cy="261286"/>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a:t>Introspection Tools</a:t>
            </a:r>
            <a:endParaRPr kumimoji="1" lang="zh-CN" altLang="en-US" dirty="0"/>
          </a:p>
        </p:txBody>
      </p:sp>
      <p:sp>
        <p:nvSpPr>
          <p:cNvPr id="3" name="文本占位符 2"/>
          <p:cNvSpPr>
            <a:spLocks noGrp="1"/>
          </p:cNvSpPr>
          <p:nvPr>
            <p:ph type="body" idx="1"/>
          </p:nvPr>
        </p:nvSpPr>
        <p:spPr>
          <a:xfrm>
            <a:off x="311700" y="1152475"/>
            <a:ext cx="8520600" cy="2486271"/>
          </a:xfrm>
        </p:spPr>
        <p:txBody>
          <a:bodyPr>
            <a:normAutofit/>
          </a:bodyPr>
          <a:lstStyle/>
          <a:p>
            <a:r>
              <a:rPr kumimoji="1" lang="en-GB" altLang="zh-CN" sz="1400" dirty="0">
                <a:solidFill>
                  <a:schemeClr val="bg2"/>
                </a:solidFill>
              </a:rPr>
              <a:t>Special attributes and functions that give us access to some of the internals of objects’ implementations. </a:t>
            </a:r>
            <a:endParaRPr kumimoji="1" lang="en-GB" altLang="zh-CN" sz="1400" dirty="0">
              <a:solidFill>
                <a:schemeClr val="bg2"/>
              </a:solidFill>
            </a:endParaRPr>
          </a:p>
          <a:p>
            <a:r>
              <a:rPr kumimoji="1" lang="en-GB" altLang="zh-CN" sz="1400" dirty="0">
                <a:solidFill>
                  <a:schemeClr val="bg2"/>
                </a:solidFill>
              </a:rPr>
              <a:t>The built-in </a:t>
            </a:r>
            <a:r>
              <a:rPr kumimoji="1" lang="en-GB" altLang="zh-CN" sz="1400" dirty="0" err="1">
                <a:solidFill>
                  <a:schemeClr val="bg2"/>
                </a:solidFill>
              </a:rPr>
              <a:t>instance.__class</a:t>
            </a:r>
            <a:r>
              <a:rPr kumimoji="1" lang="en-GB" altLang="zh-CN" sz="1400" dirty="0">
                <a:solidFill>
                  <a:schemeClr val="bg2"/>
                </a:solidFill>
              </a:rPr>
              <a:t>__ </a:t>
            </a:r>
            <a:r>
              <a:rPr kumimoji="1" lang="en-US" altLang="en-GB" sz="1400" dirty="0">
                <a:solidFill>
                  <a:schemeClr val="bg2"/>
                </a:solidFill>
              </a:rPr>
              <a:t>(</a:t>
            </a:r>
            <a:r>
              <a:rPr kumimoji="1" lang="zh-CN" altLang="en-US" sz="1400" dirty="0">
                <a:solidFill>
                  <a:schemeClr val="bg2"/>
                </a:solidFill>
              </a:rPr>
              <a:t>属于哪个类</a:t>
            </a:r>
            <a:r>
              <a:rPr kumimoji="1" lang="en-US" altLang="en-GB" sz="1400" dirty="0">
                <a:solidFill>
                  <a:schemeClr val="bg2"/>
                </a:solidFill>
              </a:rPr>
              <a:t>)</a:t>
            </a:r>
            <a:r>
              <a:rPr kumimoji="1" lang="en-GB" altLang="zh-CN" sz="1400" dirty="0">
                <a:solidFill>
                  <a:schemeClr val="bg2"/>
                </a:solidFill>
              </a:rPr>
              <a:t>attribute provides a link from an instance to the class from which it was created. Classes in turn have a __name__</a:t>
            </a:r>
            <a:r>
              <a:rPr kumimoji="1" lang="en-US" altLang="en-GB" sz="1400" dirty="0">
                <a:solidFill>
                  <a:schemeClr val="bg2"/>
                </a:solidFill>
              </a:rPr>
              <a:t>(</a:t>
            </a:r>
            <a:r>
              <a:rPr kumimoji="1" lang="zh-CN" altLang="en-US" sz="1400" dirty="0">
                <a:solidFill>
                  <a:schemeClr val="bg2"/>
                </a:solidFill>
              </a:rPr>
              <a:t>类的名字</a:t>
            </a:r>
            <a:r>
              <a:rPr kumimoji="1" lang="en-US" altLang="en-GB" sz="1400" dirty="0">
                <a:solidFill>
                  <a:schemeClr val="bg2"/>
                </a:solidFill>
              </a:rPr>
              <a:t>)</a:t>
            </a:r>
            <a:r>
              <a:rPr kumimoji="1" lang="en-GB" altLang="zh-CN" sz="1400" dirty="0">
                <a:solidFill>
                  <a:schemeClr val="bg2"/>
                </a:solidFill>
              </a:rPr>
              <a:t>, and a __bases__ sequence that provides access to </a:t>
            </a:r>
            <a:r>
              <a:rPr kumimoji="1" lang="en-GB" altLang="zh-CN" sz="1400" dirty="0" err="1">
                <a:solidFill>
                  <a:schemeClr val="bg2"/>
                </a:solidFill>
              </a:rPr>
              <a:t>superclasses</a:t>
            </a:r>
            <a:r>
              <a:rPr kumimoji="1" lang="en-GB" altLang="zh-CN" sz="1400" dirty="0">
                <a:solidFill>
                  <a:schemeClr val="bg2"/>
                </a:solidFill>
              </a:rPr>
              <a:t>. </a:t>
            </a:r>
            <a:endParaRPr kumimoji="1" lang="en-GB" altLang="zh-CN" sz="1400" dirty="0">
              <a:solidFill>
                <a:schemeClr val="bg2"/>
              </a:solidFill>
            </a:endParaRPr>
          </a:p>
          <a:p>
            <a:r>
              <a:rPr kumimoji="1" lang="en-GB" altLang="zh-CN" sz="1400" dirty="0">
                <a:solidFill>
                  <a:schemeClr val="bg2"/>
                </a:solidFill>
              </a:rPr>
              <a:t>The built-in object.__</a:t>
            </a:r>
            <a:r>
              <a:rPr kumimoji="1" lang="en-GB" altLang="zh-CN" sz="1400" dirty="0" err="1">
                <a:solidFill>
                  <a:schemeClr val="bg2"/>
                </a:solidFill>
              </a:rPr>
              <a:t>dict</a:t>
            </a:r>
            <a:r>
              <a:rPr kumimoji="1" lang="en-GB" altLang="zh-CN" sz="1400" dirty="0">
                <a:solidFill>
                  <a:schemeClr val="bg2"/>
                </a:solidFill>
              </a:rPr>
              <a:t>__</a:t>
            </a:r>
            <a:r>
              <a:rPr kumimoji="1" lang="en-US" altLang="en-GB" sz="1400" dirty="0">
                <a:solidFill>
                  <a:schemeClr val="bg2"/>
                </a:solidFill>
              </a:rPr>
              <a:t>(</a:t>
            </a:r>
            <a:r>
              <a:rPr kumimoji="1" lang="zh-CN" altLang="en-US" sz="1400" dirty="0">
                <a:solidFill>
                  <a:schemeClr val="bg2"/>
                </a:solidFill>
              </a:rPr>
              <a:t>属性</a:t>
            </a:r>
            <a:r>
              <a:rPr kumimoji="1" lang="en-US" altLang="en-GB" sz="1400" dirty="0">
                <a:solidFill>
                  <a:schemeClr val="bg2"/>
                </a:solidFill>
              </a:rPr>
              <a:t>)</a:t>
            </a:r>
            <a:r>
              <a:rPr kumimoji="1" lang="en-GB" altLang="zh-CN" sz="1400" dirty="0">
                <a:solidFill>
                  <a:schemeClr val="bg2"/>
                </a:solidFill>
              </a:rPr>
              <a:t> attribute provides a dictionary with one key/value pair for every attribute attached to a namespace object (including modules, classes, and instances). (</a:t>
            </a:r>
            <a:r>
              <a:rPr kumimoji="1" lang="en-GB" altLang="zh-CN" sz="1400" dirty="0" err="1">
                <a:solidFill>
                  <a:schemeClr val="bg2"/>
                </a:solidFill>
              </a:rPr>
              <a:t>dir</a:t>
            </a:r>
            <a:r>
              <a:rPr kumimoji="1" lang="en-GB" altLang="zh-CN" sz="1400" dirty="0">
                <a:solidFill>
                  <a:schemeClr val="bg2"/>
                </a:solidFill>
              </a:rPr>
              <a:t>() for functions)</a:t>
            </a:r>
            <a:endParaRPr kumimoji="1" lang="en-GB" altLang="zh-CN" sz="1400" dirty="0">
              <a:solidFill>
                <a:schemeClr val="bg2"/>
              </a:solidFill>
            </a:endParaRPr>
          </a:p>
        </p:txBody>
      </p:sp>
      <p:pic>
        <p:nvPicPr>
          <p:cNvPr id="8" name="Picture 7"/>
          <p:cNvPicPr>
            <a:picLocks noChangeAspect="1"/>
          </p:cNvPicPr>
          <p:nvPr/>
        </p:nvPicPr>
        <p:blipFill>
          <a:blip r:embed="rId1"/>
          <a:stretch>
            <a:fillRect/>
          </a:stretch>
        </p:blipFill>
        <p:spPr>
          <a:xfrm>
            <a:off x="4257152" y="3079646"/>
            <a:ext cx="2962170" cy="1970430"/>
          </a:xfrm>
          <a:prstGeom prst="rect">
            <a:avLst/>
          </a:prstGeom>
        </p:spPr>
      </p:pic>
      <p:pic>
        <p:nvPicPr>
          <p:cNvPr id="10" name="Picture 9"/>
          <p:cNvPicPr>
            <a:picLocks noChangeAspect="1"/>
          </p:cNvPicPr>
          <p:nvPr/>
        </p:nvPicPr>
        <p:blipFill>
          <a:blip r:embed="rId2"/>
          <a:stretch>
            <a:fillRect/>
          </a:stretch>
        </p:blipFill>
        <p:spPr>
          <a:xfrm>
            <a:off x="236484" y="2940581"/>
            <a:ext cx="3903542" cy="1970430"/>
          </a:xfrm>
          <a:prstGeom prst="rect">
            <a:avLst/>
          </a:prstGeom>
        </p:spPr>
      </p:pic>
      <p:pic>
        <p:nvPicPr>
          <p:cNvPr id="14" name="Picture 13"/>
          <p:cNvPicPr>
            <a:picLocks noChangeAspect="1"/>
          </p:cNvPicPr>
          <p:nvPr/>
        </p:nvPicPr>
        <p:blipFill>
          <a:blip r:embed="rId3"/>
          <a:stretch>
            <a:fillRect/>
          </a:stretch>
        </p:blipFill>
        <p:spPr>
          <a:xfrm>
            <a:off x="7412222" y="3390161"/>
            <a:ext cx="1535601" cy="1183316"/>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1700" y="127525"/>
            <a:ext cx="8520600" cy="623400"/>
          </a:xfrm>
        </p:spPr>
        <p:txBody>
          <a:bodyPr>
            <a:normAutofit fontScale="90000"/>
          </a:bodyPr>
          <a:lstStyle/>
          <a:p>
            <a:r>
              <a:rPr kumimoji="1" lang="en-GB" altLang="zh-CN" dirty="0"/>
              <a:t>object class</a:t>
            </a:r>
            <a:br>
              <a:rPr kumimoji="1" lang="en-GB" altLang="zh-CN" dirty="0"/>
            </a:br>
            <a:br>
              <a:rPr kumimoji="1" lang="en-GB" altLang="zh-CN" dirty="0"/>
            </a:br>
            <a:endParaRPr kumimoji="1" lang="zh-CN" altLang="en-US" dirty="0"/>
          </a:p>
        </p:txBody>
      </p:sp>
      <p:sp>
        <p:nvSpPr>
          <p:cNvPr id="3" name="文本占位符 2"/>
          <p:cNvSpPr>
            <a:spLocks noGrp="1"/>
          </p:cNvSpPr>
          <p:nvPr>
            <p:ph type="body" idx="1"/>
          </p:nvPr>
        </p:nvSpPr>
        <p:spPr>
          <a:xfrm>
            <a:off x="311785" y="607060"/>
            <a:ext cx="8520430" cy="4659630"/>
          </a:xfrm>
        </p:spPr>
        <p:txBody>
          <a:bodyPr numCol="2">
            <a:normAutofit fontScale="92500" lnSpcReduction="20000"/>
          </a:bodyPr>
          <a:lstStyle/>
          <a:p>
            <a:r>
              <a:rPr kumimoji="1" lang="en-GB" altLang="zh-CN" sz="1500" dirty="0">
                <a:solidFill>
                  <a:schemeClr val="bg2"/>
                </a:solidFill>
                <a:latin typeface="Source Sans Pro" panose="020B0503030403020204" pitchFamily="34" charset="0"/>
                <a:ea typeface="Source Sans Pro" panose="020B0503030403020204" pitchFamily="34" charset="0"/>
              </a:rPr>
              <a:t>Python (from version 3.x), </a:t>
            </a:r>
            <a:r>
              <a:rPr kumimoji="1" lang="en-GB" altLang="zh-CN" sz="1500" dirty="0">
                <a:solidFill>
                  <a:schemeClr val="tx1"/>
                </a:solidFill>
                <a:latin typeface="Source Sans Pro" panose="020B0503030403020204" pitchFamily="34" charset="0"/>
                <a:ea typeface="Source Sans Pro" panose="020B0503030403020204" pitchFamily="34" charset="0"/>
              </a:rPr>
              <a:t>object</a:t>
            </a:r>
            <a:r>
              <a:rPr kumimoji="1" lang="en-GB" altLang="zh-CN" sz="1500" dirty="0">
                <a:solidFill>
                  <a:schemeClr val="bg2"/>
                </a:solidFill>
                <a:latin typeface="Source Sans Pro" panose="020B0503030403020204" pitchFamily="34" charset="0"/>
                <a:ea typeface="Source Sans Pro" panose="020B0503030403020204" pitchFamily="34" charset="0"/>
              </a:rPr>
              <a:t> is root of all classes.</a:t>
            </a:r>
            <a:endParaRPr kumimoji="1" lang="en-GB" altLang="zh-CN" sz="1500" dirty="0">
              <a:solidFill>
                <a:schemeClr val="bg2"/>
              </a:solidFill>
              <a:latin typeface="Source Sans Pro" panose="020B0503030403020204" pitchFamily="34" charset="0"/>
              <a:ea typeface="Source Sans Pro" panose="020B0503030403020204" pitchFamily="34" charset="0"/>
            </a:endParaRPr>
          </a:p>
          <a:p>
            <a:r>
              <a:rPr kumimoji="1" lang="zh-CN" altLang="en-US" sz="1500" dirty="0">
                <a:solidFill>
                  <a:srgbClr val="FF0000"/>
                </a:solidFill>
                <a:highlight>
                  <a:srgbClr val="FFFF00"/>
                </a:highlight>
                <a:latin typeface="Source Sans Pro" panose="020B0503030403020204" pitchFamily="34" charset="0"/>
                <a:ea typeface="黑体" panose="02010609060101010101" pitchFamily="49" charset="-122"/>
              </a:rPr>
              <a:t>所有的类都继承了</a:t>
            </a:r>
            <a:r>
              <a:rPr kumimoji="1" lang="en-GB" altLang="zh-CN" sz="1500" dirty="0">
                <a:solidFill>
                  <a:srgbClr val="FF0000"/>
                </a:solidFill>
                <a:highlight>
                  <a:srgbClr val="FFFF00"/>
                </a:highlight>
                <a:latin typeface="Source Sans Pro" panose="020B0503030403020204" pitchFamily="34" charset="0"/>
                <a:ea typeface="Source Sans Pro" panose="020B0503030403020204" pitchFamily="34" charset="0"/>
              </a:rPr>
              <a:t>object</a:t>
            </a:r>
            <a:r>
              <a:rPr kumimoji="1" lang="zh-CN" altLang="en-US" sz="1500" dirty="0">
                <a:solidFill>
                  <a:srgbClr val="FF0000"/>
                </a:solidFill>
                <a:highlight>
                  <a:srgbClr val="FFFF00"/>
                </a:highlight>
                <a:latin typeface="Source Sans Pro" panose="020B0503030403020204" pitchFamily="34" charset="0"/>
                <a:ea typeface="黑体" panose="02010609060101010101" pitchFamily="49" charset="-122"/>
              </a:rPr>
              <a:t>类</a:t>
            </a:r>
            <a:endParaRPr kumimoji="1" lang="zh-CN" altLang="en-US" sz="1500" dirty="0">
              <a:solidFill>
                <a:srgbClr val="FF0000"/>
              </a:solidFill>
              <a:highlight>
                <a:srgbClr val="FFFF00"/>
              </a:highlight>
              <a:latin typeface="Source Sans Pro" panose="020B0503030403020204" pitchFamily="34" charset="0"/>
              <a:ea typeface="黑体" panose="02010609060101010101" pitchFamily="49" charset="-122"/>
            </a:endParaRPr>
          </a:p>
          <a:p>
            <a:pPr lvl="1">
              <a:buSzPct val="77000"/>
            </a:pPr>
            <a:r>
              <a:rPr kumimoji="1" lang="zh-CN" altLang="en-US" sz="1500" dirty="0">
                <a:solidFill>
                  <a:schemeClr val="bg2"/>
                </a:solidFill>
                <a:latin typeface="Source Sans Pro" panose="020B0503030403020204" pitchFamily="34" charset="0"/>
                <a:ea typeface="黑体" panose="02010609060101010101" pitchFamily="49" charset="-122"/>
              </a:rPr>
              <a:t>类定义的头 </a:t>
            </a:r>
            <a:r>
              <a:rPr kumimoji="1" lang="en-GB" altLang="zh-CN" sz="1500" dirty="0">
                <a:solidFill>
                  <a:schemeClr val="bg2"/>
                </a:solidFill>
                <a:latin typeface="Source Sans Pro" panose="020B0503030403020204" pitchFamily="34" charset="0"/>
                <a:ea typeface="Source Sans Pro" panose="020B0503030403020204" pitchFamily="34" charset="0"/>
              </a:rPr>
              <a:t>class Class</a:t>
            </a:r>
            <a:r>
              <a:rPr kumimoji="1" lang="en-US" altLang="zh-CN" sz="1500" dirty="0">
                <a:solidFill>
                  <a:schemeClr val="bg2"/>
                </a:solidFill>
                <a:latin typeface="Source Sans Pro" panose="020B0503030403020204" pitchFamily="34" charset="0"/>
                <a:ea typeface="Source Sans Pro" panose="020B0503030403020204" pitchFamily="34" charset="0"/>
              </a:rPr>
              <a:t>Name</a:t>
            </a:r>
            <a:r>
              <a:rPr kumimoji="1" lang="en-GB" altLang="zh-CN" sz="1500" dirty="0">
                <a:solidFill>
                  <a:schemeClr val="bg2"/>
                </a:solidFill>
                <a:latin typeface="Source Sans Pro" panose="020B0503030403020204" pitchFamily="34" charset="0"/>
                <a:ea typeface="Source Sans Pro" panose="020B0503030403020204" pitchFamily="34" charset="0"/>
              </a:rPr>
              <a:t>, </a:t>
            </a:r>
            <a:r>
              <a:rPr kumimoji="1" lang="zh-CN" altLang="en-US" sz="1500" dirty="0">
                <a:solidFill>
                  <a:schemeClr val="bg2"/>
                </a:solidFill>
                <a:latin typeface="Source Sans Pro" panose="020B0503030403020204" pitchFamily="34" charset="0"/>
                <a:ea typeface="黑体" panose="02010609060101010101" pitchFamily="49" charset="-122"/>
              </a:rPr>
              <a:t>其实是 </a:t>
            </a:r>
            <a:r>
              <a:rPr kumimoji="1" lang="en-GB" altLang="zh-CN" sz="1500" dirty="0">
                <a:solidFill>
                  <a:schemeClr val="bg2"/>
                </a:solidFill>
                <a:latin typeface="Source Sans Pro" panose="020B0503030403020204" pitchFamily="34" charset="0"/>
                <a:ea typeface="Source Sans Pro" panose="020B0503030403020204" pitchFamily="34" charset="0"/>
              </a:rPr>
              <a:t>class ClassName (object): </a:t>
            </a:r>
            <a:endParaRPr kumimoji="1" lang="en-GB" altLang="zh-CN" sz="1500" dirty="0">
              <a:solidFill>
                <a:schemeClr val="bg2"/>
              </a:solidFill>
              <a:latin typeface="Source Sans Pro" panose="020B0503030403020204" pitchFamily="34" charset="0"/>
              <a:ea typeface="Source Sans Pro" panose="020B0503030403020204" pitchFamily="34" charset="0"/>
            </a:endParaRPr>
          </a:p>
          <a:p>
            <a:r>
              <a:rPr kumimoji="1" lang="zh-CN" altLang="en-US" sz="1500" dirty="0">
                <a:solidFill>
                  <a:schemeClr val="bg2"/>
                </a:solidFill>
                <a:latin typeface="黑体" panose="02010609060101010101" pitchFamily="49" charset="-122"/>
                <a:ea typeface="黑体" panose="02010609060101010101" pitchFamily="49" charset="-122"/>
              </a:rPr>
              <a:t>所有的对象都可以调用 </a:t>
            </a:r>
            <a:r>
              <a:rPr kumimoji="1" lang="en-US" altLang="zh-CN" sz="1500" dirty="0" err="1">
                <a:solidFill>
                  <a:schemeClr val="tx1"/>
                </a:solidFill>
                <a:latin typeface="Source Sans Pro" panose="020B0503030403020204" pitchFamily="34" charset="0"/>
                <a:ea typeface="Source Sans Pro" panose="020B0503030403020204" pitchFamily="34" charset="0"/>
              </a:rPr>
              <a:t>len</a:t>
            </a:r>
            <a:r>
              <a:rPr kumimoji="1" lang="en-US" altLang="zh-CN" sz="1500" dirty="0">
                <a:solidFill>
                  <a:schemeClr val="tx1"/>
                </a:solidFill>
                <a:latin typeface="Source Sans Pro" panose="020B0503030403020204" pitchFamily="34" charset="0"/>
                <a:ea typeface="Source Sans Pro" panose="020B0503030403020204" pitchFamily="34" charset="0"/>
              </a:rPr>
              <a:t>(), print(), id(), type()</a:t>
            </a:r>
            <a:endParaRPr kumimoji="1" lang="en-GB" altLang="zh-CN" sz="1500" dirty="0">
              <a:solidFill>
                <a:schemeClr val="tx1"/>
              </a:solidFill>
              <a:latin typeface="Source Sans Pro" panose="020B0503030403020204" pitchFamily="34" charset="0"/>
              <a:ea typeface="Source Sans Pro" panose="020B0503030403020204" pitchFamily="34" charset="0"/>
            </a:endParaRPr>
          </a:p>
          <a:p>
            <a:r>
              <a:rPr kumimoji="1" lang="en-GB" altLang="zh-CN" sz="1500" dirty="0">
                <a:solidFill>
                  <a:schemeClr val="bg2"/>
                </a:solidFill>
                <a:latin typeface="Source Sans Pro" panose="020B0503030403020204" pitchFamily="34" charset="0"/>
                <a:ea typeface="Source Sans Pro" panose="020B0503030403020204" pitchFamily="34" charset="0"/>
              </a:rPr>
              <a:t>object.__len__(self)</a:t>
            </a:r>
            <a:endParaRPr kumimoji="1" lang="en-GB" altLang="zh-CN" sz="1500" dirty="0">
              <a:solidFill>
                <a:schemeClr val="bg2"/>
              </a:solidFill>
              <a:latin typeface="Source Sans Pro" panose="020B0503030403020204" pitchFamily="34" charset="0"/>
              <a:ea typeface="Source Sans Pro" panose="020B0503030403020204" pitchFamily="34" charset="0"/>
            </a:endParaRPr>
          </a:p>
          <a:p>
            <a:r>
              <a:rPr kumimoji="1" lang="en-US" altLang="zh-CN" sz="1500" dirty="0" err="1">
                <a:solidFill>
                  <a:schemeClr val="bg2"/>
                </a:solidFill>
                <a:latin typeface="Source Sans Pro" panose="020B0503030403020204" pitchFamily="34" charset="0"/>
                <a:ea typeface="Source Sans Pro" panose="020B0503030403020204" pitchFamily="34" charset="0"/>
              </a:rPr>
              <a:t>object.__str</a:t>
            </a:r>
            <a:r>
              <a:rPr kumimoji="1" lang="en-US" altLang="zh-CN" sz="1500" dirty="0">
                <a:solidFill>
                  <a:schemeClr val="bg2"/>
                </a:solidFill>
                <a:latin typeface="Source Sans Pro" panose="020B0503030403020204" pitchFamily="34" charset="0"/>
                <a:ea typeface="Source Sans Pro" panose="020B0503030403020204" pitchFamily="34" charset="0"/>
              </a:rPr>
              <a:t>__(self): Called by str(object) and the built-in functions format() and print() to compute the “informal” or nicely printable string representation of an object. The return value must be a string object</a:t>
            </a:r>
            <a:endParaRPr kumimoji="1" lang="en-US" altLang="zh-CN" sz="1500" dirty="0">
              <a:solidFill>
                <a:schemeClr val="bg2"/>
              </a:solidFill>
              <a:latin typeface="Source Sans Pro" panose="020B0503030403020204" pitchFamily="34" charset="0"/>
              <a:ea typeface="Source Sans Pro" panose="020B0503030403020204" pitchFamily="34" charset="0"/>
            </a:endParaRPr>
          </a:p>
          <a:p>
            <a:pPr marL="114300" indent="0">
              <a:buNone/>
            </a:pPr>
            <a:r>
              <a:rPr kumimoji="1" lang="zh-CN" altLang="en-US" sz="1500" dirty="0">
                <a:solidFill>
                  <a:schemeClr val="bg2"/>
                </a:solidFill>
                <a:latin typeface="Source Sans Pro" panose="020B0503030403020204" pitchFamily="34" charset="0"/>
                <a:ea typeface="Source Sans Pro" panose="020B0503030403020204" pitchFamily="34" charset="0"/>
              </a:rPr>
              <a:t>（返回字符串）</a:t>
            </a:r>
            <a:endParaRPr kumimoji="1" lang="en-US" altLang="zh-CN" sz="1500" dirty="0">
              <a:solidFill>
                <a:schemeClr val="bg2"/>
              </a:solidFill>
              <a:latin typeface="Source Sans Pro" panose="020B0503030403020204" pitchFamily="34" charset="0"/>
              <a:ea typeface="Source Sans Pro" panose="020B0503030403020204" pitchFamily="34" charset="0"/>
            </a:endParaRPr>
          </a:p>
          <a:p>
            <a:r>
              <a:rPr kumimoji="1" lang="zh-CN" altLang="en-US" sz="1500" dirty="0">
                <a:solidFill>
                  <a:schemeClr val="bg2"/>
                </a:solidFill>
                <a:latin typeface="Source Sans Pro" panose="020B0503030403020204" pitchFamily="34" charset="0"/>
                <a:ea typeface="黑体" panose="02010609060101010101" pitchFamily="49" charset="-122"/>
              </a:rPr>
              <a:t>如何让自定义的类能够使用基本的运算符： </a:t>
            </a:r>
            <a:r>
              <a:rPr kumimoji="1" lang="en-US" altLang="zh-CN" sz="1500" dirty="0">
                <a:solidFill>
                  <a:schemeClr val="bg2"/>
                </a:solidFill>
                <a:latin typeface="Source Sans Pro" panose="020B0503030403020204" pitchFamily="34" charset="0"/>
                <a:ea typeface="Source Sans Pro" panose="020B0503030403020204" pitchFamily="34" charset="0"/>
              </a:rPr>
              <a:t>+,-,*,/, +=, &gt;=, </a:t>
            </a:r>
            <a:r>
              <a:rPr kumimoji="1" lang="zh-CN" altLang="en-US" sz="1500" dirty="0">
                <a:solidFill>
                  <a:schemeClr val="bg2"/>
                </a:solidFill>
                <a:latin typeface="Source Sans Pro" panose="020B0503030403020204" pitchFamily="34" charset="0"/>
                <a:ea typeface="黑体" panose="02010609060101010101" pitchFamily="49" charset="-122"/>
              </a:rPr>
              <a:t>等等</a:t>
            </a:r>
            <a:endParaRPr kumimoji="1" lang="en-US" altLang="zh-CN" sz="1500" dirty="0">
              <a:solidFill>
                <a:schemeClr val="bg2"/>
              </a:solidFill>
              <a:latin typeface="Source Sans Pro" panose="020B0503030403020204" pitchFamily="34" charset="0"/>
              <a:ea typeface="Source Sans Pro" panose="020B0503030403020204" pitchFamily="34" charset="0"/>
            </a:endParaRPr>
          </a:p>
          <a:p>
            <a:pPr lvl="1"/>
            <a:r>
              <a:rPr kumimoji="1" lang="en-US" altLang="zh-CN" sz="1300" dirty="0">
                <a:solidFill>
                  <a:schemeClr val="bg2"/>
                </a:solidFill>
                <a:latin typeface="Source Sans Pro" panose="020B0503030403020204" pitchFamily="34" charset="0"/>
                <a:ea typeface="Source Sans Pro" panose="020B0503030403020204" pitchFamily="34" charset="0"/>
              </a:rPr>
              <a:t>object.__</a:t>
            </a:r>
            <a:r>
              <a:rPr kumimoji="1" lang="en-US" altLang="zh-CN" sz="1300" dirty="0" err="1">
                <a:solidFill>
                  <a:schemeClr val="bg2"/>
                </a:solidFill>
                <a:latin typeface="Source Sans Pro" panose="020B0503030403020204" pitchFamily="34" charset="0"/>
                <a:ea typeface="Source Sans Pro" panose="020B0503030403020204" pitchFamily="34" charset="0"/>
              </a:rPr>
              <a:t>lt</a:t>
            </a:r>
            <a:r>
              <a:rPr kumimoji="1" lang="en-US" altLang="zh-CN" sz="1300" dirty="0">
                <a:solidFill>
                  <a:schemeClr val="bg2"/>
                </a:solidFill>
                <a:latin typeface="Source Sans Pro" panose="020B0503030403020204" pitchFamily="34" charset="0"/>
                <a:ea typeface="Source Sans Pro" panose="020B0503030403020204" pitchFamily="34" charset="0"/>
              </a:rPr>
              <a:t>__(self, other)   # x&lt;y                 </a:t>
            </a:r>
            <a:r>
              <a:rPr kumimoji="1" lang="en-US" altLang="zh-CN" sz="1300" dirty="0" err="1">
                <a:solidFill>
                  <a:schemeClr val="bg2"/>
                </a:solidFill>
                <a:latin typeface="Source Sans Pro" panose="020B0503030403020204" pitchFamily="34" charset="0"/>
                <a:ea typeface="Source Sans Pro" panose="020B0503030403020204" pitchFamily="34" charset="0"/>
              </a:rPr>
              <a:t>lt</a:t>
            </a:r>
            <a:r>
              <a:rPr kumimoji="1" lang="en-US" altLang="zh-CN" sz="1300" dirty="0">
                <a:solidFill>
                  <a:schemeClr val="bg2"/>
                </a:solidFill>
                <a:latin typeface="Source Sans Pro" panose="020B0503030403020204" pitchFamily="34" charset="0"/>
                <a:ea typeface="Source Sans Pro" panose="020B0503030403020204" pitchFamily="34" charset="0"/>
              </a:rPr>
              <a:t>: less than</a:t>
            </a:r>
            <a:endParaRPr kumimoji="1" lang="en-US" altLang="zh-CN" sz="1300" dirty="0">
              <a:solidFill>
                <a:schemeClr val="bg2"/>
              </a:solidFill>
              <a:latin typeface="Source Sans Pro" panose="020B0503030403020204" pitchFamily="34" charset="0"/>
              <a:ea typeface="Source Sans Pro" panose="020B0503030403020204" pitchFamily="34" charset="0"/>
            </a:endParaRPr>
          </a:p>
          <a:p>
            <a:pPr lvl="1"/>
            <a:r>
              <a:rPr kumimoji="1" lang="en-US" altLang="zh-CN" sz="1300" dirty="0" err="1">
                <a:solidFill>
                  <a:schemeClr val="bg2"/>
                </a:solidFill>
                <a:latin typeface="Source Sans Pro" panose="020B0503030403020204" pitchFamily="34" charset="0"/>
                <a:ea typeface="Source Sans Pro" panose="020B0503030403020204" pitchFamily="34" charset="0"/>
              </a:rPr>
              <a:t>object.__le</a:t>
            </a:r>
            <a:r>
              <a:rPr kumimoji="1" lang="en-US" altLang="zh-CN" sz="1300" dirty="0">
                <a:solidFill>
                  <a:schemeClr val="bg2"/>
                </a:solidFill>
                <a:latin typeface="Source Sans Pro" panose="020B0503030403020204" pitchFamily="34" charset="0"/>
                <a:ea typeface="Source Sans Pro" panose="020B0503030403020204" pitchFamily="34" charset="0"/>
              </a:rPr>
              <a:t>__(self, other)  # x&lt;=y           less equal  </a:t>
            </a:r>
            <a:endParaRPr kumimoji="1" lang="en-US" altLang="zh-CN" sz="1300" dirty="0">
              <a:solidFill>
                <a:schemeClr val="bg2"/>
              </a:solidFill>
              <a:latin typeface="Source Sans Pro" panose="020B0503030403020204" pitchFamily="34" charset="0"/>
              <a:ea typeface="Source Sans Pro" panose="020B0503030403020204" pitchFamily="34" charset="0"/>
            </a:endParaRPr>
          </a:p>
          <a:p>
            <a:pPr lvl="1"/>
            <a:r>
              <a:rPr kumimoji="1" lang="en-US" altLang="zh-CN" sz="1300" dirty="0" err="1">
                <a:solidFill>
                  <a:schemeClr val="bg2"/>
                </a:solidFill>
                <a:latin typeface="Source Sans Pro" panose="020B0503030403020204" pitchFamily="34" charset="0"/>
                <a:ea typeface="Source Sans Pro" panose="020B0503030403020204" pitchFamily="34" charset="0"/>
              </a:rPr>
              <a:t>object.__eq</a:t>
            </a:r>
            <a:r>
              <a:rPr kumimoji="1" lang="en-US" altLang="zh-CN" sz="1300" dirty="0">
                <a:solidFill>
                  <a:schemeClr val="bg2"/>
                </a:solidFill>
                <a:latin typeface="Source Sans Pro" panose="020B0503030403020204" pitchFamily="34" charset="0"/>
                <a:ea typeface="Source Sans Pro" panose="020B0503030403020204" pitchFamily="34" charset="0"/>
              </a:rPr>
              <a:t>__(self, other) # x==y           equal  </a:t>
            </a:r>
            <a:endParaRPr kumimoji="1" lang="en-US" altLang="zh-CN" sz="1300" dirty="0">
              <a:solidFill>
                <a:schemeClr val="bg2"/>
              </a:solidFill>
              <a:latin typeface="Source Sans Pro" panose="020B0503030403020204" pitchFamily="34" charset="0"/>
              <a:ea typeface="Source Sans Pro" panose="020B0503030403020204" pitchFamily="34" charset="0"/>
            </a:endParaRPr>
          </a:p>
          <a:p>
            <a:pPr lvl="1"/>
            <a:r>
              <a:rPr kumimoji="1" lang="en-US" altLang="zh-CN" sz="1300" dirty="0" err="1">
                <a:solidFill>
                  <a:schemeClr val="bg2"/>
                </a:solidFill>
                <a:latin typeface="Source Sans Pro" panose="020B0503030403020204" pitchFamily="34" charset="0"/>
                <a:ea typeface="Source Sans Pro" panose="020B0503030403020204" pitchFamily="34" charset="0"/>
              </a:rPr>
              <a:t>object.__ne</a:t>
            </a:r>
            <a:r>
              <a:rPr kumimoji="1" lang="en-US" altLang="zh-CN" sz="1300" dirty="0">
                <a:solidFill>
                  <a:schemeClr val="bg2"/>
                </a:solidFill>
                <a:latin typeface="Source Sans Pro" panose="020B0503030403020204" pitchFamily="34" charset="0"/>
                <a:ea typeface="Source Sans Pro" panose="020B0503030403020204" pitchFamily="34" charset="0"/>
              </a:rPr>
              <a:t>__(self, other) # x!=y            not equal</a:t>
            </a:r>
            <a:endParaRPr kumimoji="1" lang="en-US" altLang="zh-CN" sz="1300" dirty="0">
              <a:solidFill>
                <a:schemeClr val="bg2"/>
              </a:solidFill>
              <a:latin typeface="Source Sans Pro" panose="020B0503030403020204" pitchFamily="34" charset="0"/>
              <a:ea typeface="Source Sans Pro" panose="020B0503030403020204" pitchFamily="34" charset="0"/>
            </a:endParaRPr>
          </a:p>
          <a:p>
            <a:pPr lvl="1"/>
            <a:r>
              <a:rPr kumimoji="1" lang="en-US" altLang="zh-CN" sz="1300" dirty="0">
                <a:solidFill>
                  <a:schemeClr val="bg2"/>
                </a:solidFill>
                <a:latin typeface="Source Sans Pro" panose="020B0503030403020204" pitchFamily="34" charset="0"/>
                <a:ea typeface="Source Sans Pro" panose="020B0503030403020204" pitchFamily="34" charset="0"/>
              </a:rPr>
              <a:t>object.__</a:t>
            </a:r>
            <a:r>
              <a:rPr kumimoji="1" lang="en-US" altLang="zh-CN" sz="1300" dirty="0" err="1">
                <a:solidFill>
                  <a:schemeClr val="bg2"/>
                </a:solidFill>
                <a:latin typeface="Source Sans Pro" panose="020B0503030403020204" pitchFamily="34" charset="0"/>
                <a:ea typeface="Source Sans Pro" panose="020B0503030403020204" pitchFamily="34" charset="0"/>
              </a:rPr>
              <a:t>gt</a:t>
            </a:r>
            <a:r>
              <a:rPr kumimoji="1" lang="en-US" altLang="zh-CN" sz="1300" dirty="0">
                <a:solidFill>
                  <a:schemeClr val="bg2"/>
                </a:solidFill>
                <a:latin typeface="Source Sans Pro" panose="020B0503030403020204" pitchFamily="34" charset="0"/>
                <a:ea typeface="Source Sans Pro" panose="020B0503030403020204" pitchFamily="34" charset="0"/>
              </a:rPr>
              <a:t>__(self, other)  # x&gt;y             greater than</a:t>
            </a:r>
            <a:endParaRPr kumimoji="1" lang="en-US" altLang="zh-CN" sz="1300" dirty="0">
              <a:solidFill>
                <a:schemeClr val="bg2"/>
              </a:solidFill>
              <a:latin typeface="Source Sans Pro" panose="020B0503030403020204" pitchFamily="34" charset="0"/>
              <a:ea typeface="Source Sans Pro" panose="020B0503030403020204" pitchFamily="34" charset="0"/>
            </a:endParaRPr>
          </a:p>
          <a:p>
            <a:pPr lvl="1"/>
            <a:r>
              <a:rPr kumimoji="1" lang="en-US" altLang="zh-CN" sz="1300" dirty="0">
                <a:solidFill>
                  <a:schemeClr val="bg2"/>
                </a:solidFill>
                <a:latin typeface="Source Sans Pro" panose="020B0503030403020204" pitchFamily="34" charset="0"/>
                <a:ea typeface="Source Sans Pro" panose="020B0503030403020204" pitchFamily="34" charset="0"/>
              </a:rPr>
              <a:t>object.__</a:t>
            </a:r>
            <a:r>
              <a:rPr kumimoji="1" lang="en-US" altLang="zh-CN" sz="1300" dirty="0" err="1">
                <a:solidFill>
                  <a:schemeClr val="bg2"/>
                </a:solidFill>
                <a:latin typeface="Source Sans Pro" panose="020B0503030403020204" pitchFamily="34" charset="0"/>
                <a:ea typeface="Source Sans Pro" panose="020B0503030403020204" pitchFamily="34" charset="0"/>
              </a:rPr>
              <a:t>ge</a:t>
            </a:r>
            <a:r>
              <a:rPr kumimoji="1" lang="en-US" altLang="zh-CN" sz="1300" dirty="0">
                <a:solidFill>
                  <a:schemeClr val="bg2"/>
                </a:solidFill>
                <a:latin typeface="Source Sans Pro" panose="020B0503030403020204" pitchFamily="34" charset="0"/>
                <a:ea typeface="Source Sans Pro" panose="020B0503030403020204" pitchFamily="34" charset="0"/>
              </a:rPr>
              <a:t>__(self, other) # x&gt;=y           greater equal</a:t>
            </a:r>
            <a:endParaRPr kumimoji="1" lang="en-US" altLang="zh-CN" sz="1300" dirty="0">
              <a:solidFill>
                <a:schemeClr val="bg2"/>
              </a:solidFill>
              <a:latin typeface="Source Sans Pro" panose="020B0503030403020204" pitchFamily="34" charset="0"/>
              <a:ea typeface="Source Sans Pro" panose="020B0503030403020204" pitchFamily="34" charset="0"/>
            </a:endParaRPr>
          </a:p>
          <a:p>
            <a:r>
              <a:rPr kumimoji="1" lang="en-US" altLang="zh-CN" sz="1500" dirty="0">
                <a:solidFill>
                  <a:schemeClr val="bg2"/>
                </a:solidFill>
                <a:latin typeface="Source Sans Pro" panose="020B0503030403020204" pitchFamily="34" charset="0"/>
                <a:ea typeface="Source Sans Pro" panose="020B0503030403020204" pitchFamily="34" charset="0"/>
              </a:rPr>
              <a:t>These are the so-called “rich comparison” methods. The correspondence between operator symbols and method names is as follows: </a:t>
            </a:r>
            <a:endParaRPr kumimoji="1" lang="en-US" altLang="zh-CN" sz="1500" dirty="0">
              <a:solidFill>
                <a:schemeClr val="bg2"/>
              </a:solidFill>
              <a:latin typeface="Source Sans Pro" panose="020B0503030403020204" pitchFamily="34" charset="0"/>
              <a:ea typeface="Source Sans Pro" panose="020B0503030403020204" pitchFamily="34" charset="0"/>
            </a:endParaRPr>
          </a:p>
          <a:p>
            <a:pPr lvl="1"/>
            <a:r>
              <a:rPr kumimoji="1" lang="en-US" altLang="zh-CN" sz="1300" dirty="0">
                <a:solidFill>
                  <a:schemeClr val="bg2"/>
                </a:solidFill>
                <a:latin typeface="Source Sans Pro" panose="020B0503030403020204" pitchFamily="34" charset="0"/>
                <a:ea typeface="Source Sans Pro" panose="020B0503030403020204" pitchFamily="34" charset="0"/>
              </a:rPr>
              <a:t>x&lt;y calls x.__</a:t>
            </a:r>
            <a:r>
              <a:rPr kumimoji="1" lang="en-US" altLang="zh-CN" sz="1300" dirty="0" err="1">
                <a:solidFill>
                  <a:schemeClr val="bg2"/>
                </a:solidFill>
                <a:latin typeface="Source Sans Pro" panose="020B0503030403020204" pitchFamily="34" charset="0"/>
                <a:ea typeface="Source Sans Pro" panose="020B0503030403020204" pitchFamily="34" charset="0"/>
              </a:rPr>
              <a:t>lt</a:t>
            </a:r>
            <a:r>
              <a:rPr kumimoji="1" lang="en-US" altLang="zh-CN" sz="1300" dirty="0">
                <a:solidFill>
                  <a:schemeClr val="bg2"/>
                </a:solidFill>
                <a:latin typeface="Source Sans Pro" panose="020B0503030403020204" pitchFamily="34" charset="0"/>
                <a:ea typeface="Source Sans Pro" panose="020B0503030403020204" pitchFamily="34" charset="0"/>
              </a:rPr>
              <a:t>__(y),  </a:t>
            </a:r>
            <a:endParaRPr kumimoji="1" lang="en-US" altLang="zh-CN" sz="1300" dirty="0">
              <a:solidFill>
                <a:schemeClr val="bg2"/>
              </a:solidFill>
              <a:latin typeface="Source Sans Pro" panose="020B0503030403020204" pitchFamily="34" charset="0"/>
              <a:ea typeface="Source Sans Pro" panose="020B0503030403020204" pitchFamily="34" charset="0"/>
            </a:endParaRPr>
          </a:p>
          <a:p>
            <a:pPr lvl="1"/>
            <a:r>
              <a:rPr kumimoji="1" lang="en-US" altLang="zh-CN" sz="1300" dirty="0">
                <a:solidFill>
                  <a:schemeClr val="bg2"/>
                </a:solidFill>
                <a:latin typeface="Source Sans Pro" panose="020B0503030403020204" pitchFamily="34" charset="0"/>
                <a:ea typeface="Source Sans Pro" panose="020B0503030403020204" pitchFamily="34" charset="0"/>
              </a:rPr>
              <a:t>x&lt;=y calls </a:t>
            </a:r>
            <a:r>
              <a:rPr kumimoji="1" lang="en-US" altLang="zh-CN" sz="1300" dirty="0" err="1">
                <a:solidFill>
                  <a:schemeClr val="bg2"/>
                </a:solidFill>
                <a:latin typeface="Source Sans Pro" panose="020B0503030403020204" pitchFamily="34" charset="0"/>
                <a:ea typeface="Source Sans Pro" panose="020B0503030403020204" pitchFamily="34" charset="0"/>
              </a:rPr>
              <a:t>x.__le</a:t>
            </a:r>
            <a:r>
              <a:rPr kumimoji="1" lang="en-US" altLang="zh-CN" sz="1300" dirty="0">
                <a:solidFill>
                  <a:schemeClr val="bg2"/>
                </a:solidFill>
                <a:latin typeface="Source Sans Pro" panose="020B0503030403020204" pitchFamily="34" charset="0"/>
                <a:ea typeface="Source Sans Pro" panose="020B0503030403020204" pitchFamily="34" charset="0"/>
              </a:rPr>
              <a:t>__(y), </a:t>
            </a:r>
            <a:endParaRPr kumimoji="1" lang="en-US" altLang="zh-CN" sz="1300" dirty="0">
              <a:solidFill>
                <a:schemeClr val="bg2"/>
              </a:solidFill>
              <a:latin typeface="Source Sans Pro" panose="020B0503030403020204" pitchFamily="34" charset="0"/>
              <a:ea typeface="Source Sans Pro" panose="020B0503030403020204" pitchFamily="34" charset="0"/>
            </a:endParaRPr>
          </a:p>
          <a:p>
            <a:pPr lvl="1"/>
            <a:r>
              <a:rPr kumimoji="1" lang="en-US" altLang="zh-CN" sz="1300" dirty="0">
                <a:solidFill>
                  <a:schemeClr val="bg2"/>
                </a:solidFill>
                <a:latin typeface="Source Sans Pro" panose="020B0503030403020204" pitchFamily="34" charset="0"/>
                <a:ea typeface="Source Sans Pro" panose="020B0503030403020204" pitchFamily="34" charset="0"/>
              </a:rPr>
              <a:t>x==y calls </a:t>
            </a:r>
            <a:r>
              <a:rPr kumimoji="1" lang="en-US" altLang="zh-CN" sz="1300" dirty="0" err="1">
                <a:solidFill>
                  <a:schemeClr val="bg2"/>
                </a:solidFill>
                <a:latin typeface="Source Sans Pro" panose="020B0503030403020204" pitchFamily="34" charset="0"/>
                <a:ea typeface="Source Sans Pro" panose="020B0503030403020204" pitchFamily="34" charset="0"/>
              </a:rPr>
              <a:t>x.__eq</a:t>
            </a:r>
            <a:r>
              <a:rPr kumimoji="1" lang="en-US" altLang="zh-CN" sz="1300" dirty="0">
                <a:solidFill>
                  <a:schemeClr val="bg2"/>
                </a:solidFill>
                <a:latin typeface="Source Sans Pro" panose="020B0503030403020204" pitchFamily="34" charset="0"/>
                <a:ea typeface="Source Sans Pro" panose="020B0503030403020204" pitchFamily="34" charset="0"/>
              </a:rPr>
              <a:t>__(y), </a:t>
            </a:r>
            <a:endParaRPr kumimoji="1" lang="en-US" altLang="zh-CN" sz="1300" dirty="0">
              <a:solidFill>
                <a:schemeClr val="bg2"/>
              </a:solidFill>
              <a:latin typeface="Source Sans Pro" panose="020B0503030403020204" pitchFamily="34" charset="0"/>
              <a:ea typeface="Source Sans Pro" panose="020B0503030403020204" pitchFamily="34" charset="0"/>
            </a:endParaRPr>
          </a:p>
          <a:p>
            <a:pPr lvl="1"/>
            <a:r>
              <a:rPr kumimoji="1" lang="en-US" altLang="zh-CN" sz="1300" dirty="0">
                <a:solidFill>
                  <a:schemeClr val="bg2"/>
                </a:solidFill>
                <a:latin typeface="Source Sans Pro" panose="020B0503030403020204" pitchFamily="34" charset="0"/>
                <a:ea typeface="Source Sans Pro" panose="020B0503030403020204" pitchFamily="34" charset="0"/>
              </a:rPr>
              <a:t>x!=y calls </a:t>
            </a:r>
            <a:r>
              <a:rPr kumimoji="1" lang="en-US" altLang="zh-CN" sz="1300" dirty="0" err="1">
                <a:solidFill>
                  <a:schemeClr val="bg2"/>
                </a:solidFill>
                <a:latin typeface="Source Sans Pro" panose="020B0503030403020204" pitchFamily="34" charset="0"/>
                <a:ea typeface="Source Sans Pro" panose="020B0503030403020204" pitchFamily="34" charset="0"/>
              </a:rPr>
              <a:t>x.__ne</a:t>
            </a:r>
            <a:r>
              <a:rPr kumimoji="1" lang="en-US" altLang="zh-CN" sz="1300" dirty="0">
                <a:solidFill>
                  <a:schemeClr val="bg2"/>
                </a:solidFill>
                <a:latin typeface="Source Sans Pro" panose="020B0503030403020204" pitchFamily="34" charset="0"/>
                <a:ea typeface="Source Sans Pro" panose="020B0503030403020204" pitchFamily="34" charset="0"/>
              </a:rPr>
              <a:t>__(y), </a:t>
            </a:r>
            <a:endParaRPr kumimoji="1" lang="en-US" altLang="zh-CN" sz="1300" dirty="0">
              <a:solidFill>
                <a:schemeClr val="bg2"/>
              </a:solidFill>
              <a:latin typeface="Source Sans Pro" panose="020B0503030403020204" pitchFamily="34" charset="0"/>
              <a:ea typeface="Source Sans Pro" panose="020B0503030403020204" pitchFamily="34" charset="0"/>
            </a:endParaRPr>
          </a:p>
          <a:p>
            <a:pPr lvl="1"/>
            <a:r>
              <a:rPr kumimoji="1" lang="en-US" altLang="zh-CN" sz="1300" dirty="0">
                <a:solidFill>
                  <a:schemeClr val="bg2"/>
                </a:solidFill>
                <a:latin typeface="Source Sans Pro" panose="020B0503030403020204" pitchFamily="34" charset="0"/>
                <a:ea typeface="Source Sans Pro" panose="020B0503030403020204" pitchFamily="34" charset="0"/>
              </a:rPr>
              <a:t>x&gt;y calls x.__</a:t>
            </a:r>
            <a:r>
              <a:rPr kumimoji="1" lang="en-US" altLang="zh-CN" sz="1300" dirty="0" err="1">
                <a:solidFill>
                  <a:schemeClr val="bg2"/>
                </a:solidFill>
                <a:latin typeface="Source Sans Pro" panose="020B0503030403020204" pitchFamily="34" charset="0"/>
                <a:ea typeface="Source Sans Pro" panose="020B0503030403020204" pitchFamily="34" charset="0"/>
              </a:rPr>
              <a:t>gt</a:t>
            </a:r>
            <a:r>
              <a:rPr kumimoji="1" lang="en-US" altLang="zh-CN" sz="1300" dirty="0">
                <a:solidFill>
                  <a:schemeClr val="bg2"/>
                </a:solidFill>
                <a:latin typeface="Source Sans Pro" panose="020B0503030403020204" pitchFamily="34" charset="0"/>
                <a:ea typeface="Source Sans Pro" panose="020B0503030403020204" pitchFamily="34" charset="0"/>
              </a:rPr>
              <a:t>__(y),  </a:t>
            </a:r>
            <a:endParaRPr kumimoji="1" lang="en-US" altLang="zh-CN" sz="1300" dirty="0">
              <a:solidFill>
                <a:schemeClr val="bg2"/>
              </a:solidFill>
              <a:latin typeface="Source Sans Pro" panose="020B0503030403020204" pitchFamily="34" charset="0"/>
              <a:ea typeface="Source Sans Pro" panose="020B0503030403020204" pitchFamily="34" charset="0"/>
            </a:endParaRPr>
          </a:p>
          <a:p>
            <a:pPr lvl="1"/>
            <a:r>
              <a:rPr kumimoji="1" lang="en-US" altLang="zh-CN" sz="1300" dirty="0">
                <a:solidFill>
                  <a:schemeClr val="bg2"/>
                </a:solidFill>
                <a:latin typeface="Source Sans Pro" panose="020B0503030403020204" pitchFamily="34" charset="0"/>
                <a:ea typeface="Source Sans Pro" panose="020B0503030403020204" pitchFamily="34" charset="0"/>
              </a:rPr>
              <a:t>x&gt;=y calls x.__</a:t>
            </a:r>
            <a:r>
              <a:rPr kumimoji="1" lang="en-US" altLang="zh-CN" sz="1300" dirty="0" err="1">
                <a:solidFill>
                  <a:schemeClr val="bg2"/>
                </a:solidFill>
                <a:latin typeface="Source Sans Pro" panose="020B0503030403020204" pitchFamily="34" charset="0"/>
                <a:ea typeface="Source Sans Pro" panose="020B0503030403020204" pitchFamily="34" charset="0"/>
              </a:rPr>
              <a:t>ge</a:t>
            </a:r>
            <a:r>
              <a:rPr kumimoji="1" lang="en-US" altLang="zh-CN" sz="1300" dirty="0">
                <a:solidFill>
                  <a:schemeClr val="bg2"/>
                </a:solidFill>
                <a:latin typeface="Source Sans Pro" panose="020B0503030403020204" pitchFamily="34" charset="0"/>
                <a:ea typeface="Source Sans Pro" panose="020B0503030403020204" pitchFamily="34" charset="0"/>
              </a:rPr>
              <a:t>__(y)</a:t>
            </a:r>
            <a:endParaRPr kumimoji="1" lang="en-US" altLang="zh-CN" sz="1300" dirty="0">
              <a:solidFill>
                <a:schemeClr val="bg2"/>
              </a:solidFill>
              <a:latin typeface="Source Sans Pro" panose="020B0503030403020204" pitchFamily="34" charset="0"/>
              <a:ea typeface="Source Sans Pro" panose="020B0503030403020204" pitchFamily="34" charset="0"/>
            </a:endParaRPr>
          </a:p>
        </p:txBody>
      </p:sp>
      <p:sp>
        <p:nvSpPr>
          <p:cNvPr id="6" name="TextBox 5"/>
          <p:cNvSpPr txBox="1"/>
          <p:nvPr/>
        </p:nvSpPr>
        <p:spPr>
          <a:xfrm>
            <a:off x="34685" y="4881729"/>
            <a:ext cx="4572000" cy="246221"/>
          </a:xfrm>
          <a:prstGeom prst="rect">
            <a:avLst/>
          </a:prstGeom>
          <a:noFill/>
        </p:spPr>
        <p:txBody>
          <a:bodyPr wrap="square">
            <a:spAutoFit/>
          </a:bodyPr>
          <a:lstStyle/>
          <a:p>
            <a:pPr marL="228600" lvl="1" indent="-228600">
              <a:buFont typeface="+mj-lt"/>
              <a:buAutoNum type="arabicPeriod"/>
            </a:pPr>
            <a:r>
              <a:rPr kumimoji="1" lang="en-GB" altLang="zh-CN" sz="1000" dirty="0">
                <a:solidFill>
                  <a:schemeClr val="bg2"/>
                </a:solidFill>
                <a:uFill>
                  <a:solidFill>
                    <a:srgbClr val="C00000"/>
                  </a:solidFill>
                </a:uFill>
                <a:latin typeface="Source Sans Pro" panose="020B0503030403020204" pitchFamily="34" charset="0"/>
                <a:ea typeface="Source Sans Pro" panose="020B0503030403020204" pitchFamily="34" charset="0"/>
              </a:rPr>
              <a:t>https://docs.python.org/3/reference/datamodel.html</a:t>
            </a:r>
            <a:endParaRPr kumimoji="1" lang="en-GB" altLang="zh-CN" sz="1000" dirty="0">
              <a:solidFill>
                <a:schemeClr val="bg2"/>
              </a:solidFill>
              <a:uFill>
                <a:solidFill>
                  <a:srgbClr val="C00000"/>
                </a:solidFill>
              </a:uFill>
              <a:latin typeface="Source Sans Pro" panose="020B0503030403020204" pitchFamily="34" charset="0"/>
              <a:ea typeface="Source Sans Pro" panose="020B050303040302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a:t>Triangle: overloading object</a:t>
            </a:r>
            <a:endParaRPr kumimoji="1" lang="zh-CN" altLang="en-US" dirty="0"/>
          </a:p>
        </p:txBody>
      </p:sp>
      <p:pic>
        <p:nvPicPr>
          <p:cNvPr id="7" name="图片 6"/>
          <p:cNvPicPr>
            <a:picLocks noChangeAspect="1"/>
          </p:cNvPicPr>
          <p:nvPr/>
        </p:nvPicPr>
        <p:blipFill>
          <a:blip r:embed="rId1"/>
          <a:stretch>
            <a:fillRect/>
          </a:stretch>
        </p:blipFill>
        <p:spPr>
          <a:xfrm>
            <a:off x="183242" y="1068425"/>
            <a:ext cx="4869182" cy="3649957"/>
          </a:xfrm>
          <a:prstGeom prst="rect">
            <a:avLst/>
          </a:prstGeom>
        </p:spPr>
      </p:pic>
      <p:pic>
        <p:nvPicPr>
          <p:cNvPr id="9" name="图片 8"/>
          <p:cNvPicPr>
            <a:picLocks noChangeAspect="1"/>
          </p:cNvPicPr>
          <p:nvPr/>
        </p:nvPicPr>
        <p:blipFill>
          <a:blip r:embed="rId2"/>
          <a:stretch>
            <a:fillRect/>
          </a:stretch>
        </p:blipFill>
        <p:spPr>
          <a:xfrm>
            <a:off x="5249993" y="1068425"/>
            <a:ext cx="3798948" cy="2223415"/>
          </a:xfrm>
          <a:prstGeom prst="rect">
            <a:avLst/>
          </a:prstGeom>
        </p:spPr>
      </p:pic>
      <p:pic>
        <p:nvPicPr>
          <p:cNvPr id="3" name="Picture 2"/>
          <p:cNvPicPr>
            <a:picLocks noChangeAspect="1"/>
          </p:cNvPicPr>
          <p:nvPr/>
        </p:nvPicPr>
        <p:blipFill>
          <a:blip r:embed="rId3"/>
          <a:stretch>
            <a:fillRect/>
          </a:stretch>
        </p:blipFill>
        <p:spPr>
          <a:xfrm>
            <a:off x="5249993" y="3934831"/>
            <a:ext cx="2077819" cy="763644"/>
          </a:xfrm>
          <a:prstGeom prst="rect">
            <a:avLst/>
          </a:prstGeom>
        </p:spPr>
      </p:pic>
      <p:sp>
        <p:nvSpPr>
          <p:cNvPr id="4" name="Rectangle 1"/>
          <p:cNvSpPr/>
          <p:nvPr/>
        </p:nvSpPr>
        <p:spPr>
          <a:xfrm>
            <a:off x="7461703" y="4264123"/>
            <a:ext cx="1587238" cy="434352"/>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tx1"/>
              </a:buClr>
            </a:pPr>
            <a:r>
              <a:rPr lang="zh-CN" altLang="en-US" sz="1200" dirty="0">
                <a:solidFill>
                  <a:schemeClr val="bg2"/>
                </a:solidFill>
                <a:latin typeface="黑体" panose="02010609060101010101" pitchFamily="49" charset="-122"/>
                <a:ea typeface="黑体" panose="02010609060101010101" pitchFamily="49" charset="-122"/>
              </a:rPr>
              <a:t>此处的大小关系是自定义的</a:t>
            </a:r>
            <a:endParaRPr lang="zh-CN" altLang="en-US" sz="1200" dirty="0">
              <a:solidFill>
                <a:schemeClr val="bg2"/>
              </a:solidFill>
              <a:latin typeface="黑体" panose="02010609060101010101" pitchFamily="49" charset="-122"/>
              <a:ea typeface="黑体" panose="02010609060101010101" pitchFamily="49" charset="-122"/>
            </a:endParaRPr>
          </a:p>
        </p:txBody>
      </p:sp>
      <p:sp>
        <p:nvSpPr>
          <p:cNvPr id="5" name="TextBox 4"/>
          <p:cNvSpPr txBox="1"/>
          <p:nvPr/>
        </p:nvSpPr>
        <p:spPr>
          <a:xfrm>
            <a:off x="8275972" y="618225"/>
            <a:ext cx="772969" cy="276999"/>
          </a:xfrm>
          <a:prstGeom prst="rect">
            <a:avLst/>
          </a:prstGeom>
          <a:noFill/>
        </p:spPr>
        <p:txBody>
          <a:bodyPr wrap="none" rtlCol="0">
            <a:spAutoFit/>
          </a:bodyPr>
          <a:lstStyle/>
          <a:p>
            <a:r>
              <a:rPr lang="en-US" sz="1200" dirty="0"/>
              <a:t>See P23</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a:t>[]: __</a:t>
            </a:r>
            <a:r>
              <a:rPr kumimoji="1" lang="en-GB" altLang="zh-CN" dirty="0" err="1"/>
              <a:t>getitem</a:t>
            </a:r>
            <a:r>
              <a:rPr kumimoji="1" lang="en-GB" altLang="zh-CN" dirty="0"/>
              <a:t>__, __</a:t>
            </a:r>
            <a:r>
              <a:rPr kumimoji="1" lang="en-GB" altLang="zh-CN" dirty="0" err="1"/>
              <a:t>setitem</a:t>
            </a:r>
            <a:r>
              <a:rPr kumimoji="1" lang="en-GB" altLang="zh-CN" dirty="0"/>
              <a:t>__</a:t>
            </a:r>
            <a:endParaRPr kumimoji="1" lang="zh-CN" altLang="en-US" dirty="0"/>
          </a:p>
        </p:txBody>
      </p:sp>
      <p:sp>
        <p:nvSpPr>
          <p:cNvPr id="3" name="文本占位符 2"/>
          <p:cNvSpPr>
            <a:spLocks noGrp="1"/>
          </p:cNvSpPr>
          <p:nvPr>
            <p:ph type="body" idx="1"/>
          </p:nvPr>
        </p:nvSpPr>
        <p:spPr>
          <a:xfrm>
            <a:off x="311700" y="1152475"/>
            <a:ext cx="8520600" cy="849580"/>
          </a:xfrm>
        </p:spPr>
        <p:txBody>
          <a:bodyPr>
            <a:normAutofit/>
          </a:bodyPr>
          <a:lstStyle/>
          <a:p>
            <a:pPr marL="114300" indent="0">
              <a:buNone/>
            </a:pPr>
            <a:r>
              <a:rPr kumimoji="1" lang="en-US" altLang="zh-CN" sz="1400" dirty="0">
                <a:solidFill>
                  <a:schemeClr val="bg2"/>
                </a:solidFill>
              </a:rPr>
              <a:t>To</a:t>
            </a:r>
            <a:r>
              <a:rPr kumimoji="1" lang="zh-CN" altLang="en-US" sz="1400" dirty="0">
                <a:solidFill>
                  <a:schemeClr val="bg2"/>
                </a:solidFill>
              </a:rPr>
              <a:t> </a:t>
            </a:r>
            <a:r>
              <a:rPr kumimoji="1" lang="en-GB" altLang="zh-CN" sz="1400" dirty="0">
                <a:solidFill>
                  <a:schemeClr val="bg2"/>
                </a:solidFill>
              </a:rPr>
              <a:t>access an element via its index</a:t>
            </a:r>
            <a:endParaRPr kumimoji="1" lang="en-GB" altLang="zh-CN" sz="1400" dirty="0">
              <a:solidFill>
                <a:schemeClr val="bg2"/>
              </a:solidFill>
            </a:endParaRPr>
          </a:p>
          <a:p>
            <a:r>
              <a:rPr kumimoji="1" lang="en-GB" altLang="zh-CN" sz="1200" dirty="0">
                <a:solidFill>
                  <a:schemeClr val="bg2"/>
                </a:solidFill>
              </a:rPr>
              <a:t>__</a:t>
            </a:r>
            <a:r>
              <a:rPr kumimoji="1" lang="en-GB" altLang="zh-CN" sz="1200" dirty="0" err="1">
                <a:solidFill>
                  <a:schemeClr val="bg2"/>
                </a:solidFill>
              </a:rPr>
              <a:t>getitem</a:t>
            </a:r>
            <a:r>
              <a:rPr kumimoji="1" lang="en-GB" altLang="zh-CN" sz="1200" dirty="0">
                <a:solidFill>
                  <a:schemeClr val="bg2"/>
                </a:solidFill>
              </a:rPr>
              <a:t>__(self, index)</a:t>
            </a:r>
            <a:endParaRPr kumimoji="1" lang="en-GB" altLang="zh-CN" sz="1200" dirty="0">
              <a:solidFill>
                <a:schemeClr val="bg2"/>
              </a:solidFill>
            </a:endParaRPr>
          </a:p>
          <a:p>
            <a:r>
              <a:rPr kumimoji="1" lang="en-GB" altLang="zh-CN" sz="1200" dirty="0">
                <a:solidFill>
                  <a:schemeClr val="bg2"/>
                </a:solidFill>
              </a:rPr>
              <a:t>__</a:t>
            </a:r>
            <a:r>
              <a:rPr kumimoji="1" lang="en-GB" altLang="zh-CN" sz="1200" dirty="0" err="1">
                <a:solidFill>
                  <a:schemeClr val="bg2"/>
                </a:solidFill>
              </a:rPr>
              <a:t>setitem</a:t>
            </a:r>
            <a:r>
              <a:rPr kumimoji="1" lang="en-GB" altLang="zh-CN" sz="1200" dirty="0">
                <a:solidFill>
                  <a:schemeClr val="bg2"/>
                </a:solidFill>
              </a:rPr>
              <a:t>__(self, index, value) </a:t>
            </a:r>
            <a:endParaRPr kumimoji="1" lang="en-GB" altLang="zh-CN" sz="1200" dirty="0">
              <a:solidFill>
                <a:schemeClr val="bg2"/>
              </a:solidFill>
            </a:endParaRPr>
          </a:p>
        </p:txBody>
      </p:sp>
      <p:pic>
        <p:nvPicPr>
          <p:cNvPr id="7" name="图片 6"/>
          <p:cNvPicPr>
            <a:picLocks noChangeAspect="1"/>
          </p:cNvPicPr>
          <p:nvPr/>
        </p:nvPicPr>
        <p:blipFill>
          <a:blip r:embed="rId1"/>
          <a:stretch>
            <a:fillRect/>
          </a:stretch>
        </p:blipFill>
        <p:spPr>
          <a:xfrm>
            <a:off x="3273159" y="1259603"/>
            <a:ext cx="3996199" cy="3529111"/>
          </a:xfrm>
          <a:prstGeom prst="rect">
            <a:avLst/>
          </a:prstGeom>
        </p:spPr>
      </p:pic>
      <p:pic>
        <p:nvPicPr>
          <p:cNvPr id="9" name="图片 8"/>
          <p:cNvPicPr>
            <a:picLocks noChangeAspect="1"/>
          </p:cNvPicPr>
          <p:nvPr/>
        </p:nvPicPr>
        <p:blipFill>
          <a:blip r:embed="rId2"/>
          <a:stretch>
            <a:fillRect/>
          </a:stretch>
        </p:blipFill>
        <p:spPr>
          <a:xfrm>
            <a:off x="7448613" y="3991025"/>
            <a:ext cx="1459361" cy="794064"/>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US" altLang="zh-CN" dirty="0"/>
              <a:t>+, +=</a:t>
            </a:r>
            <a:br>
              <a:rPr kumimoji="1" lang="en-US" altLang="zh-CN" dirty="0"/>
            </a:br>
            <a:br>
              <a:rPr kumimoji="1" lang="en-US" altLang="zh-CN" dirty="0"/>
            </a:br>
            <a:endParaRPr kumimoji="1" lang="zh-CN" altLang="en-US" dirty="0"/>
          </a:p>
        </p:txBody>
      </p:sp>
      <p:pic>
        <p:nvPicPr>
          <p:cNvPr id="5"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792127" y="2571750"/>
            <a:ext cx="964807" cy="404439"/>
          </a:xfrm>
          <a:prstGeom prst="rect">
            <a:avLst/>
          </a:prstGeom>
        </p:spPr>
      </p:pic>
      <p:sp>
        <p:nvSpPr>
          <p:cNvPr id="3" name="文本框 2"/>
          <p:cNvSpPr txBox="1"/>
          <p:nvPr/>
        </p:nvSpPr>
        <p:spPr>
          <a:xfrm>
            <a:off x="5792127" y="3157290"/>
            <a:ext cx="1646605" cy="738664"/>
          </a:xfrm>
          <a:prstGeom prst="rect">
            <a:avLst/>
          </a:prstGeom>
          <a:noFill/>
        </p:spPr>
        <p:txBody>
          <a:bodyPr wrap="none" rtlCol="0">
            <a:spAutoFit/>
          </a:bodyPr>
          <a:lstStyle/>
          <a:p>
            <a:r>
              <a:rPr lang="en-US" altLang="zh-CN" dirty="0">
                <a:latin typeface="Source Sans Pro" panose="020B0503030403020204" pitchFamily="34" charset="0"/>
                <a:ea typeface="Source Sans Pro" panose="020B0503030403020204" pitchFamily="34" charset="0"/>
              </a:rPr>
              <a:t>__add__: y = x + 1 </a:t>
            </a:r>
            <a:endParaRPr lang="en-US" altLang="zh-CN" dirty="0">
              <a:latin typeface="Source Sans Pro" panose="020B0503030403020204" pitchFamily="34" charset="0"/>
              <a:ea typeface="Source Sans Pro" panose="020B0503030403020204" pitchFamily="34" charset="0"/>
            </a:endParaRPr>
          </a:p>
          <a:p>
            <a:r>
              <a:rPr lang="en-US" altLang="zh-CN" dirty="0">
                <a:latin typeface="Source Sans Pro" panose="020B0503030403020204" pitchFamily="34" charset="0"/>
                <a:ea typeface="Source Sans Pro" panose="020B0503030403020204" pitchFamily="34" charset="0"/>
              </a:rPr>
              <a:t>__</a:t>
            </a:r>
            <a:r>
              <a:rPr lang="en-US" altLang="zh-CN" dirty="0" err="1">
                <a:latin typeface="Source Sans Pro" panose="020B0503030403020204" pitchFamily="34" charset="0"/>
                <a:ea typeface="Source Sans Pro" panose="020B0503030403020204" pitchFamily="34" charset="0"/>
              </a:rPr>
              <a:t>radd</a:t>
            </a:r>
            <a:r>
              <a:rPr lang="en-US" altLang="zh-CN" dirty="0">
                <a:latin typeface="Source Sans Pro" panose="020B0503030403020204" pitchFamily="34" charset="0"/>
                <a:ea typeface="Source Sans Pro" panose="020B0503030403020204" pitchFamily="34" charset="0"/>
              </a:rPr>
              <a:t>__: z = -9 + x</a:t>
            </a:r>
            <a:endParaRPr lang="en-US" altLang="zh-CN" dirty="0">
              <a:latin typeface="Source Sans Pro" panose="020B0503030403020204" pitchFamily="34" charset="0"/>
              <a:ea typeface="Source Sans Pro" panose="020B0503030403020204" pitchFamily="34" charset="0"/>
            </a:endParaRPr>
          </a:p>
          <a:p>
            <a:r>
              <a:rPr lang="en-US" altLang="zh-CN" dirty="0">
                <a:latin typeface="Source Sans Pro" panose="020B0503030403020204" pitchFamily="34" charset="0"/>
                <a:ea typeface="Source Sans Pro" panose="020B0503030403020204" pitchFamily="34" charset="0"/>
              </a:rPr>
              <a:t>__</a:t>
            </a:r>
            <a:r>
              <a:rPr lang="en-US" altLang="zh-CN" dirty="0" err="1">
                <a:latin typeface="Source Sans Pro" panose="020B0503030403020204" pitchFamily="34" charset="0"/>
                <a:ea typeface="Source Sans Pro" panose="020B0503030403020204" pitchFamily="34" charset="0"/>
              </a:rPr>
              <a:t>iadd</a:t>
            </a:r>
            <a:r>
              <a:rPr lang="en-US" altLang="zh-CN" dirty="0">
                <a:latin typeface="Source Sans Pro" panose="020B0503030403020204" pitchFamily="34" charset="0"/>
                <a:ea typeface="Source Sans Pro" panose="020B0503030403020204" pitchFamily="34" charset="0"/>
              </a:rPr>
              <a:t>__: x += 100</a:t>
            </a:r>
            <a:endParaRPr lang="zh-CN" altLang="en-US" dirty="0">
              <a:latin typeface="Source Sans Pro" panose="020B0503030403020204" pitchFamily="34" charset="0"/>
            </a:endParaRPr>
          </a:p>
        </p:txBody>
      </p:sp>
      <p:pic>
        <p:nvPicPr>
          <p:cNvPr id="7" name="图片 6"/>
          <p:cNvPicPr>
            <a:picLocks noChangeAspect="1"/>
          </p:cNvPicPr>
          <p:nvPr/>
        </p:nvPicPr>
        <p:blipFill>
          <a:blip r:embed="rId2"/>
          <a:stretch>
            <a:fillRect/>
          </a:stretch>
        </p:blipFill>
        <p:spPr>
          <a:xfrm>
            <a:off x="427822" y="1004943"/>
            <a:ext cx="4367925" cy="4047117"/>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err="1"/>
              <a:t>repr</a:t>
            </a:r>
            <a:r>
              <a:rPr kumimoji="1" lang="en-GB" altLang="zh-CN" dirty="0"/>
              <a:t>(): __</a:t>
            </a:r>
            <a:r>
              <a:rPr kumimoji="1" lang="en-GB" altLang="zh-CN" dirty="0" err="1"/>
              <a:t>repr</a:t>
            </a:r>
            <a:r>
              <a:rPr kumimoji="1" lang="en-GB" altLang="zh-CN" dirty="0"/>
              <a:t>__(), __str__()</a:t>
            </a:r>
            <a:endParaRPr kumimoji="1" lang="zh-CN" altLang="en-US" dirty="0"/>
          </a:p>
        </p:txBody>
      </p:sp>
      <p:sp>
        <p:nvSpPr>
          <p:cNvPr id="3" name="文本占位符 2"/>
          <p:cNvSpPr>
            <a:spLocks noGrp="1"/>
          </p:cNvSpPr>
          <p:nvPr>
            <p:ph type="body" idx="1"/>
          </p:nvPr>
        </p:nvSpPr>
        <p:spPr>
          <a:xfrm>
            <a:off x="311699" y="1152476"/>
            <a:ext cx="4803226" cy="3467150"/>
          </a:xfrm>
        </p:spPr>
        <p:txBody>
          <a:bodyPr>
            <a:noAutofit/>
          </a:bodyPr>
          <a:lstStyle/>
          <a:p>
            <a:r>
              <a:rPr kumimoji="1" lang="en-GB" altLang="zh-CN" sz="1400" dirty="0">
                <a:solidFill>
                  <a:schemeClr val="bg2"/>
                </a:solidFill>
              </a:rPr>
              <a:t>__str__() inside class X will be used for print(x)</a:t>
            </a:r>
            <a:endParaRPr kumimoji="1" lang="en-GB" altLang="zh-CN" sz="1400" dirty="0">
              <a:solidFill>
                <a:schemeClr val="bg2"/>
              </a:solidFill>
            </a:endParaRPr>
          </a:p>
          <a:p>
            <a:r>
              <a:rPr kumimoji="1" lang="en-GB" altLang="zh-CN" sz="1400" dirty="0">
                <a:solidFill>
                  <a:schemeClr val="bg2"/>
                </a:solidFill>
              </a:rPr>
              <a:t>__</a:t>
            </a:r>
            <a:r>
              <a:rPr kumimoji="1" lang="en-GB" altLang="zh-CN" sz="1400" dirty="0" err="1">
                <a:solidFill>
                  <a:schemeClr val="bg2"/>
                </a:solidFill>
              </a:rPr>
              <a:t>repr</a:t>
            </a:r>
            <a:r>
              <a:rPr kumimoji="1" lang="en-GB" altLang="zh-CN" sz="1400" dirty="0">
                <a:solidFill>
                  <a:schemeClr val="bg2"/>
                </a:solidFill>
              </a:rPr>
              <a:t>(object)__: Called by the </a:t>
            </a:r>
            <a:r>
              <a:rPr kumimoji="1" lang="en-GB" altLang="zh-CN" sz="1400" dirty="0" err="1">
                <a:solidFill>
                  <a:schemeClr val="bg2"/>
                </a:solidFill>
              </a:rPr>
              <a:t>repr</a:t>
            </a:r>
            <a:r>
              <a:rPr kumimoji="1" lang="en-GB" altLang="zh-CN" sz="1400" dirty="0">
                <a:solidFill>
                  <a:schemeClr val="bg2"/>
                </a:solidFill>
              </a:rPr>
              <a:t>() built-in function and by string conversions (reverse quotes) to compute the “official” string representation of an object</a:t>
            </a:r>
            <a:endParaRPr kumimoji="1" lang="en-GB" altLang="zh-CN" sz="1400" dirty="0">
              <a:solidFill>
                <a:schemeClr val="bg2"/>
              </a:solidFill>
            </a:endParaRPr>
          </a:p>
          <a:p>
            <a:pPr lvl="1"/>
            <a:r>
              <a:rPr kumimoji="1" lang="en-GB" altLang="zh-CN" sz="1200" dirty="0">
                <a:solidFill>
                  <a:schemeClr val="bg2"/>
                </a:solidFill>
              </a:rPr>
              <a:t>This is typically used for debugging, so it is important that the representation is information-rich and unambiguous.</a:t>
            </a:r>
            <a:endParaRPr kumimoji="1" lang="en-GB" altLang="zh-CN" sz="1200" dirty="0">
              <a:solidFill>
                <a:schemeClr val="bg2"/>
              </a:solidFill>
            </a:endParaRPr>
          </a:p>
          <a:p>
            <a:pPr lvl="1"/>
            <a:r>
              <a:rPr kumimoji="1" lang="en-GB" altLang="zh-CN" sz="1200" dirty="0">
                <a:solidFill>
                  <a:schemeClr val="bg2"/>
                </a:solidFill>
              </a:rPr>
              <a:t>In short, the goal of __</a:t>
            </a:r>
            <a:r>
              <a:rPr kumimoji="1" lang="en-GB" altLang="zh-CN" sz="1200" dirty="0" err="1">
                <a:solidFill>
                  <a:schemeClr val="bg2"/>
                </a:solidFill>
              </a:rPr>
              <a:t>repr</a:t>
            </a:r>
            <a:r>
              <a:rPr kumimoji="1" lang="en-GB" altLang="zh-CN" sz="1200" dirty="0">
                <a:solidFill>
                  <a:schemeClr val="bg2"/>
                </a:solidFill>
              </a:rPr>
              <a:t>__ is to be unambiguous and __str__ is to be readable.</a:t>
            </a:r>
            <a:endParaRPr kumimoji="1" lang="en-GB" altLang="zh-CN" sz="1200" dirty="0">
              <a:solidFill>
                <a:schemeClr val="bg2"/>
              </a:solidFill>
            </a:endParaRPr>
          </a:p>
          <a:p>
            <a:r>
              <a:rPr kumimoji="1" lang="zh-CN" altLang="en-US" sz="1400" dirty="0">
                <a:solidFill>
                  <a:schemeClr val="bg2"/>
                </a:solidFill>
                <a:latin typeface="黑体" panose="02010609060101010101" pitchFamily="49" charset="-122"/>
                <a:ea typeface="黑体" panose="02010609060101010101" pitchFamily="49" charset="-122"/>
              </a:rPr>
              <a:t>如果没有定义</a:t>
            </a:r>
            <a:r>
              <a:rPr kumimoji="1" lang="en-US" altLang="zh-CN" sz="1400" dirty="0">
                <a:solidFill>
                  <a:schemeClr val="bg2"/>
                </a:solidFill>
              </a:rPr>
              <a:t>__</a:t>
            </a:r>
            <a:r>
              <a:rPr kumimoji="1" lang="en-GB" altLang="zh-CN" sz="1400" dirty="0">
                <a:solidFill>
                  <a:schemeClr val="bg2"/>
                </a:solidFill>
              </a:rPr>
              <a:t>str__, </a:t>
            </a:r>
            <a:r>
              <a:rPr kumimoji="1" lang="zh-CN" altLang="en-US" sz="1400" dirty="0">
                <a:solidFill>
                  <a:schemeClr val="bg2"/>
                </a:solidFill>
                <a:latin typeface="黑体" panose="02010609060101010101" pitchFamily="49" charset="-122"/>
                <a:ea typeface="黑体" panose="02010609060101010101" pitchFamily="49" charset="-122"/>
              </a:rPr>
              <a:t>将自动使用</a:t>
            </a:r>
            <a:r>
              <a:rPr kumimoji="1" lang="en-US" altLang="zh-CN" sz="1400" dirty="0">
                <a:solidFill>
                  <a:schemeClr val="bg2"/>
                </a:solidFill>
              </a:rPr>
              <a:t>__</a:t>
            </a:r>
            <a:r>
              <a:rPr kumimoji="1" lang="en-GB" altLang="zh-CN" sz="1400" dirty="0" err="1">
                <a:solidFill>
                  <a:schemeClr val="bg2"/>
                </a:solidFill>
              </a:rPr>
              <a:t>repr</a:t>
            </a:r>
            <a:r>
              <a:rPr kumimoji="1" lang="en-GB" altLang="zh-CN" sz="1400" dirty="0">
                <a:solidFill>
                  <a:schemeClr val="bg2"/>
                </a:solidFill>
              </a:rPr>
              <a:t>__</a:t>
            </a:r>
            <a:r>
              <a:rPr kumimoji="1" lang="zh-CN" altLang="en-GB" sz="1400" dirty="0">
                <a:solidFill>
                  <a:schemeClr val="bg2"/>
                </a:solidFill>
                <a:ea typeface="宋体" panose="02010600030101010101" pitchFamily="2" charset="-122"/>
              </a:rPr>
              <a:t>，如果有</a:t>
            </a:r>
            <a:r>
              <a:rPr kumimoji="1" lang="en-US" altLang="zh-CN" sz="1400" dirty="0">
                <a:solidFill>
                  <a:schemeClr val="bg2"/>
                </a:solidFill>
                <a:ea typeface="宋体" panose="02010600030101010101" pitchFamily="2" charset="-122"/>
              </a:rPr>
              <a:t>__str__</a:t>
            </a:r>
            <a:r>
              <a:rPr kumimoji="1" lang="zh-CN" altLang="en-US" sz="1400" dirty="0">
                <a:solidFill>
                  <a:schemeClr val="bg2"/>
                </a:solidFill>
                <a:ea typeface="宋体" panose="02010600030101010101" pitchFamily="2" charset="-122"/>
              </a:rPr>
              <a:t>，则默认</a:t>
            </a:r>
            <a:r>
              <a:rPr kumimoji="1" lang="zh-CN" altLang="en-US" sz="1400" dirty="0">
                <a:solidFill>
                  <a:schemeClr val="bg2"/>
                </a:solidFill>
                <a:ea typeface="宋体" panose="02010600030101010101" pitchFamily="2" charset="-122"/>
              </a:rPr>
              <a:t>情况下不使用</a:t>
            </a:r>
            <a:r>
              <a:rPr kumimoji="1" lang="en-US" altLang="zh-CN" sz="1400" dirty="0">
                <a:solidFill>
                  <a:schemeClr val="bg2"/>
                </a:solidFill>
                <a:ea typeface="宋体" panose="02010600030101010101" pitchFamily="2" charset="-122"/>
              </a:rPr>
              <a:t>__repr__</a:t>
            </a:r>
            <a:endParaRPr kumimoji="1" lang="en-GB" altLang="zh-CN" sz="1400" dirty="0">
              <a:solidFill>
                <a:schemeClr val="bg2"/>
              </a:solidFill>
            </a:endParaRPr>
          </a:p>
          <a:p>
            <a:r>
              <a:rPr kumimoji="1" lang="en-GB" altLang="zh-CN" sz="1400" dirty="0">
                <a:solidFill>
                  <a:schemeClr val="bg2"/>
                </a:solidFill>
              </a:rPr>
              <a:t>My rule of thumb: “__</a:t>
            </a:r>
            <a:r>
              <a:rPr kumimoji="1" lang="en-GB" altLang="zh-CN" sz="1400" dirty="0" err="1">
                <a:solidFill>
                  <a:schemeClr val="bg2"/>
                </a:solidFill>
              </a:rPr>
              <a:t>repr</a:t>
            </a:r>
            <a:r>
              <a:rPr kumimoji="1" lang="en-GB" altLang="zh-CN" sz="1400" dirty="0">
                <a:solidFill>
                  <a:schemeClr val="bg2"/>
                </a:solidFill>
              </a:rPr>
              <a:t>__ is for developers, __str__ is for customers.”</a:t>
            </a:r>
            <a:endParaRPr kumimoji="1" lang="en-GB" altLang="zh-CN" sz="1400" dirty="0">
              <a:solidFill>
                <a:schemeClr val="bg2"/>
              </a:solidFill>
            </a:endParaRPr>
          </a:p>
          <a:p>
            <a:pPr lvl="1"/>
            <a:r>
              <a:rPr kumimoji="1" lang="en-GB" altLang="zh-CN" sz="1200" dirty="0">
                <a:solidFill>
                  <a:schemeClr val="bg2"/>
                </a:solidFill>
              </a:rPr>
              <a:t>__</a:t>
            </a:r>
            <a:r>
              <a:rPr kumimoji="1" lang="en-GB" altLang="zh-CN" sz="1200" dirty="0" err="1">
                <a:solidFill>
                  <a:schemeClr val="bg2"/>
                </a:solidFill>
              </a:rPr>
              <a:t>repr</a:t>
            </a:r>
            <a:r>
              <a:rPr kumimoji="1" lang="en-GB" altLang="zh-CN" sz="1200" dirty="0">
                <a:solidFill>
                  <a:schemeClr val="bg2"/>
                </a:solidFill>
              </a:rPr>
              <a:t>__</a:t>
            </a:r>
            <a:r>
              <a:rPr kumimoji="1" lang="zh-CN" altLang="en-US" sz="1200" dirty="0">
                <a:solidFill>
                  <a:schemeClr val="bg2"/>
                </a:solidFill>
                <a:latin typeface="黑体" panose="02010609060101010101" pitchFamily="49" charset="-122"/>
                <a:ea typeface="黑体" panose="02010609060101010101" pitchFamily="49" charset="-122"/>
              </a:rPr>
              <a:t>比</a:t>
            </a:r>
            <a:r>
              <a:rPr kumimoji="1" lang="en-US" altLang="zh-CN" sz="1200" dirty="0">
                <a:solidFill>
                  <a:schemeClr val="bg2"/>
                </a:solidFill>
              </a:rPr>
              <a:t>__</a:t>
            </a:r>
            <a:r>
              <a:rPr kumimoji="1" lang="en-GB" altLang="zh-CN" sz="1200" dirty="0">
                <a:solidFill>
                  <a:schemeClr val="bg2"/>
                </a:solidFill>
              </a:rPr>
              <a:t>str__</a:t>
            </a:r>
            <a:r>
              <a:rPr kumimoji="1" lang="zh-CN" altLang="en-US" sz="1200" dirty="0">
                <a:solidFill>
                  <a:schemeClr val="bg2"/>
                </a:solidFill>
                <a:latin typeface="黑体" panose="02010609060101010101" pitchFamily="49" charset="-122"/>
                <a:ea typeface="黑体" panose="02010609060101010101" pitchFamily="49" charset="-122"/>
              </a:rPr>
              <a:t>包含更多的信息</a:t>
            </a:r>
            <a:endParaRPr kumimoji="1" lang="zh-CN" altLang="en-US" sz="1200" dirty="0">
              <a:solidFill>
                <a:schemeClr val="bg2"/>
              </a:solidFill>
              <a:latin typeface="黑体" panose="02010609060101010101" pitchFamily="49" charset="-122"/>
              <a:ea typeface="黑体" panose="02010609060101010101" pitchFamily="49" charset="-122"/>
            </a:endParaRPr>
          </a:p>
        </p:txBody>
      </p:sp>
      <p:sp>
        <p:nvSpPr>
          <p:cNvPr id="6" name="Rectangle 1"/>
          <p:cNvSpPr/>
          <p:nvPr/>
        </p:nvSpPr>
        <p:spPr>
          <a:xfrm>
            <a:off x="6349545" y="4008372"/>
            <a:ext cx="2310422" cy="300856"/>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tx1"/>
              </a:buClr>
            </a:pPr>
            <a:r>
              <a:rPr lang="en-GB" altLang="zh-CN" sz="1200" dirty="0" err="1">
                <a:solidFill>
                  <a:schemeClr val="bg2"/>
                </a:solidFill>
                <a:latin typeface="Source Sans Pro" panose="020B0503030403020204" pitchFamily="34" charset="0"/>
                <a:ea typeface="Source Sans Pro" panose="020B0503030403020204" pitchFamily="34" charset="0"/>
              </a:rPr>
              <a:t>Repr</a:t>
            </a:r>
            <a:r>
              <a:rPr lang="zh-CN" altLang="en-GB" sz="1200" dirty="0">
                <a:solidFill>
                  <a:schemeClr val="bg2"/>
                </a:solidFill>
                <a:latin typeface="Source Sans Pro" panose="020B0503030403020204" pitchFamily="34" charset="0"/>
                <a:ea typeface="Source Sans Pro" panose="020B0503030403020204" pitchFamily="34" charset="0"/>
              </a:rPr>
              <a:t>：</a:t>
            </a:r>
            <a:r>
              <a:rPr lang="en-GB" altLang="zh-CN" sz="1200" dirty="0">
                <a:solidFill>
                  <a:schemeClr val="bg2"/>
                </a:solidFill>
                <a:latin typeface="Source Sans Pro" panose="020B0503030403020204" pitchFamily="34" charset="0"/>
                <a:ea typeface="Source Sans Pro" panose="020B0503030403020204" pitchFamily="34" charset="0"/>
              </a:rPr>
              <a:t>reproduce,</a:t>
            </a:r>
            <a:r>
              <a:rPr lang="zh-CN" altLang="en-US" sz="1200" dirty="0">
                <a:solidFill>
                  <a:schemeClr val="bg2"/>
                </a:solidFill>
                <a:latin typeface="黑体" panose="02010609060101010101" pitchFamily="49" charset="-122"/>
                <a:ea typeface="黑体" panose="02010609060101010101" pitchFamily="49" charset="-122"/>
              </a:rPr>
              <a:t>包含更多信息</a:t>
            </a:r>
            <a:endParaRPr lang="zh-CN" altLang="en-US" sz="1200" dirty="0">
              <a:solidFill>
                <a:schemeClr val="bg2"/>
              </a:solidFill>
              <a:latin typeface="黑体" panose="02010609060101010101" pitchFamily="49" charset="-122"/>
              <a:ea typeface="黑体" panose="02010609060101010101" pitchFamily="49" charset="-122"/>
            </a:endParaRPr>
          </a:p>
        </p:txBody>
      </p:sp>
      <p:sp>
        <p:nvSpPr>
          <p:cNvPr id="9" name="文本框 8"/>
          <p:cNvSpPr txBox="1"/>
          <p:nvPr/>
        </p:nvSpPr>
        <p:spPr>
          <a:xfrm>
            <a:off x="41275" y="4698475"/>
            <a:ext cx="4997450" cy="400110"/>
          </a:xfrm>
          <a:prstGeom prst="rect">
            <a:avLst/>
          </a:prstGeom>
          <a:noFill/>
        </p:spPr>
        <p:txBody>
          <a:bodyPr wrap="square">
            <a:spAutoFit/>
          </a:bodyPr>
          <a:lstStyle/>
          <a:p>
            <a:pPr marL="228600" indent="-228600">
              <a:buClr>
                <a:schemeClr val="tx1"/>
              </a:buClr>
              <a:buFont typeface="+mj-lt"/>
              <a:buAutoNum type="arabicPeriod"/>
            </a:pPr>
            <a:r>
              <a:rPr lang="en-GB" altLang="zh-CN" sz="1000" dirty="0">
                <a:solidFill>
                  <a:schemeClr val="bg2"/>
                </a:solidFill>
                <a:latin typeface="Source Sans Pro" panose="020B0503030403020204" pitchFamily="34" charset="0"/>
                <a:ea typeface="Source Sans Pro" panose="020B0503030403020204" pitchFamily="34" charset="0"/>
              </a:rPr>
              <a:t>https://stackoverflow.com/questions/1436703/difference-between-str-and-repr</a:t>
            </a:r>
            <a:endParaRPr lang="en-GB" altLang="zh-CN" sz="1000" dirty="0">
              <a:solidFill>
                <a:schemeClr val="bg2"/>
              </a:solidFill>
              <a:latin typeface="Source Sans Pro" panose="020B0503030403020204" pitchFamily="34" charset="0"/>
              <a:ea typeface="Source Sans Pro" panose="020B0503030403020204" pitchFamily="34" charset="0"/>
            </a:endParaRPr>
          </a:p>
          <a:p>
            <a:pPr marL="228600" indent="-228600">
              <a:buClr>
                <a:schemeClr val="tx1"/>
              </a:buClr>
              <a:buFont typeface="+mj-lt"/>
              <a:buAutoNum type="arabicPeriod"/>
            </a:pPr>
            <a:r>
              <a:rPr lang="en-GB" altLang="zh-CN" sz="1000" dirty="0">
                <a:solidFill>
                  <a:schemeClr val="bg2"/>
                </a:solidFill>
                <a:latin typeface="Source Sans Pro" panose="020B0503030403020204" pitchFamily="34" charset="0"/>
                <a:ea typeface="Source Sans Pro" panose="020B0503030403020204" pitchFamily="34" charset="0"/>
              </a:rPr>
              <a:t>https://docs.python.org/3.8/reference/datamodel.html</a:t>
            </a:r>
            <a:endParaRPr lang="en-GB" altLang="zh-CN" sz="1000" dirty="0">
              <a:solidFill>
                <a:schemeClr val="bg2"/>
              </a:solidFill>
              <a:latin typeface="Source Sans Pro" panose="020B0503030403020204" pitchFamily="34" charset="0"/>
              <a:ea typeface="Source Sans Pro" panose="020B0503030403020204" pitchFamily="34" charset="0"/>
            </a:endParaRPr>
          </a:p>
        </p:txBody>
      </p:sp>
      <p:pic>
        <p:nvPicPr>
          <p:cNvPr id="7" name="Picture 6"/>
          <p:cNvPicPr>
            <a:picLocks noChangeAspect="1"/>
          </p:cNvPicPr>
          <p:nvPr/>
        </p:nvPicPr>
        <p:blipFill>
          <a:blip r:embed="rId1"/>
          <a:stretch>
            <a:fillRect/>
          </a:stretch>
        </p:blipFill>
        <p:spPr>
          <a:xfrm>
            <a:off x="5649463" y="1152476"/>
            <a:ext cx="2979637" cy="2106450"/>
          </a:xfrm>
          <a:prstGeom prst="rect">
            <a:avLst/>
          </a:prstGeom>
        </p:spPr>
      </p:pic>
      <p:pic>
        <p:nvPicPr>
          <p:cNvPr id="10" name="Picture 9" descr="A black background with white text&#10;&#10;Description automatically generated"/>
          <p:cNvPicPr>
            <a:picLocks noChangeAspect="1"/>
          </p:cNvPicPr>
          <p:nvPr/>
        </p:nvPicPr>
        <p:blipFill>
          <a:blip r:embed="rId2"/>
          <a:stretch>
            <a:fillRect/>
          </a:stretch>
        </p:blipFill>
        <p:spPr>
          <a:xfrm>
            <a:off x="5649463" y="3365138"/>
            <a:ext cx="2979637" cy="54320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US" altLang="zh-CN" dirty="0"/>
              <a:t>All</a:t>
            </a:r>
            <a:r>
              <a:rPr kumimoji="1" lang="zh-CN" altLang="en-US" dirty="0"/>
              <a:t> </a:t>
            </a:r>
            <a:r>
              <a:rPr kumimoji="1" lang="en-US" altLang="zh-CN" dirty="0"/>
              <a:t>are</a:t>
            </a:r>
            <a:r>
              <a:rPr kumimoji="1" lang="zh-CN" altLang="en-US" dirty="0"/>
              <a:t> </a:t>
            </a:r>
            <a:r>
              <a:rPr kumimoji="1" lang="en-US" altLang="zh-CN" dirty="0"/>
              <a:t>Object</a:t>
            </a:r>
            <a:endParaRPr kumimoji="1" lang="zh-CN" altLang="en-US" dirty="0"/>
          </a:p>
        </p:txBody>
      </p:sp>
      <p:sp>
        <p:nvSpPr>
          <p:cNvPr id="3" name="文本占位符 2"/>
          <p:cNvSpPr>
            <a:spLocks noGrp="1"/>
          </p:cNvSpPr>
          <p:nvPr>
            <p:ph type="body" idx="1"/>
          </p:nvPr>
        </p:nvSpPr>
        <p:spPr>
          <a:xfrm>
            <a:off x="311700" y="1152476"/>
            <a:ext cx="8520600" cy="1066148"/>
          </a:xfrm>
        </p:spPr>
        <p:txBody>
          <a:bodyPr>
            <a:normAutofit/>
          </a:bodyPr>
          <a:lstStyle/>
          <a:p>
            <a:r>
              <a:rPr kumimoji="1" lang="en-US" altLang="zh-CN" sz="1400" dirty="0">
                <a:solidFill>
                  <a:schemeClr val="bg2"/>
                </a:solidFill>
                <a:latin typeface="Source Sans Pro" panose="020B0503030403020204" pitchFamily="34" charset="0"/>
                <a:ea typeface="Source Sans Pro" panose="020B0503030403020204" pitchFamily="34" charset="0"/>
              </a:rPr>
              <a:t>Functions</a:t>
            </a:r>
            <a:r>
              <a:rPr kumimoji="1" lang="zh-CN" altLang="en-US" sz="1400" dirty="0">
                <a:solidFill>
                  <a:schemeClr val="bg2"/>
                </a:solidFill>
                <a:latin typeface="Source Sans Pro" panose="020B0503030403020204" pitchFamily="34" charset="0"/>
                <a:ea typeface="黑体" panose="02010609060101010101" pitchFamily="49" charset="-122"/>
              </a:rPr>
              <a:t> </a:t>
            </a:r>
            <a:r>
              <a:rPr kumimoji="1" lang="en-US" altLang="zh-CN" sz="1400" dirty="0">
                <a:solidFill>
                  <a:schemeClr val="bg2"/>
                </a:solidFill>
                <a:latin typeface="Source Sans Pro" panose="020B0503030403020204" pitchFamily="34" charset="0"/>
                <a:ea typeface="Source Sans Pro" panose="020B0503030403020204" pitchFamily="34" charset="0"/>
              </a:rPr>
              <a:t>are</a:t>
            </a:r>
            <a:r>
              <a:rPr kumimoji="1" lang="zh-CN" altLang="en-US" sz="1400" dirty="0">
                <a:solidFill>
                  <a:schemeClr val="bg2"/>
                </a:solidFill>
                <a:latin typeface="Source Sans Pro" panose="020B0503030403020204" pitchFamily="34" charset="0"/>
                <a:ea typeface="黑体" panose="02010609060101010101" pitchFamily="49" charset="-122"/>
              </a:rPr>
              <a:t> </a:t>
            </a:r>
            <a:r>
              <a:rPr kumimoji="1" lang="en-US" altLang="zh-CN" sz="1400" dirty="0">
                <a:solidFill>
                  <a:schemeClr val="bg2"/>
                </a:solidFill>
                <a:latin typeface="Source Sans Pro" panose="020B0503030403020204" pitchFamily="34" charset="0"/>
                <a:ea typeface="Source Sans Pro" panose="020B0503030403020204" pitchFamily="34" charset="0"/>
              </a:rPr>
              <a:t>also</a:t>
            </a:r>
            <a:r>
              <a:rPr kumimoji="1" lang="zh-CN" altLang="en-US" sz="1400" dirty="0">
                <a:solidFill>
                  <a:schemeClr val="bg2"/>
                </a:solidFill>
                <a:latin typeface="Source Sans Pro" panose="020B0503030403020204" pitchFamily="34" charset="0"/>
                <a:ea typeface="黑体" panose="02010609060101010101" pitchFamily="49" charset="-122"/>
              </a:rPr>
              <a:t> </a:t>
            </a:r>
            <a:r>
              <a:rPr kumimoji="1" lang="en-US" altLang="zh-CN" sz="1400" dirty="0">
                <a:solidFill>
                  <a:schemeClr val="bg2"/>
                </a:solidFill>
                <a:latin typeface="Source Sans Pro" panose="020B0503030403020204" pitchFamily="34" charset="0"/>
                <a:ea typeface="Source Sans Pro" panose="020B0503030403020204" pitchFamily="34" charset="0"/>
              </a:rPr>
              <a:t>objects</a:t>
            </a:r>
            <a:endParaRPr kumimoji="1" lang="zh-CN" altLang="en-US" sz="1400" dirty="0">
              <a:solidFill>
                <a:schemeClr val="bg2"/>
              </a:solidFill>
              <a:latin typeface="Source Sans Pro" panose="020B0503030403020204" pitchFamily="34" charset="0"/>
              <a:ea typeface="黑体" panose="02010609060101010101" pitchFamily="49" charset="-122"/>
            </a:endParaRPr>
          </a:p>
          <a:p>
            <a:pPr lvl="1"/>
            <a:r>
              <a:rPr kumimoji="1" lang="en-GB" altLang="zh-CN" sz="1200" dirty="0" err="1">
                <a:solidFill>
                  <a:schemeClr val="bg2"/>
                </a:solidFill>
              </a:rPr>
              <a:t>dir</a:t>
            </a:r>
            <a:r>
              <a:rPr kumimoji="1" lang="en-GB" altLang="zh-CN" sz="1200" dirty="0">
                <a:solidFill>
                  <a:schemeClr val="bg2"/>
                </a:solidFill>
              </a:rPr>
              <a:t>(</a:t>
            </a:r>
            <a:r>
              <a:rPr kumimoji="1" lang="en-GB" altLang="zh-CN" sz="1200" dirty="0" err="1">
                <a:solidFill>
                  <a:schemeClr val="bg2"/>
                </a:solidFill>
              </a:rPr>
              <a:t>func</a:t>
            </a:r>
            <a:r>
              <a:rPr kumimoji="1" lang="en-GB" altLang="zh-CN" sz="1200" dirty="0">
                <a:solidFill>
                  <a:schemeClr val="bg2"/>
                </a:solidFill>
              </a:rPr>
              <a:t>)</a:t>
            </a:r>
            <a:endParaRPr kumimoji="1" lang="en-GB" altLang="zh-CN" sz="1200" dirty="0">
              <a:solidFill>
                <a:schemeClr val="bg2"/>
              </a:solidFill>
            </a:endParaRPr>
          </a:p>
          <a:p>
            <a:pPr lvl="1"/>
            <a:r>
              <a:rPr kumimoji="1" lang="en-GB" altLang="zh-CN" sz="1200" dirty="0" err="1">
                <a:solidFill>
                  <a:schemeClr val="bg2"/>
                </a:solidFill>
              </a:rPr>
              <a:t>func</a:t>
            </a:r>
            <a:r>
              <a:rPr kumimoji="1" lang="en-GB" altLang="zh-CN" sz="1200" dirty="0">
                <a:solidFill>
                  <a:schemeClr val="bg2"/>
                </a:solidFill>
              </a:rPr>
              <a:t>.__name__</a:t>
            </a:r>
            <a:endParaRPr kumimoji="1" lang="en-GB" altLang="zh-CN" sz="1200" dirty="0">
              <a:solidFill>
                <a:schemeClr val="bg2"/>
              </a:solidFill>
            </a:endParaRPr>
          </a:p>
          <a:p>
            <a:pPr lvl="1"/>
            <a:r>
              <a:rPr kumimoji="1" lang="en-GB" altLang="zh-CN" sz="1200" dirty="0" err="1">
                <a:solidFill>
                  <a:schemeClr val="bg2"/>
                </a:solidFill>
              </a:rPr>
              <a:t>func</a:t>
            </a:r>
            <a:r>
              <a:rPr kumimoji="1" lang="en-GB" altLang="zh-CN" sz="1200" dirty="0">
                <a:solidFill>
                  <a:schemeClr val="bg2"/>
                </a:solidFill>
              </a:rPr>
              <a:t>.__code__</a:t>
            </a:r>
            <a:endParaRPr kumimoji="1" lang="en-GB" altLang="zh-CN" sz="1200" dirty="0">
              <a:solidFill>
                <a:schemeClr val="bg2"/>
              </a:solidFill>
            </a:endParaRPr>
          </a:p>
        </p:txBody>
      </p:sp>
      <p:pic>
        <p:nvPicPr>
          <p:cNvPr id="4" name="Picture 6" descr="Text&#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276518" y="2218624"/>
            <a:ext cx="2590964" cy="1506702"/>
          </a:xfrm>
          <a:prstGeom prst="rect">
            <a:avLst/>
          </a:prstGeom>
        </p:spPr>
      </p:pic>
      <p:pic>
        <p:nvPicPr>
          <p:cNvPr id="5" name="Picture 8" descr="Graphical user interface, application, Word&#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9601" y="3857432"/>
            <a:ext cx="5484798" cy="1149845"/>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78630"/>
            <a:ext cx="8520600" cy="623400"/>
          </a:xfrm>
        </p:spPr>
        <p:txBody>
          <a:bodyPr>
            <a:normAutofit fontScale="90000"/>
          </a:bodyPr>
          <a:lstStyle/>
          <a:p>
            <a:r>
              <a:rPr lang="en-US" altLang="zh-CN" dirty="0"/>
              <a:t>Duck</a:t>
            </a:r>
            <a:r>
              <a:rPr lang="zh-CN" altLang="en-US" dirty="0"/>
              <a:t> </a:t>
            </a:r>
            <a:r>
              <a:rPr lang="en-US" altLang="zh-CN" dirty="0"/>
              <a:t>Typing</a:t>
            </a:r>
            <a:endParaRPr lang="en-US" dirty="0"/>
          </a:p>
        </p:txBody>
      </p:sp>
      <p:sp>
        <p:nvSpPr>
          <p:cNvPr id="3" name="Text Placeholder 2"/>
          <p:cNvSpPr>
            <a:spLocks noGrp="1"/>
          </p:cNvSpPr>
          <p:nvPr>
            <p:ph type="body" idx="1"/>
          </p:nvPr>
        </p:nvSpPr>
        <p:spPr>
          <a:xfrm>
            <a:off x="816610" y="808355"/>
            <a:ext cx="8225790" cy="3335020"/>
          </a:xfrm>
        </p:spPr>
        <p:txBody>
          <a:bodyPr>
            <a:noAutofit/>
          </a:bodyPr>
          <a:lstStyle/>
          <a:p>
            <a:r>
              <a:rPr lang="en-US" sz="1400" dirty="0">
                <a:solidFill>
                  <a:schemeClr val="tx1"/>
                </a:solidFill>
              </a:rPr>
              <a:t>Duck typing </a:t>
            </a:r>
            <a:r>
              <a:rPr lang="en-US" sz="1400" dirty="0">
                <a:solidFill>
                  <a:schemeClr val="bg2"/>
                </a:solidFill>
              </a:rPr>
              <a:t>is a concept related to dynamic typing, where the type or the class of an object is less important than the methods it defines. When you use duck typing, you do not check types at all. Instead, you check for the presence of a given method or attribute</a:t>
            </a:r>
            <a:endParaRPr lang="en-US" sz="1400" dirty="0">
              <a:solidFill>
                <a:schemeClr val="bg2"/>
              </a:solidFill>
            </a:endParaRPr>
          </a:p>
          <a:p>
            <a:r>
              <a:rPr lang="en-US" sz="1400" dirty="0">
                <a:solidFill>
                  <a:schemeClr val="bg2"/>
                </a:solidFill>
              </a:rPr>
              <a:t>Duck typing is a concept that says that the “type” of the object is a matter of concern only at runtime and you don’t need to explicitly mention the type of the object before you perform any kind of operation on that object, unlike normal typing where the suitability of an object is determined by its type</a:t>
            </a:r>
            <a:endParaRPr lang="en-US" sz="1400" dirty="0">
              <a:solidFill>
                <a:schemeClr val="bg2"/>
              </a:solidFill>
            </a:endParaRPr>
          </a:p>
          <a:p>
            <a:r>
              <a:rPr lang="en-US" sz="1400" dirty="0">
                <a:solidFill>
                  <a:schemeClr val="bg2"/>
                </a:solidFill>
              </a:rPr>
              <a:t>In Python, we have the concept of Dynamic typing i.e. we can mention the type of variable/object later. The idea is that you don’t need a type in order to invoke an existing method on an object if a method is defined on it, you can invoke it.</a:t>
            </a:r>
            <a:endParaRPr lang="en-US" sz="1400" dirty="0">
              <a:solidFill>
                <a:schemeClr val="bg2"/>
              </a:solidFill>
            </a:endParaRPr>
          </a:p>
          <a:p>
            <a:r>
              <a:rPr lang="en-US" altLang="zh-CN" sz="1400" dirty="0">
                <a:solidFill>
                  <a:schemeClr val="bg2"/>
                </a:solidFill>
                <a:ea typeface="宋体" panose="02010600030101010101" pitchFamily="2" charset="-122"/>
              </a:rPr>
              <a:t>鸭子类型是与动态类型相关的概念，其中对象的类型或类不如它定义的方法重要。当您使用鸭子类型时，您根本不会检查类型。相反，您可以检查给定方法或属性是否存在</a:t>
            </a:r>
            <a:endParaRPr lang="en-US" altLang="zh-CN" sz="1400" dirty="0">
              <a:solidFill>
                <a:schemeClr val="bg2"/>
              </a:solidFill>
              <a:ea typeface="宋体" panose="02010600030101010101" pitchFamily="2" charset="-122"/>
            </a:endParaRPr>
          </a:p>
          <a:p>
            <a:r>
              <a:rPr lang="en-US" altLang="zh-CN" sz="1400" dirty="0">
                <a:solidFill>
                  <a:schemeClr val="bg2"/>
                </a:solidFill>
                <a:ea typeface="宋体" panose="02010600030101010101" pitchFamily="2" charset="-122"/>
              </a:rPr>
              <a:t>鸭子类型是一个概念，它表示对象的“类型”仅在运行时才是一个关注的问题，在对该对象执行任何类型的操作之前，您不需要显式提及对象的类型，这与普通类型不同，在普通类型中，对象的适用性由其类型决定</a:t>
            </a:r>
            <a:endParaRPr lang="en-US" altLang="zh-CN" sz="1400" dirty="0">
              <a:solidFill>
                <a:schemeClr val="bg2"/>
              </a:solidFill>
              <a:ea typeface="宋体" panose="02010600030101010101" pitchFamily="2" charset="-122"/>
            </a:endParaRPr>
          </a:p>
          <a:p>
            <a:r>
              <a:rPr lang="en-US" altLang="zh-CN" sz="1400" dirty="0">
                <a:solidFill>
                  <a:schemeClr val="bg2"/>
                </a:solidFill>
                <a:ea typeface="宋体" panose="02010600030101010101" pitchFamily="2" charset="-122"/>
              </a:rPr>
              <a:t>在 Python 中，我们有动态类型的概念，即我们可以稍后提及变量/对象的类型。这个想法是，如果在对象上定义了方法，则不需要类型即可调用对象上的现有方法，您可以调用它。</a:t>
            </a:r>
            <a:endParaRPr lang="en-US" altLang="zh-CN" sz="1400" dirty="0">
              <a:solidFill>
                <a:schemeClr val="bg2"/>
              </a:solidFill>
              <a:ea typeface="宋体" panose="02010600030101010101" pitchFamily="2" charset="-122"/>
            </a:endParaRPr>
          </a:p>
        </p:txBody>
      </p:sp>
      <p:pic>
        <p:nvPicPr>
          <p:cNvPr id="1026" name="Picture 2" descr="Amazon.com: Jumbo Rubber Duck Bath Toy - Giant Ducks Big Duckie Baby Shower  Birthday Party Favors 8-Inches (Yellow) : Toys &amp; Game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915" y="1035050"/>
            <a:ext cx="650875" cy="739775"/>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p:cNvSpPr txBox="1"/>
          <p:nvPr/>
        </p:nvSpPr>
        <p:spPr>
          <a:xfrm>
            <a:off x="536437" y="573221"/>
            <a:ext cx="8088747" cy="307777"/>
          </a:xfrm>
          <a:prstGeom prst="rect">
            <a:avLst/>
          </a:prstGeom>
          <a:solidFill>
            <a:srgbClr val="7030A0"/>
          </a:solidFill>
        </p:spPr>
        <p:txBody>
          <a:bodyPr wrap="square" rtlCol="0">
            <a:spAutoFit/>
          </a:bodyPr>
          <a:lstStyle/>
          <a:p>
            <a:r>
              <a:rPr lang="en-US" altLang="zh-CN" dirty="0">
                <a:solidFill>
                  <a:schemeClr val="bg1"/>
                </a:solidFill>
                <a:latin typeface="Source Sans Pro" panose="020B0503030403020204" pitchFamily="34" charset="0"/>
                <a:ea typeface="黑体" panose="02010609060101010101" pitchFamily="49" charset="-122"/>
              </a:rPr>
              <a:t>“If it walks like a duck, and it quacks like a duck, then it must be a duck.” </a:t>
            </a:r>
            <a:endParaRPr lang="zh-CN" altLang="en-US" dirty="0">
              <a:solidFill>
                <a:schemeClr val="bg1"/>
              </a:solidFill>
              <a:latin typeface="Source Sans Pro" panose="020B0503030403020204" pitchFamily="34" charset="0"/>
              <a:ea typeface="黑体" panose="02010609060101010101" pitchFamily="49"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1700" y="69740"/>
            <a:ext cx="8520600" cy="623400"/>
          </a:xfrm>
        </p:spPr>
        <p:txBody>
          <a:bodyPr>
            <a:normAutofit fontScale="90000"/>
          </a:bodyPr>
          <a:lstStyle/>
          <a:p>
            <a:r>
              <a:rPr kumimoji="1" lang="en-GB" altLang="zh-CN" dirty="0"/>
              <a:t>Polymorphism (</a:t>
            </a:r>
            <a:r>
              <a:rPr kumimoji="1" lang="zh-CN" altLang="en-US" dirty="0"/>
              <a:t>多态</a:t>
            </a:r>
            <a:r>
              <a:rPr kumimoji="1" lang="en-US" altLang="zh-CN" dirty="0"/>
              <a:t>)</a:t>
            </a:r>
            <a:endParaRPr kumimoji="1" lang="zh-CN" altLang="en-US" dirty="0"/>
          </a:p>
        </p:txBody>
      </p:sp>
      <p:sp>
        <p:nvSpPr>
          <p:cNvPr id="3" name="文本占位符 2"/>
          <p:cNvSpPr>
            <a:spLocks noGrp="1"/>
          </p:cNvSpPr>
          <p:nvPr>
            <p:ph type="body" idx="1"/>
          </p:nvPr>
        </p:nvSpPr>
        <p:spPr>
          <a:xfrm>
            <a:off x="311700" y="502871"/>
            <a:ext cx="8520600" cy="1125212"/>
          </a:xfrm>
        </p:spPr>
        <p:txBody>
          <a:bodyPr>
            <a:noAutofit/>
          </a:bodyPr>
          <a:lstStyle/>
          <a:p>
            <a:r>
              <a:rPr kumimoji="1" lang="en-GB" altLang="zh-CN" sz="1400" dirty="0">
                <a:solidFill>
                  <a:schemeClr val="bg2"/>
                </a:solidFill>
              </a:rPr>
              <a:t>Polymorphism in Computer Science is the ability to present the same interface for differing underlying forms. We can have in some programming languages polymorphic functions or methods, for example. Polymorphic functions or methods can be applied to arguments of different types, and they can behave differently depending on the type of the arguments to which they are applied. </a:t>
            </a:r>
            <a:endParaRPr kumimoji="1" lang="en-GB" altLang="zh-CN" sz="1400" dirty="0">
              <a:solidFill>
                <a:schemeClr val="bg2"/>
              </a:solidFill>
            </a:endParaRPr>
          </a:p>
          <a:p>
            <a:r>
              <a:rPr kumimoji="1" lang="en-GB" altLang="zh-CN" sz="1400" dirty="0">
                <a:solidFill>
                  <a:schemeClr val="bg2"/>
                </a:solidFill>
              </a:rPr>
              <a:t>计算机科学中的多态性是为不同的底层形式提供相同接口的能力。例如，我们可以在某些编程语言中使用多态函数或方法。多态函数或方法可以应用于不同类型的参数，并且它们的行为可能因应用它们的参数的类型而异。</a:t>
            </a:r>
            <a:endParaRPr kumimoji="1" lang="en-GB" altLang="zh-CN" sz="1400" dirty="0">
              <a:solidFill>
                <a:schemeClr val="bg2"/>
              </a:solidFill>
            </a:endParaRPr>
          </a:p>
        </p:txBody>
      </p:sp>
      <p:pic>
        <p:nvPicPr>
          <p:cNvPr id="4" name="Picture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4996" y="2277688"/>
            <a:ext cx="2412979" cy="1315603"/>
          </a:xfrm>
          <a:prstGeom prst="rect">
            <a:avLst/>
          </a:prstGeom>
        </p:spPr>
      </p:pic>
      <p:pic>
        <p:nvPicPr>
          <p:cNvPr id="5"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4996" y="3758701"/>
            <a:ext cx="1405317" cy="647331"/>
          </a:xfrm>
          <a:prstGeom prst="rect">
            <a:avLst/>
          </a:prstGeom>
        </p:spPr>
      </p:pic>
      <p:pic>
        <p:nvPicPr>
          <p:cNvPr id="10" name="Picture 8" descr="Text&#10;&#10;Description automatically generate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11958" y="2277688"/>
            <a:ext cx="3295798" cy="2162636"/>
          </a:xfrm>
          <a:prstGeom prst="rect">
            <a:avLst/>
          </a:prstGeom>
        </p:spPr>
      </p:pic>
      <p:pic>
        <p:nvPicPr>
          <p:cNvPr id="11" name="Picture 11" descr="Text, letter&#10;&#10;Description automatically generated"/>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04414" y="2277688"/>
            <a:ext cx="1790257" cy="856210"/>
          </a:xfrm>
          <a:prstGeom prst="rect">
            <a:avLst/>
          </a:prstGeom>
        </p:spPr>
      </p:pic>
      <p:sp>
        <p:nvSpPr>
          <p:cNvPr id="12" name="Rectangle 1"/>
          <p:cNvSpPr/>
          <p:nvPr/>
        </p:nvSpPr>
        <p:spPr>
          <a:xfrm>
            <a:off x="4959857" y="4617511"/>
            <a:ext cx="4039765" cy="488826"/>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tx1"/>
              </a:buClr>
            </a:pPr>
            <a:r>
              <a:rPr lang="zh-CN" altLang="en-US" sz="1200" dirty="0">
                <a:solidFill>
                  <a:schemeClr val="bg2"/>
                </a:solidFill>
                <a:latin typeface="黑体" panose="02010609060101010101" pitchFamily="49" charset="-122"/>
                <a:ea typeface="黑体" panose="02010609060101010101" pitchFamily="49" charset="-122"/>
              </a:rPr>
              <a:t>多态：根据不同的参数类型，运行时</a:t>
            </a:r>
            <a:r>
              <a:rPr lang="zh-CN" altLang="en-US" sz="1200" dirty="0">
                <a:solidFill>
                  <a:schemeClr val="tx1"/>
                </a:solidFill>
                <a:latin typeface="黑体" panose="02010609060101010101" pitchFamily="49" charset="-122"/>
                <a:ea typeface="黑体" panose="02010609060101010101" pitchFamily="49" charset="-122"/>
              </a:rPr>
              <a:t>自动调用相应的方法，</a:t>
            </a:r>
            <a:endParaRPr lang="zh-CN" altLang="en-US" sz="1200" dirty="0">
              <a:solidFill>
                <a:schemeClr val="tx1"/>
              </a:solidFill>
              <a:latin typeface="黑体" panose="02010609060101010101" pitchFamily="49" charset="-122"/>
              <a:ea typeface="黑体" panose="02010609060101010101" pitchFamily="49" charset="-122"/>
            </a:endParaRPr>
          </a:p>
          <a:p>
            <a:pPr>
              <a:buClr>
                <a:schemeClr val="tx1"/>
              </a:buClr>
            </a:pPr>
            <a:r>
              <a:rPr lang="zh-CN" altLang="en-US" sz="1200" dirty="0">
                <a:solidFill>
                  <a:schemeClr val="tx1"/>
                </a:solidFill>
                <a:latin typeface="黑体" panose="02010609060101010101" pitchFamily="49" charset="-122"/>
                <a:ea typeface="黑体" panose="02010609060101010101" pitchFamily="49" charset="-122"/>
              </a:rPr>
              <a:t>不用重复编写相同的代码</a:t>
            </a:r>
            <a:endParaRPr lang="zh-CN" altLang="en-US" sz="1200" dirty="0">
              <a:solidFill>
                <a:schemeClr val="tx1"/>
              </a:solidFill>
              <a:latin typeface="黑体" panose="02010609060101010101" pitchFamily="49" charset="-122"/>
              <a:ea typeface="黑体" panose="02010609060101010101" pitchFamily="49" charset="-122"/>
            </a:endParaRPr>
          </a:p>
        </p:txBody>
      </p:sp>
      <p:sp>
        <p:nvSpPr>
          <p:cNvPr id="6" name="TextBox 5"/>
          <p:cNvSpPr txBox="1"/>
          <p:nvPr/>
        </p:nvSpPr>
        <p:spPr>
          <a:xfrm>
            <a:off x="6996089" y="3593291"/>
            <a:ext cx="1806905" cy="461665"/>
          </a:xfrm>
          <a:prstGeom prst="rect">
            <a:avLst/>
          </a:prstGeom>
          <a:noFill/>
        </p:spPr>
        <p:txBody>
          <a:bodyPr wrap="none" rtlCol="0">
            <a:spAutoFit/>
          </a:bodyPr>
          <a:lstStyle/>
          <a:p>
            <a:r>
              <a:rPr lang="en-US" altLang="zh-CN" sz="1200" dirty="0">
                <a:latin typeface="Source Sans Pro" panose="020B0503030403020204" pitchFamily="34" charset="0"/>
                <a:ea typeface="Source Sans Pro" panose="020B0503030403020204" pitchFamily="34" charset="0"/>
              </a:rPr>
              <a:t>Object:</a:t>
            </a:r>
            <a:r>
              <a:rPr lang="zh-CN" altLang="en-US" sz="1200" dirty="0">
                <a:latin typeface="Source Sans Pro" panose="020B0503030403020204" pitchFamily="34" charset="0"/>
              </a:rPr>
              <a:t> </a:t>
            </a:r>
            <a:r>
              <a:rPr lang="en-US" altLang="zh-CN" sz="1200" dirty="0" err="1">
                <a:latin typeface="Source Sans Pro" panose="020B0503030403020204" pitchFamily="34" charset="0"/>
                <a:ea typeface="Source Sans Pro" panose="020B0503030403020204" pitchFamily="34" charset="0"/>
              </a:rPr>
              <a:t>len</a:t>
            </a:r>
            <a:r>
              <a:rPr lang="en-US" altLang="zh-CN" sz="1200" dirty="0">
                <a:latin typeface="Source Sans Pro" panose="020B0503030403020204" pitchFamily="34" charset="0"/>
                <a:ea typeface="Source Sans Pro" panose="020B0503030403020204" pitchFamily="34" charset="0"/>
              </a:rPr>
              <a:t>,</a:t>
            </a:r>
            <a:r>
              <a:rPr lang="zh-CN" altLang="en-US" sz="1200" dirty="0">
                <a:latin typeface="Source Sans Pro" panose="020B0503030403020204" pitchFamily="34" charset="0"/>
              </a:rPr>
              <a:t> </a:t>
            </a:r>
            <a:r>
              <a:rPr lang="en-US" altLang="zh-CN" sz="1200" dirty="0">
                <a:latin typeface="Source Sans Pro" panose="020B0503030403020204" pitchFamily="34" charset="0"/>
                <a:ea typeface="Source Sans Pro" panose="020B0503030403020204" pitchFamily="34" charset="0"/>
              </a:rPr>
              <a:t>print,</a:t>
            </a:r>
            <a:r>
              <a:rPr lang="zh-CN" altLang="en-US" sz="1200" dirty="0">
                <a:latin typeface="Source Sans Pro" panose="020B0503030403020204" pitchFamily="34" charset="0"/>
              </a:rPr>
              <a:t> </a:t>
            </a:r>
            <a:r>
              <a:rPr lang="en-US" altLang="zh-CN" sz="1200" dirty="0">
                <a:latin typeface="Source Sans Pro" panose="020B0503030403020204" pitchFamily="34" charset="0"/>
                <a:ea typeface="Source Sans Pro" panose="020B0503030403020204" pitchFamily="34" charset="0"/>
              </a:rPr>
              <a:t>type,</a:t>
            </a:r>
            <a:r>
              <a:rPr lang="zh-CN" altLang="en-US" sz="1200" dirty="0">
                <a:latin typeface="Source Sans Pro" panose="020B0503030403020204" pitchFamily="34" charset="0"/>
              </a:rPr>
              <a:t> </a:t>
            </a:r>
            <a:r>
              <a:rPr lang="en-US" altLang="zh-CN" sz="1200" dirty="0">
                <a:latin typeface="Source Sans Pro" panose="020B0503030403020204" pitchFamily="34" charset="0"/>
                <a:ea typeface="Source Sans Pro" panose="020B0503030403020204" pitchFamily="34" charset="0"/>
              </a:rPr>
              <a:t>id</a:t>
            </a:r>
            <a:endParaRPr lang="en-US" altLang="zh-CN" sz="1200" dirty="0">
              <a:latin typeface="Source Sans Pro" panose="020B0503030403020204" pitchFamily="34" charset="0"/>
              <a:ea typeface="Source Sans Pro" panose="020B0503030403020204" pitchFamily="34" charset="0"/>
            </a:endParaRPr>
          </a:p>
          <a:p>
            <a:r>
              <a:rPr lang="en-GB" altLang="zh-CN" sz="1200" dirty="0">
                <a:solidFill>
                  <a:schemeClr val="bg2"/>
                </a:solidFill>
                <a:latin typeface="Source Sans Pro" panose="020B0503030403020204" pitchFamily="34" charset="0"/>
                <a:ea typeface="Source Sans Pro" panose="020B0503030403020204" pitchFamily="34" charset="0"/>
              </a:rPr>
              <a:t>__str__() for print()</a:t>
            </a:r>
            <a:endParaRPr lang="en-GB" altLang="zh-CN" sz="1200" dirty="0">
              <a:solidFill>
                <a:schemeClr val="bg2"/>
              </a:solidFill>
              <a:latin typeface="Source Sans Pro" panose="020B0503030403020204" pitchFamily="34" charset="0"/>
              <a:ea typeface="Source Sans Pro" panose="020B0503030403020204" pitchFamily="3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a:t>Machinery of attribute inheritance</a:t>
            </a:r>
            <a:endParaRPr kumimoji="1" lang="zh-CN" altLang="en-US" dirty="0"/>
          </a:p>
        </p:txBody>
      </p:sp>
      <p:sp>
        <p:nvSpPr>
          <p:cNvPr id="3" name="文本占位符 2"/>
          <p:cNvSpPr>
            <a:spLocks noGrp="1"/>
          </p:cNvSpPr>
          <p:nvPr>
            <p:ph type="body" idx="1"/>
          </p:nvPr>
        </p:nvSpPr>
        <p:spPr>
          <a:xfrm>
            <a:off x="3996597" y="1233658"/>
            <a:ext cx="4358046" cy="2215837"/>
          </a:xfrm>
        </p:spPr>
        <p:txBody>
          <a:bodyPr>
            <a:noAutofit/>
          </a:bodyPr>
          <a:lstStyle/>
          <a:p>
            <a:pPr marL="114300" indent="0">
              <a:buNone/>
            </a:pPr>
            <a:r>
              <a:rPr kumimoji="1" lang="en-US" altLang="zh-CN" sz="1400" dirty="0">
                <a:solidFill>
                  <a:schemeClr val="bg2"/>
                </a:solidFill>
              </a:rPr>
              <a:t>C</a:t>
            </a:r>
            <a:r>
              <a:rPr kumimoji="1" lang="en-GB" altLang="zh-CN" sz="1400" dirty="0">
                <a:solidFill>
                  <a:schemeClr val="bg2"/>
                </a:solidFill>
              </a:rPr>
              <a:t>lasses support factoring and customization of code better than any other language tool we’ve seen so</a:t>
            </a:r>
            <a:r>
              <a:rPr kumimoji="1" lang="zh-CN" altLang="en-US" sz="1400" dirty="0">
                <a:solidFill>
                  <a:schemeClr val="bg2"/>
                </a:solidFill>
              </a:rPr>
              <a:t> </a:t>
            </a:r>
            <a:r>
              <a:rPr kumimoji="1" lang="en-GB" altLang="zh-CN" sz="1400" dirty="0">
                <a:solidFill>
                  <a:schemeClr val="bg2"/>
                </a:solidFill>
              </a:rPr>
              <a:t>far. </a:t>
            </a:r>
            <a:endParaRPr kumimoji="1" lang="en-GB" altLang="zh-CN" sz="1400" dirty="0">
              <a:solidFill>
                <a:schemeClr val="bg2"/>
              </a:solidFill>
            </a:endParaRPr>
          </a:p>
          <a:p>
            <a:r>
              <a:rPr kumimoji="1" lang="en-GB" altLang="zh-CN" sz="1400" dirty="0">
                <a:solidFill>
                  <a:schemeClr val="bg2"/>
                </a:solidFill>
              </a:rPr>
              <a:t>they allow us to minimize code redundancy (and so reduce maintenance costs) by factoring operations into a single, shared implementation; </a:t>
            </a:r>
            <a:endParaRPr kumimoji="1" lang="en-GB" altLang="zh-CN" sz="1400" dirty="0">
              <a:solidFill>
                <a:schemeClr val="bg2"/>
              </a:solidFill>
            </a:endParaRPr>
          </a:p>
          <a:p>
            <a:r>
              <a:rPr kumimoji="1" lang="en-GB" altLang="zh-CN" sz="1400" dirty="0">
                <a:solidFill>
                  <a:schemeClr val="bg2"/>
                </a:solidFill>
              </a:rPr>
              <a:t>they allow us to program by customizing what already exists, rather than changing it in place or starting from scratch. </a:t>
            </a:r>
            <a:endParaRPr kumimoji="1" lang="en-GB" altLang="zh-CN" sz="1400" dirty="0">
              <a:solidFill>
                <a:schemeClr val="bg2"/>
              </a:solidFill>
            </a:endParaRPr>
          </a:p>
          <a:p>
            <a:pPr marL="114300" indent="0">
              <a:buNone/>
            </a:pPr>
            <a:r>
              <a:rPr kumimoji="1" lang="en-GB" altLang="zh-CN" sz="1400" dirty="0">
                <a:solidFill>
                  <a:schemeClr val="bg2"/>
                </a:solidFill>
              </a:rPr>
              <a:t>类比我们目前看到的任何其他语言工具都更好地支持代码的分解和自定义。</a:t>
            </a:r>
            <a:endParaRPr kumimoji="1" lang="en-GB" altLang="zh-CN" sz="1400" dirty="0">
              <a:solidFill>
                <a:schemeClr val="bg2"/>
              </a:solidFill>
            </a:endParaRPr>
          </a:p>
          <a:p>
            <a:r>
              <a:rPr kumimoji="1" lang="en-GB" altLang="zh-CN" sz="1400" dirty="0">
                <a:solidFill>
                  <a:schemeClr val="bg2"/>
                </a:solidFill>
              </a:rPr>
              <a:t>它们允许我们通过将操作分解到单个共享实现中来最大限度地减少代码冗余（从而降低维护成本）;</a:t>
            </a:r>
            <a:endParaRPr kumimoji="1" lang="en-GB" altLang="zh-CN" sz="1400" dirty="0">
              <a:solidFill>
                <a:schemeClr val="bg2"/>
              </a:solidFill>
            </a:endParaRPr>
          </a:p>
          <a:p>
            <a:r>
              <a:rPr kumimoji="1" lang="en-GB" altLang="zh-CN" sz="1400" dirty="0">
                <a:solidFill>
                  <a:schemeClr val="bg2"/>
                </a:solidFill>
              </a:rPr>
              <a:t>它们允许我们通过自定义已经存在的内容进行编程，而不是就地更改它或从头开始。</a:t>
            </a:r>
            <a:endParaRPr kumimoji="1" lang="en-GB" altLang="zh-CN" sz="1400" dirty="0">
              <a:solidFill>
                <a:schemeClr val="bg2"/>
              </a:solidFill>
            </a:endParaRPr>
          </a:p>
        </p:txBody>
      </p:sp>
      <p:pic>
        <p:nvPicPr>
          <p:cNvPr id="4" name="图片 3" descr="文本&#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10875" y="1366528"/>
            <a:ext cx="2704399" cy="2410443"/>
          </a:xfrm>
          <a:prstGeom prst="rect">
            <a:avLst/>
          </a:prstGeom>
        </p:spPr>
      </p:pic>
      <p:pic>
        <p:nvPicPr>
          <p:cNvPr id="7" name="图片 6"/>
          <p:cNvPicPr>
            <a:picLocks noChangeAspect="1"/>
          </p:cNvPicPr>
          <p:nvPr/>
        </p:nvPicPr>
        <p:blipFill>
          <a:blip r:embed="rId2"/>
          <a:stretch>
            <a:fillRect/>
          </a:stretch>
        </p:blipFill>
        <p:spPr>
          <a:xfrm>
            <a:off x="610875" y="3907136"/>
            <a:ext cx="2081876" cy="219826"/>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1700" y="203725"/>
            <a:ext cx="8520600" cy="623400"/>
          </a:xfrm>
        </p:spPr>
        <p:txBody>
          <a:bodyPr>
            <a:normAutofit fontScale="90000"/>
          </a:bodyPr>
          <a:lstStyle/>
          <a:p>
            <a:r>
              <a:rPr kumimoji="1" lang="en-GB" altLang="zh-CN" dirty="0"/>
              <a:t>Machinery of attribute inheritance</a:t>
            </a:r>
            <a:endParaRPr kumimoji="1" lang="zh-CN" altLang="en-US" dirty="0"/>
          </a:p>
        </p:txBody>
      </p:sp>
      <p:sp>
        <p:nvSpPr>
          <p:cNvPr id="3" name="文本占位符 2"/>
          <p:cNvSpPr>
            <a:spLocks noGrp="1"/>
          </p:cNvSpPr>
          <p:nvPr>
            <p:ph type="body" idx="1"/>
          </p:nvPr>
        </p:nvSpPr>
        <p:spPr>
          <a:xfrm>
            <a:off x="311785" y="735330"/>
            <a:ext cx="8520430" cy="4482465"/>
          </a:xfrm>
        </p:spPr>
        <p:txBody>
          <a:bodyPr>
            <a:normAutofit fontScale="80000"/>
          </a:bodyPr>
          <a:lstStyle/>
          <a:p>
            <a:r>
              <a:rPr kumimoji="1" lang="en-GB" altLang="zh-CN" sz="1400" dirty="0" err="1">
                <a:solidFill>
                  <a:schemeClr val="bg2"/>
                </a:solidFill>
              </a:rPr>
              <a:t>Superclasses</a:t>
            </a:r>
            <a:r>
              <a:rPr kumimoji="1" lang="en-GB" altLang="zh-CN" sz="1400" dirty="0">
                <a:solidFill>
                  <a:schemeClr val="bg2"/>
                </a:solidFill>
              </a:rPr>
              <a:t> are listed in </a:t>
            </a:r>
            <a:r>
              <a:rPr kumimoji="1" lang="en-GB" altLang="zh-CN" sz="1400" dirty="0">
                <a:solidFill>
                  <a:schemeClr val="tx1"/>
                </a:solidFill>
              </a:rPr>
              <a:t>parentheses in a class header</a:t>
            </a:r>
            <a:r>
              <a:rPr kumimoji="1" lang="en-GB" altLang="zh-CN" sz="1400" dirty="0">
                <a:solidFill>
                  <a:schemeClr val="bg2"/>
                </a:solidFill>
              </a:rPr>
              <a:t>. </a:t>
            </a:r>
            <a:endParaRPr kumimoji="1" lang="en-GB" altLang="zh-CN" sz="1400" dirty="0">
              <a:solidFill>
                <a:schemeClr val="bg2"/>
              </a:solidFill>
            </a:endParaRPr>
          </a:p>
          <a:p>
            <a:pPr lvl="1"/>
            <a:r>
              <a:rPr kumimoji="1" lang="en-GB" altLang="zh-CN" sz="1200" dirty="0">
                <a:solidFill>
                  <a:schemeClr val="bg2"/>
                </a:solidFill>
              </a:rPr>
              <a:t>To make a class inherit attributes from another class, just list the other class in parentheses in the new</a:t>
            </a:r>
            <a:endParaRPr kumimoji="1" lang="en-GB" altLang="zh-CN" sz="1200" dirty="0">
              <a:solidFill>
                <a:schemeClr val="bg2"/>
              </a:solidFill>
            </a:endParaRPr>
          </a:p>
          <a:p>
            <a:r>
              <a:rPr kumimoji="1" lang="en-GB" altLang="zh-CN" sz="1400" dirty="0">
                <a:solidFill>
                  <a:schemeClr val="bg2"/>
                </a:solidFill>
              </a:rPr>
              <a:t>Classes inherit attributes from their </a:t>
            </a:r>
            <a:r>
              <a:rPr kumimoji="1" lang="en-GB" altLang="zh-CN" sz="1400" dirty="0" err="1">
                <a:solidFill>
                  <a:schemeClr val="tx1"/>
                </a:solidFill>
              </a:rPr>
              <a:t>superclasses</a:t>
            </a:r>
            <a:r>
              <a:rPr kumimoji="1" lang="en-GB" altLang="zh-CN" sz="1400" dirty="0">
                <a:solidFill>
                  <a:schemeClr val="bg2"/>
                </a:solidFill>
              </a:rPr>
              <a:t>. </a:t>
            </a:r>
            <a:endParaRPr kumimoji="1" lang="en-GB" altLang="zh-CN" sz="1400" dirty="0">
              <a:solidFill>
                <a:schemeClr val="bg2"/>
              </a:solidFill>
            </a:endParaRPr>
          </a:p>
          <a:p>
            <a:pPr lvl="1"/>
            <a:r>
              <a:rPr kumimoji="1" lang="en-GB" altLang="zh-CN" sz="1200" dirty="0">
                <a:solidFill>
                  <a:schemeClr val="bg2"/>
                </a:solidFill>
              </a:rPr>
              <a:t>Just as instances inherit the attribute names defined in their classes, classes inherit all of the attribute names defined in their </a:t>
            </a:r>
            <a:r>
              <a:rPr kumimoji="1" lang="en-GB" altLang="zh-CN" sz="1200" dirty="0" err="1">
                <a:solidFill>
                  <a:schemeClr val="bg2"/>
                </a:solidFill>
              </a:rPr>
              <a:t>superclasses</a:t>
            </a:r>
            <a:endParaRPr kumimoji="1" lang="en-GB" altLang="zh-CN" sz="1200" dirty="0">
              <a:solidFill>
                <a:schemeClr val="bg2"/>
              </a:solidFill>
            </a:endParaRPr>
          </a:p>
          <a:p>
            <a:r>
              <a:rPr kumimoji="1" lang="en-GB" altLang="zh-CN" sz="1400" dirty="0">
                <a:solidFill>
                  <a:schemeClr val="bg2"/>
                </a:solidFill>
              </a:rPr>
              <a:t>Instances inherit attributes from all accessible classes. </a:t>
            </a:r>
            <a:endParaRPr kumimoji="1" lang="en-GB" altLang="zh-CN" sz="1400" dirty="0">
              <a:solidFill>
                <a:schemeClr val="bg2"/>
              </a:solidFill>
            </a:endParaRPr>
          </a:p>
          <a:p>
            <a:pPr lvl="1"/>
            <a:r>
              <a:rPr kumimoji="1" lang="en-GB" altLang="zh-CN" sz="1200" dirty="0">
                <a:solidFill>
                  <a:schemeClr val="bg2"/>
                </a:solidFill>
              </a:rPr>
              <a:t>Each instance gets names from the class it’s generated from, as well as all of that class’s </a:t>
            </a:r>
            <a:r>
              <a:rPr kumimoji="1" lang="en-GB" altLang="zh-CN" sz="1200" dirty="0" err="1">
                <a:solidFill>
                  <a:schemeClr val="bg2"/>
                </a:solidFill>
              </a:rPr>
              <a:t>superclasses</a:t>
            </a:r>
            <a:r>
              <a:rPr kumimoji="1" lang="en-GB" altLang="zh-CN" sz="1200" dirty="0">
                <a:solidFill>
                  <a:schemeClr val="bg2"/>
                </a:solidFill>
              </a:rPr>
              <a:t>. </a:t>
            </a:r>
            <a:endParaRPr kumimoji="1" lang="en-GB" altLang="zh-CN" sz="1200" dirty="0">
              <a:solidFill>
                <a:schemeClr val="bg2"/>
              </a:solidFill>
            </a:endParaRPr>
          </a:p>
          <a:p>
            <a:pPr lvl="1"/>
            <a:r>
              <a:rPr kumimoji="1" lang="en-GB" altLang="zh-CN" sz="1200" dirty="0">
                <a:solidFill>
                  <a:schemeClr val="bg2"/>
                </a:solidFill>
              </a:rPr>
              <a:t>When looking for a name, Python checks the instance, then its class, then all </a:t>
            </a:r>
            <a:r>
              <a:rPr kumimoji="1" lang="en-GB" altLang="zh-CN" sz="1200" dirty="0" err="1">
                <a:solidFill>
                  <a:schemeClr val="bg2"/>
                </a:solidFill>
              </a:rPr>
              <a:t>superclasses</a:t>
            </a:r>
            <a:r>
              <a:rPr kumimoji="1" lang="en-GB" altLang="zh-CN" sz="1200" dirty="0">
                <a:solidFill>
                  <a:schemeClr val="bg2"/>
                </a:solidFill>
              </a:rPr>
              <a:t>.</a:t>
            </a:r>
            <a:endParaRPr kumimoji="1" lang="en-GB" altLang="zh-CN" sz="1200" dirty="0">
              <a:solidFill>
                <a:schemeClr val="bg2"/>
              </a:solidFill>
            </a:endParaRPr>
          </a:p>
          <a:p>
            <a:r>
              <a:rPr kumimoji="1" lang="en-GB" altLang="zh-CN" sz="1400" dirty="0">
                <a:solidFill>
                  <a:schemeClr val="bg2"/>
                </a:solidFill>
              </a:rPr>
              <a:t>Each </a:t>
            </a:r>
            <a:r>
              <a:rPr kumimoji="1" lang="en-GB" altLang="zh-CN" sz="1400" dirty="0" err="1">
                <a:solidFill>
                  <a:schemeClr val="bg2"/>
                </a:solidFill>
              </a:rPr>
              <a:t>object.attribute</a:t>
            </a:r>
            <a:r>
              <a:rPr kumimoji="1" lang="en-GB" altLang="zh-CN" sz="1400" dirty="0">
                <a:solidFill>
                  <a:schemeClr val="bg2"/>
                </a:solidFill>
              </a:rPr>
              <a:t> reference </a:t>
            </a:r>
            <a:r>
              <a:rPr kumimoji="1" lang="en-GB" altLang="zh-CN" sz="1400" dirty="0">
                <a:solidFill>
                  <a:schemeClr val="tx1"/>
                </a:solidFill>
              </a:rPr>
              <a:t>invokes a new, independent search. </a:t>
            </a:r>
            <a:endParaRPr kumimoji="1" lang="en-GB" altLang="zh-CN" sz="1400" dirty="0">
              <a:solidFill>
                <a:schemeClr val="tx1"/>
              </a:solidFill>
            </a:endParaRPr>
          </a:p>
          <a:p>
            <a:pPr lvl="1"/>
            <a:r>
              <a:rPr kumimoji="1" lang="en-GB" altLang="zh-CN" sz="1200" dirty="0">
                <a:solidFill>
                  <a:schemeClr val="bg2"/>
                </a:solidFill>
              </a:rPr>
              <a:t>Python performs an independent search of the class tree for each attribute fetch expression.</a:t>
            </a:r>
            <a:endParaRPr kumimoji="1" lang="en-GB" altLang="zh-CN" sz="1200" dirty="0">
              <a:solidFill>
                <a:schemeClr val="bg2"/>
              </a:solidFill>
            </a:endParaRPr>
          </a:p>
          <a:p>
            <a:r>
              <a:rPr kumimoji="1" lang="en-GB" altLang="zh-CN" sz="1400" dirty="0">
                <a:solidFill>
                  <a:schemeClr val="bg2"/>
                </a:solidFill>
              </a:rPr>
              <a:t>Logic changes are made by subclassing, not by changing </a:t>
            </a:r>
            <a:r>
              <a:rPr kumimoji="1" lang="en-GB" altLang="zh-CN" sz="1400" dirty="0" err="1">
                <a:solidFill>
                  <a:schemeClr val="bg2"/>
                </a:solidFill>
              </a:rPr>
              <a:t>superclasses</a:t>
            </a:r>
            <a:r>
              <a:rPr kumimoji="1" lang="en-GB" altLang="zh-CN" sz="1400" dirty="0">
                <a:solidFill>
                  <a:schemeClr val="bg2"/>
                </a:solidFill>
              </a:rPr>
              <a:t>. </a:t>
            </a:r>
            <a:endParaRPr kumimoji="1" lang="en-GB" altLang="zh-CN" sz="1400" dirty="0">
              <a:solidFill>
                <a:schemeClr val="bg2"/>
              </a:solidFill>
            </a:endParaRPr>
          </a:p>
          <a:p>
            <a:pPr lvl="1"/>
            <a:r>
              <a:rPr kumimoji="1" lang="en-GB" altLang="zh-CN" sz="1200" dirty="0">
                <a:solidFill>
                  <a:schemeClr val="bg2"/>
                </a:solidFill>
              </a:rPr>
              <a:t>By redefining superclass names in subclasses lower in the hierarchy (class tree), subclasses replace and thus customize inherited behavior</a:t>
            </a:r>
            <a:endParaRPr kumimoji="1" lang="en-GB" altLang="zh-CN" sz="1200" dirty="0">
              <a:solidFill>
                <a:schemeClr val="bg2"/>
              </a:solidFill>
            </a:endParaRPr>
          </a:p>
          <a:p>
            <a:pPr marL="596900" lvl="1" indent="0">
              <a:buNone/>
            </a:pPr>
            <a:r>
              <a:rPr kumimoji="1" lang="en-GB" altLang="zh-CN" sz="1200" dirty="0">
                <a:solidFill>
                  <a:schemeClr val="bg2"/>
                </a:solidFill>
              </a:rPr>
              <a:t>超类列在类头的括号中。</a:t>
            </a:r>
            <a:endParaRPr kumimoji="1" lang="en-GB" altLang="zh-CN" sz="1200" dirty="0">
              <a:solidFill>
                <a:schemeClr val="bg2"/>
              </a:solidFill>
            </a:endParaRPr>
          </a:p>
          <a:p>
            <a:pPr lvl="1"/>
            <a:r>
              <a:rPr kumimoji="1" lang="en-GB" altLang="zh-CN" sz="1200" dirty="0">
                <a:solidFill>
                  <a:schemeClr val="bg2"/>
                </a:solidFill>
              </a:rPr>
              <a:t>要使一个类继承另一个类的属性，只需在新的括号中列出另一个类</a:t>
            </a:r>
            <a:endParaRPr kumimoji="1" lang="en-GB" altLang="zh-CN" sz="1200" dirty="0">
              <a:solidFill>
                <a:schemeClr val="bg2"/>
              </a:solidFill>
            </a:endParaRPr>
          </a:p>
          <a:p>
            <a:pPr marL="596900" lvl="1" indent="0">
              <a:buNone/>
            </a:pPr>
            <a:r>
              <a:rPr kumimoji="1" lang="en-GB" altLang="zh-CN" sz="1200" dirty="0">
                <a:solidFill>
                  <a:schemeClr val="bg2"/>
                </a:solidFill>
              </a:rPr>
              <a:t>类从其超类继承属性。</a:t>
            </a:r>
            <a:endParaRPr kumimoji="1" lang="en-GB" altLang="zh-CN" sz="1200" dirty="0">
              <a:solidFill>
                <a:schemeClr val="bg2"/>
              </a:solidFill>
            </a:endParaRPr>
          </a:p>
          <a:p>
            <a:pPr lvl="1"/>
            <a:r>
              <a:rPr kumimoji="1" lang="en-GB" altLang="zh-CN" sz="1200" dirty="0">
                <a:solidFill>
                  <a:schemeClr val="bg2"/>
                </a:solidFill>
              </a:rPr>
              <a:t>正如实例继承其类中定义的属性名称一样，类继承其超类中定义的所有属性名称</a:t>
            </a:r>
            <a:endParaRPr kumimoji="1" lang="en-GB" altLang="zh-CN" sz="1200" dirty="0">
              <a:solidFill>
                <a:schemeClr val="bg2"/>
              </a:solidFill>
            </a:endParaRPr>
          </a:p>
          <a:p>
            <a:pPr marL="596900" lvl="1" indent="0">
              <a:buNone/>
            </a:pPr>
            <a:r>
              <a:rPr kumimoji="1" lang="en-GB" altLang="zh-CN" sz="1200" dirty="0">
                <a:solidFill>
                  <a:schemeClr val="bg2"/>
                </a:solidFill>
              </a:rPr>
              <a:t>实例从所有可访问的类继承属性。</a:t>
            </a:r>
            <a:endParaRPr kumimoji="1" lang="en-GB" altLang="zh-CN" sz="1200" dirty="0">
              <a:solidFill>
                <a:schemeClr val="bg2"/>
              </a:solidFill>
            </a:endParaRPr>
          </a:p>
          <a:p>
            <a:pPr lvl="1"/>
            <a:r>
              <a:rPr kumimoji="1" lang="en-GB" altLang="zh-CN" sz="1200" dirty="0">
                <a:solidFill>
                  <a:schemeClr val="bg2"/>
                </a:solidFill>
              </a:rPr>
              <a:t>每个实例都从生成它的类以及该类的所有超类中获取名称。</a:t>
            </a:r>
            <a:endParaRPr kumimoji="1" lang="en-GB" altLang="zh-CN" sz="1200" dirty="0">
              <a:solidFill>
                <a:schemeClr val="bg2"/>
              </a:solidFill>
            </a:endParaRPr>
          </a:p>
          <a:p>
            <a:pPr lvl="1"/>
            <a:r>
              <a:rPr kumimoji="1" lang="en-GB" altLang="zh-CN" sz="1200" dirty="0">
                <a:solidFill>
                  <a:schemeClr val="bg2"/>
                </a:solidFill>
              </a:rPr>
              <a:t>在查找名称时，Python 会检查实例，然后检查其类，然后检查所有超类。</a:t>
            </a:r>
            <a:endParaRPr kumimoji="1" lang="en-GB" altLang="zh-CN" sz="1200" dirty="0">
              <a:solidFill>
                <a:schemeClr val="bg2"/>
              </a:solidFill>
            </a:endParaRPr>
          </a:p>
          <a:p>
            <a:pPr marL="596900" lvl="1" indent="0">
              <a:buNone/>
            </a:pPr>
            <a:r>
              <a:rPr kumimoji="1" lang="en-GB" altLang="zh-CN" sz="1200" dirty="0">
                <a:solidFill>
                  <a:schemeClr val="bg2"/>
                </a:solidFill>
              </a:rPr>
              <a:t>每个 object.attribute 引用都会调用一个新的独立搜索。</a:t>
            </a:r>
            <a:endParaRPr kumimoji="1" lang="en-GB" altLang="zh-CN" sz="1200" dirty="0">
              <a:solidFill>
                <a:schemeClr val="bg2"/>
              </a:solidFill>
            </a:endParaRPr>
          </a:p>
          <a:p>
            <a:pPr lvl="1"/>
            <a:r>
              <a:rPr kumimoji="1" lang="en-GB" altLang="zh-CN" sz="1200" dirty="0">
                <a:solidFill>
                  <a:schemeClr val="bg2"/>
                </a:solidFill>
              </a:rPr>
              <a:t>Python 对每个属性提取表达式的类树执行独立搜索。</a:t>
            </a:r>
            <a:endParaRPr kumimoji="1" lang="en-GB" altLang="zh-CN" sz="1200" dirty="0">
              <a:solidFill>
                <a:schemeClr val="bg2"/>
              </a:solidFill>
            </a:endParaRPr>
          </a:p>
          <a:p>
            <a:pPr marL="596900" lvl="1" indent="0">
              <a:buNone/>
            </a:pPr>
            <a:r>
              <a:rPr kumimoji="1" lang="en-GB" altLang="zh-CN" sz="1200" dirty="0">
                <a:solidFill>
                  <a:schemeClr val="bg2"/>
                </a:solidFill>
              </a:rPr>
              <a:t>逻辑更改是通过子类化进行的，而不是通过更改超类来实现的。</a:t>
            </a:r>
            <a:endParaRPr kumimoji="1" lang="en-GB" altLang="zh-CN" sz="1200" dirty="0">
              <a:solidFill>
                <a:schemeClr val="bg2"/>
              </a:solidFill>
            </a:endParaRPr>
          </a:p>
          <a:p>
            <a:pPr lvl="1"/>
            <a:r>
              <a:rPr kumimoji="1" lang="en-GB" altLang="zh-CN" sz="1200" dirty="0">
                <a:solidFill>
                  <a:schemeClr val="bg2"/>
                </a:solidFill>
              </a:rPr>
              <a:t>通过在层次结构（类树）中较低的子类中重新定义超类名称，子类可以替换并因此自定义继承的行为。</a:t>
            </a:r>
            <a:endParaRPr kumimoji="1" lang="en-GB" altLang="zh-CN" sz="1200" dirty="0">
              <a:solidFill>
                <a:schemeClr val="bg2"/>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1700" y="133875"/>
            <a:ext cx="8520600" cy="623400"/>
          </a:xfrm>
        </p:spPr>
        <p:txBody>
          <a:bodyPr>
            <a:normAutofit fontScale="90000"/>
          </a:bodyPr>
          <a:lstStyle/>
          <a:p>
            <a:r>
              <a:rPr kumimoji="1" lang="en-GB" altLang="zh-CN" dirty="0"/>
              <a:t>Inheritance Tree</a:t>
            </a:r>
            <a:br>
              <a:rPr kumimoji="1" lang="en-GB" altLang="zh-CN" dirty="0"/>
            </a:br>
            <a:br>
              <a:rPr kumimoji="1" lang="en-GB" altLang="zh-CN" dirty="0"/>
            </a:br>
            <a:endParaRPr kumimoji="1" lang="zh-CN" altLang="en-US" dirty="0"/>
          </a:p>
        </p:txBody>
      </p:sp>
      <p:sp>
        <p:nvSpPr>
          <p:cNvPr id="3" name="文本占位符 2"/>
          <p:cNvSpPr>
            <a:spLocks noGrp="1"/>
          </p:cNvSpPr>
          <p:nvPr>
            <p:ph type="body" idx="1"/>
          </p:nvPr>
        </p:nvSpPr>
        <p:spPr>
          <a:xfrm>
            <a:off x="311785" y="638175"/>
            <a:ext cx="8520430" cy="1598930"/>
          </a:xfrm>
        </p:spPr>
        <p:txBody>
          <a:bodyPr>
            <a:normAutofit fontScale="90000"/>
          </a:bodyPr>
          <a:lstStyle/>
          <a:p>
            <a:r>
              <a:rPr kumimoji="1" lang="en-GB" altLang="zh-CN" sz="1400" dirty="0">
                <a:solidFill>
                  <a:schemeClr val="bg2"/>
                </a:solidFill>
              </a:rPr>
              <a:t>Instance attributes are generated by assignments to self attributes in methods</a:t>
            </a:r>
            <a:endParaRPr kumimoji="1" lang="en-GB" altLang="zh-CN" sz="1400" dirty="0">
              <a:solidFill>
                <a:schemeClr val="bg2"/>
              </a:solidFill>
            </a:endParaRPr>
          </a:p>
          <a:p>
            <a:r>
              <a:rPr kumimoji="1" lang="en-GB" altLang="zh-CN" sz="1400" dirty="0">
                <a:solidFill>
                  <a:schemeClr val="bg2"/>
                </a:solidFill>
              </a:rPr>
              <a:t>Class attributes are created by statements (assignments) in class statements</a:t>
            </a:r>
            <a:endParaRPr kumimoji="1" lang="en-GB" altLang="zh-CN" sz="1400" dirty="0">
              <a:solidFill>
                <a:schemeClr val="bg2"/>
              </a:solidFill>
            </a:endParaRPr>
          </a:p>
          <a:p>
            <a:r>
              <a:rPr kumimoji="1" lang="en-GB" altLang="zh-CN" sz="1400" dirty="0">
                <a:solidFill>
                  <a:schemeClr val="bg2"/>
                </a:solidFill>
              </a:rPr>
              <a:t>Superclass links are made by listing classes in parentheses in a class statement header</a:t>
            </a:r>
            <a:endParaRPr kumimoji="1" lang="en-GB" altLang="zh-CN" sz="1400" dirty="0">
              <a:solidFill>
                <a:schemeClr val="bg2"/>
              </a:solidFill>
            </a:endParaRPr>
          </a:p>
          <a:p>
            <a:r>
              <a:rPr kumimoji="1" lang="en-GB" altLang="zh-CN" sz="1400" dirty="0">
                <a:solidFill>
                  <a:schemeClr val="bg2"/>
                </a:solidFill>
              </a:rPr>
              <a:t>实例属性是通过对方法中的 self 属性的赋值生成的</a:t>
            </a:r>
            <a:endParaRPr kumimoji="1" lang="en-GB" altLang="zh-CN" sz="1400" dirty="0">
              <a:solidFill>
                <a:schemeClr val="bg2"/>
              </a:solidFill>
            </a:endParaRPr>
          </a:p>
          <a:p>
            <a:r>
              <a:rPr kumimoji="1" lang="en-GB" altLang="zh-CN" sz="1400" dirty="0">
                <a:solidFill>
                  <a:schemeClr val="bg2"/>
                </a:solidFill>
              </a:rPr>
              <a:t>类属性由类语句中的语句（赋值）创建</a:t>
            </a:r>
            <a:endParaRPr kumimoji="1" lang="en-GB" altLang="zh-CN" sz="1400" dirty="0">
              <a:solidFill>
                <a:schemeClr val="bg2"/>
              </a:solidFill>
            </a:endParaRPr>
          </a:p>
          <a:p>
            <a:r>
              <a:rPr kumimoji="1" lang="en-GB" altLang="zh-CN" sz="1400" dirty="0">
                <a:solidFill>
                  <a:schemeClr val="bg2"/>
                </a:solidFill>
              </a:rPr>
              <a:t>超类链接是通过在类语句头的括号中列出类来建立的</a:t>
            </a:r>
            <a:endParaRPr kumimoji="1" lang="en-GB" altLang="zh-CN" sz="1400" dirty="0">
              <a:solidFill>
                <a:schemeClr val="bg2"/>
              </a:solidFill>
            </a:endParaRPr>
          </a:p>
        </p:txBody>
      </p:sp>
      <p:pic>
        <p:nvPicPr>
          <p:cNvPr id="4" name="图片 3" descr="图示&#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89536" y="2071516"/>
            <a:ext cx="4998218" cy="2727976"/>
          </a:xfrm>
          <a:prstGeom prst="rect">
            <a:avLst/>
          </a:prstGeom>
        </p:spPr>
      </p:pic>
      <p:sp>
        <p:nvSpPr>
          <p:cNvPr id="7" name="文本框 6"/>
          <p:cNvSpPr txBox="1"/>
          <p:nvPr/>
        </p:nvSpPr>
        <p:spPr>
          <a:xfrm>
            <a:off x="6884035" y="1986370"/>
            <a:ext cx="2057427" cy="2676525"/>
          </a:xfrm>
          <a:prstGeom prst="rect">
            <a:avLst/>
          </a:prstGeom>
          <a:noFill/>
        </p:spPr>
        <p:txBody>
          <a:bodyPr wrap="square">
            <a:spAutoFit/>
          </a:bodyPr>
          <a:lstStyle/>
          <a:p>
            <a:r>
              <a:rPr lang="en-US" altLang="zh-CN" sz="1200" b="0" i="0" dirty="0">
                <a:solidFill>
                  <a:schemeClr val="bg2"/>
                </a:solidFill>
                <a:effectLst/>
                <a:latin typeface="Source Sans Pro" panose="020B0503030403020204" pitchFamily="34" charset="0"/>
                <a:ea typeface="Source Sans Pro" panose="020B0503030403020204" pitchFamily="34" charset="0"/>
              </a:rPr>
              <a:t>The net result is a tree of attribute namespaces that leads from an instance, to the class it was generated from, to all the </a:t>
            </a:r>
            <a:r>
              <a:rPr lang="en-US" altLang="zh-CN" sz="1200" b="0" i="0" dirty="0" err="1">
                <a:solidFill>
                  <a:schemeClr val="bg2"/>
                </a:solidFill>
                <a:effectLst/>
                <a:latin typeface="Source Sans Pro" panose="020B0503030403020204" pitchFamily="34" charset="0"/>
                <a:ea typeface="Source Sans Pro" panose="020B0503030403020204" pitchFamily="34" charset="0"/>
              </a:rPr>
              <a:t>superclasses</a:t>
            </a:r>
            <a:r>
              <a:rPr lang="en-US" altLang="zh-CN" sz="1200" b="0" i="0" dirty="0">
                <a:solidFill>
                  <a:schemeClr val="bg2"/>
                </a:solidFill>
                <a:effectLst/>
                <a:latin typeface="Source Sans Pro" panose="020B0503030403020204" pitchFamily="34" charset="0"/>
                <a:ea typeface="Source Sans Pro" panose="020B0503030403020204" pitchFamily="34" charset="0"/>
              </a:rPr>
              <a:t> listed in the class header. Python searches upward in this tree, from instances to </a:t>
            </a:r>
            <a:r>
              <a:rPr lang="en-US" altLang="zh-CN" sz="1200" b="0" i="0" dirty="0" err="1">
                <a:solidFill>
                  <a:schemeClr val="bg2"/>
                </a:solidFill>
                <a:effectLst/>
                <a:latin typeface="Source Sans Pro" panose="020B0503030403020204" pitchFamily="34" charset="0"/>
                <a:ea typeface="Source Sans Pro" panose="020B0503030403020204" pitchFamily="34" charset="0"/>
              </a:rPr>
              <a:t>superclasses</a:t>
            </a:r>
            <a:r>
              <a:rPr lang="en-US" altLang="zh-CN" sz="1200" b="0" i="0" dirty="0">
                <a:solidFill>
                  <a:schemeClr val="bg2"/>
                </a:solidFill>
                <a:effectLst/>
                <a:latin typeface="Source Sans Pro" panose="020B0503030403020204" pitchFamily="34" charset="0"/>
                <a:ea typeface="Source Sans Pro" panose="020B0503030403020204" pitchFamily="34" charset="0"/>
              </a:rPr>
              <a:t> </a:t>
            </a:r>
            <a:endParaRPr lang="en-US" altLang="zh-CN" sz="1200" b="0" i="0" dirty="0">
              <a:solidFill>
                <a:schemeClr val="bg2"/>
              </a:solidFill>
              <a:effectLst/>
              <a:latin typeface="Source Sans Pro" panose="020B0503030403020204" pitchFamily="34" charset="0"/>
              <a:ea typeface="Source Sans Pro" panose="020B0503030403020204" pitchFamily="34" charset="0"/>
            </a:endParaRPr>
          </a:p>
          <a:p>
            <a:r>
              <a:rPr lang="en-US" altLang="zh-CN" sz="1200" b="0" i="0" dirty="0">
                <a:solidFill>
                  <a:schemeClr val="bg2"/>
                </a:solidFill>
                <a:effectLst/>
                <a:latin typeface="Source Sans Pro" panose="020B0503030403020204" pitchFamily="34" charset="0"/>
                <a:ea typeface="Source Sans Pro" panose="020B0503030403020204" pitchFamily="34" charset="0"/>
              </a:rPr>
              <a:t>最终结果是属性命名空间树，该树从实例到生成它的类，再到类头中列出的所有超类。Python 在此树中向上搜索，从实例到超类</a:t>
            </a:r>
            <a:endParaRPr lang="en-US" altLang="zh-CN" sz="1200" b="0" i="0" dirty="0">
              <a:solidFill>
                <a:schemeClr val="bg2"/>
              </a:solidFill>
              <a:effectLst/>
              <a:latin typeface="Source Sans Pro" panose="020B0503030403020204" pitchFamily="34" charset="0"/>
              <a:ea typeface="Source Sans Pro" panose="020B0503030403020204" pitchFamily="34" charset="0"/>
            </a:endParaRPr>
          </a:p>
        </p:txBody>
      </p:sp>
      <p:sp>
        <p:nvSpPr>
          <p:cNvPr id="5" name="Up Arrow 4"/>
          <p:cNvSpPr/>
          <p:nvPr/>
        </p:nvSpPr>
        <p:spPr>
          <a:xfrm>
            <a:off x="5976281" y="2703544"/>
            <a:ext cx="484632" cy="1241997"/>
          </a:xfrm>
          <a:prstGeom prst="upArrow">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a:t>Multiple inheritance </a:t>
            </a:r>
            <a:r>
              <a:rPr kumimoji="1" lang="zh-CN" altLang="en-US" dirty="0"/>
              <a:t>多重继承</a:t>
            </a:r>
            <a:endParaRPr kumimoji="1" lang="zh-CN" altLang="en-US" dirty="0"/>
          </a:p>
        </p:txBody>
      </p:sp>
      <p:sp>
        <p:nvSpPr>
          <p:cNvPr id="3" name="文本占位符 2"/>
          <p:cNvSpPr>
            <a:spLocks noGrp="1"/>
          </p:cNvSpPr>
          <p:nvPr>
            <p:ph type="body" idx="1"/>
          </p:nvPr>
        </p:nvSpPr>
        <p:spPr>
          <a:xfrm>
            <a:off x="311700" y="1152475"/>
            <a:ext cx="8520600" cy="2634402"/>
          </a:xfrm>
        </p:spPr>
        <p:txBody>
          <a:bodyPr>
            <a:normAutofit/>
          </a:bodyPr>
          <a:lstStyle/>
          <a:p>
            <a:r>
              <a:rPr kumimoji="1" lang="en-GB" altLang="zh-CN" sz="1400" dirty="0">
                <a:solidFill>
                  <a:schemeClr val="bg2"/>
                </a:solidFill>
              </a:rPr>
              <a:t>Sub class may inherit several sup class </a:t>
            </a:r>
            <a:endParaRPr kumimoji="1" lang="en-GB" altLang="zh-CN" sz="1400" dirty="0">
              <a:solidFill>
                <a:schemeClr val="bg2"/>
              </a:solidFill>
            </a:endParaRPr>
          </a:p>
          <a:p>
            <a:endParaRPr kumimoji="1" lang="en-GB" altLang="zh-CN" dirty="0">
              <a:solidFill>
                <a:schemeClr val="bg2"/>
              </a:solidFill>
            </a:endParaRPr>
          </a:p>
          <a:p>
            <a:endParaRPr kumimoji="1" lang="en-GB" altLang="zh-CN" dirty="0">
              <a:solidFill>
                <a:schemeClr val="bg2"/>
              </a:solidFill>
            </a:endParaRPr>
          </a:p>
          <a:p>
            <a:endParaRPr kumimoji="1" lang="en-GB" altLang="zh-CN" dirty="0">
              <a:solidFill>
                <a:schemeClr val="bg2"/>
              </a:solidFill>
            </a:endParaRPr>
          </a:p>
          <a:p>
            <a:pPr marL="114300" indent="0">
              <a:buNone/>
            </a:pPr>
            <a:endParaRPr kumimoji="1" lang="en-GB" altLang="zh-CN" dirty="0">
              <a:solidFill>
                <a:schemeClr val="bg2"/>
              </a:solidFill>
            </a:endParaRPr>
          </a:p>
          <a:p>
            <a:pPr marL="114300" indent="0">
              <a:buNone/>
            </a:pPr>
            <a:endParaRPr kumimoji="1" lang="en-GB" altLang="zh-CN" sz="1400" dirty="0">
              <a:solidFill>
                <a:schemeClr val="bg2"/>
              </a:solidFill>
            </a:endParaRPr>
          </a:p>
          <a:p>
            <a:r>
              <a:rPr kumimoji="1" lang="en-GB" altLang="zh-CN" sz="1400" dirty="0">
                <a:solidFill>
                  <a:schemeClr val="bg2"/>
                </a:solidFill>
              </a:rPr>
              <a:t>Questions:</a:t>
            </a:r>
            <a:endParaRPr kumimoji="1" lang="en-GB" altLang="zh-CN" sz="1400" dirty="0">
              <a:solidFill>
                <a:schemeClr val="bg2"/>
              </a:solidFill>
            </a:endParaRPr>
          </a:p>
          <a:p>
            <a:pPr lvl="1"/>
            <a:r>
              <a:rPr kumimoji="1" lang="en-GB" altLang="zh-CN" sz="1200" dirty="0">
                <a:solidFill>
                  <a:schemeClr val="bg2"/>
                </a:solidFill>
              </a:rPr>
              <a:t>super()</a:t>
            </a:r>
            <a:r>
              <a:rPr kumimoji="1" lang="zh-CN" altLang="en-US" sz="1200" dirty="0">
                <a:solidFill>
                  <a:schemeClr val="bg2"/>
                </a:solidFill>
                <a:latin typeface="黑体" panose="02010609060101010101" pitchFamily="49" charset="-122"/>
                <a:ea typeface="黑体" panose="02010609060101010101" pitchFamily="49" charset="-122"/>
              </a:rPr>
              <a:t>的困扰</a:t>
            </a:r>
            <a:endParaRPr kumimoji="1" lang="zh-CN" altLang="en-US" sz="1200" dirty="0">
              <a:solidFill>
                <a:schemeClr val="bg2"/>
              </a:solidFill>
              <a:latin typeface="黑体" panose="02010609060101010101" pitchFamily="49" charset="-122"/>
              <a:ea typeface="黑体" panose="02010609060101010101" pitchFamily="49" charset="-122"/>
            </a:endParaRPr>
          </a:p>
        </p:txBody>
      </p:sp>
      <p:pic>
        <p:nvPicPr>
          <p:cNvPr id="4" name="Picture 4" descr="Text&#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36789" y="1525946"/>
            <a:ext cx="1795168" cy="1280553"/>
          </a:xfrm>
          <a:prstGeom prst="rect">
            <a:avLst/>
          </a:prstGeom>
        </p:spPr>
      </p:pic>
      <p:pic>
        <p:nvPicPr>
          <p:cNvPr id="5"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1920" y="2053791"/>
            <a:ext cx="720080" cy="274316"/>
          </a:xfrm>
          <a:prstGeom prst="rect">
            <a:avLst/>
          </a:prstGeom>
        </p:spPr>
      </p:pic>
      <p:pic>
        <p:nvPicPr>
          <p:cNvPr id="6" name="Picture 16" descr="Text&#10;&#10;Description automatically generate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4809" y="3485916"/>
            <a:ext cx="1265225" cy="1496106"/>
          </a:xfrm>
          <a:prstGeom prst="rect">
            <a:avLst/>
          </a:prstGeom>
        </p:spPr>
      </p:pic>
      <p:pic>
        <p:nvPicPr>
          <p:cNvPr id="7" name="Picture 18" descr="Text&#10;&#10;Description automatically generated"/>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46605" y="3303822"/>
            <a:ext cx="1009382" cy="1678200"/>
          </a:xfrm>
          <a:prstGeom prst="rect">
            <a:avLst/>
          </a:prstGeom>
        </p:spPr>
      </p:pic>
      <p:pic>
        <p:nvPicPr>
          <p:cNvPr id="8" name="Picture 20" descr="Text&#10;&#10;Description automatically generated"/>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64525" y="3179970"/>
            <a:ext cx="990909" cy="1802052"/>
          </a:xfrm>
          <a:prstGeom prst="rect">
            <a:avLst/>
          </a:prstGeom>
        </p:spPr>
      </p:pic>
      <p:pic>
        <p:nvPicPr>
          <p:cNvPr id="9" name="Picture 2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82757" y="4113370"/>
            <a:ext cx="390525" cy="866775"/>
          </a:xfrm>
          <a:prstGeom prst="rect">
            <a:avLst/>
          </a:prstGeom>
        </p:spPr>
      </p:pic>
      <p:grpSp>
        <p:nvGrpSpPr>
          <p:cNvPr id="27" name="Group 47"/>
          <p:cNvGrpSpPr/>
          <p:nvPr/>
        </p:nvGrpSpPr>
        <p:grpSpPr>
          <a:xfrm>
            <a:off x="5460291" y="2692638"/>
            <a:ext cx="1631586" cy="2249231"/>
            <a:chOff x="7621488" y="3855566"/>
            <a:chExt cx="2211588" cy="2853624"/>
          </a:xfrm>
        </p:grpSpPr>
        <p:grpSp>
          <p:nvGrpSpPr>
            <p:cNvPr id="28" name="Group 24"/>
            <p:cNvGrpSpPr/>
            <p:nvPr/>
          </p:nvGrpSpPr>
          <p:grpSpPr>
            <a:xfrm>
              <a:off x="8341568" y="3855566"/>
              <a:ext cx="576063" cy="596563"/>
              <a:chOff x="420737" y="1619"/>
              <a:chExt cx="1628923" cy="1628923"/>
            </a:xfrm>
          </p:grpSpPr>
          <p:sp>
            <p:nvSpPr>
              <p:cNvPr id="42" name="Oval 25"/>
              <p:cNvSpPr/>
              <p:nvPr/>
            </p:nvSpPr>
            <p:spPr>
              <a:xfrm>
                <a:off x="420737" y="1619"/>
                <a:ext cx="1628923" cy="1628923"/>
              </a:xfrm>
              <a:prstGeom prst="ellipse">
                <a:avLst/>
              </a:prstGeom>
              <a:solidFill>
                <a:srgbClr val="5B9BD5">
                  <a:hueOff val="0"/>
                  <a:satOff val="0"/>
                  <a:lumOff val="0"/>
                  <a:alphaOff val="0"/>
                </a:srgbClr>
              </a:solidFill>
              <a:ln w="12700" cap="flat" cmpd="sng" algn="ctr">
                <a:solidFill>
                  <a:sysClr val="window" lastClr="FFFFFF">
                    <a:hueOff val="0"/>
                    <a:satOff val="0"/>
                    <a:lumOff val="0"/>
                    <a:alphaOff val="0"/>
                  </a:sysClr>
                </a:solidFill>
                <a:prstDash val="solid"/>
              </a:ln>
              <a:effectLst/>
            </p:spPr>
            <p:txBody>
              <a:bodyPr/>
              <a:lstStyle/>
              <a:p>
                <a:endParaRPr lang="zh-CN" altLang="en-US"/>
              </a:p>
            </p:txBody>
          </p:sp>
          <p:sp>
            <p:nvSpPr>
              <p:cNvPr id="43" name="Oval 4"/>
              <p:cNvSpPr txBox="1"/>
              <p:nvPr/>
            </p:nvSpPr>
            <p:spPr>
              <a:xfrm>
                <a:off x="659287" y="240169"/>
                <a:ext cx="1151823" cy="1151823"/>
              </a:xfrm>
              <a:prstGeom prst="rect">
                <a:avLst/>
              </a:prstGeom>
              <a:noFill/>
              <a:ln>
                <a:noFill/>
              </a:ln>
              <a:effectLst/>
            </p:spPr>
            <p:txBody>
              <a:bodyPr spcFirstLastPara="0" vert="horz" wrap="square" lIns="54610" tIns="54610" rIns="54610" bIns="54610" numCol="1" spcCol="1270" anchor="ctr" anchorCtr="0">
                <a:noAutofit/>
              </a:bodyPr>
              <a:lstStyle/>
              <a:p>
                <a:pPr marL="0" marR="0" lvl="0" indent="0" algn="ctr" defTabSz="1911350" eaLnBrk="1" fontAlgn="auto" latinLnBrk="0" hangingPunct="1">
                  <a:lnSpc>
                    <a:spcPct val="90000"/>
                  </a:lnSpc>
                  <a:spcBef>
                    <a:spcPct val="0"/>
                  </a:spcBef>
                  <a:spcAft>
                    <a:spcPct val="35000"/>
                  </a:spcAft>
                  <a:buClrTx/>
                  <a:buSzTx/>
                  <a:buFontTx/>
                  <a:buNone/>
                  <a:defRPr/>
                </a:pPr>
                <a:r>
                  <a:rPr kumimoji="0" lang="en-US" altLang="zh-CN" sz="4300" b="0" i="0" u="none" strike="noStrike" kern="1200" cap="none" spc="0" normalizeH="0" baseline="0" noProof="0" dirty="0">
                    <a:ln>
                      <a:noFill/>
                    </a:ln>
                    <a:solidFill>
                      <a:srgbClr val="C00000"/>
                    </a:solidFill>
                    <a:effectLst/>
                    <a:uLnTx/>
                    <a:uFillTx/>
                    <a:latin typeface="Tw Cen MT" panose="020B0602020104020603"/>
                    <a:ea typeface="华文仿宋" panose="02010600040101010101" pitchFamily="34" charset="-122"/>
                    <a:cs typeface="+mn-cs"/>
                  </a:rPr>
                  <a:t>A</a:t>
                </a:r>
                <a:endParaRPr kumimoji="0" lang="zh-CN" altLang="en-US" sz="4300" b="0" i="0" u="none" strike="noStrike" kern="1200" cap="none" spc="0" normalizeH="0" baseline="0" noProof="0" dirty="0">
                  <a:ln>
                    <a:noFill/>
                  </a:ln>
                  <a:solidFill>
                    <a:srgbClr val="C00000"/>
                  </a:solidFill>
                  <a:effectLst/>
                  <a:uLnTx/>
                  <a:uFillTx/>
                  <a:latin typeface="Tw Cen MT" panose="020B0602020104020603"/>
                  <a:ea typeface="华文仿宋" panose="02010600040101010101" pitchFamily="34" charset="-122"/>
                  <a:cs typeface="+mn-cs"/>
                </a:endParaRPr>
              </a:p>
            </p:txBody>
          </p:sp>
        </p:grpSp>
        <p:grpSp>
          <p:nvGrpSpPr>
            <p:cNvPr id="29" name="Group 27"/>
            <p:cNvGrpSpPr/>
            <p:nvPr/>
          </p:nvGrpSpPr>
          <p:grpSpPr>
            <a:xfrm>
              <a:off x="7621488" y="4919719"/>
              <a:ext cx="576063" cy="596563"/>
              <a:chOff x="420737" y="1619"/>
              <a:chExt cx="1628923" cy="1628923"/>
            </a:xfrm>
          </p:grpSpPr>
          <p:sp>
            <p:nvSpPr>
              <p:cNvPr id="40" name="Oval 28"/>
              <p:cNvSpPr/>
              <p:nvPr/>
            </p:nvSpPr>
            <p:spPr>
              <a:xfrm>
                <a:off x="420737" y="1619"/>
                <a:ext cx="1628923" cy="1628923"/>
              </a:xfrm>
              <a:prstGeom prst="ellipse">
                <a:avLst/>
              </a:prstGeom>
              <a:solidFill>
                <a:srgbClr val="5B9BD5">
                  <a:hueOff val="0"/>
                  <a:satOff val="0"/>
                  <a:lumOff val="0"/>
                  <a:alphaOff val="0"/>
                </a:srgbClr>
              </a:solidFill>
              <a:ln w="12700" cap="flat" cmpd="sng" algn="ctr">
                <a:solidFill>
                  <a:sysClr val="window" lastClr="FFFFFF">
                    <a:hueOff val="0"/>
                    <a:satOff val="0"/>
                    <a:lumOff val="0"/>
                    <a:alphaOff val="0"/>
                  </a:sysClr>
                </a:solidFill>
                <a:prstDash val="solid"/>
              </a:ln>
              <a:effectLst/>
            </p:spPr>
            <p:txBody>
              <a:bodyPr/>
              <a:lstStyle/>
              <a:p>
                <a:endParaRPr lang="zh-CN" altLang="en-US"/>
              </a:p>
            </p:txBody>
          </p:sp>
          <p:sp>
            <p:nvSpPr>
              <p:cNvPr id="41" name="Oval 4"/>
              <p:cNvSpPr txBox="1"/>
              <p:nvPr/>
            </p:nvSpPr>
            <p:spPr>
              <a:xfrm>
                <a:off x="659287" y="240169"/>
                <a:ext cx="1151823" cy="1151823"/>
              </a:xfrm>
              <a:prstGeom prst="rect">
                <a:avLst/>
              </a:prstGeom>
              <a:noFill/>
              <a:ln>
                <a:noFill/>
              </a:ln>
              <a:effectLst/>
            </p:spPr>
            <p:txBody>
              <a:bodyPr spcFirstLastPara="0" vert="horz" wrap="square" lIns="54610" tIns="54610" rIns="54610" bIns="54610" numCol="1" spcCol="1270" anchor="ctr" anchorCtr="0">
                <a:noAutofit/>
              </a:bodyPr>
              <a:lstStyle/>
              <a:p>
                <a:pPr marL="0" marR="0" lvl="0" indent="0" algn="ctr" defTabSz="1911350" eaLnBrk="1" fontAlgn="auto" latinLnBrk="0" hangingPunct="1">
                  <a:lnSpc>
                    <a:spcPct val="90000"/>
                  </a:lnSpc>
                  <a:spcBef>
                    <a:spcPct val="0"/>
                  </a:spcBef>
                  <a:spcAft>
                    <a:spcPct val="35000"/>
                  </a:spcAft>
                  <a:buClrTx/>
                  <a:buSzTx/>
                  <a:buFontTx/>
                  <a:buNone/>
                  <a:defRPr/>
                </a:pPr>
                <a:r>
                  <a:rPr kumimoji="0" lang="en-US" altLang="zh-CN" sz="4300" b="0" i="0" u="none" strike="noStrike" kern="1200" cap="none" spc="0" normalizeH="0" baseline="0" noProof="0" dirty="0">
                    <a:ln>
                      <a:noFill/>
                    </a:ln>
                    <a:solidFill>
                      <a:srgbClr val="C00000"/>
                    </a:solidFill>
                    <a:effectLst/>
                    <a:uLnTx/>
                    <a:uFillTx/>
                    <a:latin typeface="Tw Cen MT" panose="020B0602020104020603"/>
                    <a:ea typeface="华文仿宋" panose="02010600040101010101" pitchFamily="34" charset="-122"/>
                    <a:cs typeface="+mn-cs"/>
                  </a:rPr>
                  <a:t>B</a:t>
                </a:r>
                <a:endParaRPr kumimoji="0" lang="zh-CN" altLang="en-US" sz="4300" b="0" i="0" u="none" strike="noStrike" kern="1200" cap="none" spc="0" normalizeH="0" baseline="0" noProof="0" dirty="0">
                  <a:ln>
                    <a:noFill/>
                  </a:ln>
                  <a:solidFill>
                    <a:srgbClr val="C00000"/>
                  </a:solidFill>
                  <a:effectLst/>
                  <a:uLnTx/>
                  <a:uFillTx/>
                  <a:latin typeface="Tw Cen MT" panose="020B0602020104020603"/>
                  <a:ea typeface="华文仿宋" panose="02010600040101010101" pitchFamily="34" charset="-122"/>
                  <a:cs typeface="+mn-cs"/>
                </a:endParaRPr>
              </a:p>
            </p:txBody>
          </p:sp>
        </p:grpSp>
        <p:grpSp>
          <p:nvGrpSpPr>
            <p:cNvPr id="30" name="Group 30"/>
            <p:cNvGrpSpPr/>
            <p:nvPr/>
          </p:nvGrpSpPr>
          <p:grpSpPr>
            <a:xfrm>
              <a:off x="9257013" y="4919719"/>
              <a:ext cx="576063" cy="596563"/>
              <a:chOff x="420737" y="1619"/>
              <a:chExt cx="1628923" cy="1628923"/>
            </a:xfrm>
          </p:grpSpPr>
          <p:sp>
            <p:nvSpPr>
              <p:cNvPr id="38" name="Oval 31"/>
              <p:cNvSpPr/>
              <p:nvPr/>
            </p:nvSpPr>
            <p:spPr>
              <a:xfrm>
                <a:off x="420737" y="1619"/>
                <a:ext cx="1628923" cy="1628923"/>
              </a:xfrm>
              <a:prstGeom prst="ellipse">
                <a:avLst/>
              </a:prstGeom>
              <a:solidFill>
                <a:srgbClr val="5B9BD5">
                  <a:hueOff val="0"/>
                  <a:satOff val="0"/>
                  <a:lumOff val="0"/>
                  <a:alphaOff val="0"/>
                </a:srgbClr>
              </a:solidFill>
              <a:ln w="12700" cap="flat" cmpd="sng" algn="ctr">
                <a:solidFill>
                  <a:sysClr val="window" lastClr="FFFFFF">
                    <a:hueOff val="0"/>
                    <a:satOff val="0"/>
                    <a:lumOff val="0"/>
                    <a:alphaOff val="0"/>
                  </a:sysClr>
                </a:solidFill>
                <a:prstDash val="solid"/>
              </a:ln>
              <a:effectLst/>
            </p:spPr>
            <p:txBody>
              <a:bodyPr/>
              <a:lstStyle/>
              <a:p>
                <a:endParaRPr lang="zh-CN" altLang="en-US"/>
              </a:p>
            </p:txBody>
          </p:sp>
          <p:sp>
            <p:nvSpPr>
              <p:cNvPr id="39" name="Oval 4"/>
              <p:cNvSpPr txBox="1"/>
              <p:nvPr/>
            </p:nvSpPr>
            <p:spPr>
              <a:xfrm>
                <a:off x="659287" y="240169"/>
                <a:ext cx="1151823" cy="1151823"/>
              </a:xfrm>
              <a:prstGeom prst="rect">
                <a:avLst/>
              </a:prstGeom>
              <a:noFill/>
              <a:ln>
                <a:noFill/>
              </a:ln>
              <a:effectLst/>
            </p:spPr>
            <p:txBody>
              <a:bodyPr spcFirstLastPara="0" vert="horz" wrap="square" lIns="54610" tIns="54610" rIns="54610" bIns="54610" numCol="1" spcCol="1270" anchor="ctr" anchorCtr="0">
                <a:noAutofit/>
              </a:bodyPr>
              <a:lstStyle/>
              <a:p>
                <a:pPr marL="0" marR="0" lvl="0" indent="0" algn="ctr" defTabSz="1911350" eaLnBrk="1" fontAlgn="auto" latinLnBrk="0" hangingPunct="1">
                  <a:lnSpc>
                    <a:spcPct val="90000"/>
                  </a:lnSpc>
                  <a:spcBef>
                    <a:spcPct val="0"/>
                  </a:spcBef>
                  <a:spcAft>
                    <a:spcPct val="35000"/>
                  </a:spcAft>
                  <a:buClrTx/>
                  <a:buSzTx/>
                  <a:buFontTx/>
                  <a:buNone/>
                  <a:defRPr/>
                </a:pPr>
                <a:r>
                  <a:rPr kumimoji="0" lang="en-US" altLang="zh-CN" sz="4300" b="0" i="0" u="none" strike="noStrike" kern="1200" cap="none" spc="0" normalizeH="0" baseline="0" noProof="0" dirty="0">
                    <a:ln>
                      <a:noFill/>
                    </a:ln>
                    <a:solidFill>
                      <a:srgbClr val="C00000"/>
                    </a:solidFill>
                    <a:effectLst/>
                    <a:uLnTx/>
                    <a:uFillTx/>
                    <a:latin typeface="Tw Cen MT" panose="020B0602020104020603"/>
                    <a:ea typeface="华文仿宋" panose="02010600040101010101" pitchFamily="34" charset="-122"/>
                    <a:cs typeface="+mn-cs"/>
                  </a:rPr>
                  <a:t>C</a:t>
                </a:r>
                <a:endParaRPr kumimoji="0" lang="zh-CN" altLang="en-US" sz="4300" b="0" i="0" u="none" strike="noStrike" kern="1200" cap="none" spc="0" normalizeH="0" baseline="0" noProof="0" dirty="0">
                  <a:ln>
                    <a:noFill/>
                  </a:ln>
                  <a:solidFill>
                    <a:srgbClr val="C00000"/>
                  </a:solidFill>
                  <a:effectLst/>
                  <a:uLnTx/>
                  <a:uFillTx/>
                  <a:latin typeface="Tw Cen MT" panose="020B0602020104020603"/>
                  <a:ea typeface="华文仿宋" panose="02010600040101010101" pitchFamily="34" charset="-122"/>
                  <a:cs typeface="+mn-cs"/>
                </a:endParaRPr>
              </a:p>
            </p:txBody>
          </p:sp>
        </p:grpSp>
        <p:grpSp>
          <p:nvGrpSpPr>
            <p:cNvPr id="31" name="Group 33"/>
            <p:cNvGrpSpPr/>
            <p:nvPr/>
          </p:nvGrpSpPr>
          <p:grpSpPr>
            <a:xfrm>
              <a:off x="8438584" y="6112627"/>
              <a:ext cx="576063" cy="596563"/>
              <a:chOff x="687217" y="1616"/>
              <a:chExt cx="1628923" cy="1628923"/>
            </a:xfrm>
          </p:grpSpPr>
          <p:sp>
            <p:nvSpPr>
              <p:cNvPr id="36" name="Oval 34"/>
              <p:cNvSpPr/>
              <p:nvPr/>
            </p:nvSpPr>
            <p:spPr>
              <a:xfrm>
                <a:off x="687217" y="1616"/>
                <a:ext cx="1628923" cy="1628923"/>
              </a:xfrm>
              <a:prstGeom prst="ellipse">
                <a:avLst/>
              </a:prstGeom>
              <a:solidFill>
                <a:srgbClr val="5B9BD5">
                  <a:hueOff val="0"/>
                  <a:satOff val="0"/>
                  <a:lumOff val="0"/>
                  <a:alphaOff val="0"/>
                </a:srgbClr>
              </a:solidFill>
              <a:ln w="12700" cap="flat" cmpd="sng" algn="ctr">
                <a:solidFill>
                  <a:sysClr val="window" lastClr="FFFFFF">
                    <a:hueOff val="0"/>
                    <a:satOff val="0"/>
                    <a:lumOff val="0"/>
                    <a:alphaOff val="0"/>
                  </a:sysClr>
                </a:solidFill>
                <a:prstDash val="solid"/>
              </a:ln>
              <a:effectLst/>
            </p:spPr>
            <p:txBody>
              <a:bodyPr/>
              <a:lstStyle/>
              <a:p>
                <a:endParaRPr lang="zh-CN" altLang="en-US"/>
              </a:p>
            </p:txBody>
          </p:sp>
          <p:sp>
            <p:nvSpPr>
              <p:cNvPr id="37" name="Oval 4"/>
              <p:cNvSpPr txBox="1"/>
              <p:nvPr/>
            </p:nvSpPr>
            <p:spPr>
              <a:xfrm>
                <a:off x="964822" y="296069"/>
                <a:ext cx="1151824" cy="1151824"/>
              </a:xfrm>
              <a:prstGeom prst="rect">
                <a:avLst/>
              </a:prstGeom>
              <a:noFill/>
              <a:ln>
                <a:noFill/>
              </a:ln>
              <a:effectLst/>
            </p:spPr>
            <p:txBody>
              <a:bodyPr spcFirstLastPara="0" vert="horz" wrap="square" lIns="54610" tIns="54610" rIns="54610" bIns="54610" numCol="1" spcCol="1270" anchor="ctr" anchorCtr="0">
                <a:noAutofit/>
              </a:bodyPr>
              <a:lstStyle/>
              <a:p>
                <a:pPr marL="0" marR="0" lvl="0" indent="0" algn="ctr" defTabSz="1911350" eaLnBrk="1" fontAlgn="auto" latinLnBrk="0" hangingPunct="1">
                  <a:lnSpc>
                    <a:spcPct val="90000"/>
                  </a:lnSpc>
                  <a:spcBef>
                    <a:spcPct val="0"/>
                  </a:spcBef>
                  <a:spcAft>
                    <a:spcPct val="35000"/>
                  </a:spcAft>
                  <a:buClrTx/>
                  <a:buSzTx/>
                  <a:buFontTx/>
                  <a:buNone/>
                  <a:defRPr/>
                </a:pPr>
                <a:r>
                  <a:rPr kumimoji="0" lang="en-US" altLang="zh-CN" sz="4300" b="0" i="0" u="none" strike="noStrike" kern="1200" cap="none" spc="0" normalizeH="0" baseline="0" noProof="0" dirty="0">
                    <a:ln>
                      <a:noFill/>
                    </a:ln>
                    <a:solidFill>
                      <a:srgbClr val="C00000"/>
                    </a:solidFill>
                    <a:effectLst/>
                    <a:uLnTx/>
                    <a:uFillTx/>
                    <a:latin typeface="Tw Cen MT" panose="020B0602020104020603"/>
                    <a:ea typeface="华文仿宋" panose="02010600040101010101" pitchFamily="34" charset="-122"/>
                    <a:cs typeface="+mn-cs"/>
                  </a:rPr>
                  <a:t>D</a:t>
                </a:r>
                <a:endParaRPr kumimoji="0" lang="zh-CN" altLang="en-US" sz="4300" b="0" i="0" u="none" strike="noStrike" kern="1200" cap="none" spc="0" normalizeH="0" baseline="0" noProof="0" dirty="0">
                  <a:ln>
                    <a:noFill/>
                  </a:ln>
                  <a:solidFill>
                    <a:srgbClr val="C00000"/>
                  </a:solidFill>
                  <a:effectLst/>
                  <a:uLnTx/>
                  <a:uFillTx/>
                  <a:latin typeface="Tw Cen MT" panose="020B0602020104020603"/>
                  <a:ea typeface="华文仿宋" panose="02010600040101010101" pitchFamily="34" charset="-122"/>
                  <a:cs typeface="+mn-cs"/>
                </a:endParaRPr>
              </a:p>
            </p:txBody>
          </p:sp>
        </p:grpSp>
        <p:cxnSp>
          <p:nvCxnSpPr>
            <p:cNvPr id="32" name="Straight Arrow Connector 38"/>
            <p:cNvCxnSpPr>
              <a:stCxn id="42" idx="3"/>
            </p:cNvCxnSpPr>
            <p:nvPr/>
          </p:nvCxnSpPr>
          <p:spPr>
            <a:xfrm flipH="1">
              <a:off x="8048324" y="4364764"/>
              <a:ext cx="377606" cy="586047"/>
            </a:xfrm>
            <a:prstGeom prst="straightConnector1">
              <a:avLst/>
            </a:prstGeom>
            <a:noFill/>
            <a:ln w="6350" cap="flat" cmpd="sng" algn="ctr">
              <a:solidFill>
                <a:srgbClr val="5B9BD5"/>
              </a:solidFill>
              <a:prstDash val="solid"/>
              <a:tailEnd type="triangle"/>
            </a:ln>
            <a:effectLst/>
          </p:spPr>
        </p:cxnSp>
        <p:cxnSp>
          <p:nvCxnSpPr>
            <p:cNvPr id="33" name="Straight Arrow Connector 40"/>
            <p:cNvCxnSpPr>
              <a:stCxn id="42" idx="5"/>
            </p:cNvCxnSpPr>
            <p:nvPr/>
          </p:nvCxnSpPr>
          <p:spPr>
            <a:xfrm>
              <a:off x="8833269" y="4364764"/>
              <a:ext cx="588419" cy="642320"/>
            </a:xfrm>
            <a:prstGeom prst="straightConnector1">
              <a:avLst/>
            </a:prstGeom>
            <a:noFill/>
            <a:ln w="6350" cap="flat" cmpd="sng" algn="ctr">
              <a:solidFill>
                <a:srgbClr val="5B9BD5"/>
              </a:solidFill>
              <a:prstDash val="solid"/>
              <a:tailEnd type="triangle"/>
            </a:ln>
            <a:effectLst/>
          </p:spPr>
        </p:cxnSp>
        <p:cxnSp>
          <p:nvCxnSpPr>
            <p:cNvPr id="34" name="Straight Arrow Connector 42"/>
            <p:cNvCxnSpPr>
              <a:stCxn id="40" idx="4"/>
              <a:endCxn id="36" idx="1"/>
            </p:cNvCxnSpPr>
            <p:nvPr/>
          </p:nvCxnSpPr>
          <p:spPr>
            <a:xfrm>
              <a:off x="7909520" y="5516282"/>
              <a:ext cx="613427" cy="683709"/>
            </a:xfrm>
            <a:prstGeom prst="straightConnector1">
              <a:avLst/>
            </a:prstGeom>
            <a:noFill/>
            <a:ln w="6350" cap="flat" cmpd="sng" algn="ctr">
              <a:solidFill>
                <a:srgbClr val="5B9BD5"/>
              </a:solidFill>
              <a:prstDash val="solid"/>
              <a:tailEnd type="triangle"/>
            </a:ln>
            <a:effectLst/>
          </p:spPr>
        </p:cxnSp>
        <p:cxnSp>
          <p:nvCxnSpPr>
            <p:cNvPr id="35" name="Straight Arrow Connector 46"/>
            <p:cNvCxnSpPr>
              <a:stCxn id="38" idx="3"/>
              <a:endCxn id="36" idx="7"/>
            </p:cNvCxnSpPr>
            <p:nvPr/>
          </p:nvCxnSpPr>
          <p:spPr>
            <a:xfrm flipH="1">
              <a:off x="8930284" y="5428918"/>
              <a:ext cx="411091" cy="771073"/>
            </a:xfrm>
            <a:prstGeom prst="straightConnector1">
              <a:avLst/>
            </a:prstGeom>
            <a:noFill/>
            <a:ln w="6350" cap="flat" cmpd="sng" algn="ctr">
              <a:solidFill>
                <a:srgbClr val="5B9BD5"/>
              </a:solidFill>
              <a:prstDash val="solid"/>
              <a:tailEnd type="triangle"/>
            </a:ln>
            <a:effectLst/>
          </p:spPr>
        </p:cxnSp>
      </p:grpSp>
      <p:sp>
        <p:nvSpPr>
          <p:cNvPr id="46" name="Rectangle 1"/>
          <p:cNvSpPr/>
          <p:nvPr/>
        </p:nvSpPr>
        <p:spPr>
          <a:xfrm>
            <a:off x="7428150" y="3288725"/>
            <a:ext cx="1109458" cy="561380"/>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chemeClr val="tx1"/>
              </a:buClr>
            </a:pPr>
            <a:r>
              <a:rPr lang="zh-CN" altLang="en-US" sz="1200" dirty="0">
                <a:solidFill>
                  <a:schemeClr val="tx1"/>
                </a:solidFill>
                <a:latin typeface="黑体" panose="02010609060101010101" pitchFamily="49" charset="-122"/>
                <a:ea typeface="黑体" panose="02010609060101010101" pitchFamily="49" charset="-122"/>
              </a:rPr>
              <a:t>仅供了解</a:t>
            </a:r>
            <a:endParaRPr lang="en-US" altLang="zh-CN" sz="1200" dirty="0">
              <a:solidFill>
                <a:schemeClr val="tx1"/>
              </a:solidFill>
              <a:latin typeface="黑体" panose="02010609060101010101" pitchFamily="49" charset="-122"/>
              <a:ea typeface="黑体" panose="02010609060101010101" pitchFamily="49" charset="-122"/>
            </a:endParaRPr>
          </a:p>
          <a:p>
            <a:pPr>
              <a:buClr>
                <a:schemeClr val="tx1"/>
              </a:buClr>
            </a:pPr>
            <a:r>
              <a:rPr lang="en-US" altLang="zh-CN" sz="1200" dirty="0">
                <a:solidFill>
                  <a:schemeClr val="tx1"/>
                </a:solidFill>
                <a:latin typeface="Source Sans Pro" panose="020B0503030403020204" pitchFamily="34" charset="0"/>
                <a:ea typeface="Source Sans Pro" panose="020B0503030403020204" pitchFamily="34" charset="0"/>
              </a:rPr>
              <a:t>MRO</a:t>
            </a:r>
            <a:endParaRPr lang="en-US" altLang="zh-CN" sz="1200" dirty="0">
              <a:solidFill>
                <a:schemeClr val="tx1"/>
              </a:solidFill>
              <a:latin typeface="Source Sans Pro" panose="020B0503030403020204" pitchFamily="34" charset="0"/>
              <a:ea typeface="Source Sans Pro" panose="020B0503030403020204" pitchFamily="34" charset="0"/>
            </a:endParaRPr>
          </a:p>
          <a:p>
            <a:pPr>
              <a:buClr>
                <a:schemeClr val="tx1"/>
              </a:buClr>
            </a:pPr>
            <a:r>
              <a:rPr lang="en-US" altLang="zh-CN" sz="1200" dirty="0">
                <a:solidFill>
                  <a:schemeClr val="tx1"/>
                </a:solidFill>
                <a:latin typeface="Source Sans Pro" panose="020B0503030403020204" pitchFamily="34" charset="0"/>
                <a:ea typeface="Source Sans Pro" panose="020B0503030403020204" pitchFamily="34" charset="0"/>
              </a:rPr>
              <a:t>BFS</a:t>
            </a:r>
            <a:endParaRPr lang="zh-CN" altLang="en-US" sz="1200" dirty="0">
              <a:solidFill>
                <a:schemeClr val="tx1"/>
              </a:solidFill>
              <a:latin typeface="Source Sans Pro" panose="020B0503030403020204" pitchFamily="34" charset="0"/>
              <a:ea typeface="黑体" panose="02010609060101010101" pitchFamily="49" charset="-122"/>
            </a:endParaRPr>
          </a:p>
        </p:txBody>
      </p:sp>
      <p:sp>
        <p:nvSpPr>
          <p:cNvPr id="11" name="文本框 10"/>
          <p:cNvSpPr txBox="1"/>
          <p:nvPr/>
        </p:nvSpPr>
        <p:spPr>
          <a:xfrm>
            <a:off x="5181539" y="1520620"/>
            <a:ext cx="2970701" cy="461665"/>
          </a:xfrm>
          <a:prstGeom prst="rect">
            <a:avLst/>
          </a:prstGeom>
          <a:noFill/>
        </p:spPr>
        <p:txBody>
          <a:bodyPr wrap="square">
            <a:spAutoFit/>
          </a:bodyPr>
          <a:lstStyle/>
          <a:p>
            <a:pPr>
              <a:buClr>
                <a:schemeClr val="tx1"/>
              </a:buClr>
            </a:pPr>
            <a:r>
              <a:rPr lang="en-GB" altLang="zh-CN" sz="1200" dirty="0">
                <a:solidFill>
                  <a:schemeClr val="bg2"/>
                </a:solidFill>
                <a:latin typeface="Source Sans Pro" panose="020B0503030403020204" pitchFamily="34" charset="0"/>
                <a:ea typeface="Source Sans Pro" panose="020B0503030403020204" pitchFamily="34" charset="0"/>
              </a:rPr>
              <a:t>Chapter 31: Designing with Classes</a:t>
            </a:r>
            <a:endParaRPr lang="en-GB" altLang="zh-CN" sz="1200" dirty="0">
              <a:solidFill>
                <a:schemeClr val="bg2"/>
              </a:solidFill>
              <a:latin typeface="Source Sans Pro" panose="020B0503030403020204" pitchFamily="34" charset="0"/>
              <a:ea typeface="Source Sans Pro" panose="020B0503030403020204" pitchFamily="34" charset="0"/>
            </a:endParaRPr>
          </a:p>
          <a:p>
            <a:pPr>
              <a:buClr>
                <a:schemeClr val="tx1"/>
              </a:buClr>
            </a:pPr>
            <a:r>
              <a:rPr lang="en-GB" altLang="zh-CN" sz="1200" dirty="0">
                <a:solidFill>
                  <a:schemeClr val="bg2"/>
                </a:solidFill>
                <a:latin typeface="Source Sans Pro" panose="020B0503030403020204" pitchFamily="34" charset="0"/>
                <a:ea typeface="Source Sans Pro" panose="020B0503030403020204" pitchFamily="34" charset="0"/>
              </a:rPr>
              <a:t>P. 956 Multiple Inheritance: “Mix-in” Classes</a:t>
            </a:r>
            <a:endParaRPr lang="en-GB" altLang="zh-CN" sz="1200" dirty="0">
              <a:solidFill>
                <a:schemeClr val="bg2"/>
              </a:solidFill>
              <a:latin typeface="Source Sans Pro" panose="020B0503030403020204" pitchFamily="34" charset="0"/>
              <a:ea typeface="Source Sans Pro" panose="020B0503030403020204" pitchFamily="3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GB" altLang="zh-CN" dirty="0"/>
              <a:t>Example</a:t>
            </a:r>
            <a:endParaRPr kumimoji="1" lang="zh-CN" altLang="en-US" dirty="0"/>
          </a:p>
        </p:txBody>
      </p:sp>
      <p:sp>
        <p:nvSpPr>
          <p:cNvPr id="3" name="文本占位符 2"/>
          <p:cNvSpPr>
            <a:spLocks noGrp="1"/>
          </p:cNvSpPr>
          <p:nvPr>
            <p:ph type="body" idx="1"/>
          </p:nvPr>
        </p:nvSpPr>
        <p:spPr>
          <a:xfrm>
            <a:off x="311700" y="1152475"/>
            <a:ext cx="8520600" cy="2853917"/>
          </a:xfrm>
        </p:spPr>
        <p:txBody>
          <a:bodyPr>
            <a:normAutofit/>
          </a:bodyPr>
          <a:lstStyle/>
          <a:p>
            <a:r>
              <a:rPr kumimoji="1" lang="en-GB" altLang="zh-CN" sz="1200" dirty="0">
                <a:solidFill>
                  <a:schemeClr val="bg2"/>
                </a:solidFill>
              </a:rPr>
              <a:t>Triangle</a:t>
            </a:r>
            <a:endParaRPr kumimoji="1" lang="en-GB" altLang="zh-CN" sz="1200" dirty="0">
              <a:solidFill>
                <a:schemeClr val="bg2"/>
              </a:solidFill>
            </a:endParaRPr>
          </a:p>
          <a:p>
            <a:r>
              <a:rPr kumimoji="1" lang="en-GB" altLang="zh-CN" sz="1200" dirty="0">
                <a:solidFill>
                  <a:schemeClr val="bg2"/>
                </a:solidFill>
              </a:rPr>
              <a:t>Vector</a:t>
            </a:r>
            <a:endParaRPr kumimoji="1" lang="en-GB" altLang="zh-CN" sz="1200" dirty="0">
              <a:solidFill>
                <a:schemeClr val="bg2"/>
              </a:solidFill>
            </a:endParaRPr>
          </a:p>
          <a:p>
            <a:r>
              <a:rPr kumimoji="1" lang="en-GB" altLang="zh-CN" sz="1200" dirty="0">
                <a:solidFill>
                  <a:schemeClr val="bg2"/>
                </a:solidFill>
              </a:rPr>
              <a:t>Point2D</a:t>
            </a:r>
            <a:endParaRPr kumimoji="1" lang="en-GB" altLang="zh-CN" sz="1200" dirty="0">
              <a:solidFill>
                <a:schemeClr val="bg2"/>
              </a:solidFill>
            </a:endParaRPr>
          </a:p>
          <a:p>
            <a:r>
              <a:rPr kumimoji="1" lang="en-GB" altLang="zh-CN" sz="1200" dirty="0" err="1">
                <a:solidFill>
                  <a:schemeClr val="bg2"/>
                </a:solidFill>
              </a:rPr>
              <a:t>nDPoint</a:t>
            </a:r>
            <a:endParaRPr kumimoji="1" lang="en-GB" altLang="zh-CN" sz="1200" dirty="0">
              <a:solidFill>
                <a:schemeClr val="bg2"/>
              </a:solidFill>
            </a:endParaRPr>
          </a:p>
          <a:p>
            <a:r>
              <a:rPr kumimoji="1" lang="en-GB" altLang="zh-CN" sz="1200" dirty="0" err="1">
                <a:solidFill>
                  <a:schemeClr val="bg2"/>
                </a:solidFill>
              </a:rPr>
              <a:t>ComplexNumber</a:t>
            </a:r>
            <a:endParaRPr kumimoji="1" lang="en-GB" altLang="zh-CN" sz="1200" dirty="0">
              <a:solidFill>
                <a:schemeClr val="bg2"/>
              </a:solidFill>
            </a:endParaRPr>
          </a:p>
          <a:p>
            <a:r>
              <a:rPr kumimoji="1" lang="en-GB" altLang="zh-CN" sz="1200" dirty="0">
                <a:solidFill>
                  <a:schemeClr val="bg2"/>
                </a:solidFill>
              </a:rPr>
              <a:t>Happy Number</a:t>
            </a:r>
            <a:endParaRPr kumimoji="1" lang="en-GB" altLang="zh-CN" sz="1200" dirty="0">
              <a:solidFill>
                <a:schemeClr val="bg2"/>
              </a:solidFill>
            </a:endParaRPr>
          </a:p>
          <a:p>
            <a:r>
              <a:rPr kumimoji="1" lang="en-GB" altLang="zh-CN" sz="1200" dirty="0">
                <a:solidFill>
                  <a:schemeClr val="bg2"/>
                </a:solidFill>
              </a:rPr>
              <a:t>Isomorphic String</a:t>
            </a:r>
            <a:endParaRPr kumimoji="1" lang="en-GB" altLang="zh-CN" sz="1200" dirty="0">
              <a:solidFill>
                <a:schemeClr val="bg2"/>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kumimoji="1" lang="en-US" altLang="zh-CN" dirty="0"/>
              <a:t>Reading</a:t>
            </a:r>
            <a:endParaRPr kumimoji="1" lang="zh-CN" altLang="en-US" dirty="0"/>
          </a:p>
        </p:txBody>
      </p:sp>
      <p:sp>
        <p:nvSpPr>
          <p:cNvPr id="3" name="文本占位符 2"/>
          <p:cNvSpPr>
            <a:spLocks noGrp="1"/>
          </p:cNvSpPr>
          <p:nvPr>
            <p:ph type="body" idx="1"/>
          </p:nvPr>
        </p:nvSpPr>
        <p:spPr>
          <a:xfrm>
            <a:off x="311700" y="1152475"/>
            <a:ext cx="8520600" cy="2038466"/>
          </a:xfrm>
        </p:spPr>
        <p:txBody>
          <a:bodyPr>
            <a:normAutofit/>
          </a:bodyPr>
          <a:lstStyle/>
          <a:p>
            <a:pPr marL="114300" indent="0">
              <a:buNone/>
            </a:pPr>
            <a:r>
              <a:rPr kumimoji="1" lang="en-GB" altLang="zh-CN" sz="1400" dirty="0">
                <a:solidFill>
                  <a:schemeClr val="bg2"/>
                </a:solidFill>
              </a:rPr>
              <a:t>Learning Python: </a:t>
            </a:r>
            <a:r>
              <a:rPr kumimoji="1" lang="en-GB" altLang="zh-CN" sz="1400" dirty="0">
                <a:solidFill>
                  <a:schemeClr val="tx1"/>
                </a:solidFill>
              </a:rPr>
              <a:t>Part VI. Class and OOP</a:t>
            </a:r>
            <a:endParaRPr kumimoji="1" lang="en-GB" altLang="zh-CN" sz="1400" dirty="0">
              <a:solidFill>
                <a:schemeClr val="tx1"/>
              </a:solidFill>
            </a:endParaRPr>
          </a:p>
          <a:p>
            <a:r>
              <a:rPr kumimoji="1" lang="en-GB" altLang="zh-CN" sz="1400" dirty="0">
                <a:solidFill>
                  <a:schemeClr val="bg2"/>
                </a:solidFill>
              </a:rPr>
              <a:t>[]</a:t>
            </a:r>
            <a:endParaRPr kumimoji="1" lang="en-GB" altLang="zh-CN" sz="1400" dirty="0">
              <a:solidFill>
                <a:schemeClr val="bg2"/>
              </a:solidFill>
            </a:endParaRPr>
          </a:p>
          <a:p>
            <a:r>
              <a:rPr kumimoji="1" lang="en-GB" altLang="zh-CN" sz="1400" dirty="0">
                <a:solidFill>
                  <a:schemeClr val="bg2"/>
                </a:solidFill>
              </a:rPr>
              <a:t>for</a:t>
            </a:r>
            <a:endParaRPr kumimoji="1" lang="en-GB" altLang="zh-CN" sz="1400" dirty="0">
              <a:solidFill>
                <a:schemeClr val="bg2"/>
              </a:solidFill>
            </a:endParaRPr>
          </a:p>
          <a:p>
            <a:r>
              <a:rPr kumimoji="1" lang="en-GB" altLang="zh-CN" sz="1400" dirty="0">
                <a:solidFill>
                  <a:schemeClr val="bg2"/>
                </a:solidFill>
              </a:rPr>
              <a:t>……</a:t>
            </a:r>
            <a:endParaRPr kumimoji="1" lang="en-GB" altLang="zh-CN" sz="1400" dirty="0">
              <a:solidFill>
                <a:schemeClr val="bg2"/>
              </a:solidFill>
            </a:endParaRPr>
          </a:p>
          <a:p>
            <a:r>
              <a:rPr kumimoji="1" lang="en-GB" altLang="zh-CN" sz="1400" dirty="0">
                <a:solidFill>
                  <a:schemeClr val="bg2"/>
                </a:solidFill>
              </a:rPr>
              <a:t>Super() P. 1403</a:t>
            </a:r>
            <a:endParaRPr kumimoji="1" lang="en-GB" altLang="zh-CN" sz="1400" dirty="0">
              <a:solidFill>
                <a:schemeClr val="bg2"/>
              </a:solidFill>
            </a:endParaRPr>
          </a:p>
          <a:p>
            <a:r>
              <a:rPr kumimoji="1" lang="zh-CN" altLang="en-US" sz="1400" dirty="0">
                <a:solidFill>
                  <a:schemeClr val="bg2"/>
                </a:solidFill>
                <a:latin typeface="黑体" panose="02010609060101010101" pitchFamily="49" charset="-122"/>
                <a:ea typeface="黑体" panose="02010609060101010101" pitchFamily="49" charset="-122"/>
              </a:rPr>
              <a:t>体会</a:t>
            </a:r>
            <a:r>
              <a:rPr kumimoji="1" lang="en-GB" altLang="zh-CN" sz="1400" dirty="0">
                <a:solidFill>
                  <a:schemeClr val="bg2"/>
                </a:solidFill>
              </a:rPr>
              <a:t>class</a:t>
            </a:r>
            <a:r>
              <a:rPr kumimoji="1" lang="zh-CN" altLang="en-US" sz="1400" dirty="0">
                <a:solidFill>
                  <a:schemeClr val="bg2"/>
                </a:solidFill>
                <a:latin typeface="黑体" panose="02010609060101010101" pitchFamily="49" charset="-122"/>
                <a:ea typeface="黑体" panose="02010609060101010101" pitchFamily="49" charset="-122"/>
              </a:rPr>
              <a:t>的优点：代码界限清晰，互相不干扰；接口统一，配合方便</a:t>
            </a:r>
            <a:endParaRPr kumimoji="1" lang="en-US" altLang="zh-CN" sz="1400" dirty="0">
              <a:solidFill>
                <a:schemeClr val="bg2"/>
              </a:solidFill>
              <a:latin typeface="黑体" panose="02010609060101010101" pitchFamily="49" charset="-122"/>
              <a:ea typeface="黑体" panose="02010609060101010101" pitchFamily="49" charset="-122"/>
            </a:endParaRPr>
          </a:p>
          <a:p>
            <a:r>
              <a:rPr kumimoji="1" lang="zh-CN" altLang="en-US" sz="1400" dirty="0">
                <a:solidFill>
                  <a:schemeClr val="bg2"/>
                </a:solidFill>
                <a:latin typeface="黑体" panose="02010609060101010101" pitchFamily="49" charset="-122"/>
                <a:ea typeface="黑体" panose="02010609060101010101" pitchFamily="49" charset="-122"/>
              </a:rPr>
              <a:t>除了实现上层类的接口，一般不要用继承</a:t>
            </a:r>
            <a:endParaRPr kumimoji="1" lang="zh-CN" altLang="en-US" sz="1400" dirty="0">
              <a:solidFill>
                <a:schemeClr val="bg2"/>
              </a:solidFill>
              <a:latin typeface="黑体" panose="02010609060101010101" pitchFamily="49" charset="-122"/>
              <a:ea typeface="黑体" panose="02010609060101010101" pitchFamily="49" charset="-122"/>
            </a:endParaRPr>
          </a:p>
          <a:p>
            <a:endParaRPr kumimoji="1" lang="en-GB" altLang="zh-CN" sz="1400" dirty="0">
              <a:solidFill>
                <a:schemeClr val="bg2"/>
              </a:solidFill>
            </a:endParaRPr>
          </a:p>
        </p:txBody>
      </p:sp>
      <p:sp>
        <p:nvSpPr>
          <p:cNvPr id="4" name="TextBox 4"/>
          <p:cNvSpPr txBox="1"/>
          <p:nvPr/>
        </p:nvSpPr>
        <p:spPr>
          <a:xfrm>
            <a:off x="1676793" y="3236684"/>
            <a:ext cx="5790414" cy="461665"/>
          </a:xfrm>
          <a:prstGeom prst="rect">
            <a:avLst/>
          </a:prstGeom>
          <a:noFill/>
        </p:spPr>
        <p:txBody>
          <a:bodyPr wrap="square">
            <a:spAutoFit/>
          </a:bodyPr>
          <a:lstStyle/>
          <a:p>
            <a:pPr algn="ctr"/>
            <a:r>
              <a:rPr lang="zh-CN" altLang="en-US" sz="2400" dirty="0">
                <a:solidFill>
                  <a:schemeClr val="tx1"/>
                </a:solidFill>
                <a:latin typeface="黑体" panose="02010609060101010101" pitchFamily="49" charset="-122"/>
                <a:ea typeface="黑体" panose="02010609060101010101" pitchFamily="49" charset="-122"/>
              </a:rPr>
              <a:t>不需要死记，要用的时候再翻看手册</a:t>
            </a:r>
            <a:endParaRPr lang="en-US" altLang="zh-CN" sz="2400" dirty="0">
              <a:solidFill>
                <a:schemeClr val="tx1"/>
              </a:solidFill>
              <a:latin typeface="黑体" panose="02010609060101010101" pitchFamily="49" charset="-122"/>
              <a:ea typeface="黑体" panose="02010609060101010101" pitchFamily="49"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US" dirty="0">
                <a:latin typeface="Raleway" pitchFamily="34" charset="0"/>
                <a:ea typeface="Source Sans Pro" panose="020B0503030403020204" pitchFamily="34" charset="0"/>
              </a:rPr>
              <a:t>M</a:t>
            </a:r>
            <a:r>
              <a:rPr lang="en-US" altLang="zh-CN" dirty="0">
                <a:latin typeface="Raleway" pitchFamily="34" charset="0"/>
                <a:ea typeface="Source Sans Pro" panose="020B0503030403020204" pitchFamily="34" charset="0"/>
              </a:rPr>
              <a:t>odule</a:t>
            </a:r>
            <a:endParaRPr dirty="0">
              <a:latin typeface="Raleway" pitchFamily="34" charset="0"/>
              <a:ea typeface="Source Sans Pro" panose="020B0503030403020204" pitchFamily="34"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The big picture</a:t>
            </a:r>
            <a:endParaRPr lang="en-US" altLang="zh-CN" dirty="0">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1152474"/>
            <a:ext cx="8520600" cy="2962325"/>
          </a:xfrm>
        </p:spPr>
        <p:txBody>
          <a:bodyPr>
            <a:noAutofit/>
          </a:bodyPr>
          <a:lstStyle/>
          <a:p>
            <a:pPr>
              <a:lnSpc>
                <a:spcPct val="114000"/>
              </a:lnSpc>
            </a:pPr>
            <a:r>
              <a:rPr lang="en-US" altLang="zh-CN" sz="1400" dirty="0">
                <a:solidFill>
                  <a:schemeClr val="tx1"/>
                </a:solidFill>
                <a:latin typeface="Source Sans Pro" panose="020B0503030403020204" pitchFamily="34" charset="0"/>
                <a:ea typeface="Source Sans Pro" panose="020B0503030403020204" pitchFamily="34" charset="0"/>
              </a:rPr>
              <a:t>Python module: </a:t>
            </a:r>
            <a:endParaRPr lang="en-US" altLang="zh-CN" sz="1400" dirty="0">
              <a:solidFill>
                <a:schemeClr val="tx1"/>
              </a:solidFill>
              <a:latin typeface="Source Sans Pro" panose="020B0503030403020204" pitchFamily="34" charset="0"/>
              <a:ea typeface="Source Sans Pro" panose="020B0503030403020204" pitchFamily="34" charset="0"/>
            </a:endParaRPr>
          </a:p>
          <a:p>
            <a:pPr lvl="1">
              <a:lnSpc>
                <a:spcPct val="114000"/>
              </a:lnSpc>
            </a:pPr>
            <a:r>
              <a:rPr lang="en-US" altLang="zh-CN" sz="1200" dirty="0">
                <a:solidFill>
                  <a:schemeClr val="bg2"/>
                </a:solidFill>
                <a:latin typeface="Source Sans Pro" panose="020B0503030403020204" pitchFamily="34" charset="0"/>
                <a:ea typeface="Source Sans Pro" panose="020B0503030403020204" pitchFamily="34" charset="0"/>
              </a:rPr>
              <a:t>the highest-level program organization unit, which packages program code and data for reuse, and provides self contained namespaces that minimize variable name clashes across your programs. </a:t>
            </a:r>
            <a:endParaRPr lang="en-US" altLang="zh-CN" sz="1200" dirty="0">
              <a:solidFill>
                <a:schemeClr val="bg2"/>
              </a:solidFill>
              <a:latin typeface="Source Sans Pro" panose="020B0503030403020204" pitchFamily="34" charset="0"/>
              <a:ea typeface="Source Sans Pro" panose="020B0503030403020204" pitchFamily="34" charset="0"/>
            </a:endParaRPr>
          </a:p>
          <a:p>
            <a:pPr>
              <a:lnSpc>
                <a:spcPct val="114000"/>
              </a:lnSpc>
            </a:pPr>
            <a:r>
              <a:rPr lang="en-US" altLang="zh-CN" sz="1400" dirty="0">
                <a:solidFill>
                  <a:schemeClr val="bg2"/>
                </a:solidFill>
                <a:latin typeface="Source Sans Pro" panose="020B0503030403020204" pitchFamily="34" charset="0"/>
                <a:ea typeface="Source Sans Pro" panose="020B0503030403020204" pitchFamily="34" charset="0"/>
              </a:rPr>
              <a:t>In concrete terms, modules typically correspond to </a:t>
            </a:r>
            <a:r>
              <a:rPr lang="en-US" altLang="zh-CN" sz="1400" dirty="0">
                <a:solidFill>
                  <a:schemeClr val="tx1"/>
                </a:solidFill>
                <a:latin typeface="Source Sans Pro" panose="020B0503030403020204" pitchFamily="34" charset="0"/>
                <a:ea typeface="Source Sans Pro" panose="020B0503030403020204" pitchFamily="34" charset="0"/>
              </a:rPr>
              <a:t>Python program files: </a:t>
            </a:r>
            <a:endParaRPr lang="en-US" altLang="zh-CN" sz="1400" dirty="0">
              <a:solidFill>
                <a:schemeClr val="tx1"/>
              </a:solidFill>
              <a:latin typeface="Source Sans Pro" panose="020B0503030403020204" pitchFamily="34" charset="0"/>
              <a:ea typeface="Source Sans Pro" panose="020B0503030403020204" pitchFamily="34" charset="0"/>
            </a:endParaRPr>
          </a:p>
          <a:p>
            <a:pPr lvl="1">
              <a:lnSpc>
                <a:spcPct val="114000"/>
              </a:lnSpc>
            </a:pPr>
            <a:r>
              <a:rPr lang="en-US" altLang="zh-CN" sz="1200" dirty="0">
                <a:solidFill>
                  <a:schemeClr val="tx1"/>
                </a:solidFill>
                <a:latin typeface="Source Sans Pro" panose="020B0503030403020204" pitchFamily="34" charset="0"/>
                <a:ea typeface="Source Sans Pro" panose="020B0503030403020204" pitchFamily="34" charset="0"/>
              </a:rPr>
              <a:t>Each file is a module</a:t>
            </a:r>
            <a:r>
              <a:rPr lang="en-US" altLang="zh-CN" sz="1200" dirty="0">
                <a:solidFill>
                  <a:schemeClr val="bg2"/>
                </a:solidFill>
                <a:latin typeface="Source Sans Pro" panose="020B0503030403020204" pitchFamily="34" charset="0"/>
                <a:ea typeface="Source Sans Pro" panose="020B0503030403020204" pitchFamily="34" charset="0"/>
              </a:rPr>
              <a:t>, and modules import other modules to use the names they define.</a:t>
            </a:r>
            <a:endParaRPr lang="en-US" altLang="zh-CN" sz="1200" dirty="0">
              <a:solidFill>
                <a:schemeClr val="bg2"/>
              </a:solidFill>
              <a:latin typeface="Source Sans Pro" panose="020B0503030403020204" pitchFamily="34" charset="0"/>
              <a:ea typeface="Source Sans Pro" panose="020B0503030403020204" pitchFamily="34" charset="0"/>
            </a:endParaRPr>
          </a:p>
          <a:p>
            <a:pPr>
              <a:lnSpc>
                <a:spcPct val="114000"/>
              </a:lnSpc>
            </a:pPr>
            <a:r>
              <a:rPr lang="en-US" altLang="zh-CN" sz="1400" dirty="0">
                <a:solidFill>
                  <a:schemeClr val="bg2"/>
                </a:solidFill>
                <a:latin typeface="Source Sans Pro" panose="020B0503030403020204" pitchFamily="34" charset="0"/>
                <a:ea typeface="Source Sans Pro" panose="020B0503030403020204" pitchFamily="34" charset="0"/>
              </a:rPr>
              <a:t>Modules are processed with two statements and one important function:</a:t>
            </a:r>
            <a:endParaRPr lang="en-US" altLang="zh-CN" sz="1400" dirty="0">
              <a:solidFill>
                <a:schemeClr val="bg2"/>
              </a:solidFill>
              <a:latin typeface="Source Sans Pro" panose="020B0503030403020204" pitchFamily="34" charset="0"/>
              <a:ea typeface="Source Sans Pro" panose="020B0503030403020204" pitchFamily="34" charset="0"/>
            </a:endParaRPr>
          </a:p>
          <a:p>
            <a:pPr lvl="1">
              <a:lnSpc>
                <a:spcPct val="114000"/>
              </a:lnSpc>
            </a:pPr>
            <a:r>
              <a:rPr lang="en-US" altLang="zh-CN" sz="1200" dirty="0">
                <a:solidFill>
                  <a:schemeClr val="tx1"/>
                </a:solidFill>
                <a:latin typeface="Source Sans Pro" panose="020B0503030403020204" pitchFamily="34" charset="0"/>
                <a:ea typeface="Source Sans Pro" panose="020B0503030403020204" pitchFamily="34" charset="0"/>
              </a:rPr>
              <a:t>import: </a:t>
            </a:r>
            <a:r>
              <a:rPr lang="en-US" altLang="zh-CN" sz="1200" dirty="0">
                <a:solidFill>
                  <a:schemeClr val="bg2"/>
                </a:solidFill>
                <a:latin typeface="Source Sans Pro" panose="020B0503030403020204" pitchFamily="34" charset="0"/>
                <a:ea typeface="Source Sans Pro" panose="020B0503030403020204" pitchFamily="34" charset="0"/>
              </a:rPr>
              <a:t>Lets a client (importer) fetch a module as a whole</a:t>
            </a:r>
            <a:endParaRPr lang="en-US" altLang="zh-CN" sz="1200" dirty="0">
              <a:solidFill>
                <a:schemeClr val="bg2"/>
              </a:solidFill>
              <a:latin typeface="Source Sans Pro" panose="020B0503030403020204" pitchFamily="34" charset="0"/>
              <a:ea typeface="Source Sans Pro" panose="020B0503030403020204" pitchFamily="34" charset="0"/>
            </a:endParaRPr>
          </a:p>
          <a:p>
            <a:pPr lvl="1">
              <a:lnSpc>
                <a:spcPct val="114000"/>
              </a:lnSpc>
            </a:pPr>
            <a:r>
              <a:rPr lang="en-US" altLang="zh-CN" sz="1200" dirty="0">
                <a:solidFill>
                  <a:schemeClr val="tx1"/>
                </a:solidFill>
                <a:latin typeface="Source Sans Pro" panose="020B0503030403020204" pitchFamily="34" charset="0"/>
                <a:ea typeface="Source Sans Pro" panose="020B0503030403020204" pitchFamily="34" charset="0"/>
              </a:rPr>
              <a:t>from: </a:t>
            </a:r>
            <a:r>
              <a:rPr lang="en-US" altLang="zh-CN" sz="1200" dirty="0">
                <a:solidFill>
                  <a:schemeClr val="bg2"/>
                </a:solidFill>
                <a:latin typeface="Source Sans Pro" panose="020B0503030403020204" pitchFamily="34" charset="0"/>
                <a:ea typeface="Source Sans Pro" panose="020B0503030403020204" pitchFamily="34" charset="0"/>
              </a:rPr>
              <a:t>Allows clients to fetch particular names from a module</a:t>
            </a:r>
            <a:endParaRPr lang="en-US" altLang="zh-CN" sz="1200" dirty="0">
              <a:solidFill>
                <a:schemeClr val="bg2"/>
              </a:solidFill>
              <a:latin typeface="Source Sans Pro" panose="020B0503030403020204" pitchFamily="34" charset="0"/>
              <a:ea typeface="Source Sans Pro" panose="020B0503030403020204" pitchFamily="34" charset="0"/>
            </a:endParaRPr>
          </a:p>
          <a:p>
            <a:pPr lvl="1">
              <a:lnSpc>
                <a:spcPct val="114000"/>
              </a:lnSpc>
            </a:pPr>
            <a:r>
              <a:rPr lang="en-US" altLang="zh-CN" sz="1200" dirty="0" err="1">
                <a:solidFill>
                  <a:schemeClr val="tx1"/>
                </a:solidFill>
                <a:latin typeface="Source Sans Pro" panose="020B0503030403020204" pitchFamily="34" charset="0"/>
                <a:ea typeface="Source Sans Pro" panose="020B0503030403020204" pitchFamily="34" charset="0"/>
              </a:rPr>
              <a:t>imp.reload</a:t>
            </a:r>
            <a:r>
              <a:rPr lang="en-US" altLang="zh-CN" sz="1200" dirty="0">
                <a:solidFill>
                  <a:schemeClr val="tx1"/>
                </a:solidFill>
                <a:latin typeface="Source Sans Pro" panose="020B0503030403020204" pitchFamily="34" charset="0"/>
                <a:ea typeface="Source Sans Pro" panose="020B0503030403020204" pitchFamily="34" charset="0"/>
              </a:rPr>
              <a:t> (reload in 2.X): </a:t>
            </a:r>
            <a:r>
              <a:rPr lang="en-US" altLang="zh-CN" sz="1200" dirty="0">
                <a:solidFill>
                  <a:schemeClr val="bg2"/>
                </a:solidFill>
                <a:latin typeface="Source Sans Pro" panose="020B0503030403020204" pitchFamily="34" charset="0"/>
                <a:ea typeface="Source Sans Pro" panose="020B0503030403020204" pitchFamily="34" charset="0"/>
              </a:rPr>
              <a:t>Provides a way to reload a module’s code without stopping Python)</a:t>
            </a:r>
            <a:r>
              <a:rPr lang="zh-CN" altLang="en-US" sz="1200" dirty="0">
                <a:solidFill>
                  <a:schemeClr val="bg2"/>
                </a:solidFill>
                <a:latin typeface="Source Sans Pro" panose="020B0503030403020204" pitchFamily="34" charset="0"/>
                <a:ea typeface="宋体" panose="02010600030101010101" pitchFamily="2" charset="-122"/>
              </a:rPr>
              <a:t>（重载</a:t>
            </a:r>
            <a:r>
              <a:rPr lang="zh-CN" altLang="en-US" sz="1200" dirty="0">
                <a:solidFill>
                  <a:schemeClr val="bg2"/>
                </a:solidFill>
                <a:latin typeface="Source Sans Pro" panose="020B0503030403020204" pitchFamily="34" charset="0"/>
                <a:ea typeface="宋体" panose="02010600030101010101" pitchFamily="2" charset="-122"/>
              </a:rPr>
              <a:t>模块）</a:t>
            </a:r>
            <a:endParaRPr lang="en-US" altLang="zh-CN" sz="1200" dirty="0">
              <a:solidFill>
                <a:schemeClr val="bg2"/>
              </a:solidFill>
              <a:latin typeface="Source Sans Pro" panose="020B0503030403020204" pitchFamily="34" charset="0"/>
              <a:ea typeface="Source Sans Pro" panose="020B0503030403020204" pitchFamily="34" charset="0"/>
            </a:endParaRPr>
          </a:p>
          <a:p>
            <a:pPr>
              <a:lnSpc>
                <a:spcPct val="114000"/>
              </a:lnSpc>
            </a:pPr>
            <a:r>
              <a:rPr lang="en-US" altLang="zh-CN" sz="1400" dirty="0">
                <a:solidFill>
                  <a:schemeClr val="bg2"/>
                </a:solidFill>
                <a:latin typeface="Source Sans Pro" panose="020B0503030403020204" pitchFamily="34" charset="0"/>
                <a:ea typeface="Source Sans Pro" panose="020B0503030403020204" pitchFamily="34" charset="0"/>
              </a:rPr>
              <a:t>In short, modules provide an easy way to organize components into a system by serving as self-contained packages of variables known as </a:t>
            </a:r>
            <a:r>
              <a:rPr lang="en-US" altLang="zh-CN" sz="1400" dirty="0">
                <a:solidFill>
                  <a:srgbClr val="7030A0"/>
                </a:solidFill>
                <a:latin typeface="Source Sans Pro" panose="020B0503030403020204" pitchFamily="34" charset="0"/>
                <a:ea typeface="Source Sans Pro" panose="020B0503030403020204" pitchFamily="34" charset="0"/>
              </a:rPr>
              <a:t>namespaces (</a:t>
            </a:r>
            <a:r>
              <a:rPr lang="zh-CN" altLang="en-US" sz="1400" dirty="0">
                <a:solidFill>
                  <a:srgbClr val="7030A0"/>
                </a:solidFill>
                <a:latin typeface="Source Sans Pro" panose="020B0503030403020204" pitchFamily="34" charset="0"/>
                <a:ea typeface="黑体" panose="02010609060101010101" pitchFamily="49" charset="-122"/>
              </a:rPr>
              <a:t>名空间</a:t>
            </a:r>
            <a:r>
              <a:rPr lang="en-US" altLang="zh-CN" sz="1400" dirty="0">
                <a:solidFill>
                  <a:srgbClr val="7030A0"/>
                </a:solidFill>
                <a:latin typeface="Source Sans Pro" panose="020B0503030403020204" pitchFamily="34" charset="0"/>
                <a:ea typeface="Source Sans Pro" panose="020B0503030403020204" pitchFamily="34" charset="0"/>
              </a:rPr>
              <a:t>).</a:t>
            </a:r>
            <a:endParaRPr lang="en-US" altLang="zh-CN" sz="1400" dirty="0">
              <a:solidFill>
                <a:schemeClr val="bg2"/>
              </a:solidFill>
              <a:latin typeface="Source Sans Pro" panose="020B0503030403020204" pitchFamily="34" charset="0"/>
              <a:ea typeface="Source Sans Pro" panose="020B0503030403020204" pitchFamily="34" charset="0"/>
            </a:endParaRPr>
          </a:p>
        </p:txBody>
      </p:sp>
      <p:sp>
        <p:nvSpPr>
          <p:cNvPr id="4" name="文本框 3"/>
          <p:cNvSpPr txBox="1"/>
          <p:nvPr/>
        </p:nvSpPr>
        <p:spPr>
          <a:xfrm>
            <a:off x="6043702" y="4261098"/>
            <a:ext cx="2788598" cy="307777"/>
          </a:xfrm>
          <a:prstGeom prst="rect">
            <a:avLst/>
          </a:prstGeom>
          <a:solidFill>
            <a:srgbClr val="7030A0"/>
          </a:solidFill>
        </p:spPr>
        <p:txBody>
          <a:bodyPr wrap="square" rtlCol="0">
            <a:spAutoFit/>
          </a:bodyPr>
          <a:lstStyle/>
          <a:p>
            <a:r>
              <a:rPr lang="zh-CN" altLang="en-US" dirty="0">
                <a:solidFill>
                  <a:schemeClr val="bg1"/>
                </a:solidFill>
                <a:latin typeface="Source Sans Pro" panose="020B0503030403020204" pitchFamily="34" charset="0"/>
                <a:ea typeface="黑体" panose="02010609060101010101" pitchFamily="49" charset="-122"/>
              </a:rPr>
              <a:t>一个单独的文件就是一个</a:t>
            </a:r>
            <a:r>
              <a:rPr lang="en-US" altLang="zh-CN" dirty="0">
                <a:solidFill>
                  <a:schemeClr val="bg1"/>
                </a:solidFill>
                <a:latin typeface="Source Sans Pro" panose="020B0503030403020204" pitchFamily="34" charset="0"/>
                <a:ea typeface="Source Sans Pro" panose="020B0503030403020204" pitchFamily="34" charset="0"/>
              </a:rPr>
              <a:t>module</a:t>
            </a:r>
            <a:endParaRPr lang="zh-CN" altLang="en-US" dirty="0">
              <a:solidFill>
                <a:schemeClr val="bg1"/>
              </a:solidFill>
              <a:latin typeface="Source Sans Pro" panose="020B0503030403020204" pitchFamily="34" charset="0"/>
              <a:ea typeface="黑体" panose="02010609060101010101" pitchFamily="49"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import</a:t>
            </a:r>
            <a:endParaRPr lang="en-US" altLang="zh-CN" dirty="0">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1152475"/>
            <a:ext cx="8520600" cy="1489660"/>
          </a:xfrm>
        </p:spPr>
        <p:txBody>
          <a:bodyPr>
            <a:noAutofit/>
          </a:bodyPr>
          <a:lstStyle/>
          <a:p>
            <a:pPr>
              <a:lnSpc>
                <a:spcPct val="100000"/>
              </a:lnSpc>
            </a:pPr>
            <a:r>
              <a:rPr lang="en-US" altLang="zh-CN" sz="1400" dirty="0">
                <a:solidFill>
                  <a:schemeClr val="bg2"/>
                </a:solidFill>
                <a:latin typeface="Source Sans Pro" panose="020B0503030403020204" pitchFamily="34" charset="0"/>
                <a:ea typeface="Source Sans Pro" panose="020B0503030403020204" pitchFamily="34" charset="0"/>
              </a:rPr>
              <a:t>import math</a:t>
            </a:r>
            <a:endParaRPr lang="en-US" altLang="zh-CN" sz="1400" dirty="0">
              <a:solidFill>
                <a:schemeClr val="bg2"/>
              </a:solidFill>
              <a:latin typeface="Source Sans Pro" panose="020B0503030403020204" pitchFamily="34" charset="0"/>
              <a:ea typeface="Source Sans Pro" panose="020B0503030403020204" pitchFamily="34" charset="0"/>
            </a:endParaRPr>
          </a:p>
          <a:p>
            <a:pPr marL="596900" lvl="1" indent="0">
              <a:lnSpc>
                <a:spcPct val="100000"/>
              </a:lnSpc>
              <a:buNone/>
            </a:pPr>
            <a:r>
              <a:rPr lang="en-US" altLang="zh-CN" dirty="0">
                <a:solidFill>
                  <a:schemeClr val="bg2"/>
                </a:solidFill>
                <a:latin typeface="Source Sans Pro" panose="020B0503030403020204" pitchFamily="34" charset="0"/>
                <a:ea typeface="Source Sans Pro" panose="020B0503030403020204" pitchFamily="34" charset="0"/>
              </a:rPr>
              <a:t>print(</a:t>
            </a:r>
            <a:r>
              <a:rPr lang="en-US" altLang="zh-CN" dirty="0" err="1">
                <a:solidFill>
                  <a:schemeClr val="bg2"/>
                </a:solidFill>
                <a:latin typeface="Source Sans Pro" panose="020B0503030403020204" pitchFamily="34" charset="0"/>
                <a:ea typeface="Source Sans Pro" panose="020B0503030403020204" pitchFamily="34" charset="0"/>
              </a:rPr>
              <a:t>math.sin</a:t>
            </a:r>
            <a:r>
              <a:rPr lang="en-US" altLang="zh-CN" dirty="0">
                <a:solidFill>
                  <a:schemeClr val="bg2"/>
                </a:solidFill>
                <a:latin typeface="Source Sans Pro" panose="020B0503030403020204" pitchFamily="34" charset="0"/>
                <a:ea typeface="Source Sans Pro" panose="020B0503030403020204" pitchFamily="34" charset="0"/>
              </a:rPr>
              <a:t>(</a:t>
            </a:r>
            <a:r>
              <a:rPr lang="en-US" altLang="zh-CN" dirty="0" err="1">
                <a:solidFill>
                  <a:schemeClr val="bg2"/>
                </a:solidFill>
                <a:latin typeface="Source Sans Pro" panose="020B0503030403020204" pitchFamily="34" charset="0"/>
                <a:ea typeface="Source Sans Pro" panose="020B0503030403020204" pitchFamily="34" charset="0"/>
              </a:rPr>
              <a:t>math.pi</a:t>
            </a:r>
            <a:r>
              <a:rPr lang="en-US" altLang="zh-CN" dirty="0">
                <a:solidFill>
                  <a:schemeClr val="bg2"/>
                </a:solidFill>
                <a:latin typeface="Source Sans Pro" panose="020B0503030403020204" pitchFamily="34" charset="0"/>
                <a:ea typeface="Source Sans Pro" panose="020B0503030403020204" pitchFamily="34" charset="0"/>
              </a:rPr>
              <a:t>/3))</a:t>
            </a:r>
            <a:endParaRPr lang="en-US" altLang="zh-CN" dirty="0">
              <a:solidFill>
                <a:schemeClr val="bg2"/>
              </a:solidFill>
              <a:latin typeface="Source Sans Pro" panose="020B0503030403020204" pitchFamily="34" charset="0"/>
              <a:ea typeface="Source Sans Pro" panose="020B0503030403020204" pitchFamily="34" charset="0"/>
            </a:endParaRPr>
          </a:p>
          <a:p>
            <a:pPr>
              <a:lnSpc>
                <a:spcPct val="100000"/>
              </a:lnSpc>
            </a:pPr>
            <a:r>
              <a:rPr lang="zh-CN" altLang="en-US" sz="1400" dirty="0">
                <a:solidFill>
                  <a:schemeClr val="bg2"/>
                </a:solidFill>
                <a:latin typeface="Source Sans Pro" panose="020B0503030403020204" pitchFamily="34" charset="0"/>
                <a:ea typeface="黑体" panose="02010609060101010101" pitchFamily="49" charset="-122"/>
              </a:rPr>
              <a:t>语法：</a:t>
            </a:r>
            <a:r>
              <a:rPr lang="en-US" altLang="zh-CN" sz="1400" dirty="0">
                <a:solidFill>
                  <a:schemeClr val="bg2"/>
                </a:solidFill>
                <a:latin typeface="Source Sans Pro" panose="020B0503030403020204" pitchFamily="34" charset="0"/>
                <a:ea typeface="Source Sans Pro" panose="020B0503030403020204" pitchFamily="34" charset="0"/>
              </a:rPr>
              <a:t>import </a:t>
            </a:r>
            <a:r>
              <a:rPr lang="en-US" altLang="zh-CN" sz="1400" dirty="0" err="1">
                <a:solidFill>
                  <a:schemeClr val="tx1"/>
                </a:solidFill>
                <a:latin typeface="Source Sans Pro" panose="020B0503030403020204" pitchFamily="34" charset="0"/>
                <a:ea typeface="Source Sans Pro" panose="020B0503030403020204" pitchFamily="34" charset="0"/>
              </a:rPr>
              <a:t>moduleName</a:t>
            </a:r>
            <a:endParaRPr lang="en-US" altLang="zh-CN" sz="1400" dirty="0">
              <a:solidFill>
                <a:schemeClr val="tx1"/>
              </a:solidFill>
              <a:latin typeface="Source Sans Pro" panose="020B0503030403020204" pitchFamily="34" charset="0"/>
              <a:ea typeface="Source Sans Pro" panose="020B0503030403020204" pitchFamily="34" charset="0"/>
            </a:endParaRPr>
          </a:p>
          <a:p>
            <a:pPr lvl="1">
              <a:lnSpc>
                <a:spcPct val="100000"/>
              </a:lnSpc>
            </a:pPr>
            <a:r>
              <a:rPr lang="zh-CN" altLang="en-US" sz="1200" dirty="0">
                <a:solidFill>
                  <a:schemeClr val="bg2"/>
                </a:solidFill>
                <a:latin typeface="Source Sans Pro" panose="020B0503030403020204" pitchFamily="34" charset="0"/>
                <a:ea typeface="黑体" panose="02010609060101010101" pitchFamily="49" charset="-122"/>
              </a:rPr>
              <a:t>由于</a:t>
            </a:r>
            <a:r>
              <a:rPr lang="en-US" altLang="zh-CN" sz="1200" dirty="0" err="1">
                <a:solidFill>
                  <a:schemeClr val="bg2"/>
                </a:solidFill>
                <a:latin typeface="Source Sans Pro" panose="020B0503030403020204" pitchFamily="34" charset="0"/>
                <a:ea typeface="Source Sans Pro" panose="020B0503030403020204" pitchFamily="34" charset="0"/>
              </a:rPr>
              <a:t>moduleName</a:t>
            </a:r>
            <a:r>
              <a:rPr lang="zh-CN" altLang="en-US" sz="1200" dirty="0">
                <a:solidFill>
                  <a:schemeClr val="bg2"/>
                </a:solidFill>
                <a:latin typeface="Source Sans Pro" panose="020B0503030403020204" pitchFamily="34" charset="0"/>
                <a:ea typeface="黑体" panose="02010609060101010101" pitchFamily="49" charset="-122"/>
              </a:rPr>
              <a:t>就是文件名，所以</a:t>
            </a:r>
            <a:r>
              <a:rPr lang="en-US" altLang="zh-CN" sz="1200" dirty="0">
                <a:solidFill>
                  <a:schemeClr val="bg2"/>
                </a:solidFill>
                <a:latin typeface="Source Sans Pro" panose="020B0503030403020204" pitchFamily="34" charset="0"/>
                <a:ea typeface="Source Sans Pro" panose="020B0503030403020204" pitchFamily="34" charset="0"/>
              </a:rPr>
              <a:t>python</a:t>
            </a:r>
            <a:r>
              <a:rPr lang="zh-CN" altLang="en-US" sz="1200" dirty="0">
                <a:solidFill>
                  <a:schemeClr val="bg2"/>
                </a:solidFill>
                <a:latin typeface="Source Sans Pro" panose="020B0503030403020204" pitchFamily="34" charset="0"/>
                <a:ea typeface="黑体" panose="02010609060101010101" pitchFamily="49" charset="-122"/>
              </a:rPr>
              <a:t>的文件名必须符合</a:t>
            </a:r>
            <a:r>
              <a:rPr lang="en-US" altLang="zh-CN" sz="1200" dirty="0">
                <a:solidFill>
                  <a:schemeClr val="bg2"/>
                </a:solidFill>
                <a:latin typeface="Source Sans Pro" panose="020B0503030403020204" pitchFamily="34" charset="0"/>
                <a:ea typeface="Source Sans Pro" panose="020B0503030403020204" pitchFamily="34" charset="0"/>
              </a:rPr>
              <a:t>python</a:t>
            </a:r>
            <a:r>
              <a:rPr lang="zh-CN" altLang="en-US" sz="1200" dirty="0">
                <a:solidFill>
                  <a:schemeClr val="bg2"/>
                </a:solidFill>
                <a:latin typeface="Source Sans Pro" panose="020B0503030403020204" pitchFamily="34" charset="0"/>
                <a:ea typeface="黑体" panose="02010609060101010101" pitchFamily="49" charset="-122"/>
              </a:rPr>
              <a:t>的变量定义规则</a:t>
            </a:r>
            <a:endParaRPr lang="zh-CN" altLang="en-US" sz="1200" dirty="0">
              <a:solidFill>
                <a:schemeClr val="bg2"/>
              </a:solidFill>
              <a:latin typeface="Source Sans Pro" panose="020B0503030403020204" pitchFamily="34" charset="0"/>
              <a:ea typeface="黑体" panose="02010609060101010101" pitchFamily="49" charset="-122"/>
            </a:endParaRPr>
          </a:p>
          <a:p>
            <a:pPr>
              <a:lnSpc>
                <a:spcPct val="100000"/>
              </a:lnSpc>
            </a:pPr>
            <a:r>
              <a:rPr lang="zh-CN" altLang="en-US" sz="1400" dirty="0">
                <a:solidFill>
                  <a:schemeClr val="bg2"/>
                </a:solidFill>
                <a:latin typeface="Source Sans Pro" panose="020B0503030403020204" pitchFamily="34" charset="0"/>
                <a:ea typeface="黑体" panose="02010609060101010101" pitchFamily="49" charset="-122"/>
              </a:rPr>
              <a:t>在文件</a:t>
            </a:r>
            <a:r>
              <a:rPr lang="en-US" altLang="zh-CN" sz="1400" dirty="0">
                <a:solidFill>
                  <a:schemeClr val="bg2"/>
                </a:solidFill>
                <a:latin typeface="Source Sans Pro" panose="020B0503030403020204" pitchFamily="34" charset="0"/>
                <a:ea typeface="Source Sans Pro" panose="020B0503030403020204" pitchFamily="34" charset="0"/>
              </a:rPr>
              <a:t>b.py</a:t>
            </a:r>
            <a:r>
              <a:rPr lang="zh-CN" altLang="en-US" sz="1400" dirty="0">
                <a:solidFill>
                  <a:schemeClr val="bg2"/>
                </a:solidFill>
                <a:latin typeface="Source Sans Pro" panose="020B0503030403020204" pitchFamily="34" charset="0"/>
                <a:ea typeface="黑体" panose="02010609060101010101" pitchFamily="49" charset="-122"/>
              </a:rPr>
              <a:t>中定义函数</a:t>
            </a:r>
            <a:r>
              <a:rPr lang="en-US" altLang="zh-CN" sz="1400" dirty="0">
                <a:solidFill>
                  <a:schemeClr val="bg2"/>
                </a:solidFill>
                <a:latin typeface="Source Sans Pro" panose="020B0503030403020204" pitchFamily="34" charset="0"/>
                <a:ea typeface="Source Sans Pro" panose="020B0503030403020204" pitchFamily="34" charset="0"/>
              </a:rPr>
              <a:t>spam(). </a:t>
            </a:r>
            <a:r>
              <a:rPr lang="zh-CN" altLang="en-US" sz="1400" dirty="0">
                <a:solidFill>
                  <a:schemeClr val="bg2"/>
                </a:solidFill>
                <a:latin typeface="Source Sans Pro" panose="020B0503030403020204" pitchFamily="34" charset="0"/>
                <a:ea typeface="黑体" panose="02010609060101010101" pitchFamily="49" charset="-122"/>
              </a:rPr>
              <a:t>在文件</a:t>
            </a:r>
            <a:r>
              <a:rPr lang="en-US" altLang="zh-CN" sz="1400" dirty="0">
                <a:solidFill>
                  <a:schemeClr val="bg2"/>
                </a:solidFill>
                <a:latin typeface="Source Sans Pro" panose="020B0503030403020204" pitchFamily="34" charset="0"/>
                <a:ea typeface="Source Sans Pro" panose="020B0503030403020204" pitchFamily="34" charset="0"/>
              </a:rPr>
              <a:t>a.py</a:t>
            </a:r>
            <a:r>
              <a:rPr lang="zh-CN" altLang="en-US" sz="1400" dirty="0">
                <a:solidFill>
                  <a:schemeClr val="bg2"/>
                </a:solidFill>
                <a:latin typeface="Source Sans Pro" panose="020B0503030403020204" pitchFamily="34" charset="0"/>
                <a:ea typeface="黑体" panose="02010609060101010101" pitchFamily="49" charset="-122"/>
              </a:rPr>
              <a:t>中</a:t>
            </a:r>
            <a:r>
              <a:rPr lang="en-US" altLang="zh-CN" sz="1400" dirty="0">
                <a:solidFill>
                  <a:schemeClr val="bg2"/>
                </a:solidFill>
                <a:latin typeface="Source Sans Pro" panose="020B0503030403020204" pitchFamily="34" charset="0"/>
                <a:ea typeface="Source Sans Pro" panose="020B0503030403020204" pitchFamily="34" charset="0"/>
              </a:rPr>
              <a:t>import b</a:t>
            </a:r>
            <a:r>
              <a:rPr lang="zh-CN" altLang="en-US" sz="1400" dirty="0">
                <a:solidFill>
                  <a:schemeClr val="bg2"/>
                </a:solidFill>
                <a:latin typeface="Source Sans Pro" panose="020B0503030403020204" pitchFamily="34" charset="0"/>
                <a:ea typeface="黑体" panose="02010609060101010101" pitchFamily="49" charset="-122"/>
              </a:rPr>
              <a:t>并且调用</a:t>
            </a:r>
            <a:r>
              <a:rPr lang="en-US" altLang="zh-CN" sz="1400" dirty="0" err="1">
                <a:solidFill>
                  <a:schemeClr val="bg2"/>
                </a:solidFill>
                <a:latin typeface="Source Sans Pro" panose="020B0503030403020204" pitchFamily="34" charset="0"/>
                <a:ea typeface="Source Sans Pro" panose="020B0503030403020204" pitchFamily="34" charset="0"/>
              </a:rPr>
              <a:t>b.spam</a:t>
            </a:r>
            <a:r>
              <a:rPr lang="en-US" altLang="zh-CN" sz="1400" dirty="0">
                <a:solidFill>
                  <a:schemeClr val="bg2"/>
                </a:solidFill>
                <a:latin typeface="Source Sans Pro" panose="020B0503030403020204" pitchFamily="34" charset="0"/>
                <a:ea typeface="Source Sans Pro" panose="020B0503030403020204" pitchFamily="34" charset="0"/>
              </a:rPr>
              <a:t>(). </a:t>
            </a:r>
            <a:r>
              <a:rPr lang="zh-CN" altLang="en-US" sz="1400" dirty="0">
                <a:solidFill>
                  <a:schemeClr val="bg2"/>
                </a:solidFill>
                <a:latin typeface="Source Sans Pro" panose="020B0503030403020204" pitchFamily="34" charset="0"/>
                <a:ea typeface="黑体" panose="02010609060101010101" pitchFamily="49" charset="-122"/>
              </a:rPr>
              <a:t>运行</a:t>
            </a:r>
            <a:r>
              <a:rPr lang="en-US" altLang="zh-CN" sz="1400" dirty="0">
                <a:solidFill>
                  <a:schemeClr val="bg2"/>
                </a:solidFill>
                <a:latin typeface="Source Sans Pro" panose="020B0503030403020204" pitchFamily="34" charset="0"/>
                <a:ea typeface="Source Sans Pro" panose="020B0503030403020204" pitchFamily="34" charset="0"/>
              </a:rPr>
              <a:t>a.py</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00000"/>
              </a:lnSpc>
            </a:pPr>
            <a:r>
              <a:rPr lang="zh-CN" altLang="en-US" sz="1400" dirty="0">
                <a:solidFill>
                  <a:schemeClr val="bg2"/>
                </a:solidFill>
                <a:latin typeface="Source Sans Pro" panose="020B0503030403020204" pitchFamily="34" charset="0"/>
                <a:ea typeface="黑体" panose="02010609060101010101" pitchFamily="49" charset="-122"/>
              </a:rPr>
              <a:t>在文件</a:t>
            </a:r>
            <a:r>
              <a:rPr lang="en-US" altLang="zh-CN" sz="1400" dirty="0">
                <a:solidFill>
                  <a:schemeClr val="bg2"/>
                </a:solidFill>
                <a:latin typeface="Source Sans Pro" panose="020B0503030403020204" pitchFamily="34" charset="0"/>
                <a:ea typeface="Source Sans Pro" panose="020B0503030403020204" pitchFamily="34" charset="0"/>
              </a:rPr>
              <a:t>my_geometry.py</a:t>
            </a:r>
            <a:r>
              <a:rPr lang="zh-CN" altLang="en-US" sz="1400" dirty="0">
                <a:solidFill>
                  <a:schemeClr val="bg2"/>
                </a:solidFill>
                <a:latin typeface="Source Sans Pro" panose="020B0503030403020204" pitchFamily="34" charset="0"/>
                <a:ea typeface="黑体" panose="02010609060101010101" pitchFamily="49" charset="-122"/>
              </a:rPr>
              <a:t>中定义</a:t>
            </a:r>
            <a:r>
              <a:rPr lang="en-US" altLang="zh-CN" sz="1400" dirty="0">
                <a:solidFill>
                  <a:schemeClr val="bg2"/>
                </a:solidFill>
                <a:latin typeface="Source Sans Pro" panose="020B0503030403020204" pitchFamily="34" charset="0"/>
                <a:ea typeface="Source Sans Pro" panose="020B0503030403020204" pitchFamily="34" charset="0"/>
              </a:rPr>
              <a:t>Triangle</a:t>
            </a:r>
            <a:r>
              <a:rPr lang="zh-CN" altLang="en-US" sz="1400" dirty="0">
                <a:solidFill>
                  <a:schemeClr val="bg2"/>
                </a:solidFill>
                <a:latin typeface="Source Sans Pro" panose="020B0503030403020204" pitchFamily="34" charset="0"/>
                <a:ea typeface="黑体" panose="02010609060101010101" pitchFamily="49" charset="-122"/>
              </a:rPr>
              <a:t>类</a:t>
            </a:r>
            <a:r>
              <a:rPr lang="en-US" altLang="zh-CN" sz="1400" dirty="0">
                <a:solidFill>
                  <a:schemeClr val="bg2"/>
                </a:solidFill>
                <a:latin typeface="Source Sans Pro" panose="020B0503030403020204" pitchFamily="34" charset="0"/>
                <a:ea typeface="Source Sans Pro" panose="020B0503030403020204" pitchFamily="34" charset="0"/>
              </a:rPr>
              <a:t>. </a:t>
            </a:r>
            <a:r>
              <a:rPr lang="zh-CN" altLang="en-US" sz="1400" dirty="0">
                <a:solidFill>
                  <a:schemeClr val="bg2"/>
                </a:solidFill>
                <a:latin typeface="Source Sans Pro" panose="020B0503030403020204" pitchFamily="34" charset="0"/>
                <a:ea typeface="黑体" panose="02010609060101010101" pitchFamily="49" charset="-122"/>
              </a:rPr>
              <a:t>在另一文件中</a:t>
            </a:r>
            <a:r>
              <a:rPr lang="en-US" altLang="zh-CN" sz="1400" dirty="0">
                <a:solidFill>
                  <a:schemeClr val="bg2"/>
                </a:solidFill>
                <a:latin typeface="Source Sans Pro" panose="020B0503030403020204" pitchFamily="34" charset="0"/>
                <a:ea typeface="Source Sans Pro" panose="020B0503030403020204" pitchFamily="34" charset="0"/>
              </a:rPr>
              <a:t>import</a:t>
            </a:r>
            <a:r>
              <a:rPr lang="zh-CN" altLang="en-US" sz="1400" dirty="0">
                <a:solidFill>
                  <a:schemeClr val="bg2"/>
                </a:solidFill>
                <a:latin typeface="Source Sans Pro" panose="020B0503030403020204" pitchFamily="34" charset="0"/>
                <a:ea typeface="黑体" panose="02010609060101010101" pitchFamily="49" charset="-122"/>
              </a:rPr>
              <a:t>并运行</a:t>
            </a:r>
            <a:endParaRPr lang="zh-CN" altLang="en-US" sz="1400" dirty="0">
              <a:solidFill>
                <a:schemeClr val="bg2"/>
              </a:solidFill>
              <a:latin typeface="Source Sans Pro" panose="020B0503030403020204" pitchFamily="34" charset="0"/>
              <a:ea typeface="黑体" panose="02010609060101010101" pitchFamily="49" charset="-122"/>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95186" y="2678730"/>
            <a:ext cx="2592288" cy="518458"/>
          </a:xfrm>
          <a:prstGeom prst="rect">
            <a:avLst/>
          </a:prstGeom>
        </p:spPr>
      </p:pic>
      <p:pic>
        <p:nvPicPr>
          <p:cNvPr id="6" name="Picture 8" descr="A picture containing text&#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5186" y="3325471"/>
            <a:ext cx="1789197" cy="596399"/>
          </a:xfrm>
          <a:prstGeom prst="rect">
            <a:avLst/>
          </a:prstGeom>
        </p:spPr>
      </p:pic>
      <p:pic>
        <p:nvPicPr>
          <p:cNvPr id="7"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5186" y="4050153"/>
            <a:ext cx="1081695" cy="256977"/>
          </a:xfrm>
          <a:prstGeom prst="rect">
            <a:avLst/>
          </a:prstGeom>
        </p:spPr>
      </p:pic>
      <p:pic>
        <p:nvPicPr>
          <p:cNvPr id="8" name="Picture 12" descr="Text&#10;&#10;Description automatically generated"/>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000" y="2678730"/>
            <a:ext cx="2993457" cy="971255"/>
          </a:xfrm>
          <a:prstGeom prst="rect">
            <a:avLst/>
          </a:prstGeom>
        </p:spPr>
      </p:pic>
      <p:pic>
        <p:nvPicPr>
          <p:cNvPr id="9" name="Picture 1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72000" y="3805522"/>
            <a:ext cx="2593571" cy="256977"/>
          </a:xfrm>
          <a:prstGeom prst="rect">
            <a:avLst/>
          </a:prstGeom>
        </p:spPr>
      </p:pic>
      <p:sp>
        <p:nvSpPr>
          <p:cNvPr id="12" name="Rectangle 4"/>
          <p:cNvSpPr/>
          <p:nvPr/>
        </p:nvSpPr>
        <p:spPr>
          <a:xfrm>
            <a:off x="5924350" y="4503008"/>
            <a:ext cx="2776737" cy="390933"/>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2"/>
                </a:solidFill>
                <a:latin typeface="Source Sans Pro" panose="020B0503030403020204" pitchFamily="34" charset="0"/>
                <a:ea typeface="黑体" panose="02010609060101010101" pitchFamily="49" charset="-122"/>
              </a:rPr>
              <a:t>b.py</a:t>
            </a:r>
            <a:r>
              <a:rPr lang="zh-CN" altLang="en-US" sz="1200" dirty="0">
                <a:solidFill>
                  <a:schemeClr val="bg2"/>
                </a:solidFill>
                <a:latin typeface="Source Sans Pro" panose="020B0503030403020204" pitchFamily="34" charset="0"/>
                <a:ea typeface="黑体" panose="02010609060101010101" pitchFamily="49" charset="-122"/>
              </a:rPr>
              <a:t>和</a:t>
            </a:r>
            <a:r>
              <a:rPr lang="en-US" sz="1200" dirty="0">
                <a:solidFill>
                  <a:schemeClr val="bg2"/>
                </a:solidFill>
                <a:latin typeface="Source Sans Pro" panose="020B0503030403020204" pitchFamily="34" charset="0"/>
                <a:ea typeface="黑体" panose="02010609060101010101" pitchFamily="49" charset="-122"/>
              </a:rPr>
              <a:t>my_geometry.py</a:t>
            </a:r>
            <a:r>
              <a:rPr lang="zh-CN" altLang="en-US" sz="1200" dirty="0">
                <a:solidFill>
                  <a:schemeClr val="bg2"/>
                </a:solidFill>
                <a:latin typeface="Source Sans Pro" panose="020B0503030403020204" pitchFamily="34" charset="0"/>
                <a:ea typeface="黑体" panose="02010609060101010101" pitchFamily="49" charset="-122"/>
              </a:rPr>
              <a:t>都是</a:t>
            </a:r>
            <a:r>
              <a:rPr lang="en-US" sz="1200" dirty="0">
                <a:solidFill>
                  <a:schemeClr val="bg2"/>
                </a:solidFill>
                <a:latin typeface="Source Sans Pro" panose="020B0503030403020204" pitchFamily="34" charset="0"/>
                <a:ea typeface="黑体" panose="02010609060101010101" pitchFamily="49" charset="-122"/>
              </a:rPr>
              <a:t>python</a:t>
            </a:r>
            <a:r>
              <a:rPr lang="zh-CN" altLang="en-US" sz="1200" dirty="0">
                <a:solidFill>
                  <a:schemeClr val="bg2"/>
                </a:solidFill>
                <a:latin typeface="Source Sans Pro" panose="020B0503030403020204" pitchFamily="34" charset="0"/>
                <a:ea typeface="黑体" panose="02010609060101010101" pitchFamily="49" charset="-122"/>
              </a:rPr>
              <a:t>文件</a:t>
            </a:r>
            <a:endParaRPr lang="zh-CN" altLang="en-US" sz="1200" dirty="0">
              <a:solidFill>
                <a:schemeClr val="bg2"/>
              </a:solidFill>
              <a:latin typeface="Source Sans Pro" panose="020B0503030403020204" pitchFamily="34" charset="0"/>
              <a:ea typeface="黑体" panose="02010609060101010101" pitchFamily="49" charset="-122"/>
            </a:endParaRPr>
          </a:p>
          <a:p>
            <a:r>
              <a:rPr lang="zh-CN" altLang="en-US" sz="1200" dirty="0">
                <a:solidFill>
                  <a:schemeClr val="bg2"/>
                </a:solidFill>
                <a:latin typeface="Source Sans Pro" panose="020B0503030403020204" pitchFamily="34" charset="0"/>
                <a:ea typeface="黑体" panose="02010609060101010101" pitchFamily="49" charset="-122"/>
              </a:rPr>
              <a:t>都可以作为</a:t>
            </a:r>
            <a:r>
              <a:rPr lang="en-US" sz="1200" dirty="0">
                <a:solidFill>
                  <a:schemeClr val="bg2"/>
                </a:solidFill>
                <a:latin typeface="Source Sans Pro" panose="020B0503030403020204" pitchFamily="34" charset="0"/>
                <a:ea typeface="黑体" panose="02010609060101010101" pitchFamily="49" charset="-122"/>
              </a:rPr>
              <a:t>module</a:t>
            </a:r>
            <a:r>
              <a:rPr lang="zh-CN" altLang="en-US" sz="1200" dirty="0">
                <a:solidFill>
                  <a:schemeClr val="bg2"/>
                </a:solidFill>
                <a:latin typeface="Source Sans Pro" panose="020B0503030403020204" pitchFamily="34" charset="0"/>
                <a:ea typeface="黑体" panose="02010609060101010101" pitchFamily="49" charset="-122"/>
              </a:rPr>
              <a:t>导入</a:t>
            </a:r>
            <a:r>
              <a:rPr lang="en-US" altLang="zh-CN" sz="1200" dirty="0">
                <a:solidFill>
                  <a:schemeClr val="bg2"/>
                </a:solidFill>
                <a:latin typeface="Source Sans Pro" panose="020B0503030403020204" pitchFamily="34" charset="0"/>
                <a:ea typeface="黑体" panose="02010609060101010101" pitchFamily="49" charset="-122"/>
              </a:rPr>
              <a:t>(</a:t>
            </a:r>
            <a:r>
              <a:rPr lang="en-US" sz="1200" dirty="0">
                <a:solidFill>
                  <a:schemeClr val="bg2"/>
                </a:solidFill>
                <a:latin typeface="Source Sans Pro" panose="020B0503030403020204" pitchFamily="34" charset="0"/>
                <a:ea typeface="黑体" panose="02010609060101010101" pitchFamily="49" charset="-122"/>
              </a:rPr>
              <a:t>import)</a:t>
            </a:r>
            <a:endParaRPr lang="en-US" sz="1200" dirty="0">
              <a:solidFill>
                <a:schemeClr val="bg2"/>
              </a:solidFill>
              <a:latin typeface="Source Sans Pro" panose="020B0503030403020204" pitchFamily="34" charset="0"/>
              <a:ea typeface="黑体" panose="02010609060101010101" pitchFamily="49"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Top-level file </a:t>
            </a:r>
            <a:r>
              <a:rPr lang="en-US" altLang="zh-CN" sz="3200" dirty="0">
                <a:solidFill>
                  <a:schemeClr val="bg2"/>
                </a:solidFill>
                <a:latin typeface="Raleway" pitchFamily="34" charset="0"/>
                <a:ea typeface="Source Sans Pro" panose="020B0503030403020204" pitchFamily="34" charset="0"/>
              </a:rPr>
              <a:t>(</a:t>
            </a:r>
            <a:r>
              <a:rPr lang="zh-CN" altLang="en-US" sz="3200" dirty="0">
                <a:solidFill>
                  <a:schemeClr val="bg2"/>
                </a:solidFill>
                <a:latin typeface="Raleway" pitchFamily="34" charset="0"/>
                <a:ea typeface="黑体" panose="02010609060101010101" pitchFamily="49" charset="-122"/>
              </a:rPr>
              <a:t>顶层文件</a:t>
            </a:r>
            <a:r>
              <a:rPr lang="en-US" altLang="zh-CN" sz="3200" dirty="0">
                <a:solidFill>
                  <a:schemeClr val="bg2"/>
                </a:solidFill>
                <a:latin typeface="Raleway" pitchFamily="34" charset="0"/>
                <a:ea typeface="Source Sans Pro" panose="020B0503030403020204" pitchFamily="34" charset="0"/>
              </a:rPr>
              <a:t>)</a:t>
            </a:r>
            <a:endParaRPr lang="en-US" altLang="zh-CN" dirty="0">
              <a:solidFill>
                <a:schemeClr val="bg2"/>
              </a:solidFill>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1152474"/>
            <a:ext cx="8520600" cy="3860101"/>
          </a:xfrm>
        </p:spPr>
        <p:txBody>
          <a:bodyPr>
            <a:noAutofit/>
          </a:bodyPr>
          <a:lstStyle/>
          <a:p>
            <a:pPr>
              <a:lnSpc>
                <a:spcPct val="114000"/>
              </a:lnSpc>
            </a:pPr>
            <a:r>
              <a:rPr lang="zh-CN" altLang="en-US" sz="1400" dirty="0">
                <a:solidFill>
                  <a:schemeClr val="bg2"/>
                </a:solidFill>
                <a:latin typeface="Source Sans Pro" panose="020B0503030403020204" pitchFamily="34" charset="0"/>
                <a:ea typeface="黑体" panose="02010609060101010101" pitchFamily="49" charset="-122"/>
              </a:rPr>
              <a:t>模块之间</a:t>
            </a:r>
            <a:r>
              <a:rPr lang="en-US" altLang="zh-CN" sz="1400" dirty="0">
                <a:solidFill>
                  <a:schemeClr val="bg2"/>
                </a:solidFill>
                <a:latin typeface="Source Sans Pro" panose="020B0503030403020204" pitchFamily="34" charset="0"/>
                <a:ea typeface="Source Sans Pro" panose="020B0503030403020204" pitchFamily="34" charset="0"/>
              </a:rPr>
              <a:t>import</a:t>
            </a:r>
            <a:r>
              <a:rPr lang="zh-CN" altLang="en-US" sz="1400" dirty="0">
                <a:solidFill>
                  <a:schemeClr val="bg2"/>
                </a:solidFill>
                <a:latin typeface="Source Sans Pro" panose="020B0503030403020204" pitchFamily="34" charset="0"/>
                <a:ea typeface="黑体" panose="02010609060101010101" pitchFamily="49" charset="-122"/>
              </a:rPr>
              <a:t>，其执行顺序和函数调用类似</a:t>
            </a:r>
            <a:endParaRPr lang="zh-CN" altLang="en-US" sz="1400" dirty="0">
              <a:solidFill>
                <a:schemeClr val="bg2"/>
              </a:solidFill>
              <a:latin typeface="Source Sans Pro" panose="020B0503030403020204" pitchFamily="34" charset="0"/>
              <a:ea typeface="黑体" panose="02010609060101010101" pitchFamily="49" charset="-122"/>
            </a:endParaRPr>
          </a:p>
          <a:p>
            <a:pPr>
              <a:lnSpc>
                <a:spcPct val="114000"/>
              </a:lnSpc>
            </a:pPr>
            <a:r>
              <a:rPr lang="en-US" altLang="zh-CN" sz="1400" dirty="0">
                <a:solidFill>
                  <a:schemeClr val="bg2"/>
                </a:solidFill>
                <a:latin typeface="Source Sans Pro" panose="020B0503030403020204" pitchFamily="34" charset="0"/>
                <a:ea typeface="Source Sans Pro" panose="020B0503030403020204" pitchFamily="34" charset="0"/>
              </a:rPr>
              <a:t>At a base level, a Python program consists of text files containing Python statements, with </a:t>
            </a:r>
            <a:endParaRPr lang="en-US" altLang="zh-CN" sz="1400" dirty="0">
              <a:solidFill>
                <a:schemeClr val="bg2"/>
              </a:solidFill>
              <a:latin typeface="Source Sans Pro" panose="020B0503030403020204" pitchFamily="34" charset="0"/>
              <a:ea typeface="Source Sans Pro" panose="020B0503030403020204" pitchFamily="34" charset="0"/>
            </a:endParaRPr>
          </a:p>
          <a:p>
            <a:pPr lvl="1">
              <a:lnSpc>
                <a:spcPct val="114000"/>
              </a:lnSpc>
              <a:buFont typeface="+mj-lt"/>
              <a:buAutoNum type="alphaLcParenR"/>
            </a:pPr>
            <a:r>
              <a:rPr lang="en-US" altLang="zh-CN" dirty="0">
                <a:solidFill>
                  <a:schemeClr val="tx1"/>
                </a:solidFill>
                <a:latin typeface="Source Sans Pro" panose="020B0503030403020204" pitchFamily="34" charset="0"/>
                <a:ea typeface="Source Sans Pro" panose="020B0503030403020204" pitchFamily="34" charset="0"/>
              </a:rPr>
              <a:t>one main top-level file (</a:t>
            </a:r>
            <a:r>
              <a:rPr lang="zh-CN" altLang="en-US" dirty="0">
                <a:solidFill>
                  <a:schemeClr val="tx1"/>
                </a:solidFill>
                <a:latin typeface="黑体" panose="02010609060101010101" pitchFamily="49" charset="-122"/>
                <a:ea typeface="黑体" panose="02010609060101010101" pitchFamily="49" charset="-122"/>
              </a:rPr>
              <a:t>当前运行的文件</a:t>
            </a:r>
            <a:r>
              <a:rPr lang="en-US" altLang="zh-CN" dirty="0">
                <a:solidFill>
                  <a:schemeClr val="tx1"/>
                </a:solidFill>
                <a:latin typeface="Source Sans Pro" panose="020B0503030403020204" pitchFamily="34" charset="0"/>
                <a:ea typeface="Source Sans Pro" panose="020B0503030403020204" pitchFamily="34" charset="0"/>
              </a:rPr>
              <a:t>)</a:t>
            </a:r>
            <a:endParaRPr lang="en-US" altLang="zh-CN" dirty="0">
              <a:solidFill>
                <a:schemeClr val="tx1"/>
              </a:solidFill>
              <a:latin typeface="Source Sans Pro" panose="020B0503030403020204" pitchFamily="34" charset="0"/>
              <a:ea typeface="Source Sans Pro" panose="020B0503030403020204" pitchFamily="34" charset="0"/>
            </a:endParaRPr>
          </a:p>
          <a:p>
            <a:pPr lvl="1">
              <a:lnSpc>
                <a:spcPct val="114000"/>
              </a:lnSpc>
              <a:buFont typeface="+mj-lt"/>
              <a:buAutoNum type="alphaLcParenR"/>
            </a:pPr>
            <a:r>
              <a:rPr lang="en-US" altLang="zh-CN" dirty="0">
                <a:solidFill>
                  <a:schemeClr val="tx1"/>
                </a:solidFill>
                <a:latin typeface="Source Sans Pro" panose="020B0503030403020204" pitchFamily="34" charset="0"/>
                <a:ea typeface="Source Sans Pro" panose="020B0503030403020204" pitchFamily="34" charset="0"/>
              </a:rPr>
              <a:t>zero or more supplemental files known as modules (</a:t>
            </a:r>
            <a:r>
              <a:rPr lang="zh-CN" altLang="en-US" dirty="0">
                <a:solidFill>
                  <a:schemeClr val="tx1"/>
                </a:solidFill>
                <a:latin typeface="Source Sans Pro" panose="020B0503030403020204" pitchFamily="34" charset="0"/>
                <a:ea typeface="黑体" panose="02010609060101010101" pitchFamily="49" charset="-122"/>
              </a:rPr>
              <a:t>被</a:t>
            </a:r>
            <a:r>
              <a:rPr lang="en-US" altLang="zh-CN" dirty="0">
                <a:solidFill>
                  <a:schemeClr val="tx1"/>
                </a:solidFill>
                <a:latin typeface="Source Sans Pro" panose="020B0503030403020204" pitchFamily="34" charset="0"/>
                <a:ea typeface="Source Sans Pro" panose="020B0503030403020204" pitchFamily="34" charset="0"/>
              </a:rPr>
              <a:t>import</a:t>
            </a:r>
            <a:r>
              <a:rPr lang="zh-CN" altLang="en-US" dirty="0">
                <a:solidFill>
                  <a:schemeClr val="tx1"/>
                </a:solidFill>
                <a:latin typeface="Source Sans Pro" panose="020B0503030403020204" pitchFamily="34" charset="0"/>
                <a:ea typeface="黑体" panose="02010609060101010101" pitchFamily="49" charset="-122"/>
              </a:rPr>
              <a:t>的文件</a:t>
            </a:r>
            <a:r>
              <a:rPr lang="en-US" altLang="zh-CN" dirty="0">
                <a:solidFill>
                  <a:schemeClr val="tx1"/>
                </a:solidFill>
                <a:latin typeface="Source Sans Pro" panose="020B0503030403020204" pitchFamily="34" charset="0"/>
                <a:ea typeface="Source Sans Pro" panose="020B0503030403020204" pitchFamily="34" charset="0"/>
              </a:rPr>
              <a:t>)</a:t>
            </a:r>
            <a:endParaRPr lang="en-US" altLang="zh-CN" dirty="0">
              <a:solidFill>
                <a:schemeClr val="tx1"/>
              </a:solidFill>
              <a:latin typeface="Source Sans Pro" panose="020B0503030403020204" pitchFamily="34" charset="0"/>
              <a:ea typeface="Source Sans Pro" panose="020B0503030403020204" pitchFamily="34" charset="0"/>
            </a:endParaRPr>
          </a:p>
          <a:p>
            <a:pPr>
              <a:lnSpc>
                <a:spcPct val="114000"/>
              </a:lnSpc>
            </a:pPr>
            <a:r>
              <a:rPr lang="en-US" altLang="zh-CN" sz="1400" dirty="0">
                <a:solidFill>
                  <a:schemeClr val="bg2"/>
                </a:solidFill>
                <a:latin typeface="Source Sans Pro" panose="020B0503030403020204" pitchFamily="34" charset="0"/>
                <a:ea typeface="Source Sans Pro" panose="020B0503030403020204" pitchFamily="34" charset="0"/>
              </a:rPr>
              <a:t>The top-level (a.k.a. script) file contains the main flow of control of your program—this is the file you run to launch your application. </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14000"/>
              </a:lnSpc>
            </a:pPr>
            <a:r>
              <a:rPr lang="en-US" altLang="zh-CN" sz="1400" dirty="0">
                <a:solidFill>
                  <a:schemeClr val="bg2"/>
                </a:solidFill>
                <a:latin typeface="Source Sans Pro" panose="020B0503030403020204" pitchFamily="34" charset="0"/>
                <a:ea typeface="Source Sans Pro" panose="020B0503030403020204" pitchFamily="34" charset="0"/>
              </a:rPr>
              <a:t>The module files are libraries of tools used to collect components used by the top-level file, and possibly elsewhere. Top-level files use tools defined in module files, and modules use tools defined in other modules.</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14000"/>
              </a:lnSpc>
            </a:pPr>
            <a:r>
              <a:rPr lang="en-US" altLang="zh-CN" sz="1400" dirty="0">
                <a:solidFill>
                  <a:schemeClr val="bg2"/>
                </a:solidFill>
                <a:latin typeface="Source Sans Pro" panose="020B0503030403020204" pitchFamily="34" charset="0"/>
                <a:ea typeface="Source Sans Pro" panose="020B0503030403020204" pitchFamily="34" charset="0"/>
              </a:rPr>
              <a:t>A file imports a module </a:t>
            </a:r>
            <a:r>
              <a:rPr lang="en-US" altLang="zh-CN" sz="1400" dirty="0">
                <a:solidFill>
                  <a:schemeClr val="tx1"/>
                </a:solidFill>
                <a:latin typeface="Source Sans Pro" panose="020B0503030403020204" pitchFamily="34" charset="0"/>
                <a:ea typeface="Source Sans Pro" panose="020B0503030403020204" pitchFamily="34" charset="0"/>
              </a:rPr>
              <a:t>to gain access to the tools it defines</a:t>
            </a:r>
            <a:r>
              <a:rPr lang="en-US" altLang="zh-CN" sz="1400" dirty="0">
                <a:solidFill>
                  <a:schemeClr val="bg2"/>
                </a:solidFill>
                <a:latin typeface="Source Sans Pro" panose="020B0503030403020204" pitchFamily="34" charset="0"/>
                <a:ea typeface="Source Sans Pro" panose="020B0503030403020204" pitchFamily="34" charset="0"/>
              </a:rPr>
              <a:t>, which are known as its attributes—variable names attached to objects such as functions. Ultimately, we import modules and access their attributes to use their tools.</a:t>
            </a:r>
            <a:endParaRPr lang="en-US" altLang="zh-CN" sz="1400" dirty="0">
              <a:solidFill>
                <a:schemeClr val="bg2"/>
              </a:solidFill>
              <a:latin typeface="Source Sans Pro" panose="020B0503030403020204" pitchFamily="34" charset="0"/>
              <a:ea typeface="Source Sans Pro" panose="020B0503030403020204" pitchFamily="34" charset="0"/>
            </a:endParaRPr>
          </a:p>
          <a:p>
            <a:pPr marL="114300" indent="0">
              <a:lnSpc>
                <a:spcPct val="114000"/>
              </a:lnSpc>
              <a:buNone/>
            </a:pPr>
            <a:r>
              <a:rPr lang="en-US" altLang="zh-CN" sz="1500" dirty="0">
                <a:solidFill>
                  <a:srgbClr val="C00000"/>
                </a:solidFill>
                <a:latin typeface="Source Sans Pro" panose="020B0503030403020204" pitchFamily="34" charset="0"/>
                <a:ea typeface="Source Sans Pro" panose="020B0503030403020204" pitchFamily="34" charset="0"/>
              </a:rPr>
              <a:t>	</a:t>
            </a:r>
            <a:r>
              <a:rPr lang="en-US" altLang="zh-CN" sz="1500" dirty="0">
                <a:solidFill>
                  <a:schemeClr val="tx1"/>
                </a:solidFill>
                <a:latin typeface="Source Sans Pro" panose="020B0503030403020204" pitchFamily="34" charset="0"/>
                <a:ea typeface="Source Sans Pro" panose="020B0503030403020204" pitchFamily="34" charset="0"/>
              </a:rPr>
              <a:t>import math</a:t>
            </a:r>
            <a:endParaRPr lang="en-US" altLang="zh-CN" sz="1500" dirty="0">
              <a:solidFill>
                <a:schemeClr val="tx1"/>
              </a:solidFill>
              <a:latin typeface="Source Sans Pro" panose="020B0503030403020204" pitchFamily="34" charset="0"/>
              <a:ea typeface="Source Sans Pro" panose="020B0503030403020204" pitchFamily="34" charset="0"/>
            </a:endParaRPr>
          </a:p>
          <a:p>
            <a:pPr marL="114300" indent="0">
              <a:lnSpc>
                <a:spcPct val="114000"/>
              </a:lnSpc>
              <a:buNone/>
            </a:pPr>
            <a:r>
              <a:rPr lang="en-US" altLang="zh-CN" sz="1500" dirty="0">
                <a:solidFill>
                  <a:schemeClr val="tx1"/>
                </a:solidFill>
                <a:latin typeface="Source Sans Pro" panose="020B0503030403020204" pitchFamily="34" charset="0"/>
                <a:ea typeface="Source Sans Pro" panose="020B0503030403020204" pitchFamily="34" charset="0"/>
              </a:rPr>
              <a:t>	</a:t>
            </a:r>
            <a:r>
              <a:rPr lang="en-US" altLang="zh-CN" sz="1500" dirty="0" err="1">
                <a:solidFill>
                  <a:schemeClr val="tx1"/>
                </a:solidFill>
                <a:latin typeface="Source Sans Pro" panose="020B0503030403020204" pitchFamily="34" charset="0"/>
                <a:ea typeface="Source Sans Pro" panose="020B0503030403020204" pitchFamily="34" charset="0"/>
              </a:rPr>
              <a:t>math.pi</a:t>
            </a:r>
            <a:endParaRPr lang="en-US" altLang="zh-CN" sz="1500" dirty="0">
              <a:solidFill>
                <a:schemeClr val="tx1"/>
              </a:solidFill>
              <a:latin typeface="Source Sans Pro" panose="020B0503030403020204" pitchFamily="34" charset="0"/>
              <a:ea typeface="Source Sans Pro" panose="020B0503030403020204" pitchFamily="34" charset="0"/>
            </a:endParaRPr>
          </a:p>
          <a:p>
            <a:pPr marL="114300" indent="0">
              <a:lnSpc>
                <a:spcPct val="114000"/>
              </a:lnSpc>
              <a:buNone/>
            </a:pPr>
            <a:r>
              <a:rPr lang="en-US" altLang="zh-CN" sz="1500" dirty="0">
                <a:solidFill>
                  <a:schemeClr val="tx1"/>
                </a:solidFill>
                <a:latin typeface="Source Sans Pro" panose="020B0503030403020204" pitchFamily="34" charset="0"/>
                <a:ea typeface="Source Sans Pro" panose="020B0503030403020204" pitchFamily="34" charset="0"/>
              </a:rPr>
              <a:t>	</a:t>
            </a:r>
            <a:r>
              <a:rPr lang="en-US" altLang="zh-CN" sz="1500" dirty="0" err="1">
                <a:solidFill>
                  <a:schemeClr val="tx1"/>
                </a:solidFill>
                <a:latin typeface="Source Sans Pro" panose="020B0503030403020204" pitchFamily="34" charset="0"/>
                <a:ea typeface="Source Sans Pro" panose="020B0503030403020204" pitchFamily="34" charset="0"/>
              </a:rPr>
              <a:t>math.sin</a:t>
            </a:r>
            <a:r>
              <a:rPr lang="en-US" altLang="zh-CN" sz="1500" dirty="0">
                <a:solidFill>
                  <a:schemeClr val="tx1"/>
                </a:solidFill>
                <a:latin typeface="Source Sans Pro" panose="020B0503030403020204" pitchFamily="34" charset="0"/>
                <a:ea typeface="Source Sans Pro" panose="020B0503030403020204" pitchFamily="34" charset="0"/>
              </a:rPr>
              <a:t>(x)</a:t>
            </a:r>
            <a:endParaRPr lang="en-US" altLang="zh-CN" sz="1500" dirty="0">
              <a:solidFill>
                <a:schemeClr val="tx1"/>
              </a:solidFill>
              <a:latin typeface="Source Sans Pro" panose="020B0503030403020204" pitchFamily="34" charset="0"/>
              <a:ea typeface="Source Sans Pro" panose="020B0503030403020204" pitchFamily="34" charset="0"/>
            </a:endParaRPr>
          </a:p>
        </p:txBody>
      </p:sp>
      <p:sp>
        <p:nvSpPr>
          <p:cNvPr id="5" name="Rectangle 4"/>
          <p:cNvSpPr/>
          <p:nvPr/>
        </p:nvSpPr>
        <p:spPr>
          <a:xfrm>
            <a:off x="5587465" y="4288055"/>
            <a:ext cx="2887981" cy="410420"/>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2"/>
                </a:solidFill>
                <a:latin typeface="Source Sans Pro" panose="020B0503030403020204" pitchFamily="34" charset="0"/>
                <a:ea typeface="Source Sans Pro" panose="020B0503030403020204" pitchFamily="34" charset="0"/>
              </a:rPr>
              <a:t>Top-level: </a:t>
            </a:r>
            <a:r>
              <a:rPr lang="zh-CN" altLang="en-US" sz="1200" dirty="0">
                <a:solidFill>
                  <a:schemeClr val="bg2"/>
                </a:solidFill>
                <a:latin typeface="Source Sans Pro" panose="020B0503030403020204" pitchFamily="34" charset="0"/>
                <a:ea typeface="黑体" panose="02010609060101010101" pitchFamily="49" charset="-122"/>
              </a:rPr>
              <a:t>自己当家作主，调用其他模块</a:t>
            </a:r>
            <a:endParaRPr lang="zh-CN" altLang="en-US" sz="1200" dirty="0">
              <a:solidFill>
                <a:schemeClr val="bg2"/>
              </a:solidFill>
              <a:latin typeface="Source Sans Pro" panose="020B0503030403020204" pitchFamily="34" charset="0"/>
              <a:ea typeface="黑体" panose="02010609060101010101" pitchFamily="49" charset="-122"/>
            </a:endParaRPr>
          </a:p>
          <a:p>
            <a:r>
              <a:rPr lang="en-US" sz="1200" dirty="0">
                <a:solidFill>
                  <a:schemeClr val="bg2"/>
                </a:solidFill>
                <a:latin typeface="Source Sans Pro" panose="020B0503030403020204" pitchFamily="34" charset="0"/>
                <a:ea typeface="Source Sans Pro" panose="020B0503030403020204" pitchFamily="34" charset="0"/>
              </a:rPr>
              <a:t>Imported module: </a:t>
            </a:r>
            <a:r>
              <a:rPr lang="zh-CN" altLang="en-US" sz="1200" dirty="0">
                <a:solidFill>
                  <a:schemeClr val="bg2"/>
                </a:solidFill>
                <a:latin typeface="Source Sans Pro" panose="020B0503030403020204" pitchFamily="34" charset="0"/>
                <a:ea typeface="黑体" panose="02010609060101010101" pitchFamily="49" charset="-122"/>
              </a:rPr>
              <a:t>打工人</a:t>
            </a:r>
            <a:endParaRPr lang="zh-CN" altLang="en-US" sz="1200" dirty="0">
              <a:solidFill>
                <a:schemeClr val="bg2"/>
              </a:solidFill>
              <a:latin typeface="Source Sans Pro" panose="020B0503030403020204" pitchFamily="34" charset="0"/>
              <a:ea typeface="黑体" panose="02010609060101010101" pitchFamily="49"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Python Program Architecture</a:t>
            </a:r>
            <a:endParaRPr lang="en-US" altLang="zh-CN" dirty="0">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48866" y="1255222"/>
            <a:ext cx="4297950" cy="3599411"/>
          </a:xfrm>
        </p:spPr>
        <p:txBody>
          <a:bodyPr>
            <a:noAutofit/>
          </a:bodyPr>
          <a:lstStyle/>
          <a:p>
            <a:pPr>
              <a:lnSpc>
                <a:spcPct val="100000"/>
              </a:lnSpc>
            </a:pPr>
            <a:r>
              <a:rPr lang="en-US" altLang="zh-CN" sz="1400" dirty="0">
                <a:solidFill>
                  <a:schemeClr val="bg2"/>
                </a:solidFill>
                <a:latin typeface="Source Sans Pro" panose="020B0503030403020204" pitchFamily="34" charset="0"/>
                <a:ea typeface="Source Sans Pro" panose="020B0503030403020204" pitchFamily="34" charset="0"/>
              </a:rPr>
              <a:t>Program architecture in Python. </a:t>
            </a:r>
            <a:endParaRPr lang="en-US" altLang="zh-CN" sz="1400" dirty="0">
              <a:solidFill>
                <a:schemeClr val="bg2"/>
              </a:solidFill>
              <a:latin typeface="Source Sans Pro" panose="020B0503030403020204" pitchFamily="34" charset="0"/>
              <a:ea typeface="Source Sans Pro" panose="020B0503030403020204" pitchFamily="34" charset="0"/>
            </a:endParaRPr>
          </a:p>
          <a:p>
            <a:pPr lvl="1">
              <a:lnSpc>
                <a:spcPct val="100000"/>
              </a:lnSpc>
            </a:pPr>
            <a:r>
              <a:rPr lang="en-US" altLang="zh-CN" dirty="0">
                <a:solidFill>
                  <a:schemeClr val="bg2"/>
                </a:solidFill>
                <a:latin typeface="Source Sans Pro" panose="020B0503030403020204" pitchFamily="34" charset="0"/>
                <a:ea typeface="Source Sans Pro" panose="020B0503030403020204" pitchFamily="34" charset="0"/>
              </a:rPr>
              <a:t>A program is a system of modules</a:t>
            </a:r>
            <a:endParaRPr lang="en-US" altLang="zh-CN" dirty="0">
              <a:solidFill>
                <a:schemeClr val="bg2"/>
              </a:solidFill>
              <a:latin typeface="Source Sans Pro" panose="020B0503030403020204" pitchFamily="34" charset="0"/>
              <a:ea typeface="Source Sans Pro" panose="020B0503030403020204" pitchFamily="34" charset="0"/>
            </a:endParaRPr>
          </a:p>
          <a:p>
            <a:pPr lvl="1">
              <a:lnSpc>
                <a:spcPct val="100000"/>
              </a:lnSpc>
            </a:pPr>
            <a:r>
              <a:rPr lang="en-US" altLang="zh-CN" dirty="0">
                <a:solidFill>
                  <a:schemeClr val="bg2"/>
                </a:solidFill>
                <a:latin typeface="Source Sans Pro" panose="020B0503030403020204" pitchFamily="34" charset="0"/>
                <a:ea typeface="Source Sans Pro" panose="020B0503030403020204" pitchFamily="34" charset="0"/>
              </a:rPr>
              <a:t>one </a:t>
            </a:r>
            <a:r>
              <a:rPr lang="en-US" altLang="zh-CN" dirty="0">
                <a:solidFill>
                  <a:schemeClr val="tx1"/>
                </a:solidFill>
                <a:latin typeface="Source Sans Pro" panose="020B0503030403020204" pitchFamily="34" charset="0"/>
                <a:ea typeface="Source Sans Pro" panose="020B0503030403020204" pitchFamily="34" charset="0"/>
              </a:rPr>
              <a:t>top-level (</a:t>
            </a:r>
            <a:r>
              <a:rPr lang="zh-CN" altLang="en-US" dirty="0">
                <a:solidFill>
                  <a:schemeClr val="tx1"/>
                </a:solidFill>
                <a:latin typeface="Source Sans Pro" panose="020B0503030403020204" pitchFamily="34" charset="0"/>
                <a:ea typeface="黑体" panose="02010609060101010101" pitchFamily="49" charset="-122"/>
              </a:rPr>
              <a:t>顶层</a:t>
            </a:r>
            <a:r>
              <a:rPr lang="en-US" altLang="zh-CN" dirty="0">
                <a:solidFill>
                  <a:schemeClr val="tx1"/>
                </a:solidFill>
                <a:latin typeface="Source Sans Pro" panose="020B0503030403020204" pitchFamily="34" charset="0"/>
                <a:ea typeface="Source Sans Pro" panose="020B0503030403020204" pitchFamily="34" charset="0"/>
              </a:rPr>
              <a:t>) </a:t>
            </a:r>
            <a:r>
              <a:rPr lang="en-US" altLang="zh-CN" dirty="0">
                <a:solidFill>
                  <a:schemeClr val="bg2"/>
                </a:solidFill>
                <a:latin typeface="Source Sans Pro" panose="020B0503030403020204" pitchFamily="34" charset="0"/>
                <a:ea typeface="Source Sans Pro" panose="020B0503030403020204" pitchFamily="34" charset="0"/>
              </a:rPr>
              <a:t>script file (</a:t>
            </a:r>
            <a:r>
              <a:rPr lang="en-US" altLang="zh-CN" dirty="0">
                <a:solidFill>
                  <a:schemeClr val="tx1"/>
                </a:solidFill>
                <a:latin typeface="Source Sans Pro" panose="020B0503030403020204" pitchFamily="34" charset="0"/>
                <a:ea typeface="Source Sans Pro" panose="020B0503030403020204" pitchFamily="34" charset="0"/>
              </a:rPr>
              <a:t>launched to run the program</a:t>
            </a:r>
            <a:r>
              <a:rPr lang="en-US" altLang="zh-CN" dirty="0">
                <a:solidFill>
                  <a:schemeClr val="bg2"/>
                </a:solidFill>
                <a:latin typeface="Source Sans Pro" panose="020B0503030403020204" pitchFamily="34" charset="0"/>
                <a:ea typeface="Source Sans Pro" panose="020B0503030403020204" pitchFamily="34" charset="0"/>
              </a:rPr>
              <a:t>)</a:t>
            </a:r>
            <a:endParaRPr lang="en-US" altLang="zh-CN" dirty="0">
              <a:solidFill>
                <a:schemeClr val="bg2"/>
              </a:solidFill>
              <a:latin typeface="Source Sans Pro" panose="020B0503030403020204" pitchFamily="34" charset="0"/>
              <a:ea typeface="Source Sans Pro" panose="020B0503030403020204" pitchFamily="34" charset="0"/>
            </a:endParaRPr>
          </a:p>
          <a:p>
            <a:pPr lvl="1">
              <a:lnSpc>
                <a:spcPct val="100000"/>
              </a:lnSpc>
            </a:pPr>
            <a:r>
              <a:rPr lang="en-US" altLang="zh-CN" dirty="0">
                <a:solidFill>
                  <a:schemeClr val="bg2"/>
                </a:solidFill>
                <a:latin typeface="Source Sans Pro" panose="020B0503030403020204" pitchFamily="34" charset="0"/>
                <a:ea typeface="Source Sans Pro" panose="020B0503030403020204" pitchFamily="34" charset="0"/>
              </a:rPr>
              <a:t>and </a:t>
            </a:r>
            <a:r>
              <a:rPr lang="en-US" altLang="zh-CN" dirty="0">
                <a:solidFill>
                  <a:schemeClr val="tx1"/>
                </a:solidFill>
                <a:latin typeface="Source Sans Pro" panose="020B0503030403020204" pitchFamily="34" charset="0"/>
                <a:ea typeface="Source Sans Pro" panose="020B0503030403020204" pitchFamily="34" charset="0"/>
              </a:rPr>
              <a:t>multiple module</a:t>
            </a:r>
            <a:r>
              <a:rPr lang="en-US" altLang="zh-CN" dirty="0">
                <a:solidFill>
                  <a:srgbClr val="C00000"/>
                </a:solidFill>
                <a:latin typeface="Source Sans Pro" panose="020B0503030403020204" pitchFamily="34" charset="0"/>
                <a:ea typeface="Source Sans Pro" panose="020B0503030403020204" pitchFamily="34" charset="0"/>
              </a:rPr>
              <a:t> </a:t>
            </a:r>
            <a:r>
              <a:rPr lang="en-US" altLang="zh-CN" dirty="0">
                <a:solidFill>
                  <a:schemeClr val="bg2"/>
                </a:solidFill>
                <a:latin typeface="Source Sans Pro" panose="020B0503030403020204" pitchFamily="34" charset="0"/>
                <a:ea typeface="Source Sans Pro" panose="020B0503030403020204" pitchFamily="34" charset="0"/>
              </a:rPr>
              <a:t>files (</a:t>
            </a:r>
            <a:r>
              <a:rPr lang="en-US" altLang="zh-CN" dirty="0">
                <a:solidFill>
                  <a:schemeClr val="tx1"/>
                </a:solidFill>
                <a:latin typeface="Source Sans Pro" panose="020B0503030403020204" pitchFamily="34" charset="0"/>
                <a:ea typeface="Source Sans Pro" panose="020B0503030403020204" pitchFamily="34" charset="0"/>
              </a:rPr>
              <a:t>imported libraries of tools</a:t>
            </a:r>
            <a:r>
              <a:rPr lang="en-US" altLang="zh-CN" dirty="0">
                <a:solidFill>
                  <a:schemeClr val="bg2"/>
                </a:solidFill>
                <a:latin typeface="Source Sans Pro" panose="020B0503030403020204" pitchFamily="34" charset="0"/>
                <a:ea typeface="Source Sans Pro" panose="020B0503030403020204" pitchFamily="34" charset="0"/>
              </a:rPr>
              <a:t>)</a:t>
            </a:r>
            <a:endParaRPr lang="en-US" altLang="zh-CN" dirty="0">
              <a:solidFill>
                <a:schemeClr val="bg2"/>
              </a:solidFill>
              <a:latin typeface="Source Sans Pro" panose="020B0503030403020204" pitchFamily="34" charset="0"/>
              <a:ea typeface="Source Sans Pro" panose="020B0503030403020204" pitchFamily="34" charset="0"/>
            </a:endParaRPr>
          </a:p>
          <a:p>
            <a:pPr>
              <a:lnSpc>
                <a:spcPct val="100000"/>
              </a:lnSpc>
            </a:pPr>
            <a:r>
              <a:rPr lang="en-US" altLang="zh-CN" sz="1400" dirty="0">
                <a:solidFill>
                  <a:schemeClr val="bg2"/>
                </a:solidFill>
                <a:latin typeface="Source Sans Pro" panose="020B0503030403020204" pitchFamily="34" charset="0"/>
                <a:ea typeface="Source Sans Pro" panose="020B0503030403020204" pitchFamily="34" charset="0"/>
              </a:rPr>
              <a:t>Scripts and modules are both text files containing Python statements, though the statements in modules usually just create objects to be used later </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00000"/>
              </a:lnSpc>
            </a:pPr>
            <a:r>
              <a:rPr lang="en-US" altLang="zh-CN" sz="1400" dirty="0">
                <a:solidFill>
                  <a:schemeClr val="bg2"/>
                </a:solidFill>
                <a:latin typeface="Source Sans Pro" panose="020B0503030403020204" pitchFamily="34" charset="0"/>
                <a:ea typeface="Source Sans Pro" panose="020B0503030403020204" pitchFamily="34" charset="0"/>
              </a:rPr>
              <a:t>Python’s standard library provides a collection of </a:t>
            </a:r>
            <a:r>
              <a:rPr lang="en-US" altLang="zh-CN" sz="1400" dirty="0" err="1">
                <a:solidFill>
                  <a:schemeClr val="bg2"/>
                </a:solidFill>
                <a:latin typeface="Source Sans Pro" panose="020B0503030403020204" pitchFamily="34" charset="0"/>
                <a:ea typeface="Source Sans Pro" panose="020B0503030403020204" pitchFamily="34" charset="0"/>
              </a:rPr>
              <a:t>precoded</a:t>
            </a:r>
            <a:r>
              <a:rPr lang="en-US" altLang="zh-CN" sz="1400" dirty="0">
                <a:solidFill>
                  <a:schemeClr val="bg2"/>
                </a:solidFill>
                <a:latin typeface="Source Sans Pro" panose="020B0503030403020204" pitchFamily="34" charset="0"/>
                <a:ea typeface="Source Sans Pro" panose="020B0503030403020204" pitchFamily="34" charset="0"/>
              </a:rPr>
              <a:t> modules</a:t>
            </a:r>
            <a:endParaRPr lang="en-US" altLang="zh-CN" sz="1400" dirty="0">
              <a:solidFill>
                <a:schemeClr val="bg2"/>
              </a:solidFill>
              <a:latin typeface="Source Sans Pro" panose="020B0503030403020204" pitchFamily="34" charset="0"/>
              <a:ea typeface="Source Sans Pro" panose="020B0503030403020204" pitchFamily="34" charset="0"/>
            </a:endParaRPr>
          </a:p>
        </p:txBody>
      </p:sp>
      <p:pic>
        <p:nvPicPr>
          <p:cNvPr id="5" name="Picture 5" descr="Diagram&#10;&#10;Description automatically generated"/>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722876" y="1506891"/>
            <a:ext cx="3581625" cy="2129718"/>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Python Program Architecture: import</a:t>
            </a:r>
            <a:endParaRPr lang="en-US" altLang="zh-CN" dirty="0">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2047" y="1130532"/>
            <a:ext cx="5690089" cy="3805092"/>
          </a:xfrm>
        </p:spPr>
        <p:txBody>
          <a:bodyPr>
            <a:noAutofit/>
          </a:bodyPr>
          <a:lstStyle/>
          <a:p>
            <a:pPr>
              <a:lnSpc>
                <a:spcPct val="100000"/>
              </a:lnSpc>
            </a:pPr>
            <a:r>
              <a:rPr lang="en-US" altLang="zh-CN" sz="1400" dirty="0">
                <a:solidFill>
                  <a:schemeClr val="bg2"/>
                </a:solidFill>
                <a:latin typeface="Source Sans Pro" panose="020B0503030403020204" pitchFamily="34" charset="0"/>
                <a:ea typeface="Source Sans Pro" panose="020B0503030403020204" pitchFamily="34" charset="0"/>
              </a:rPr>
              <a:t>The file </a:t>
            </a:r>
            <a:r>
              <a:rPr lang="en-US" altLang="zh-CN" sz="1400" dirty="0" err="1">
                <a:solidFill>
                  <a:schemeClr val="bg2"/>
                </a:solidFill>
                <a:latin typeface="Source Sans Pro" panose="020B0503030403020204" pitchFamily="34" charset="0"/>
                <a:ea typeface="Source Sans Pro" panose="020B0503030403020204" pitchFamily="34" charset="0"/>
              </a:rPr>
              <a:t>a.py</a:t>
            </a:r>
            <a:r>
              <a:rPr lang="en-US" altLang="zh-CN" sz="1400" dirty="0">
                <a:solidFill>
                  <a:schemeClr val="bg2"/>
                </a:solidFill>
                <a:latin typeface="Source Sans Pro" panose="020B0503030403020204" pitchFamily="34" charset="0"/>
                <a:ea typeface="Source Sans Pro" panose="020B0503030403020204" pitchFamily="34" charset="0"/>
              </a:rPr>
              <a:t> is chosen to be the top-level file; it will be a simple text file of statements, which is executed from top to bottom when launched. </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00000"/>
              </a:lnSpc>
            </a:pPr>
            <a:r>
              <a:rPr lang="en-US" altLang="zh-CN" sz="1400" dirty="0">
                <a:solidFill>
                  <a:schemeClr val="bg2"/>
                </a:solidFill>
                <a:latin typeface="Source Sans Pro" panose="020B0503030403020204" pitchFamily="34" charset="0"/>
                <a:ea typeface="Source Sans Pro" panose="020B0503030403020204" pitchFamily="34" charset="0"/>
              </a:rPr>
              <a:t>The files </a:t>
            </a:r>
            <a:r>
              <a:rPr lang="en-US" altLang="zh-CN" sz="1400" dirty="0" err="1">
                <a:solidFill>
                  <a:schemeClr val="bg2"/>
                </a:solidFill>
                <a:latin typeface="Source Sans Pro" panose="020B0503030403020204" pitchFamily="34" charset="0"/>
                <a:ea typeface="Source Sans Pro" panose="020B0503030403020204" pitchFamily="34" charset="0"/>
              </a:rPr>
              <a:t>b.py</a:t>
            </a:r>
            <a:r>
              <a:rPr lang="en-US" altLang="zh-CN" sz="1400" dirty="0">
                <a:solidFill>
                  <a:schemeClr val="bg2"/>
                </a:solidFill>
                <a:latin typeface="Source Sans Pro" panose="020B0503030403020204" pitchFamily="34" charset="0"/>
                <a:ea typeface="Source Sans Pro" panose="020B0503030403020204" pitchFamily="34" charset="0"/>
              </a:rPr>
              <a:t> and </a:t>
            </a:r>
            <a:r>
              <a:rPr lang="en-US" altLang="zh-CN" sz="1400" dirty="0" err="1">
                <a:solidFill>
                  <a:schemeClr val="bg2"/>
                </a:solidFill>
                <a:latin typeface="Source Sans Pro" panose="020B0503030403020204" pitchFamily="34" charset="0"/>
                <a:ea typeface="Source Sans Pro" panose="020B0503030403020204" pitchFamily="34" charset="0"/>
              </a:rPr>
              <a:t>c.py</a:t>
            </a:r>
            <a:r>
              <a:rPr lang="en-US" altLang="zh-CN" sz="1400" dirty="0">
                <a:solidFill>
                  <a:schemeClr val="bg2"/>
                </a:solidFill>
                <a:latin typeface="Source Sans Pro" panose="020B0503030403020204" pitchFamily="34" charset="0"/>
                <a:ea typeface="Source Sans Pro" panose="020B0503030403020204" pitchFamily="34" charset="0"/>
              </a:rPr>
              <a:t> are modules; they are simple text files of statements as well, but </a:t>
            </a:r>
            <a:r>
              <a:rPr lang="en-US" altLang="zh-CN" sz="1400" dirty="0">
                <a:solidFill>
                  <a:schemeClr val="tx1"/>
                </a:solidFill>
                <a:latin typeface="Source Sans Pro" panose="020B0503030403020204" pitchFamily="34" charset="0"/>
                <a:ea typeface="Source Sans Pro" panose="020B0503030403020204" pitchFamily="34" charset="0"/>
              </a:rPr>
              <a:t>they are not usually launched directly</a:t>
            </a:r>
            <a:r>
              <a:rPr lang="en-US" altLang="zh-CN" sz="1400" dirty="0">
                <a:solidFill>
                  <a:schemeClr val="bg2"/>
                </a:solidFill>
                <a:latin typeface="Source Sans Pro" panose="020B0503030403020204" pitchFamily="34" charset="0"/>
                <a:ea typeface="Source Sans Pro" panose="020B0503030403020204" pitchFamily="34" charset="0"/>
              </a:rPr>
              <a:t>. Instead, as explained previously, modules are normally imported by other files that wish to use the tools the modules define</a:t>
            </a:r>
            <a:endParaRPr lang="en-US" altLang="zh-CN" sz="1400" dirty="0">
              <a:solidFill>
                <a:schemeClr val="bg2"/>
              </a:solidFill>
              <a:latin typeface="Source Sans Pro" panose="020B0503030403020204" pitchFamily="34" charset="0"/>
            </a:endParaRPr>
          </a:p>
          <a:p>
            <a:pPr>
              <a:lnSpc>
                <a:spcPct val="100000"/>
              </a:lnSpc>
            </a:pPr>
            <a:r>
              <a:rPr lang="en-US" altLang="zh-CN" sz="1400" dirty="0">
                <a:solidFill>
                  <a:schemeClr val="bg2"/>
                </a:solidFill>
                <a:latin typeface="Source Sans Pro" panose="020B0503030403020204" pitchFamily="34" charset="0"/>
              </a:rPr>
              <a:t>The first of these, a Python import statement, gives the file a.py access to everything defined by top-level code in the file b.py. </a:t>
            </a:r>
            <a:endParaRPr lang="en-US" altLang="zh-CN" sz="1400" dirty="0">
              <a:solidFill>
                <a:schemeClr val="bg2"/>
              </a:solidFill>
              <a:latin typeface="Source Sans Pro" panose="020B0503030403020204" pitchFamily="34" charset="0"/>
            </a:endParaRPr>
          </a:p>
          <a:p>
            <a:pPr>
              <a:lnSpc>
                <a:spcPct val="100000"/>
              </a:lnSpc>
            </a:pPr>
            <a:r>
              <a:rPr lang="en-US" altLang="zh-CN" sz="1400" dirty="0">
                <a:solidFill>
                  <a:schemeClr val="bg2"/>
                </a:solidFill>
                <a:latin typeface="Source Sans Pro" panose="020B0503030403020204" pitchFamily="34" charset="0"/>
              </a:rPr>
              <a:t>The code import b roughly means:</a:t>
            </a:r>
            <a:endParaRPr lang="en-US" altLang="zh-CN" sz="1400" dirty="0">
              <a:solidFill>
                <a:schemeClr val="bg2"/>
              </a:solidFill>
              <a:latin typeface="Source Sans Pro" panose="020B0503030403020204" pitchFamily="34" charset="0"/>
            </a:endParaRPr>
          </a:p>
          <a:p>
            <a:pPr lvl="1">
              <a:lnSpc>
                <a:spcPct val="100000"/>
              </a:lnSpc>
            </a:pPr>
            <a:r>
              <a:rPr lang="en-US" altLang="zh-CN" sz="1200" dirty="0">
                <a:solidFill>
                  <a:srgbClr val="7030A0"/>
                </a:solidFill>
                <a:latin typeface="Source Sans Pro" panose="020B0503030403020204" pitchFamily="34" charset="0"/>
              </a:rPr>
              <a:t>Load</a:t>
            </a:r>
            <a:r>
              <a:rPr lang="en-US" altLang="zh-CN" sz="1200" dirty="0">
                <a:solidFill>
                  <a:schemeClr val="bg2"/>
                </a:solidFill>
                <a:latin typeface="Source Sans Pro" panose="020B0503030403020204" pitchFamily="34" charset="0"/>
              </a:rPr>
              <a:t> the file b.py (unless it’s already loaded), and give me access to all its attributes </a:t>
            </a:r>
            <a:r>
              <a:rPr lang="en-US" altLang="zh-CN" sz="1200" dirty="0">
                <a:solidFill>
                  <a:schemeClr val="tx1"/>
                </a:solidFill>
                <a:latin typeface="Source Sans Pro" panose="020B0503030403020204" pitchFamily="34" charset="0"/>
              </a:rPr>
              <a:t>through the name b.</a:t>
            </a:r>
            <a:endParaRPr lang="en-US" altLang="zh-CN" sz="1200" dirty="0">
              <a:solidFill>
                <a:schemeClr val="tx1"/>
              </a:solidFill>
              <a:latin typeface="Source Sans Pro" panose="020B0503030403020204" pitchFamily="34" charset="0"/>
            </a:endParaRPr>
          </a:p>
          <a:p>
            <a:pPr>
              <a:lnSpc>
                <a:spcPct val="100000"/>
              </a:lnSpc>
            </a:pPr>
            <a:r>
              <a:rPr lang="en-US" altLang="zh-CN" sz="1400" dirty="0">
                <a:solidFill>
                  <a:schemeClr val="bg2"/>
                </a:solidFill>
                <a:latin typeface="Source Sans Pro" panose="020B0503030403020204" pitchFamily="34" charset="0"/>
              </a:rPr>
              <a:t>In fact, the module name used in an import statement serves two purposes: </a:t>
            </a:r>
            <a:r>
              <a:rPr lang="en-US" altLang="zh-CN" sz="1400" dirty="0">
                <a:solidFill>
                  <a:schemeClr val="tx1"/>
                </a:solidFill>
                <a:latin typeface="Source Sans Pro" panose="020B0503030403020204" pitchFamily="34" charset="0"/>
              </a:rPr>
              <a:t>it identifies the external file to be loaded, but it also becomes a variable assigned to the loaded module.</a:t>
            </a:r>
            <a:endParaRPr lang="en-US" altLang="zh-CN" sz="1400" dirty="0">
              <a:solidFill>
                <a:schemeClr val="tx1"/>
              </a:solidFill>
              <a:latin typeface="Source Sans Pro" panose="020B0503030403020204" pitchFamily="34" charset="0"/>
            </a:endParaRPr>
          </a:p>
          <a:p>
            <a:pPr>
              <a:lnSpc>
                <a:spcPct val="100000"/>
              </a:lnSpc>
            </a:pPr>
            <a:r>
              <a:rPr lang="en-US" altLang="zh-CN" sz="1400" dirty="0">
                <a:solidFill>
                  <a:schemeClr val="bg2"/>
                </a:solidFill>
                <a:latin typeface="Source Sans Pro" panose="020B0503030403020204" pitchFamily="34" charset="0"/>
              </a:rPr>
              <a:t>The code </a:t>
            </a:r>
            <a:r>
              <a:rPr lang="en-US" altLang="zh-CN" sz="1400" dirty="0" err="1">
                <a:solidFill>
                  <a:schemeClr val="bg2"/>
                </a:solidFill>
                <a:latin typeface="Source Sans Pro" panose="020B0503030403020204" pitchFamily="34" charset="0"/>
              </a:rPr>
              <a:t>b.spam</a:t>
            </a:r>
            <a:r>
              <a:rPr lang="en-US" altLang="zh-CN" sz="1400" dirty="0">
                <a:solidFill>
                  <a:schemeClr val="bg2"/>
                </a:solidFill>
                <a:latin typeface="Source Sans Pro" panose="020B0503030403020204" pitchFamily="34" charset="0"/>
              </a:rPr>
              <a:t> means:</a:t>
            </a:r>
            <a:endParaRPr lang="en-US" altLang="zh-CN" sz="1400" dirty="0">
              <a:solidFill>
                <a:schemeClr val="bg2"/>
              </a:solidFill>
              <a:latin typeface="Source Sans Pro" panose="020B0503030403020204" pitchFamily="34" charset="0"/>
            </a:endParaRPr>
          </a:p>
          <a:p>
            <a:pPr lvl="1">
              <a:lnSpc>
                <a:spcPct val="100000"/>
              </a:lnSpc>
            </a:pPr>
            <a:r>
              <a:rPr lang="en-US" altLang="zh-CN" sz="1200" dirty="0">
                <a:solidFill>
                  <a:schemeClr val="bg2"/>
                </a:solidFill>
                <a:latin typeface="Source Sans Pro" panose="020B0503030403020204" pitchFamily="34" charset="0"/>
              </a:rPr>
              <a:t>Fetch the value of the name spam that lives within the object b.</a:t>
            </a:r>
            <a:endParaRPr lang="en-US" altLang="zh-CN" sz="1200" dirty="0">
              <a:solidFill>
                <a:schemeClr val="bg2"/>
              </a:solidFill>
              <a:latin typeface="Source Sans Pro" panose="020B0503030403020204" pitchFamily="34" charset="0"/>
            </a:endParaRPr>
          </a:p>
        </p:txBody>
      </p:sp>
      <p:pic>
        <p:nvPicPr>
          <p:cNvPr id="5" name="Picture 5" descr="Diagram&#10;&#10;Description automatically generated"/>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101888" y="1730309"/>
            <a:ext cx="2830164" cy="1682882"/>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import</a:t>
            </a:r>
            <a:endParaRPr lang="en-US" altLang="zh-CN" dirty="0">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536664" y="1269082"/>
            <a:ext cx="8125164" cy="1926794"/>
          </a:xfrm>
        </p:spPr>
        <p:txBody>
          <a:bodyPr>
            <a:noAutofit/>
          </a:bodyPr>
          <a:lstStyle/>
          <a:p>
            <a:pPr marL="114300" indent="0">
              <a:lnSpc>
                <a:spcPct val="100000"/>
              </a:lnSpc>
              <a:buNone/>
            </a:pPr>
            <a:r>
              <a:rPr lang="en-US" altLang="zh-CN" sz="1500" dirty="0">
                <a:solidFill>
                  <a:schemeClr val="bg2"/>
                </a:solidFill>
                <a:latin typeface="Source Sans Pro" panose="020B0503030403020204" pitchFamily="34" charset="0"/>
              </a:rPr>
              <a:t>Objects defined by a module are also created at runtime, as the import is </a:t>
            </a:r>
            <a:r>
              <a:rPr lang="en-US" altLang="zh-CN" sz="1500" dirty="0">
                <a:solidFill>
                  <a:schemeClr val="tx1"/>
                </a:solidFill>
                <a:latin typeface="Source Sans Pro" panose="020B0503030403020204" pitchFamily="34" charset="0"/>
              </a:rPr>
              <a:t>executing:      </a:t>
            </a:r>
            <a:endParaRPr lang="en-US" altLang="zh-CN" sz="1500" dirty="0">
              <a:solidFill>
                <a:schemeClr val="tx1"/>
              </a:solidFill>
              <a:latin typeface="Source Sans Pro" panose="020B0503030403020204" pitchFamily="34" charset="0"/>
            </a:endParaRPr>
          </a:p>
          <a:p>
            <a:pPr marL="114300" indent="0">
              <a:lnSpc>
                <a:spcPct val="100000"/>
              </a:lnSpc>
              <a:buNone/>
            </a:pPr>
            <a:r>
              <a:rPr lang="en-US" altLang="zh-CN" sz="1500" dirty="0">
                <a:solidFill>
                  <a:schemeClr val="tx1"/>
                </a:solidFill>
                <a:latin typeface="Source Sans Pro" panose="020B0503030403020204" pitchFamily="34" charset="0"/>
              </a:rPr>
              <a:t>	import literally runs statements in the target file one at a time to create its contents.</a:t>
            </a:r>
            <a:endParaRPr lang="en-US" altLang="zh-CN" sz="1500" dirty="0">
              <a:solidFill>
                <a:schemeClr val="tx1"/>
              </a:solidFill>
              <a:latin typeface="Source Sans Pro" panose="020B0503030403020204" pitchFamily="34" charset="0"/>
            </a:endParaRPr>
          </a:p>
        </p:txBody>
      </p:sp>
      <p:sp>
        <p:nvSpPr>
          <p:cNvPr id="4" name="Rectangle 4"/>
          <p:cNvSpPr/>
          <p:nvPr/>
        </p:nvSpPr>
        <p:spPr>
          <a:xfrm>
            <a:off x="5924350" y="4503008"/>
            <a:ext cx="2776737" cy="390933"/>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2"/>
                </a:solidFill>
                <a:latin typeface="黑体" panose="02010609060101010101" pitchFamily="49" charset="-122"/>
                <a:ea typeface="黑体" panose="02010609060101010101" pitchFamily="49" charset="-122"/>
              </a:rPr>
              <a:t>被</a:t>
            </a:r>
            <a:r>
              <a:rPr lang="en-US" altLang="zh-CN" sz="1200" dirty="0">
                <a:solidFill>
                  <a:schemeClr val="bg2"/>
                </a:solidFill>
                <a:latin typeface="黑体" panose="02010609060101010101" pitchFamily="49" charset="-122"/>
                <a:ea typeface="黑体" panose="02010609060101010101" pitchFamily="49" charset="-122"/>
              </a:rPr>
              <a:t>import</a:t>
            </a:r>
            <a:r>
              <a:rPr lang="zh-CN" altLang="en-US" sz="1200" dirty="0">
                <a:solidFill>
                  <a:schemeClr val="bg2"/>
                </a:solidFill>
                <a:latin typeface="黑体" panose="02010609060101010101" pitchFamily="49" charset="-122"/>
                <a:ea typeface="黑体" panose="02010609060101010101" pitchFamily="49" charset="-122"/>
              </a:rPr>
              <a:t>的文件的每一条语句都会被执行一遍</a:t>
            </a:r>
            <a:endParaRPr lang="zh-CN" altLang="en-US" sz="1200" dirty="0">
              <a:solidFill>
                <a:schemeClr val="bg2"/>
              </a:solidFill>
              <a:latin typeface="黑体" panose="02010609060101010101" pitchFamily="49" charset="-122"/>
              <a:ea typeface="黑体" panose="02010609060101010101" pitchFamily="49" charset="-122"/>
            </a:endParaRPr>
          </a:p>
        </p:txBody>
      </p:sp>
      <p:pic>
        <p:nvPicPr>
          <p:cNvPr id="8" name="Picture 8" descr="Graphical user interface, text, application&#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36664" y="2022455"/>
            <a:ext cx="3967063" cy="1973973"/>
          </a:xfrm>
          <a:prstGeom prst="rect">
            <a:avLst/>
          </a:prstGeom>
        </p:spPr>
      </p:pic>
      <p:pic>
        <p:nvPicPr>
          <p:cNvPr id="9" name="Picture 10" descr="A picture containing orange, dark, room&#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0609" y="2022455"/>
            <a:ext cx="3024336" cy="604867"/>
          </a:xfrm>
          <a:prstGeom prst="rect">
            <a:avLst/>
          </a:prstGeom>
        </p:spPr>
      </p:pic>
      <p:pic>
        <p:nvPicPr>
          <p:cNvPr id="11" name="Picture 12" descr="Text&#10;&#10;Description automatically generate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28953" y="3009441"/>
            <a:ext cx="1257114" cy="69344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How import works</a:t>
            </a:r>
            <a:endParaRPr lang="en-US" altLang="zh-CN" dirty="0">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1152474"/>
            <a:ext cx="8520600" cy="3673525"/>
          </a:xfrm>
        </p:spPr>
        <p:txBody>
          <a:bodyPr>
            <a:noAutofit/>
          </a:bodyPr>
          <a:lstStyle/>
          <a:p>
            <a:pPr>
              <a:lnSpc>
                <a:spcPct val="100000"/>
              </a:lnSpc>
            </a:pPr>
            <a:r>
              <a:rPr lang="en-US" altLang="zh-CN" sz="1400" dirty="0">
                <a:solidFill>
                  <a:schemeClr val="bg2"/>
                </a:solidFill>
                <a:latin typeface="Source Sans Pro" panose="020B0503030403020204" pitchFamily="34" charset="0"/>
              </a:rPr>
              <a:t>They are really runtime operations that perform three distinct steps the first time a program imports a given file:</a:t>
            </a:r>
            <a:endParaRPr lang="en-US" altLang="zh-CN" sz="1400" dirty="0">
              <a:solidFill>
                <a:schemeClr val="bg2"/>
              </a:solidFill>
              <a:latin typeface="Source Sans Pro" panose="020B0503030403020204" pitchFamily="34" charset="0"/>
            </a:endParaRPr>
          </a:p>
          <a:p>
            <a:pPr marL="596900" lvl="1" indent="0">
              <a:lnSpc>
                <a:spcPct val="100000"/>
              </a:lnSpc>
              <a:buNone/>
            </a:pPr>
            <a:r>
              <a:rPr lang="en-US" altLang="zh-CN" sz="1200" dirty="0">
                <a:solidFill>
                  <a:schemeClr val="bg2"/>
                </a:solidFill>
                <a:latin typeface="Source Sans Pro" panose="020B0503030403020204" pitchFamily="34" charset="0"/>
              </a:rPr>
              <a:t>1. Find the module’s file.</a:t>
            </a:r>
            <a:endParaRPr lang="en-US" altLang="zh-CN" sz="1200" dirty="0">
              <a:solidFill>
                <a:schemeClr val="bg2"/>
              </a:solidFill>
              <a:latin typeface="Source Sans Pro" panose="020B0503030403020204" pitchFamily="34" charset="0"/>
            </a:endParaRPr>
          </a:p>
          <a:p>
            <a:pPr marL="596900" lvl="1" indent="0">
              <a:lnSpc>
                <a:spcPct val="100000"/>
              </a:lnSpc>
              <a:buNone/>
            </a:pPr>
            <a:r>
              <a:rPr lang="en-US" altLang="zh-CN" sz="1200" dirty="0">
                <a:solidFill>
                  <a:schemeClr val="bg2"/>
                </a:solidFill>
                <a:latin typeface="Source Sans Pro" panose="020B0503030403020204" pitchFamily="34" charset="0"/>
              </a:rPr>
              <a:t>2. Compile it to </a:t>
            </a:r>
            <a:r>
              <a:rPr lang="en-US" altLang="zh-CN" sz="1200" dirty="0">
                <a:solidFill>
                  <a:schemeClr val="tx1"/>
                </a:solidFill>
                <a:latin typeface="Source Sans Pro" panose="020B0503030403020204" pitchFamily="34" charset="0"/>
              </a:rPr>
              <a:t>byte code </a:t>
            </a:r>
            <a:r>
              <a:rPr lang="en-US" altLang="zh-CN" sz="1200" dirty="0">
                <a:solidFill>
                  <a:schemeClr val="bg2"/>
                </a:solidFill>
                <a:latin typeface="Source Sans Pro" panose="020B0503030403020204" pitchFamily="34" charset="0"/>
              </a:rPr>
              <a:t>(if needed). Byte Code Files: </a:t>
            </a:r>
            <a:r>
              <a:rPr lang="en-US" altLang="zh-CN" sz="1200" dirty="0">
                <a:solidFill>
                  <a:schemeClr val="tx1"/>
                </a:solidFill>
                <a:latin typeface="Source Sans Pro" panose="020B0503030403020204" pitchFamily="34" charset="0"/>
              </a:rPr>
              <a:t>__</a:t>
            </a:r>
            <a:r>
              <a:rPr lang="en-US" altLang="zh-CN" sz="1200" dirty="0" err="1">
                <a:solidFill>
                  <a:schemeClr val="tx1"/>
                </a:solidFill>
                <a:latin typeface="Source Sans Pro" panose="020B0503030403020204" pitchFamily="34" charset="0"/>
              </a:rPr>
              <a:t>pycache</a:t>
            </a:r>
            <a:r>
              <a:rPr lang="en-US" altLang="zh-CN" sz="1200" dirty="0">
                <a:solidFill>
                  <a:schemeClr val="tx1"/>
                </a:solidFill>
                <a:latin typeface="Source Sans Pro" panose="020B0503030403020204" pitchFamily="34" charset="0"/>
              </a:rPr>
              <a:t>__ </a:t>
            </a:r>
            <a:r>
              <a:rPr lang="en-US" altLang="zh-CN" sz="1200" dirty="0">
                <a:solidFill>
                  <a:schemeClr val="bg2"/>
                </a:solidFill>
                <a:latin typeface="Source Sans Pro" panose="020B0503030403020204" pitchFamily="34" charset="0"/>
              </a:rPr>
              <a:t>in Python</a:t>
            </a:r>
            <a:endParaRPr lang="en-US" altLang="zh-CN" sz="1200" dirty="0">
              <a:solidFill>
                <a:schemeClr val="bg2"/>
              </a:solidFill>
              <a:latin typeface="Source Sans Pro" panose="020B0503030403020204" pitchFamily="34" charset="0"/>
            </a:endParaRPr>
          </a:p>
          <a:p>
            <a:pPr marL="596900" lvl="1" indent="0">
              <a:lnSpc>
                <a:spcPct val="100000"/>
              </a:lnSpc>
              <a:buNone/>
            </a:pPr>
            <a:r>
              <a:rPr lang="en-US" altLang="zh-CN" sz="1200" dirty="0">
                <a:solidFill>
                  <a:schemeClr val="bg2"/>
                </a:solidFill>
                <a:latin typeface="Source Sans Pro" panose="020B0503030403020204" pitchFamily="34" charset="0"/>
              </a:rPr>
              <a:t>3. Run the module’s code to build the objects it defines.</a:t>
            </a:r>
            <a:endParaRPr lang="en-US" altLang="zh-CN" sz="1200" dirty="0">
              <a:solidFill>
                <a:schemeClr val="bg2"/>
              </a:solidFill>
              <a:latin typeface="Source Sans Pro" panose="020B0503030403020204" pitchFamily="34" charset="0"/>
            </a:endParaRPr>
          </a:p>
        </p:txBody>
      </p:sp>
      <p:pic>
        <p:nvPicPr>
          <p:cNvPr id="4" name="Picture 4" descr="Graphical user interface, text&#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66428" y="2302562"/>
            <a:ext cx="7411144" cy="2350363"/>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The module </a:t>
            </a:r>
            <a:r>
              <a:rPr lang="en-US" altLang="zh-CN" dirty="0">
                <a:solidFill>
                  <a:schemeClr val="tx1"/>
                </a:solidFill>
                <a:latin typeface="Raleway" pitchFamily="34" charset="0"/>
                <a:ea typeface="Source Sans Pro" panose="020B0503030403020204" pitchFamily="34" charset="0"/>
              </a:rPr>
              <a:t>search path</a:t>
            </a:r>
            <a:endParaRPr lang="en-US" altLang="zh-CN" dirty="0">
              <a:solidFill>
                <a:schemeClr val="tx1"/>
              </a:solidFill>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1552575"/>
            <a:ext cx="8520600" cy="3016300"/>
          </a:xfrm>
        </p:spPr>
        <p:txBody>
          <a:bodyPr>
            <a:noAutofit/>
          </a:bodyPr>
          <a:lstStyle/>
          <a:p>
            <a:pPr>
              <a:lnSpc>
                <a:spcPct val="100000"/>
              </a:lnSpc>
              <a:buFont typeface="+mj-lt"/>
              <a:buAutoNum type="arabicPeriod"/>
            </a:pPr>
            <a:r>
              <a:rPr lang="en-US" altLang="zh-CN" sz="1400" dirty="0">
                <a:solidFill>
                  <a:schemeClr val="bg2"/>
                </a:solidFill>
                <a:latin typeface="Source Sans Pro" panose="020B0503030403020204" pitchFamily="34" charset="0"/>
              </a:rPr>
              <a:t>The </a:t>
            </a:r>
            <a:r>
              <a:rPr lang="en-US" altLang="zh-CN" sz="1400" dirty="0">
                <a:solidFill>
                  <a:schemeClr val="tx1"/>
                </a:solidFill>
                <a:latin typeface="Source Sans Pro" panose="020B0503030403020204" pitchFamily="34" charset="0"/>
              </a:rPr>
              <a:t>home directory </a:t>
            </a:r>
            <a:r>
              <a:rPr lang="en-US" altLang="zh-CN" sz="1400" dirty="0">
                <a:solidFill>
                  <a:schemeClr val="bg2"/>
                </a:solidFill>
                <a:latin typeface="Source Sans Pro" panose="020B0503030403020204" pitchFamily="34" charset="0"/>
              </a:rPr>
              <a:t>of the program</a:t>
            </a:r>
            <a:endParaRPr lang="en-US" altLang="zh-CN" sz="1400" dirty="0">
              <a:solidFill>
                <a:schemeClr val="bg2"/>
              </a:solidFill>
              <a:latin typeface="Source Sans Pro" panose="020B0503030403020204" pitchFamily="34" charset="0"/>
            </a:endParaRPr>
          </a:p>
          <a:p>
            <a:pPr>
              <a:lnSpc>
                <a:spcPct val="100000"/>
              </a:lnSpc>
              <a:buFont typeface="+mj-lt"/>
              <a:buAutoNum type="arabicPeriod"/>
            </a:pPr>
            <a:r>
              <a:rPr lang="en-US" altLang="zh-CN" sz="1400" dirty="0">
                <a:solidFill>
                  <a:schemeClr val="tx1"/>
                </a:solidFill>
                <a:latin typeface="Source Sans Pro" panose="020B0503030403020204" pitchFamily="34" charset="0"/>
              </a:rPr>
              <a:t>PYTHONPATH</a:t>
            </a:r>
            <a:r>
              <a:rPr lang="en-US" altLang="zh-CN" sz="1400" dirty="0">
                <a:solidFill>
                  <a:schemeClr val="bg2"/>
                </a:solidFill>
                <a:latin typeface="Source Sans Pro" panose="020B0503030403020204" pitchFamily="34" charset="0"/>
              </a:rPr>
              <a:t> directories (if set)</a:t>
            </a:r>
            <a:endParaRPr lang="en-US" altLang="zh-CN" sz="1400" dirty="0">
              <a:solidFill>
                <a:schemeClr val="bg2"/>
              </a:solidFill>
              <a:latin typeface="Source Sans Pro" panose="020B0503030403020204" pitchFamily="34" charset="0"/>
            </a:endParaRPr>
          </a:p>
          <a:p>
            <a:pPr>
              <a:lnSpc>
                <a:spcPct val="100000"/>
              </a:lnSpc>
              <a:buFont typeface="+mj-lt"/>
              <a:buAutoNum type="arabicPeriod"/>
            </a:pPr>
            <a:r>
              <a:rPr lang="en-US" altLang="zh-CN" sz="1400" dirty="0">
                <a:solidFill>
                  <a:schemeClr val="tx1"/>
                </a:solidFill>
                <a:latin typeface="Source Sans Pro" panose="020B0503030403020204" pitchFamily="34" charset="0"/>
              </a:rPr>
              <a:t>Standard library </a:t>
            </a:r>
            <a:r>
              <a:rPr lang="en-US" altLang="zh-CN" sz="1400" dirty="0">
                <a:solidFill>
                  <a:schemeClr val="bg2"/>
                </a:solidFill>
                <a:latin typeface="Source Sans Pro" panose="020B0503030403020204" pitchFamily="34" charset="0"/>
              </a:rPr>
              <a:t>directories</a:t>
            </a:r>
            <a:endParaRPr lang="en-US" altLang="zh-CN" sz="1400" dirty="0">
              <a:solidFill>
                <a:schemeClr val="bg2"/>
              </a:solidFill>
              <a:latin typeface="Source Sans Pro" panose="020B0503030403020204" pitchFamily="34" charset="0"/>
            </a:endParaRPr>
          </a:p>
          <a:p>
            <a:pPr>
              <a:lnSpc>
                <a:spcPct val="100000"/>
              </a:lnSpc>
              <a:buFont typeface="+mj-lt"/>
              <a:buAutoNum type="arabicPeriod"/>
            </a:pPr>
            <a:r>
              <a:rPr lang="en-US" altLang="zh-CN" sz="1400" dirty="0">
                <a:solidFill>
                  <a:schemeClr val="bg2"/>
                </a:solidFill>
                <a:latin typeface="Source Sans Pro" panose="020B0503030403020204" pitchFamily="34" charset="0"/>
              </a:rPr>
              <a:t>The contents of </a:t>
            </a:r>
            <a:r>
              <a:rPr lang="en-US" altLang="zh-CN" sz="1400" dirty="0">
                <a:solidFill>
                  <a:schemeClr val="tx1"/>
                </a:solidFill>
                <a:latin typeface="Source Sans Pro" panose="020B0503030403020204" pitchFamily="34" charset="0"/>
              </a:rPr>
              <a:t>any .</a:t>
            </a:r>
            <a:r>
              <a:rPr lang="en-US" altLang="zh-CN" sz="1400" dirty="0" err="1">
                <a:solidFill>
                  <a:schemeClr val="tx1"/>
                </a:solidFill>
                <a:latin typeface="Source Sans Pro" panose="020B0503030403020204" pitchFamily="34" charset="0"/>
              </a:rPr>
              <a:t>pth</a:t>
            </a:r>
            <a:r>
              <a:rPr lang="en-US" altLang="zh-CN" sz="1400" dirty="0">
                <a:solidFill>
                  <a:schemeClr val="tx1"/>
                </a:solidFill>
                <a:latin typeface="Source Sans Pro" panose="020B0503030403020204" pitchFamily="34" charset="0"/>
              </a:rPr>
              <a:t> files </a:t>
            </a:r>
            <a:r>
              <a:rPr lang="en-US" altLang="zh-CN" sz="1400" dirty="0">
                <a:solidFill>
                  <a:schemeClr val="bg2"/>
                </a:solidFill>
                <a:latin typeface="Source Sans Pro" panose="020B0503030403020204" pitchFamily="34" charset="0"/>
              </a:rPr>
              <a:t>(if present)</a:t>
            </a:r>
            <a:endParaRPr lang="en-US" altLang="zh-CN" sz="1400" dirty="0">
              <a:solidFill>
                <a:schemeClr val="bg2"/>
              </a:solidFill>
              <a:latin typeface="Source Sans Pro" panose="020B0503030403020204" pitchFamily="34" charset="0"/>
            </a:endParaRPr>
          </a:p>
          <a:p>
            <a:pPr>
              <a:lnSpc>
                <a:spcPct val="100000"/>
              </a:lnSpc>
              <a:buFont typeface="+mj-lt"/>
              <a:buAutoNum type="arabicPeriod"/>
            </a:pPr>
            <a:r>
              <a:rPr lang="en-US" altLang="zh-CN" sz="1400" dirty="0">
                <a:solidFill>
                  <a:schemeClr val="bg2"/>
                </a:solidFill>
                <a:latin typeface="Source Sans Pro" panose="020B0503030403020204" pitchFamily="34" charset="0"/>
              </a:rPr>
              <a:t>The </a:t>
            </a:r>
            <a:r>
              <a:rPr lang="en-US" altLang="zh-CN" sz="1400" dirty="0">
                <a:solidFill>
                  <a:schemeClr val="tx1"/>
                </a:solidFill>
                <a:latin typeface="Source Sans Pro" panose="020B0503030403020204" pitchFamily="34" charset="0"/>
              </a:rPr>
              <a:t>site-packages home </a:t>
            </a:r>
            <a:r>
              <a:rPr lang="en-US" altLang="zh-CN" sz="1400" dirty="0">
                <a:solidFill>
                  <a:schemeClr val="bg2"/>
                </a:solidFill>
                <a:latin typeface="Source Sans Pro" panose="020B0503030403020204" pitchFamily="34" charset="0"/>
              </a:rPr>
              <a:t>of third-party extensions</a:t>
            </a:r>
            <a:endParaRPr lang="en-US" altLang="zh-CN" sz="1400" dirty="0">
              <a:solidFill>
                <a:schemeClr val="bg2"/>
              </a:solidFill>
              <a:latin typeface="Source Sans Pro" panose="020B0503030403020204" pitchFamily="34" charset="0"/>
            </a:endParaRPr>
          </a:p>
        </p:txBody>
      </p:sp>
      <p:sp>
        <p:nvSpPr>
          <p:cNvPr id="4" name="文本框 3"/>
          <p:cNvSpPr txBox="1"/>
          <p:nvPr/>
        </p:nvSpPr>
        <p:spPr>
          <a:xfrm>
            <a:off x="559932" y="1111066"/>
            <a:ext cx="8088747" cy="307777"/>
          </a:xfrm>
          <a:prstGeom prst="rect">
            <a:avLst/>
          </a:prstGeom>
          <a:solidFill>
            <a:srgbClr val="7030A0"/>
          </a:solidFill>
        </p:spPr>
        <p:txBody>
          <a:bodyPr wrap="square" rtlCol="0">
            <a:spAutoFit/>
          </a:bodyPr>
          <a:lstStyle/>
          <a:p>
            <a:r>
              <a:rPr lang="en-US" altLang="zh-CN" dirty="0">
                <a:solidFill>
                  <a:schemeClr val="bg1"/>
                </a:solidFill>
                <a:latin typeface="Source Sans Pro" panose="020B0503030403020204" pitchFamily="34" charset="0"/>
                <a:ea typeface="黑体" panose="02010609060101010101" pitchFamily="49" charset="-122"/>
              </a:rPr>
              <a:t>import</a:t>
            </a:r>
            <a:r>
              <a:rPr lang="zh-CN" altLang="en-US" dirty="0">
                <a:solidFill>
                  <a:schemeClr val="bg1"/>
                </a:solidFill>
                <a:latin typeface="Source Sans Pro" panose="020B0503030403020204" pitchFamily="34" charset="0"/>
                <a:ea typeface="黑体" panose="02010609060101010101" pitchFamily="49" charset="-122"/>
              </a:rPr>
              <a:t>时寻找模块的步骤</a:t>
            </a:r>
            <a:endParaRPr lang="zh-CN" altLang="en-US" dirty="0">
              <a:solidFill>
                <a:schemeClr val="bg1"/>
              </a:solidFill>
              <a:latin typeface="Source Sans Pro" panose="020B0503030403020204" pitchFamily="34" charset="0"/>
              <a:ea typeface="黑体" panose="02010609060101010101" pitchFamily="49"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import, from … import</a:t>
            </a:r>
            <a:endParaRPr lang="en-US" altLang="zh-CN" dirty="0">
              <a:solidFill>
                <a:srgbClr val="C00000"/>
              </a:solidFill>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1221781"/>
            <a:ext cx="8520600" cy="1564850"/>
          </a:xfrm>
        </p:spPr>
        <p:txBody>
          <a:bodyPr>
            <a:noAutofit/>
          </a:bodyPr>
          <a:lstStyle/>
          <a:p>
            <a:pPr>
              <a:lnSpc>
                <a:spcPct val="100000"/>
              </a:lnSpc>
            </a:pPr>
            <a:r>
              <a:rPr lang="en-US" altLang="zh-CN" sz="1500" dirty="0">
                <a:solidFill>
                  <a:schemeClr val="tx1"/>
                </a:solidFill>
                <a:latin typeface="Source Sans Pro" panose="020B0503030403020204" pitchFamily="34" charset="0"/>
              </a:rPr>
              <a:t>import</a:t>
            </a:r>
            <a:r>
              <a:rPr lang="en-US" altLang="zh-CN" sz="1500" dirty="0">
                <a:solidFill>
                  <a:schemeClr val="bg2"/>
                </a:solidFill>
                <a:latin typeface="Source Sans Pro" panose="020B0503030403020204" pitchFamily="34" charset="0"/>
              </a:rPr>
              <a:t> moduel1</a:t>
            </a:r>
            <a:endParaRPr lang="en-US" altLang="zh-CN" sz="1500" dirty="0">
              <a:solidFill>
                <a:schemeClr val="bg2"/>
              </a:solidFill>
              <a:latin typeface="Source Sans Pro" panose="020B0503030403020204" pitchFamily="34" charset="0"/>
            </a:endParaRPr>
          </a:p>
          <a:p>
            <a:pPr marL="114300" indent="0">
              <a:lnSpc>
                <a:spcPct val="100000"/>
              </a:lnSpc>
              <a:buNone/>
            </a:pPr>
            <a:r>
              <a:rPr lang="en-US" altLang="zh-CN" sz="1500" dirty="0">
                <a:solidFill>
                  <a:schemeClr val="bg2"/>
                </a:solidFill>
                <a:latin typeface="Source Sans Pro" panose="020B0503030403020204" pitchFamily="34" charset="0"/>
              </a:rPr>
              <a:t>         module1.printer(‘Hello world!’)</a:t>
            </a:r>
            <a:endParaRPr lang="en-US" altLang="zh-CN" sz="1500" dirty="0">
              <a:solidFill>
                <a:schemeClr val="bg2"/>
              </a:solidFill>
              <a:latin typeface="Source Sans Pro" panose="020B0503030403020204" pitchFamily="34" charset="0"/>
            </a:endParaRPr>
          </a:p>
          <a:p>
            <a:pPr>
              <a:lnSpc>
                <a:spcPct val="100000"/>
              </a:lnSpc>
            </a:pPr>
            <a:r>
              <a:rPr lang="en-US" altLang="zh-CN" sz="1500" dirty="0">
                <a:solidFill>
                  <a:schemeClr val="tx1"/>
                </a:solidFill>
                <a:latin typeface="Source Sans Pro" panose="020B0503030403020204" pitchFamily="34" charset="0"/>
              </a:rPr>
              <a:t>from</a:t>
            </a:r>
            <a:r>
              <a:rPr lang="en-US" altLang="zh-CN" sz="1500" dirty="0">
                <a:solidFill>
                  <a:schemeClr val="bg2"/>
                </a:solidFill>
                <a:latin typeface="Source Sans Pro" panose="020B0503030403020204" pitchFamily="34" charset="0"/>
              </a:rPr>
              <a:t> moduel1 import printer</a:t>
            </a:r>
            <a:endParaRPr lang="en-US" altLang="zh-CN" sz="1500" dirty="0">
              <a:solidFill>
                <a:schemeClr val="bg2"/>
              </a:solidFill>
              <a:latin typeface="Source Sans Pro" panose="020B0503030403020204" pitchFamily="34" charset="0"/>
            </a:endParaRPr>
          </a:p>
          <a:p>
            <a:pPr marL="114300" indent="0">
              <a:lnSpc>
                <a:spcPct val="100000"/>
              </a:lnSpc>
              <a:buNone/>
            </a:pPr>
            <a:r>
              <a:rPr lang="en-US" altLang="zh-CN" sz="1500" dirty="0">
                <a:solidFill>
                  <a:schemeClr val="bg2"/>
                </a:solidFill>
                <a:latin typeface="Source Sans Pro" panose="020B0503030403020204" pitchFamily="34" charset="0"/>
              </a:rPr>
              <a:t>         printer('Hello world!’) </a:t>
            </a:r>
            <a:endParaRPr lang="en-US" altLang="zh-CN" sz="1500" dirty="0">
              <a:solidFill>
                <a:schemeClr val="bg2"/>
              </a:solidFill>
              <a:latin typeface="Source Sans Pro" panose="020B0503030403020204" pitchFamily="34" charset="0"/>
            </a:endParaRPr>
          </a:p>
          <a:p>
            <a:pPr>
              <a:lnSpc>
                <a:spcPct val="100000"/>
              </a:lnSpc>
            </a:pPr>
            <a:r>
              <a:rPr lang="en-US" altLang="zh-CN" sz="1500" dirty="0">
                <a:solidFill>
                  <a:schemeClr val="tx1"/>
                </a:solidFill>
                <a:latin typeface="Source Sans Pro" panose="020B0503030403020204" pitchFamily="34" charset="0"/>
              </a:rPr>
              <a:t>from</a:t>
            </a:r>
            <a:r>
              <a:rPr lang="en-US" altLang="zh-CN" sz="1500" dirty="0">
                <a:solidFill>
                  <a:schemeClr val="bg2"/>
                </a:solidFill>
                <a:latin typeface="Source Sans Pro" panose="020B0503030403020204" pitchFamily="34" charset="0"/>
              </a:rPr>
              <a:t> module1 </a:t>
            </a:r>
            <a:r>
              <a:rPr lang="en-US" altLang="zh-CN" sz="1500" dirty="0">
                <a:solidFill>
                  <a:schemeClr val="tx1"/>
                </a:solidFill>
                <a:latin typeface="Source Sans Pro" panose="020B0503030403020204" pitchFamily="34" charset="0"/>
              </a:rPr>
              <a:t>import * </a:t>
            </a:r>
            <a:endParaRPr lang="en-US" altLang="zh-CN" sz="1500" dirty="0">
              <a:solidFill>
                <a:schemeClr val="tx1"/>
              </a:solidFill>
              <a:latin typeface="Source Sans Pro" panose="020B0503030403020204" pitchFamily="34" charset="0"/>
            </a:endParaRPr>
          </a:p>
          <a:p>
            <a:pPr marL="114300" indent="0">
              <a:lnSpc>
                <a:spcPct val="100000"/>
              </a:lnSpc>
              <a:buNone/>
            </a:pPr>
            <a:r>
              <a:rPr lang="en-US" altLang="zh-CN" sz="1500" dirty="0">
                <a:solidFill>
                  <a:schemeClr val="tx1"/>
                </a:solidFill>
                <a:latin typeface="Source Sans Pro" panose="020B0503030403020204" pitchFamily="34" charset="0"/>
              </a:rPr>
              <a:t>         </a:t>
            </a:r>
            <a:r>
              <a:rPr lang="en-US" altLang="zh-CN" sz="1500" dirty="0">
                <a:solidFill>
                  <a:schemeClr val="bg2"/>
                </a:solidFill>
                <a:latin typeface="Source Sans Pro" panose="020B0503030403020204" pitchFamily="34" charset="0"/>
              </a:rPr>
              <a:t>printer('Hello world!’)</a:t>
            </a:r>
            <a:endParaRPr lang="en-US" altLang="zh-CN" sz="1500" dirty="0">
              <a:solidFill>
                <a:schemeClr val="bg2"/>
              </a:solidFill>
              <a:latin typeface="Source Sans Pro" panose="020B0503030403020204" pitchFamily="34" charset="0"/>
            </a:endParaRPr>
          </a:p>
        </p:txBody>
      </p:sp>
      <p:pic>
        <p:nvPicPr>
          <p:cNvPr id="6" name="Picture 6" descr="A picture containing logo&#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865237" y="3088930"/>
            <a:ext cx="2642496" cy="661868"/>
          </a:xfrm>
          <a:prstGeom prst="rect">
            <a:avLst/>
          </a:prstGeom>
        </p:spPr>
      </p:pic>
      <p:pic>
        <p:nvPicPr>
          <p:cNvPr id="7" name="Picture 8" descr="A picture containing text&#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6661" y="3111623"/>
            <a:ext cx="1476064" cy="810096"/>
          </a:xfrm>
          <a:prstGeom prst="rect">
            <a:avLst/>
          </a:prstGeom>
        </p:spPr>
      </p:pic>
      <p:sp>
        <p:nvSpPr>
          <p:cNvPr id="10" name="文本框 9"/>
          <p:cNvSpPr txBox="1"/>
          <p:nvPr/>
        </p:nvSpPr>
        <p:spPr>
          <a:xfrm>
            <a:off x="465974" y="2731422"/>
            <a:ext cx="3354404" cy="307777"/>
          </a:xfrm>
          <a:prstGeom prst="rect">
            <a:avLst/>
          </a:prstGeom>
          <a:noFill/>
        </p:spPr>
        <p:txBody>
          <a:bodyPr wrap="square">
            <a:spAutoFit/>
          </a:bodyPr>
          <a:lstStyle/>
          <a:p>
            <a:r>
              <a:rPr lang="en-US" altLang="zh-CN" dirty="0">
                <a:solidFill>
                  <a:schemeClr val="tx1"/>
                </a:solidFill>
                <a:latin typeface="黑体" panose="02010609060101010101" pitchFamily="49" charset="-122"/>
                <a:ea typeface="黑体" panose="02010609060101010101" pitchFamily="49" charset="-122"/>
              </a:rPr>
              <a:t>*</a:t>
            </a:r>
            <a:r>
              <a:rPr lang="zh-CN" altLang="en-US" dirty="0">
                <a:solidFill>
                  <a:schemeClr val="tx1"/>
                </a:solidFill>
                <a:latin typeface="黑体" panose="02010609060101010101" pitchFamily="49" charset="-122"/>
                <a:ea typeface="黑体" panose="02010609060101010101" pitchFamily="49" charset="-122"/>
              </a:rPr>
              <a:t>：通配符</a:t>
            </a:r>
            <a:r>
              <a:rPr lang="zh-CN" altLang="en-US" dirty="0">
                <a:solidFill>
                  <a:schemeClr val="bg2"/>
                </a:solidFill>
                <a:latin typeface="黑体" panose="02010609060101010101" pitchFamily="49" charset="-122"/>
                <a:ea typeface="黑体" panose="02010609060101010101" pitchFamily="49" charset="-122"/>
              </a:rPr>
              <a:t>，代表“所有，全部，任意”</a:t>
            </a:r>
            <a:endParaRPr lang="zh-CN" altLang="en-US" dirty="0">
              <a:solidFill>
                <a:schemeClr val="bg2"/>
              </a:solidFill>
              <a:latin typeface="黑体" panose="02010609060101010101" pitchFamily="49" charset="-122"/>
              <a:ea typeface="黑体" panose="02010609060101010101" pitchFamily="49" charset="-122"/>
            </a:endParaRPr>
          </a:p>
        </p:txBody>
      </p:sp>
      <p:sp>
        <p:nvSpPr>
          <p:cNvPr id="11" name="Rectangle 4"/>
          <p:cNvSpPr/>
          <p:nvPr/>
        </p:nvSpPr>
        <p:spPr>
          <a:xfrm>
            <a:off x="4865237" y="4628336"/>
            <a:ext cx="4078738" cy="276999"/>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dirty="0">
                <a:solidFill>
                  <a:schemeClr val="bg2"/>
                </a:solidFill>
                <a:latin typeface="Source Sans Pro" panose="020B0503030403020204" pitchFamily="34" charset="0"/>
                <a:ea typeface="Source Sans Pro" panose="020B0503030403020204" pitchFamily="34" charset="0"/>
              </a:rPr>
              <a:t>from xxx import xxx</a:t>
            </a:r>
            <a:r>
              <a:rPr lang="zh-CN" altLang="en-US" sz="1200" dirty="0">
                <a:solidFill>
                  <a:schemeClr val="bg2"/>
                </a:solidFill>
                <a:latin typeface="Source Sans Pro" panose="020B0503030403020204" pitchFamily="34" charset="0"/>
                <a:ea typeface="黑体" panose="02010609060101010101" pitchFamily="49" charset="-122"/>
              </a:rPr>
              <a:t>的文件的</a:t>
            </a:r>
            <a:r>
              <a:rPr lang="zh-CN" altLang="en-US" sz="1200" dirty="0">
                <a:solidFill>
                  <a:schemeClr val="bg2"/>
                </a:solidFill>
                <a:highlight>
                  <a:srgbClr val="00FF00"/>
                </a:highlight>
                <a:latin typeface="Source Sans Pro" panose="020B0503030403020204" pitchFamily="34" charset="0"/>
                <a:ea typeface="黑体" panose="02010609060101010101" pitchFamily="49" charset="-122"/>
              </a:rPr>
              <a:t>每一条语句也都会被执行一遍</a:t>
            </a:r>
            <a:endParaRPr lang="zh-CN" altLang="en-US" sz="1200" dirty="0">
              <a:solidFill>
                <a:schemeClr val="bg2"/>
              </a:solidFill>
              <a:highlight>
                <a:srgbClr val="00FF00"/>
              </a:highlight>
              <a:latin typeface="Source Sans Pro" panose="020B0503030403020204" pitchFamily="34" charset="0"/>
              <a:ea typeface="黑体" panose="02010609060101010101" pitchFamily="49" charset="-122"/>
            </a:endParaRPr>
          </a:p>
        </p:txBody>
      </p:sp>
      <p:pic>
        <p:nvPicPr>
          <p:cNvPr id="8" name="Picture 8" descr="Graphical user interface, text, application&#10;&#10;Description automatically generate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5237" y="1013356"/>
            <a:ext cx="3967063" cy="1973973"/>
          </a:xfrm>
          <a:prstGeom prst="rect">
            <a:avLst/>
          </a:prstGeom>
        </p:spPr>
      </p:pic>
      <p:sp>
        <p:nvSpPr>
          <p:cNvPr id="9" name="TextBox 8"/>
          <p:cNvSpPr txBox="1"/>
          <p:nvPr/>
        </p:nvSpPr>
        <p:spPr>
          <a:xfrm>
            <a:off x="4813688" y="4313569"/>
            <a:ext cx="2977097" cy="276999"/>
          </a:xfrm>
          <a:prstGeom prst="rect">
            <a:avLst/>
          </a:prstGeom>
          <a:noFill/>
        </p:spPr>
        <p:txBody>
          <a:bodyPr wrap="none" rtlCol="0">
            <a:spAutoFit/>
          </a:bodyPr>
          <a:lstStyle/>
          <a:p>
            <a:r>
              <a:rPr lang="en-US" altLang="zh-CN" sz="1200" dirty="0"/>
              <a:t>vs</a:t>
            </a:r>
            <a:r>
              <a:rPr lang="zh-CN" altLang="en-US" sz="1200" dirty="0"/>
              <a:t> </a:t>
            </a:r>
            <a:r>
              <a:rPr lang="en-US" altLang="zh-CN" sz="1200" dirty="0"/>
              <a:t>code</a:t>
            </a:r>
            <a:r>
              <a:rPr lang="zh-CN" altLang="en-US" sz="1200" dirty="0"/>
              <a:t>和</a:t>
            </a:r>
            <a:r>
              <a:rPr lang="en-US" altLang="zh-CN" sz="1200" dirty="0" err="1"/>
              <a:t>Jupyter</a:t>
            </a:r>
            <a:r>
              <a:rPr lang="zh-CN" altLang="en-US" sz="1200" dirty="0"/>
              <a:t>有差异，以</a:t>
            </a:r>
            <a:r>
              <a:rPr lang="en-US" altLang="zh-CN" sz="1200" dirty="0"/>
              <a:t>vs</a:t>
            </a:r>
            <a:r>
              <a:rPr lang="zh-CN" altLang="en-US" sz="1200" dirty="0"/>
              <a:t> </a:t>
            </a:r>
            <a:r>
              <a:rPr lang="en-US" altLang="zh-CN" sz="1200" dirty="0"/>
              <a:t>code</a:t>
            </a:r>
            <a:r>
              <a:rPr lang="zh-CN" altLang="en-US" sz="1200" dirty="0"/>
              <a:t>为准</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1700" y="101490"/>
            <a:ext cx="8520600" cy="623400"/>
          </a:xfrm>
        </p:spPr>
        <p:txBody>
          <a:bodyPr>
            <a:normAutofit fontScale="90000"/>
          </a:bodyPr>
          <a:lstStyle/>
          <a:p>
            <a:r>
              <a:rPr lang="en-US" altLang="zh-CN" dirty="0">
                <a:latin typeface="Raleway" pitchFamily="34" charset="0"/>
                <a:ea typeface="Source Sans Pro" panose="020B0503030403020204" pitchFamily="34" charset="0"/>
              </a:rPr>
              <a:t>Import Happen </a:t>
            </a:r>
            <a:r>
              <a:rPr lang="en-US" altLang="zh-CN" dirty="0">
                <a:solidFill>
                  <a:schemeClr val="tx1"/>
                </a:solidFill>
                <a:latin typeface="Raleway" pitchFamily="34" charset="0"/>
                <a:ea typeface="Source Sans Pro" panose="020B0503030403020204" pitchFamily="34" charset="0"/>
              </a:rPr>
              <a:t>Only Once</a:t>
            </a:r>
            <a:endParaRPr lang="en-US" altLang="zh-CN" dirty="0">
              <a:solidFill>
                <a:schemeClr val="tx1"/>
              </a:solidFill>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85" y="679450"/>
            <a:ext cx="8520430" cy="1419860"/>
          </a:xfrm>
        </p:spPr>
        <p:txBody>
          <a:bodyPr>
            <a:noAutofit/>
          </a:bodyPr>
          <a:lstStyle/>
          <a:p>
            <a:pPr>
              <a:lnSpc>
                <a:spcPct val="100000"/>
              </a:lnSpc>
            </a:pPr>
            <a:r>
              <a:rPr lang="en-US" altLang="zh-CN" sz="1400" dirty="0">
                <a:solidFill>
                  <a:schemeClr val="bg2"/>
                </a:solidFill>
                <a:latin typeface="Source Sans Pro" panose="020B0503030403020204" pitchFamily="34" charset="0"/>
              </a:rPr>
              <a:t>Modules are loaded and run on the first import or from, and only the first. </a:t>
            </a:r>
            <a:endParaRPr lang="en-US" altLang="zh-CN" sz="1400" dirty="0">
              <a:solidFill>
                <a:schemeClr val="bg2"/>
              </a:solidFill>
              <a:latin typeface="Source Sans Pro" panose="020B0503030403020204" pitchFamily="34" charset="0"/>
            </a:endParaRPr>
          </a:p>
          <a:p>
            <a:pPr lvl="1">
              <a:lnSpc>
                <a:spcPct val="100000"/>
              </a:lnSpc>
            </a:pPr>
            <a:r>
              <a:rPr lang="en-US" altLang="zh-CN" sz="1200" dirty="0">
                <a:solidFill>
                  <a:schemeClr val="bg2"/>
                </a:solidFill>
                <a:latin typeface="Source Sans Pro" panose="020B0503030403020204" pitchFamily="34" charset="0"/>
              </a:rPr>
              <a:t>This is on purpose—because importing is an expensive operation, by default Python does it just once per file, per process. Later import operations simply fetch the already loaded module object.</a:t>
            </a:r>
            <a:endParaRPr lang="en-US" altLang="zh-CN" sz="1200" dirty="0">
              <a:solidFill>
                <a:schemeClr val="bg2"/>
              </a:solidFill>
              <a:latin typeface="Source Sans Pro" panose="020B0503030403020204" pitchFamily="34" charset="0"/>
            </a:endParaRPr>
          </a:p>
          <a:p>
            <a:pPr lvl="1">
              <a:lnSpc>
                <a:spcPct val="100000"/>
              </a:lnSpc>
            </a:pPr>
            <a:endParaRPr lang="en-US" altLang="zh-CN" sz="1200" dirty="0">
              <a:solidFill>
                <a:schemeClr val="bg2"/>
              </a:solidFill>
              <a:latin typeface="Source Sans Pro" panose="020B0503030403020204" pitchFamily="34" charset="0"/>
            </a:endParaRPr>
          </a:p>
          <a:p>
            <a:pPr marL="596900" lvl="1" indent="0">
              <a:lnSpc>
                <a:spcPct val="100000"/>
              </a:lnSpc>
              <a:buNone/>
            </a:pPr>
            <a:r>
              <a:rPr lang="en-US" altLang="zh-CN" sz="1200" dirty="0">
                <a:solidFill>
                  <a:schemeClr val="bg2"/>
                </a:solidFill>
                <a:latin typeface="Source Sans Pro" panose="020B0503030403020204" pitchFamily="34" charset="0"/>
              </a:rPr>
              <a:t>模块在第一次导入或从时加载并运行，并且仅在第一次导入时加载和运行。</a:t>
            </a:r>
            <a:endParaRPr lang="en-US" altLang="zh-CN" sz="1200" dirty="0">
              <a:solidFill>
                <a:schemeClr val="bg2"/>
              </a:solidFill>
              <a:latin typeface="Source Sans Pro" panose="020B0503030403020204" pitchFamily="34" charset="0"/>
            </a:endParaRPr>
          </a:p>
          <a:p>
            <a:pPr lvl="1">
              <a:lnSpc>
                <a:spcPct val="100000"/>
              </a:lnSpc>
            </a:pPr>
            <a:r>
              <a:rPr lang="en-US" altLang="zh-CN" sz="1200" dirty="0">
                <a:solidFill>
                  <a:schemeClr val="bg2"/>
                </a:solidFill>
                <a:latin typeface="Source Sans Pro" panose="020B0503030403020204" pitchFamily="34" charset="0"/>
              </a:rPr>
              <a:t>这是故意的，因为导入是一项成本高昂的操作，因此默认情况下，Python 对每个文件、每个进程只执行一次。稍后的导入操作只是获取已加载的模块对象。</a:t>
            </a:r>
            <a:endParaRPr lang="en-US" altLang="zh-CN" sz="1200" dirty="0">
              <a:solidFill>
                <a:schemeClr val="bg2"/>
              </a:solidFill>
              <a:latin typeface="Source Sans Pro" panose="020B0503030403020204" pitchFamily="34" charset="0"/>
            </a:endParaRPr>
          </a:p>
        </p:txBody>
      </p:sp>
      <p:pic>
        <p:nvPicPr>
          <p:cNvPr id="8" name="Picture 4" descr="A picture containing clock, meter&#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252305" y="2138593"/>
            <a:ext cx="3319695" cy="518358"/>
          </a:xfrm>
          <a:prstGeom prst="rect">
            <a:avLst/>
          </a:prstGeom>
        </p:spPr>
      </p:pic>
      <p:pic>
        <p:nvPicPr>
          <p:cNvPr id="10"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2305" y="2946803"/>
            <a:ext cx="1718911" cy="1575668"/>
          </a:xfrm>
          <a:prstGeom prst="rect">
            <a:avLst/>
          </a:prstGeom>
        </p:spPr>
      </p:pic>
      <p:pic>
        <p:nvPicPr>
          <p:cNvPr id="11" name="Picture 9" descr="A picture containing chart&#10;&#10;Description automatically generate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2946803"/>
            <a:ext cx="643617" cy="566018"/>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Import and from</a:t>
            </a:r>
            <a:endParaRPr lang="en-US" altLang="zh-CN" dirty="0">
              <a:solidFill>
                <a:srgbClr val="C00000"/>
              </a:solidFill>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1282075"/>
            <a:ext cx="8520600" cy="3416400"/>
          </a:xfrm>
        </p:spPr>
        <p:txBody>
          <a:bodyPr>
            <a:noAutofit/>
          </a:bodyPr>
          <a:lstStyle/>
          <a:p>
            <a:r>
              <a:rPr kumimoji="1" lang="en-US" altLang="zh-CN" sz="1400" dirty="0">
                <a:solidFill>
                  <a:schemeClr val="bg2"/>
                </a:solidFill>
              </a:rPr>
              <a:t>At least conceptually, a from statement like this one:</a:t>
            </a:r>
            <a:endParaRPr kumimoji="1" lang="en-US" altLang="zh-CN" sz="1400" dirty="0">
              <a:solidFill>
                <a:schemeClr val="bg2"/>
              </a:solidFill>
            </a:endParaRPr>
          </a:p>
          <a:p>
            <a:pPr marL="596900" lvl="1" indent="0">
              <a:buFont typeface="Source Sans Pro" panose="020B0503030403020204"/>
              <a:buNone/>
            </a:pPr>
            <a:r>
              <a:rPr kumimoji="1" lang="en-US" altLang="zh-CN" dirty="0">
                <a:solidFill>
                  <a:srgbClr val="7030A0"/>
                </a:solidFill>
              </a:rPr>
              <a:t>from module import name1, name2 # Copy these two names out (only)</a:t>
            </a:r>
            <a:endParaRPr kumimoji="1" lang="en-US" altLang="zh-CN" dirty="0">
              <a:solidFill>
                <a:srgbClr val="7030A0"/>
              </a:solidFill>
            </a:endParaRPr>
          </a:p>
          <a:p>
            <a:pPr marL="114300" indent="0">
              <a:buFont typeface="Source Sans Pro" panose="020B0503030403020204"/>
              <a:buNone/>
            </a:pPr>
            <a:r>
              <a:rPr kumimoji="1" lang="en-US" altLang="zh-CN" sz="1400" dirty="0">
                <a:solidFill>
                  <a:schemeClr val="bg2"/>
                </a:solidFill>
              </a:rPr>
              <a:t>       is similar to this statement sequence:</a:t>
            </a:r>
            <a:endParaRPr kumimoji="1" lang="en-US" altLang="zh-CN" sz="1400" dirty="0">
              <a:solidFill>
                <a:schemeClr val="bg2"/>
              </a:solidFill>
            </a:endParaRPr>
          </a:p>
          <a:p>
            <a:pPr marL="596900" lvl="1" indent="0">
              <a:buFont typeface="Source Sans Pro" panose="020B0503030403020204"/>
              <a:buNone/>
            </a:pPr>
            <a:r>
              <a:rPr kumimoji="1" lang="en-US" altLang="zh-CN" dirty="0">
                <a:solidFill>
                  <a:srgbClr val="7030A0"/>
                </a:solidFill>
              </a:rPr>
              <a:t>import module # Fetch the module object</a:t>
            </a:r>
            <a:endParaRPr kumimoji="1" lang="en-US" altLang="zh-CN" dirty="0">
              <a:solidFill>
                <a:srgbClr val="7030A0"/>
              </a:solidFill>
            </a:endParaRPr>
          </a:p>
          <a:p>
            <a:pPr marL="596900" lvl="1" indent="0">
              <a:buFont typeface="Source Sans Pro" panose="020B0503030403020204"/>
              <a:buNone/>
            </a:pPr>
            <a:r>
              <a:rPr kumimoji="1" lang="en-US" altLang="zh-CN" dirty="0">
                <a:solidFill>
                  <a:srgbClr val="7030A0"/>
                </a:solidFill>
              </a:rPr>
              <a:t>name1 = module.name1 # Copy names out by assignment</a:t>
            </a:r>
            <a:endParaRPr kumimoji="1" lang="en-US" altLang="zh-CN" dirty="0">
              <a:solidFill>
                <a:srgbClr val="7030A0"/>
              </a:solidFill>
            </a:endParaRPr>
          </a:p>
          <a:p>
            <a:pPr marL="596900" lvl="1" indent="0">
              <a:buFont typeface="Source Sans Pro" panose="020B0503030403020204"/>
              <a:buNone/>
            </a:pPr>
            <a:r>
              <a:rPr kumimoji="1" lang="en-US" altLang="zh-CN" dirty="0">
                <a:solidFill>
                  <a:srgbClr val="7030A0"/>
                </a:solidFill>
              </a:rPr>
              <a:t>name2 = module.name2</a:t>
            </a:r>
            <a:endParaRPr kumimoji="1" lang="en-US" altLang="zh-CN" dirty="0">
              <a:solidFill>
                <a:srgbClr val="7030A0"/>
              </a:solidFill>
            </a:endParaRPr>
          </a:p>
          <a:p>
            <a:pPr marL="596900" lvl="1" indent="0">
              <a:buFont typeface="Source Sans Pro" panose="020B0503030403020204"/>
              <a:buNone/>
            </a:pPr>
            <a:r>
              <a:rPr kumimoji="1" lang="en-US" altLang="zh-CN" dirty="0">
                <a:solidFill>
                  <a:srgbClr val="7030A0"/>
                </a:solidFill>
              </a:rPr>
              <a:t>del module # Get rid of the module name</a:t>
            </a:r>
            <a:endParaRPr kumimoji="1" lang="en-US" altLang="zh-CN" dirty="0">
              <a:solidFill>
                <a:srgbClr val="7030A0"/>
              </a:solidFill>
            </a:endParaRPr>
          </a:p>
          <a:p>
            <a:r>
              <a:rPr kumimoji="1" lang="en-US" altLang="zh-CN" sz="1400" dirty="0">
                <a:solidFill>
                  <a:schemeClr val="bg2"/>
                </a:solidFill>
              </a:rPr>
              <a:t>Like all assignments, the from statement creates new variables in the importer, which initially refer to objects of the same names in the imported file. Only the names are copied out, though, not the objects they reference, and not the name of the module itself. When we use the from * form of this statement (from module import *), the equivalence is the same, but all the top-level names in the module are copied over to the importing scope this way.</a:t>
            </a:r>
            <a:endParaRPr kumimoji="1" lang="en-US" altLang="zh-CN" sz="1400" dirty="0">
              <a:solidFill>
                <a:schemeClr val="bg2"/>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Reload modules</a:t>
            </a:r>
            <a:endParaRPr lang="en-US" altLang="zh-CN" dirty="0">
              <a:solidFill>
                <a:srgbClr val="C00000"/>
              </a:solidFill>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1282075"/>
            <a:ext cx="8520600" cy="3416400"/>
          </a:xfrm>
        </p:spPr>
        <p:txBody>
          <a:bodyPr>
            <a:noAutofit/>
          </a:bodyPr>
          <a:lstStyle/>
          <a:p>
            <a:pPr marL="114300" indent="0">
              <a:buFont typeface="Source Sans Pro" panose="020B0503030403020204"/>
              <a:buNone/>
            </a:pPr>
            <a:r>
              <a:rPr kumimoji="1" lang="en-US" altLang="zh-CN" sz="1400" dirty="0">
                <a:solidFill>
                  <a:schemeClr val="bg2"/>
                </a:solidFill>
              </a:rPr>
              <a:t>In a nutshell:</a:t>
            </a:r>
            <a:endParaRPr kumimoji="1" lang="en-US" altLang="zh-CN" sz="1400" dirty="0">
              <a:solidFill>
                <a:schemeClr val="bg2"/>
              </a:solidFill>
            </a:endParaRPr>
          </a:p>
          <a:p>
            <a:r>
              <a:rPr kumimoji="1" lang="en-US" altLang="zh-CN" sz="1400" dirty="0">
                <a:solidFill>
                  <a:schemeClr val="bg2"/>
                </a:solidFill>
              </a:rPr>
              <a:t>Imports (via both import and from statements) load and run a module’s code only the first time the module is imported in a process</a:t>
            </a:r>
            <a:endParaRPr kumimoji="1" lang="en-US" altLang="zh-CN" sz="1400" dirty="0">
              <a:solidFill>
                <a:schemeClr val="bg2"/>
              </a:solidFill>
            </a:endParaRPr>
          </a:p>
          <a:p>
            <a:r>
              <a:rPr kumimoji="1" lang="en-US" altLang="zh-CN" sz="1400" dirty="0">
                <a:solidFill>
                  <a:schemeClr val="bg2"/>
                </a:solidFill>
              </a:rPr>
              <a:t>Later imports use the already loaded module object without reloading or rerunning the file’s code</a:t>
            </a:r>
            <a:endParaRPr kumimoji="1" lang="en-US" altLang="zh-CN" sz="1400" dirty="0">
              <a:solidFill>
                <a:schemeClr val="bg2"/>
              </a:solidFill>
            </a:endParaRPr>
          </a:p>
          <a:p>
            <a:r>
              <a:rPr kumimoji="1" lang="en-US" altLang="zh-CN" sz="1400" dirty="0">
                <a:solidFill>
                  <a:schemeClr val="bg2"/>
                </a:solidFill>
              </a:rPr>
              <a:t>The reload function forces an already loaded module’s code to be reloaded and rerun</a:t>
            </a:r>
            <a:r>
              <a:rPr kumimoji="1" lang="zh-CN" altLang="en-US" sz="1400" dirty="0">
                <a:solidFill>
                  <a:schemeClr val="bg2"/>
                </a:solidFill>
                <a:ea typeface="宋体" panose="02010600030101010101" pitchFamily="2" charset="-122"/>
              </a:rPr>
              <a:t>（</a:t>
            </a:r>
            <a:r>
              <a:rPr kumimoji="1" lang="en-US" altLang="zh-CN" sz="1400" dirty="0">
                <a:solidFill>
                  <a:schemeClr val="bg2"/>
                </a:solidFill>
              </a:rPr>
              <a:t>reload 函数强制重新加载并重新运行已加载模块的代码</a:t>
            </a:r>
            <a:r>
              <a:rPr kumimoji="1" lang="zh-CN" altLang="en-US" sz="1400" dirty="0">
                <a:solidFill>
                  <a:schemeClr val="bg2"/>
                </a:solidFill>
                <a:ea typeface="宋体" panose="02010600030101010101" pitchFamily="2" charset="-122"/>
              </a:rPr>
              <a:t>）</a:t>
            </a:r>
            <a:endParaRPr kumimoji="1" lang="en-US" altLang="zh-CN" sz="1400" dirty="0">
              <a:solidFill>
                <a:schemeClr val="bg2"/>
              </a:solidFill>
            </a:endParaRPr>
          </a:p>
          <a:p>
            <a:r>
              <a:rPr kumimoji="1" lang="en-US" altLang="zh-CN" sz="1400" dirty="0">
                <a:solidFill>
                  <a:schemeClr val="bg2"/>
                </a:solidFill>
              </a:rPr>
              <a:t>Unlike import and from:</a:t>
            </a:r>
            <a:endParaRPr kumimoji="1" lang="en-US" altLang="zh-CN" sz="1400" dirty="0">
              <a:solidFill>
                <a:schemeClr val="bg2"/>
              </a:solidFill>
            </a:endParaRPr>
          </a:p>
          <a:p>
            <a:pPr lvl="1"/>
            <a:r>
              <a:rPr kumimoji="1" lang="en-US" altLang="zh-CN" sz="1200" dirty="0">
                <a:solidFill>
                  <a:schemeClr val="bg2"/>
                </a:solidFill>
              </a:rPr>
              <a:t>reload is a function in Python, not a statement.</a:t>
            </a:r>
            <a:endParaRPr kumimoji="1" lang="en-US" altLang="zh-CN" sz="1200" dirty="0">
              <a:solidFill>
                <a:schemeClr val="bg2"/>
              </a:solidFill>
            </a:endParaRPr>
          </a:p>
          <a:p>
            <a:pPr lvl="1"/>
            <a:r>
              <a:rPr kumimoji="1" lang="en-US" altLang="zh-CN" sz="1200" dirty="0">
                <a:solidFill>
                  <a:schemeClr val="bg2"/>
                </a:solidFill>
              </a:rPr>
              <a:t>reload is passed an existing module object, not a new name.</a:t>
            </a:r>
            <a:endParaRPr kumimoji="1" lang="en-US" altLang="zh-CN" sz="1200" dirty="0">
              <a:solidFill>
                <a:schemeClr val="bg2"/>
              </a:solidFill>
            </a:endParaRPr>
          </a:p>
          <a:p>
            <a:pPr lvl="1"/>
            <a:r>
              <a:rPr kumimoji="1" lang="en-US" altLang="zh-CN" sz="1200" dirty="0">
                <a:solidFill>
                  <a:schemeClr val="bg2"/>
                </a:solidFill>
              </a:rPr>
              <a:t>reload lives in a module in Python 3.X and must be imported itself.(reload 位于 Python 3.X 的模块中，必须自行导入。)</a:t>
            </a:r>
            <a:endParaRPr kumimoji="1" lang="en-US" altLang="zh-CN" sz="1200" dirty="0">
              <a:solidFill>
                <a:schemeClr val="bg2"/>
              </a:solidFill>
            </a:endParaRPr>
          </a:p>
          <a:p>
            <a:r>
              <a:rPr kumimoji="1" lang="en-US" altLang="zh-CN" sz="1400" dirty="0">
                <a:solidFill>
                  <a:schemeClr val="bg2"/>
                </a:solidFill>
              </a:rPr>
              <a:t>from imp import reload</a:t>
            </a:r>
            <a:endParaRPr kumimoji="1" lang="en-US" altLang="zh-CN" sz="1400" dirty="0">
              <a:solidFill>
                <a:schemeClr val="bg2"/>
              </a:solidFill>
            </a:endParaRPr>
          </a:p>
          <a:p>
            <a:pPr marL="596900" lvl="1" indent="0">
              <a:buFont typeface="Source Sans Pro" panose="020B0503030403020204"/>
              <a:buNone/>
            </a:pPr>
            <a:r>
              <a:rPr kumimoji="1" lang="en-US" altLang="zh-CN" dirty="0">
                <a:solidFill>
                  <a:schemeClr val="bg2"/>
                </a:solidFill>
              </a:rPr>
              <a:t>reload(</a:t>
            </a:r>
            <a:r>
              <a:rPr kumimoji="1" lang="en-US" altLang="zh-CN" dirty="0" err="1">
                <a:solidFill>
                  <a:schemeClr val="bg2"/>
                </a:solidFill>
              </a:rPr>
              <a:t>moduleName</a:t>
            </a:r>
            <a:r>
              <a:rPr kumimoji="1" lang="en-US" altLang="zh-CN" dirty="0">
                <a:solidFill>
                  <a:schemeClr val="bg2"/>
                </a:solidFill>
              </a:rPr>
              <a:t>)</a:t>
            </a:r>
            <a:endParaRPr kumimoji="1" lang="en-US" altLang="zh-CN" dirty="0">
              <a:solidFill>
                <a:schemeClr val="bg2"/>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1700" y="34180"/>
            <a:ext cx="8520600" cy="623400"/>
          </a:xfrm>
        </p:spPr>
        <p:txBody>
          <a:bodyPr>
            <a:normAutofit fontScale="90000"/>
          </a:bodyPr>
          <a:lstStyle/>
          <a:p>
            <a:r>
              <a:rPr lang="en-US" altLang="zh-CN" dirty="0">
                <a:latin typeface="Raleway" pitchFamily="34" charset="0"/>
                <a:ea typeface="Source Sans Pro" panose="020B0503030403020204" pitchFamily="34" charset="0"/>
              </a:rPr>
              <a:t>as (</a:t>
            </a:r>
            <a:r>
              <a:rPr lang="zh-CN" altLang="en-US" dirty="0">
                <a:latin typeface="Raleway" pitchFamily="34" charset="0"/>
                <a:ea typeface="黑体" panose="02010609060101010101" pitchFamily="49" charset="-122"/>
              </a:rPr>
              <a:t>别名</a:t>
            </a:r>
            <a:r>
              <a:rPr lang="en-US" altLang="zh-CN" dirty="0">
                <a:latin typeface="Raleway" pitchFamily="34" charset="0"/>
                <a:ea typeface="Source Sans Pro" panose="020B0503030403020204" pitchFamily="34" charset="0"/>
              </a:rPr>
              <a:t>)</a:t>
            </a:r>
            <a:endParaRPr lang="en-US" altLang="zh-CN" dirty="0">
              <a:solidFill>
                <a:srgbClr val="C00000"/>
              </a:solidFill>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85" y="565150"/>
            <a:ext cx="8520430" cy="4546600"/>
          </a:xfrm>
        </p:spPr>
        <p:txBody>
          <a:bodyPr>
            <a:noAutofit/>
          </a:bodyPr>
          <a:lstStyle/>
          <a:p>
            <a:r>
              <a:rPr kumimoji="1" lang="en-US" altLang="zh-CN" sz="1400" dirty="0">
                <a:solidFill>
                  <a:srgbClr val="7030A0"/>
                </a:solidFill>
              </a:rPr>
              <a:t>import </a:t>
            </a:r>
            <a:r>
              <a:rPr kumimoji="1" lang="en-US" altLang="zh-CN" sz="1400" dirty="0" err="1">
                <a:solidFill>
                  <a:srgbClr val="7030A0"/>
                </a:solidFill>
              </a:rPr>
              <a:t>modulename</a:t>
            </a:r>
            <a:r>
              <a:rPr kumimoji="1" lang="en-US" altLang="zh-CN" sz="1400" dirty="0">
                <a:solidFill>
                  <a:srgbClr val="7030A0"/>
                </a:solidFill>
              </a:rPr>
              <a:t> as name </a:t>
            </a:r>
            <a:r>
              <a:rPr kumimoji="1" lang="en-US" altLang="zh-CN" sz="1400" dirty="0">
                <a:solidFill>
                  <a:schemeClr val="bg2"/>
                </a:solidFill>
              </a:rPr>
              <a:t># And use name, not </a:t>
            </a:r>
            <a:r>
              <a:rPr kumimoji="1" lang="en-US" altLang="zh-CN" sz="1400" dirty="0" err="1">
                <a:solidFill>
                  <a:schemeClr val="bg2"/>
                </a:solidFill>
              </a:rPr>
              <a:t>modulename</a:t>
            </a:r>
            <a:endParaRPr kumimoji="1" lang="en-US" altLang="zh-CN" sz="1400" dirty="0">
              <a:solidFill>
                <a:schemeClr val="bg2"/>
              </a:solidFill>
            </a:endParaRPr>
          </a:p>
          <a:p>
            <a:pPr marL="114300" indent="0">
              <a:buNone/>
            </a:pPr>
            <a:r>
              <a:rPr kumimoji="1" lang="en-US" altLang="zh-CN" sz="1400" dirty="0">
                <a:solidFill>
                  <a:schemeClr val="bg2"/>
                </a:solidFill>
              </a:rPr>
              <a:t>is equivalent to the following, which renames the module in the importer’s scope only (it’s still known by its original name to other files):(</a:t>
            </a:r>
            <a:r>
              <a:rPr kumimoji="1" lang="zh-CN" altLang="en-US" sz="1400" dirty="0">
                <a:solidFill>
                  <a:schemeClr val="bg2"/>
                </a:solidFill>
              </a:rPr>
              <a:t>重命名模块</a:t>
            </a:r>
            <a:r>
              <a:rPr kumimoji="1" lang="en-US" altLang="zh-CN" sz="1400" dirty="0">
                <a:solidFill>
                  <a:schemeClr val="bg2"/>
                </a:solidFill>
              </a:rPr>
              <a:t>)</a:t>
            </a:r>
            <a:endParaRPr kumimoji="1" lang="en-US" altLang="zh-CN" sz="1400" dirty="0">
              <a:solidFill>
                <a:schemeClr val="bg2"/>
              </a:solidFill>
            </a:endParaRPr>
          </a:p>
          <a:p>
            <a:pPr marL="114300" indent="0">
              <a:buNone/>
            </a:pPr>
            <a:r>
              <a:rPr kumimoji="1" lang="en-US" altLang="zh-CN" sz="1400" dirty="0">
                <a:solidFill>
                  <a:schemeClr val="bg2"/>
                </a:solidFill>
              </a:rPr>
              <a:t>       </a:t>
            </a:r>
            <a:r>
              <a:rPr kumimoji="1" lang="en-US" altLang="zh-CN" sz="1400" dirty="0">
                <a:solidFill>
                  <a:srgbClr val="7030A0"/>
                </a:solidFill>
              </a:rPr>
              <a:t> import </a:t>
            </a:r>
            <a:r>
              <a:rPr kumimoji="1" lang="en-US" altLang="zh-CN" sz="1400" dirty="0" err="1">
                <a:solidFill>
                  <a:srgbClr val="7030A0"/>
                </a:solidFill>
              </a:rPr>
              <a:t>modulename</a:t>
            </a:r>
            <a:endParaRPr kumimoji="1" lang="en-US" altLang="zh-CN" sz="1400" dirty="0">
              <a:solidFill>
                <a:srgbClr val="7030A0"/>
              </a:solidFill>
            </a:endParaRPr>
          </a:p>
          <a:p>
            <a:pPr marL="114300" indent="0">
              <a:buNone/>
            </a:pPr>
            <a:r>
              <a:rPr kumimoji="1" lang="en-US" altLang="zh-CN" sz="1400" dirty="0">
                <a:solidFill>
                  <a:srgbClr val="7030A0"/>
                </a:solidFill>
              </a:rPr>
              <a:t>        name = </a:t>
            </a:r>
            <a:r>
              <a:rPr kumimoji="1" lang="en-US" altLang="zh-CN" sz="1400" dirty="0" err="1">
                <a:solidFill>
                  <a:srgbClr val="7030A0"/>
                </a:solidFill>
              </a:rPr>
              <a:t>modulename</a:t>
            </a:r>
            <a:endParaRPr kumimoji="1" lang="en-US" altLang="zh-CN" sz="1400" dirty="0">
              <a:solidFill>
                <a:srgbClr val="7030A0"/>
              </a:solidFill>
            </a:endParaRPr>
          </a:p>
          <a:p>
            <a:pPr marL="114300" indent="0">
              <a:buNone/>
            </a:pPr>
            <a:r>
              <a:rPr kumimoji="1" lang="en-US" altLang="zh-CN" sz="1400" dirty="0">
                <a:solidFill>
                  <a:srgbClr val="7030A0"/>
                </a:solidFill>
              </a:rPr>
              <a:t>        del </a:t>
            </a:r>
            <a:r>
              <a:rPr kumimoji="1" lang="en-US" altLang="zh-CN" sz="1400" dirty="0" err="1">
                <a:solidFill>
                  <a:srgbClr val="7030A0"/>
                </a:solidFill>
              </a:rPr>
              <a:t>modulename</a:t>
            </a:r>
            <a:r>
              <a:rPr kumimoji="1" lang="en-US" altLang="zh-CN" sz="1400" dirty="0">
                <a:solidFill>
                  <a:srgbClr val="7030A0"/>
                </a:solidFill>
              </a:rPr>
              <a:t> # Don't keep original name</a:t>
            </a:r>
            <a:endParaRPr kumimoji="1" lang="en-US" altLang="zh-CN" sz="1400" dirty="0">
              <a:solidFill>
                <a:srgbClr val="7030A0"/>
              </a:solidFill>
            </a:endParaRPr>
          </a:p>
          <a:p>
            <a:r>
              <a:rPr kumimoji="1" lang="en-US" altLang="zh-CN" sz="1400" dirty="0">
                <a:solidFill>
                  <a:schemeClr val="bg2"/>
                </a:solidFill>
              </a:rPr>
              <a:t>After such an import, you can—and in fact must—use the name listed after the as to refer to the module. This works in a from statement, too, to assign a name imported from a file to a different name in the importer’s scope; as before you get only the new name you provide, not its original: </a:t>
            </a:r>
            <a:r>
              <a:rPr kumimoji="1" lang="zh-CN" altLang="en-US" sz="1400" dirty="0">
                <a:solidFill>
                  <a:schemeClr val="bg2"/>
                </a:solidFill>
                <a:ea typeface="宋体" panose="02010600030101010101" pitchFamily="2" charset="-122"/>
                <a:sym typeface="+mn-ea"/>
              </a:rPr>
              <a:t>（在进行此类导入后，您可以（实际上必须）使用 as 后面列出的名称来指代模块。这也适用于 from 语句，用于将从文件导入的名称分配给导入器作用域中的其他名称;和以前一样，您只获得您提供的新名称，而不是其原始名称：）</a:t>
            </a:r>
            <a:endParaRPr kumimoji="1" lang="en-US" altLang="zh-CN" sz="1400" dirty="0">
              <a:solidFill>
                <a:schemeClr val="bg2"/>
              </a:solidFill>
            </a:endParaRPr>
          </a:p>
          <a:p>
            <a:pPr marL="114300" indent="0">
              <a:buNone/>
            </a:pPr>
            <a:r>
              <a:rPr kumimoji="1" lang="en-US" altLang="zh-CN" sz="1400" dirty="0">
                <a:solidFill>
                  <a:srgbClr val="7030A0"/>
                </a:solidFill>
              </a:rPr>
              <a:t> from </a:t>
            </a:r>
            <a:r>
              <a:rPr kumimoji="1" lang="en-US" altLang="zh-CN" sz="1400" dirty="0" err="1">
                <a:solidFill>
                  <a:srgbClr val="7030A0"/>
                </a:solidFill>
              </a:rPr>
              <a:t>modulename</a:t>
            </a:r>
            <a:r>
              <a:rPr kumimoji="1" lang="en-US" altLang="zh-CN" sz="1400" dirty="0">
                <a:solidFill>
                  <a:srgbClr val="7030A0"/>
                </a:solidFill>
              </a:rPr>
              <a:t> import </a:t>
            </a:r>
            <a:r>
              <a:rPr kumimoji="1" lang="en-US" altLang="zh-CN" sz="1400" dirty="0" err="1">
                <a:solidFill>
                  <a:srgbClr val="7030A0"/>
                </a:solidFill>
              </a:rPr>
              <a:t>attrname</a:t>
            </a:r>
            <a:r>
              <a:rPr kumimoji="1" lang="en-US" altLang="zh-CN" sz="1400" dirty="0">
                <a:solidFill>
                  <a:srgbClr val="7030A0"/>
                </a:solidFill>
              </a:rPr>
              <a:t> as name</a:t>
            </a:r>
            <a:endParaRPr kumimoji="1" lang="en-US" altLang="zh-CN" sz="1400" dirty="0">
              <a:solidFill>
                <a:srgbClr val="7030A0"/>
              </a:solidFill>
            </a:endParaRPr>
          </a:p>
          <a:p>
            <a:pPr marL="114300" indent="0">
              <a:buNone/>
            </a:pPr>
            <a:r>
              <a:rPr kumimoji="1" lang="en-US" altLang="zh-CN" sz="1400" dirty="0">
                <a:solidFill>
                  <a:srgbClr val="7030A0"/>
                </a:solidFill>
              </a:rPr>
              <a:t>import </a:t>
            </a:r>
            <a:r>
              <a:rPr kumimoji="1" lang="en-US" altLang="zh-CN" sz="1400" dirty="0" err="1">
                <a:solidFill>
                  <a:srgbClr val="7030A0"/>
                </a:solidFill>
              </a:rPr>
              <a:t>reallylongmodulename</a:t>
            </a:r>
            <a:r>
              <a:rPr kumimoji="1" lang="en-US" altLang="zh-CN" sz="1400" dirty="0">
                <a:solidFill>
                  <a:srgbClr val="7030A0"/>
                </a:solidFill>
              </a:rPr>
              <a:t> as name # Use shorter nickname</a:t>
            </a:r>
            <a:endParaRPr kumimoji="1" lang="en-US" altLang="zh-CN" sz="1400" dirty="0">
              <a:solidFill>
                <a:srgbClr val="7030A0"/>
              </a:solidFill>
            </a:endParaRPr>
          </a:p>
          <a:p>
            <a:pPr marL="114300" indent="0">
              <a:buNone/>
            </a:pPr>
            <a:r>
              <a:rPr kumimoji="1" lang="en-US" altLang="zh-CN" sz="1400" dirty="0" err="1">
                <a:solidFill>
                  <a:srgbClr val="7030A0"/>
                </a:solidFill>
              </a:rPr>
              <a:t>name.func</a:t>
            </a:r>
            <a:r>
              <a:rPr kumimoji="1" lang="en-US" altLang="zh-CN" sz="1400" dirty="0">
                <a:solidFill>
                  <a:srgbClr val="7030A0"/>
                </a:solidFill>
              </a:rPr>
              <a:t>()</a:t>
            </a:r>
            <a:endParaRPr kumimoji="1" lang="en-US" altLang="zh-CN" sz="1400" dirty="0">
              <a:solidFill>
                <a:srgbClr val="7030A0"/>
              </a:solidFill>
            </a:endParaRPr>
          </a:p>
          <a:p>
            <a:pPr marL="114300" indent="0">
              <a:buNone/>
            </a:pPr>
            <a:r>
              <a:rPr kumimoji="1" lang="en-US" altLang="zh-CN" sz="1400" dirty="0">
                <a:solidFill>
                  <a:srgbClr val="7030A0"/>
                </a:solidFill>
              </a:rPr>
              <a:t>from module1 import utility as util1 # Can have only 1 "utility”</a:t>
            </a:r>
            <a:endParaRPr kumimoji="1" lang="en-US" altLang="zh-CN" sz="1400" dirty="0">
              <a:solidFill>
                <a:srgbClr val="7030A0"/>
              </a:solidFill>
            </a:endParaRPr>
          </a:p>
          <a:p>
            <a:pPr marL="114300" indent="0">
              <a:buNone/>
            </a:pPr>
            <a:r>
              <a:rPr kumimoji="1" lang="en-US" altLang="zh-CN" sz="1400" dirty="0">
                <a:solidFill>
                  <a:srgbClr val="7030A0"/>
                </a:solidFill>
              </a:rPr>
              <a:t>from module2 import utility as util2</a:t>
            </a:r>
            <a:endParaRPr kumimoji="1" lang="en-US" altLang="zh-CN" sz="1400" dirty="0">
              <a:solidFill>
                <a:srgbClr val="7030A0"/>
              </a:solidFill>
            </a:endParaRPr>
          </a:p>
          <a:p>
            <a:pPr marL="114300" indent="0">
              <a:buNone/>
            </a:pPr>
            <a:r>
              <a:rPr kumimoji="1" lang="en-US" altLang="zh-CN" sz="1400" dirty="0">
                <a:solidFill>
                  <a:srgbClr val="7030A0"/>
                </a:solidFill>
              </a:rPr>
              <a:t>util1()</a:t>
            </a:r>
            <a:endParaRPr kumimoji="1" lang="en-US" altLang="zh-CN" sz="1400" dirty="0">
              <a:solidFill>
                <a:srgbClr val="7030A0"/>
              </a:solidFill>
            </a:endParaRPr>
          </a:p>
          <a:p>
            <a:pPr marL="114300" indent="0">
              <a:buNone/>
            </a:pPr>
            <a:r>
              <a:rPr kumimoji="1" lang="en-US" altLang="zh-CN" sz="1400" dirty="0">
                <a:solidFill>
                  <a:srgbClr val="7030A0"/>
                </a:solidFill>
              </a:rPr>
              <a:t>util2()</a:t>
            </a:r>
            <a:endParaRPr kumimoji="1" lang="en-US" altLang="zh-CN" sz="1400" dirty="0">
              <a:solidFill>
                <a:srgbClr val="7030A0"/>
              </a:solidFill>
            </a:endParaRPr>
          </a:p>
        </p:txBody>
      </p:sp>
      <p:sp>
        <p:nvSpPr>
          <p:cNvPr id="5" name="Rectangle 4"/>
          <p:cNvSpPr/>
          <p:nvPr/>
        </p:nvSpPr>
        <p:spPr>
          <a:xfrm>
            <a:off x="7276699" y="4698475"/>
            <a:ext cx="1555601" cy="283026"/>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dirty="0">
                <a:solidFill>
                  <a:schemeClr val="bg2"/>
                </a:solidFill>
                <a:latin typeface="Source Sans Pro" panose="020B0503030403020204" pitchFamily="34" charset="0"/>
                <a:ea typeface="Source Sans Pro" panose="020B0503030403020204" pitchFamily="34" charset="0"/>
              </a:rPr>
              <a:t>import </a:t>
            </a:r>
            <a:r>
              <a:rPr lang="en-US" altLang="zh-CN" sz="1200" dirty="0" err="1">
                <a:solidFill>
                  <a:schemeClr val="bg2"/>
                </a:solidFill>
                <a:latin typeface="Source Sans Pro" panose="020B0503030403020204" pitchFamily="34" charset="0"/>
                <a:ea typeface="Source Sans Pro" panose="020B0503030403020204" pitchFamily="34" charset="0"/>
              </a:rPr>
              <a:t>numpy</a:t>
            </a:r>
            <a:r>
              <a:rPr lang="en-US" altLang="zh-CN" sz="1200" dirty="0">
                <a:solidFill>
                  <a:schemeClr val="bg2"/>
                </a:solidFill>
                <a:latin typeface="Source Sans Pro" panose="020B0503030403020204" pitchFamily="34" charset="0"/>
                <a:ea typeface="Source Sans Pro" panose="020B0503030403020204" pitchFamily="34" charset="0"/>
              </a:rPr>
              <a:t> as np</a:t>
            </a:r>
            <a:endParaRPr lang="zh-CN" altLang="en-US" sz="1200" dirty="0">
              <a:solidFill>
                <a:schemeClr val="bg2"/>
              </a:solidFill>
              <a:latin typeface="Source Sans Pro" panose="020B0503030403020204" pitchFamily="34" charset="0"/>
              <a:ea typeface="黑体" panose="02010609060101010101" pitchFamily="49"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1700" y="240555"/>
            <a:ext cx="8520600" cy="623400"/>
          </a:xfrm>
        </p:spPr>
        <p:txBody>
          <a:bodyPr>
            <a:normAutofit fontScale="90000"/>
          </a:bodyPr>
          <a:lstStyle/>
          <a:p>
            <a:r>
              <a:rPr lang="en-US" altLang="zh-CN" dirty="0">
                <a:latin typeface="Raleway" pitchFamily="34" charset="0"/>
                <a:ea typeface="Source Sans Pro" panose="020B0503030403020204" pitchFamily="34" charset="0"/>
              </a:rPr>
              <a:t>__future__</a:t>
            </a:r>
            <a:endParaRPr lang="en-US" altLang="zh-CN" dirty="0">
              <a:solidFill>
                <a:srgbClr val="C00000"/>
              </a:solidFill>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800110"/>
            <a:ext cx="8520600" cy="3416400"/>
          </a:xfrm>
        </p:spPr>
        <p:txBody>
          <a:bodyPr>
            <a:noAutofit/>
          </a:bodyPr>
          <a:lstStyle/>
          <a:p>
            <a:pPr>
              <a:lnSpc>
                <a:spcPct val="114000"/>
              </a:lnSpc>
            </a:pPr>
            <a:r>
              <a:rPr lang="en-US" altLang="zh-CN" sz="1400" dirty="0">
                <a:solidFill>
                  <a:schemeClr val="bg2"/>
                </a:solidFill>
                <a:latin typeface="Source Sans Pro" panose="020B0503030403020204" pitchFamily="34" charset="0"/>
              </a:rPr>
              <a:t>Changes to the language that may potentially break existing code are usually introduced gradually in Python. They often initially appear as optional extensions, which are disabled by default. To turn on such extensions, use a special import statement of this form:</a:t>
            </a:r>
            <a:endParaRPr lang="en-US" altLang="zh-CN" sz="1400" dirty="0">
              <a:solidFill>
                <a:schemeClr val="bg2"/>
              </a:solidFill>
              <a:latin typeface="Source Sans Pro" panose="020B0503030403020204" pitchFamily="34" charset="0"/>
            </a:endParaRPr>
          </a:p>
          <a:p>
            <a:pPr marL="114300" indent="0" algn="ctr">
              <a:lnSpc>
                <a:spcPct val="114000"/>
              </a:lnSpc>
              <a:buNone/>
            </a:pPr>
            <a:r>
              <a:rPr lang="en-US" altLang="zh-CN" sz="1400" dirty="0">
                <a:solidFill>
                  <a:schemeClr val="tx1"/>
                </a:solidFill>
                <a:latin typeface="Source Sans Pro" panose="020B0503030403020204" pitchFamily="34" charset="0"/>
              </a:rPr>
              <a:t>from __future__ import </a:t>
            </a:r>
            <a:r>
              <a:rPr lang="en-US" altLang="zh-CN" sz="1400" dirty="0" err="1">
                <a:solidFill>
                  <a:schemeClr val="tx1"/>
                </a:solidFill>
                <a:latin typeface="Source Sans Pro" panose="020B0503030403020204" pitchFamily="34" charset="0"/>
              </a:rPr>
              <a:t>featurename</a:t>
            </a:r>
            <a:endParaRPr lang="en-US" altLang="zh-CN" sz="1400" dirty="0">
              <a:solidFill>
                <a:schemeClr val="tx1"/>
              </a:solidFill>
              <a:latin typeface="Source Sans Pro" panose="020B0503030403020204" pitchFamily="34" charset="0"/>
            </a:endParaRPr>
          </a:p>
          <a:p>
            <a:pPr>
              <a:lnSpc>
                <a:spcPct val="114000"/>
              </a:lnSpc>
            </a:pPr>
            <a:r>
              <a:rPr lang="en-US" altLang="zh-CN" sz="1400" dirty="0">
                <a:solidFill>
                  <a:schemeClr val="bg2"/>
                </a:solidFill>
                <a:latin typeface="Source Sans Pro" panose="020B0503030403020204" pitchFamily="34" charset="0"/>
              </a:rPr>
              <a:t>When used in a script, this statement must appear as the first executable statement in the file (possibly following a docstring or comment), because it enables special compilation of code on a per-module basis. It’s also possible to submit this statement at the interactive prompt to experiment with upcoming language changes; the feature will then be available for the remainder of the interactive session.</a:t>
            </a:r>
            <a:endParaRPr lang="en-US" altLang="zh-CN" sz="1400" dirty="0">
              <a:solidFill>
                <a:schemeClr val="bg2"/>
              </a:solidFill>
              <a:latin typeface="Source Sans Pro" panose="020B0503030403020204" pitchFamily="34" charset="0"/>
            </a:endParaRPr>
          </a:p>
          <a:p>
            <a:pPr>
              <a:lnSpc>
                <a:spcPct val="114000"/>
              </a:lnSpc>
            </a:pPr>
            <a:r>
              <a:rPr lang="en-US" altLang="zh-CN" sz="1400" dirty="0">
                <a:solidFill>
                  <a:schemeClr val="bg2"/>
                </a:solidFill>
                <a:latin typeface="Source Sans Pro" panose="020B0503030403020204" pitchFamily="34" charset="0"/>
              </a:rPr>
              <a:t>对可能破坏现有代码的语言的更改通常在 Python 中逐渐引入。它们最初通常显示为可选扩展，默认情况下处于禁用状态。若要启用此类扩展，请使用以下格式的特殊 import 语句：</a:t>
            </a:r>
            <a:endParaRPr lang="en-US" altLang="zh-CN" sz="1400" dirty="0">
              <a:solidFill>
                <a:schemeClr val="bg2"/>
              </a:solidFill>
              <a:latin typeface="Source Sans Pro" panose="020B0503030403020204" pitchFamily="34" charset="0"/>
            </a:endParaRPr>
          </a:p>
          <a:p>
            <a:pPr>
              <a:lnSpc>
                <a:spcPct val="114000"/>
              </a:lnSpc>
            </a:pPr>
            <a:r>
              <a:rPr lang="en-US" altLang="zh-CN" sz="1400" dirty="0">
                <a:solidFill>
                  <a:schemeClr val="bg2"/>
                </a:solidFill>
                <a:latin typeface="Source Sans Pro" panose="020B0503030403020204" pitchFamily="34" charset="0"/>
              </a:rPr>
              <a:t>from __future__导入 featurename</a:t>
            </a:r>
            <a:endParaRPr lang="en-US" altLang="zh-CN" sz="1400" dirty="0">
              <a:solidFill>
                <a:schemeClr val="bg2"/>
              </a:solidFill>
              <a:latin typeface="Source Sans Pro" panose="020B0503030403020204" pitchFamily="34" charset="0"/>
            </a:endParaRPr>
          </a:p>
          <a:p>
            <a:pPr>
              <a:lnSpc>
                <a:spcPct val="114000"/>
              </a:lnSpc>
            </a:pPr>
            <a:r>
              <a:rPr lang="en-US" altLang="zh-CN" sz="1400" dirty="0">
                <a:solidFill>
                  <a:schemeClr val="bg2"/>
                </a:solidFill>
                <a:latin typeface="Source Sans Pro" panose="020B0503030403020204" pitchFamily="34" charset="0"/>
              </a:rPr>
              <a:t>在脚本中使用时，此语句必须显示为文件中的第一个可执行语句（可能在文档字符串或注释之后），因为它可以基于每个模块对代码进行特殊编译。也可以在交互式提示下提交此语句，以尝试即将到来的语言更改;然后，该功能将在交互式会话的其余部分可用。</a:t>
            </a:r>
            <a:endParaRPr lang="en-US" altLang="zh-CN" sz="1400" dirty="0">
              <a:solidFill>
                <a:schemeClr val="bg2"/>
              </a:solidFill>
              <a:latin typeface="Source Sans Pro" panose="020B0503030403020204" pitchFamily="34" charset="0"/>
            </a:endParaRPr>
          </a:p>
          <a:p>
            <a:pPr>
              <a:lnSpc>
                <a:spcPct val="114000"/>
              </a:lnSpc>
            </a:pPr>
            <a:r>
              <a:rPr lang="zh-CN" altLang="en-US" sz="1400" dirty="0">
                <a:solidFill>
                  <a:schemeClr val="bg2"/>
                </a:solidFill>
                <a:latin typeface="Source Sans Pro" panose="020B0503030403020204" pitchFamily="34" charset="0"/>
                <a:ea typeface="黑体" panose="02010609060101010101" pitchFamily="49" charset="-122"/>
              </a:rPr>
              <a:t>必须第一行</a:t>
            </a:r>
            <a:endParaRPr lang="zh-CN" altLang="en-US" sz="1400" dirty="0">
              <a:solidFill>
                <a:schemeClr val="bg2"/>
              </a:solidFill>
              <a:latin typeface="Source Sans Pro" panose="020B0503030403020204" pitchFamily="34" charset="0"/>
              <a:ea typeface="黑体" panose="02010609060101010101" pitchFamily="49" charset="-122"/>
            </a:endParaRPr>
          </a:p>
          <a:p>
            <a:pPr>
              <a:lnSpc>
                <a:spcPct val="114000"/>
              </a:lnSpc>
            </a:pPr>
            <a:r>
              <a:rPr lang="zh-CN" altLang="en-US" sz="1400" dirty="0">
                <a:solidFill>
                  <a:schemeClr val="bg2"/>
                </a:solidFill>
                <a:latin typeface="Source Sans Pro" panose="020B0503030403020204" pitchFamily="34" charset="0"/>
                <a:ea typeface="黑体" panose="02010609060101010101" pitchFamily="49" charset="-122"/>
              </a:rPr>
              <a:t>列子：在</a:t>
            </a:r>
            <a:r>
              <a:rPr lang="en-US" altLang="zh-CN" sz="1400" dirty="0">
                <a:solidFill>
                  <a:schemeClr val="bg2"/>
                </a:solidFill>
                <a:latin typeface="Source Sans Pro" panose="020B0503030403020204" pitchFamily="34" charset="0"/>
                <a:ea typeface="Source Sans Pro" panose="020B0503030403020204" pitchFamily="34" charset="0"/>
              </a:rPr>
              <a:t>py2.0</a:t>
            </a:r>
            <a:r>
              <a:rPr lang="zh-CN" altLang="en-US" sz="1400" dirty="0">
                <a:solidFill>
                  <a:schemeClr val="bg2"/>
                </a:solidFill>
                <a:latin typeface="Source Sans Pro" panose="020B0503030403020204" pitchFamily="34" charset="0"/>
                <a:ea typeface="黑体" panose="02010609060101010101" pitchFamily="49" charset="-122"/>
              </a:rPr>
              <a:t>环境下使用</a:t>
            </a:r>
            <a:r>
              <a:rPr lang="en-US" altLang="zh-CN" sz="1400" dirty="0">
                <a:solidFill>
                  <a:schemeClr val="bg2"/>
                </a:solidFill>
                <a:latin typeface="Source Sans Pro" panose="020B0503030403020204" pitchFamily="34" charset="0"/>
                <a:ea typeface="Source Sans Pro" panose="020B0503030403020204" pitchFamily="34" charset="0"/>
              </a:rPr>
              <a:t>py3.0</a:t>
            </a:r>
            <a:r>
              <a:rPr lang="zh-CN" altLang="en-US" sz="1400" dirty="0">
                <a:solidFill>
                  <a:schemeClr val="bg2"/>
                </a:solidFill>
                <a:latin typeface="Source Sans Pro" panose="020B0503030403020204" pitchFamily="34" charset="0"/>
                <a:ea typeface="黑体" panose="02010609060101010101" pitchFamily="49" charset="-122"/>
              </a:rPr>
              <a:t>的语法</a:t>
            </a:r>
            <a:endParaRPr lang="zh-CN" altLang="en-US" sz="1400" dirty="0">
              <a:solidFill>
                <a:schemeClr val="bg2"/>
              </a:solidFill>
              <a:latin typeface="Source Sans Pro" panose="020B0503030403020204" pitchFamily="34" charset="0"/>
              <a:ea typeface="黑体" panose="02010609060101010101" pitchFamily="49"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1700" y="144035"/>
            <a:ext cx="8520600" cy="623400"/>
          </a:xfrm>
        </p:spPr>
        <p:txBody>
          <a:bodyPr>
            <a:normAutofit fontScale="90000"/>
          </a:bodyPr>
          <a:lstStyle/>
          <a:p>
            <a:r>
              <a:rPr lang="en-US" altLang="zh-CN" dirty="0">
                <a:latin typeface="Raleway" pitchFamily="34" charset="0"/>
                <a:ea typeface="Source Sans Pro" panose="020B0503030403020204" pitchFamily="34" charset="0"/>
              </a:rPr>
              <a:t>__name__ and __main__</a:t>
            </a:r>
            <a:endParaRPr lang="en-US" altLang="zh-CN" dirty="0">
              <a:solidFill>
                <a:srgbClr val="C00000"/>
              </a:solidFill>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85" y="707390"/>
            <a:ext cx="8520430" cy="4079240"/>
          </a:xfrm>
        </p:spPr>
        <p:txBody>
          <a:bodyPr>
            <a:noAutofit/>
          </a:bodyPr>
          <a:lstStyle/>
          <a:p>
            <a:pPr>
              <a:lnSpc>
                <a:spcPct val="114000"/>
              </a:lnSpc>
            </a:pPr>
            <a:r>
              <a:rPr lang="en-US" altLang="zh-CN" sz="1400" dirty="0">
                <a:solidFill>
                  <a:schemeClr val="bg2"/>
                </a:solidFill>
                <a:latin typeface="Source Sans Pro" panose="020B0503030403020204" pitchFamily="34" charset="0"/>
              </a:rPr>
              <a:t>Top-level: </a:t>
            </a:r>
            <a:r>
              <a:rPr lang="zh-CN" altLang="en-US" sz="1400" dirty="0">
                <a:solidFill>
                  <a:schemeClr val="bg2"/>
                </a:solidFill>
                <a:latin typeface="黑体" panose="02010609060101010101" pitchFamily="49" charset="-122"/>
                <a:ea typeface="黑体" panose="02010609060101010101" pitchFamily="49" charset="-122"/>
              </a:rPr>
              <a:t>自己当家作主，调用其他模块</a:t>
            </a:r>
            <a:endParaRPr lang="zh-CN" altLang="en-US" sz="1400" dirty="0">
              <a:solidFill>
                <a:schemeClr val="bg2"/>
              </a:solidFill>
              <a:latin typeface="黑体" panose="02010609060101010101" pitchFamily="49" charset="-122"/>
              <a:ea typeface="黑体" panose="02010609060101010101" pitchFamily="49" charset="-122"/>
            </a:endParaRPr>
          </a:p>
          <a:p>
            <a:pPr>
              <a:lnSpc>
                <a:spcPct val="114000"/>
              </a:lnSpc>
            </a:pPr>
            <a:r>
              <a:rPr lang="en-US" altLang="zh-CN" sz="1400" dirty="0">
                <a:solidFill>
                  <a:schemeClr val="bg2"/>
                </a:solidFill>
                <a:latin typeface="Source Sans Pro" panose="020B0503030403020204" pitchFamily="34" charset="0"/>
              </a:rPr>
              <a:t>Imported module: </a:t>
            </a:r>
            <a:r>
              <a:rPr lang="zh-CN" altLang="en-US" sz="1400" dirty="0">
                <a:solidFill>
                  <a:schemeClr val="bg2"/>
                </a:solidFill>
                <a:latin typeface="黑体" panose="02010609060101010101" pitchFamily="49" charset="-122"/>
                <a:ea typeface="黑体" panose="02010609060101010101" pitchFamily="49" charset="-122"/>
              </a:rPr>
              <a:t>打工人</a:t>
            </a:r>
            <a:endParaRPr lang="zh-CN" altLang="en-US" sz="1400" dirty="0">
              <a:solidFill>
                <a:schemeClr val="bg2"/>
              </a:solidFill>
              <a:latin typeface="黑体" panose="02010609060101010101" pitchFamily="49" charset="-122"/>
              <a:ea typeface="黑体" panose="02010609060101010101" pitchFamily="49" charset="-122"/>
            </a:endParaRPr>
          </a:p>
          <a:p>
            <a:pPr>
              <a:lnSpc>
                <a:spcPct val="114000"/>
              </a:lnSpc>
            </a:pPr>
            <a:r>
              <a:rPr lang="en-US" altLang="zh-CN" sz="1400" dirty="0">
                <a:solidFill>
                  <a:schemeClr val="bg2"/>
                </a:solidFill>
                <a:latin typeface="Source Sans Pro" panose="020B0503030403020204" pitchFamily="34" charset="0"/>
              </a:rPr>
              <a:t>Both import a file as a module and run it as a standalone program, is widely used in Python files. </a:t>
            </a:r>
            <a:endParaRPr lang="en-US" altLang="zh-CN" sz="1400" dirty="0">
              <a:solidFill>
                <a:schemeClr val="bg2"/>
              </a:solidFill>
              <a:latin typeface="Source Sans Pro" panose="020B0503030403020204" pitchFamily="34" charset="0"/>
            </a:endParaRPr>
          </a:p>
          <a:p>
            <a:pPr>
              <a:lnSpc>
                <a:spcPct val="114000"/>
              </a:lnSpc>
            </a:pPr>
            <a:r>
              <a:rPr lang="en-US" altLang="zh-CN" sz="1400" dirty="0">
                <a:solidFill>
                  <a:schemeClr val="bg2"/>
                </a:solidFill>
                <a:latin typeface="Source Sans Pro" panose="020B0503030403020204" pitchFamily="34" charset="0"/>
              </a:rPr>
              <a:t>Each module has a built-in attribute called __name__, which Python creates and assigns automatically as follows:</a:t>
            </a:r>
            <a:endParaRPr lang="en-US" altLang="zh-CN" sz="1400" dirty="0">
              <a:solidFill>
                <a:schemeClr val="bg2"/>
              </a:solidFill>
              <a:latin typeface="Source Sans Pro" panose="020B0503030403020204" pitchFamily="34" charset="0"/>
            </a:endParaRPr>
          </a:p>
          <a:p>
            <a:pPr lvl="1">
              <a:lnSpc>
                <a:spcPct val="114000"/>
              </a:lnSpc>
            </a:pPr>
            <a:r>
              <a:rPr lang="en-US" altLang="zh-CN" sz="1200" dirty="0">
                <a:solidFill>
                  <a:schemeClr val="bg2"/>
                </a:solidFill>
                <a:latin typeface="Source Sans Pro" panose="020B0503030403020204" pitchFamily="34" charset="0"/>
              </a:rPr>
              <a:t>If the file is being run as </a:t>
            </a:r>
            <a:r>
              <a:rPr lang="en-US" altLang="zh-CN" sz="1200" dirty="0">
                <a:solidFill>
                  <a:schemeClr val="tx1"/>
                </a:solidFill>
                <a:latin typeface="Source Sans Pro" panose="020B0503030403020204" pitchFamily="34" charset="0"/>
              </a:rPr>
              <a:t>a top-level program file</a:t>
            </a:r>
            <a:r>
              <a:rPr lang="en-US" altLang="zh-CN" sz="1200" dirty="0">
                <a:solidFill>
                  <a:schemeClr val="bg2"/>
                </a:solidFill>
                <a:latin typeface="Source Sans Pro" panose="020B0503030403020204" pitchFamily="34" charset="0"/>
              </a:rPr>
              <a:t>, </a:t>
            </a:r>
            <a:r>
              <a:rPr lang="en-US" altLang="zh-CN" sz="1200" dirty="0">
                <a:solidFill>
                  <a:schemeClr val="tx1"/>
                </a:solidFill>
                <a:latin typeface="Source Sans Pro" panose="020B0503030403020204" pitchFamily="34" charset="0"/>
              </a:rPr>
              <a:t>__name__</a:t>
            </a:r>
            <a:r>
              <a:rPr lang="en-US" altLang="zh-CN" sz="1200" dirty="0">
                <a:solidFill>
                  <a:srgbClr val="C00000"/>
                </a:solidFill>
                <a:latin typeface="Source Sans Pro" panose="020B0503030403020204" pitchFamily="34" charset="0"/>
              </a:rPr>
              <a:t> </a:t>
            </a:r>
            <a:r>
              <a:rPr lang="en-US" altLang="zh-CN" sz="1200" dirty="0">
                <a:solidFill>
                  <a:schemeClr val="bg2"/>
                </a:solidFill>
                <a:latin typeface="Source Sans Pro" panose="020B0503030403020204" pitchFamily="34" charset="0"/>
              </a:rPr>
              <a:t>is set to the string</a:t>
            </a:r>
            <a:r>
              <a:rPr lang="en-US" altLang="zh-CN" sz="1200" dirty="0">
                <a:solidFill>
                  <a:schemeClr val="tx1"/>
                </a:solidFill>
                <a:latin typeface="Source Sans Pro" panose="020B0503030403020204" pitchFamily="34" charset="0"/>
              </a:rPr>
              <a:t> "__main__" </a:t>
            </a:r>
            <a:r>
              <a:rPr lang="en-US" altLang="zh-CN" sz="1200" dirty="0">
                <a:solidFill>
                  <a:schemeClr val="bg2"/>
                </a:solidFill>
                <a:latin typeface="Source Sans Pro" panose="020B0503030403020204" pitchFamily="34" charset="0"/>
              </a:rPr>
              <a:t>when it starts.</a:t>
            </a:r>
            <a:endParaRPr lang="en-US" altLang="zh-CN" sz="1200" dirty="0">
              <a:solidFill>
                <a:schemeClr val="bg2"/>
              </a:solidFill>
              <a:latin typeface="Source Sans Pro" panose="020B0503030403020204" pitchFamily="34" charset="0"/>
            </a:endParaRPr>
          </a:p>
          <a:p>
            <a:pPr lvl="1">
              <a:lnSpc>
                <a:spcPct val="114000"/>
              </a:lnSpc>
            </a:pPr>
            <a:r>
              <a:rPr lang="en-US" altLang="zh-CN" sz="1200" dirty="0">
                <a:solidFill>
                  <a:schemeClr val="bg2"/>
                </a:solidFill>
                <a:latin typeface="Source Sans Pro" panose="020B0503030403020204" pitchFamily="34" charset="0"/>
              </a:rPr>
              <a:t>If the file is </a:t>
            </a:r>
            <a:r>
              <a:rPr lang="en-US" altLang="zh-CN" sz="1200" dirty="0">
                <a:solidFill>
                  <a:schemeClr val="tx1"/>
                </a:solidFill>
                <a:latin typeface="Source Sans Pro" panose="020B0503030403020204" pitchFamily="34" charset="0"/>
              </a:rPr>
              <a:t>being imported instead</a:t>
            </a:r>
            <a:r>
              <a:rPr lang="en-US" altLang="zh-CN" sz="1200" dirty="0">
                <a:solidFill>
                  <a:schemeClr val="bg2"/>
                </a:solidFill>
                <a:latin typeface="Source Sans Pro" panose="020B0503030403020204" pitchFamily="34" charset="0"/>
              </a:rPr>
              <a:t>, __name__ is set to the</a:t>
            </a:r>
            <a:r>
              <a:rPr lang="en-US" altLang="zh-CN" sz="1200" dirty="0">
                <a:solidFill>
                  <a:schemeClr val="tx1"/>
                </a:solidFill>
                <a:latin typeface="Source Sans Pro" panose="020B0503030403020204" pitchFamily="34" charset="0"/>
              </a:rPr>
              <a:t> module’s name </a:t>
            </a:r>
            <a:r>
              <a:rPr lang="en-US" altLang="zh-CN" sz="1200" dirty="0">
                <a:solidFill>
                  <a:schemeClr val="bg2"/>
                </a:solidFill>
                <a:latin typeface="Source Sans Pro" panose="020B0503030403020204" pitchFamily="34" charset="0"/>
              </a:rPr>
              <a:t>as known by its clients.</a:t>
            </a:r>
            <a:endParaRPr lang="en-US" altLang="zh-CN" sz="1200" dirty="0">
              <a:solidFill>
                <a:schemeClr val="bg2"/>
              </a:solidFill>
              <a:latin typeface="Source Sans Pro" panose="020B0503030403020204" pitchFamily="34" charset="0"/>
            </a:endParaRPr>
          </a:p>
          <a:p>
            <a:pPr>
              <a:lnSpc>
                <a:spcPct val="114000"/>
              </a:lnSpc>
            </a:pPr>
            <a:r>
              <a:rPr lang="en-US" altLang="zh-CN" sz="1400" dirty="0">
                <a:solidFill>
                  <a:schemeClr val="bg2"/>
                </a:solidFill>
                <a:latin typeface="Source Sans Pro" panose="020B0503030403020204" pitchFamily="34" charset="0"/>
              </a:rPr>
              <a:t>The upshot is that a module can test its own __name__ to determine whether it’s being run or imported.</a:t>
            </a:r>
            <a:endParaRPr lang="en-US" altLang="zh-CN" sz="1400" dirty="0">
              <a:solidFill>
                <a:schemeClr val="bg2"/>
              </a:solidFill>
              <a:latin typeface="Source Sans Pro" panose="020B0503030403020204" pitchFamily="34" charset="0"/>
            </a:endParaRPr>
          </a:p>
          <a:p>
            <a:pPr>
              <a:lnSpc>
                <a:spcPct val="114000"/>
              </a:lnSpc>
            </a:pPr>
            <a:r>
              <a:rPr lang="en-US" altLang="zh-CN" sz="1400" dirty="0">
                <a:solidFill>
                  <a:schemeClr val="bg2"/>
                </a:solidFill>
                <a:latin typeface="Source Sans Pro" panose="020B0503030403020204" pitchFamily="34" charset="0"/>
              </a:rPr>
              <a:t>In effect, a module’s __name__ variable serves as a usage mode flag, allowing its code to be leveraged as both an importable library and a top-level script.</a:t>
            </a:r>
            <a:endParaRPr lang="en-US" altLang="zh-CN" sz="1400" dirty="0">
              <a:solidFill>
                <a:schemeClr val="bg2"/>
              </a:solidFill>
              <a:latin typeface="Source Sans Pro" panose="020B0503030403020204" pitchFamily="34" charset="0"/>
            </a:endParaRPr>
          </a:p>
          <a:p>
            <a:pPr>
              <a:lnSpc>
                <a:spcPct val="114000"/>
              </a:lnSpc>
            </a:pPr>
            <a:r>
              <a:rPr lang="en-US" altLang="zh-CN" sz="1400" dirty="0">
                <a:solidFill>
                  <a:schemeClr val="bg2"/>
                </a:solidFill>
                <a:latin typeface="Source Sans Pro" panose="020B0503030403020204" pitchFamily="34" charset="0"/>
              </a:rPr>
              <a:t>将文件作为模块导入并将其作为独立程序运行，在 Python 文件中被广泛使用。</a:t>
            </a:r>
            <a:endParaRPr lang="en-US" altLang="zh-CN" sz="1400" dirty="0">
              <a:solidFill>
                <a:schemeClr val="bg2"/>
              </a:solidFill>
              <a:latin typeface="Source Sans Pro" panose="020B0503030403020204" pitchFamily="34" charset="0"/>
            </a:endParaRPr>
          </a:p>
          <a:p>
            <a:pPr>
              <a:lnSpc>
                <a:spcPct val="114000"/>
              </a:lnSpc>
            </a:pPr>
            <a:r>
              <a:rPr lang="en-US" altLang="zh-CN" sz="1400" dirty="0">
                <a:solidFill>
                  <a:schemeClr val="bg2"/>
                </a:solidFill>
                <a:latin typeface="Source Sans Pro" panose="020B0503030403020204" pitchFamily="34" charset="0"/>
              </a:rPr>
              <a:t>每个模块都有一个名为 __name__ 的内置属性，Python 会自动创建和分配该属性，如下所示：</a:t>
            </a:r>
            <a:endParaRPr lang="en-US" altLang="zh-CN" sz="1400" dirty="0">
              <a:solidFill>
                <a:schemeClr val="bg2"/>
              </a:solidFill>
              <a:latin typeface="Source Sans Pro" panose="020B0503030403020204" pitchFamily="34" charset="0"/>
            </a:endParaRPr>
          </a:p>
          <a:p>
            <a:pPr>
              <a:lnSpc>
                <a:spcPct val="114000"/>
              </a:lnSpc>
            </a:pPr>
            <a:r>
              <a:rPr lang="en-US" altLang="zh-CN" sz="1400" dirty="0">
                <a:solidFill>
                  <a:schemeClr val="bg2"/>
                </a:solidFill>
                <a:latin typeface="Source Sans Pro" panose="020B0503030403020204" pitchFamily="34" charset="0"/>
              </a:rPr>
              <a:t>如果文件作为顶级程序文件运行，则__name__启动时设置为字符串“__main__”。</a:t>
            </a:r>
            <a:endParaRPr lang="en-US" altLang="zh-CN" sz="1400" dirty="0">
              <a:solidFill>
                <a:schemeClr val="bg2"/>
              </a:solidFill>
              <a:latin typeface="Source Sans Pro" panose="020B0503030403020204" pitchFamily="34" charset="0"/>
            </a:endParaRPr>
          </a:p>
          <a:p>
            <a:pPr>
              <a:lnSpc>
                <a:spcPct val="114000"/>
              </a:lnSpc>
            </a:pPr>
            <a:r>
              <a:rPr lang="en-US" altLang="zh-CN" sz="1400" dirty="0">
                <a:solidFill>
                  <a:schemeClr val="bg2"/>
                </a:solidFill>
                <a:latin typeface="Source Sans Pro" panose="020B0503030403020204" pitchFamily="34" charset="0"/>
              </a:rPr>
              <a:t>如果改为导入文件，则__name__将设置为其客户端已知的模块名称。</a:t>
            </a:r>
            <a:endParaRPr lang="en-US" altLang="zh-CN" sz="1400" dirty="0">
              <a:solidFill>
                <a:schemeClr val="bg2"/>
              </a:solidFill>
              <a:latin typeface="Source Sans Pro" panose="020B0503030403020204" pitchFamily="34" charset="0"/>
            </a:endParaRPr>
          </a:p>
          <a:p>
            <a:pPr>
              <a:lnSpc>
                <a:spcPct val="114000"/>
              </a:lnSpc>
            </a:pPr>
            <a:r>
              <a:rPr lang="en-US" altLang="zh-CN" sz="1400" dirty="0">
                <a:solidFill>
                  <a:schemeClr val="bg2"/>
                </a:solidFill>
                <a:latin typeface="Source Sans Pro" panose="020B0503030403020204" pitchFamily="34" charset="0"/>
              </a:rPr>
              <a:t>结果是，模块可以测试自己的__name__，以确定它是正在运行还是导入。</a:t>
            </a:r>
            <a:endParaRPr lang="en-US" altLang="zh-CN" sz="1400" dirty="0">
              <a:solidFill>
                <a:schemeClr val="bg2"/>
              </a:solidFill>
              <a:latin typeface="Source Sans Pro" panose="020B0503030403020204" pitchFamily="34" charset="0"/>
            </a:endParaRPr>
          </a:p>
          <a:p>
            <a:pPr>
              <a:lnSpc>
                <a:spcPct val="114000"/>
              </a:lnSpc>
            </a:pPr>
            <a:r>
              <a:rPr lang="en-US" altLang="zh-CN" sz="1400" dirty="0">
                <a:solidFill>
                  <a:schemeClr val="bg2"/>
                </a:solidFill>
                <a:latin typeface="Source Sans Pro" panose="020B0503030403020204" pitchFamily="34" charset="0"/>
              </a:rPr>
              <a:t>实际上，模块的 __name__ 变量充当使用模式标志，允许其代码用作可导入库和顶级脚本。</a:t>
            </a:r>
            <a:endParaRPr lang="en-US" altLang="zh-CN" sz="1400" dirty="0">
              <a:solidFill>
                <a:schemeClr val="bg2"/>
              </a:solidFill>
              <a:latin typeface="Source Sans Pro" panose="020B0503030403020204" pitchFamily="34"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Top-level Vs. Imported</a:t>
            </a:r>
            <a:endParaRPr lang="en-US" altLang="zh-CN" dirty="0">
              <a:solidFill>
                <a:srgbClr val="C00000"/>
              </a:solidFill>
              <a:latin typeface="Raleway" pitchFamily="34" charset="0"/>
              <a:ea typeface="Source Sans Pro" panose="020B0503030403020204" pitchFamily="34" charset="0"/>
            </a:endParaRPr>
          </a:p>
        </p:txBody>
      </p:sp>
      <p:pic>
        <p:nvPicPr>
          <p:cNvPr id="6" name="Picture 4" descr="Graphical user interface, text, application&#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66525" y="1289701"/>
            <a:ext cx="3953601" cy="2530304"/>
          </a:xfrm>
          <a:prstGeom prst="rect">
            <a:avLst/>
          </a:prstGeom>
        </p:spPr>
      </p:pic>
      <p:pic>
        <p:nvPicPr>
          <p:cNvPr id="7" name="Picture 7" descr="Text&#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6525" y="4041281"/>
            <a:ext cx="1574897" cy="829413"/>
          </a:xfrm>
          <a:prstGeom prst="rect">
            <a:avLst/>
          </a:prstGeom>
        </p:spPr>
      </p:pic>
      <p:pic>
        <p:nvPicPr>
          <p:cNvPr id="8" name="Picture 9" descr="A picture containing object, orange, dark, clock&#10;&#10;Description automatically generate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7020" y="1289701"/>
            <a:ext cx="2315756" cy="416567"/>
          </a:xfrm>
          <a:prstGeom prst="rect">
            <a:avLst/>
          </a:prstGeom>
        </p:spPr>
      </p:pic>
      <p:pic>
        <p:nvPicPr>
          <p:cNvPr id="9" name="Picture 11" descr="Text&#10;&#10;Description automatically generated"/>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47020" y="2004973"/>
            <a:ext cx="1175161" cy="658563"/>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1700" y="92600"/>
            <a:ext cx="8520600" cy="623400"/>
          </a:xfrm>
        </p:spPr>
        <p:txBody>
          <a:bodyPr>
            <a:normAutofit fontScale="90000"/>
          </a:bodyPr>
          <a:lstStyle/>
          <a:p>
            <a:r>
              <a:rPr lang="en-US" altLang="zh-CN" dirty="0">
                <a:latin typeface="Raleway" pitchFamily="34" charset="0"/>
                <a:ea typeface="Source Sans Pro" panose="020B0503030403020204" pitchFamily="34" charset="0"/>
              </a:rPr>
              <a:t>import</a:t>
            </a:r>
            <a:endParaRPr lang="en-US" altLang="zh-CN" dirty="0">
              <a:solidFill>
                <a:srgbClr val="C00000"/>
              </a:solidFill>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660410"/>
            <a:ext cx="8520600" cy="3416400"/>
          </a:xfrm>
        </p:spPr>
        <p:txBody>
          <a:bodyPr>
            <a:noAutofit/>
          </a:bodyPr>
          <a:lstStyle/>
          <a:p>
            <a:pPr>
              <a:lnSpc>
                <a:spcPct val="114000"/>
              </a:lnSpc>
            </a:pPr>
            <a:r>
              <a:rPr lang="en-US" altLang="zh-CN" sz="1400" dirty="0">
                <a:solidFill>
                  <a:schemeClr val="bg2"/>
                </a:solidFill>
                <a:latin typeface="Source Sans Pro" panose="020B0503030403020204" pitchFamily="34" charset="0"/>
              </a:rPr>
              <a:t>Imports are always put at the top of the file, just after any module comments and docstrings, and before module </a:t>
            </a:r>
            <a:r>
              <a:rPr lang="en-US" altLang="zh-CN" sz="1400" dirty="0" err="1">
                <a:solidFill>
                  <a:schemeClr val="bg2"/>
                </a:solidFill>
                <a:latin typeface="Source Sans Pro" panose="020B0503030403020204" pitchFamily="34" charset="0"/>
              </a:rPr>
              <a:t>globals</a:t>
            </a:r>
            <a:r>
              <a:rPr lang="en-US" altLang="zh-CN" sz="1400" dirty="0">
                <a:solidFill>
                  <a:schemeClr val="bg2"/>
                </a:solidFill>
                <a:latin typeface="Source Sans Pro" panose="020B0503030403020204" pitchFamily="34" charset="0"/>
              </a:rPr>
              <a:t> and constants.</a:t>
            </a:r>
            <a:endParaRPr lang="en-US" altLang="zh-CN" sz="1400" dirty="0">
              <a:solidFill>
                <a:schemeClr val="bg2"/>
              </a:solidFill>
              <a:latin typeface="Source Sans Pro" panose="020B0503030403020204" pitchFamily="34" charset="0"/>
            </a:endParaRPr>
          </a:p>
          <a:p>
            <a:pPr>
              <a:lnSpc>
                <a:spcPct val="114000"/>
              </a:lnSpc>
            </a:pPr>
            <a:r>
              <a:rPr lang="en-US" altLang="zh-CN" sz="1400" dirty="0">
                <a:solidFill>
                  <a:schemeClr val="bg2"/>
                </a:solidFill>
                <a:latin typeface="Source Sans Pro" panose="020B0503030403020204" pitchFamily="34" charset="0"/>
              </a:rPr>
              <a:t>Imports should be grouped in the following order:</a:t>
            </a:r>
            <a:endParaRPr lang="en-US" altLang="zh-CN" sz="1400" dirty="0">
              <a:solidFill>
                <a:schemeClr val="bg2"/>
              </a:solidFill>
              <a:latin typeface="Source Sans Pro" panose="020B0503030403020204" pitchFamily="34" charset="0"/>
            </a:endParaRPr>
          </a:p>
          <a:p>
            <a:pPr lvl="1">
              <a:lnSpc>
                <a:spcPct val="114000"/>
              </a:lnSpc>
            </a:pPr>
            <a:r>
              <a:rPr lang="en-US" altLang="zh-CN" sz="1200" dirty="0">
                <a:solidFill>
                  <a:schemeClr val="bg2"/>
                </a:solidFill>
                <a:latin typeface="Source Sans Pro" panose="020B0503030403020204" pitchFamily="34" charset="0"/>
              </a:rPr>
              <a:t>Standard library imports.</a:t>
            </a:r>
            <a:endParaRPr lang="en-US" altLang="zh-CN" sz="1200" dirty="0">
              <a:solidFill>
                <a:schemeClr val="bg2"/>
              </a:solidFill>
              <a:latin typeface="Source Sans Pro" panose="020B0503030403020204" pitchFamily="34" charset="0"/>
            </a:endParaRPr>
          </a:p>
          <a:p>
            <a:pPr lvl="1">
              <a:lnSpc>
                <a:spcPct val="114000"/>
              </a:lnSpc>
            </a:pPr>
            <a:r>
              <a:rPr lang="en-US" altLang="zh-CN" sz="1200" dirty="0">
                <a:solidFill>
                  <a:schemeClr val="bg2"/>
                </a:solidFill>
                <a:latin typeface="Source Sans Pro" panose="020B0503030403020204" pitchFamily="34" charset="0"/>
              </a:rPr>
              <a:t>Related third party imports.</a:t>
            </a:r>
            <a:endParaRPr lang="en-US" altLang="zh-CN" sz="1200" dirty="0">
              <a:solidFill>
                <a:schemeClr val="bg2"/>
              </a:solidFill>
              <a:latin typeface="Source Sans Pro" panose="020B0503030403020204" pitchFamily="34" charset="0"/>
            </a:endParaRPr>
          </a:p>
          <a:p>
            <a:pPr lvl="1">
              <a:lnSpc>
                <a:spcPct val="114000"/>
              </a:lnSpc>
            </a:pPr>
            <a:r>
              <a:rPr lang="en-US" altLang="zh-CN" sz="1200" dirty="0">
                <a:solidFill>
                  <a:schemeClr val="bg2"/>
                </a:solidFill>
                <a:latin typeface="Source Sans Pro" panose="020B0503030403020204" pitchFamily="34" charset="0"/>
              </a:rPr>
              <a:t>Local application/library specific imports.</a:t>
            </a:r>
            <a:endParaRPr lang="en-US" altLang="zh-CN" sz="1200" dirty="0">
              <a:solidFill>
                <a:schemeClr val="bg2"/>
              </a:solidFill>
              <a:latin typeface="Source Sans Pro" panose="020B0503030403020204" pitchFamily="34" charset="0"/>
            </a:endParaRPr>
          </a:p>
          <a:p>
            <a:pPr>
              <a:lnSpc>
                <a:spcPct val="114000"/>
              </a:lnSpc>
            </a:pPr>
            <a:r>
              <a:rPr lang="en-US" altLang="zh-CN" sz="1400" dirty="0">
                <a:solidFill>
                  <a:schemeClr val="bg2"/>
                </a:solidFill>
                <a:latin typeface="Source Sans Pro" panose="020B0503030403020204" pitchFamily="34" charset="0"/>
              </a:rPr>
              <a:t>You should put a blank line between each group of imports.</a:t>
            </a:r>
            <a:endParaRPr lang="en-US" altLang="zh-CN" sz="1400" dirty="0">
              <a:solidFill>
                <a:schemeClr val="bg2"/>
              </a:solidFill>
              <a:latin typeface="Source Sans Pro" panose="020B0503030403020204" pitchFamily="34" charset="0"/>
            </a:endParaRPr>
          </a:p>
          <a:p>
            <a:pPr>
              <a:lnSpc>
                <a:spcPct val="114000"/>
              </a:lnSpc>
            </a:pPr>
            <a:r>
              <a:rPr lang="en-US" altLang="zh-CN" sz="1400" dirty="0">
                <a:solidFill>
                  <a:schemeClr val="bg2"/>
                </a:solidFill>
                <a:latin typeface="Source Sans Pro" panose="020B0503030403020204" pitchFamily="34" charset="0"/>
              </a:rPr>
              <a:t>Absolute imports are recommended, as they are usually more readable and tend to be better behaved</a:t>
            </a:r>
            <a:endParaRPr lang="en-US" altLang="zh-CN" sz="1400" dirty="0">
              <a:solidFill>
                <a:schemeClr val="bg2"/>
              </a:solidFill>
              <a:latin typeface="Source Sans Pro" panose="020B0503030403020204" pitchFamily="34" charset="0"/>
            </a:endParaRPr>
          </a:p>
          <a:p>
            <a:pPr>
              <a:lnSpc>
                <a:spcPct val="114000"/>
              </a:lnSpc>
            </a:pPr>
            <a:r>
              <a:rPr lang="en-US" altLang="zh-CN" sz="1400" dirty="0">
                <a:solidFill>
                  <a:schemeClr val="bg2"/>
                </a:solidFill>
                <a:latin typeface="Source Sans Pro" panose="020B0503030403020204" pitchFamily="34" charset="0"/>
              </a:rPr>
              <a:t>Wildcard imports (from &lt;module&gt; import *) </a:t>
            </a:r>
            <a:r>
              <a:rPr lang="en-US" altLang="zh-CN" sz="1400" dirty="0">
                <a:solidFill>
                  <a:srgbClr val="FF0000"/>
                </a:solidFill>
                <a:latin typeface="Source Sans Pro" panose="020B0503030403020204" pitchFamily="34" charset="0"/>
              </a:rPr>
              <a:t>should be avoided</a:t>
            </a:r>
            <a:endParaRPr lang="en-US" altLang="zh-CN" sz="1400" dirty="0">
              <a:solidFill>
                <a:srgbClr val="FF0000"/>
              </a:solidFill>
              <a:latin typeface="Source Sans Pro" panose="020B0503030403020204" pitchFamily="34" charset="0"/>
            </a:endParaRPr>
          </a:p>
          <a:p>
            <a:pPr>
              <a:lnSpc>
                <a:spcPct val="114000"/>
              </a:lnSpc>
            </a:pPr>
            <a:r>
              <a:rPr lang="en-US" altLang="zh-CN" sz="1400" dirty="0">
                <a:solidFill>
                  <a:srgbClr val="FF0000"/>
                </a:solidFill>
                <a:latin typeface="Source Sans Pro" panose="020B0503030403020204" pitchFamily="34" charset="0"/>
              </a:rPr>
              <a:t>导入始终放在文件顶部，紧挨着任何模块注释和文档字符串之后，以及模块全局变量和常量之前。</a:t>
            </a:r>
            <a:endParaRPr lang="en-US" altLang="zh-CN" sz="1400" dirty="0">
              <a:solidFill>
                <a:srgbClr val="FF0000"/>
              </a:solidFill>
              <a:latin typeface="Source Sans Pro" panose="020B0503030403020204" pitchFamily="34" charset="0"/>
            </a:endParaRPr>
          </a:p>
          <a:p>
            <a:pPr>
              <a:lnSpc>
                <a:spcPct val="114000"/>
              </a:lnSpc>
            </a:pPr>
            <a:r>
              <a:rPr lang="en-US" altLang="zh-CN" sz="1400" dirty="0">
                <a:solidFill>
                  <a:srgbClr val="FF0000"/>
                </a:solidFill>
                <a:latin typeface="Source Sans Pro" panose="020B0503030403020204" pitchFamily="34" charset="0"/>
              </a:rPr>
              <a:t>导入应按以下顺序分组：</a:t>
            </a:r>
            <a:endParaRPr lang="en-US" altLang="zh-CN" sz="1400" dirty="0">
              <a:solidFill>
                <a:srgbClr val="FF0000"/>
              </a:solidFill>
              <a:latin typeface="Source Sans Pro" panose="020B0503030403020204" pitchFamily="34" charset="0"/>
            </a:endParaRPr>
          </a:p>
          <a:p>
            <a:pPr>
              <a:lnSpc>
                <a:spcPct val="114000"/>
              </a:lnSpc>
            </a:pPr>
            <a:r>
              <a:rPr lang="en-US" altLang="zh-CN" sz="1400" dirty="0">
                <a:solidFill>
                  <a:srgbClr val="FF0000"/>
                </a:solidFill>
                <a:latin typeface="Source Sans Pro" panose="020B0503030403020204" pitchFamily="34" charset="0"/>
              </a:rPr>
              <a:t>标准库导入。</a:t>
            </a:r>
            <a:endParaRPr lang="en-US" altLang="zh-CN" sz="1400" dirty="0">
              <a:solidFill>
                <a:srgbClr val="FF0000"/>
              </a:solidFill>
              <a:latin typeface="Source Sans Pro" panose="020B0503030403020204" pitchFamily="34" charset="0"/>
            </a:endParaRPr>
          </a:p>
          <a:p>
            <a:pPr>
              <a:lnSpc>
                <a:spcPct val="114000"/>
              </a:lnSpc>
            </a:pPr>
            <a:r>
              <a:rPr lang="en-US" altLang="zh-CN" sz="1400" dirty="0">
                <a:solidFill>
                  <a:srgbClr val="FF0000"/>
                </a:solidFill>
                <a:latin typeface="Source Sans Pro" panose="020B0503030403020204" pitchFamily="34" charset="0"/>
              </a:rPr>
              <a:t>相关的第三方导入。</a:t>
            </a:r>
            <a:endParaRPr lang="en-US" altLang="zh-CN" sz="1400" dirty="0">
              <a:solidFill>
                <a:srgbClr val="FF0000"/>
              </a:solidFill>
              <a:latin typeface="Source Sans Pro" panose="020B0503030403020204" pitchFamily="34" charset="0"/>
            </a:endParaRPr>
          </a:p>
          <a:p>
            <a:pPr>
              <a:lnSpc>
                <a:spcPct val="114000"/>
              </a:lnSpc>
            </a:pPr>
            <a:r>
              <a:rPr lang="en-US" altLang="zh-CN" sz="1400" dirty="0">
                <a:solidFill>
                  <a:srgbClr val="FF0000"/>
                </a:solidFill>
                <a:latin typeface="Source Sans Pro" panose="020B0503030403020204" pitchFamily="34" charset="0"/>
              </a:rPr>
              <a:t>特定于本地应用程序/库的导入。</a:t>
            </a:r>
            <a:endParaRPr lang="en-US" altLang="zh-CN" sz="1400" dirty="0">
              <a:solidFill>
                <a:srgbClr val="FF0000"/>
              </a:solidFill>
              <a:latin typeface="Source Sans Pro" panose="020B0503030403020204" pitchFamily="34" charset="0"/>
            </a:endParaRPr>
          </a:p>
          <a:p>
            <a:pPr>
              <a:lnSpc>
                <a:spcPct val="114000"/>
              </a:lnSpc>
            </a:pPr>
            <a:r>
              <a:rPr lang="en-US" altLang="zh-CN" sz="1400" dirty="0">
                <a:solidFill>
                  <a:srgbClr val="FF0000"/>
                </a:solidFill>
                <a:latin typeface="Source Sans Pro" panose="020B0503030403020204" pitchFamily="34" charset="0"/>
              </a:rPr>
              <a:t>您应该在每组导入之间留一个空行。</a:t>
            </a:r>
            <a:endParaRPr lang="en-US" altLang="zh-CN" sz="1400" dirty="0">
              <a:solidFill>
                <a:srgbClr val="FF0000"/>
              </a:solidFill>
              <a:latin typeface="Source Sans Pro" panose="020B0503030403020204" pitchFamily="34" charset="0"/>
            </a:endParaRPr>
          </a:p>
          <a:p>
            <a:pPr>
              <a:lnSpc>
                <a:spcPct val="114000"/>
              </a:lnSpc>
            </a:pPr>
            <a:r>
              <a:rPr lang="en-US" altLang="zh-CN" sz="1400" dirty="0">
                <a:solidFill>
                  <a:srgbClr val="FF0000"/>
                </a:solidFill>
                <a:latin typeface="Source Sans Pro" panose="020B0503030403020204" pitchFamily="34" charset="0"/>
              </a:rPr>
              <a:t>建议使用绝对导入，因为它们通常更具可读性，并且往往表现得更好</a:t>
            </a:r>
            <a:endParaRPr lang="en-US" altLang="zh-CN" sz="1400" dirty="0">
              <a:solidFill>
                <a:srgbClr val="FF0000"/>
              </a:solidFill>
              <a:latin typeface="Source Sans Pro" panose="020B0503030403020204" pitchFamily="34" charset="0"/>
            </a:endParaRPr>
          </a:p>
          <a:p>
            <a:pPr>
              <a:lnSpc>
                <a:spcPct val="114000"/>
              </a:lnSpc>
            </a:pPr>
            <a:r>
              <a:rPr lang="en-US" altLang="zh-CN" sz="1400" dirty="0">
                <a:solidFill>
                  <a:srgbClr val="FF0000"/>
                </a:solidFill>
                <a:latin typeface="Source Sans Pro" panose="020B0503030403020204" pitchFamily="34" charset="0"/>
              </a:rPr>
              <a:t>应避免通配符导入（来自&lt;module&gt;导入 *）</a:t>
            </a:r>
            <a:endParaRPr lang="en-US" altLang="zh-CN" sz="1400" dirty="0">
              <a:solidFill>
                <a:srgbClr val="FF0000"/>
              </a:solidFill>
              <a:latin typeface="Source Sans Pro" panose="020B0503030403020204" pitchFamily="34" charset="0"/>
            </a:endParaRPr>
          </a:p>
        </p:txBody>
      </p:sp>
      <p:pic>
        <p:nvPicPr>
          <p:cNvPr id="5" name="图片 4" descr="图片包含 图形用户界面&#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764825" y="1056250"/>
            <a:ext cx="2800350" cy="1057275"/>
          </a:xfrm>
          <a:prstGeom prst="rect">
            <a:avLst/>
          </a:prstGeom>
        </p:spPr>
      </p:pic>
      <p:pic>
        <p:nvPicPr>
          <p:cNvPr id="6" name="图片 5" descr="图片包含 文本&#10;&#10;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90746" y="3220012"/>
            <a:ext cx="1895475" cy="800100"/>
          </a:xfrm>
          <a:prstGeom prst="rect">
            <a:avLst/>
          </a:prstGeom>
        </p:spPr>
      </p:pic>
      <p:pic>
        <p:nvPicPr>
          <p:cNvPr id="7" name="图片 6" descr="徽标&#10;&#10;低可信度描述已自动生成"/>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42493" y="3220012"/>
            <a:ext cx="3067050" cy="838200"/>
          </a:xfrm>
          <a:prstGeom prst="rect">
            <a:avLst/>
          </a:prstGeom>
        </p:spPr>
      </p:pic>
      <p:sp>
        <p:nvSpPr>
          <p:cNvPr id="9" name="文本框 8"/>
          <p:cNvSpPr txBox="1"/>
          <p:nvPr/>
        </p:nvSpPr>
        <p:spPr>
          <a:xfrm>
            <a:off x="7565457" y="974298"/>
            <a:ext cx="1053967" cy="307777"/>
          </a:xfrm>
          <a:prstGeom prst="rect">
            <a:avLst/>
          </a:prstGeom>
          <a:noFill/>
        </p:spPr>
        <p:txBody>
          <a:bodyPr wrap="square">
            <a:spAutoFit/>
          </a:bodyPr>
          <a:lstStyle/>
          <a:p>
            <a:r>
              <a:rPr lang="en-US" altLang="zh-CN" dirty="0">
                <a:solidFill>
                  <a:schemeClr val="bg2"/>
                </a:solidFill>
                <a:latin typeface="Source Sans Pro" panose="020B0503030403020204" pitchFamily="34" charset="0"/>
                <a:ea typeface="Source Sans Pro" panose="020B0503030403020204" pitchFamily="34" charset="0"/>
              </a:rPr>
              <a:t>From </a:t>
            </a:r>
            <a:r>
              <a:rPr lang="en-US" altLang="zh-CN" dirty="0" err="1">
                <a:solidFill>
                  <a:schemeClr val="bg2"/>
                </a:solidFill>
                <a:latin typeface="Source Sans Pro" panose="020B0503030403020204" pitchFamily="34" charset="0"/>
                <a:ea typeface="Source Sans Pro" panose="020B0503030403020204" pitchFamily="34" charset="0"/>
              </a:rPr>
              <a:t>Lec</a:t>
            </a:r>
            <a:r>
              <a:rPr lang="en-US" altLang="zh-CN" dirty="0">
                <a:solidFill>
                  <a:schemeClr val="bg2"/>
                </a:solidFill>
                <a:latin typeface="Source Sans Pro" panose="020B0503030403020204" pitchFamily="34" charset="0"/>
                <a:ea typeface="Source Sans Pro" panose="020B0503030403020204" pitchFamily="34" charset="0"/>
              </a:rPr>
              <a:t>. 8</a:t>
            </a:r>
            <a:endParaRPr lang="zh-CN" altLang="en-US" dirty="0">
              <a:solidFill>
                <a:schemeClr val="bg2"/>
              </a:solidFill>
              <a:latin typeface="Source Sans Pro" panose="020B0503030403020204" pitchFamily="34" charset="0"/>
              <a:ea typeface="黑体" panose="02010609060101010101" pitchFamily="49"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solidFill>
                  <a:schemeClr val="tx1"/>
                </a:solidFill>
                <a:latin typeface="Raleway" pitchFamily="34" charset="0"/>
                <a:ea typeface="Source Sans Pro" panose="020B0503030403020204" pitchFamily="34" charset="0"/>
              </a:rPr>
              <a:t>Must Know </a:t>
            </a:r>
            <a:r>
              <a:rPr lang="en-US" altLang="zh-CN" dirty="0">
                <a:latin typeface="Raleway" pitchFamily="34" charset="0"/>
                <a:ea typeface="Source Sans Pro" panose="020B0503030403020204" pitchFamily="34" charset="0"/>
              </a:rPr>
              <a:t>Useful Module</a:t>
            </a:r>
            <a:endParaRPr lang="en-US" altLang="zh-CN" dirty="0">
              <a:solidFill>
                <a:srgbClr val="C00000"/>
              </a:solidFill>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85" y="1282065"/>
            <a:ext cx="4667885" cy="3416300"/>
          </a:xfrm>
        </p:spPr>
        <p:txBody>
          <a:bodyPr>
            <a:noAutofit/>
          </a:bodyPr>
          <a:lstStyle/>
          <a:p>
            <a:pPr marL="114300" indent="0">
              <a:lnSpc>
                <a:spcPct val="114000"/>
              </a:lnSpc>
              <a:buNone/>
            </a:pPr>
            <a:r>
              <a:rPr lang="en-US" altLang="zh-CN" sz="1400" dirty="0">
                <a:solidFill>
                  <a:srgbClr val="FF0000"/>
                </a:solidFill>
                <a:latin typeface="Source Sans Pro" panose="020B0503030403020204" pitchFamily="34" charset="0"/>
              </a:rPr>
              <a:t>Top 2</a:t>
            </a:r>
            <a:endParaRPr lang="en-US" altLang="zh-CN" sz="1400" dirty="0">
              <a:solidFill>
                <a:srgbClr val="FF0000"/>
              </a:solidFill>
              <a:latin typeface="Source Sans Pro" panose="020B0503030403020204" pitchFamily="34" charset="0"/>
            </a:endParaRPr>
          </a:p>
          <a:p>
            <a:pPr>
              <a:lnSpc>
                <a:spcPct val="114000"/>
              </a:lnSpc>
            </a:pPr>
            <a:r>
              <a:rPr lang="en-US" altLang="zh-CN" sz="1400" dirty="0">
                <a:solidFill>
                  <a:schemeClr val="bg2"/>
                </a:solidFill>
                <a:latin typeface="Source Sans Pro" panose="020B0503030403020204" pitchFamily="34" charset="0"/>
              </a:rPr>
              <a:t>Matplotlib : plot figures</a:t>
            </a:r>
            <a:endParaRPr lang="en-US" altLang="zh-CN" sz="1400" dirty="0">
              <a:solidFill>
                <a:schemeClr val="bg2"/>
              </a:solidFill>
              <a:latin typeface="Source Sans Pro" panose="020B0503030403020204" pitchFamily="34" charset="0"/>
            </a:endParaRPr>
          </a:p>
          <a:p>
            <a:pPr>
              <a:lnSpc>
                <a:spcPct val="114000"/>
              </a:lnSpc>
            </a:pPr>
            <a:r>
              <a:rPr lang="en-US" altLang="zh-CN" sz="1400" dirty="0" err="1">
                <a:solidFill>
                  <a:schemeClr val="bg2"/>
                </a:solidFill>
                <a:latin typeface="Source Sans Pro" panose="020B0503030403020204" pitchFamily="34" charset="0"/>
              </a:rPr>
              <a:t>Numpy</a:t>
            </a:r>
            <a:r>
              <a:rPr lang="en-US" altLang="zh-CN" sz="1400" dirty="0">
                <a:solidFill>
                  <a:schemeClr val="bg2"/>
                </a:solidFill>
                <a:latin typeface="Source Sans Pro" panose="020B0503030403020204" pitchFamily="34" charset="0"/>
              </a:rPr>
              <a:t>: numerical computing</a:t>
            </a:r>
            <a:endParaRPr lang="en-US" altLang="zh-CN" sz="1400" dirty="0">
              <a:solidFill>
                <a:schemeClr val="bg2"/>
              </a:solidFill>
              <a:latin typeface="Source Sans Pro" panose="020B0503030403020204" pitchFamily="34" charset="0"/>
            </a:endParaRPr>
          </a:p>
          <a:p>
            <a:pPr marL="114300" indent="0">
              <a:lnSpc>
                <a:spcPct val="114000"/>
              </a:lnSpc>
              <a:buNone/>
            </a:pPr>
            <a:r>
              <a:rPr lang="en-US" altLang="zh-CN" sz="1400" dirty="0">
                <a:solidFill>
                  <a:schemeClr val="bg2"/>
                </a:solidFill>
                <a:latin typeface="Source Sans Pro" panose="020B0503030403020204" pitchFamily="34" charset="0"/>
              </a:rPr>
              <a:t>Others</a:t>
            </a:r>
            <a:endParaRPr lang="en-US" altLang="zh-CN" sz="1400" dirty="0">
              <a:solidFill>
                <a:schemeClr val="bg2"/>
              </a:solidFill>
              <a:latin typeface="Source Sans Pro" panose="020B0503030403020204" pitchFamily="34" charset="0"/>
            </a:endParaRPr>
          </a:p>
          <a:p>
            <a:pPr>
              <a:lnSpc>
                <a:spcPct val="114000"/>
              </a:lnSpc>
            </a:pPr>
            <a:r>
              <a:rPr lang="en-US" altLang="zh-CN" sz="1400" dirty="0" err="1">
                <a:solidFill>
                  <a:schemeClr val="bg2"/>
                </a:solidFill>
                <a:latin typeface="Source Sans Pro" panose="020B0503030403020204" pitchFamily="34" charset="0"/>
              </a:rPr>
              <a:t>Scipy</a:t>
            </a:r>
            <a:r>
              <a:rPr lang="en-US" altLang="zh-CN" sz="1400" dirty="0">
                <a:solidFill>
                  <a:schemeClr val="bg2"/>
                </a:solidFill>
                <a:latin typeface="Source Sans Pro" panose="020B0503030403020204" pitchFamily="34" charset="0"/>
              </a:rPr>
              <a:t>: scientific computing</a:t>
            </a:r>
            <a:endParaRPr lang="en-US" altLang="zh-CN" sz="1400" dirty="0">
              <a:solidFill>
                <a:schemeClr val="bg2"/>
              </a:solidFill>
              <a:latin typeface="Source Sans Pro" panose="020B0503030403020204" pitchFamily="34" charset="0"/>
            </a:endParaRPr>
          </a:p>
          <a:p>
            <a:pPr>
              <a:lnSpc>
                <a:spcPct val="114000"/>
              </a:lnSpc>
            </a:pPr>
            <a:r>
              <a:rPr lang="en-US" altLang="zh-CN" sz="1400" dirty="0">
                <a:solidFill>
                  <a:schemeClr val="bg2"/>
                </a:solidFill>
                <a:latin typeface="Source Sans Pro" panose="020B0503030403020204" pitchFamily="34" charset="0"/>
              </a:rPr>
              <a:t>Pandas: data analysis</a:t>
            </a:r>
            <a:endParaRPr lang="en-US" altLang="zh-CN" sz="1400" dirty="0">
              <a:solidFill>
                <a:schemeClr val="bg2"/>
              </a:solidFill>
              <a:latin typeface="Source Sans Pro" panose="020B0503030403020204" pitchFamily="34" charset="0"/>
            </a:endParaRPr>
          </a:p>
          <a:p>
            <a:pPr>
              <a:lnSpc>
                <a:spcPct val="114000"/>
              </a:lnSpc>
            </a:pPr>
            <a:r>
              <a:rPr lang="en-US" altLang="zh-CN" sz="1400" dirty="0">
                <a:solidFill>
                  <a:schemeClr val="bg2"/>
                </a:solidFill>
                <a:latin typeface="Source Sans Pro" panose="020B0503030403020204" pitchFamily="34" charset="0"/>
              </a:rPr>
              <a:t>Scrapy: Crawler</a:t>
            </a:r>
            <a:endParaRPr lang="en-US" altLang="zh-CN" sz="1400" dirty="0">
              <a:solidFill>
                <a:schemeClr val="bg2"/>
              </a:solidFill>
              <a:latin typeface="Source Sans Pro" panose="020B0503030403020204" pitchFamily="34" charset="0"/>
            </a:endParaRPr>
          </a:p>
          <a:p>
            <a:pPr>
              <a:lnSpc>
                <a:spcPct val="114000"/>
              </a:lnSpc>
            </a:pPr>
            <a:r>
              <a:rPr lang="en-US" altLang="zh-CN" sz="1400" dirty="0">
                <a:solidFill>
                  <a:schemeClr val="bg2"/>
                </a:solidFill>
                <a:latin typeface="Source Sans Pro" panose="020B0503030403020204" pitchFamily="34" charset="0"/>
              </a:rPr>
              <a:t>Beautiful soup: pulling data out of HTML and XML files</a:t>
            </a:r>
            <a:endParaRPr lang="en-US" altLang="zh-CN" sz="1400" dirty="0">
              <a:solidFill>
                <a:schemeClr val="bg2"/>
              </a:solidFill>
              <a:latin typeface="Source Sans Pro" panose="020B0503030403020204" pitchFamily="34" charset="0"/>
            </a:endParaRPr>
          </a:p>
          <a:p>
            <a:pPr>
              <a:lnSpc>
                <a:spcPct val="114000"/>
              </a:lnSpc>
            </a:pPr>
            <a:r>
              <a:rPr lang="en-US" altLang="zh-CN" sz="1400" dirty="0">
                <a:solidFill>
                  <a:schemeClr val="bg2"/>
                </a:solidFill>
                <a:latin typeface="Source Sans Pro" panose="020B0503030403020204" pitchFamily="34" charset="0"/>
              </a:rPr>
              <a:t>Game</a:t>
            </a:r>
            <a:endParaRPr lang="en-US" altLang="zh-CN" sz="1400" dirty="0">
              <a:solidFill>
                <a:schemeClr val="bg2"/>
              </a:solidFill>
              <a:latin typeface="Source Sans Pro" panose="020B0503030403020204" pitchFamily="34" charset="0"/>
            </a:endParaRPr>
          </a:p>
          <a:p>
            <a:pPr lvl="1">
              <a:lnSpc>
                <a:spcPct val="114000"/>
              </a:lnSpc>
            </a:pPr>
            <a:r>
              <a:rPr lang="en-US" altLang="zh-CN" sz="1200" dirty="0" err="1">
                <a:solidFill>
                  <a:schemeClr val="bg2"/>
                </a:solidFill>
                <a:latin typeface="Source Sans Pro" panose="020B0503030403020204" pitchFamily="34" charset="0"/>
              </a:rPr>
              <a:t>Pygame</a:t>
            </a:r>
            <a:r>
              <a:rPr lang="en-US" altLang="zh-CN" sz="1200" dirty="0">
                <a:solidFill>
                  <a:schemeClr val="bg2"/>
                </a:solidFill>
                <a:latin typeface="Source Sans Pro" panose="020B0503030403020204" pitchFamily="34" charset="0"/>
              </a:rPr>
              <a:t>:    pip3 install </a:t>
            </a:r>
            <a:r>
              <a:rPr lang="en-US" altLang="zh-CN" sz="1200" dirty="0" err="1">
                <a:solidFill>
                  <a:schemeClr val="bg2"/>
                </a:solidFill>
                <a:latin typeface="Source Sans Pro" panose="020B0503030403020204" pitchFamily="34" charset="0"/>
              </a:rPr>
              <a:t>pygame</a:t>
            </a:r>
            <a:endParaRPr lang="en-US" altLang="zh-CN" sz="1200" dirty="0">
              <a:solidFill>
                <a:schemeClr val="bg2"/>
              </a:solidFill>
              <a:latin typeface="Source Sans Pro" panose="020B0503030403020204" pitchFamily="34" charset="0"/>
            </a:endParaRPr>
          </a:p>
          <a:p>
            <a:pPr marL="596900" lvl="1" indent="0">
              <a:lnSpc>
                <a:spcPct val="114000"/>
              </a:lnSpc>
              <a:buNone/>
            </a:pPr>
            <a:r>
              <a:rPr lang="en-US" altLang="zh-CN" sz="1200" dirty="0">
                <a:solidFill>
                  <a:schemeClr val="bg2"/>
                </a:solidFill>
                <a:latin typeface="Source Sans Pro" panose="020B0503030403020204" pitchFamily="34" charset="0"/>
              </a:rPr>
              <a:t>	To see if it works, run one of the included examples:</a:t>
            </a:r>
            <a:endParaRPr lang="en-US" altLang="zh-CN" sz="1200" dirty="0">
              <a:solidFill>
                <a:schemeClr val="bg2"/>
              </a:solidFill>
              <a:latin typeface="Source Sans Pro" panose="020B0503030403020204" pitchFamily="34" charset="0"/>
            </a:endParaRPr>
          </a:p>
          <a:p>
            <a:pPr marL="596900" lvl="1" indent="0">
              <a:lnSpc>
                <a:spcPct val="114000"/>
              </a:lnSpc>
              <a:buNone/>
            </a:pPr>
            <a:r>
              <a:rPr lang="en-US" altLang="zh-CN" sz="1200" dirty="0">
                <a:solidFill>
                  <a:schemeClr val="bg2"/>
                </a:solidFill>
                <a:latin typeface="Source Sans Pro" panose="020B0503030403020204" pitchFamily="34" charset="0"/>
              </a:rPr>
              <a:t>	python3 -m </a:t>
            </a:r>
            <a:r>
              <a:rPr lang="en-US" altLang="zh-CN" sz="1200" dirty="0" err="1">
                <a:solidFill>
                  <a:schemeClr val="bg2"/>
                </a:solidFill>
                <a:latin typeface="Source Sans Pro" panose="020B0503030403020204" pitchFamily="34" charset="0"/>
              </a:rPr>
              <a:t>pygame.examples.aliens</a:t>
            </a:r>
            <a:endParaRPr lang="en-US" altLang="zh-CN" sz="1200" dirty="0">
              <a:solidFill>
                <a:schemeClr val="bg2"/>
              </a:solidFill>
              <a:latin typeface="Source Sans Pro" panose="020B0503030403020204" pitchFamily="34" charset="0"/>
            </a:endParaRPr>
          </a:p>
        </p:txBody>
      </p:sp>
      <p:sp>
        <p:nvSpPr>
          <p:cNvPr id="4" name="文本框 3"/>
          <p:cNvSpPr txBox="1"/>
          <p:nvPr/>
        </p:nvSpPr>
        <p:spPr>
          <a:xfrm>
            <a:off x="2720975" y="1625600"/>
            <a:ext cx="1651000" cy="306705"/>
          </a:xfrm>
          <a:prstGeom prst="rect">
            <a:avLst/>
          </a:prstGeom>
          <a:noFill/>
        </p:spPr>
        <p:txBody>
          <a:bodyPr wrap="square" rtlCol="0">
            <a:spAutoFit/>
          </a:bodyPr>
          <a:p>
            <a:r>
              <a:rPr lang="zh-CN" altLang="en-US"/>
              <a:t>画图</a:t>
            </a:r>
            <a:endParaRPr lang="zh-CN" altLang="en-US"/>
          </a:p>
        </p:txBody>
      </p:sp>
      <p:sp>
        <p:nvSpPr>
          <p:cNvPr id="5" name="文本框 4"/>
          <p:cNvSpPr txBox="1"/>
          <p:nvPr/>
        </p:nvSpPr>
        <p:spPr>
          <a:xfrm>
            <a:off x="3180080" y="1884680"/>
            <a:ext cx="1873250" cy="306705"/>
          </a:xfrm>
          <a:prstGeom prst="rect">
            <a:avLst/>
          </a:prstGeom>
          <a:noFill/>
        </p:spPr>
        <p:txBody>
          <a:bodyPr wrap="square" rtlCol="0">
            <a:spAutoFit/>
          </a:bodyPr>
          <a:p>
            <a:r>
              <a:rPr lang="zh-CN" altLang="en-US"/>
              <a:t>数值</a:t>
            </a:r>
            <a:r>
              <a:rPr lang="zh-CN" altLang="en-US"/>
              <a:t>运算</a:t>
            </a:r>
            <a:endParaRPr lang="zh-CN" altLang="en-US"/>
          </a:p>
        </p:txBody>
      </p:sp>
      <p:sp>
        <p:nvSpPr>
          <p:cNvPr id="6" name="文本框 5"/>
          <p:cNvSpPr txBox="1"/>
          <p:nvPr/>
        </p:nvSpPr>
        <p:spPr>
          <a:xfrm>
            <a:off x="5182870" y="1342390"/>
            <a:ext cx="3565525" cy="2461260"/>
          </a:xfrm>
          <a:prstGeom prst="rect">
            <a:avLst/>
          </a:prstGeom>
          <a:noFill/>
        </p:spPr>
        <p:txBody>
          <a:bodyPr wrap="square" rtlCol="0">
            <a:spAutoFit/>
          </a:bodyPr>
          <a:p>
            <a:r>
              <a:rPr lang="zh-CN" altLang="en-US"/>
              <a:t>Scipy：科学计算</a:t>
            </a:r>
            <a:endParaRPr lang="zh-CN" altLang="en-US"/>
          </a:p>
          <a:p>
            <a:r>
              <a:rPr lang="zh-CN" altLang="en-US"/>
              <a:t>熊猫：数据分析</a:t>
            </a:r>
            <a:endParaRPr lang="zh-CN" altLang="en-US"/>
          </a:p>
          <a:p>
            <a:r>
              <a:rPr lang="zh-CN" altLang="en-US"/>
              <a:t>Scrapy：爬虫</a:t>
            </a:r>
            <a:endParaRPr lang="zh-CN" altLang="en-US"/>
          </a:p>
          <a:p>
            <a:r>
              <a:rPr lang="zh-CN" altLang="en-US"/>
              <a:t>美丽的汤：从 HTML 和 XML 文件中提取数据</a:t>
            </a:r>
            <a:endParaRPr lang="zh-CN" altLang="en-US"/>
          </a:p>
          <a:p>
            <a:r>
              <a:rPr lang="zh-CN" altLang="en-US"/>
              <a:t>游戏</a:t>
            </a:r>
            <a:endParaRPr lang="zh-CN" altLang="en-US"/>
          </a:p>
          <a:p>
            <a:r>
              <a:rPr lang="zh-CN" altLang="en-US"/>
              <a:t>pygame： pip3 安装 pygame</a:t>
            </a:r>
            <a:endParaRPr lang="zh-CN" altLang="en-US"/>
          </a:p>
          <a:p>
            <a:r>
              <a:rPr lang="zh-CN" altLang="en-US"/>
              <a:t>	若要查看它是否有效，请运行包含的示例之一：</a:t>
            </a:r>
            <a:endParaRPr lang="zh-CN" altLang="en-US"/>
          </a:p>
          <a:p>
            <a:r>
              <a:rPr lang="zh-CN" altLang="en-US"/>
              <a:t>	python3 -m pygame.examples.aliens</a:t>
            </a:r>
            <a:endParaRPr lang="zh-CN" alt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err="1">
                <a:latin typeface="Raleway" pitchFamily="34" charset="0"/>
                <a:ea typeface="Source Sans Pro" panose="020B0503030403020204" pitchFamily="34" charset="0"/>
              </a:rPr>
              <a:t>Numpy</a:t>
            </a:r>
            <a:endParaRPr lang="en-US" altLang="zh-CN" dirty="0">
              <a:solidFill>
                <a:srgbClr val="C00000"/>
              </a:solidFill>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1282075"/>
            <a:ext cx="8520600" cy="3416400"/>
          </a:xfrm>
        </p:spPr>
        <p:txBody>
          <a:bodyPr>
            <a:noAutofit/>
          </a:bodyPr>
          <a:lstStyle/>
          <a:p>
            <a:pPr>
              <a:lnSpc>
                <a:spcPct val="114000"/>
              </a:lnSpc>
            </a:pPr>
            <a:r>
              <a:rPr lang="en-US" altLang="zh-CN" sz="1400" dirty="0">
                <a:solidFill>
                  <a:schemeClr val="bg2"/>
                </a:solidFill>
                <a:latin typeface="Source Sans Pro" panose="020B0503030403020204" pitchFamily="34" charset="0"/>
              </a:rPr>
              <a:t>NumPy is the fundamental package for scientific computing with Python. </a:t>
            </a:r>
            <a:endParaRPr lang="en-US" altLang="zh-CN" sz="1400" dirty="0">
              <a:solidFill>
                <a:schemeClr val="bg2"/>
              </a:solidFill>
              <a:latin typeface="Source Sans Pro" panose="020B0503030403020204" pitchFamily="34" charset="0"/>
            </a:endParaRPr>
          </a:p>
          <a:p>
            <a:pPr>
              <a:lnSpc>
                <a:spcPct val="114000"/>
              </a:lnSpc>
            </a:pPr>
            <a:r>
              <a:rPr lang="en-US" altLang="zh-CN" sz="1400" dirty="0">
                <a:solidFill>
                  <a:schemeClr val="bg2"/>
                </a:solidFill>
                <a:latin typeface="Source Sans Pro" panose="020B0503030403020204" pitchFamily="34" charset="0"/>
              </a:rPr>
              <a:t>It contains among other things:</a:t>
            </a:r>
            <a:endParaRPr lang="en-US" altLang="zh-CN" sz="1400" dirty="0">
              <a:solidFill>
                <a:schemeClr val="bg2"/>
              </a:solidFill>
              <a:latin typeface="Source Sans Pro" panose="020B0503030403020204" pitchFamily="34" charset="0"/>
            </a:endParaRPr>
          </a:p>
          <a:p>
            <a:pPr lvl="1">
              <a:lnSpc>
                <a:spcPct val="114000"/>
              </a:lnSpc>
            </a:pPr>
            <a:r>
              <a:rPr lang="en-US" altLang="zh-CN" dirty="0">
                <a:solidFill>
                  <a:schemeClr val="bg2"/>
                </a:solidFill>
                <a:latin typeface="Source Sans Pro" panose="020B0503030403020204" pitchFamily="34" charset="0"/>
              </a:rPr>
              <a:t>a powerful N-dimensional array object</a:t>
            </a:r>
            <a:endParaRPr lang="en-US" altLang="zh-CN" dirty="0">
              <a:solidFill>
                <a:schemeClr val="bg2"/>
              </a:solidFill>
              <a:latin typeface="Source Sans Pro" panose="020B0503030403020204" pitchFamily="34" charset="0"/>
            </a:endParaRPr>
          </a:p>
          <a:p>
            <a:pPr lvl="1">
              <a:lnSpc>
                <a:spcPct val="114000"/>
              </a:lnSpc>
            </a:pPr>
            <a:r>
              <a:rPr lang="en-US" altLang="zh-CN" dirty="0">
                <a:solidFill>
                  <a:schemeClr val="bg2"/>
                </a:solidFill>
                <a:latin typeface="Source Sans Pro" panose="020B0503030403020204" pitchFamily="34" charset="0"/>
              </a:rPr>
              <a:t>sophisticated (broadcasting) functions</a:t>
            </a:r>
            <a:endParaRPr lang="en-US" altLang="zh-CN" dirty="0">
              <a:solidFill>
                <a:schemeClr val="bg2"/>
              </a:solidFill>
              <a:latin typeface="Source Sans Pro" panose="020B0503030403020204" pitchFamily="34" charset="0"/>
            </a:endParaRPr>
          </a:p>
          <a:p>
            <a:pPr lvl="1">
              <a:lnSpc>
                <a:spcPct val="114000"/>
              </a:lnSpc>
            </a:pPr>
            <a:r>
              <a:rPr lang="en-US" altLang="zh-CN" dirty="0">
                <a:solidFill>
                  <a:schemeClr val="bg2"/>
                </a:solidFill>
                <a:latin typeface="Source Sans Pro" panose="020B0503030403020204" pitchFamily="34" charset="0"/>
              </a:rPr>
              <a:t>tools for integrating C/C++ and Fortran code</a:t>
            </a:r>
            <a:endParaRPr lang="en-US" altLang="zh-CN" dirty="0">
              <a:solidFill>
                <a:schemeClr val="bg2"/>
              </a:solidFill>
              <a:latin typeface="Source Sans Pro" panose="020B0503030403020204" pitchFamily="34" charset="0"/>
            </a:endParaRPr>
          </a:p>
          <a:p>
            <a:pPr lvl="1">
              <a:lnSpc>
                <a:spcPct val="114000"/>
              </a:lnSpc>
            </a:pPr>
            <a:r>
              <a:rPr lang="en-US" altLang="zh-CN" dirty="0">
                <a:solidFill>
                  <a:schemeClr val="bg2"/>
                </a:solidFill>
                <a:latin typeface="Source Sans Pro" panose="020B0503030403020204" pitchFamily="34" charset="0"/>
              </a:rPr>
              <a:t>useful linear algebra, Fourier transform, and random number capabilities</a:t>
            </a:r>
            <a:endParaRPr lang="en-US" altLang="zh-CN" dirty="0">
              <a:solidFill>
                <a:schemeClr val="bg2"/>
              </a:solidFill>
              <a:latin typeface="Source Sans Pro" panose="020B0503030403020204" pitchFamily="34" charset="0"/>
            </a:endParaRPr>
          </a:p>
          <a:p>
            <a:pPr>
              <a:lnSpc>
                <a:spcPct val="114000"/>
              </a:lnSpc>
            </a:pPr>
            <a:r>
              <a:rPr lang="en-US" altLang="zh-CN" sz="1400" dirty="0">
                <a:solidFill>
                  <a:schemeClr val="tx1"/>
                </a:solidFill>
                <a:latin typeface="Source Sans Pro" panose="020B0503030403020204" pitchFamily="34" charset="0"/>
              </a:rPr>
              <a:t>https://numpy.org/</a:t>
            </a:r>
            <a:endParaRPr lang="en-US" altLang="zh-CN" sz="1400" dirty="0">
              <a:solidFill>
                <a:schemeClr val="tx1"/>
              </a:solidFill>
              <a:latin typeface="Source Sans Pro" panose="020B0503030403020204" pitchFamily="34" charset="0"/>
            </a:endParaRPr>
          </a:p>
          <a:p>
            <a:pPr>
              <a:lnSpc>
                <a:spcPct val="114000"/>
              </a:lnSpc>
            </a:pPr>
            <a:r>
              <a:rPr lang="en-US" altLang="zh-CN" sz="1400" dirty="0">
                <a:solidFill>
                  <a:schemeClr val="tx1"/>
                </a:solidFill>
                <a:latin typeface="Source Sans Pro" panose="020B0503030403020204" pitchFamily="34" charset="0"/>
              </a:rPr>
              <a:t>NumPy 是使用 Python 进行科学计算的基础包。</a:t>
            </a:r>
            <a:endParaRPr lang="en-US" altLang="zh-CN" sz="1400" dirty="0">
              <a:solidFill>
                <a:schemeClr val="tx1"/>
              </a:solidFill>
              <a:latin typeface="Source Sans Pro" panose="020B0503030403020204" pitchFamily="34" charset="0"/>
            </a:endParaRPr>
          </a:p>
          <a:p>
            <a:pPr>
              <a:lnSpc>
                <a:spcPct val="114000"/>
              </a:lnSpc>
            </a:pPr>
            <a:r>
              <a:rPr lang="en-US" altLang="zh-CN" sz="1400" dirty="0">
                <a:solidFill>
                  <a:schemeClr val="tx1"/>
                </a:solidFill>
                <a:latin typeface="Source Sans Pro" panose="020B0503030403020204" pitchFamily="34" charset="0"/>
              </a:rPr>
              <a:t>除其他外，它包含：</a:t>
            </a:r>
            <a:endParaRPr lang="en-US" altLang="zh-CN" sz="1400" dirty="0">
              <a:solidFill>
                <a:schemeClr val="tx1"/>
              </a:solidFill>
              <a:latin typeface="Source Sans Pro" panose="020B0503030403020204" pitchFamily="34" charset="0"/>
            </a:endParaRPr>
          </a:p>
          <a:p>
            <a:pPr>
              <a:lnSpc>
                <a:spcPct val="114000"/>
              </a:lnSpc>
            </a:pPr>
            <a:r>
              <a:rPr lang="en-US" altLang="zh-CN" sz="1400" dirty="0">
                <a:solidFill>
                  <a:schemeClr val="tx1"/>
                </a:solidFill>
                <a:latin typeface="Source Sans Pro" panose="020B0503030403020204" pitchFamily="34" charset="0"/>
              </a:rPr>
              <a:t>一个强大的 N 维数组对象</a:t>
            </a:r>
            <a:endParaRPr lang="en-US" altLang="zh-CN" sz="1400" dirty="0">
              <a:solidFill>
                <a:schemeClr val="tx1"/>
              </a:solidFill>
              <a:latin typeface="Source Sans Pro" panose="020B0503030403020204" pitchFamily="34" charset="0"/>
            </a:endParaRPr>
          </a:p>
          <a:p>
            <a:pPr>
              <a:lnSpc>
                <a:spcPct val="114000"/>
              </a:lnSpc>
            </a:pPr>
            <a:r>
              <a:rPr lang="en-US" altLang="zh-CN" sz="1400" dirty="0">
                <a:solidFill>
                  <a:schemeClr val="tx1"/>
                </a:solidFill>
                <a:latin typeface="Source Sans Pro" panose="020B0503030403020204" pitchFamily="34" charset="0"/>
              </a:rPr>
              <a:t>复杂的（广播）功能</a:t>
            </a:r>
            <a:endParaRPr lang="en-US" altLang="zh-CN" sz="1400" dirty="0">
              <a:solidFill>
                <a:schemeClr val="tx1"/>
              </a:solidFill>
              <a:latin typeface="Source Sans Pro" panose="020B0503030403020204" pitchFamily="34" charset="0"/>
            </a:endParaRPr>
          </a:p>
          <a:p>
            <a:pPr>
              <a:lnSpc>
                <a:spcPct val="114000"/>
              </a:lnSpc>
            </a:pPr>
            <a:r>
              <a:rPr lang="en-US" altLang="zh-CN" sz="1400" dirty="0">
                <a:solidFill>
                  <a:schemeClr val="tx1"/>
                </a:solidFill>
                <a:latin typeface="Source Sans Pro" panose="020B0503030403020204" pitchFamily="34" charset="0"/>
              </a:rPr>
              <a:t>用于集成 C/C++ 和 Fortran 代码的工具</a:t>
            </a:r>
            <a:endParaRPr lang="en-US" altLang="zh-CN" sz="1400" dirty="0">
              <a:solidFill>
                <a:schemeClr val="tx1"/>
              </a:solidFill>
              <a:latin typeface="Source Sans Pro" panose="020B0503030403020204" pitchFamily="34" charset="0"/>
            </a:endParaRPr>
          </a:p>
          <a:p>
            <a:pPr>
              <a:lnSpc>
                <a:spcPct val="114000"/>
              </a:lnSpc>
            </a:pPr>
            <a:r>
              <a:rPr lang="en-US" altLang="zh-CN" sz="1400" dirty="0">
                <a:solidFill>
                  <a:schemeClr val="tx1"/>
                </a:solidFill>
                <a:latin typeface="Source Sans Pro" panose="020B0503030403020204" pitchFamily="34" charset="0"/>
              </a:rPr>
              <a:t>有用的线性代数、傅里叶变换和随机数功能</a:t>
            </a:r>
            <a:endParaRPr lang="en-US" altLang="zh-CN" sz="1400" dirty="0">
              <a:solidFill>
                <a:schemeClr val="tx1"/>
              </a:solidFill>
              <a:latin typeface="Source Sans Pro" panose="020B0503030403020204" pitchFamily="34" charset="0"/>
            </a:endParaRPr>
          </a:p>
        </p:txBody>
      </p:sp>
      <p:pic>
        <p:nvPicPr>
          <p:cNvPr id="4" name="Picture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967064" y="883617"/>
            <a:ext cx="1865236" cy="3376266"/>
          </a:xfrm>
          <a:prstGeom prst="rect">
            <a:avLst/>
          </a:prstGeom>
        </p:spPr>
      </p:pic>
      <p:sp>
        <p:nvSpPr>
          <p:cNvPr id="6" name="Rectangle 4"/>
          <p:cNvSpPr/>
          <p:nvPr/>
        </p:nvSpPr>
        <p:spPr>
          <a:xfrm>
            <a:off x="7899682" y="4521112"/>
            <a:ext cx="938463" cy="283026"/>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b="1" dirty="0">
                <a:solidFill>
                  <a:schemeClr val="tx1"/>
                </a:solidFill>
                <a:latin typeface="黑体" panose="02010609060101010101" pitchFamily="49" charset="-122"/>
                <a:ea typeface="黑体" panose="02010609060101010101" pitchFamily="49" charset="-122"/>
              </a:rPr>
              <a:t>务必自学</a:t>
            </a:r>
            <a:endParaRPr lang="zh-CN" altLang="en-US" sz="1200" b="1" dirty="0">
              <a:solidFill>
                <a:schemeClr val="tx1"/>
              </a:solidFill>
              <a:latin typeface="黑体" panose="02010609060101010101" pitchFamily="49" charset="-122"/>
              <a:ea typeface="黑体" panose="02010609060101010101" pitchFamily="49"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Matplotlib</a:t>
            </a:r>
            <a:endParaRPr lang="en-US" altLang="zh-CN" dirty="0">
              <a:solidFill>
                <a:srgbClr val="C00000"/>
              </a:solidFill>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1282075"/>
            <a:ext cx="8520600" cy="3416400"/>
          </a:xfrm>
        </p:spPr>
        <p:txBody>
          <a:bodyPr>
            <a:noAutofit/>
          </a:bodyPr>
          <a:lstStyle/>
          <a:p>
            <a:pPr>
              <a:lnSpc>
                <a:spcPct val="114000"/>
              </a:lnSpc>
            </a:pPr>
            <a:r>
              <a:rPr lang="en-US" altLang="zh-CN" sz="1400" dirty="0">
                <a:solidFill>
                  <a:schemeClr val="bg2"/>
                </a:solidFill>
                <a:latin typeface="Source Sans Pro" panose="020B0503030403020204" pitchFamily="34" charset="0"/>
              </a:rPr>
              <a:t>Matplotlib is a Python 2D plotting library which produces publication quality figures in a variety of hardcopy formats and interactive environments across platforms. Matplotlib can be used in Python scripts, the Python and </a:t>
            </a:r>
            <a:r>
              <a:rPr lang="en-US" altLang="zh-CN" sz="1400" dirty="0" err="1">
                <a:solidFill>
                  <a:schemeClr val="tx1"/>
                </a:solidFill>
                <a:latin typeface="Source Sans Pro" panose="020B0503030403020204" pitchFamily="34" charset="0"/>
              </a:rPr>
              <a:t>IPython</a:t>
            </a:r>
            <a:r>
              <a:rPr lang="en-US" altLang="zh-CN" sz="1400" dirty="0">
                <a:solidFill>
                  <a:schemeClr val="bg2"/>
                </a:solidFill>
                <a:latin typeface="Source Sans Pro" panose="020B0503030403020204" pitchFamily="34" charset="0"/>
              </a:rPr>
              <a:t> shells, the </a:t>
            </a:r>
            <a:r>
              <a:rPr lang="en-US" altLang="zh-CN" sz="1400" dirty="0" err="1">
                <a:solidFill>
                  <a:schemeClr val="tx1"/>
                </a:solidFill>
                <a:latin typeface="Source Sans Pro" panose="020B0503030403020204" pitchFamily="34" charset="0"/>
              </a:rPr>
              <a:t>Jupyter</a:t>
            </a:r>
            <a:r>
              <a:rPr lang="en-US" altLang="zh-CN" sz="1400" dirty="0">
                <a:solidFill>
                  <a:schemeClr val="bg2"/>
                </a:solidFill>
                <a:latin typeface="Source Sans Pro" panose="020B0503030403020204" pitchFamily="34" charset="0"/>
              </a:rPr>
              <a:t> notebook, web application servers, and four graphical user interface toolkits. </a:t>
            </a:r>
            <a:endParaRPr lang="en-US" altLang="zh-CN" sz="1400" dirty="0">
              <a:solidFill>
                <a:schemeClr val="bg2"/>
              </a:solidFill>
              <a:latin typeface="Source Sans Pro" panose="020B0503030403020204" pitchFamily="34" charset="0"/>
            </a:endParaRPr>
          </a:p>
          <a:p>
            <a:pPr>
              <a:lnSpc>
                <a:spcPct val="114000"/>
              </a:lnSpc>
            </a:pPr>
            <a:r>
              <a:rPr lang="en-US" altLang="zh-CN" sz="1400" dirty="0">
                <a:solidFill>
                  <a:schemeClr val="bg2"/>
                </a:solidFill>
                <a:latin typeface="Source Sans Pro" panose="020B0503030403020204" pitchFamily="34" charset="0"/>
              </a:rPr>
              <a:t>Matplotlib 是一个 Python 2D 绘图库，它以各种硬拷贝格式和跨平台的交互式环境生成出版质量的图形。Matplotlib 可用于 Python 脚本、Python 和 IPython shell、Jupyter 笔记本、Web 应用程序服务器和四个图形用户界面工具包。</a:t>
            </a:r>
            <a:endParaRPr lang="en-US" altLang="zh-CN" sz="1400" dirty="0">
              <a:solidFill>
                <a:schemeClr val="bg2"/>
              </a:solidFill>
              <a:latin typeface="Source Sans Pro" panose="020B0503030403020204" pitchFamily="34" charset="0"/>
            </a:endParaRPr>
          </a:p>
          <a:p>
            <a:pPr>
              <a:lnSpc>
                <a:spcPct val="114000"/>
              </a:lnSpc>
            </a:pPr>
            <a:r>
              <a:rPr lang="en-US" altLang="zh-CN" sz="1400" dirty="0">
                <a:solidFill>
                  <a:schemeClr val="tx1"/>
                </a:solidFill>
                <a:latin typeface="Source Sans Pro" panose="020B0503030403020204" pitchFamily="34" charset="0"/>
              </a:rPr>
              <a:t>https://matplotlib.org/index.html</a:t>
            </a:r>
            <a:endParaRPr lang="en-US" altLang="zh-CN" sz="1400" dirty="0">
              <a:solidFill>
                <a:schemeClr val="tx1"/>
              </a:solidFill>
              <a:latin typeface="Source Sans Pro" panose="020B0503030403020204" pitchFamily="34" charset="0"/>
            </a:endParaRPr>
          </a:p>
        </p:txBody>
      </p:sp>
      <p:pic>
        <p:nvPicPr>
          <p:cNvPr id="6" name="Picture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79315" y="3575051"/>
            <a:ext cx="8661400" cy="1522730"/>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err="1">
                <a:latin typeface="Raleway" pitchFamily="34" charset="0"/>
                <a:ea typeface="Source Sans Pro" panose="020B0503030403020204" pitchFamily="34" charset="0"/>
              </a:rPr>
              <a:t>Scipy</a:t>
            </a:r>
            <a:endParaRPr lang="en-US" altLang="zh-CN" dirty="0">
              <a:solidFill>
                <a:srgbClr val="C00000"/>
              </a:solidFill>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1282075"/>
            <a:ext cx="8520600" cy="3416400"/>
          </a:xfrm>
        </p:spPr>
        <p:txBody>
          <a:bodyPr>
            <a:noAutofit/>
          </a:bodyPr>
          <a:lstStyle/>
          <a:p>
            <a:pPr>
              <a:lnSpc>
                <a:spcPct val="100000"/>
              </a:lnSpc>
            </a:pPr>
            <a:r>
              <a:rPr lang="en-US" altLang="zh-CN" sz="1400" dirty="0">
                <a:solidFill>
                  <a:schemeClr val="bg2"/>
                </a:solidFill>
                <a:latin typeface="Source Sans Pro" panose="020B0503030403020204" pitchFamily="34" charset="0"/>
              </a:rPr>
              <a:t>SciPy (pronounced “Sigh Pie”) is a Python-based ecosystem of open-source software for mathematics, science, and engineering. In particular, these are some of the core packages:</a:t>
            </a:r>
            <a:endParaRPr lang="en-US" altLang="zh-CN" sz="1400" dirty="0">
              <a:solidFill>
                <a:schemeClr val="bg2"/>
              </a:solidFill>
              <a:latin typeface="Source Sans Pro" panose="020B0503030403020204" pitchFamily="34" charset="0"/>
            </a:endParaRPr>
          </a:p>
          <a:p>
            <a:pPr>
              <a:lnSpc>
                <a:spcPct val="100000"/>
              </a:lnSpc>
            </a:pPr>
            <a:r>
              <a:rPr lang="en-US" altLang="zh-CN" sz="1400" dirty="0">
                <a:solidFill>
                  <a:schemeClr val="bg2"/>
                </a:solidFill>
                <a:latin typeface="Source Sans Pro" panose="020B0503030403020204" pitchFamily="34" charset="0"/>
              </a:rPr>
              <a:t>SciPy（发音为“Sigh Pie”）是一个基于 Python 的开源软件生态系统，用于数学、科学和工程。具体而言，这些是一些核心包：</a:t>
            </a:r>
            <a:endParaRPr lang="en-US" altLang="zh-CN" sz="1400" dirty="0">
              <a:solidFill>
                <a:schemeClr val="bg2"/>
              </a:solidFill>
              <a:latin typeface="Source Sans Pro" panose="020B0503030403020204" pitchFamily="34" charset="0"/>
            </a:endParaRPr>
          </a:p>
          <a:p>
            <a:pPr>
              <a:lnSpc>
                <a:spcPct val="100000"/>
              </a:lnSpc>
            </a:pPr>
            <a:endParaRPr lang="en-US" altLang="zh-CN" sz="1500" dirty="0">
              <a:solidFill>
                <a:schemeClr val="bg2"/>
              </a:solidFill>
              <a:latin typeface="Source Sans Pro" panose="020B0503030403020204" pitchFamily="34" charset="0"/>
            </a:endParaRPr>
          </a:p>
          <a:p>
            <a:pPr>
              <a:lnSpc>
                <a:spcPct val="100000"/>
              </a:lnSpc>
            </a:pPr>
            <a:endParaRPr lang="en-US" altLang="zh-CN" sz="1500" dirty="0">
              <a:solidFill>
                <a:schemeClr val="bg2"/>
              </a:solidFill>
              <a:latin typeface="Source Sans Pro" panose="020B0503030403020204" pitchFamily="34" charset="0"/>
            </a:endParaRPr>
          </a:p>
          <a:p>
            <a:pPr>
              <a:lnSpc>
                <a:spcPct val="100000"/>
              </a:lnSpc>
            </a:pPr>
            <a:endParaRPr lang="en-US" altLang="zh-CN" sz="1500" dirty="0">
              <a:solidFill>
                <a:schemeClr val="bg2"/>
              </a:solidFill>
              <a:latin typeface="Source Sans Pro" panose="020B0503030403020204" pitchFamily="34" charset="0"/>
            </a:endParaRPr>
          </a:p>
          <a:p>
            <a:pPr>
              <a:lnSpc>
                <a:spcPct val="100000"/>
              </a:lnSpc>
            </a:pPr>
            <a:endParaRPr lang="en-US" altLang="zh-CN" sz="1500" dirty="0">
              <a:solidFill>
                <a:schemeClr val="bg2"/>
              </a:solidFill>
              <a:latin typeface="Source Sans Pro" panose="020B0503030403020204" pitchFamily="34" charset="0"/>
            </a:endParaRPr>
          </a:p>
          <a:p>
            <a:pPr>
              <a:lnSpc>
                <a:spcPct val="100000"/>
              </a:lnSpc>
            </a:pPr>
            <a:endParaRPr lang="en-US" altLang="zh-CN" sz="1500" dirty="0">
              <a:solidFill>
                <a:schemeClr val="bg2"/>
              </a:solidFill>
              <a:latin typeface="Source Sans Pro" panose="020B0503030403020204" pitchFamily="34" charset="0"/>
            </a:endParaRPr>
          </a:p>
          <a:p>
            <a:pPr>
              <a:lnSpc>
                <a:spcPct val="100000"/>
              </a:lnSpc>
            </a:pPr>
            <a:endParaRPr lang="en-US" altLang="zh-CN" sz="1500" dirty="0">
              <a:solidFill>
                <a:schemeClr val="bg2"/>
              </a:solidFill>
              <a:latin typeface="Source Sans Pro" panose="020B0503030403020204" pitchFamily="34" charset="0"/>
            </a:endParaRPr>
          </a:p>
          <a:p>
            <a:pPr>
              <a:lnSpc>
                <a:spcPct val="100000"/>
              </a:lnSpc>
            </a:pPr>
            <a:endParaRPr lang="en-US" altLang="zh-CN" sz="1500" dirty="0">
              <a:solidFill>
                <a:schemeClr val="bg2"/>
              </a:solidFill>
              <a:latin typeface="Source Sans Pro" panose="020B0503030403020204" pitchFamily="34" charset="0"/>
            </a:endParaRPr>
          </a:p>
          <a:p>
            <a:pPr>
              <a:lnSpc>
                <a:spcPct val="100000"/>
              </a:lnSpc>
            </a:pPr>
            <a:endParaRPr lang="en-US" altLang="zh-CN" sz="1500" dirty="0">
              <a:solidFill>
                <a:schemeClr val="bg2"/>
              </a:solidFill>
              <a:latin typeface="Source Sans Pro" panose="020B0503030403020204" pitchFamily="34" charset="0"/>
            </a:endParaRPr>
          </a:p>
          <a:p>
            <a:pPr>
              <a:lnSpc>
                <a:spcPct val="100000"/>
              </a:lnSpc>
            </a:pPr>
            <a:endParaRPr lang="en-US" altLang="zh-CN" sz="1500" dirty="0">
              <a:solidFill>
                <a:schemeClr val="bg2"/>
              </a:solidFill>
              <a:latin typeface="Source Sans Pro" panose="020B0503030403020204" pitchFamily="34" charset="0"/>
            </a:endParaRPr>
          </a:p>
          <a:p>
            <a:pPr>
              <a:lnSpc>
                <a:spcPct val="100000"/>
              </a:lnSpc>
            </a:pPr>
            <a:endParaRPr lang="en-US" altLang="zh-CN" sz="1400" dirty="0">
              <a:solidFill>
                <a:schemeClr val="bg2"/>
              </a:solidFill>
              <a:latin typeface="Source Sans Pro" panose="020B0503030403020204" pitchFamily="34" charset="0"/>
            </a:endParaRPr>
          </a:p>
          <a:p>
            <a:pPr>
              <a:lnSpc>
                <a:spcPct val="100000"/>
              </a:lnSpc>
            </a:pPr>
            <a:r>
              <a:rPr lang="en-US" altLang="zh-CN" sz="1400" dirty="0">
                <a:solidFill>
                  <a:schemeClr val="tx1"/>
                </a:solidFill>
                <a:latin typeface="Source Sans Pro" panose="020B0503030403020204" pitchFamily="34" charset="0"/>
              </a:rPr>
              <a:t>https://www.scipy.org/</a:t>
            </a:r>
            <a:endParaRPr lang="en-US" altLang="zh-CN" sz="1400" dirty="0">
              <a:solidFill>
                <a:schemeClr val="tx1"/>
              </a:solidFill>
              <a:latin typeface="Source Sans Pro" panose="020B0503030403020204" pitchFamily="34" charset="0"/>
            </a:endParaRPr>
          </a:p>
        </p:txBody>
      </p:sp>
      <p:pic>
        <p:nvPicPr>
          <p:cNvPr id="4" name="Picture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63169" y="2255531"/>
            <a:ext cx="8053536" cy="2100678"/>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Pip: Module Management</a:t>
            </a:r>
            <a:endParaRPr lang="en-US" altLang="zh-CN" dirty="0">
              <a:solidFill>
                <a:srgbClr val="C00000"/>
              </a:solidFill>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1047548"/>
            <a:ext cx="8164342" cy="3416400"/>
          </a:xfrm>
        </p:spPr>
        <p:txBody>
          <a:bodyPr>
            <a:noAutofit/>
          </a:bodyPr>
          <a:lstStyle/>
          <a:p>
            <a:pPr>
              <a:lnSpc>
                <a:spcPct val="114000"/>
              </a:lnSpc>
            </a:pPr>
            <a:r>
              <a:rPr lang="en-US" altLang="zh-CN" sz="1400" dirty="0">
                <a:solidFill>
                  <a:schemeClr val="bg2"/>
                </a:solidFill>
                <a:latin typeface="Source Sans Pro" panose="020B0503030403020204" pitchFamily="34" charset="0"/>
              </a:rPr>
              <a:t>Package installer for Python:  </a:t>
            </a:r>
            <a:r>
              <a:rPr lang="en-US" altLang="zh-CN" sz="1400" dirty="0">
                <a:solidFill>
                  <a:schemeClr val="tx1"/>
                </a:solidFill>
                <a:latin typeface="Source Sans Pro" panose="020B0503030403020204" pitchFamily="34" charset="0"/>
              </a:rPr>
              <a:t>https://pypi.org/project/pip/</a:t>
            </a:r>
            <a:endParaRPr lang="en-US" altLang="zh-CN" sz="1400" dirty="0">
              <a:solidFill>
                <a:schemeClr val="tx1"/>
              </a:solidFill>
              <a:latin typeface="Source Sans Pro" panose="020B0503030403020204" pitchFamily="34" charset="0"/>
            </a:endParaRPr>
          </a:p>
          <a:p>
            <a:pPr>
              <a:lnSpc>
                <a:spcPct val="114000"/>
              </a:lnSpc>
            </a:pPr>
            <a:r>
              <a:rPr lang="en-US" altLang="zh-CN" sz="1400" dirty="0">
                <a:solidFill>
                  <a:schemeClr val="tx1"/>
                </a:solidFill>
                <a:latin typeface="Source Sans Pro" panose="020B0503030403020204" pitchFamily="34" charset="0"/>
              </a:rPr>
              <a:t>pip</a:t>
            </a:r>
            <a:r>
              <a:rPr lang="en-US" altLang="zh-CN" sz="1400" dirty="0">
                <a:solidFill>
                  <a:schemeClr val="bg2"/>
                </a:solidFill>
                <a:latin typeface="Source Sans Pro" panose="020B0503030403020204" pitchFamily="34" charset="0"/>
              </a:rPr>
              <a:t> is a de facto standard package-management system used to install and manage software packages written in Python</a:t>
            </a:r>
            <a:endParaRPr lang="en-US" altLang="zh-CN" sz="1400" dirty="0">
              <a:solidFill>
                <a:schemeClr val="bg2"/>
              </a:solidFill>
              <a:latin typeface="Source Sans Pro" panose="020B0503030403020204" pitchFamily="34" charset="0"/>
            </a:endParaRPr>
          </a:p>
          <a:p>
            <a:pPr>
              <a:lnSpc>
                <a:spcPct val="114000"/>
              </a:lnSpc>
            </a:pPr>
            <a:r>
              <a:rPr lang="en-US" altLang="zh-CN" sz="1400" dirty="0">
                <a:solidFill>
                  <a:schemeClr val="bg2"/>
                </a:solidFill>
                <a:latin typeface="Source Sans Pro" panose="020B0503030403020204" pitchFamily="34" charset="0"/>
              </a:rPr>
              <a:t>Many packages can be found in the default source for packages and their dependencies — Python Package Index</a:t>
            </a:r>
            <a:endParaRPr lang="en-US" altLang="zh-CN" sz="1400" dirty="0">
              <a:solidFill>
                <a:schemeClr val="bg2"/>
              </a:solidFill>
              <a:latin typeface="Source Sans Pro" panose="020B0503030403020204" pitchFamily="34" charset="0"/>
            </a:endParaRPr>
          </a:p>
          <a:p>
            <a:pPr>
              <a:lnSpc>
                <a:spcPct val="114000"/>
              </a:lnSpc>
            </a:pPr>
            <a:r>
              <a:rPr lang="en-US" altLang="zh-CN" sz="1400" dirty="0">
                <a:solidFill>
                  <a:schemeClr val="bg2"/>
                </a:solidFill>
                <a:latin typeface="Source Sans Pro" panose="020B0503030403020204" pitchFamily="34" charset="0"/>
              </a:rPr>
              <a:t>Most distributions of Python come with pip preinstalled</a:t>
            </a:r>
            <a:endParaRPr lang="en-US" altLang="zh-CN" sz="1400" dirty="0">
              <a:solidFill>
                <a:schemeClr val="bg2"/>
              </a:solidFill>
              <a:latin typeface="Source Sans Pro" panose="020B0503030403020204" pitchFamily="34" charset="0"/>
            </a:endParaRPr>
          </a:p>
          <a:p>
            <a:pPr>
              <a:lnSpc>
                <a:spcPct val="114000"/>
              </a:lnSpc>
            </a:pPr>
            <a:r>
              <a:rPr lang="en-US" altLang="zh-CN" sz="1400" dirty="0" err="1">
                <a:solidFill>
                  <a:schemeClr val="tx1"/>
                </a:solidFill>
                <a:latin typeface="Source Sans Pro" panose="020B0503030403020204" pitchFamily="34" charset="0"/>
              </a:rPr>
              <a:t>xxx.whl</a:t>
            </a:r>
            <a:r>
              <a:rPr lang="en-US" altLang="zh-CN" sz="1400" dirty="0">
                <a:solidFill>
                  <a:schemeClr val="tx1"/>
                </a:solidFill>
                <a:latin typeface="Source Sans Pro" panose="020B0503030403020204" pitchFamily="34" charset="0"/>
              </a:rPr>
              <a:t>: </a:t>
            </a:r>
            <a:r>
              <a:rPr lang="en-US" altLang="zh-CN" sz="1400" dirty="0">
                <a:solidFill>
                  <a:schemeClr val="bg2"/>
                </a:solidFill>
                <a:latin typeface="Source Sans Pro" panose="020B0503030403020204" pitchFamily="34" charset="0"/>
              </a:rPr>
              <a:t>A WHL file is a package saved in the Wheel format, which is the standard built-package format used for Python distributions</a:t>
            </a:r>
            <a:endParaRPr lang="en-US" altLang="zh-CN" sz="1400" dirty="0">
              <a:solidFill>
                <a:schemeClr val="bg2"/>
              </a:solidFill>
              <a:latin typeface="Source Sans Pro" panose="020B0503030403020204" pitchFamily="34" charset="0"/>
            </a:endParaRPr>
          </a:p>
          <a:p>
            <a:pPr>
              <a:lnSpc>
                <a:spcPct val="114000"/>
              </a:lnSpc>
            </a:pPr>
            <a:r>
              <a:rPr lang="en-US" altLang="zh-CN" sz="1400" dirty="0" err="1">
                <a:solidFill>
                  <a:schemeClr val="bg2"/>
                </a:solidFill>
                <a:latin typeface="Source Sans Pro" panose="020B0503030403020204" pitchFamily="34" charset="0"/>
              </a:rPr>
              <a:t>Quickstart</a:t>
            </a:r>
            <a:r>
              <a:rPr lang="en-US" altLang="zh-CN" sz="1400" dirty="0">
                <a:solidFill>
                  <a:schemeClr val="bg2"/>
                </a:solidFill>
                <a:latin typeface="Source Sans Pro" panose="020B0503030403020204" pitchFamily="34" charset="0"/>
              </a:rPr>
              <a:t>: https://pip.pypa.io/en/stable/quickstart/</a:t>
            </a:r>
            <a:endParaRPr lang="en-US" altLang="zh-CN" sz="1400" dirty="0">
              <a:solidFill>
                <a:schemeClr val="bg2"/>
              </a:solidFill>
              <a:latin typeface="Source Sans Pro" panose="020B0503030403020204" pitchFamily="34" charset="0"/>
            </a:endParaRPr>
          </a:p>
          <a:p>
            <a:pPr>
              <a:lnSpc>
                <a:spcPct val="114000"/>
              </a:lnSpc>
            </a:pPr>
            <a:r>
              <a:rPr lang="en-US" altLang="zh-CN" sz="1400" dirty="0">
                <a:solidFill>
                  <a:schemeClr val="bg2"/>
                </a:solidFill>
                <a:latin typeface="Source Sans Pro" panose="020B0503030403020204" pitchFamily="34" charset="0"/>
              </a:rPr>
              <a:t>Usage</a:t>
            </a:r>
            <a:endParaRPr lang="en-US" altLang="zh-CN" sz="1400" dirty="0">
              <a:solidFill>
                <a:schemeClr val="bg2"/>
              </a:solidFill>
              <a:latin typeface="Source Sans Pro" panose="020B0503030403020204" pitchFamily="34" charset="0"/>
            </a:endParaRPr>
          </a:p>
          <a:p>
            <a:pPr lvl="1">
              <a:lnSpc>
                <a:spcPct val="114000"/>
              </a:lnSpc>
            </a:pPr>
            <a:r>
              <a:rPr lang="en-US" altLang="zh-CN" sz="1200" dirty="0">
                <a:solidFill>
                  <a:schemeClr val="bg2"/>
                </a:solidFill>
                <a:latin typeface="Source Sans Pro" panose="020B0503030403020204" pitchFamily="34" charset="0"/>
              </a:rPr>
              <a:t>pip install </a:t>
            </a:r>
            <a:r>
              <a:rPr lang="en-US" altLang="zh-CN" sz="1200" dirty="0" err="1">
                <a:solidFill>
                  <a:schemeClr val="bg2"/>
                </a:solidFill>
                <a:latin typeface="Source Sans Pro" panose="020B0503030403020204" pitchFamily="34" charset="0"/>
              </a:rPr>
              <a:t>SomePackage</a:t>
            </a:r>
            <a:endParaRPr lang="en-US" altLang="zh-CN" sz="1200" dirty="0">
              <a:solidFill>
                <a:schemeClr val="bg2"/>
              </a:solidFill>
              <a:latin typeface="Source Sans Pro" panose="020B0503030403020204" pitchFamily="34" charset="0"/>
            </a:endParaRPr>
          </a:p>
          <a:p>
            <a:pPr lvl="1">
              <a:lnSpc>
                <a:spcPct val="114000"/>
              </a:lnSpc>
            </a:pPr>
            <a:r>
              <a:rPr lang="en-US" altLang="zh-CN" sz="1200" dirty="0">
                <a:solidFill>
                  <a:schemeClr val="bg2"/>
                </a:solidFill>
                <a:latin typeface="Source Sans Pro" panose="020B0503030403020204" pitchFamily="34" charset="0"/>
              </a:rPr>
              <a:t>pip install --upgrade </a:t>
            </a:r>
            <a:r>
              <a:rPr lang="en-US" altLang="zh-CN" sz="1200" dirty="0" err="1">
                <a:solidFill>
                  <a:schemeClr val="bg2"/>
                </a:solidFill>
                <a:latin typeface="Source Sans Pro" panose="020B0503030403020204" pitchFamily="34" charset="0"/>
              </a:rPr>
              <a:t>SomePackage</a:t>
            </a:r>
            <a:endParaRPr lang="en-US" altLang="zh-CN" sz="1200" dirty="0">
              <a:solidFill>
                <a:schemeClr val="bg2"/>
              </a:solidFill>
              <a:latin typeface="Source Sans Pro" panose="020B0503030403020204" pitchFamily="34" charset="0"/>
            </a:endParaRPr>
          </a:p>
          <a:p>
            <a:pPr lvl="1">
              <a:lnSpc>
                <a:spcPct val="114000"/>
              </a:lnSpc>
            </a:pPr>
            <a:r>
              <a:rPr lang="en-US" altLang="zh-CN" sz="1200" dirty="0">
                <a:solidFill>
                  <a:schemeClr val="bg2"/>
                </a:solidFill>
                <a:latin typeface="Source Sans Pro" panose="020B0503030403020204" pitchFamily="34" charset="0"/>
              </a:rPr>
              <a:t>pip uninstall </a:t>
            </a:r>
            <a:r>
              <a:rPr lang="en-US" altLang="zh-CN" sz="1200" dirty="0" err="1">
                <a:solidFill>
                  <a:schemeClr val="bg2"/>
                </a:solidFill>
                <a:latin typeface="Source Sans Pro" panose="020B0503030403020204" pitchFamily="34" charset="0"/>
              </a:rPr>
              <a:t>SomePackage</a:t>
            </a:r>
            <a:endParaRPr lang="en-US" altLang="zh-CN" sz="1200" dirty="0">
              <a:solidFill>
                <a:schemeClr val="bg2"/>
              </a:solidFill>
              <a:latin typeface="Source Sans Pro" panose="020B0503030403020204" pitchFamily="34" charset="0"/>
            </a:endParaRPr>
          </a:p>
        </p:txBody>
      </p:sp>
      <p:pic>
        <p:nvPicPr>
          <p:cNvPr id="5"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36297" y="4687847"/>
            <a:ext cx="4295585" cy="378624"/>
          </a:xfrm>
          <a:prstGeom prst="rect">
            <a:avLst/>
          </a:prstGeom>
        </p:spPr>
      </p:pic>
      <p:pic>
        <p:nvPicPr>
          <p:cNvPr id="6" name="Picture 7" descr="Text&#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96715" y="3328307"/>
            <a:ext cx="3110988" cy="822240"/>
          </a:xfrm>
          <a:prstGeom prst="rect">
            <a:avLst/>
          </a:prstGeom>
        </p:spPr>
      </p:pic>
      <p:pic>
        <p:nvPicPr>
          <p:cNvPr id="7"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8268" y="4326894"/>
            <a:ext cx="3062560" cy="269417"/>
          </a:xfrm>
          <a:prstGeom prst="rect">
            <a:avLst/>
          </a:prstGeom>
        </p:spPr>
      </p:pic>
      <p:sp>
        <p:nvSpPr>
          <p:cNvPr id="9" name="Rectangle 4"/>
          <p:cNvSpPr/>
          <p:nvPr/>
        </p:nvSpPr>
        <p:spPr>
          <a:xfrm>
            <a:off x="6047383" y="4463948"/>
            <a:ext cx="2560320" cy="534795"/>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Source Sans Pro" panose="020B0503030403020204" pitchFamily="34" charset="0"/>
                <a:ea typeface="黑体" panose="02010609060101010101" pitchFamily="49" charset="-122"/>
              </a:rPr>
              <a:t>pip install xxx </a:t>
            </a:r>
            <a:r>
              <a:rPr lang="zh-CN" altLang="en-US" dirty="0">
                <a:solidFill>
                  <a:schemeClr val="tx1"/>
                </a:solidFill>
                <a:latin typeface="Source Sans Pro" panose="020B0503030403020204" pitchFamily="34" charset="0"/>
                <a:ea typeface="黑体" panose="02010609060101010101" pitchFamily="49" charset="-122"/>
              </a:rPr>
              <a:t>网络安装</a:t>
            </a:r>
            <a:endParaRPr lang="en-US" altLang="zh-CN" dirty="0">
              <a:solidFill>
                <a:schemeClr val="tx1"/>
              </a:solidFill>
              <a:latin typeface="Source Sans Pro" panose="020B0503030403020204" pitchFamily="34" charset="0"/>
              <a:ea typeface="黑体" panose="02010609060101010101" pitchFamily="49" charset="-122"/>
            </a:endParaRPr>
          </a:p>
          <a:p>
            <a:r>
              <a:rPr lang="en-US" dirty="0">
                <a:solidFill>
                  <a:schemeClr val="tx1"/>
                </a:solidFill>
                <a:latin typeface="Source Sans Pro" panose="020B0503030403020204" pitchFamily="34" charset="0"/>
                <a:ea typeface="黑体" panose="02010609060101010101" pitchFamily="49" charset="-122"/>
              </a:rPr>
              <a:t>pip install </a:t>
            </a:r>
            <a:r>
              <a:rPr lang="en-US" dirty="0" err="1">
                <a:solidFill>
                  <a:schemeClr val="tx1"/>
                </a:solidFill>
                <a:latin typeface="Source Sans Pro" panose="020B0503030403020204" pitchFamily="34" charset="0"/>
                <a:ea typeface="黑体" panose="02010609060101010101" pitchFamily="49" charset="-122"/>
              </a:rPr>
              <a:t>xxx.whl</a:t>
            </a:r>
            <a:r>
              <a:rPr lang="en-US" dirty="0">
                <a:solidFill>
                  <a:schemeClr val="tx1"/>
                </a:solidFill>
                <a:latin typeface="Source Sans Pro" panose="020B0503030403020204" pitchFamily="34" charset="0"/>
                <a:ea typeface="黑体" panose="02010609060101010101" pitchFamily="49" charset="-122"/>
              </a:rPr>
              <a:t> </a:t>
            </a:r>
            <a:r>
              <a:rPr lang="zh-CN" altLang="en-US" dirty="0">
                <a:solidFill>
                  <a:schemeClr val="tx1"/>
                </a:solidFill>
                <a:latin typeface="Source Sans Pro" panose="020B0503030403020204" pitchFamily="34" charset="0"/>
                <a:ea typeface="黑体" panose="02010609060101010101" pitchFamily="49" charset="-122"/>
              </a:rPr>
              <a:t>本地安装</a:t>
            </a:r>
            <a:endParaRPr lang="en-US" dirty="0">
              <a:solidFill>
                <a:schemeClr val="tx1"/>
              </a:solidFill>
              <a:latin typeface="Source Sans Pro" panose="020B0503030403020204" pitchFamily="34" charset="0"/>
              <a:ea typeface="Source Sans Pro" panose="020B0503030403020204" pitchFamily="34" charset="0"/>
            </a:endParaRPr>
          </a:p>
        </p:txBody>
      </p:sp>
      <p:pic>
        <p:nvPicPr>
          <p:cNvPr id="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02398" y="596152"/>
            <a:ext cx="705305" cy="902791"/>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p:cNvSpPr txBox="1"/>
          <p:nvPr/>
        </p:nvSpPr>
        <p:spPr>
          <a:xfrm>
            <a:off x="4700905" y="150495"/>
            <a:ext cx="4266565" cy="2891790"/>
          </a:xfrm>
          <a:prstGeom prst="rect">
            <a:avLst/>
          </a:prstGeom>
          <a:noFill/>
        </p:spPr>
        <p:txBody>
          <a:bodyPr wrap="square" rtlCol="0">
            <a:spAutoFit/>
          </a:bodyPr>
          <a:p>
            <a:r>
              <a:rPr lang="zh-CN" altLang="en-US">
                <a:highlight>
                  <a:srgbClr val="FFFF00"/>
                </a:highlight>
              </a:rPr>
              <a:t>Python 的包安装程序：https://pypi.org/project/pip/</a:t>
            </a:r>
            <a:endParaRPr lang="zh-CN" altLang="en-US">
              <a:highlight>
                <a:srgbClr val="FFFF00"/>
              </a:highlight>
            </a:endParaRPr>
          </a:p>
          <a:p>
            <a:r>
              <a:rPr lang="zh-CN" altLang="en-US">
                <a:highlight>
                  <a:srgbClr val="FFFF00"/>
                </a:highlight>
              </a:rPr>
              <a:t>pip 是一个事实上的标准包管理系统，用于安装和管理用 Python 编写的软件包</a:t>
            </a:r>
            <a:endParaRPr lang="zh-CN" altLang="en-US">
              <a:highlight>
                <a:srgbClr val="FFFF00"/>
              </a:highlight>
            </a:endParaRPr>
          </a:p>
          <a:p>
            <a:r>
              <a:rPr lang="zh-CN" altLang="en-US">
                <a:highlight>
                  <a:srgbClr val="FFFF00"/>
                </a:highlight>
              </a:rPr>
              <a:t>许多包都可以在包及其依赖项的默认源代码中找到 — Python 包索引</a:t>
            </a:r>
            <a:endParaRPr lang="zh-CN" altLang="en-US">
              <a:highlight>
                <a:srgbClr val="FFFF00"/>
              </a:highlight>
            </a:endParaRPr>
          </a:p>
          <a:p>
            <a:r>
              <a:rPr lang="zh-CN" altLang="en-US">
                <a:highlight>
                  <a:srgbClr val="FFFF00"/>
                </a:highlight>
              </a:rPr>
              <a:t>大多数 Python 发行版都预装了 pip</a:t>
            </a:r>
            <a:endParaRPr lang="zh-CN" altLang="en-US">
              <a:highlight>
                <a:srgbClr val="FFFF00"/>
              </a:highlight>
            </a:endParaRPr>
          </a:p>
          <a:p>
            <a:r>
              <a:rPr lang="zh-CN" altLang="en-US">
                <a:highlight>
                  <a:srgbClr val="FFFF00"/>
                </a:highlight>
              </a:rPr>
              <a:t>xxx.whl：WHL 文件是以 Wheel 格式保存的包，Wheel 格式是用于 Python 发行版的标准构建包格式</a:t>
            </a:r>
            <a:endParaRPr lang="zh-CN" altLang="en-US">
              <a:highlight>
                <a:srgbClr val="FFFF00"/>
              </a:highlight>
            </a:endParaRPr>
          </a:p>
          <a:p>
            <a:r>
              <a:rPr lang="zh-CN" altLang="en-US">
                <a:highlight>
                  <a:srgbClr val="FFFF00"/>
                </a:highlight>
              </a:rPr>
              <a:t>快速入门：https://pip.pypa.io/en/stable/quickstart/</a:t>
            </a:r>
            <a:endParaRPr lang="zh-CN" altLang="en-US">
              <a:highlight>
                <a:srgbClr val="FFFF00"/>
              </a:highlight>
            </a:endParaRPr>
          </a:p>
          <a:p>
            <a:r>
              <a:rPr lang="zh-CN" altLang="en-US">
                <a:highlight>
                  <a:srgbClr val="FFFF00"/>
                </a:highlight>
              </a:rPr>
              <a:t>用法</a:t>
            </a:r>
            <a:endParaRPr lang="zh-CN" altLang="en-US">
              <a:highlight>
                <a:srgbClr val="FFFF00"/>
              </a:highlight>
            </a:endParaRPr>
          </a:p>
          <a:p>
            <a:r>
              <a:rPr lang="zh-CN" altLang="en-US">
                <a:highlight>
                  <a:srgbClr val="FFFF00"/>
                </a:highlight>
              </a:rPr>
              <a:t>pip 安装 SomePackage</a:t>
            </a:r>
            <a:endParaRPr lang="zh-CN" altLang="en-US">
              <a:highlight>
                <a:srgbClr val="FFFF00"/>
              </a:highlight>
            </a:endParaRPr>
          </a:p>
          <a:p>
            <a:r>
              <a:rPr lang="zh-CN" altLang="en-US">
                <a:highlight>
                  <a:srgbClr val="FFFF00"/>
                </a:highlight>
              </a:rPr>
              <a:t>pip install --upgrade SomePackage</a:t>
            </a:r>
            <a:endParaRPr lang="zh-CN" altLang="en-US">
              <a:highlight>
                <a:srgbClr val="FFFF00"/>
              </a:highlight>
            </a:endParaRPr>
          </a:p>
          <a:p>
            <a:r>
              <a:rPr lang="zh-CN" altLang="en-US">
                <a:highlight>
                  <a:srgbClr val="FFFF00"/>
                </a:highlight>
              </a:rPr>
              <a:t>pip 卸载 SomePackage</a:t>
            </a:r>
            <a:endParaRPr lang="zh-CN" altLang="en-US">
              <a:highlight>
                <a:srgbClr val="FFFF00"/>
              </a:highlight>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Reading</a:t>
            </a:r>
            <a:endParaRPr lang="en-US" altLang="zh-CN" dirty="0">
              <a:solidFill>
                <a:srgbClr val="C00000"/>
              </a:solidFill>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1520304"/>
            <a:ext cx="8520600" cy="2943644"/>
          </a:xfrm>
        </p:spPr>
        <p:txBody>
          <a:bodyPr>
            <a:noAutofit/>
          </a:bodyPr>
          <a:lstStyle/>
          <a:p>
            <a:r>
              <a:rPr lang="en-US" altLang="zh-CN" sz="1400" i="0" dirty="0">
                <a:solidFill>
                  <a:srgbClr val="000000"/>
                </a:solidFill>
                <a:effectLst/>
              </a:rPr>
              <a:t>Learning Python: </a:t>
            </a:r>
            <a:r>
              <a:rPr lang="en-US" altLang="zh-CN" sz="1400" dirty="0">
                <a:solidFill>
                  <a:srgbClr val="000000"/>
                </a:solidFill>
              </a:rPr>
              <a:t>P</a:t>
            </a:r>
            <a:r>
              <a:rPr lang="en-US" altLang="zh-CN" sz="1400" i="0" dirty="0">
                <a:solidFill>
                  <a:srgbClr val="000000"/>
                </a:solidFill>
                <a:effectLst/>
              </a:rPr>
              <a:t>art</a:t>
            </a:r>
            <a:r>
              <a:rPr lang="en-US" altLang="zh-CN" sz="1400" dirty="0">
                <a:solidFill>
                  <a:srgbClr val="000000"/>
                </a:solidFill>
              </a:rPr>
              <a:t> V.</a:t>
            </a:r>
            <a:r>
              <a:rPr lang="zh-CN" altLang="en-US" sz="1400" dirty="0">
                <a:solidFill>
                  <a:srgbClr val="000000"/>
                </a:solidFill>
              </a:rPr>
              <a:t> </a:t>
            </a:r>
            <a:r>
              <a:rPr lang="en-US" altLang="zh-CN" sz="1400" dirty="0">
                <a:solidFill>
                  <a:srgbClr val="000000"/>
                </a:solidFill>
              </a:rPr>
              <a:t>Modules</a:t>
            </a:r>
            <a:r>
              <a:rPr lang="zh-CN" altLang="en-US" sz="1400" dirty="0">
                <a:solidFill>
                  <a:srgbClr val="000000"/>
                </a:solidFill>
              </a:rPr>
              <a:t> </a:t>
            </a:r>
            <a:r>
              <a:rPr lang="en-US" altLang="zh-CN" sz="1400" dirty="0">
                <a:solidFill>
                  <a:srgbClr val="000000"/>
                </a:solidFill>
              </a:rPr>
              <a:t>and</a:t>
            </a:r>
            <a:r>
              <a:rPr lang="zh-CN" altLang="en-US" sz="1400" dirty="0">
                <a:solidFill>
                  <a:srgbClr val="000000"/>
                </a:solidFill>
              </a:rPr>
              <a:t> </a:t>
            </a:r>
            <a:r>
              <a:rPr lang="en-US" altLang="zh-CN" sz="1400" dirty="0">
                <a:solidFill>
                  <a:srgbClr val="000000"/>
                </a:solidFill>
              </a:rPr>
              <a:t>Packages</a:t>
            </a:r>
            <a:r>
              <a:rPr lang="en-US" altLang="zh-CN" sz="1400" dirty="0"/>
              <a:t> </a:t>
            </a:r>
            <a:endParaRPr lang="zh-CN" altLang="en-US" sz="14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US" dirty="0">
                <a:latin typeface="Raleway" pitchFamily="34" charset="0"/>
                <a:ea typeface="Source Sans Pro" panose="020B0503030403020204" pitchFamily="34" charset="0"/>
              </a:rPr>
              <a:t>Interpreter</a:t>
            </a:r>
            <a:endParaRPr dirty="0">
              <a:latin typeface="Raleway" pitchFamily="34" charset="0"/>
              <a:ea typeface="Source Sans Pro" panose="020B0503030403020204" pitchFamily="34"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Python Interpreter</a:t>
            </a:r>
            <a:endParaRPr lang="zh-CN" altLang="en-US" dirty="0"/>
          </a:p>
        </p:txBody>
      </p:sp>
      <p:sp>
        <p:nvSpPr>
          <p:cNvPr id="3" name="文本占位符 2"/>
          <p:cNvSpPr>
            <a:spLocks noGrp="1"/>
          </p:cNvSpPr>
          <p:nvPr>
            <p:ph type="body" idx="1"/>
          </p:nvPr>
        </p:nvSpPr>
        <p:spPr>
          <a:xfrm>
            <a:off x="311700" y="2132484"/>
            <a:ext cx="8520600" cy="2531084"/>
          </a:xfrm>
        </p:spPr>
        <p:txBody>
          <a:bodyPr>
            <a:noAutofit/>
          </a:bodyPr>
          <a:lstStyle/>
          <a:p>
            <a:r>
              <a:rPr lang="en-US" altLang="zh-CN" sz="1400" dirty="0">
                <a:solidFill>
                  <a:schemeClr val="tx1"/>
                </a:solidFill>
              </a:rPr>
              <a:t>Compiler</a:t>
            </a:r>
            <a:r>
              <a:rPr lang="en-US" altLang="zh-CN" sz="1400" dirty="0">
                <a:solidFill>
                  <a:schemeClr val="bg2"/>
                </a:solidFill>
              </a:rPr>
              <a:t> — Translate the whole source code into assembly language, then execute assembly language</a:t>
            </a:r>
            <a:endParaRPr lang="en-US" altLang="zh-CN" sz="1400" dirty="0">
              <a:solidFill>
                <a:schemeClr val="bg2"/>
              </a:solidFill>
            </a:endParaRPr>
          </a:p>
          <a:p>
            <a:pPr lvl="1"/>
            <a:r>
              <a:rPr lang="en-US" altLang="zh-CN" sz="1200" dirty="0">
                <a:solidFill>
                  <a:schemeClr val="bg2"/>
                </a:solidFill>
              </a:rPr>
              <a:t>C, C++, Java, C#</a:t>
            </a:r>
            <a:endParaRPr lang="en-US" altLang="zh-CN" sz="1200" dirty="0">
              <a:solidFill>
                <a:schemeClr val="bg2"/>
              </a:solidFill>
            </a:endParaRPr>
          </a:p>
          <a:p>
            <a:r>
              <a:rPr lang="en-US" altLang="zh-CN" sz="1400" dirty="0">
                <a:solidFill>
                  <a:schemeClr val="tx1"/>
                </a:solidFill>
              </a:rPr>
              <a:t>Interpreter</a:t>
            </a:r>
            <a:r>
              <a:rPr lang="en-US" altLang="zh-CN" sz="1400" dirty="0">
                <a:solidFill>
                  <a:schemeClr val="bg2"/>
                </a:solidFill>
              </a:rPr>
              <a:t> — Your source code is translated into native CPU instructions as the program runs</a:t>
            </a:r>
            <a:r>
              <a:rPr lang="zh-CN" altLang="en-US" sz="1400" dirty="0">
                <a:solidFill>
                  <a:schemeClr val="bg2"/>
                </a:solidFill>
                <a:ea typeface="宋体" panose="02010600030101010101" pitchFamily="2" charset="-122"/>
              </a:rPr>
              <a:t>（源代码</a:t>
            </a:r>
            <a:r>
              <a:rPr lang="en-US" altLang="zh-CN" sz="1400" dirty="0">
                <a:solidFill>
                  <a:schemeClr val="bg2"/>
                </a:solidFill>
                <a:ea typeface="宋体" panose="02010600030101010101" pitchFamily="2" charset="-122"/>
              </a:rPr>
              <a:t>--&gt;CPU</a:t>
            </a:r>
            <a:r>
              <a:rPr lang="zh-CN" altLang="en-US" sz="1400" dirty="0">
                <a:solidFill>
                  <a:schemeClr val="bg2"/>
                </a:solidFill>
                <a:ea typeface="宋体" panose="02010600030101010101" pitchFamily="2" charset="-122"/>
              </a:rPr>
              <a:t>指令）</a:t>
            </a:r>
            <a:endParaRPr lang="en-US" altLang="zh-CN" sz="1400" dirty="0">
              <a:solidFill>
                <a:schemeClr val="bg2"/>
              </a:solidFill>
            </a:endParaRPr>
          </a:p>
          <a:p>
            <a:pPr lvl="1"/>
            <a:r>
              <a:rPr lang="en-US" altLang="zh-CN" sz="1200" dirty="0">
                <a:solidFill>
                  <a:schemeClr val="bg2"/>
                </a:solidFill>
              </a:rPr>
              <a:t>JS </a:t>
            </a:r>
            <a:endParaRPr lang="en-US" altLang="zh-CN" sz="1200" dirty="0">
              <a:solidFill>
                <a:schemeClr val="bg2"/>
              </a:solidFill>
            </a:endParaRPr>
          </a:p>
          <a:p>
            <a:r>
              <a:rPr lang="en-US" altLang="zh-CN" sz="1400" dirty="0">
                <a:solidFill>
                  <a:schemeClr val="bg2"/>
                </a:solidFill>
              </a:rPr>
              <a:t>Python is often described as an </a:t>
            </a:r>
            <a:r>
              <a:rPr lang="en-US" altLang="zh-CN" sz="1400" dirty="0">
                <a:solidFill>
                  <a:schemeClr val="tx1"/>
                </a:solidFill>
              </a:rPr>
              <a:t>interpreted language</a:t>
            </a:r>
            <a:r>
              <a:rPr lang="en-US" altLang="zh-CN" sz="1400" dirty="0">
                <a:solidFill>
                  <a:schemeClr val="bg2"/>
                </a:solidFill>
              </a:rPr>
              <a:t>——but this is only partially correct. </a:t>
            </a:r>
            <a:endParaRPr lang="en-US" altLang="zh-CN" sz="1400" dirty="0">
              <a:solidFill>
                <a:schemeClr val="bg2"/>
              </a:solidFill>
            </a:endParaRPr>
          </a:p>
          <a:p>
            <a:r>
              <a:rPr lang="en-US" altLang="zh-CN" sz="1400" dirty="0">
                <a:solidFill>
                  <a:schemeClr val="bg2"/>
                </a:solidFill>
              </a:rPr>
              <a:t>Python, like many interpreted languages, actually compiles source code to a set of instructions for a </a:t>
            </a:r>
            <a:r>
              <a:rPr lang="en-US" altLang="zh-CN" sz="1400" dirty="0">
                <a:solidFill>
                  <a:schemeClr val="tx1"/>
                </a:solidFill>
              </a:rPr>
              <a:t>virtual machine</a:t>
            </a:r>
            <a:r>
              <a:rPr lang="en-US" altLang="zh-CN" sz="1400" dirty="0">
                <a:solidFill>
                  <a:schemeClr val="bg2"/>
                </a:solidFill>
              </a:rPr>
              <a:t>, and the Python interpreter is an implementation of that virtual machine. </a:t>
            </a:r>
            <a:endParaRPr lang="en-US" altLang="zh-CN" sz="1400" dirty="0">
              <a:solidFill>
                <a:schemeClr val="bg2"/>
              </a:solidFill>
            </a:endParaRPr>
          </a:p>
          <a:p>
            <a:r>
              <a:rPr lang="en-US" altLang="zh-CN" sz="1400" dirty="0">
                <a:solidFill>
                  <a:schemeClr val="bg2"/>
                </a:solidFill>
              </a:rPr>
              <a:t>This intermediate format is called “</a:t>
            </a:r>
            <a:r>
              <a:rPr lang="en-US" altLang="zh-CN" sz="1400" dirty="0">
                <a:solidFill>
                  <a:schemeClr val="tx1"/>
                </a:solidFill>
              </a:rPr>
              <a:t>bytecode</a:t>
            </a:r>
            <a:r>
              <a:rPr lang="zh-CN" altLang="en-US" sz="1400" dirty="0">
                <a:solidFill>
                  <a:schemeClr val="bg2"/>
                </a:solidFill>
              </a:rPr>
              <a:t>”</a:t>
            </a:r>
            <a:r>
              <a:rPr lang="en-US" altLang="zh-CN" sz="1400" dirty="0">
                <a:solidFill>
                  <a:schemeClr val="bg2"/>
                </a:solidFill>
              </a:rPr>
              <a:t>.</a:t>
            </a:r>
            <a:r>
              <a:rPr lang="zh-CN" altLang="en-US" sz="1400" dirty="0">
                <a:solidFill>
                  <a:schemeClr val="bg2"/>
                </a:solidFill>
              </a:rPr>
              <a:t> </a:t>
            </a:r>
            <a:r>
              <a:rPr lang="en-US" altLang="zh-CN" sz="1400" dirty="0">
                <a:solidFill>
                  <a:schemeClr val="bg2"/>
                </a:solidFill>
              </a:rPr>
              <a:t>The file extension is *.</a:t>
            </a:r>
            <a:r>
              <a:rPr lang="en-US" altLang="zh-CN" sz="1400" dirty="0" err="1">
                <a:solidFill>
                  <a:schemeClr val="bg2"/>
                </a:solidFill>
              </a:rPr>
              <a:t>pyc</a:t>
            </a:r>
            <a:r>
              <a:rPr lang="en-US" altLang="zh-CN" sz="1400" dirty="0">
                <a:solidFill>
                  <a:schemeClr val="bg2"/>
                </a:solidFill>
              </a:rPr>
              <a:t>.</a:t>
            </a:r>
            <a:endParaRPr lang="en-US" altLang="zh-CN" sz="1400" dirty="0">
              <a:solidFill>
                <a:schemeClr val="bg2"/>
              </a:solidFill>
            </a:endParaRPr>
          </a:p>
          <a:p>
            <a:r>
              <a:rPr lang="en-US" altLang="zh-CN" sz="1400" dirty="0">
                <a:solidFill>
                  <a:schemeClr val="bg2"/>
                </a:solidFill>
              </a:rPr>
              <a:t>The standard implementation of Python is called “</a:t>
            </a:r>
            <a:r>
              <a:rPr lang="en-US" altLang="zh-CN" sz="1400" dirty="0" err="1">
                <a:solidFill>
                  <a:schemeClr val="bg2"/>
                </a:solidFill>
              </a:rPr>
              <a:t>CPython</a:t>
            </a:r>
            <a:r>
              <a:rPr lang="en-US" altLang="zh-CN" sz="1400" dirty="0">
                <a:solidFill>
                  <a:schemeClr val="bg2"/>
                </a:solidFill>
              </a:rPr>
              <a:t>”. It is the default and widely used implementation of Python.  More: </a:t>
            </a:r>
            <a:r>
              <a:rPr lang="en-US" altLang="zh-CN" sz="1400" dirty="0" err="1">
                <a:solidFill>
                  <a:schemeClr val="bg2"/>
                </a:solidFill>
              </a:rPr>
              <a:t>CPython</a:t>
            </a:r>
            <a:r>
              <a:rPr lang="en-US" altLang="zh-CN" sz="1400" dirty="0">
                <a:solidFill>
                  <a:schemeClr val="bg2"/>
                </a:solidFill>
              </a:rPr>
              <a:t>, </a:t>
            </a:r>
            <a:r>
              <a:rPr lang="en-US" altLang="zh-CN" sz="1400" dirty="0" err="1">
                <a:solidFill>
                  <a:schemeClr val="bg2"/>
                </a:solidFill>
              </a:rPr>
              <a:t>Cython</a:t>
            </a:r>
            <a:r>
              <a:rPr lang="en-US" altLang="zh-CN" sz="1400" dirty="0">
                <a:solidFill>
                  <a:schemeClr val="bg2"/>
                </a:solidFill>
              </a:rPr>
              <a:t>, </a:t>
            </a:r>
            <a:r>
              <a:rPr lang="en-US" altLang="zh-CN" sz="1400" dirty="0" err="1">
                <a:solidFill>
                  <a:schemeClr val="bg2"/>
                </a:solidFill>
              </a:rPr>
              <a:t>Jython</a:t>
            </a:r>
            <a:r>
              <a:rPr lang="en-US" altLang="zh-CN" sz="1400" dirty="0">
                <a:solidFill>
                  <a:schemeClr val="bg2"/>
                </a:solidFill>
              </a:rPr>
              <a:t>, </a:t>
            </a:r>
            <a:r>
              <a:rPr lang="en-US" altLang="zh-CN" sz="1400" dirty="0" err="1">
                <a:solidFill>
                  <a:schemeClr val="bg2"/>
                </a:solidFill>
              </a:rPr>
              <a:t>PyPy</a:t>
            </a:r>
            <a:r>
              <a:rPr lang="en-US" altLang="zh-CN" sz="1400" dirty="0">
                <a:solidFill>
                  <a:schemeClr val="bg2"/>
                </a:solidFill>
              </a:rPr>
              <a:t>, </a:t>
            </a:r>
            <a:r>
              <a:rPr lang="en-US" altLang="zh-CN" sz="1400" dirty="0" err="1">
                <a:solidFill>
                  <a:schemeClr val="bg2"/>
                </a:solidFill>
              </a:rPr>
              <a:t>Nuitka</a:t>
            </a:r>
            <a:r>
              <a:rPr lang="en-US" altLang="zh-CN" sz="1400" dirty="0">
                <a:solidFill>
                  <a:schemeClr val="bg2"/>
                </a:solidFill>
              </a:rPr>
              <a:t>, Coco</a:t>
            </a:r>
            <a:endParaRPr lang="en-US" altLang="zh-CN" sz="1400" dirty="0">
              <a:solidFill>
                <a:schemeClr val="bg2"/>
              </a:solidFill>
            </a:endParaRPr>
          </a:p>
        </p:txBody>
      </p:sp>
      <p:pic>
        <p:nvPicPr>
          <p:cNvPr id="1030" name="Picture 6" descr="Internal-working-of-Python-(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17948" y="971276"/>
            <a:ext cx="6351910" cy="1161208"/>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p:cNvSpPr txBox="1"/>
          <p:nvPr/>
        </p:nvSpPr>
        <p:spPr>
          <a:xfrm>
            <a:off x="114183" y="4804413"/>
            <a:ext cx="4777230" cy="253916"/>
          </a:xfrm>
          <a:prstGeom prst="rect">
            <a:avLst/>
          </a:prstGeom>
          <a:noFill/>
        </p:spPr>
        <p:txBody>
          <a:bodyPr wrap="square">
            <a:spAutoFit/>
          </a:bodyPr>
          <a:lstStyle/>
          <a:p>
            <a:r>
              <a:rPr lang="zh-CN" altLang="en-US" sz="1050" dirty="0">
                <a:latin typeface="Source Sans Pro" panose="020B0503030403020204" pitchFamily="34" charset="0"/>
              </a:rPr>
              <a:t>https://www.geeksforgeeks.org/internal-working-of-python/</a:t>
            </a:r>
            <a:endParaRPr lang="en-US" altLang="zh-CN" sz="1050" dirty="0">
              <a:latin typeface="Source Sans Pro" panose="020B0503030403020204" pitchFamily="34"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1700" y="27830"/>
            <a:ext cx="8520600" cy="623400"/>
          </a:xfrm>
        </p:spPr>
        <p:txBody>
          <a:bodyPr>
            <a:normAutofit fontScale="90000"/>
          </a:bodyPr>
          <a:lstStyle/>
          <a:p>
            <a:r>
              <a:rPr lang="en-US" altLang="zh-CN" dirty="0" err="1"/>
              <a:t>CPython</a:t>
            </a:r>
            <a:endParaRPr lang="zh-CN" altLang="en-US" dirty="0"/>
          </a:p>
        </p:txBody>
      </p:sp>
      <p:sp>
        <p:nvSpPr>
          <p:cNvPr id="3" name="文本占位符 2"/>
          <p:cNvSpPr>
            <a:spLocks noGrp="1"/>
          </p:cNvSpPr>
          <p:nvPr>
            <p:ph type="body" idx="1"/>
          </p:nvPr>
        </p:nvSpPr>
        <p:spPr>
          <a:xfrm>
            <a:off x="96434" y="456514"/>
            <a:ext cx="6671561" cy="3500451"/>
          </a:xfrm>
        </p:spPr>
        <p:txBody>
          <a:bodyPr>
            <a:normAutofit/>
          </a:bodyPr>
          <a:lstStyle/>
          <a:p>
            <a:r>
              <a:rPr lang="en-US" altLang="zh-CN" sz="1400" dirty="0">
                <a:solidFill>
                  <a:schemeClr val="bg2"/>
                </a:solidFill>
              </a:rPr>
              <a:t>When you type python at the console or install a Python distribution from python.org, you are running </a:t>
            </a:r>
            <a:r>
              <a:rPr lang="en-US" altLang="zh-CN" sz="1400" dirty="0" err="1">
                <a:solidFill>
                  <a:schemeClr val="bg2"/>
                </a:solidFill>
              </a:rPr>
              <a:t>CPython</a:t>
            </a:r>
            <a:r>
              <a:rPr lang="en-US" altLang="zh-CN" sz="1400" dirty="0">
                <a:solidFill>
                  <a:schemeClr val="bg2"/>
                </a:solidFill>
              </a:rPr>
              <a:t>. </a:t>
            </a:r>
            <a:endParaRPr lang="en-US" altLang="zh-CN" sz="1400" dirty="0">
              <a:solidFill>
                <a:schemeClr val="bg2"/>
              </a:solidFill>
            </a:endParaRPr>
          </a:p>
          <a:p>
            <a:pPr lvl="1"/>
            <a:r>
              <a:rPr lang="en-US" altLang="zh-CN" sz="1200" dirty="0">
                <a:solidFill>
                  <a:schemeClr val="bg2"/>
                </a:solidFill>
              </a:rPr>
              <a:t>The unique thing about </a:t>
            </a:r>
            <a:r>
              <a:rPr lang="en-US" altLang="zh-CN" sz="1200" dirty="0" err="1">
                <a:solidFill>
                  <a:schemeClr val="bg2"/>
                </a:solidFill>
              </a:rPr>
              <a:t>CPython</a:t>
            </a:r>
            <a:r>
              <a:rPr lang="en-US" altLang="zh-CN" sz="1200" dirty="0">
                <a:solidFill>
                  <a:schemeClr val="bg2"/>
                </a:solidFill>
              </a:rPr>
              <a:t> is that it contains both a runtime and the shared language specification that all Python runtimes use. </a:t>
            </a:r>
            <a:r>
              <a:rPr lang="en-US" altLang="zh-CN" sz="1200" dirty="0" err="1">
                <a:solidFill>
                  <a:schemeClr val="bg2"/>
                </a:solidFill>
              </a:rPr>
              <a:t>CPython</a:t>
            </a:r>
            <a:r>
              <a:rPr lang="en-US" altLang="zh-CN" sz="1200" dirty="0">
                <a:solidFill>
                  <a:schemeClr val="bg2"/>
                </a:solidFill>
              </a:rPr>
              <a:t> is the “official,” or reference implementation of Python</a:t>
            </a:r>
            <a:endParaRPr lang="en-US" altLang="zh-CN" sz="1200" dirty="0">
              <a:solidFill>
                <a:schemeClr val="bg2"/>
              </a:solidFill>
            </a:endParaRPr>
          </a:p>
          <a:p>
            <a:r>
              <a:rPr lang="en-US" altLang="zh-CN" sz="1400" dirty="0">
                <a:solidFill>
                  <a:schemeClr val="bg2"/>
                </a:solidFill>
              </a:rPr>
              <a:t>The C in </a:t>
            </a:r>
            <a:r>
              <a:rPr lang="en-US" altLang="zh-CN" sz="1400" dirty="0" err="1">
                <a:solidFill>
                  <a:schemeClr val="bg2"/>
                </a:solidFill>
              </a:rPr>
              <a:t>CPython</a:t>
            </a:r>
            <a:r>
              <a:rPr lang="en-US" altLang="zh-CN" sz="1400" dirty="0">
                <a:solidFill>
                  <a:schemeClr val="bg2"/>
                </a:solidFill>
              </a:rPr>
              <a:t> is a reference to the C programming language, implying that </a:t>
            </a:r>
            <a:r>
              <a:rPr lang="en-US" altLang="zh-CN" sz="1400" dirty="0">
                <a:solidFill>
                  <a:schemeClr val="tx1"/>
                </a:solidFill>
              </a:rPr>
              <a:t>this Python distribution is written in the C language</a:t>
            </a:r>
            <a:endParaRPr lang="en-US" altLang="zh-CN" sz="1400" dirty="0">
              <a:solidFill>
                <a:schemeClr val="tx1"/>
              </a:solidFill>
            </a:endParaRPr>
          </a:p>
          <a:p>
            <a:r>
              <a:rPr lang="en-US" altLang="zh-CN" sz="1400" dirty="0">
                <a:solidFill>
                  <a:schemeClr val="tx1"/>
                </a:solidFill>
              </a:rPr>
              <a:t>The compiler in </a:t>
            </a:r>
            <a:r>
              <a:rPr lang="en-US" altLang="zh-CN" sz="1400" dirty="0" err="1">
                <a:solidFill>
                  <a:schemeClr val="tx1"/>
                </a:solidFill>
              </a:rPr>
              <a:t>CPython</a:t>
            </a:r>
            <a:r>
              <a:rPr lang="en-US" altLang="zh-CN" sz="1400" dirty="0">
                <a:solidFill>
                  <a:schemeClr val="tx1"/>
                </a:solidFill>
              </a:rPr>
              <a:t> is written in pure C. </a:t>
            </a:r>
            <a:r>
              <a:rPr lang="en-US" altLang="zh-CN" sz="1400" dirty="0">
                <a:solidFill>
                  <a:schemeClr val="bg2"/>
                </a:solidFill>
              </a:rPr>
              <a:t>However, many of the standard library modules are written in pure Python or a combination of C and Python</a:t>
            </a:r>
            <a:endParaRPr lang="en-US" altLang="zh-CN" sz="1400" dirty="0">
              <a:solidFill>
                <a:schemeClr val="bg2"/>
              </a:solidFill>
            </a:endParaRPr>
          </a:p>
          <a:p>
            <a:pPr lvl="1"/>
            <a:r>
              <a:rPr lang="en-US" altLang="zh-CN" sz="1200" dirty="0">
                <a:solidFill>
                  <a:schemeClr val="bg2"/>
                </a:solidFill>
              </a:rPr>
              <a:t>Programs/</a:t>
            </a:r>
            <a:r>
              <a:rPr lang="en-US" altLang="zh-CN" sz="1200" dirty="0" err="1">
                <a:solidFill>
                  <a:schemeClr val="bg2"/>
                </a:solidFill>
              </a:rPr>
              <a:t>python.c</a:t>
            </a:r>
            <a:r>
              <a:rPr lang="en-US" altLang="zh-CN" sz="1200" dirty="0">
                <a:solidFill>
                  <a:schemeClr val="bg2"/>
                </a:solidFill>
              </a:rPr>
              <a:t> is a simple entry point</a:t>
            </a:r>
            <a:endParaRPr lang="en-US" altLang="zh-CN" sz="1200" dirty="0">
              <a:solidFill>
                <a:schemeClr val="bg2"/>
              </a:solidFill>
            </a:endParaRPr>
          </a:p>
          <a:p>
            <a:pPr lvl="1"/>
            <a:r>
              <a:rPr lang="en-US" altLang="zh-CN" sz="1200" dirty="0">
                <a:solidFill>
                  <a:schemeClr val="bg2"/>
                </a:solidFill>
              </a:rPr>
              <a:t>Modules/</a:t>
            </a:r>
            <a:r>
              <a:rPr lang="en-US" altLang="zh-CN" sz="1200" dirty="0" err="1">
                <a:solidFill>
                  <a:schemeClr val="bg2"/>
                </a:solidFill>
              </a:rPr>
              <a:t>main.c</a:t>
            </a:r>
            <a:r>
              <a:rPr lang="en-US" altLang="zh-CN" sz="1200" dirty="0">
                <a:solidFill>
                  <a:schemeClr val="bg2"/>
                </a:solidFill>
              </a:rPr>
              <a:t> contains the code to bring together the whole process, loading configuration, executing code and clearing up memory</a:t>
            </a:r>
            <a:endParaRPr lang="en-US" altLang="zh-CN" sz="1200" dirty="0">
              <a:solidFill>
                <a:schemeClr val="bg2"/>
              </a:solidFill>
            </a:endParaRPr>
          </a:p>
          <a:p>
            <a:pPr lvl="1"/>
            <a:r>
              <a:rPr lang="en-US" altLang="zh-CN" sz="1200" dirty="0">
                <a:solidFill>
                  <a:schemeClr val="bg2"/>
                </a:solidFill>
              </a:rPr>
              <a:t>Python/</a:t>
            </a:r>
            <a:r>
              <a:rPr lang="en-US" altLang="zh-CN" sz="1200" dirty="0" err="1">
                <a:solidFill>
                  <a:schemeClr val="bg2"/>
                </a:solidFill>
              </a:rPr>
              <a:t>initconfig.c</a:t>
            </a:r>
            <a:r>
              <a:rPr lang="en-US" altLang="zh-CN" sz="1200" dirty="0">
                <a:solidFill>
                  <a:schemeClr val="bg2"/>
                </a:solidFill>
              </a:rPr>
              <a:t> loads the configuration from the system environment and merges it with any command-line flags</a:t>
            </a:r>
            <a:endParaRPr lang="zh-CN" altLang="en-US" sz="1200" dirty="0">
              <a:solidFill>
                <a:schemeClr val="bg2"/>
              </a:solidFill>
            </a:endParaRPr>
          </a:p>
        </p:txBody>
      </p:sp>
      <p:sp>
        <p:nvSpPr>
          <p:cNvPr id="6" name="文本框 5"/>
          <p:cNvSpPr txBox="1"/>
          <p:nvPr/>
        </p:nvSpPr>
        <p:spPr>
          <a:xfrm>
            <a:off x="96252" y="4652925"/>
            <a:ext cx="4572000" cy="461665"/>
          </a:xfrm>
          <a:prstGeom prst="rect">
            <a:avLst/>
          </a:prstGeom>
          <a:noFill/>
        </p:spPr>
        <p:txBody>
          <a:bodyPr wrap="square">
            <a:spAutoFit/>
          </a:bodyPr>
          <a:lstStyle/>
          <a:p>
            <a:r>
              <a:rPr lang="en-US" altLang="zh-CN" sz="1200" dirty="0">
                <a:latin typeface="Source Sans Pro" panose="020B0503030403020204" pitchFamily="34" charset="0"/>
                <a:ea typeface="Source Sans Pro" panose="020B0503030403020204" pitchFamily="34" charset="0"/>
              </a:rPr>
              <a:t>https://realpython.com/cpython-source-code-guide/</a:t>
            </a:r>
            <a:endParaRPr lang="en-US" altLang="zh-CN" sz="1200" dirty="0">
              <a:latin typeface="Source Sans Pro" panose="020B0503030403020204" pitchFamily="34" charset="0"/>
              <a:ea typeface="Source Sans Pro" panose="020B0503030403020204" pitchFamily="34" charset="0"/>
            </a:endParaRPr>
          </a:p>
          <a:p>
            <a:r>
              <a:rPr lang="en-US" altLang="zh-CN" sz="1200" dirty="0">
                <a:latin typeface="Source Sans Pro" panose="020B0503030403020204" pitchFamily="34" charset="0"/>
                <a:ea typeface="Source Sans Pro" panose="020B0503030403020204" pitchFamily="34" charset="0"/>
              </a:rPr>
              <a:t>https://github.com/python/cpython</a:t>
            </a:r>
            <a:endParaRPr lang="zh-CN" altLang="en-US" sz="1200" dirty="0">
              <a:latin typeface="Source Sans Pro" panose="020B0503030403020204" pitchFamily="34" charset="0"/>
            </a:endParaRPr>
          </a:p>
        </p:txBody>
      </p:sp>
      <p:pic>
        <p:nvPicPr>
          <p:cNvPr id="7" name="图片 6" descr="汽车的赛车&#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983260" y="1764337"/>
            <a:ext cx="1918570" cy="1822120"/>
          </a:xfrm>
          <a:prstGeom prst="rect">
            <a:avLst/>
          </a:prstGeom>
        </p:spPr>
      </p:pic>
      <p:sp>
        <p:nvSpPr>
          <p:cNvPr id="4" name="文本框 3"/>
          <p:cNvSpPr txBox="1"/>
          <p:nvPr/>
        </p:nvSpPr>
        <p:spPr>
          <a:xfrm>
            <a:off x="7367149" y="4006594"/>
            <a:ext cx="1343714" cy="646331"/>
          </a:xfrm>
          <a:prstGeom prst="rect">
            <a:avLst/>
          </a:prstGeom>
          <a:noFill/>
        </p:spPr>
        <p:txBody>
          <a:bodyPr wrap="square" rtlCol="0">
            <a:spAutoFit/>
          </a:bodyPr>
          <a:lstStyle/>
          <a:p>
            <a:r>
              <a:rPr lang="en-US" altLang="zh-CN" sz="1200" dirty="0">
                <a:latin typeface="Source Sans Pro" panose="020B0503030403020204" pitchFamily="34" charset="0"/>
                <a:ea typeface="Source Sans Pro" panose="020B0503030403020204" pitchFamily="34" charset="0"/>
              </a:rPr>
              <a:t>Python: </a:t>
            </a:r>
            <a:r>
              <a:rPr lang="zh-CN" altLang="en-US" sz="1200" dirty="0">
                <a:latin typeface="Source Sans Pro" panose="020B0503030403020204" pitchFamily="34" charset="0"/>
                <a:ea typeface="黑体" panose="02010609060101010101" pitchFamily="49" charset="-122"/>
              </a:rPr>
              <a:t>岁月静好</a:t>
            </a:r>
            <a:endParaRPr lang="en-US" altLang="zh-CN" sz="1200" dirty="0">
              <a:latin typeface="Source Sans Pro" panose="020B0503030403020204" pitchFamily="34" charset="0"/>
              <a:ea typeface="Source Sans Pro" panose="020B0503030403020204" pitchFamily="34" charset="0"/>
            </a:endParaRPr>
          </a:p>
          <a:p>
            <a:r>
              <a:rPr lang="en-US" altLang="zh-CN" sz="1200" dirty="0">
                <a:latin typeface="Source Sans Pro" panose="020B0503030403020204" pitchFamily="34" charset="0"/>
                <a:ea typeface="Source Sans Pro" panose="020B0503030403020204" pitchFamily="34" charset="0"/>
              </a:rPr>
              <a:t>C: </a:t>
            </a:r>
            <a:r>
              <a:rPr lang="zh-CN" altLang="en-US" sz="1200" dirty="0">
                <a:latin typeface="Source Sans Pro" panose="020B0503030403020204" pitchFamily="34" charset="0"/>
                <a:ea typeface="黑体" panose="02010609060101010101" pitchFamily="49" charset="-122"/>
              </a:rPr>
              <a:t>负重前行</a:t>
            </a:r>
            <a:endParaRPr lang="en-US" altLang="zh-CN" sz="1200" dirty="0">
              <a:latin typeface="Source Sans Pro" panose="020B0503030403020204" pitchFamily="34" charset="0"/>
              <a:ea typeface="Source Sans Pro" panose="020B0503030403020204" pitchFamily="34" charset="0"/>
            </a:endParaRPr>
          </a:p>
          <a:p>
            <a:r>
              <a:rPr lang="en-US" altLang="zh-CN" sz="1200" dirty="0">
                <a:latin typeface="Source Sans Pro" panose="020B0503030403020204" pitchFamily="34" charset="0"/>
                <a:ea typeface="Source Sans Pro" panose="020B0503030403020204" pitchFamily="34" charset="0"/>
              </a:rPr>
              <a:t>C</a:t>
            </a:r>
            <a:r>
              <a:rPr lang="en-US" altLang="zh-CN" sz="1200" dirty="0">
                <a:latin typeface="Source Sans Pro" panose="020B0503030403020204" pitchFamily="34" charset="0"/>
                <a:ea typeface="黑体" panose="02010609060101010101" pitchFamily="49" charset="-122"/>
              </a:rPr>
              <a:t>, </a:t>
            </a:r>
            <a:r>
              <a:rPr lang="en-US" altLang="zh-CN" sz="1200" dirty="0">
                <a:latin typeface="Source Sans Pro" panose="020B0503030403020204" pitchFamily="34" charset="0"/>
                <a:ea typeface="Source Sans Pro" panose="020B0503030403020204" pitchFamily="34" charset="0"/>
              </a:rPr>
              <a:t>not C++</a:t>
            </a:r>
            <a:endParaRPr lang="en-US" altLang="zh-CN" sz="1200" dirty="0">
              <a:latin typeface="Source Sans Pro" panose="020B0503030403020204" pitchFamily="34" charset="0"/>
              <a:ea typeface="Source Sans Pro" panose="020B0503030403020204" pitchFamily="34" charset="0"/>
            </a:endParaRPr>
          </a:p>
        </p:txBody>
      </p:sp>
      <p:sp>
        <p:nvSpPr>
          <p:cNvPr id="5" name="文本框 4"/>
          <p:cNvSpPr txBox="1"/>
          <p:nvPr/>
        </p:nvSpPr>
        <p:spPr>
          <a:xfrm>
            <a:off x="64135" y="2571750"/>
            <a:ext cx="6946265" cy="2245360"/>
          </a:xfrm>
          <a:prstGeom prst="rect">
            <a:avLst/>
          </a:prstGeom>
          <a:noFill/>
        </p:spPr>
        <p:txBody>
          <a:bodyPr wrap="square" rtlCol="0">
            <a:spAutoFit/>
          </a:bodyPr>
          <a:p>
            <a:r>
              <a:rPr lang="zh-CN" altLang="en-US">
                <a:highlight>
                  <a:srgbClr val="FFFF00"/>
                </a:highlight>
              </a:rPr>
              <a:t>在控制台中键入 python 或从 python.org 安装 Python 发行版时，您运行的是 CPython。</a:t>
            </a:r>
            <a:endParaRPr lang="zh-CN" altLang="en-US">
              <a:highlight>
                <a:srgbClr val="FFFF00"/>
              </a:highlight>
            </a:endParaRPr>
          </a:p>
          <a:p>
            <a:r>
              <a:rPr lang="zh-CN" altLang="en-US">
                <a:highlight>
                  <a:srgbClr val="FFFF00"/>
                </a:highlight>
              </a:rPr>
              <a:t>CPython 的独特之处在于它包含所有 Python 运行时使用的运行时和共享语言规范。CPython 是 Python 的“官方”或参考实现</a:t>
            </a:r>
            <a:endParaRPr lang="zh-CN" altLang="en-US">
              <a:highlight>
                <a:srgbClr val="FFFF00"/>
              </a:highlight>
            </a:endParaRPr>
          </a:p>
          <a:p>
            <a:r>
              <a:rPr lang="zh-CN" altLang="en-US">
                <a:highlight>
                  <a:srgbClr val="FFFF00"/>
                </a:highlight>
              </a:rPr>
              <a:t>CPython 中的 C 是对 C 编程语言的引用，这意味着此 Python 发行版是用 C 语言编写的</a:t>
            </a:r>
            <a:endParaRPr lang="zh-CN" altLang="en-US">
              <a:highlight>
                <a:srgbClr val="FFFF00"/>
              </a:highlight>
            </a:endParaRPr>
          </a:p>
          <a:p>
            <a:r>
              <a:rPr lang="zh-CN" altLang="en-US">
                <a:highlight>
                  <a:srgbClr val="FFFF00"/>
                </a:highlight>
              </a:rPr>
              <a:t>CPython 中的编译器是用纯 C 语言编写的。但是，许多标准库模块是用纯 Python 或 C 和 Python 的组合编写的</a:t>
            </a:r>
            <a:endParaRPr lang="zh-CN" altLang="en-US">
              <a:highlight>
                <a:srgbClr val="FFFF00"/>
              </a:highlight>
            </a:endParaRPr>
          </a:p>
          <a:p>
            <a:r>
              <a:rPr lang="zh-CN" altLang="en-US">
                <a:highlight>
                  <a:srgbClr val="FFFF00"/>
                </a:highlight>
              </a:rPr>
              <a:t>Programs/python.c 是一个简单的入口点</a:t>
            </a:r>
            <a:endParaRPr lang="zh-CN" altLang="en-US">
              <a:highlight>
                <a:srgbClr val="FFFF00"/>
              </a:highlight>
            </a:endParaRPr>
          </a:p>
          <a:p>
            <a:r>
              <a:rPr lang="zh-CN" altLang="en-US">
                <a:highlight>
                  <a:srgbClr val="FFFF00"/>
                </a:highlight>
              </a:rPr>
              <a:t>Modules/main.c 包含将整个过程、加载配置、执行代码和清理内存整合在一起的代码</a:t>
            </a:r>
            <a:endParaRPr lang="zh-CN" altLang="en-US">
              <a:highlight>
                <a:srgbClr val="FFFF00"/>
              </a:highlight>
            </a:endParaRPr>
          </a:p>
          <a:p>
            <a:r>
              <a:rPr lang="zh-CN" altLang="en-US">
                <a:highlight>
                  <a:srgbClr val="FFFF00"/>
                </a:highlight>
              </a:rPr>
              <a:t>Python/initconfig.c 从系统环境加载配置并将其与任何命令行标志合并</a:t>
            </a:r>
            <a:endParaRPr lang="zh-CN" altLang="en-US">
              <a:highlight>
                <a:srgbClr val="FFFF00"/>
              </a:highlight>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1700" y="185310"/>
            <a:ext cx="8520600" cy="623400"/>
          </a:xfrm>
        </p:spPr>
        <p:txBody>
          <a:bodyPr>
            <a:normAutofit fontScale="90000"/>
          </a:bodyPr>
          <a:lstStyle/>
          <a:p>
            <a:r>
              <a:rPr lang="en-US" altLang="zh-CN" dirty="0"/>
              <a:t>Bytecode</a:t>
            </a:r>
            <a:endParaRPr lang="zh-CN" altLang="en-US" dirty="0"/>
          </a:p>
        </p:txBody>
      </p:sp>
      <p:sp>
        <p:nvSpPr>
          <p:cNvPr id="3" name="文本占位符 2"/>
          <p:cNvSpPr>
            <a:spLocks noGrp="1"/>
          </p:cNvSpPr>
          <p:nvPr>
            <p:ph type="body" idx="1"/>
          </p:nvPr>
        </p:nvSpPr>
        <p:spPr>
          <a:xfrm>
            <a:off x="339725" y="725805"/>
            <a:ext cx="8520430" cy="4037330"/>
          </a:xfrm>
        </p:spPr>
        <p:txBody>
          <a:bodyPr>
            <a:normAutofit fontScale="90000" lnSpcReduction="10000"/>
          </a:bodyPr>
          <a:lstStyle/>
          <a:p>
            <a:r>
              <a:rPr lang="en-US" altLang="zh-CN" sz="1400" dirty="0">
                <a:solidFill>
                  <a:schemeClr val="bg2"/>
                </a:solidFill>
              </a:rPr>
              <a:t>Byte Code is automatically created in the same directory as .</a:t>
            </a:r>
            <a:r>
              <a:rPr lang="en-US" altLang="zh-CN" sz="1400" dirty="0" err="1">
                <a:solidFill>
                  <a:schemeClr val="bg2"/>
                </a:solidFill>
              </a:rPr>
              <a:t>py</a:t>
            </a:r>
            <a:r>
              <a:rPr lang="en-US" altLang="zh-CN" sz="1400" dirty="0">
                <a:solidFill>
                  <a:schemeClr val="bg2"/>
                </a:solidFill>
              </a:rPr>
              <a:t> file, when a module of python is imported for the first time, or when the source is more recent than the current compiled file. </a:t>
            </a:r>
            <a:endParaRPr lang="en-US" altLang="zh-CN" sz="1400" dirty="0">
              <a:solidFill>
                <a:schemeClr val="bg2"/>
              </a:solidFill>
            </a:endParaRPr>
          </a:p>
          <a:p>
            <a:pPr lvl="1"/>
            <a:r>
              <a:rPr lang="en-US" altLang="zh-CN" sz="1200" dirty="0">
                <a:solidFill>
                  <a:schemeClr val="bg2"/>
                </a:solidFill>
              </a:rPr>
              <a:t>Next time, when the program is run, python interpreter use this file to skip the compilation step. </a:t>
            </a:r>
            <a:endParaRPr lang="en-US" altLang="zh-CN" sz="1200" dirty="0">
              <a:solidFill>
                <a:schemeClr val="bg2"/>
              </a:solidFill>
            </a:endParaRPr>
          </a:p>
          <a:p>
            <a:pPr marL="596900" lvl="1" indent="0">
              <a:buNone/>
            </a:pPr>
            <a:r>
              <a:rPr lang="en-US" altLang="zh-CN" sz="1200" dirty="0">
                <a:solidFill>
                  <a:schemeClr val="bg2"/>
                </a:solidFill>
              </a:rPr>
              <a:t>字节码在与 .py 文件相同的目录中自动创建，当首次导入 python 模块时，或者当源比当前编译文件更新时。</a:t>
            </a:r>
            <a:endParaRPr lang="en-US" altLang="zh-CN" sz="1200" dirty="0">
              <a:solidFill>
                <a:schemeClr val="bg2"/>
              </a:solidFill>
            </a:endParaRPr>
          </a:p>
          <a:p>
            <a:pPr marL="596900" lvl="1" indent="0">
              <a:buNone/>
            </a:pPr>
            <a:r>
              <a:rPr lang="en-US" altLang="zh-CN" sz="1200" dirty="0">
                <a:solidFill>
                  <a:schemeClr val="bg2"/>
                </a:solidFill>
              </a:rPr>
              <a:t>当程序</a:t>
            </a:r>
            <a:r>
              <a:rPr lang="zh-CN" altLang="en-US" sz="1200" dirty="0">
                <a:solidFill>
                  <a:schemeClr val="bg2"/>
                </a:solidFill>
              </a:rPr>
              <a:t>下次</a:t>
            </a:r>
            <a:r>
              <a:rPr lang="en-US" altLang="zh-CN" sz="1200" dirty="0">
                <a:solidFill>
                  <a:schemeClr val="bg2"/>
                </a:solidFill>
              </a:rPr>
              <a:t>运行时，python解释器使用此文件跳过编译步骤。</a:t>
            </a:r>
            <a:endParaRPr lang="en-US" altLang="zh-CN" sz="1200" dirty="0">
              <a:solidFill>
                <a:schemeClr val="bg2"/>
              </a:solidFill>
            </a:endParaRPr>
          </a:p>
          <a:p>
            <a:r>
              <a:rPr lang="en-US" altLang="zh-CN" sz="1400" dirty="0">
                <a:solidFill>
                  <a:schemeClr val="bg2"/>
                </a:solidFill>
              </a:rPr>
              <a:t>Running a script is not considered an import and </a:t>
            </a:r>
            <a:r>
              <a:rPr lang="en-US" altLang="zh-CN" sz="1400" dirty="0">
                <a:solidFill>
                  <a:schemeClr val="tx1"/>
                </a:solidFill>
              </a:rPr>
              <a:t>no .</a:t>
            </a:r>
            <a:r>
              <a:rPr lang="en-US" altLang="zh-CN" sz="1400" dirty="0" err="1">
                <a:solidFill>
                  <a:schemeClr val="tx1"/>
                </a:solidFill>
              </a:rPr>
              <a:t>pyc</a:t>
            </a:r>
            <a:r>
              <a:rPr lang="en-US" altLang="zh-CN" sz="1400" dirty="0">
                <a:solidFill>
                  <a:schemeClr val="tx1"/>
                </a:solidFill>
              </a:rPr>
              <a:t> file </a:t>
            </a:r>
            <a:r>
              <a:rPr lang="en-US" altLang="zh-CN" sz="1400" dirty="0">
                <a:solidFill>
                  <a:schemeClr val="bg2"/>
                </a:solidFill>
              </a:rPr>
              <a:t>will be created. </a:t>
            </a:r>
            <a:endParaRPr lang="en-US" altLang="zh-CN" sz="1400" dirty="0">
              <a:solidFill>
                <a:schemeClr val="bg2"/>
              </a:solidFill>
            </a:endParaRPr>
          </a:p>
          <a:p>
            <a:pPr lvl="1"/>
            <a:r>
              <a:rPr lang="en-US" altLang="zh-CN" sz="1200" dirty="0">
                <a:solidFill>
                  <a:schemeClr val="bg2"/>
                </a:solidFill>
              </a:rPr>
              <a:t>Running a script is not considered an import and no .</a:t>
            </a:r>
            <a:r>
              <a:rPr lang="en-US" altLang="zh-CN" sz="1200" dirty="0" err="1">
                <a:solidFill>
                  <a:schemeClr val="bg2"/>
                </a:solidFill>
              </a:rPr>
              <a:t>pyc</a:t>
            </a:r>
            <a:r>
              <a:rPr lang="en-US" altLang="zh-CN" sz="1200" dirty="0">
                <a:solidFill>
                  <a:schemeClr val="bg2"/>
                </a:solidFill>
              </a:rPr>
              <a:t> file will be created. For instance, let’s write a script file abc.py that imports another module xyz.py. Now run abc.py file, </a:t>
            </a:r>
            <a:r>
              <a:rPr lang="en-US" altLang="zh-CN" sz="1200" dirty="0" err="1">
                <a:solidFill>
                  <a:schemeClr val="bg2"/>
                </a:solidFill>
              </a:rPr>
              <a:t>xyz.pyc</a:t>
            </a:r>
            <a:r>
              <a:rPr lang="en-US" altLang="zh-CN" sz="1200" dirty="0">
                <a:solidFill>
                  <a:schemeClr val="bg2"/>
                </a:solidFill>
              </a:rPr>
              <a:t> will be created since </a:t>
            </a:r>
            <a:r>
              <a:rPr lang="en-US" altLang="zh-CN" sz="1200" dirty="0" err="1">
                <a:solidFill>
                  <a:schemeClr val="bg2"/>
                </a:solidFill>
              </a:rPr>
              <a:t>xyz</a:t>
            </a:r>
            <a:r>
              <a:rPr lang="en-US" altLang="zh-CN" sz="1200" dirty="0">
                <a:solidFill>
                  <a:schemeClr val="bg2"/>
                </a:solidFill>
              </a:rPr>
              <a:t> is imported, but no </a:t>
            </a:r>
            <a:r>
              <a:rPr lang="en-US" altLang="zh-CN" sz="1200" dirty="0" err="1">
                <a:solidFill>
                  <a:schemeClr val="bg2"/>
                </a:solidFill>
              </a:rPr>
              <a:t>abc.pyc</a:t>
            </a:r>
            <a:r>
              <a:rPr lang="en-US" altLang="zh-CN" sz="1200" dirty="0">
                <a:solidFill>
                  <a:schemeClr val="bg2"/>
                </a:solidFill>
              </a:rPr>
              <a:t> file will be created since abc.py isn’t being imported. </a:t>
            </a:r>
            <a:endParaRPr lang="en-US" altLang="zh-CN" sz="1200" dirty="0">
              <a:solidFill>
                <a:schemeClr val="bg2"/>
              </a:solidFill>
            </a:endParaRPr>
          </a:p>
          <a:p>
            <a:pPr lvl="1"/>
            <a:r>
              <a:rPr lang="en-US" altLang="zh-CN" sz="1200" dirty="0">
                <a:solidFill>
                  <a:schemeClr val="bg2"/>
                </a:solidFill>
              </a:rPr>
              <a:t>运行脚本不被视为导入，并且不会创建 .pyc 文件。例如，让我们编写一个脚本文件 abc.py，用于导入另一个模块 xyz.py。现在运行 abc.py 文件，由于导入了 xyz，因此将创建 xyz.pyc，但由于未导入 abc.py，因此不会创建 abc.pyc 文件。</a:t>
            </a:r>
            <a:endParaRPr lang="en-US" altLang="zh-CN" sz="1200" dirty="0">
              <a:solidFill>
                <a:schemeClr val="bg2"/>
              </a:solidFill>
            </a:endParaRPr>
          </a:p>
          <a:p>
            <a:r>
              <a:rPr lang="en-US" altLang="zh-CN" sz="1400" dirty="0">
                <a:solidFill>
                  <a:schemeClr val="bg2"/>
                </a:solidFill>
              </a:rPr>
              <a:t>Advantage of bytecode</a:t>
            </a:r>
            <a:endParaRPr lang="en-US" altLang="zh-CN" sz="1400" dirty="0">
              <a:solidFill>
                <a:schemeClr val="bg2"/>
              </a:solidFill>
            </a:endParaRPr>
          </a:p>
          <a:p>
            <a:pPr lvl="1"/>
            <a:r>
              <a:rPr lang="en-US" altLang="zh-CN" sz="1200" dirty="0">
                <a:solidFill>
                  <a:schemeClr val="bg2"/>
                </a:solidFill>
              </a:rPr>
              <a:t>Portability: Bytecode can be executed on any platform with a Python interpreter, ensuring that Python code is cross-platform.</a:t>
            </a:r>
            <a:endParaRPr lang="en-US" altLang="zh-CN" sz="1200" dirty="0">
              <a:solidFill>
                <a:schemeClr val="bg2"/>
              </a:solidFill>
            </a:endParaRPr>
          </a:p>
          <a:p>
            <a:pPr lvl="1"/>
            <a:r>
              <a:rPr lang="en-US" altLang="zh-CN" sz="1200" dirty="0">
                <a:solidFill>
                  <a:schemeClr val="bg2"/>
                </a:solidFill>
              </a:rPr>
              <a:t>Performance: While Python is an interpreted language, the use of bytecode allows for some level of optimization, making code execution faster than if it were interpreted directly from the source.</a:t>
            </a:r>
            <a:endParaRPr lang="en-US" altLang="zh-CN" sz="1200" dirty="0">
              <a:solidFill>
                <a:schemeClr val="bg2"/>
              </a:solidFill>
            </a:endParaRPr>
          </a:p>
          <a:p>
            <a:pPr lvl="1"/>
            <a:r>
              <a:rPr lang="en-US" altLang="zh-CN" sz="1200" dirty="0">
                <a:solidFill>
                  <a:schemeClr val="bg2"/>
                </a:solidFill>
              </a:rPr>
              <a:t>Security: Bytecode is harder to reverse-engineer than source code, offering a layer of protection against code theft.</a:t>
            </a:r>
            <a:endParaRPr lang="en-US" altLang="zh-CN" sz="1200" dirty="0">
              <a:solidFill>
                <a:schemeClr val="bg2"/>
              </a:solidFill>
            </a:endParaRPr>
          </a:p>
          <a:p>
            <a:pPr lvl="1"/>
            <a:r>
              <a:rPr lang="en-US" altLang="zh-CN" sz="1200" dirty="0">
                <a:solidFill>
                  <a:schemeClr val="bg2"/>
                </a:solidFill>
              </a:rPr>
              <a:t>字节码的优点</a:t>
            </a:r>
            <a:endParaRPr lang="en-US" altLang="zh-CN" sz="1200" dirty="0">
              <a:solidFill>
                <a:schemeClr val="bg2"/>
              </a:solidFill>
            </a:endParaRPr>
          </a:p>
          <a:p>
            <a:pPr lvl="1"/>
            <a:r>
              <a:rPr lang="en-US" altLang="zh-CN" sz="1200" dirty="0">
                <a:solidFill>
                  <a:schemeClr val="bg2"/>
                </a:solidFill>
              </a:rPr>
              <a:t>可移植性：字节码可以在任何带有 Python 解释器的平台上执行，确保 Python 代码是跨平台的。</a:t>
            </a:r>
            <a:endParaRPr lang="en-US" altLang="zh-CN" sz="1200" dirty="0">
              <a:solidFill>
                <a:schemeClr val="bg2"/>
              </a:solidFill>
            </a:endParaRPr>
          </a:p>
          <a:p>
            <a:pPr lvl="1"/>
            <a:r>
              <a:rPr lang="en-US" altLang="zh-CN" sz="1200" dirty="0">
                <a:solidFill>
                  <a:schemeClr val="bg2"/>
                </a:solidFill>
              </a:rPr>
              <a:t>性能：虽然 Python 是一种解释型语言，但字节码的使用允许一定程度的优化，使代码执行速度比直接从源代码解释更快。</a:t>
            </a:r>
            <a:endParaRPr lang="en-US" altLang="zh-CN" sz="1200" dirty="0">
              <a:solidFill>
                <a:schemeClr val="bg2"/>
              </a:solidFill>
            </a:endParaRPr>
          </a:p>
          <a:p>
            <a:pPr lvl="1"/>
            <a:r>
              <a:rPr lang="en-US" altLang="zh-CN" sz="1200" dirty="0">
                <a:solidFill>
                  <a:schemeClr val="bg2"/>
                </a:solidFill>
              </a:rPr>
              <a:t>安全性：字节码比源代码更难逆向工程，提供了一层防止代码盗窃的保护。</a:t>
            </a:r>
            <a:endParaRPr lang="en-US" altLang="zh-CN" sz="1200" dirty="0">
              <a:solidFill>
                <a:schemeClr val="bg2"/>
              </a:solidFill>
            </a:endParaRPr>
          </a:p>
          <a:p>
            <a:endParaRPr lang="zh-CN" altLang="en-US" sz="1400" dirty="0"/>
          </a:p>
        </p:txBody>
      </p:sp>
      <p:sp>
        <p:nvSpPr>
          <p:cNvPr id="4" name="动作按钮: 帮助 3"/>
          <p:cNvSpPr/>
          <p:nvPr/>
        </p:nvSpPr>
        <p:spPr>
          <a:xfrm>
            <a:off x="2146300" y="201930"/>
            <a:ext cx="1395730" cy="435610"/>
          </a:xfrm>
          <a:prstGeom prst="actionButtonHelp">
            <a:avLst/>
          </a:prstGeom>
          <a:ln>
            <a:solidFill>
              <a:srgbClr val="00B050"/>
            </a:solidFill>
          </a:ln>
        </p:spPr>
        <p:style>
          <a:lnRef idx="2">
            <a:schemeClr val="accent1"/>
          </a:lnRef>
          <a:fillRef idx="0">
            <a:srgbClr val="FFFFFF"/>
          </a:fillRef>
          <a:effectRef idx="0">
            <a:srgbClr val="FFFFFF"/>
          </a:effectRef>
          <a:fontRef idx="minor">
            <a:schemeClr val="dk1"/>
          </a:fontRef>
        </p:style>
        <p:txBody>
          <a:bodyPr rtlCol="0" anchor="ctr"/>
          <a:p>
            <a:pPr algn="ctr"/>
            <a:endParaRPr lang="zh-CN" altLang="en-US">
              <a:solidFill>
                <a:schemeClr val="tx1"/>
              </a:solidFil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1700" y="144035"/>
            <a:ext cx="8520600" cy="623400"/>
          </a:xfrm>
        </p:spPr>
        <p:txBody>
          <a:bodyPr>
            <a:normAutofit fontScale="90000"/>
          </a:bodyPr>
          <a:lstStyle/>
          <a:p>
            <a:r>
              <a:rPr lang="en-US" altLang="zh-CN" dirty="0"/>
              <a:t>Bytecode: compile</a:t>
            </a:r>
            <a:endParaRPr lang="zh-CN" altLang="en-US" dirty="0"/>
          </a:p>
        </p:txBody>
      </p:sp>
      <p:sp>
        <p:nvSpPr>
          <p:cNvPr id="3" name="文本占位符 2"/>
          <p:cNvSpPr>
            <a:spLocks noGrp="1"/>
          </p:cNvSpPr>
          <p:nvPr>
            <p:ph type="body" idx="1"/>
          </p:nvPr>
        </p:nvSpPr>
        <p:spPr>
          <a:xfrm>
            <a:off x="311700" y="674954"/>
            <a:ext cx="8520600" cy="3632468"/>
          </a:xfrm>
        </p:spPr>
        <p:txBody>
          <a:bodyPr>
            <a:normAutofit lnSpcReduction="10000"/>
          </a:bodyPr>
          <a:lstStyle/>
          <a:p>
            <a:r>
              <a:rPr lang="en-US" altLang="zh-CN" sz="1400" dirty="0">
                <a:solidFill>
                  <a:schemeClr val="bg2"/>
                </a:solidFill>
              </a:rPr>
              <a:t>The </a:t>
            </a:r>
            <a:r>
              <a:rPr lang="en-US" altLang="zh-CN" sz="1400" dirty="0" err="1">
                <a:solidFill>
                  <a:schemeClr val="bg2"/>
                </a:solidFill>
              </a:rPr>
              <a:t>compileall</a:t>
            </a:r>
            <a:r>
              <a:rPr lang="en-US" altLang="zh-CN" sz="1400" dirty="0">
                <a:solidFill>
                  <a:schemeClr val="bg2"/>
                </a:solidFill>
              </a:rPr>
              <a:t> and </a:t>
            </a:r>
            <a:r>
              <a:rPr lang="en-US" altLang="zh-CN" sz="1400" dirty="0" err="1">
                <a:solidFill>
                  <a:schemeClr val="bg2"/>
                </a:solidFill>
              </a:rPr>
              <a:t>py_compile</a:t>
            </a:r>
            <a:r>
              <a:rPr lang="en-US" altLang="zh-CN" sz="1400" dirty="0">
                <a:solidFill>
                  <a:schemeClr val="bg2"/>
                </a:solidFill>
              </a:rPr>
              <a:t> module is part of the python standard library, so there is no need to install anything extra to use it.</a:t>
            </a:r>
            <a:endParaRPr lang="en-US" altLang="zh-CN" sz="1400" dirty="0">
              <a:solidFill>
                <a:schemeClr val="bg2"/>
              </a:solidFill>
            </a:endParaRPr>
          </a:p>
          <a:p>
            <a:pPr lvl="1">
              <a:buFont typeface="+mj-lt"/>
              <a:buAutoNum type="arabicPeriod"/>
            </a:pPr>
            <a:r>
              <a:rPr lang="en-US" altLang="zh-CN" sz="1200" dirty="0">
                <a:solidFill>
                  <a:schemeClr val="bg2"/>
                </a:solidFill>
              </a:rPr>
              <a:t>Using </a:t>
            </a:r>
            <a:r>
              <a:rPr lang="en-US" altLang="zh-CN" sz="1200" dirty="0" err="1">
                <a:solidFill>
                  <a:schemeClr val="bg2"/>
                </a:solidFill>
              </a:rPr>
              <a:t>py_compile.compile</a:t>
            </a:r>
            <a:r>
              <a:rPr lang="en-US" altLang="zh-CN" sz="1200" dirty="0">
                <a:solidFill>
                  <a:schemeClr val="bg2"/>
                </a:solidFill>
              </a:rPr>
              <a:t> function: The </a:t>
            </a:r>
            <a:r>
              <a:rPr lang="en-US" altLang="zh-CN" sz="1200" dirty="0" err="1">
                <a:solidFill>
                  <a:schemeClr val="bg2"/>
                </a:solidFill>
              </a:rPr>
              <a:t>py_compile</a:t>
            </a:r>
            <a:r>
              <a:rPr lang="en-US" altLang="zh-CN" sz="1200" dirty="0">
                <a:solidFill>
                  <a:schemeClr val="bg2"/>
                </a:solidFill>
              </a:rPr>
              <a:t> module can manually compile any module. </a:t>
            </a:r>
            <a:endParaRPr lang="en-US" altLang="zh-CN" sz="1200" dirty="0">
              <a:solidFill>
                <a:schemeClr val="bg2"/>
              </a:solidFill>
            </a:endParaRPr>
          </a:p>
          <a:p>
            <a:pPr lvl="1">
              <a:buFont typeface="+mj-lt"/>
              <a:buAutoNum type="arabicPeriod"/>
            </a:pPr>
            <a:r>
              <a:rPr lang="en-US" altLang="zh-CN" sz="1200" dirty="0">
                <a:solidFill>
                  <a:schemeClr val="bg2"/>
                </a:solidFill>
              </a:rPr>
              <a:t>Using </a:t>
            </a:r>
            <a:r>
              <a:rPr lang="en-US" altLang="zh-CN" sz="1200" dirty="0" err="1">
                <a:solidFill>
                  <a:schemeClr val="bg2"/>
                </a:solidFill>
              </a:rPr>
              <a:t>py_compile.main</a:t>
            </a:r>
            <a:r>
              <a:rPr lang="en-US" altLang="zh-CN" sz="1200" dirty="0">
                <a:solidFill>
                  <a:schemeClr val="bg2"/>
                </a:solidFill>
              </a:rPr>
              <a:t>() function: It compiles several files at a time.</a:t>
            </a:r>
            <a:endParaRPr lang="en-US" altLang="zh-CN" sz="1200" dirty="0">
              <a:solidFill>
                <a:schemeClr val="bg2"/>
              </a:solidFill>
            </a:endParaRPr>
          </a:p>
          <a:p>
            <a:pPr lvl="1">
              <a:buFont typeface="+mj-lt"/>
              <a:buAutoNum type="arabicPeriod"/>
            </a:pPr>
            <a:r>
              <a:rPr lang="en-US" altLang="zh-CN" sz="1200" dirty="0">
                <a:solidFill>
                  <a:schemeClr val="bg2"/>
                </a:solidFill>
              </a:rPr>
              <a:t>Using </a:t>
            </a:r>
            <a:r>
              <a:rPr lang="en-US" altLang="zh-CN" sz="1200" dirty="0" err="1">
                <a:solidFill>
                  <a:schemeClr val="bg2"/>
                </a:solidFill>
              </a:rPr>
              <a:t>compileall.compile_dir</a:t>
            </a:r>
            <a:r>
              <a:rPr lang="en-US" altLang="zh-CN" sz="1200" dirty="0">
                <a:solidFill>
                  <a:schemeClr val="bg2"/>
                </a:solidFill>
              </a:rPr>
              <a:t>() function: It compiles every single python file present in the directory supplied.</a:t>
            </a:r>
            <a:endParaRPr lang="en-US" altLang="zh-CN" sz="1200" dirty="0">
              <a:solidFill>
                <a:schemeClr val="bg2"/>
              </a:solidFill>
            </a:endParaRPr>
          </a:p>
          <a:p>
            <a:r>
              <a:rPr lang="en-US" altLang="zh-CN" sz="1400" dirty="0">
                <a:solidFill>
                  <a:schemeClr val="bg2"/>
                </a:solidFill>
              </a:rPr>
              <a:t>Using </a:t>
            </a:r>
            <a:r>
              <a:rPr lang="en-US" altLang="zh-CN" sz="1400" dirty="0" err="1">
                <a:solidFill>
                  <a:schemeClr val="bg2"/>
                </a:solidFill>
              </a:rPr>
              <a:t>py_compile</a:t>
            </a:r>
            <a:r>
              <a:rPr lang="en-US" altLang="zh-CN" sz="1400" dirty="0">
                <a:solidFill>
                  <a:schemeClr val="bg2"/>
                </a:solidFill>
              </a:rPr>
              <a:t> in Terminal:</a:t>
            </a:r>
            <a:endParaRPr lang="en-US" altLang="zh-CN" sz="1400" dirty="0">
              <a:solidFill>
                <a:schemeClr val="bg2"/>
              </a:solidFill>
            </a:endParaRPr>
          </a:p>
          <a:p>
            <a:pPr lvl="1"/>
            <a:r>
              <a:rPr lang="en-US" altLang="zh-CN" sz="1200" dirty="0">
                <a:solidFill>
                  <a:schemeClr val="bg2"/>
                </a:solidFill>
              </a:rPr>
              <a:t>python -m </a:t>
            </a:r>
            <a:r>
              <a:rPr lang="en-US" altLang="zh-CN" sz="1200" dirty="0" err="1">
                <a:solidFill>
                  <a:schemeClr val="bg2"/>
                </a:solidFill>
              </a:rPr>
              <a:t>py_compile</a:t>
            </a:r>
            <a:r>
              <a:rPr lang="en-US" altLang="zh-CN" sz="1200" dirty="0">
                <a:solidFill>
                  <a:schemeClr val="bg2"/>
                </a:solidFill>
              </a:rPr>
              <a:t> File1.py File2.py File3.py ...</a:t>
            </a:r>
            <a:endParaRPr lang="en-US" altLang="zh-CN" sz="1200" dirty="0">
              <a:solidFill>
                <a:schemeClr val="bg2"/>
              </a:solidFill>
            </a:endParaRPr>
          </a:p>
          <a:p>
            <a:r>
              <a:rPr lang="en-US" altLang="zh-CN" sz="1400" dirty="0">
                <a:solidFill>
                  <a:schemeClr val="bg2"/>
                </a:solidFill>
              </a:rPr>
              <a:t>For Interactive Compilation of files</a:t>
            </a:r>
            <a:endParaRPr lang="en-US" altLang="zh-CN" sz="1400" dirty="0">
              <a:solidFill>
                <a:schemeClr val="bg2"/>
              </a:solidFill>
            </a:endParaRPr>
          </a:p>
          <a:p>
            <a:pPr lvl="1"/>
            <a:r>
              <a:rPr lang="en-US" altLang="zh-CN" sz="1200" dirty="0">
                <a:solidFill>
                  <a:schemeClr val="bg2"/>
                </a:solidFill>
              </a:rPr>
              <a:t>python -m </a:t>
            </a:r>
            <a:r>
              <a:rPr lang="en-US" altLang="zh-CN" sz="1200" dirty="0" err="1">
                <a:solidFill>
                  <a:schemeClr val="bg2"/>
                </a:solidFill>
              </a:rPr>
              <a:t>py_compile</a:t>
            </a:r>
            <a:r>
              <a:rPr lang="en-US" altLang="zh-CN" sz="1200" dirty="0">
                <a:solidFill>
                  <a:schemeClr val="bg2"/>
                </a:solidFill>
              </a:rPr>
              <a:t> -</a:t>
            </a:r>
            <a:endParaRPr lang="en-US" altLang="zh-CN" sz="1200" dirty="0">
              <a:solidFill>
                <a:schemeClr val="bg2"/>
              </a:solidFill>
            </a:endParaRPr>
          </a:p>
          <a:p>
            <a:pPr marL="1054100" lvl="2" indent="0">
              <a:buNone/>
            </a:pPr>
            <a:r>
              <a:rPr lang="en-US" altLang="zh-CN" sz="1200" dirty="0">
                <a:solidFill>
                  <a:schemeClr val="bg2"/>
                </a:solidFill>
              </a:rPr>
              <a:t>  File1.py</a:t>
            </a:r>
            <a:endParaRPr lang="en-US" altLang="zh-CN" sz="1200" dirty="0">
              <a:solidFill>
                <a:schemeClr val="bg2"/>
              </a:solidFill>
            </a:endParaRPr>
          </a:p>
          <a:p>
            <a:pPr marL="1054100" lvl="2" indent="0">
              <a:buNone/>
            </a:pPr>
            <a:r>
              <a:rPr lang="en-US" altLang="zh-CN" sz="1200" dirty="0">
                <a:solidFill>
                  <a:schemeClr val="bg2"/>
                </a:solidFill>
              </a:rPr>
              <a:t>  File2.py</a:t>
            </a:r>
            <a:endParaRPr lang="en-US" altLang="zh-CN" sz="1200" dirty="0">
              <a:solidFill>
                <a:schemeClr val="bg2"/>
              </a:solidFill>
            </a:endParaRPr>
          </a:p>
          <a:p>
            <a:pPr marL="1054100" lvl="2" indent="0">
              <a:buNone/>
            </a:pPr>
            <a:r>
              <a:rPr lang="en-US" altLang="zh-CN" sz="1200" dirty="0">
                <a:solidFill>
                  <a:schemeClr val="bg2"/>
                </a:solidFill>
              </a:rPr>
              <a:t>  File3.py</a:t>
            </a:r>
            <a:endParaRPr lang="en-US" altLang="zh-CN" sz="1200" dirty="0">
              <a:solidFill>
                <a:schemeClr val="bg2"/>
              </a:solidFill>
            </a:endParaRPr>
          </a:p>
          <a:p>
            <a:r>
              <a:rPr lang="en-US" altLang="zh-CN" sz="1400" dirty="0">
                <a:solidFill>
                  <a:schemeClr val="bg2"/>
                </a:solidFill>
              </a:rPr>
              <a:t>Using </a:t>
            </a:r>
            <a:r>
              <a:rPr lang="en-US" altLang="zh-CN" sz="1400" dirty="0" err="1">
                <a:solidFill>
                  <a:schemeClr val="bg2"/>
                </a:solidFill>
              </a:rPr>
              <a:t>compileall</a:t>
            </a:r>
            <a:r>
              <a:rPr lang="en-US" altLang="zh-CN" sz="1400" dirty="0">
                <a:solidFill>
                  <a:schemeClr val="bg2"/>
                </a:solidFill>
              </a:rPr>
              <a:t> in Terminal: This command will automatically go recursively into sub directories and make .</a:t>
            </a:r>
            <a:r>
              <a:rPr lang="en-US" altLang="zh-CN" sz="1400" dirty="0" err="1">
                <a:solidFill>
                  <a:schemeClr val="bg2"/>
                </a:solidFill>
              </a:rPr>
              <a:t>pyc</a:t>
            </a:r>
            <a:r>
              <a:rPr lang="en-US" altLang="zh-CN" sz="1400" dirty="0">
                <a:solidFill>
                  <a:schemeClr val="bg2"/>
                </a:solidFill>
              </a:rPr>
              <a:t> files for all the python files it finds.</a:t>
            </a:r>
            <a:endParaRPr lang="en-US" altLang="zh-CN" sz="1400" dirty="0">
              <a:solidFill>
                <a:schemeClr val="bg2"/>
              </a:solidFill>
            </a:endParaRPr>
          </a:p>
          <a:p>
            <a:pPr lvl="1"/>
            <a:r>
              <a:rPr lang="en-US" altLang="zh-CN" sz="1200" dirty="0">
                <a:solidFill>
                  <a:schemeClr val="bg2"/>
                </a:solidFill>
              </a:rPr>
              <a:t>python -m </a:t>
            </a:r>
            <a:r>
              <a:rPr lang="en-US" altLang="zh-CN" sz="1200" dirty="0" err="1">
                <a:solidFill>
                  <a:schemeClr val="bg2"/>
                </a:solidFill>
              </a:rPr>
              <a:t>compileall</a:t>
            </a:r>
            <a:r>
              <a:rPr lang="en-US" altLang="zh-CN" sz="1200" dirty="0">
                <a:solidFill>
                  <a:schemeClr val="bg2"/>
                </a:solidFill>
              </a:rPr>
              <a:t> </a:t>
            </a:r>
            <a:endParaRPr lang="en-US" altLang="zh-CN" sz="1200" dirty="0">
              <a:solidFill>
                <a:schemeClr val="bg2"/>
              </a:solidFill>
            </a:endParaRPr>
          </a:p>
        </p:txBody>
      </p:sp>
      <p:sp>
        <p:nvSpPr>
          <p:cNvPr id="4" name="文本框 3"/>
          <p:cNvSpPr txBox="1"/>
          <p:nvPr/>
        </p:nvSpPr>
        <p:spPr>
          <a:xfrm>
            <a:off x="198755" y="3878580"/>
            <a:ext cx="8823960" cy="1168400"/>
          </a:xfrm>
          <a:prstGeom prst="rect">
            <a:avLst/>
          </a:prstGeom>
          <a:noFill/>
        </p:spPr>
        <p:txBody>
          <a:bodyPr wrap="square" rtlCol="0">
            <a:spAutoFit/>
          </a:bodyPr>
          <a:p>
            <a:r>
              <a:rPr lang="zh-CN" altLang="en-US"/>
              <a:t>compileall 和 py_compile 模块是 python 标准库的一部分，因此无需安装任何额外的内容即可使用它。</a:t>
            </a:r>
            <a:endParaRPr lang="zh-CN" altLang="en-US"/>
          </a:p>
          <a:p>
            <a:r>
              <a:rPr lang="zh-CN" altLang="en-US"/>
              <a:t>使用 py_compile.compile 函数：py_compile模块可以手动编译任何模块。</a:t>
            </a:r>
            <a:endParaRPr lang="zh-CN" altLang="en-US"/>
          </a:p>
          <a:p>
            <a:r>
              <a:rPr lang="zh-CN" altLang="en-US"/>
              <a:t>使用 py_compile.main（） 函数：它一次编译多个文件。</a:t>
            </a:r>
            <a:endParaRPr lang="zh-CN" altLang="en-US"/>
          </a:p>
          <a:p>
            <a:r>
              <a:rPr lang="zh-CN" altLang="en-US"/>
              <a:t>使用 compileall.compile_dir（） 函数：它编译所提供目录中存在的每个 python 文件。</a:t>
            </a:r>
            <a:endParaRPr lang="zh-CN" altLang="en-US"/>
          </a:p>
          <a:p>
            <a:endParaRPr lang="zh-CN" altLang="en-US"/>
          </a:p>
        </p:txBody>
      </p:sp>
      <p:sp>
        <p:nvSpPr>
          <p:cNvPr id="5" name="动作按钮: 帮助 4"/>
          <p:cNvSpPr/>
          <p:nvPr>
            <p:custDataLst>
              <p:tags r:id="rId1"/>
            </p:custDataLst>
          </p:nvPr>
        </p:nvSpPr>
        <p:spPr>
          <a:xfrm>
            <a:off x="3950335" y="239395"/>
            <a:ext cx="1395730" cy="435610"/>
          </a:xfrm>
          <a:prstGeom prst="actionButtonHelp">
            <a:avLst/>
          </a:prstGeom>
          <a:ln>
            <a:solidFill>
              <a:srgbClr val="00B050"/>
            </a:solidFill>
          </a:ln>
        </p:spPr>
        <p:style>
          <a:lnRef idx="2">
            <a:schemeClr val="accent1"/>
          </a:lnRef>
          <a:fillRef idx="0">
            <a:srgbClr val="FFFFFF"/>
          </a:fillRef>
          <a:effectRef idx="0">
            <a:srgbClr val="FFFFFF"/>
          </a:effectRef>
          <a:fontRef idx="minor">
            <a:schemeClr val="dk1"/>
          </a:fontRef>
        </p:style>
        <p:txBody>
          <a:bodyPr rtlCol="0" anchor="ctr"/>
          <a:p>
            <a:pPr algn="ctr"/>
            <a:endParaRPr lang="zh-CN" altLang="en-US">
              <a:solidFill>
                <a:schemeClr val="tx1"/>
              </a:solidFil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Compile</a:t>
            </a:r>
            <a:endParaRPr lang="zh-CN" altLang="en-US" dirty="0"/>
          </a:p>
        </p:txBody>
      </p:sp>
      <p:pic>
        <p:nvPicPr>
          <p:cNvPr id="7" name="图片 6" descr="文本&#10;&#10;描述已自动生成"/>
          <p:cNvPicPr>
            <a:picLocks noChangeAspect="1"/>
          </p:cNvPicPr>
          <p:nvPr/>
        </p:nvPicPr>
        <p:blipFill>
          <a:blip r:embed="rId1"/>
          <a:stretch>
            <a:fillRect/>
          </a:stretch>
        </p:blipFill>
        <p:spPr>
          <a:xfrm>
            <a:off x="311700" y="1272918"/>
            <a:ext cx="1565851" cy="610512"/>
          </a:xfrm>
          <a:prstGeom prst="rect">
            <a:avLst/>
          </a:prstGeom>
        </p:spPr>
      </p:pic>
      <p:pic>
        <p:nvPicPr>
          <p:cNvPr id="8" name="图片 7" descr="文本&#10;&#10;描述已自动生成"/>
          <p:cNvPicPr>
            <a:picLocks noChangeAspect="1"/>
          </p:cNvPicPr>
          <p:nvPr/>
        </p:nvPicPr>
        <p:blipFill>
          <a:blip r:embed="rId2"/>
          <a:stretch>
            <a:fillRect/>
          </a:stretch>
        </p:blipFill>
        <p:spPr>
          <a:xfrm>
            <a:off x="311700" y="2047996"/>
            <a:ext cx="1576189" cy="1879752"/>
          </a:xfrm>
          <a:prstGeom prst="rect">
            <a:avLst/>
          </a:prstGeom>
        </p:spPr>
      </p:pic>
      <p:pic>
        <p:nvPicPr>
          <p:cNvPr id="9" name="图片 8" descr="文本&#10;&#10;描述已自动生成"/>
          <p:cNvPicPr>
            <a:picLocks noChangeAspect="1"/>
          </p:cNvPicPr>
          <p:nvPr/>
        </p:nvPicPr>
        <p:blipFill>
          <a:blip r:embed="rId3"/>
          <a:stretch>
            <a:fillRect/>
          </a:stretch>
        </p:blipFill>
        <p:spPr>
          <a:xfrm>
            <a:off x="2122023" y="1272918"/>
            <a:ext cx="1664836" cy="2571750"/>
          </a:xfrm>
          <a:prstGeom prst="rect">
            <a:avLst/>
          </a:prstGeom>
        </p:spPr>
      </p:pic>
      <p:sp>
        <p:nvSpPr>
          <p:cNvPr id="10" name="文本占位符 2"/>
          <p:cNvSpPr>
            <a:spLocks noGrp="1"/>
          </p:cNvSpPr>
          <p:nvPr>
            <p:ph type="body" idx="1"/>
          </p:nvPr>
        </p:nvSpPr>
        <p:spPr>
          <a:xfrm>
            <a:off x="3958226" y="1272918"/>
            <a:ext cx="5079304" cy="726559"/>
          </a:xfrm>
        </p:spPr>
        <p:txBody>
          <a:bodyPr>
            <a:normAutofit/>
          </a:bodyPr>
          <a:lstStyle/>
          <a:p>
            <a:r>
              <a:rPr lang="zh-CN" altLang="en-US" sz="1400" dirty="0">
                <a:solidFill>
                  <a:schemeClr val="bg2"/>
                </a:solidFill>
                <a:latin typeface="Source Sans Pro" panose="020B0503030403020204" pitchFamily="34" charset="0"/>
                <a:ea typeface="黑体" panose="02010609060101010101" pitchFamily="49" charset="-122"/>
              </a:rPr>
              <a:t>直接运行</a:t>
            </a:r>
            <a:r>
              <a:rPr lang="en-US" altLang="zh-CN" sz="1400" dirty="0">
                <a:solidFill>
                  <a:schemeClr val="bg2"/>
                </a:solidFill>
                <a:latin typeface="Source Sans Pro" panose="020B0503030403020204" pitchFamily="34" charset="0"/>
                <a:ea typeface="Source Sans Pro" panose="020B0503030403020204" pitchFamily="34" charset="0"/>
              </a:rPr>
              <a:t>lec4.py, </a:t>
            </a:r>
            <a:r>
              <a:rPr lang="zh-CN" altLang="en-US" sz="1400" dirty="0">
                <a:solidFill>
                  <a:schemeClr val="bg2"/>
                </a:solidFill>
                <a:latin typeface="Source Sans Pro" panose="020B0503030403020204" pitchFamily="34" charset="0"/>
                <a:ea typeface="黑体" panose="02010609060101010101" pitchFamily="49" charset="-122"/>
              </a:rPr>
              <a:t>会出现</a:t>
            </a:r>
            <a:r>
              <a:rPr lang="en-US" altLang="zh-CN" sz="1400" dirty="0">
                <a:solidFill>
                  <a:schemeClr val="bg2"/>
                </a:solidFill>
                <a:latin typeface="Source Sans Pro" panose="020B0503030403020204" pitchFamily="34" charset="0"/>
                <a:ea typeface="Source Sans Pro" panose="020B0503030403020204" pitchFamily="34" charset="0"/>
              </a:rPr>
              <a:t>lec2.py</a:t>
            </a:r>
            <a:r>
              <a:rPr lang="zh-CN" altLang="en-US" sz="1400" dirty="0">
                <a:solidFill>
                  <a:schemeClr val="bg2"/>
                </a:solidFill>
                <a:latin typeface="Source Sans Pro" panose="020B0503030403020204" pitchFamily="34" charset="0"/>
                <a:ea typeface="黑体" panose="02010609060101010101" pitchFamily="49" charset="-122"/>
              </a:rPr>
              <a:t>和</a:t>
            </a:r>
            <a:r>
              <a:rPr lang="en-US" altLang="zh-CN" sz="1400" dirty="0">
                <a:solidFill>
                  <a:schemeClr val="bg2"/>
                </a:solidFill>
                <a:latin typeface="Source Sans Pro" panose="020B0503030403020204" pitchFamily="34" charset="0"/>
                <a:ea typeface="Source Sans Pro" panose="020B0503030403020204" pitchFamily="34" charset="0"/>
              </a:rPr>
              <a:t>lec3.py</a:t>
            </a:r>
            <a:r>
              <a:rPr lang="zh-CN" altLang="en-US" sz="1400" dirty="0">
                <a:solidFill>
                  <a:schemeClr val="bg2"/>
                </a:solidFill>
                <a:latin typeface="Source Sans Pro" panose="020B0503030403020204" pitchFamily="34" charset="0"/>
                <a:ea typeface="黑体" panose="02010609060101010101" pitchFamily="49" charset="-122"/>
              </a:rPr>
              <a:t>的</a:t>
            </a:r>
            <a:r>
              <a:rPr lang="en-US" altLang="zh-CN" sz="1400" dirty="0" err="1">
                <a:solidFill>
                  <a:schemeClr val="bg2"/>
                </a:solidFill>
                <a:latin typeface="Source Sans Pro" panose="020B0503030403020204" pitchFamily="34" charset="0"/>
                <a:ea typeface="Source Sans Pro" panose="020B0503030403020204" pitchFamily="34" charset="0"/>
              </a:rPr>
              <a:t>pyc</a:t>
            </a:r>
            <a:r>
              <a:rPr lang="zh-CN" altLang="en-US" sz="1400" dirty="0">
                <a:solidFill>
                  <a:schemeClr val="bg2"/>
                </a:solidFill>
                <a:latin typeface="Source Sans Pro" panose="020B0503030403020204" pitchFamily="34" charset="0"/>
                <a:ea typeface="黑体" panose="02010609060101010101" pitchFamily="49" charset="-122"/>
              </a:rPr>
              <a:t>文件，但是不会出现</a:t>
            </a:r>
            <a:r>
              <a:rPr lang="en-US" altLang="zh-CN" sz="1400" dirty="0">
                <a:solidFill>
                  <a:schemeClr val="bg2"/>
                </a:solidFill>
                <a:latin typeface="Source Sans Pro" panose="020B0503030403020204" pitchFamily="34" charset="0"/>
                <a:ea typeface="Source Sans Pro" panose="020B0503030403020204" pitchFamily="34" charset="0"/>
              </a:rPr>
              <a:t>lec4</a:t>
            </a:r>
            <a:r>
              <a:rPr lang="zh-CN" altLang="en-US" sz="1400" dirty="0">
                <a:solidFill>
                  <a:schemeClr val="bg2"/>
                </a:solidFill>
                <a:latin typeface="Source Sans Pro" panose="020B0503030403020204" pitchFamily="34" charset="0"/>
                <a:ea typeface="黑体" panose="02010609060101010101" pitchFamily="49" charset="-122"/>
              </a:rPr>
              <a:t>的</a:t>
            </a:r>
            <a:r>
              <a:rPr lang="en-US" altLang="zh-CN" sz="1400" dirty="0" err="1">
                <a:solidFill>
                  <a:schemeClr val="bg2"/>
                </a:solidFill>
                <a:latin typeface="Source Sans Pro" panose="020B0503030403020204" pitchFamily="34" charset="0"/>
                <a:ea typeface="Source Sans Pro" panose="020B0503030403020204" pitchFamily="34" charset="0"/>
              </a:rPr>
              <a:t>pyc</a:t>
            </a:r>
            <a:r>
              <a:rPr lang="zh-CN" altLang="en-US" sz="1400" dirty="0">
                <a:solidFill>
                  <a:schemeClr val="bg2"/>
                </a:solidFill>
                <a:latin typeface="Source Sans Pro" panose="020B0503030403020204" pitchFamily="34" charset="0"/>
                <a:ea typeface="黑体" panose="02010609060101010101" pitchFamily="49" charset="-122"/>
              </a:rPr>
              <a:t>文件。</a:t>
            </a:r>
            <a:r>
              <a:rPr lang="en-US" altLang="zh-CN" sz="1400" dirty="0" err="1">
                <a:solidFill>
                  <a:schemeClr val="bg2"/>
                </a:solidFill>
                <a:latin typeface="Source Sans Pro" panose="020B0503030403020204" pitchFamily="34" charset="0"/>
                <a:ea typeface="Source Sans Pro" panose="020B0503030403020204" pitchFamily="34" charset="0"/>
              </a:rPr>
              <a:t>pyc</a:t>
            </a:r>
            <a:r>
              <a:rPr lang="zh-CN" altLang="en-US" sz="1400" dirty="0">
                <a:solidFill>
                  <a:schemeClr val="bg2"/>
                </a:solidFill>
                <a:latin typeface="Source Sans Pro" panose="020B0503030403020204" pitchFamily="34" charset="0"/>
                <a:ea typeface="黑体" panose="02010609060101010101" pitchFamily="49" charset="-122"/>
              </a:rPr>
              <a:t>文件在</a:t>
            </a:r>
            <a:r>
              <a:rPr lang="en-US" altLang="zh-CN" sz="1400" dirty="0">
                <a:solidFill>
                  <a:schemeClr val="bg2"/>
                </a:solidFill>
                <a:latin typeface="Source Sans Pro" panose="020B0503030403020204" pitchFamily="34" charset="0"/>
                <a:ea typeface="Source Sans Pro" panose="020B0503030403020204" pitchFamily="34" charset="0"/>
              </a:rPr>
              <a:t>__</a:t>
            </a:r>
            <a:r>
              <a:rPr lang="en-US" altLang="zh-CN" sz="1400" dirty="0" err="1">
                <a:solidFill>
                  <a:schemeClr val="bg2"/>
                </a:solidFill>
                <a:latin typeface="Source Sans Pro" panose="020B0503030403020204" pitchFamily="34" charset="0"/>
                <a:ea typeface="Source Sans Pro" panose="020B0503030403020204" pitchFamily="34" charset="0"/>
              </a:rPr>
              <a:t>pycache</a:t>
            </a:r>
            <a:r>
              <a:rPr lang="en-US" altLang="zh-CN" sz="1400" dirty="0">
                <a:solidFill>
                  <a:schemeClr val="bg2"/>
                </a:solidFill>
                <a:latin typeface="Source Sans Pro" panose="020B0503030403020204" pitchFamily="34" charset="0"/>
                <a:ea typeface="Source Sans Pro" panose="020B0503030403020204" pitchFamily="34" charset="0"/>
              </a:rPr>
              <a:t>__</a:t>
            </a:r>
            <a:r>
              <a:rPr lang="zh-CN" altLang="en-US" sz="1400" dirty="0">
                <a:solidFill>
                  <a:schemeClr val="bg2"/>
                </a:solidFill>
                <a:latin typeface="Source Sans Pro" panose="020B0503030403020204" pitchFamily="34" charset="0"/>
                <a:ea typeface="黑体" panose="02010609060101010101" pitchFamily="49" charset="-122"/>
              </a:rPr>
              <a:t>文件夹</a:t>
            </a:r>
            <a:endParaRPr lang="en-US" altLang="zh-CN" sz="1400" dirty="0">
              <a:solidFill>
                <a:schemeClr val="bg2"/>
              </a:solidFill>
              <a:latin typeface="Source Sans Pro" panose="020B0503030403020204" pitchFamily="34" charset="0"/>
              <a:ea typeface="Source Sans Pro" panose="020B0503030403020204" pitchFamily="34" charset="0"/>
            </a:endParaRPr>
          </a:p>
        </p:txBody>
      </p:sp>
      <p:pic>
        <p:nvPicPr>
          <p:cNvPr id="12" name="图片 11"/>
          <p:cNvPicPr>
            <a:picLocks noChangeAspect="1"/>
          </p:cNvPicPr>
          <p:nvPr/>
        </p:nvPicPr>
        <p:blipFill>
          <a:blip r:embed="rId4"/>
          <a:stretch>
            <a:fillRect/>
          </a:stretch>
        </p:blipFill>
        <p:spPr>
          <a:xfrm>
            <a:off x="4922809" y="2047996"/>
            <a:ext cx="3392074" cy="856701"/>
          </a:xfrm>
          <a:prstGeom prst="rect">
            <a:avLst/>
          </a:prstGeom>
        </p:spPr>
      </p:pic>
      <p:pic>
        <p:nvPicPr>
          <p:cNvPr id="14" name="图片 13"/>
          <p:cNvPicPr>
            <a:picLocks noChangeAspect="1"/>
          </p:cNvPicPr>
          <p:nvPr/>
        </p:nvPicPr>
        <p:blipFill>
          <a:blip r:embed="rId5"/>
          <a:stretch>
            <a:fillRect/>
          </a:stretch>
        </p:blipFill>
        <p:spPr>
          <a:xfrm>
            <a:off x="4922809" y="3144023"/>
            <a:ext cx="3386160" cy="901352"/>
          </a:xfrm>
          <a:prstGeom prst="rect">
            <a:avLst/>
          </a:prstGeom>
        </p:spPr>
      </p:pic>
      <p:sp>
        <p:nvSpPr>
          <p:cNvPr id="16" name="文本框 15"/>
          <p:cNvSpPr txBox="1"/>
          <p:nvPr/>
        </p:nvSpPr>
        <p:spPr>
          <a:xfrm>
            <a:off x="4922809" y="4177737"/>
            <a:ext cx="3386160" cy="307777"/>
          </a:xfrm>
          <a:prstGeom prst="rect">
            <a:avLst/>
          </a:prstGeom>
          <a:noFill/>
        </p:spPr>
        <p:txBody>
          <a:bodyPr wrap="square">
            <a:spAutoFit/>
          </a:bodyPr>
          <a:lstStyle/>
          <a:p>
            <a:r>
              <a:rPr lang="zh-CN" altLang="en-US" dirty="0">
                <a:solidFill>
                  <a:schemeClr val="bg2"/>
                </a:solidFill>
                <a:latin typeface="Source Sans Pro" panose="020B0503030403020204" pitchFamily="34" charset="0"/>
              </a:rPr>
              <a:t>python -m compileall </a:t>
            </a:r>
            <a:endParaRPr lang="zh-CN" altLang="en-US" dirty="0">
              <a:solidFill>
                <a:schemeClr val="bg2"/>
              </a:solidFill>
              <a:latin typeface="Source Sans Pro" panose="020B0503030403020204" pitchFamily="34" charset="0"/>
            </a:endParaRPr>
          </a:p>
        </p:txBody>
      </p:sp>
      <p:sp>
        <p:nvSpPr>
          <p:cNvPr id="17" name="Rectangle 4"/>
          <p:cNvSpPr/>
          <p:nvPr/>
        </p:nvSpPr>
        <p:spPr>
          <a:xfrm>
            <a:off x="4471792" y="4628368"/>
            <a:ext cx="4449060" cy="360310"/>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latin typeface="Source Sans Pro" panose="020B0503030403020204" pitchFamily="34" charset="0"/>
                <a:ea typeface="黑体" panose="02010609060101010101" pitchFamily="49" charset="-122"/>
              </a:rPr>
              <a:t>compile() Built-in Function: compile a source code string or a file into a code object that can be executed by the Python interpreter.</a:t>
            </a:r>
            <a:endParaRPr lang="en-US" sz="1200" dirty="0">
              <a:solidFill>
                <a:schemeClr val="tx1"/>
              </a:solidFill>
              <a:latin typeface="Source Sans Pro" panose="020B0503030403020204" pitchFamily="34" charset="0"/>
              <a:ea typeface="黑体" panose="02010609060101010101" pitchFamily="49" charset="-122"/>
            </a:endParaRPr>
          </a:p>
        </p:txBody>
      </p:sp>
      <p:sp>
        <p:nvSpPr>
          <p:cNvPr id="4" name="动作按钮: 帮助 3"/>
          <p:cNvSpPr/>
          <p:nvPr>
            <p:custDataLst>
              <p:tags r:id="rId6"/>
            </p:custDataLst>
          </p:nvPr>
        </p:nvSpPr>
        <p:spPr>
          <a:xfrm>
            <a:off x="2146300" y="201930"/>
            <a:ext cx="1395730" cy="435610"/>
          </a:xfrm>
          <a:prstGeom prst="actionButtonHelp">
            <a:avLst/>
          </a:prstGeom>
          <a:ln>
            <a:solidFill>
              <a:srgbClr val="00B050"/>
            </a:solidFill>
          </a:ln>
        </p:spPr>
        <p:style>
          <a:lnRef idx="2">
            <a:schemeClr val="accent1"/>
          </a:lnRef>
          <a:fillRef idx="0">
            <a:srgbClr val="FFFFFF"/>
          </a:fillRef>
          <a:effectRef idx="0">
            <a:srgbClr val="FFFFFF"/>
          </a:effectRef>
          <a:fontRef idx="minor">
            <a:schemeClr val="dk1"/>
          </a:fontRef>
        </p:style>
        <p:txBody>
          <a:bodyPr rtlCol="0" anchor="ctr"/>
          <a:p>
            <a:pPr algn="ctr"/>
            <a:endParaRPr lang="zh-CN" altLang="en-US">
              <a:solidFill>
                <a:schemeClr val="tx1"/>
              </a:solidFil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Disassemble  bytecode</a:t>
            </a:r>
            <a:endParaRPr lang="zh-CN" altLang="en-US" dirty="0"/>
          </a:p>
        </p:txBody>
      </p:sp>
      <p:sp>
        <p:nvSpPr>
          <p:cNvPr id="3" name="文本占位符 2"/>
          <p:cNvSpPr>
            <a:spLocks noGrp="1"/>
          </p:cNvSpPr>
          <p:nvPr>
            <p:ph type="body" idx="1"/>
          </p:nvPr>
        </p:nvSpPr>
        <p:spPr>
          <a:xfrm>
            <a:off x="311700" y="1152475"/>
            <a:ext cx="8520600" cy="1095947"/>
          </a:xfrm>
        </p:spPr>
        <p:txBody>
          <a:bodyPr>
            <a:noAutofit/>
          </a:bodyPr>
          <a:lstStyle/>
          <a:p>
            <a:r>
              <a:rPr lang="en-US" altLang="zh-CN" sz="1400" dirty="0">
                <a:solidFill>
                  <a:schemeClr val="bg2"/>
                </a:solidFill>
              </a:rPr>
              <a:t>dis module: </a:t>
            </a:r>
            <a:r>
              <a:rPr lang="zh-CN" altLang="en-US" sz="1400" dirty="0">
                <a:solidFill>
                  <a:schemeClr val="bg2"/>
                </a:solidFill>
                <a:latin typeface="黑体" panose="02010609060101010101" pitchFamily="49" charset="-122"/>
                <a:ea typeface="黑体" panose="02010609060101010101" pitchFamily="49" charset="-122"/>
              </a:rPr>
              <a:t>反汇编</a:t>
            </a:r>
            <a:endParaRPr lang="en-US" altLang="zh-CN" sz="1400" dirty="0">
              <a:solidFill>
                <a:schemeClr val="bg2"/>
              </a:solidFill>
              <a:latin typeface="黑体" panose="02010609060101010101" pitchFamily="49" charset="-122"/>
              <a:ea typeface="黑体" panose="02010609060101010101" pitchFamily="49" charset="-122"/>
            </a:endParaRPr>
          </a:p>
          <a:p>
            <a:r>
              <a:rPr lang="en-US" altLang="zh-CN" sz="1400" dirty="0" err="1">
                <a:solidFill>
                  <a:schemeClr val="bg2"/>
                </a:solidFill>
              </a:rPr>
              <a:t>co_consts</a:t>
            </a:r>
            <a:r>
              <a:rPr lang="en-US" altLang="zh-CN" sz="1400" dirty="0">
                <a:solidFill>
                  <a:schemeClr val="bg2"/>
                </a:solidFill>
              </a:rPr>
              <a:t> is a tuple of any literals that occur in the function body</a:t>
            </a:r>
            <a:endParaRPr lang="en-US" altLang="zh-CN" sz="1400" dirty="0">
              <a:solidFill>
                <a:schemeClr val="bg2"/>
              </a:solidFill>
            </a:endParaRPr>
          </a:p>
          <a:p>
            <a:r>
              <a:rPr lang="en-US" altLang="zh-CN" sz="1400" dirty="0" err="1">
                <a:solidFill>
                  <a:schemeClr val="bg2"/>
                </a:solidFill>
              </a:rPr>
              <a:t>co_varnames</a:t>
            </a:r>
            <a:r>
              <a:rPr lang="en-US" altLang="zh-CN" sz="1400" dirty="0">
                <a:solidFill>
                  <a:schemeClr val="bg2"/>
                </a:solidFill>
              </a:rPr>
              <a:t> is a tuple containing the names of any local variables used in the function body</a:t>
            </a:r>
            <a:endParaRPr lang="en-US" altLang="zh-CN" sz="1400" dirty="0">
              <a:solidFill>
                <a:schemeClr val="bg2"/>
              </a:solidFill>
            </a:endParaRPr>
          </a:p>
          <a:p>
            <a:r>
              <a:rPr lang="en-US" altLang="zh-CN" sz="1400" dirty="0" err="1">
                <a:solidFill>
                  <a:schemeClr val="bg2"/>
                </a:solidFill>
              </a:rPr>
              <a:t>co_names</a:t>
            </a:r>
            <a:r>
              <a:rPr lang="en-US" altLang="zh-CN" sz="1400" dirty="0">
                <a:solidFill>
                  <a:schemeClr val="bg2"/>
                </a:solidFill>
              </a:rPr>
              <a:t> is a tuple of any non-local names referenced in the function body</a:t>
            </a:r>
            <a:endParaRPr lang="zh-CN" altLang="en-US" sz="1400" dirty="0">
              <a:solidFill>
                <a:schemeClr val="bg2"/>
              </a:solidFill>
            </a:endParaRPr>
          </a:p>
        </p:txBody>
      </p:sp>
      <p:pic>
        <p:nvPicPr>
          <p:cNvPr id="5" name="图片 4"/>
          <p:cNvPicPr>
            <a:picLocks noChangeAspect="1"/>
          </p:cNvPicPr>
          <p:nvPr/>
        </p:nvPicPr>
        <p:blipFill>
          <a:blip r:embed="rId1"/>
          <a:stretch>
            <a:fillRect/>
          </a:stretch>
        </p:blipFill>
        <p:spPr>
          <a:xfrm>
            <a:off x="777568" y="2332472"/>
            <a:ext cx="2478243" cy="1725591"/>
          </a:xfrm>
          <a:prstGeom prst="rect">
            <a:avLst/>
          </a:prstGeom>
        </p:spPr>
      </p:pic>
      <p:pic>
        <p:nvPicPr>
          <p:cNvPr id="7" name="图片 6"/>
          <p:cNvPicPr>
            <a:picLocks noChangeAspect="1"/>
          </p:cNvPicPr>
          <p:nvPr/>
        </p:nvPicPr>
        <p:blipFill>
          <a:blip r:embed="rId2"/>
          <a:stretch>
            <a:fillRect/>
          </a:stretch>
        </p:blipFill>
        <p:spPr>
          <a:xfrm>
            <a:off x="4160207" y="2545528"/>
            <a:ext cx="3568352" cy="1233504"/>
          </a:xfrm>
          <a:prstGeom prst="rect">
            <a:avLst/>
          </a:prstGeom>
        </p:spPr>
      </p:pic>
      <p:pic>
        <p:nvPicPr>
          <p:cNvPr id="9" name="图片 8" descr="文本&#10;&#10;描述已自动生成"/>
          <p:cNvPicPr>
            <a:picLocks noChangeAspect="1"/>
          </p:cNvPicPr>
          <p:nvPr/>
        </p:nvPicPr>
        <p:blipFill>
          <a:blip r:embed="rId3"/>
          <a:stretch>
            <a:fillRect/>
          </a:stretch>
        </p:blipFill>
        <p:spPr>
          <a:xfrm>
            <a:off x="777568" y="4240649"/>
            <a:ext cx="2299087" cy="853155"/>
          </a:xfrm>
          <a:prstGeom prst="rect">
            <a:avLst/>
          </a:prstGeom>
        </p:spPr>
      </p:pic>
      <p:pic>
        <p:nvPicPr>
          <p:cNvPr id="11" name="图片 10"/>
          <p:cNvPicPr>
            <a:picLocks noChangeAspect="1"/>
          </p:cNvPicPr>
          <p:nvPr/>
        </p:nvPicPr>
        <p:blipFill>
          <a:blip r:embed="rId4"/>
          <a:stretch>
            <a:fillRect/>
          </a:stretch>
        </p:blipFill>
        <p:spPr>
          <a:xfrm>
            <a:off x="3690366" y="4287914"/>
            <a:ext cx="5141934" cy="459749"/>
          </a:xfrm>
          <a:prstGeom prst="rect">
            <a:avLst/>
          </a:prstGeom>
        </p:spPr>
      </p:pic>
      <p:sp>
        <p:nvSpPr>
          <p:cNvPr id="4" name="Rectangle 4"/>
          <p:cNvSpPr/>
          <p:nvPr/>
        </p:nvSpPr>
        <p:spPr>
          <a:xfrm>
            <a:off x="6748976" y="4802254"/>
            <a:ext cx="2083324" cy="241015"/>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dirty="0">
                <a:solidFill>
                  <a:schemeClr val="tx1"/>
                </a:solidFill>
                <a:latin typeface="Source Sans Pro" panose="020B0503030403020204" pitchFamily="34" charset="0"/>
                <a:ea typeface="黑体" panose="02010609060101010101" pitchFamily="49" charset="-122"/>
              </a:rPr>
              <a:t>exec()</a:t>
            </a:r>
            <a:r>
              <a:rPr lang="zh-CN" altLang="en-US" sz="1200" dirty="0">
                <a:solidFill>
                  <a:schemeClr val="tx1"/>
                </a:solidFill>
                <a:latin typeface="Source Sans Pro" panose="020B0503030403020204" pitchFamily="34" charset="0"/>
                <a:ea typeface="黑体" panose="02010609060101010101" pitchFamily="49" charset="-122"/>
              </a:rPr>
              <a:t>可以直接执行</a:t>
            </a:r>
            <a:r>
              <a:rPr lang="en-US" altLang="zh-CN" sz="1200" dirty="0" err="1">
                <a:solidFill>
                  <a:schemeClr val="tx1"/>
                </a:solidFill>
                <a:latin typeface="Source Sans Pro" panose="020B0503030403020204" pitchFamily="34" charset="0"/>
                <a:ea typeface="黑体" panose="02010609060101010101" pitchFamily="49" charset="-122"/>
              </a:rPr>
              <a:t>pyc</a:t>
            </a:r>
            <a:r>
              <a:rPr lang="zh-CN" altLang="en-US" sz="1200" dirty="0">
                <a:solidFill>
                  <a:schemeClr val="tx1"/>
                </a:solidFill>
                <a:latin typeface="Source Sans Pro" panose="020B0503030403020204" pitchFamily="34" charset="0"/>
                <a:ea typeface="黑体" panose="02010609060101010101" pitchFamily="49" charset="-122"/>
              </a:rPr>
              <a:t>文件</a:t>
            </a:r>
            <a:endParaRPr lang="en-US" sz="1200" dirty="0">
              <a:solidFill>
                <a:schemeClr val="tx1"/>
              </a:solidFill>
              <a:latin typeface="Source Sans Pro" panose="020B0503030403020204" pitchFamily="34" charset="0"/>
              <a:ea typeface="黑体" panose="02010609060101010101" pitchFamily="49" charset="-122"/>
            </a:endParaRPr>
          </a:p>
        </p:txBody>
      </p:sp>
      <p:sp>
        <p:nvSpPr>
          <p:cNvPr id="6" name="动作按钮: 帮助 5"/>
          <p:cNvSpPr/>
          <p:nvPr>
            <p:custDataLst>
              <p:tags r:id="rId5"/>
            </p:custDataLst>
          </p:nvPr>
        </p:nvSpPr>
        <p:spPr>
          <a:xfrm>
            <a:off x="2146300" y="201930"/>
            <a:ext cx="1395730" cy="435610"/>
          </a:xfrm>
          <a:prstGeom prst="actionButtonHelp">
            <a:avLst/>
          </a:prstGeom>
          <a:ln>
            <a:solidFill>
              <a:srgbClr val="00B050"/>
            </a:solidFill>
          </a:ln>
        </p:spPr>
        <p:style>
          <a:lnRef idx="2">
            <a:schemeClr val="accent1"/>
          </a:lnRef>
          <a:fillRef idx="0">
            <a:srgbClr val="FFFFFF"/>
          </a:fillRef>
          <a:effectRef idx="0">
            <a:srgbClr val="FFFFFF"/>
          </a:effectRef>
          <a:fontRef idx="minor">
            <a:schemeClr val="dk1"/>
          </a:fontRef>
        </p:style>
        <p:txBody>
          <a:bodyPr rtlCol="0" anchor="ctr"/>
          <a:p>
            <a:pPr algn="ctr"/>
            <a:endParaRPr lang="zh-CN" altLang="en-US">
              <a:solidFill>
                <a:schemeClr val="tx1"/>
              </a:solidFil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t>Reference</a:t>
            </a:r>
            <a:endParaRPr lang="zh-CN" altLang="en-US" dirty="0"/>
          </a:p>
        </p:txBody>
      </p:sp>
      <p:sp>
        <p:nvSpPr>
          <p:cNvPr id="3" name="文本占位符 2"/>
          <p:cNvSpPr>
            <a:spLocks noGrp="1"/>
          </p:cNvSpPr>
          <p:nvPr>
            <p:ph type="body" idx="1"/>
          </p:nvPr>
        </p:nvSpPr>
        <p:spPr>
          <a:xfrm>
            <a:off x="311700" y="1152474"/>
            <a:ext cx="8520600" cy="3876725"/>
          </a:xfrm>
        </p:spPr>
        <p:txBody>
          <a:bodyPr>
            <a:noAutofit/>
          </a:bodyPr>
          <a:lstStyle/>
          <a:p>
            <a:r>
              <a:rPr lang="en-US" altLang="zh-CN" sz="1200" dirty="0">
                <a:solidFill>
                  <a:schemeClr val="bg2"/>
                </a:solidFill>
              </a:rPr>
              <a:t>Inside the Python Virtual Machine by Obi Ike-Nwosu is a free online book that does a deep dive into the Python interpreter, explaining in detail how Python actually works.</a:t>
            </a:r>
            <a:endParaRPr lang="en-US" altLang="zh-CN" sz="1200" dirty="0">
              <a:solidFill>
                <a:schemeClr val="bg2"/>
              </a:solidFill>
            </a:endParaRPr>
          </a:p>
          <a:p>
            <a:r>
              <a:rPr lang="en-US" altLang="zh-CN" sz="1200" dirty="0">
                <a:solidFill>
                  <a:schemeClr val="bg2"/>
                </a:solidFill>
              </a:rPr>
              <a:t>A Python Interpreter Written in Python by Allison Kaptur is a tutorial for building a Python bytecode interpreter in—what else—Python itself, and it implements all the machinery to run Python bytecode.</a:t>
            </a:r>
            <a:endParaRPr lang="en-US" altLang="zh-CN" sz="1200" dirty="0">
              <a:solidFill>
                <a:schemeClr val="bg2"/>
              </a:solidFill>
            </a:endParaRPr>
          </a:p>
          <a:p>
            <a:r>
              <a:rPr lang="en-US" altLang="zh-CN" sz="1200" dirty="0">
                <a:solidFill>
                  <a:schemeClr val="bg2"/>
                </a:solidFill>
              </a:rPr>
              <a:t>Finally, the </a:t>
            </a:r>
            <a:r>
              <a:rPr lang="en-US" altLang="zh-CN" sz="1200" dirty="0" err="1">
                <a:solidFill>
                  <a:schemeClr val="bg2"/>
                </a:solidFill>
              </a:rPr>
              <a:t>CPython</a:t>
            </a:r>
            <a:r>
              <a:rPr lang="en-US" altLang="zh-CN" sz="1200" dirty="0">
                <a:solidFill>
                  <a:schemeClr val="bg2"/>
                </a:solidFill>
              </a:rPr>
              <a:t> interpreter is open source and you can read through it on GitHub. The implementation of the bytecode interpreter is in the file Python/</a:t>
            </a:r>
            <a:r>
              <a:rPr lang="en-US" altLang="zh-CN" sz="1200" dirty="0" err="1">
                <a:solidFill>
                  <a:schemeClr val="bg2"/>
                </a:solidFill>
              </a:rPr>
              <a:t>ceval.c</a:t>
            </a:r>
            <a:r>
              <a:rPr lang="en-US" altLang="zh-CN" sz="1200" dirty="0">
                <a:solidFill>
                  <a:schemeClr val="bg2"/>
                </a:solidFill>
              </a:rPr>
              <a:t>. Here's that file for the Python 3.6.4 release; the bytecode instructions are handled by the switch statement beginning on line 1266.</a:t>
            </a:r>
            <a:endParaRPr lang="en-US" altLang="zh-CN" sz="1200" dirty="0">
              <a:solidFill>
                <a:schemeClr val="bg2"/>
              </a:solidFill>
            </a:endParaRPr>
          </a:p>
          <a:p>
            <a:r>
              <a:rPr lang="en-US" altLang="zh-CN" sz="1200" dirty="0">
                <a:solidFill>
                  <a:schemeClr val="bg2"/>
                </a:solidFill>
              </a:rPr>
              <a:t>To learn more, attend James Bennett's talk, A Bit about Bytes: Understanding Python Bytecode, at </a:t>
            </a:r>
            <a:r>
              <a:rPr lang="en-US" altLang="zh-CN" sz="1200" dirty="0" err="1">
                <a:solidFill>
                  <a:schemeClr val="bg2"/>
                </a:solidFill>
              </a:rPr>
              <a:t>PyCon</a:t>
            </a:r>
            <a:r>
              <a:rPr lang="en-US" altLang="zh-CN" sz="1200" dirty="0">
                <a:solidFill>
                  <a:schemeClr val="bg2"/>
                </a:solidFill>
              </a:rPr>
              <a:t> Cleveland 2018.</a:t>
            </a:r>
            <a:endParaRPr lang="en-US" altLang="zh-CN" sz="1200" dirty="0">
              <a:solidFill>
                <a:schemeClr val="bg2"/>
              </a:solidFill>
            </a:endParaRPr>
          </a:p>
          <a:p>
            <a:r>
              <a:rPr lang="en-US" altLang="zh-CN" sz="1200" dirty="0">
                <a:solidFill>
                  <a:schemeClr val="bg2"/>
                </a:solidFill>
              </a:rPr>
              <a:t>Anthony Shaw, “</a:t>
            </a:r>
            <a:r>
              <a:rPr lang="en-US" altLang="zh-CN" sz="1200" dirty="0" err="1">
                <a:solidFill>
                  <a:schemeClr val="bg2"/>
                </a:solidFill>
              </a:rPr>
              <a:t>CPython</a:t>
            </a:r>
            <a:r>
              <a:rPr lang="en-US" altLang="zh-CN" sz="1200" dirty="0">
                <a:solidFill>
                  <a:schemeClr val="bg2"/>
                </a:solidFill>
              </a:rPr>
              <a:t> Internals”</a:t>
            </a:r>
            <a:endParaRPr lang="en-US" altLang="zh-CN" sz="1200" dirty="0">
              <a:solidFill>
                <a:schemeClr val="bg2"/>
              </a:solidFill>
            </a:endParaRPr>
          </a:p>
          <a:p>
            <a:r>
              <a:rPr lang="en-US" altLang="zh-CN" sz="1200" dirty="0">
                <a:solidFill>
                  <a:schemeClr val="bg2"/>
                </a:solidFill>
              </a:rPr>
              <a:t>http://www.python.org</a:t>
            </a:r>
            <a:endParaRPr lang="en-US" altLang="zh-CN" sz="1200" dirty="0">
              <a:solidFill>
                <a:schemeClr val="bg2"/>
              </a:solidFill>
            </a:endParaRPr>
          </a:p>
          <a:p>
            <a:r>
              <a:rPr lang="en-US" altLang="zh-CN" sz="1200" dirty="0">
                <a:solidFill>
                  <a:schemeClr val="bg2"/>
                </a:solidFill>
                <a:hlinkClick r:id="rId1"/>
              </a:rPr>
              <a:t>https://jython-devguide.readthedocs.io/en/latest/compiler.html</a:t>
            </a:r>
            <a:endParaRPr lang="en-US" altLang="zh-CN" sz="1200" dirty="0">
              <a:solidFill>
                <a:schemeClr val="bg2"/>
              </a:solidFill>
            </a:endParaRPr>
          </a:p>
          <a:p>
            <a:r>
              <a:rPr lang="en-US" altLang="zh-CN" sz="1200" dirty="0">
                <a:solidFill>
                  <a:schemeClr val="bg2"/>
                </a:solidFill>
              </a:rPr>
              <a:t>https://docs.python.org/3/library/py_compile.html </a:t>
            </a:r>
            <a:endParaRPr lang="en-US" altLang="zh-CN" sz="1200" dirty="0">
              <a:solidFill>
                <a:schemeClr val="bg2"/>
              </a:solidFill>
            </a:endParaRPr>
          </a:p>
          <a:p>
            <a:r>
              <a:rPr lang="en-US" altLang="zh-CN" sz="1200" dirty="0">
                <a:solidFill>
                  <a:schemeClr val="bg2"/>
                </a:solidFill>
              </a:rPr>
              <a:t>https://docs.python.org/2/library/compileall.html </a:t>
            </a:r>
            <a:endParaRPr lang="en-US" altLang="zh-CN" sz="1200" dirty="0">
              <a:solidFill>
                <a:schemeClr val="bg2"/>
              </a:solidFill>
            </a:endParaRPr>
          </a:p>
          <a:p>
            <a:r>
              <a:rPr lang="en-US" altLang="zh-CN" sz="1200" dirty="0">
                <a:solidFill>
                  <a:schemeClr val="bg2"/>
                </a:solidFill>
              </a:rPr>
              <a:t>https://devguide.python.org/internals/compiler/</a:t>
            </a:r>
            <a:endParaRPr lang="en-US" altLang="zh-CN" sz="1200" dirty="0">
              <a:solidFill>
                <a:schemeClr val="bg2"/>
              </a:solidFill>
            </a:endParaRPr>
          </a:p>
          <a:p>
            <a:r>
              <a:rPr lang="en-US" altLang="zh-CN" sz="1200" dirty="0">
                <a:solidFill>
                  <a:schemeClr val="bg2"/>
                </a:solidFill>
              </a:rPr>
              <a:t>https://devguide.python.org/internals/interpreter/</a:t>
            </a:r>
            <a:endParaRPr lang="en-US" altLang="zh-CN" sz="1200" dirty="0">
              <a:solidFill>
                <a:schemeClr val="bg2"/>
              </a:solidFill>
            </a:endParaRPr>
          </a:p>
          <a:p>
            <a:endParaRPr lang="en-US" altLang="zh-CN" sz="1400" dirty="0">
              <a:solidFill>
                <a:schemeClr val="bg2"/>
              </a:solidFill>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commondata" val="eyJoZGlkIjoiNzY3Mjg3YTY0M2FkYzQ0ZWU2NjE0NDY1YWY1MmI1YWEifQ=="/>
</p:tagLst>
</file>

<file path=ppt/theme/theme1.xml><?xml version="1.0" encoding="utf-8"?>
<a:theme xmlns:a="http://schemas.openxmlformats.org/drawingml/2006/main" name="Plum">
  <a:themeElements>
    <a:clrScheme name="Plum">
      <a:dk1>
        <a:srgbClr val="611BB8"/>
      </a:dk1>
      <a:lt1>
        <a:srgbClr val="FFFFFF"/>
      </a:lt1>
      <a:dk2>
        <a:srgbClr val="000000"/>
      </a:dk2>
      <a:lt2>
        <a:srgbClr val="7F7F7F"/>
      </a:lt2>
      <a:accent1>
        <a:srgbClr val="333333"/>
      </a:accent1>
      <a:accent2>
        <a:srgbClr val="5E2B97"/>
      </a:accent2>
      <a:accent3>
        <a:srgbClr val="7E57C2"/>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38280</Words>
  <Application>WPS 演示</Application>
  <PresentationFormat>On-screen Show (16:9)</PresentationFormat>
  <Paragraphs>1060</Paragraphs>
  <Slides>87</Slides>
  <Notes>13</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87</vt:i4>
      </vt:variant>
    </vt:vector>
  </HeadingPairs>
  <TitlesOfParts>
    <vt:vector size="103" baseType="lpstr">
      <vt:lpstr>Arial</vt:lpstr>
      <vt:lpstr>宋体</vt:lpstr>
      <vt:lpstr>Wingdings</vt:lpstr>
      <vt:lpstr>Arial</vt:lpstr>
      <vt:lpstr>Raleway</vt:lpstr>
      <vt:lpstr>Source Sans Pro</vt:lpstr>
      <vt:lpstr>Source Sans Pro</vt:lpstr>
      <vt:lpstr>黑体</vt:lpstr>
      <vt:lpstr>Raleway</vt:lpstr>
      <vt:lpstr>微软雅黑</vt:lpstr>
      <vt:lpstr>Arial Unicode MS</vt:lpstr>
      <vt:lpstr>Tw Cen MT</vt:lpstr>
      <vt:lpstr>Consolas</vt:lpstr>
      <vt:lpstr>华文仿宋</vt:lpstr>
      <vt:lpstr>Wingdings</vt:lpstr>
      <vt:lpstr>Plum</vt:lpstr>
      <vt:lpstr>Introduction to Computation</vt:lpstr>
      <vt:lpstr>Outline</vt:lpstr>
      <vt:lpstr>PowerPoint 演示文稿</vt:lpstr>
      <vt:lpstr>Class</vt:lpstr>
      <vt:lpstr>Module, Class and Function: WHY? </vt:lpstr>
      <vt:lpstr>Questions From Past Exercise</vt:lpstr>
      <vt:lpstr>Class</vt:lpstr>
      <vt:lpstr>Class and Object</vt:lpstr>
      <vt:lpstr>Class and Type</vt:lpstr>
      <vt:lpstr>Keyword: class</vt:lpstr>
      <vt:lpstr>Class and Encapsulation (封装)   </vt:lpstr>
      <vt:lpstr>“.” operator</vt:lpstr>
      <vt:lpstr>Class: Challenge</vt:lpstr>
      <vt:lpstr>Class design: __init__(self) 构造函数</vt:lpstr>
      <vt:lpstr>Class: self</vt:lpstr>
      <vt:lpstr>__init__() and self</vt:lpstr>
      <vt:lpstr>Member Attributes</vt:lpstr>
      <vt:lpstr>Class Point: default parameters</vt:lpstr>
      <vt:lpstr>Class Dog</vt:lpstr>
      <vt:lpstr>Member functions</vt:lpstr>
      <vt:lpstr>Member functions: no self</vt:lpstr>
      <vt:lpstr>class Triangle, self</vt:lpstr>
      <vt:lpstr>class Triangle</vt:lpstr>
      <vt:lpstr>Class HappyNumber</vt:lpstr>
      <vt:lpstr>Scope of functions and variables</vt:lpstr>
      <vt:lpstr>Without __init__</vt:lpstr>
      <vt:lpstr>Python classes/objects</vt:lpstr>
      <vt:lpstr>Exercise</vt:lpstr>
      <vt:lpstr>Class Variables</vt:lpstr>
      <vt:lpstr>Class Methods</vt:lpstr>
      <vt:lpstr>Class Variable and Class method</vt:lpstr>
      <vt:lpstr>Private Methods _, __</vt:lpstr>
      <vt:lpstr>Inheritance</vt:lpstr>
      <vt:lpstr>Evolution and Inheritance (继承)</vt:lpstr>
      <vt:lpstr>Inheritance Syntax</vt:lpstr>
      <vt:lpstr>Functions with the same name</vt:lpstr>
      <vt:lpstr>Overriding (重写)</vt:lpstr>
      <vt:lpstr>Overriding __init__()</vt:lpstr>
      <vt:lpstr>issubclass() and isinstance()  </vt:lpstr>
      <vt:lpstr>== VS. is</vt:lpstr>
      <vt:lpstr>Introspection Tools</vt:lpstr>
      <vt:lpstr>object class  </vt:lpstr>
      <vt:lpstr>Triangle: overloading object</vt:lpstr>
      <vt:lpstr>[]: __getitem__, __setitem__</vt:lpstr>
      <vt:lpstr>+, +=  </vt:lpstr>
      <vt:lpstr>repr(): __repr__(), __str__()</vt:lpstr>
      <vt:lpstr>All are Object</vt:lpstr>
      <vt:lpstr>Duck Typing</vt:lpstr>
      <vt:lpstr>Polymorphism (多态)</vt:lpstr>
      <vt:lpstr>Machinery of attribute inheritance</vt:lpstr>
      <vt:lpstr>Machinery of attribute inheritance</vt:lpstr>
      <vt:lpstr>Inheritance Tree  </vt:lpstr>
      <vt:lpstr>Multiple inheritance 多重继承</vt:lpstr>
      <vt:lpstr>Example</vt:lpstr>
      <vt:lpstr>Reading</vt:lpstr>
      <vt:lpstr>Module</vt:lpstr>
      <vt:lpstr>The big picture</vt:lpstr>
      <vt:lpstr>import</vt:lpstr>
      <vt:lpstr>Top-level file (顶层文件)</vt:lpstr>
      <vt:lpstr>Python Program Architecture</vt:lpstr>
      <vt:lpstr>Python Program Architecture: import</vt:lpstr>
      <vt:lpstr>import</vt:lpstr>
      <vt:lpstr>How import works</vt:lpstr>
      <vt:lpstr>The module search path</vt:lpstr>
      <vt:lpstr>import, from … import</vt:lpstr>
      <vt:lpstr>Import Happen Only Once</vt:lpstr>
      <vt:lpstr>Import and from</vt:lpstr>
      <vt:lpstr>Reload modules</vt:lpstr>
      <vt:lpstr>as (别名)</vt:lpstr>
      <vt:lpstr>__future__</vt:lpstr>
      <vt:lpstr>__name__ and __main__</vt:lpstr>
      <vt:lpstr>Top-level Vs. Imported</vt:lpstr>
      <vt:lpstr>import</vt:lpstr>
      <vt:lpstr>Must Know Useful Module</vt:lpstr>
      <vt:lpstr>Numpy</vt:lpstr>
      <vt:lpstr>Matplotlib</vt:lpstr>
      <vt:lpstr>Scipy</vt:lpstr>
      <vt:lpstr>Pip: Module Management</vt:lpstr>
      <vt:lpstr>Reading</vt:lpstr>
      <vt:lpstr>Interpreter</vt:lpstr>
      <vt:lpstr>Python Interpreter</vt:lpstr>
      <vt:lpstr>CPython</vt:lpstr>
      <vt:lpstr>Bytecode</vt:lpstr>
      <vt:lpstr>Bytecode: compile</vt:lpstr>
      <vt:lpstr>Compile</vt:lpstr>
      <vt:lpstr>Disassemble  bytecode</vt:lpstr>
      <vt:lpstr>Reference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Computation</dc:title>
  <dc:creator>Fan Cheng</dc:creator>
  <cp:lastModifiedBy>陈卓妍</cp:lastModifiedBy>
  <cp:revision>11</cp:revision>
  <dcterms:created xsi:type="dcterms:W3CDTF">2023-11-21T02:16:00Z</dcterms:created>
  <dcterms:modified xsi:type="dcterms:W3CDTF">2023-12-19T03:14:25Z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EDE43F40135E4E68A4F4A686F19E80D6_12</vt:lpwstr>
  </property>
  <property fmtid="{D5CDD505-2E9C-101B-9397-08002B2CF9AE}" pid="3" name="KSOProductBuildVer">
    <vt:lpwstr>2052-12.1.0.15712</vt:lpwstr>
  </property>
</Properties>
</file>