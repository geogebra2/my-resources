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3"/>
    <p:sldId id="259" r:id="rId4"/>
    <p:sldId id="260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</p:sldIdLst>
  <p:sldSz cx="12192000" cy="6858000"/>
  <p:notesSz cx="12192000" cy="6858000"/>
  <p:embeddedFontLst>
    <p:embeddedFont>
      <p:font typeface="华文楷体" panose="02010600040101010101" charset="-122"/>
      <p:regular r:id="rId21"/>
    </p:embeddedFont>
    <p:embeddedFont>
      <p:font typeface="BJCNVE+Cambria Math" panose="02040503050406030204"/>
      <p:regular r:id="rId22"/>
    </p:embeddedFont>
    <p:embeddedFont>
      <p:font typeface="Calibri" panose="020F0502020204030204"/>
      <p:regular r:id="rId23"/>
      <p:bold r:id="rId24"/>
      <p:italic r:id="rId25"/>
      <p:boldItalic r:id="rId26"/>
    </p:embeddedFont>
    <p:embeddedFont>
      <p:font typeface="楷体" panose="02010609060101010101" charset="-122"/>
      <p:regular r:id="rId27"/>
    </p:embeddedFont>
    <p:embeddedFont>
      <p:font typeface="黑体" panose="02010609060101010101" charset="-122"/>
      <p:regular r:id="rId28"/>
    </p:embeddedFont>
    <p:embeddedFont>
      <p:font typeface="等线" panose="02010600030101010101" charset="-122"/>
      <p:regular r:id="rId29"/>
    </p:embeddedFont>
    <p:embeddedFont>
      <p:font typeface="华文中宋" panose="02010600040101010101" charset="-122"/>
      <p:regular r:id="rId30"/>
    </p:embeddedFont>
  </p:embeddedFontLst>
  <p:custDataLst>
    <p:tags r:id="rId3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95807" y="430712"/>
            <a:ext cx="10277906" cy="1275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例</a:t>
            </a:r>
            <a:r>
              <a:rPr sz="2800" spc="71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袋中有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a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只白球，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b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只红球，从袋中按不放回与放回两种方式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  <a:p>
            <a:pPr marL="0" marR="0">
              <a:lnSpc>
                <a:spcPts val="3130"/>
              </a:lnSpc>
              <a:spcBef>
                <a:spcPts val="28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取球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m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次，每次1球（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m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≤</a:t>
            </a:r>
            <a:r>
              <a:rPr lang="en-US"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a+b</a:t>
            </a:r>
            <a:r>
              <a:rPr sz="2800" spc="1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),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 求其中恰有</a:t>
            </a:r>
            <a:r>
              <a:rPr sz="2800" spc="-3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3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次</a:t>
            </a:r>
            <a:r>
              <a:rPr sz="28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( 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k</a:t>
            </a:r>
            <a:r>
              <a:rPr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≤</a:t>
            </a:r>
            <a:r>
              <a:rPr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8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∧</a:t>
            </a:r>
            <a:r>
              <a:rPr sz="2800" spc="-6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6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）</a:t>
            </a:r>
            <a:r>
              <a:rPr lang="zh-CN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取到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白球的概率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?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4635" y="6447107"/>
            <a:ext cx="229641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1200" dirty="0">
              <a:solidFill>
                <a:srgbClr val="898989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1293" y="647747"/>
            <a:ext cx="10163688" cy="875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 marR="0">
              <a:lnSpc>
                <a:spcPts val="313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例</a:t>
            </a:r>
            <a:r>
              <a:rPr sz="2800" spc="71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袋中有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a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只白球，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b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只红球，从袋中按不放回取球，每次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1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球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,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  <a:p>
            <a:pPr marL="0" marR="0">
              <a:lnSpc>
                <a:spcPts val="3130"/>
              </a:lnSpc>
              <a:spcBef>
                <a:spcPts val="28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求第</a:t>
            </a:r>
            <a:r>
              <a:rPr sz="2800" spc="-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次</a:t>
            </a:r>
            <a:r>
              <a:rPr sz="28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( 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k</a:t>
            </a:r>
            <a:r>
              <a:rPr sz="2800" spc="7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≤</a:t>
            </a:r>
            <a:r>
              <a:rPr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+</a:t>
            </a:r>
            <a:r>
              <a:rPr sz="2800" spc="15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b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）白球的概率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4635" y="6447107"/>
            <a:ext cx="229641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1200" dirty="0">
              <a:solidFill>
                <a:srgbClr val="898989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6177" y="474496"/>
            <a:ext cx="10216105" cy="201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例</a:t>
            </a:r>
            <a:r>
              <a:rPr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某一个《概率统计》教学班，</a:t>
            </a:r>
            <a:r>
              <a:rPr lang="en-US" sz="2800" spc="18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n</a:t>
            </a:r>
            <a:r>
              <a:rPr sz="280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名同学，求下列事件的概率：</a:t>
            </a:r>
            <a:endParaRPr sz="2800" dirty="0">
              <a:solidFill>
                <a:srgbClr val="000000"/>
              </a:solidFill>
              <a:latin typeface="楷体" panose="02010609060101010101" charset="-122"/>
              <a:cs typeface="楷体" panose="02010609060101010101" charset="-122"/>
            </a:endParaRPr>
          </a:p>
          <a:p>
            <a:pPr marL="0" marR="0">
              <a:lnSpc>
                <a:spcPts val="2800"/>
              </a:lnSpc>
              <a:spcBef>
                <a:spcPts val="335"/>
              </a:spcBef>
              <a:spcAft>
                <a:spcPts val="0"/>
              </a:spcAft>
            </a:pPr>
            <a:r>
              <a:rPr sz="2800" spc="2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（</a:t>
            </a:r>
            <a:r>
              <a:rPr sz="280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1）</a:t>
            </a:r>
            <a:r>
              <a:rPr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=</a:t>
            </a:r>
            <a:r>
              <a:rPr sz="2800" spc="12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“至少有两人生日相同”；</a:t>
            </a:r>
            <a:endParaRPr sz="2800" spc="12" dirty="0">
              <a:solidFill>
                <a:srgbClr val="000000"/>
              </a:solidFill>
              <a:latin typeface="楷体" panose="02010609060101010101" charset="-122"/>
              <a:cs typeface="楷体" panose="02010609060101010101" charset="-122"/>
            </a:endParaRPr>
          </a:p>
          <a:p>
            <a:pPr marL="0" marR="0">
              <a:lnSpc>
                <a:spcPts val="2800"/>
              </a:lnSpc>
              <a:spcBef>
                <a:spcPts val="385"/>
              </a:spcBef>
              <a:spcAft>
                <a:spcPts val="0"/>
              </a:spcAft>
            </a:pPr>
            <a:r>
              <a:rPr sz="2800" spc="2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（</a:t>
            </a:r>
            <a:r>
              <a:rPr sz="280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2）</a:t>
            </a:r>
            <a:r>
              <a:rPr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=</a:t>
            </a:r>
            <a:r>
              <a:rPr sz="2800" spc="12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“有人今天过生日”；</a:t>
            </a:r>
            <a:endParaRPr sz="2800" spc="12" dirty="0">
              <a:solidFill>
                <a:srgbClr val="000000"/>
              </a:solidFill>
              <a:latin typeface="楷体" panose="02010609060101010101" charset="-122"/>
              <a:cs typeface="楷体" panose="02010609060101010101" charset="-122"/>
            </a:endParaRPr>
          </a:p>
          <a:p>
            <a:pPr marL="0" marR="0">
              <a:lnSpc>
                <a:spcPts val="2800"/>
              </a:lnSpc>
              <a:spcBef>
                <a:spcPts val="335"/>
              </a:spcBef>
              <a:spcAft>
                <a:spcPts val="0"/>
              </a:spcAft>
            </a:pPr>
            <a:r>
              <a:rPr sz="2800" spc="2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（</a:t>
            </a:r>
            <a:r>
              <a:rPr sz="280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3）</a:t>
            </a:r>
            <a:r>
              <a:rPr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spc="8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=</a:t>
            </a:r>
            <a:r>
              <a:rPr sz="2800" spc="12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“今天恰有两人过生日”；</a:t>
            </a:r>
            <a:endParaRPr sz="2800" spc="12" dirty="0">
              <a:solidFill>
                <a:srgbClr val="000000"/>
              </a:solidFill>
              <a:latin typeface="楷体" panose="02010609060101010101" charset="-122"/>
              <a:cs typeface="楷体" panose="02010609060101010101" charset="-122"/>
            </a:endParaRPr>
          </a:p>
          <a:p>
            <a:pPr marL="0" marR="0">
              <a:lnSpc>
                <a:spcPts val="2800"/>
              </a:lnSpc>
              <a:spcBef>
                <a:spcPts val="340"/>
              </a:spcBef>
              <a:spcAft>
                <a:spcPts val="0"/>
              </a:spcAft>
            </a:pPr>
            <a:r>
              <a:rPr sz="2800" spc="2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（</a:t>
            </a:r>
            <a:r>
              <a:rPr sz="280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4）</a:t>
            </a:r>
            <a:r>
              <a:rPr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800" spc="7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=</a:t>
            </a:r>
            <a:r>
              <a:rPr sz="2800" spc="12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“本周恰有</a:t>
            </a:r>
            <a:r>
              <a:rPr lang="en-US" sz="2800" spc="12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k</a:t>
            </a:r>
            <a:r>
              <a:rPr sz="2800" spc="11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人过生日”(</a:t>
            </a:r>
            <a:r>
              <a:rPr lang="en-US" sz="2800" spc="11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k</a:t>
            </a:r>
            <a:r>
              <a:rPr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≤</a:t>
            </a:r>
            <a:r>
              <a:rPr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dirty="0">
                <a:solidFill>
                  <a:srgbClr val="000000"/>
                </a:solidFill>
                <a:latin typeface="楷体" panose="02010609060101010101" charset="-122"/>
                <a:cs typeface="楷体" panose="02010609060101010101" charset="-122"/>
              </a:rPr>
              <a:t>)</a:t>
            </a:r>
            <a:endParaRPr sz="2800" dirty="0">
              <a:solidFill>
                <a:srgbClr val="000000"/>
              </a:solidFill>
              <a:latin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4635" y="6447107"/>
            <a:ext cx="229641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200" dirty="0">
              <a:solidFill>
                <a:srgbClr val="898989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6020" y="363021"/>
            <a:ext cx="10686131" cy="967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例</a:t>
            </a:r>
            <a:r>
              <a:rPr sz="2800" spc="7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在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ퟏ,</a:t>
            </a:r>
            <a:r>
              <a:rPr sz="2800" spc="-2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ퟐ,</a:t>
            </a:r>
            <a:r>
              <a:rPr sz="2800" spc="-2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ퟑ,</a:t>
            </a:r>
            <a:r>
              <a:rPr sz="2800" spc="-23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…</a:t>
            </a:r>
            <a:r>
              <a:rPr sz="2800" spc="-24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,</a:t>
            </a:r>
            <a:r>
              <a:rPr sz="2800" spc="-22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ퟗ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中可重复地任取</a:t>
            </a:r>
            <a:r>
              <a:rPr sz="2800" spc="-1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1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个数（</a:t>
            </a:r>
            <a:r>
              <a:rPr lang="en-US"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n</a:t>
            </a:r>
            <a:r>
              <a:rPr sz="2800" spc="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≥</a:t>
            </a:r>
            <a:r>
              <a:rPr sz="2800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ퟐ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）,</a:t>
            </a:r>
            <a:r>
              <a:rPr sz="2800" spc="-4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求</a:t>
            </a:r>
            <a:r>
              <a:rPr sz="28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次取到的数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  <a:p>
            <a:pPr marL="0" marR="0">
              <a:lnSpc>
                <a:spcPts val="3130"/>
              </a:lnSpc>
              <a:spcBef>
                <a:spcPts val="128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字的乘积能被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10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整除的概率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.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6911" y="6447107"/>
            <a:ext cx="307365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24</a:t>
            </a:r>
            <a:endParaRPr sz="1200" dirty="0">
              <a:solidFill>
                <a:srgbClr val="898989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9165" y="459406"/>
            <a:ext cx="11294388" cy="436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例</a:t>
            </a:r>
            <a:r>
              <a:rPr sz="2800" spc="142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把标有</a:t>
            </a:r>
            <a:r>
              <a:rPr sz="2800" spc="12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ퟏ,</a:t>
            </a:r>
            <a:r>
              <a:rPr sz="2800" spc="-2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ퟐ,</a:t>
            </a:r>
            <a:r>
              <a:rPr sz="2800" spc="-24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ퟑ,</a:t>
            </a:r>
            <a:r>
              <a:rPr sz="2800" spc="-2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ퟒ</a:t>
            </a:r>
            <a:r>
              <a:rPr sz="2800" spc="13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的</a:t>
            </a:r>
            <a:r>
              <a:rPr sz="2800" spc="12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ퟒ</a:t>
            </a:r>
            <a:r>
              <a:rPr sz="2800" spc="13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个球随机地放入标有</a:t>
            </a:r>
            <a:r>
              <a:rPr sz="2800" spc="12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ퟏ,</a:t>
            </a:r>
            <a:r>
              <a:rPr sz="2800" spc="-2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ퟐ,</a:t>
            </a:r>
            <a:r>
              <a:rPr sz="2800" spc="-24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ퟑ,</a:t>
            </a:r>
            <a:r>
              <a:rPr sz="2800" spc="-2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ퟒ</a:t>
            </a:r>
            <a:r>
              <a:rPr sz="2800" spc="13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的</a:t>
            </a:r>
            <a:r>
              <a:rPr sz="2800" spc="1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ퟒ</a:t>
            </a:r>
            <a:r>
              <a:rPr sz="2800" spc="14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个盒子中，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9165" y="1014658"/>
            <a:ext cx="11179071" cy="435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楷体" panose="02010600040101010101" charset="-122"/>
                <a:cs typeface="华文楷体" panose="02010600040101010101" charset="-122"/>
              </a:rPr>
              <a:t>每盒放一球，求至少有一个盒子的号码与放入的球的号码一致的概率。</a:t>
            </a:r>
            <a:endParaRPr sz="2800" dirty="0">
              <a:solidFill>
                <a:srgbClr val="000000"/>
              </a:solidFill>
              <a:latin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95559" y="6162428"/>
            <a:ext cx="762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0000"/>
                </a:solidFill>
                <a:latin typeface="等线" panose="02010600030101010101" charset="-122"/>
                <a:cs typeface="等线" panose="02010600030101010101" charset="-122"/>
              </a:rPr>
              <a:t>推广</a:t>
            </a:r>
            <a:endParaRPr sz="2400" b="1" dirty="0">
              <a:solidFill>
                <a:srgbClr val="FF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06911" y="6447107"/>
            <a:ext cx="307365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25</a:t>
            </a:r>
            <a:endParaRPr sz="1200" dirty="0">
              <a:solidFill>
                <a:srgbClr val="898989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78103" y="382402"/>
            <a:ext cx="10107467" cy="152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80"/>
              </a:lnSpc>
              <a:spcBef>
                <a:spcPts val="0"/>
              </a:spcBef>
              <a:spcAft>
                <a:spcPts val="0"/>
              </a:spcAft>
            </a:pPr>
            <a:r>
              <a:rPr sz="2800" spc="21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思考</a:t>
            </a:r>
            <a:r>
              <a:rPr sz="2800" spc="13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把标有</a:t>
            </a:r>
            <a:r>
              <a:rPr sz="2800" spc="21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ퟏ,</a:t>
            </a:r>
            <a:r>
              <a:rPr sz="2800" spc="-22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ퟐ,</a:t>
            </a:r>
            <a:r>
              <a:rPr sz="2800" spc="-2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…</a:t>
            </a:r>
            <a:r>
              <a:rPr sz="2800" spc="-24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,</a:t>
            </a:r>
            <a:r>
              <a:rPr sz="2800" spc="-22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22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的</a:t>
            </a:r>
            <a:r>
              <a:rPr sz="2800" spc="19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19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个球随机地放入标有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ퟏ,</a:t>
            </a:r>
            <a:r>
              <a:rPr sz="2800" spc="-22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ퟐ,</a:t>
            </a:r>
            <a:r>
              <a:rPr sz="2800" spc="-24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…</a:t>
            </a:r>
            <a:r>
              <a:rPr sz="2800" spc="-23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BJCNVE+Cambria Math" panose="02040503050406030204"/>
                <a:cs typeface="BJCNVE+Cambria Math" panose="02040503050406030204"/>
              </a:rPr>
              <a:t>,</a:t>
            </a:r>
            <a:r>
              <a:rPr sz="2800" spc="-22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22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2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n</a:t>
            </a:r>
            <a:endParaRPr sz="2800" dirty="0">
              <a:solidFill>
                <a:srgbClr val="000000"/>
              </a:solidFill>
              <a:latin typeface="BJCNVE+Cambria Math" panose="02040503050406030204"/>
              <a:cs typeface="BJCNVE+Cambria Math" panose="02040503050406030204"/>
            </a:endParaRPr>
          </a:p>
          <a:p>
            <a:pPr marL="0" marR="0">
              <a:lnSpc>
                <a:spcPts val="3180"/>
              </a:lnSpc>
              <a:spcBef>
                <a:spcPts val="114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个盒子中，每盒放一球，求至少有一个盒子的号码与放入的球的</a:t>
            </a:r>
            <a:endParaRPr sz="2800" dirty="0">
              <a:solidFill>
                <a:srgbClr val="000000"/>
              </a:solidFill>
              <a:latin typeface="华文中宋" panose="02010600040101010101" charset="-122"/>
              <a:cs typeface="华文中宋" panose="02010600040101010101" charset="-122"/>
            </a:endParaRPr>
          </a:p>
          <a:p>
            <a:pPr marL="0" marR="0">
              <a:lnSpc>
                <a:spcPts val="3180"/>
              </a:lnSpc>
              <a:spcBef>
                <a:spcPts val="119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号码一致的概率</a:t>
            </a:r>
            <a:r>
              <a:rPr sz="280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?</a:t>
            </a:r>
            <a:endParaRPr sz="2800" dirty="0">
              <a:solidFill>
                <a:srgbClr val="000000"/>
              </a:solidFill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858" y="5308555"/>
            <a:ext cx="8802612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33CC"/>
                </a:solidFill>
                <a:latin typeface="等线" panose="02010600030101010101" charset="-122"/>
                <a:cs typeface="等线" panose="02010600030101010101" charset="-122"/>
              </a:rPr>
              <a:t>想一想</a:t>
            </a:r>
            <a:r>
              <a:rPr sz="2800" b="1" spc="1222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33CC"/>
                </a:solidFill>
                <a:latin typeface="华文中宋" panose="02010600040101010101" charset="-122"/>
                <a:cs typeface="华文中宋" panose="02010600040101010101" charset="-122"/>
              </a:rPr>
              <a:t>当</a:t>
            </a:r>
            <a:r>
              <a:rPr lang="en-US" sz="2800" dirty="0">
                <a:solidFill>
                  <a:srgbClr val="0033CC"/>
                </a:solidFill>
                <a:latin typeface="华文中宋" panose="02010600040101010101" charset="-122"/>
                <a:cs typeface="华文中宋" panose="02010600040101010101" charset="-122"/>
              </a:rPr>
              <a:t>n</a:t>
            </a:r>
            <a:r>
              <a:rPr sz="2800" spc="8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33CC"/>
                </a:solidFill>
                <a:latin typeface="BJCNVE+Cambria Math" panose="02040503050406030204"/>
                <a:cs typeface="BJCNVE+Cambria Math" panose="02040503050406030204"/>
              </a:rPr>
              <a:t>→</a:t>
            </a:r>
            <a:r>
              <a:rPr sz="2800" spc="74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33CC"/>
                </a:solidFill>
                <a:latin typeface="BJCNVE+Cambria Math" panose="02040503050406030204"/>
                <a:cs typeface="BJCNVE+Cambria Math" panose="02040503050406030204"/>
              </a:rPr>
              <a:t>+ꢄ</a:t>
            </a:r>
            <a:r>
              <a:rPr sz="2800" dirty="0">
                <a:solidFill>
                  <a:srgbClr val="0033CC"/>
                </a:solidFill>
                <a:latin typeface="华文中宋" panose="02010600040101010101" charset="-122"/>
                <a:cs typeface="华文中宋" panose="02010600040101010101" charset="-122"/>
              </a:rPr>
              <a:t>时，这个概率的极限会收敛到多少？</a:t>
            </a:r>
            <a:endParaRPr sz="2800" dirty="0">
              <a:solidFill>
                <a:srgbClr val="0033CC"/>
              </a:solidFill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06911" y="6447107"/>
            <a:ext cx="307365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26</a:t>
            </a:r>
            <a:endParaRPr sz="1200" dirty="0">
              <a:solidFill>
                <a:srgbClr val="898989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06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765" y="0"/>
            <a:ext cx="12192000" cy="5556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06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765" y="45085"/>
            <a:ext cx="12192000" cy="6685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07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0"/>
            <a:ext cx="12192000" cy="6274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07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671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09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0"/>
            <a:ext cx="12192000" cy="66890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09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192000" cy="66186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10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0"/>
            <a:ext cx="12192000" cy="6453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1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0"/>
            <a:ext cx="12192000" cy="67125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4-09-22 0910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7144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Q1ZjQ5ZGNmZTBkNDVjZDg2NGQ3ZWE0MGY0YWNjMWYifQ==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WPS 演示</Application>
  <PresentationFormat>On-screen Show (4:3)</PresentationFormat>
  <Paragraphs>39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华文楷体</vt:lpstr>
      <vt:lpstr>Times New Roman</vt:lpstr>
      <vt:lpstr>BJCNVE+Cambria Math</vt:lpstr>
      <vt:lpstr>Calibri</vt:lpstr>
      <vt:lpstr>楷体</vt:lpstr>
      <vt:lpstr>黑体</vt:lpstr>
      <vt:lpstr>等线</vt:lpstr>
      <vt:lpstr>华文中宋</vt:lpstr>
      <vt:lpstr>微软雅黑</vt:lpstr>
      <vt:lpstr>Arial Unicode MS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Clown</dc:creator>
  <cp:lastModifiedBy>陈卓妍</cp:lastModifiedBy>
  <cp:revision>4</cp:revision>
  <dcterms:created xsi:type="dcterms:W3CDTF">2024-09-21T05:33:00Z</dcterms:created>
  <dcterms:modified xsi:type="dcterms:W3CDTF">2024-09-22T01:11:54Z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9A35B00D6C094D88B128D24A1647A8E7_12</vt:lpwstr>
  </property>
  <property fmtid="{D5CDD505-2E9C-101B-9397-08002B2CF9AE}" pid="3" name="KSOProductBuildVer">
    <vt:lpwstr>2052-12.1.0.15712</vt:lpwstr>
  </property>
</Properties>
</file>