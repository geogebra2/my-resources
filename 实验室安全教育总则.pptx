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9"/>
  </p:notesMasterIdLst>
  <p:handoutMasterIdLst>
    <p:handoutMasterId r:id="rId20"/>
  </p:handoutMasterIdLst>
  <p:sldIdLst>
    <p:sldId id="256" r:id="rId2"/>
    <p:sldId id="317" r:id="rId3"/>
    <p:sldId id="319" r:id="rId4"/>
    <p:sldId id="320" r:id="rId5"/>
    <p:sldId id="313" r:id="rId6"/>
    <p:sldId id="311" r:id="rId7"/>
    <p:sldId id="309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282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1D8"/>
    <a:srgbClr val="3F6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6" autoAdjust="0"/>
    <p:restoredTop sz="86486" autoAdjust="0"/>
  </p:normalViewPr>
  <p:slideViewPr>
    <p:cSldViewPr snapToGrid="0">
      <p:cViewPr varScale="1">
        <p:scale>
          <a:sx n="75" d="100"/>
          <a:sy n="75" d="100"/>
        </p:scale>
        <p:origin x="1104" y="67"/>
      </p:cViewPr>
      <p:guideLst/>
    </p:cSldViewPr>
  </p:slideViewPr>
  <p:outlineViewPr>
    <p:cViewPr>
      <p:scale>
        <a:sx n="33" d="100"/>
        <a:sy n="33" d="100"/>
      </p:scale>
      <p:origin x="0" y="-13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14956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114029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5556">
          <p15:clr>
            <a:srgbClr val="FBAE40"/>
          </p15:clr>
        </p15:guide>
        <p15:guide id="2" pos="204">
          <p15:clr>
            <a:srgbClr val="FBAE40"/>
          </p15:clr>
        </p15:guide>
        <p15:guide id="5" pos="3125">
          <p15:clr>
            <a:srgbClr val="FBAE40"/>
          </p15:clr>
        </p15:guide>
        <p15:guide id="6" pos="115">
          <p15:clr>
            <a:srgbClr val="FBAE40"/>
          </p15:clr>
        </p15:guide>
        <p15:guide id="7" pos="4167" userDrawn="1">
          <p15:clr>
            <a:srgbClr val="FBAE40"/>
          </p15:clr>
        </p15:guide>
        <p15:guide id="8" pos="15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3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4" y="5245246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4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单击此处添加日期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29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4" y="3608990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7896" y="1371600"/>
            <a:ext cx="8410492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8" y="1673352"/>
            <a:ext cx="834042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13468" y="863020"/>
            <a:ext cx="8410492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ransition spd="med">
    <p:push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2989" y="4149566"/>
            <a:ext cx="8351577" cy="899510"/>
          </a:xfrm>
        </p:spPr>
        <p:txBody>
          <a:bodyPr/>
          <a:lstStyle/>
          <a:p>
            <a:r>
              <a:rPr lang="zh-CN" altLang="en-US" sz="4400" dirty="0"/>
              <a:t> </a:t>
            </a:r>
            <a:r>
              <a:rPr lang="zh-CN" altLang="en-US" sz="4400" dirty="0" smtClean="0"/>
              <a:t>实验室安全教育总则</a:t>
            </a:r>
            <a:endParaRPr lang="zh-CN" altLang="en-US" sz="44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 smtClean="0"/>
              <a:t>2022</a:t>
            </a:r>
            <a:r>
              <a:rPr lang="zh-CN" altLang="en-US" sz="2800" dirty="0" smtClean="0"/>
              <a:t>年</a:t>
            </a:r>
            <a:r>
              <a:rPr lang="en-US" altLang="zh-CN" sz="2800" dirty="0" smtClean="0"/>
              <a:t>10</a:t>
            </a:r>
            <a:r>
              <a:rPr lang="zh-CN" altLang="en-US" sz="2800" dirty="0" smtClean="0"/>
              <a:t>月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9182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1535" y="1978106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>
              <a:spLocks/>
            </p:cNvSpPr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>
            <a:stCxn id="4" idx="6"/>
          </p:cNvCxnSpPr>
          <p:nvPr/>
        </p:nvCxnSpPr>
        <p:spPr>
          <a:xfrm>
            <a:off x="2534033" y="2385771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915073" y="1949290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实验室安全管理制度</a:t>
            </a:r>
            <a:endParaRPr lang="zh-CN" altLang="en-US" sz="24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841535" y="2898079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>
            <a:stCxn id="13" idx="6"/>
          </p:cNvCxnSpPr>
          <p:nvPr/>
        </p:nvCxnSpPr>
        <p:spPr>
          <a:xfrm>
            <a:off x="2534033" y="3305744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915073" y="2869263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实验室安全操作规程</a:t>
            </a:r>
            <a:endParaRPr lang="zh-CN" altLang="en-US" sz="24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841535" y="3818052"/>
            <a:ext cx="843427" cy="443226"/>
            <a:chOff x="666810" y="2586037"/>
            <a:chExt cx="468000" cy="245937"/>
          </a:xfrm>
        </p:grpSpPr>
        <p:sp>
          <p:nvSpPr>
            <p:cNvPr id="18" name="Freeform 10"/>
            <p:cNvSpPr>
              <a:spLocks/>
            </p:cNvSpPr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0" name="直接连接符 19"/>
          <p:cNvCxnSpPr>
            <a:stCxn id="18" idx="6"/>
          </p:cNvCxnSpPr>
          <p:nvPr/>
        </p:nvCxnSpPr>
        <p:spPr>
          <a:xfrm>
            <a:off x="2534033" y="4225717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15073" y="3789236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实验室安全注意事项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985058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严禁在实验室内饮食；</a:t>
            </a:r>
            <a:endParaRPr lang="en-US" altLang="zh-CN" dirty="0" smtClean="0"/>
          </a:p>
          <a:p>
            <a:r>
              <a:rPr lang="zh-CN" altLang="en-US" dirty="0" smtClean="0"/>
              <a:t>实验老师做好学生进行实验操作的指导和监护工作；</a:t>
            </a:r>
            <a:endParaRPr lang="en-US" altLang="zh-CN" dirty="0" smtClean="0"/>
          </a:p>
          <a:p>
            <a:r>
              <a:rPr lang="zh-CN" altLang="en-US" dirty="0" smtClean="0"/>
              <a:t>实验前，指导老师要强调实验安全注意事项和操作程序；</a:t>
            </a:r>
            <a:endParaRPr lang="en-US" altLang="zh-CN" dirty="0" smtClean="0"/>
          </a:p>
          <a:p>
            <a:r>
              <a:rPr lang="zh-CN" altLang="en-US" dirty="0" smtClean="0"/>
              <a:t>做电学等实验，确保实验用电安全，防止意外事故发生；</a:t>
            </a:r>
            <a:endParaRPr lang="en-US" altLang="zh-CN" dirty="0" smtClean="0"/>
          </a:p>
          <a:p>
            <a:r>
              <a:rPr lang="zh-CN" altLang="en-US" dirty="0" smtClean="0"/>
              <a:t>做力学等实验，告诫学生所用导轨、配重等物品的坠落；</a:t>
            </a:r>
            <a:endParaRPr lang="en-US" altLang="zh-CN" dirty="0" smtClean="0"/>
          </a:p>
          <a:p>
            <a:r>
              <a:rPr lang="zh-CN" altLang="en-US" dirty="0" smtClean="0"/>
              <a:t>做光学、热学等实验，若使用明火，实验完毕要及时熄灭火源；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安全管理制度 </a:t>
            </a:r>
            <a:r>
              <a:rPr lang="en-US" altLang="zh-CN" dirty="0" smtClean="0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45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实验中，仪器发生异常现象时，确保人身安全，及时通知指导老师；</a:t>
            </a:r>
            <a:endParaRPr lang="en-US" altLang="zh-CN" dirty="0"/>
          </a:p>
          <a:p>
            <a:r>
              <a:rPr lang="zh-CN" altLang="en-US" dirty="0"/>
              <a:t>实验中，要合理、安全使用化学药品，正确处理废液废物；</a:t>
            </a:r>
            <a:endParaRPr lang="en-US" altLang="zh-CN" dirty="0"/>
          </a:p>
          <a:p>
            <a:r>
              <a:rPr lang="zh-CN" altLang="en-US" dirty="0"/>
              <a:t>大型仪器及特种设备使用，要严格按照设备操作规程进行；</a:t>
            </a:r>
            <a:endParaRPr lang="en-US" altLang="zh-CN" dirty="0"/>
          </a:p>
          <a:p>
            <a:r>
              <a:rPr lang="zh-CN" altLang="en-US" dirty="0"/>
              <a:t>实验结束，整理好实验仪器及桌面，并关闭总电源、水源及门窗</a:t>
            </a:r>
            <a:r>
              <a:rPr lang="zh-CN" altLang="en-US" dirty="0" smtClean="0"/>
              <a:t>；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安全管理</a:t>
            </a:r>
            <a:r>
              <a:rPr lang="zh-CN" altLang="en-US" dirty="0" smtClean="0"/>
              <a:t>制度 </a:t>
            </a:r>
            <a:r>
              <a:rPr lang="en-US" altLang="zh-CN" dirty="0" smtClean="0"/>
              <a:t>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111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实验前，应对实验内容及实验设备有所了解；</a:t>
            </a:r>
            <a:endParaRPr lang="en-US" altLang="zh-CN" dirty="0" smtClean="0"/>
          </a:p>
          <a:p>
            <a:r>
              <a:rPr lang="zh-CN" altLang="en-US" dirty="0" smtClean="0"/>
              <a:t>了解实验仪器的使用要求，注意事项；</a:t>
            </a:r>
            <a:endParaRPr lang="en-US" altLang="zh-CN" dirty="0" smtClean="0"/>
          </a:p>
          <a:p>
            <a:r>
              <a:rPr lang="zh-CN" altLang="en-US" dirty="0" smtClean="0"/>
              <a:t>进入实验室，要了解实验室的布局，如电源闸箱、通道情况等；</a:t>
            </a:r>
            <a:endParaRPr lang="en-US" altLang="zh-CN" dirty="0" smtClean="0"/>
          </a:p>
          <a:p>
            <a:r>
              <a:rPr lang="zh-CN" altLang="en-US" dirty="0"/>
              <a:t>实验</a:t>
            </a:r>
            <a:r>
              <a:rPr lang="zh-CN" altLang="en-US" dirty="0" smtClean="0"/>
              <a:t>中，要保持高度的严谨性和责任感，科学的实验方法；</a:t>
            </a:r>
            <a:endParaRPr lang="en-US" altLang="zh-CN" dirty="0" smtClean="0"/>
          </a:p>
          <a:p>
            <a:r>
              <a:rPr lang="zh-CN" altLang="en-US" dirty="0" smtClean="0"/>
              <a:t>实验操作中，不得擅自离开实验室，不得擅自更换实验位置；</a:t>
            </a:r>
            <a:endParaRPr lang="en-US" altLang="zh-CN" dirty="0" smtClean="0"/>
          </a:p>
          <a:p>
            <a:r>
              <a:rPr lang="zh-CN" altLang="en-US" dirty="0" smtClean="0"/>
              <a:t>实验完毕，应将仪器、工具及时整理复原，清洁实验桌面；</a:t>
            </a:r>
            <a:endParaRPr lang="en-US" altLang="zh-CN" dirty="0" smtClean="0"/>
          </a:p>
          <a:p>
            <a:r>
              <a:rPr lang="zh-CN" altLang="en-US" dirty="0" smtClean="0"/>
              <a:t>离开实验室，应关闭电源、水路开关，关闭门窗；</a:t>
            </a:r>
            <a:endParaRPr lang="en-US" altLang="zh-CN" dirty="0" smtClean="0"/>
          </a:p>
          <a:p>
            <a:r>
              <a:rPr lang="zh-CN" altLang="en-US" dirty="0" smtClean="0"/>
              <a:t>实验中，临时停水、停电，应及时关闭所有电源开关，避免发生事故；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安全操作规程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081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设备使用前应检查装置是否完好，无裂纹、脱落现象；</a:t>
            </a:r>
            <a:endParaRPr lang="en-US" altLang="zh-CN" dirty="0" smtClean="0"/>
          </a:p>
          <a:p>
            <a:r>
              <a:rPr lang="zh-CN" altLang="en-US" dirty="0" smtClean="0"/>
              <a:t>设备使用时应严格遵守仪器的安全操作规程；</a:t>
            </a:r>
            <a:endParaRPr lang="en-US" altLang="zh-CN" dirty="0" smtClean="0"/>
          </a:p>
          <a:p>
            <a:r>
              <a:rPr lang="zh-CN" altLang="en-US" dirty="0" smtClean="0"/>
              <a:t>设备上不得随意放置工具或样品等物品；</a:t>
            </a:r>
            <a:endParaRPr lang="en-US" altLang="zh-CN" dirty="0" smtClean="0"/>
          </a:p>
          <a:p>
            <a:r>
              <a:rPr lang="zh-CN" altLang="en-US" dirty="0" smtClean="0"/>
              <a:t>进行升温实验时，需检查电炉的电阻丝是否完好；</a:t>
            </a:r>
            <a:endParaRPr lang="en-US" altLang="zh-CN" dirty="0" smtClean="0"/>
          </a:p>
          <a:p>
            <a:r>
              <a:rPr lang="zh-CN" altLang="en-US" dirty="0" smtClean="0"/>
              <a:t>设备发生故障，应立即切断电源，通知实验管理员；</a:t>
            </a:r>
            <a:endParaRPr lang="en-US" altLang="zh-CN" dirty="0" smtClean="0"/>
          </a:p>
          <a:p>
            <a:r>
              <a:rPr lang="zh-CN" altLang="en-US" dirty="0" smtClean="0"/>
              <a:t>设备不得超负荷运行，工作时不得私自离开；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实验设备操作规程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39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进入实验室进行实验时，要遵守实验室的一切安全防护要求；</a:t>
            </a:r>
            <a:endParaRPr lang="en-US" altLang="zh-CN" dirty="0" smtClean="0"/>
          </a:p>
          <a:p>
            <a:r>
              <a:rPr lang="zh-CN" altLang="en-US" dirty="0"/>
              <a:t>实验</a:t>
            </a:r>
            <a:r>
              <a:rPr lang="zh-CN" altLang="en-US" dirty="0" smtClean="0"/>
              <a:t>前，检查所有仪器、设备的电气线路及设备防护装置是否正常；</a:t>
            </a:r>
            <a:endParaRPr lang="en-US" altLang="zh-CN" dirty="0" smtClean="0"/>
          </a:p>
          <a:p>
            <a:r>
              <a:rPr lang="zh-CN" altLang="en-US" dirty="0" smtClean="0"/>
              <a:t>在使用电钻和手提砂轮机时，应遵守电钻、砂轮机安全操作规程；</a:t>
            </a:r>
            <a:endParaRPr lang="en-US" altLang="zh-CN" dirty="0" smtClean="0"/>
          </a:p>
          <a:p>
            <a:r>
              <a:rPr lang="zh-CN" altLang="en-US" dirty="0" smtClean="0"/>
              <a:t>不得在机床开动和未停稳前使用量具进行测量工作；</a:t>
            </a:r>
            <a:endParaRPr lang="en-US" altLang="zh-CN" dirty="0" smtClean="0"/>
          </a:p>
          <a:p>
            <a:r>
              <a:rPr lang="zh-CN" altLang="en-US" dirty="0" smtClean="0"/>
              <a:t>电烙铁用毕，随时拔掉插头，实验完毕要关闭电源；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特种设备安全操作规程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968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实验室内在明显位置放置相应的消防器材，专人管理；</a:t>
            </a:r>
            <a:endParaRPr lang="en-US" altLang="zh-CN" dirty="0" smtClean="0"/>
          </a:p>
          <a:p>
            <a:r>
              <a:rPr lang="zh-CN" altLang="en-US" dirty="0" smtClean="0"/>
              <a:t>实验室内不得随意放置易燃、易爆物品，应放置到相应安全柜中，严禁烟火；</a:t>
            </a:r>
            <a:endParaRPr lang="en-US" altLang="zh-CN" dirty="0" smtClean="0"/>
          </a:p>
          <a:p>
            <a:r>
              <a:rPr lang="zh-CN" altLang="en-US" dirty="0" smtClean="0"/>
              <a:t>易燃、易爆物品放置，要与火源、电源保持一定距离；</a:t>
            </a:r>
            <a:endParaRPr lang="en-US" altLang="zh-CN" dirty="0" smtClean="0"/>
          </a:p>
          <a:p>
            <a:r>
              <a:rPr lang="zh-CN" altLang="en-US" dirty="0" smtClean="0"/>
              <a:t>实验室过道及楼宇走廊严禁堆放物品，要保持消防通道畅通；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实验室防火安全 </a:t>
            </a:r>
            <a:r>
              <a:rPr lang="en-US" altLang="zh-CN" dirty="0" smtClean="0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74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不得乱接乱拉电线，不得超负荷用电，不得有裸漏的电线头，严禁用金属丝代替保险丝；</a:t>
            </a:r>
            <a:endParaRPr lang="en-US" altLang="zh-CN" dirty="0"/>
          </a:p>
          <a:p>
            <a:r>
              <a:rPr lang="zh-CN" altLang="en-US" dirty="0"/>
              <a:t>电器设备的线路、插头插座要保持完好状态，发现破损、老化等现象要及时通过管理员维护；</a:t>
            </a:r>
            <a:endParaRPr lang="en-US" altLang="zh-CN" dirty="0"/>
          </a:p>
          <a:p>
            <a:r>
              <a:rPr lang="zh-CN" altLang="en-US" dirty="0"/>
              <a:t>电加热器、电烤箱等设备做到人走电断；</a:t>
            </a:r>
            <a:endParaRPr lang="en-US" altLang="zh-CN" dirty="0"/>
          </a:p>
          <a:p>
            <a:r>
              <a:rPr lang="zh-CN" altLang="en-US" dirty="0"/>
              <a:t>使用电络铁，要放在非燃隔热的支架上，周围不应有可燃物，用后立即拔下电源插头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实验室内未经允许，不得使用大功率用电设备，不得超出用电负荷；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实验室防火</a:t>
            </a:r>
            <a:r>
              <a:rPr lang="zh-CN" altLang="en-US" dirty="0" smtClean="0"/>
              <a:t>安全 </a:t>
            </a:r>
            <a:r>
              <a:rPr lang="en-US" altLang="zh-CN" dirty="0" smtClean="0"/>
              <a:t>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79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实验室所用化学药品必须由学校统一组织购置，严禁私自购置；</a:t>
            </a:r>
            <a:endParaRPr lang="en-US" altLang="zh-CN" dirty="0" smtClean="0"/>
          </a:p>
          <a:p>
            <a:r>
              <a:rPr lang="zh-CN" altLang="en-US" dirty="0" smtClean="0"/>
              <a:t>化学药品要分类存放，不能混放，必须隔离存放；</a:t>
            </a:r>
            <a:endParaRPr lang="en-US" altLang="zh-CN" dirty="0" smtClean="0"/>
          </a:p>
          <a:p>
            <a:r>
              <a:rPr lang="zh-CN" altLang="en-US" dirty="0" smtClean="0"/>
              <a:t>所有药品都必须有明确的标签，储存室与柜要保持整齐清洁；</a:t>
            </a:r>
            <a:endParaRPr lang="en-US" altLang="zh-CN" dirty="0" smtClean="0"/>
          </a:p>
          <a:p>
            <a:r>
              <a:rPr lang="zh-CN" altLang="en-US" dirty="0" smtClean="0"/>
              <a:t>有特殊性质的药品必须按其特性要求存放；</a:t>
            </a:r>
            <a:endParaRPr lang="en-US" altLang="zh-CN" dirty="0" smtClean="0"/>
          </a:p>
          <a:p>
            <a:r>
              <a:rPr lang="zh-CN" altLang="en-US" dirty="0" smtClean="0"/>
              <a:t>无名物、变质过期的药品要及时清理报废；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实验室化学品安全 </a:t>
            </a:r>
            <a:r>
              <a:rPr lang="en-US" altLang="zh-CN" dirty="0" smtClean="0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326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实验室内不得存放剧毒类药品；</a:t>
            </a:r>
            <a:endParaRPr lang="en-US" altLang="zh-CN" dirty="0"/>
          </a:p>
          <a:p>
            <a:r>
              <a:rPr lang="zh-CN" altLang="en-US" dirty="0"/>
              <a:t>危险化学药品容器应有清晰的标识或标签，按相应要求存放，且存放区域设置醒目的安全标志；</a:t>
            </a:r>
            <a:endParaRPr lang="en-US" altLang="zh-CN" dirty="0"/>
          </a:p>
          <a:p>
            <a:r>
              <a:rPr lang="zh-CN" altLang="en-US" dirty="0"/>
              <a:t>实验产生的废液废物不得随意丢弃，随意排放、处理，防止污染水源和环境；</a:t>
            </a:r>
          </a:p>
          <a:p>
            <a:r>
              <a:rPr lang="zh-CN" altLang="en-US" dirty="0" smtClean="0"/>
              <a:t>实验室废液废物要集中收集，按学校要求统一处置；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实验室化学品安全 </a:t>
            </a:r>
            <a:r>
              <a:rPr lang="en-US" altLang="zh-CN" dirty="0" smtClean="0"/>
              <a:t>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42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从事放射性工作的人员必须遵守放射防护法规和规章制度；</a:t>
            </a:r>
            <a:endParaRPr lang="en-US" altLang="zh-CN" dirty="0" smtClean="0"/>
          </a:p>
          <a:p>
            <a:r>
              <a:rPr lang="zh-CN" altLang="en-US" dirty="0"/>
              <a:t>从事放射性工作的</a:t>
            </a:r>
            <a:r>
              <a:rPr lang="zh-CN" altLang="en-US" dirty="0" smtClean="0"/>
              <a:t>人员要参加辐射安全培训，经考核合格后持证上岗；</a:t>
            </a:r>
            <a:endParaRPr lang="en-US" altLang="zh-CN" dirty="0" smtClean="0"/>
          </a:p>
          <a:p>
            <a:r>
              <a:rPr lang="zh-CN" altLang="en-US" dirty="0"/>
              <a:t>从事放射性工作的</a:t>
            </a:r>
            <a:r>
              <a:rPr lang="zh-CN" altLang="en-US" dirty="0" smtClean="0"/>
              <a:t>人员要接受职业健康监护和个人剂量监测管理；</a:t>
            </a:r>
            <a:endParaRPr lang="en-US" altLang="zh-CN" dirty="0" smtClean="0"/>
          </a:p>
          <a:p>
            <a:r>
              <a:rPr lang="zh-CN" altLang="en-US" dirty="0" smtClean="0"/>
              <a:t>辐射工作场所要有安全防护设施，并放置辐射警示标志；</a:t>
            </a:r>
            <a:endParaRPr lang="en-US" altLang="zh-CN" dirty="0" smtClean="0"/>
          </a:p>
          <a:p>
            <a:r>
              <a:rPr lang="zh-CN" altLang="en-US" dirty="0" smtClean="0"/>
              <a:t>单位要配备必要的防护用品和监测仪器，建立各种相应规章制度；</a:t>
            </a:r>
            <a:endParaRPr lang="en-US" altLang="zh-CN" dirty="0" smtClean="0"/>
          </a:p>
          <a:p>
            <a:r>
              <a:rPr lang="zh-CN" altLang="en-US" dirty="0" smtClean="0"/>
              <a:t>对放射废弃物，不得擅自处理，需向学校申报统一处置；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实验室防辐射安全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353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大型仪器设备需有专人负责管理，配有设备使用记录；</a:t>
            </a:r>
            <a:endParaRPr lang="en-US" altLang="zh-CN" dirty="0" smtClean="0"/>
          </a:p>
          <a:p>
            <a:r>
              <a:rPr lang="zh-CN" altLang="en-US" dirty="0" smtClean="0"/>
              <a:t>使用大型仪器设备场所，做好水、电供应，及防火、防潮等防护技术措施；</a:t>
            </a:r>
            <a:endParaRPr lang="en-US" altLang="zh-CN" dirty="0" smtClean="0"/>
          </a:p>
          <a:p>
            <a:r>
              <a:rPr lang="zh-CN" altLang="en-US" dirty="0" smtClean="0"/>
              <a:t>制定大型仪器设备安全操作规程；</a:t>
            </a:r>
            <a:endParaRPr lang="en-US" altLang="zh-CN" dirty="0" smtClean="0"/>
          </a:p>
          <a:p>
            <a:r>
              <a:rPr lang="zh-CN" altLang="en-US" dirty="0" smtClean="0"/>
              <a:t>大型仪器设备操作人员需要经过培训，做到持证上岗；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大型仪器设备安全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2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学生在进行实验操作前，要接受实验室安全教育；</a:t>
            </a:r>
            <a:endParaRPr lang="en-US" altLang="zh-CN" dirty="0" smtClean="0"/>
          </a:p>
          <a:p>
            <a:r>
              <a:rPr lang="zh-CN" altLang="en-US" dirty="0" smtClean="0"/>
              <a:t>学生要严格按照仪器设备和实验操作规程进行实验操作；</a:t>
            </a:r>
            <a:endParaRPr lang="en-US" altLang="zh-CN" dirty="0" smtClean="0"/>
          </a:p>
          <a:p>
            <a:r>
              <a:rPr lang="zh-CN" altLang="en-US" dirty="0" smtClean="0"/>
              <a:t>实验室要做好安全防护工作，对高温、低温、辐射等实验，做好监管；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实验技术安全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044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实验室网络安全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要做好网络安全和信息安全工作；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对科学实验及实验技术项目，做好信息、资源的保密工作；</a:t>
            </a:r>
            <a:endParaRPr lang="en-US" altLang="zh-CN" dirty="0"/>
          </a:p>
          <a:p>
            <a:r>
              <a:rPr lang="zh-CN" altLang="en-US" dirty="0" smtClean="0"/>
              <a:t>安全事故应急处理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实验室发生安全事故，要保持镇定；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确定放生事故类型，及时拨打相应报警电话；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发生紧急事故，首先要保护人身安全，其次是公共财产和学术资料；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其他安全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9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实验室潜在事故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39" y="2182801"/>
            <a:ext cx="7296931" cy="392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2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谢谢！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297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-蓝" id="{1B918C6D-2D61-4306-88BA-3CA31BAAF13F}" vid="{A734D909-B61D-48C4-8B37-4CE4973440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2016-VI主题-蓝</Template>
  <TotalTime>3418</TotalTime>
  <Words>1059</Words>
  <Application>Microsoft Office PowerPoint</Application>
  <PresentationFormat>全屏显示(4:3)</PresentationFormat>
  <Paragraphs>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微软雅黑</vt:lpstr>
      <vt:lpstr>Arial</vt:lpstr>
      <vt:lpstr>Calibri</vt:lpstr>
      <vt:lpstr>2016-VI主题-蓝</vt:lpstr>
      <vt:lpstr> 实验室安全教育总则</vt:lpstr>
      <vt:lpstr>目录</vt:lpstr>
      <vt:lpstr>安全管理制度 I</vt:lpstr>
      <vt:lpstr>安全管理制度 II</vt:lpstr>
      <vt:lpstr>安全操作规程</vt:lpstr>
      <vt:lpstr>实验设备操作规程</vt:lpstr>
      <vt:lpstr>特种设备安全操作规程</vt:lpstr>
      <vt:lpstr>实验室防火安全 I</vt:lpstr>
      <vt:lpstr>实验室防火安全 II</vt:lpstr>
      <vt:lpstr>实验室化学品安全 I</vt:lpstr>
      <vt:lpstr>实验室化学品安全 II</vt:lpstr>
      <vt:lpstr>实验室防辐射安全</vt:lpstr>
      <vt:lpstr>大型仪器设备安全</vt:lpstr>
      <vt:lpstr>实验技术安全</vt:lpstr>
      <vt:lpstr>其他安全</vt:lpstr>
      <vt:lpstr>实验室潜在事故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Admin</cp:lastModifiedBy>
  <cp:revision>1050</cp:revision>
  <dcterms:created xsi:type="dcterms:W3CDTF">2016-04-20T02:59:17Z</dcterms:created>
  <dcterms:modified xsi:type="dcterms:W3CDTF">2022-10-26T01:12:51Z</dcterms:modified>
</cp:coreProperties>
</file>