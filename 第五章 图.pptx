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212"/>
  </p:notesMasterIdLst>
  <p:handoutMasterIdLst>
    <p:handoutMasterId r:id="rId213"/>
  </p:handoutMasterIdLst>
  <p:sldIdLst>
    <p:sldId id="259" r:id="rId2"/>
    <p:sldId id="483" r:id="rId3"/>
    <p:sldId id="287" r:id="rId4"/>
    <p:sldId id="301" r:id="rId5"/>
    <p:sldId id="302" r:id="rId6"/>
    <p:sldId id="293" r:id="rId7"/>
    <p:sldId id="303" r:id="rId8"/>
    <p:sldId id="304" r:id="rId9"/>
    <p:sldId id="305" r:id="rId10"/>
    <p:sldId id="306" r:id="rId11"/>
    <p:sldId id="309" r:id="rId12"/>
    <p:sldId id="311" r:id="rId13"/>
    <p:sldId id="310" r:id="rId14"/>
    <p:sldId id="312" r:id="rId15"/>
    <p:sldId id="313" r:id="rId16"/>
    <p:sldId id="314" r:id="rId17"/>
    <p:sldId id="484" r:id="rId18"/>
    <p:sldId id="471"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470" r:id="rId34"/>
    <p:sldId id="329" r:id="rId35"/>
    <p:sldId id="330" r:id="rId36"/>
    <p:sldId id="331" r:id="rId37"/>
    <p:sldId id="332" r:id="rId38"/>
    <p:sldId id="333" r:id="rId39"/>
    <p:sldId id="334" r:id="rId40"/>
    <p:sldId id="335" r:id="rId41"/>
    <p:sldId id="336" r:id="rId42"/>
    <p:sldId id="337" r:id="rId43"/>
    <p:sldId id="338" r:id="rId44"/>
    <p:sldId id="339" r:id="rId45"/>
    <p:sldId id="340" r:id="rId46"/>
    <p:sldId id="341" r:id="rId47"/>
    <p:sldId id="342" r:id="rId48"/>
    <p:sldId id="343" r:id="rId49"/>
    <p:sldId id="344" r:id="rId50"/>
    <p:sldId id="345" r:id="rId51"/>
    <p:sldId id="472" r:id="rId52"/>
    <p:sldId id="346" r:id="rId53"/>
    <p:sldId id="347" r:id="rId54"/>
    <p:sldId id="473" r:id="rId55"/>
    <p:sldId id="348" r:id="rId56"/>
    <p:sldId id="349" r:id="rId57"/>
    <p:sldId id="485" r:id="rId58"/>
    <p:sldId id="501" r:id="rId59"/>
    <p:sldId id="502" r:id="rId60"/>
    <p:sldId id="350" r:id="rId61"/>
    <p:sldId id="351" r:id="rId62"/>
    <p:sldId id="475" r:id="rId63"/>
    <p:sldId id="352" r:id="rId64"/>
    <p:sldId id="353" r:id="rId65"/>
    <p:sldId id="354" r:id="rId66"/>
    <p:sldId id="355" r:id="rId67"/>
    <p:sldId id="356" r:id="rId68"/>
    <p:sldId id="357" r:id="rId69"/>
    <p:sldId id="358" r:id="rId70"/>
    <p:sldId id="359" r:id="rId71"/>
    <p:sldId id="360" r:id="rId72"/>
    <p:sldId id="361" r:id="rId73"/>
    <p:sldId id="362" r:id="rId74"/>
    <p:sldId id="363" r:id="rId75"/>
    <p:sldId id="364" r:id="rId76"/>
    <p:sldId id="365" r:id="rId77"/>
    <p:sldId id="476" r:id="rId78"/>
    <p:sldId id="366" r:id="rId79"/>
    <p:sldId id="367" r:id="rId80"/>
    <p:sldId id="368" r:id="rId81"/>
    <p:sldId id="369" r:id="rId82"/>
    <p:sldId id="370" r:id="rId83"/>
    <p:sldId id="371" r:id="rId84"/>
    <p:sldId id="486" r:id="rId85"/>
    <p:sldId id="477" r:id="rId86"/>
    <p:sldId id="372" r:id="rId87"/>
    <p:sldId id="373" r:id="rId88"/>
    <p:sldId id="374" r:id="rId89"/>
    <p:sldId id="479" r:id="rId90"/>
    <p:sldId id="375" r:id="rId91"/>
    <p:sldId id="376" r:id="rId92"/>
    <p:sldId id="377" r:id="rId93"/>
    <p:sldId id="378" r:id="rId94"/>
    <p:sldId id="379" r:id="rId95"/>
    <p:sldId id="2540" r:id="rId96"/>
    <p:sldId id="2530" r:id="rId97"/>
    <p:sldId id="2532" r:id="rId98"/>
    <p:sldId id="2531" r:id="rId99"/>
    <p:sldId id="2533" r:id="rId100"/>
    <p:sldId id="2535" r:id="rId101"/>
    <p:sldId id="2537" r:id="rId102"/>
    <p:sldId id="2536" r:id="rId103"/>
    <p:sldId id="2538" r:id="rId104"/>
    <p:sldId id="2534" r:id="rId105"/>
    <p:sldId id="2541" r:id="rId106"/>
    <p:sldId id="2539" r:id="rId107"/>
    <p:sldId id="2724" r:id="rId108"/>
    <p:sldId id="2723" r:id="rId109"/>
    <p:sldId id="380" r:id="rId110"/>
    <p:sldId id="381" r:id="rId111"/>
    <p:sldId id="2725" r:id="rId112"/>
    <p:sldId id="492" r:id="rId113"/>
    <p:sldId id="382" r:id="rId114"/>
    <p:sldId id="383" r:id="rId115"/>
    <p:sldId id="384" r:id="rId116"/>
    <p:sldId id="385" r:id="rId117"/>
    <p:sldId id="386" r:id="rId118"/>
    <p:sldId id="387" r:id="rId119"/>
    <p:sldId id="388" r:id="rId120"/>
    <p:sldId id="389" r:id="rId121"/>
    <p:sldId id="390" r:id="rId122"/>
    <p:sldId id="391" r:id="rId123"/>
    <p:sldId id="392" r:id="rId124"/>
    <p:sldId id="393" r:id="rId125"/>
    <p:sldId id="2542" r:id="rId126"/>
    <p:sldId id="491" r:id="rId127"/>
    <p:sldId id="394" r:id="rId128"/>
    <p:sldId id="395" r:id="rId129"/>
    <p:sldId id="396" r:id="rId130"/>
    <p:sldId id="397" r:id="rId131"/>
    <p:sldId id="398" r:id="rId132"/>
    <p:sldId id="399" r:id="rId133"/>
    <p:sldId id="2592" r:id="rId134"/>
    <p:sldId id="2593" r:id="rId135"/>
    <p:sldId id="488" r:id="rId136"/>
    <p:sldId id="495" r:id="rId137"/>
    <p:sldId id="400" r:id="rId138"/>
    <p:sldId id="401" r:id="rId139"/>
    <p:sldId id="402" r:id="rId140"/>
    <p:sldId id="403" r:id="rId141"/>
    <p:sldId id="404" r:id="rId142"/>
    <p:sldId id="405" r:id="rId143"/>
    <p:sldId id="406" r:id="rId144"/>
    <p:sldId id="2727" r:id="rId145"/>
    <p:sldId id="2728" r:id="rId146"/>
    <p:sldId id="2729" r:id="rId147"/>
    <p:sldId id="409" r:id="rId148"/>
    <p:sldId id="410" r:id="rId149"/>
    <p:sldId id="411" r:id="rId150"/>
    <p:sldId id="412" r:id="rId151"/>
    <p:sldId id="2731" r:id="rId152"/>
    <p:sldId id="1195" r:id="rId153"/>
    <p:sldId id="1196" r:id="rId154"/>
    <p:sldId id="2604" r:id="rId155"/>
    <p:sldId id="2726" r:id="rId156"/>
    <p:sldId id="1664" r:id="rId157"/>
    <p:sldId id="1665" r:id="rId158"/>
    <p:sldId id="494" r:id="rId159"/>
    <p:sldId id="413" r:id="rId160"/>
    <p:sldId id="414" r:id="rId161"/>
    <p:sldId id="415" r:id="rId162"/>
    <p:sldId id="416" r:id="rId163"/>
    <p:sldId id="417" r:id="rId164"/>
    <p:sldId id="418" r:id="rId165"/>
    <p:sldId id="419" r:id="rId166"/>
    <p:sldId id="420" r:id="rId167"/>
    <p:sldId id="2736" r:id="rId168"/>
    <p:sldId id="421" r:id="rId169"/>
    <p:sldId id="489" r:id="rId170"/>
    <p:sldId id="422" r:id="rId171"/>
    <p:sldId id="496" r:id="rId172"/>
    <p:sldId id="423" r:id="rId173"/>
    <p:sldId id="424" r:id="rId174"/>
    <p:sldId id="425" r:id="rId175"/>
    <p:sldId id="426" r:id="rId176"/>
    <p:sldId id="427" r:id="rId177"/>
    <p:sldId id="428" r:id="rId178"/>
    <p:sldId id="429" r:id="rId179"/>
    <p:sldId id="430" r:id="rId180"/>
    <p:sldId id="431" r:id="rId181"/>
    <p:sldId id="432" r:id="rId182"/>
    <p:sldId id="433" r:id="rId183"/>
    <p:sldId id="497" r:id="rId184"/>
    <p:sldId id="435" r:id="rId185"/>
    <p:sldId id="436" r:id="rId186"/>
    <p:sldId id="437" r:id="rId187"/>
    <p:sldId id="2732" r:id="rId188"/>
    <p:sldId id="439" r:id="rId189"/>
    <p:sldId id="440" r:id="rId190"/>
    <p:sldId id="441" r:id="rId191"/>
    <p:sldId id="442" r:id="rId192"/>
    <p:sldId id="2734"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99" r:id="rId209"/>
    <p:sldId id="498" r:id="rId210"/>
    <p:sldId id="500" r:id="rId2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F6EAA"/>
    <a:srgbClr val="7FB1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8" autoAdjust="0"/>
    <p:restoredTop sz="71115" autoAdjust="0"/>
  </p:normalViewPr>
  <p:slideViewPr>
    <p:cSldViewPr snapToGrid="0">
      <p:cViewPr varScale="1">
        <p:scale>
          <a:sx n="61" d="100"/>
          <a:sy n="61" d="100"/>
        </p:scale>
        <p:origin x="1531" y="34"/>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tableStyles" Target="tableStyle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notesMaster" Target="notesMasters/notes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2023/12/20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2023/12/20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a:t>
            </a:fld>
            <a:endParaRPr lang="zh-CN" altLang="en-US"/>
          </a:p>
        </p:txBody>
      </p:sp>
    </p:spTree>
    <p:extLst>
      <p:ext uri="{BB962C8B-B14F-4D97-AF65-F5344CB8AC3E}">
        <p14:creationId xmlns:p14="http://schemas.microsoft.com/office/powerpoint/2010/main" val="317965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183903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26062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005296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20514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32471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65105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89051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99853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81777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31481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13559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93671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83514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75133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74961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28916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41351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10801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84704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77155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07737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118711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038688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5404517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80796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553496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73723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412662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492152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631080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485762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1390275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0853129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608660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63803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557794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9074548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574911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131281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31018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634188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010062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313910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498609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206649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994829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2673453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660298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307700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09936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537968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040958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4432128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8736102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425893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7533628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6089352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880285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188807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905350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668029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846008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743214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471686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420708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7106184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0128377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841607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045490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0479317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6923433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7507910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462525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296214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8220850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092881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4431381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2775669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366755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108899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0159253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3809937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24253867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62160536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3270600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109049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067157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730864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4936516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9182000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7833841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772227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8450947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15219927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84400608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1685272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94272328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86803132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3415375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3585098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665745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85965538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631506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7214705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2529301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9058714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8707290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0633693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3480811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7858545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013622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7845555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01771160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9270846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4164913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92139161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0728411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086586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9941290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85309727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1893690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102464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779367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24502662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9249106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5763246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3185263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7426148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5873227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2893327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0683452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2611527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9395771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6676314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3615582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3806952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27883028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157</a:t>
            </a:fld>
            <a:endParaRPr lang="zh-CN" altLang="en-US"/>
          </a:p>
        </p:txBody>
      </p:sp>
    </p:spTree>
    <p:extLst>
      <p:ext uri="{BB962C8B-B14F-4D97-AF65-F5344CB8AC3E}">
        <p14:creationId xmlns:p14="http://schemas.microsoft.com/office/powerpoint/2010/main" val="23894434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5637247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7182601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9430675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8702941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75187448"/>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34941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438237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3483656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88327582"/>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36844470"/>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8840502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72064874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4955814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95997432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88572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7825264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9033926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93261308"/>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13866546"/>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69667084"/>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5833720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8342446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3483283"/>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89168133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916817803"/>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242722868"/>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9133103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354686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4510188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71139068"/>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49481929"/>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69062878"/>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96051307"/>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92441446"/>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86050793"/>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5137560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2738662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85073242"/>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22255279"/>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6823357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90439818"/>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824776152"/>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10433374"/>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61429544"/>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5032286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210199717"/>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21051619"/>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30879014"/>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64663984"/>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688000650"/>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216341546"/>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532700686"/>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3913526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423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33BA7C0-CFC8-468E-BF58-86F8DBBA5B7D}" type="slidenum">
              <a:rPr lang="en-US" altLang="zh-CN"/>
              <a:pPr>
                <a:defRPr/>
              </a:pPr>
              <a:t>‹#›</a:t>
            </a:fld>
            <a:endParaRPr lang="en-US" altLang="zh-CN"/>
          </a:p>
        </p:txBody>
      </p:sp>
      <p:sp>
        <p:nvSpPr>
          <p:cNvPr id="6"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02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4946ABC9-62A5-42D5-BF9F-E7A801511394}"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13420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BDC3BA-0B7C-4A75-9E33-45CB920E7758}"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61535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75821406-8699-46F7-BC43-9A0383F1DDB8}" type="slidenum">
              <a:rPr lang="en-US" altLang="zh-CN"/>
              <a:pPr>
                <a:defRPr/>
              </a:pPr>
              <a:t>‹#›</a:t>
            </a:fld>
            <a:endParaRPr lang="en-US" altLang="zh-CN"/>
          </a:p>
        </p:txBody>
      </p:sp>
      <p:sp>
        <p:nvSpPr>
          <p:cNvPr id="4"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1487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5"/>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8"/>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9" name="图片 8"/>
          <p:cNvPicPr>
            <a:picLocks noChangeAspect="1"/>
          </p:cNvPicPr>
          <p:nvPr userDrawn="1"/>
        </p:nvPicPr>
        <p:blipFill>
          <a:blip r:embed="rId15"/>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8"/>
          <a:stretch>
            <a:fillRect/>
          </a:stretch>
        </p:blipFill>
        <p:spPr>
          <a:xfrm>
            <a:off x="0" y="1079287"/>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8" r:id="rId4"/>
    <p:sldLayoutId id="2147483812" r:id="rId5"/>
    <p:sldLayoutId id="2147483813" r:id="rId6"/>
    <p:sldLayoutId id="2147483815" r:id="rId7"/>
    <p:sldLayoutId id="2147483817" r:id="rId8"/>
    <p:sldLayoutId id="2147483818" r:id="rId9"/>
    <p:sldLayoutId id="2147483819" r:id="rId10"/>
    <p:sldLayoutId id="2147483820" r:id="rId11"/>
    <p:sldLayoutId id="2147483821" r:id="rId12"/>
    <p:sldLayoutId id="2147483822"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0.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2.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9.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7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144078" y="4149566"/>
            <a:ext cx="5741504" cy="899510"/>
          </a:xfrm>
        </p:spPr>
        <p:txBody>
          <a:bodyPr/>
          <a:lstStyle/>
          <a:p>
            <a:r>
              <a:rPr lang="zh-CN" altLang="en-US" dirty="0">
                <a:latin typeface="华文楷体" panose="02010600040101010101" pitchFamily="2" charset="-122"/>
                <a:ea typeface="华文楷体" panose="02010600040101010101" pitchFamily="2" charset="-122"/>
              </a:rPr>
              <a:t>第五章 图</a:t>
            </a:r>
            <a:endParaRPr lang="zh-CN" altLang="en-US" sz="24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图的概念</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1548244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8085041" cy="4205833"/>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在图中，元素用顶点来表示，元素间的关系用顶点间的边表示。元素集合中任意两个元素之间都可能有相互制约关系，在图中就表现为任意两个顶点间都可能有边相连。</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图可以用一个二元组</a:t>
            </a:r>
            <a:r>
              <a:rPr lang="en-US" altLang="zh-CN" sz="2800" b="0" dirty="0">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表示，其中</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是顶点</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即元素</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的非空集合，</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是两个顶点间边（弧）的集合。</a:t>
            </a:r>
          </a:p>
        </p:txBody>
      </p:sp>
      <p:sp>
        <p:nvSpPr>
          <p:cNvPr id="8194" name="Rectangle 2"/>
          <p:cNvSpPr>
            <a:spLocks noGrp="1" noRot="1" noChangeArrowheads="1"/>
          </p:cNvSpPr>
          <p:nvPr>
            <p:ph type="title"/>
          </p:nvPr>
        </p:nvSpPr>
        <p:spPr/>
        <p:txBody>
          <a:bodyPr/>
          <a:lstStyle/>
          <a:p>
            <a:pPr marL="838200" indent="-838200">
              <a:defRPr/>
            </a:pPr>
            <a:r>
              <a:rPr lang="zh-CN" altLang="en-US" dirty="0"/>
              <a:t>图：</a:t>
            </a:r>
          </a:p>
        </p:txBody>
      </p:sp>
      <p:pic>
        <p:nvPicPr>
          <p:cNvPr id="4" name="图片 3"/>
          <p:cNvPicPr>
            <a:picLocks noChangeAspect="1"/>
          </p:cNvPicPr>
          <p:nvPr/>
        </p:nvPicPr>
        <p:blipFill>
          <a:blip r:embed="rId3"/>
          <a:stretch>
            <a:fillRect/>
          </a:stretch>
        </p:blipFill>
        <p:spPr>
          <a:xfrm>
            <a:off x="9143791" y="1919315"/>
            <a:ext cx="2557672" cy="3485859"/>
          </a:xfrm>
          <a:prstGeom prst="rect">
            <a:avLst/>
          </a:prstGeom>
        </p:spPr>
      </p:pic>
    </p:spTree>
    <p:extLst>
      <p:ext uri="{BB962C8B-B14F-4D97-AF65-F5344CB8AC3E}">
        <p14:creationId xmlns:p14="http://schemas.microsoft.com/office/powerpoint/2010/main" val="58393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19106"/>
            <a:ext cx="7470680" cy="4523885"/>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a:t>
            </a: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是由顶点集合</a:t>
            </a:r>
            <a:r>
              <a:rPr lang="en-US" altLang="zh-CN" sz="2800" b="0" dirty="0">
                <a:ea typeface="华文楷体" pitchFamily="2" charset="-122"/>
                <a:cs typeface="Times New Roman" panose="02020603050405020304" pitchFamily="18" charset="0"/>
              </a:rPr>
              <a:t>V = {A,B,C,D}</a:t>
            </a:r>
            <a:r>
              <a:rPr lang="zh-CN" altLang="zh-CN" sz="2800" b="0" dirty="0">
                <a:ea typeface="华文楷体" pitchFamily="2" charset="-122"/>
                <a:cs typeface="Times New Roman" panose="02020603050405020304" pitchFamily="18" charset="0"/>
              </a:rPr>
              <a:t>和边的集合</a:t>
            </a:r>
            <a:r>
              <a:rPr lang="en-US" altLang="zh-CN" sz="2800" b="0" dirty="0">
                <a:ea typeface="华文楷体" pitchFamily="2" charset="-122"/>
                <a:cs typeface="Times New Roman" panose="02020603050405020304" pitchFamily="18" charset="0"/>
              </a:rPr>
              <a:t>E={&lt;B,A&gt;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&lt;A,C&gt;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&lt;C,A&gt;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&lt;C,D&gt;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&lt;D,A&gt;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&lt;C,B&gt;}</a:t>
            </a:r>
            <a:r>
              <a:rPr lang="zh-CN" altLang="zh-CN" sz="2800" b="0" dirty="0">
                <a:ea typeface="华文楷体" pitchFamily="2" charset="-122"/>
                <a:cs typeface="Times New Roman" panose="02020603050405020304" pitchFamily="18" charset="0"/>
              </a:rPr>
              <a:t>构成。</a:t>
            </a: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中每一条边带有方向性，用带尖括号的顶点对来表示，称为</a:t>
            </a:r>
            <a:r>
              <a:rPr lang="zh-CN" altLang="zh-CN" sz="2800" dirty="0">
                <a:ea typeface="华文楷体" pitchFamily="2" charset="-122"/>
                <a:cs typeface="Times New Roman" panose="02020603050405020304" pitchFamily="18" charset="0"/>
              </a:rPr>
              <a:t>有向边</a:t>
            </a:r>
            <a:r>
              <a:rPr lang="zh-CN" altLang="zh-CN" sz="2800" b="0" dirty="0">
                <a:ea typeface="华文楷体" pitchFamily="2" charset="-122"/>
                <a:cs typeface="Times New Roman" panose="02020603050405020304" pitchFamily="18" charset="0"/>
              </a:rPr>
              <a:t>。如</a:t>
            </a:r>
            <a:r>
              <a:rPr lang="en-US" altLang="zh-CN" sz="2800" b="0" dirty="0">
                <a:ea typeface="华文楷体" pitchFamily="2" charset="-122"/>
                <a:cs typeface="Times New Roman" panose="02020603050405020304" pitchFamily="18" charset="0"/>
              </a:rPr>
              <a:t>&lt;C,A&gt;</a:t>
            </a:r>
            <a:r>
              <a:rPr lang="zh-CN" altLang="zh-CN" sz="2800" b="0" dirty="0">
                <a:ea typeface="华文楷体" pitchFamily="2" charset="-122"/>
                <a:cs typeface="Times New Roman" panose="02020603050405020304" pitchFamily="18" charset="0"/>
              </a:rPr>
              <a:t>表示由</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射向</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的有向边，</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称为</a:t>
            </a:r>
            <a:r>
              <a:rPr lang="zh-CN" altLang="zh-CN" sz="2800" dirty="0">
                <a:ea typeface="华文楷体" pitchFamily="2" charset="-122"/>
                <a:cs typeface="Times New Roman" panose="02020603050405020304" pitchFamily="18" charset="0"/>
              </a:rPr>
              <a:t>弧尾</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称为</a:t>
            </a:r>
            <a:r>
              <a:rPr lang="zh-CN" altLang="zh-CN" sz="2800" dirty="0">
                <a:ea typeface="华文楷体" pitchFamily="2" charset="-122"/>
                <a:cs typeface="Times New Roman" panose="02020603050405020304" pitchFamily="18" charset="0"/>
              </a:rPr>
              <a:t>弧头</a:t>
            </a:r>
            <a:r>
              <a:rPr lang="zh-CN" altLang="zh-CN" sz="2800" b="0" dirty="0">
                <a:ea typeface="华文楷体" pitchFamily="2" charset="-122"/>
                <a:cs typeface="Times New Roman" panose="02020603050405020304" pitchFamily="18" charset="0"/>
              </a:rPr>
              <a:t>。由顶点集和有向边集合组成的图称为</a:t>
            </a:r>
            <a:r>
              <a:rPr lang="zh-CN" altLang="zh-CN" sz="2800" dirty="0">
                <a:ea typeface="华文楷体" pitchFamily="2" charset="-122"/>
                <a:cs typeface="Times New Roman" panose="02020603050405020304" pitchFamily="18" charset="0"/>
              </a:rPr>
              <a:t>有向图</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就是一个有向图。</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有向图：</a:t>
            </a:r>
          </a:p>
        </p:txBody>
      </p:sp>
      <p:pic>
        <p:nvPicPr>
          <p:cNvPr id="2" name="图片 1"/>
          <p:cNvPicPr>
            <a:picLocks noChangeAspect="1"/>
          </p:cNvPicPr>
          <p:nvPr/>
        </p:nvPicPr>
        <p:blipFill>
          <a:blip r:embed="rId3"/>
          <a:stretch>
            <a:fillRect/>
          </a:stretch>
        </p:blipFill>
        <p:spPr>
          <a:xfrm>
            <a:off x="8586579" y="1709737"/>
            <a:ext cx="2744030" cy="3739847"/>
          </a:xfrm>
          <a:prstGeom prst="rect">
            <a:avLst/>
          </a:prstGeom>
        </p:spPr>
      </p:pic>
    </p:spTree>
    <p:extLst>
      <p:ext uri="{BB962C8B-B14F-4D97-AF65-F5344CB8AC3E}">
        <p14:creationId xmlns:p14="http://schemas.microsoft.com/office/powerpoint/2010/main" val="31718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19106"/>
            <a:ext cx="7470680" cy="4523885"/>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是由顶点集合</a:t>
            </a:r>
            <a:r>
              <a:rPr lang="en-US" altLang="zh-CN" sz="2800" b="0" dirty="0">
                <a:ea typeface="华文楷体" panose="02010600040101010101" pitchFamily="2" charset="-122"/>
                <a:cs typeface="Times New Roman" panose="02020603050405020304" pitchFamily="18" charset="0"/>
              </a:rPr>
              <a:t>V ={A,B,C,D,E}</a:t>
            </a:r>
            <a:r>
              <a:rPr lang="zh-CN" altLang="zh-CN" sz="2800" b="0" dirty="0">
                <a:ea typeface="华文楷体" panose="02010600040101010101" pitchFamily="2" charset="-122"/>
                <a:cs typeface="Times New Roman" panose="02020603050405020304" pitchFamily="18" charset="0"/>
              </a:rPr>
              <a:t>，边集合</a:t>
            </a:r>
            <a:r>
              <a:rPr lang="en-US" altLang="zh-CN" sz="2800" b="0" dirty="0">
                <a:ea typeface="华文楷体" panose="02010600040101010101" pitchFamily="2" charset="-122"/>
                <a:cs typeface="Times New Roman" panose="02020603050405020304" pitchFamily="18" charset="0"/>
              </a:rPr>
              <a:t>E ={ (A,C)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(A,E)</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中的边无方向性，用带园括号的顶点对表示，称为</a:t>
            </a:r>
            <a:r>
              <a:rPr lang="zh-CN" altLang="zh-CN" sz="2800" dirty="0">
                <a:ea typeface="华文楷体" panose="02010600040101010101" pitchFamily="2" charset="-122"/>
                <a:cs typeface="Times New Roman" panose="02020603050405020304" pitchFamily="18" charset="0"/>
              </a:rPr>
              <a:t>无向边</a:t>
            </a:r>
            <a:r>
              <a:rPr lang="zh-CN" altLang="zh-CN" sz="2800" b="0" dirty="0">
                <a:ea typeface="华文楷体" panose="02010600040101010101" pitchFamily="2" charset="-122"/>
                <a:cs typeface="Times New Roman" panose="02020603050405020304" pitchFamily="18" charset="0"/>
              </a:rPr>
              <a:t>，如</a:t>
            </a:r>
            <a:r>
              <a:rPr lang="en-US" altLang="zh-CN" sz="2800" b="0" dirty="0">
                <a:ea typeface="华文楷体" panose="02010600040101010101" pitchFamily="2" charset="-122"/>
                <a:cs typeface="Times New Roman" panose="02020603050405020304" pitchFamily="18" charset="0"/>
              </a:rPr>
              <a:t>(C,A)</a:t>
            </a:r>
            <a:r>
              <a:rPr lang="zh-CN" altLang="zh-CN" sz="2800" b="0" dirty="0">
                <a:ea typeface="华文楷体" panose="02010600040101010101" pitchFamily="2" charset="-122"/>
                <a:cs typeface="Times New Roman" panose="02020603050405020304" pitchFamily="18" charset="0"/>
              </a:rPr>
              <a:t>表示</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之间有条无向边。由顶点集和无向边集合构成的图称为</a:t>
            </a:r>
            <a:r>
              <a:rPr lang="zh-CN" altLang="zh-CN" sz="2800" dirty="0">
                <a:ea typeface="华文楷体" panose="02010600040101010101" pitchFamily="2" charset="-122"/>
                <a:cs typeface="Times New Roman" panose="02020603050405020304" pitchFamily="18" charset="0"/>
              </a:rPr>
              <a:t>无向图</a:t>
            </a: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就是一个无向图。</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无向图：</a:t>
            </a:r>
          </a:p>
        </p:txBody>
      </p:sp>
      <p:pic>
        <p:nvPicPr>
          <p:cNvPr id="3" name="图片 2"/>
          <p:cNvPicPr>
            <a:picLocks noChangeAspect="1"/>
          </p:cNvPicPr>
          <p:nvPr/>
        </p:nvPicPr>
        <p:blipFill>
          <a:blip r:embed="rId3"/>
          <a:stretch>
            <a:fillRect/>
          </a:stretch>
        </p:blipFill>
        <p:spPr>
          <a:xfrm>
            <a:off x="8705849" y="1841016"/>
            <a:ext cx="2465733" cy="3559405"/>
          </a:xfrm>
          <a:prstGeom prst="rect">
            <a:avLst/>
          </a:prstGeom>
        </p:spPr>
      </p:pic>
    </p:spTree>
    <p:extLst>
      <p:ext uri="{BB962C8B-B14F-4D97-AF65-F5344CB8AC3E}">
        <p14:creationId xmlns:p14="http://schemas.microsoft.com/office/powerpoint/2010/main" val="3242451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8008223" cy="3291433"/>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图的顶点间有边相连，称顶点间有邻接关系</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如</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是一条无向边，则称</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en-US" altLang="zh-CN" sz="2800" b="0" dirty="0">
                <a:ea typeface="华文楷体" pitchFamily="2" charset="-122"/>
                <a:cs typeface="Times New Roman" panose="02020603050405020304" pitchFamily="18" charset="0"/>
              </a:rPr>
              <a:t> </a:t>
            </a:r>
            <a:r>
              <a:rPr lang="zh-CN" altLang="zh-CN" sz="2800" dirty="0">
                <a:ea typeface="华文楷体" pitchFamily="2" charset="-122"/>
                <a:cs typeface="Times New Roman" panose="02020603050405020304" pitchFamily="18" charset="0"/>
              </a:rPr>
              <a:t>邻接</a:t>
            </a:r>
            <a:r>
              <a:rPr lang="zh-CN"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邻接、边</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a:t>
            </a:r>
            <a:r>
              <a:rPr lang="zh-CN" altLang="zh-CN" sz="2800" dirty="0">
                <a:ea typeface="华文楷体" pitchFamily="2" charset="-122"/>
                <a:cs typeface="Times New Roman" panose="02020603050405020304" pitchFamily="18" charset="0"/>
              </a:rPr>
              <a:t>邻接于</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如</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是条有向边，则称</a:t>
            </a:r>
            <a:r>
              <a:rPr lang="en-US" altLang="zh-CN" sz="2800" b="0" dirty="0">
                <a:ea typeface="华文楷体" pitchFamily="2" charset="-122"/>
                <a:cs typeface="Times New Roman" panose="02020603050405020304" pitchFamily="18" charset="0"/>
              </a:rPr>
              <a:t>vi</a:t>
            </a:r>
            <a:r>
              <a:rPr lang="zh-CN" altLang="zh-CN" sz="2800" dirty="0">
                <a:ea typeface="华文楷体" pitchFamily="2" charset="-122"/>
                <a:cs typeface="Times New Roman" panose="02020603050405020304" pitchFamily="18" charset="0"/>
              </a:rPr>
              <a:t>邻接到</a:t>
            </a:r>
            <a:r>
              <a:rPr lang="en-US" altLang="zh-CN" sz="2800" b="0" dirty="0" err="1">
                <a:ea typeface="华文楷体" pitchFamily="2" charset="-122"/>
                <a:cs typeface="Times New Roman" panose="02020603050405020304" pitchFamily="18" charset="0"/>
              </a:rPr>
              <a:t>vj</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、或</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邻接、边</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&gt;</a:t>
            </a:r>
            <a:r>
              <a:rPr lang="zh-CN" altLang="zh-CN" sz="2800" dirty="0">
                <a:ea typeface="华文楷体" pitchFamily="2" charset="-122"/>
                <a:cs typeface="Times New Roman" panose="02020603050405020304" pitchFamily="18" charset="0"/>
              </a:rPr>
              <a:t>邻接于</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6" name="图片 5"/>
          <p:cNvPicPr>
            <a:picLocks noChangeAspect="1"/>
          </p:cNvPicPr>
          <p:nvPr/>
        </p:nvPicPr>
        <p:blipFill>
          <a:blip r:embed="rId3"/>
          <a:stretch>
            <a:fillRect/>
          </a:stretch>
        </p:blipFill>
        <p:spPr>
          <a:xfrm>
            <a:off x="8540839" y="845532"/>
            <a:ext cx="2088047" cy="2845806"/>
          </a:xfrm>
          <a:prstGeom prst="rect">
            <a:avLst/>
          </a:prstGeom>
        </p:spPr>
      </p:pic>
      <p:pic>
        <p:nvPicPr>
          <p:cNvPr id="7" name="图片 6"/>
          <p:cNvPicPr>
            <a:picLocks noChangeAspect="1"/>
          </p:cNvPicPr>
          <p:nvPr/>
        </p:nvPicPr>
        <p:blipFill>
          <a:blip r:embed="rId4"/>
          <a:stretch>
            <a:fillRect/>
          </a:stretch>
        </p:blipFill>
        <p:spPr>
          <a:xfrm>
            <a:off x="9535167" y="3282884"/>
            <a:ext cx="2187438" cy="3157673"/>
          </a:xfrm>
          <a:prstGeom prst="rect">
            <a:avLst/>
          </a:prstGeom>
        </p:spPr>
      </p:pic>
    </p:spTree>
    <p:extLst>
      <p:ext uri="{BB962C8B-B14F-4D97-AF65-F5344CB8AC3E}">
        <p14:creationId xmlns:p14="http://schemas.microsoft.com/office/powerpoint/2010/main" val="3729273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1558863"/>
            <a:ext cx="7748172" cy="4881694"/>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有向图中一个顶点的</a:t>
            </a:r>
            <a:r>
              <a:rPr lang="zh-CN" altLang="zh-CN" sz="2800" dirty="0">
                <a:latin typeface="华文楷体" pitchFamily="2" charset="-122"/>
                <a:ea typeface="华文楷体" pitchFamily="2" charset="-122"/>
              </a:rPr>
              <a:t>出度</a:t>
            </a:r>
            <a:r>
              <a:rPr lang="zh-CN" altLang="zh-CN" sz="2800" b="0" dirty="0">
                <a:latin typeface="华文楷体" pitchFamily="2" charset="-122"/>
                <a:ea typeface="华文楷体" pitchFamily="2" charset="-122"/>
              </a:rPr>
              <a:t>是指由该顶点射出的有向边的条数，一个顶点的</a:t>
            </a:r>
            <a:r>
              <a:rPr lang="zh-CN" altLang="zh-CN" sz="2800" dirty="0">
                <a:latin typeface="华文楷体" pitchFamily="2" charset="-122"/>
                <a:ea typeface="华文楷体" pitchFamily="2" charset="-122"/>
              </a:rPr>
              <a:t>入度</a:t>
            </a:r>
            <a:r>
              <a:rPr lang="zh-CN" altLang="zh-CN" sz="2800" b="0" dirty="0">
                <a:latin typeface="华文楷体" pitchFamily="2" charset="-122"/>
                <a:ea typeface="华文楷体" pitchFamily="2" charset="-122"/>
              </a:rPr>
              <a:t>则是射入该顶点的有向边的条数。</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无向图中一个顶点的</a:t>
            </a:r>
            <a:r>
              <a:rPr lang="zh-CN" altLang="zh-CN" sz="2800" dirty="0">
                <a:latin typeface="华文楷体" pitchFamily="2" charset="-122"/>
                <a:ea typeface="华文楷体" pitchFamily="2" charset="-122"/>
              </a:rPr>
              <a:t>度</a:t>
            </a:r>
            <a:r>
              <a:rPr lang="zh-CN" altLang="zh-CN" sz="2800" b="0" dirty="0">
                <a:latin typeface="华文楷体" pitchFamily="2" charset="-122"/>
                <a:ea typeface="华文楷体" pitchFamily="2" charset="-122"/>
              </a:rPr>
              <a:t>是指邻接于该顶点的边的总数</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中顶点</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的入度为</a:t>
            </a:r>
            <a:r>
              <a:rPr lang="en-US" altLang="zh-CN" sz="2800" b="0" dirty="0">
                <a:ea typeface="华文楷体" pitchFamily="2" charset="-122"/>
                <a:cs typeface="Times New Roman" panose="02020603050405020304" pitchFamily="18" charset="0"/>
              </a:rPr>
              <a:t>3</a:t>
            </a:r>
            <a:r>
              <a:rPr lang="zh-CN" altLang="zh-CN" sz="2800" b="0" dirty="0">
                <a:ea typeface="华文楷体" pitchFamily="2" charset="-122"/>
                <a:cs typeface="Times New Roman" panose="02020603050405020304" pitchFamily="18" charset="0"/>
              </a:rPr>
              <a:t>、出度为</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G2</a:t>
            </a:r>
            <a:r>
              <a:rPr lang="zh-CN" altLang="zh-CN" sz="2800" b="0" dirty="0">
                <a:ea typeface="华文楷体" pitchFamily="2" charset="-122"/>
                <a:cs typeface="Times New Roman" panose="02020603050405020304" pitchFamily="18" charset="0"/>
              </a:rPr>
              <a:t>中，顶点</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的度为</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的度为</a:t>
            </a:r>
            <a:r>
              <a:rPr lang="en-US" altLang="zh-CN" sz="2800" b="0" dirty="0">
                <a:ea typeface="华文楷体" pitchFamily="2" charset="-122"/>
                <a:cs typeface="Times New Roman" panose="02020603050405020304" pitchFamily="18" charset="0"/>
              </a:rPr>
              <a:t>3</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6" name="图片 5"/>
          <p:cNvPicPr>
            <a:picLocks noChangeAspect="1"/>
          </p:cNvPicPr>
          <p:nvPr/>
        </p:nvPicPr>
        <p:blipFill>
          <a:blip r:embed="rId3"/>
          <a:stretch>
            <a:fillRect/>
          </a:stretch>
        </p:blipFill>
        <p:spPr>
          <a:xfrm>
            <a:off x="7821206" y="928397"/>
            <a:ext cx="2088047" cy="2845806"/>
          </a:xfrm>
          <a:prstGeom prst="rect">
            <a:avLst/>
          </a:prstGeom>
        </p:spPr>
      </p:pic>
      <p:pic>
        <p:nvPicPr>
          <p:cNvPr id="7" name="图片 6"/>
          <p:cNvPicPr>
            <a:picLocks noChangeAspect="1"/>
          </p:cNvPicPr>
          <p:nvPr/>
        </p:nvPicPr>
        <p:blipFill>
          <a:blip r:embed="rId4"/>
          <a:stretch>
            <a:fillRect/>
          </a:stretch>
        </p:blipFill>
        <p:spPr>
          <a:xfrm>
            <a:off x="9535167" y="3282884"/>
            <a:ext cx="2187438" cy="3157673"/>
          </a:xfrm>
          <a:prstGeom prst="rect">
            <a:avLst/>
          </a:prstGeom>
        </p:spPr>
      </p:pic>
    </p:spTree>
    <p:extLst>
      <p:ext uri="{BB962C8B-B14F-4D97-AF65-F5344CB8AC3E}">
        <p14:creationId xmlns:p14="http://schemas.microsoft.com/office/powerpoint/2010/main" val="590144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7573617" cy="488169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有向边</a:t>
            </a:r>
            <a:r>
              <a:rPr lang="en-US" altLang="zh-CN" sz="2800" b="0" dirty="0">
                <a:ea typeface="华文楷体" pitchFamily="2" charset="-122"/>
                <a:cs typeface="Times New Roman" panose="02020603050405020304" pitchFamily="18" charset="0"/>
              </a:rPr>
              <a:t>&lt;B,A&gt;</a:t>
            </a:r>
            <a:r>
              <a:rPr lang="zh-CN" altLang="zh-CN" sz="2800" b="0" dirty="0">
                <a:ea typeface="华文楷体" pitchFamily="2" charset="-122"/>
                <a:cs typeface="Times New Roman" panose="02020603050405020304" pitchFamily="18" charset="0"/>
              </a:rPr>
              <a:t>中</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可看作是</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的直接前驱、</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可看作是</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的直接后继，无向边</a:t>
            </a:r>
            <a:r>
              <a:rPr lang="en-US" altLang="zh-CN" sz="2800" b="0" dirty="0">
                <a:ea typeface="华文楷体" pitchFamily="2" charset="-122"/>
                <a:cs typeface="Times New Roman" panose="02020603050405020304" pitchFamily="18" charset="0"/>
              </a:rPr>
              <a:t>(B,A)</a:t>
            </a:r>
            <a:r>
              <a:rPr lang="zh-CN" altLang="zh-CN" sz="2800" b="0" dirty="0">
                <a:ea typeface="华文楷体" pitchFamily="2" charset="-122"/>
                <a:cs typeface="Times New Roman" panose="02020603050405020304" pitchFamily="18" charset="0"/>
              </a:rPr>
              <a:t>中</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互为直接前驱、后继。图和树明显不同，树中每个结点的直接前驱是唯一的，而图中每个顶点的</a:t>
            </a:r>
            <a:r>
              <a:rPr lang="zh-CN" altLang="zh-CN" sz="2800" dirty="0">
                <a:ea typeface="华文楷体" pitchFamily="2" charset="-122"/>
                <a:cs typeface="Times New Roman" panose="02020603050405020304" pitchFamily="18" charset="0"/>
              </a:rPr>
              <a:t>直接前驱不再唯一</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图中，不能包含同一条边的多个副本，也不能包含自连边，即</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j,j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或者</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j,j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6" name="图片 5"/>
          <p:cNvPicPr>
            <a:picLocks noChangeAspect="1"/>
          </p:cNvPicPr>
          <p:nvPr/>
        </p:nvPicPr>
        <p:blipFill>
          <a:blip r:embed="rId3"/>
          <a:stretch>
            <a:fillRect/>
          </a:stretch>
        </p:blipFill>
        <p:spPr>
          <a:xfrm>
            <a:off x="7821206" y="928397"/>
            <a:ext cx="2088047" cy="2845806"/>
          </a:xfrm>
          <a:prstGeom prst="rect">
            <a:avLst/>
          </a:prstGeom>
        </p:spPr>
      </p:pic>
      <p:pic>
        <p:nvPicPr>
          <p:cNvPr id="7" name="图片 6"/>
          <p:cNvPicPr>
            <a:picLocks noChangeAspect="1"/>
          </p:cNvPicPr>
          <p:nvPr/>
        </p:nvPicPr>
        <p:blipFill>
          <a:blip r:embed="rId4"/>
          <a:stretch>
            <a:fillRect/>
          </a:stretch>
        </p:blipFill>
        <p:spPr>
          <a:xfrm>
            <a:off x="9535167" y="3282884"/>
            <a:ext cx="2187438" cy="3157673"/>
          </a:xfrm>
          <a:prstGeom prst="rect">
            <a:avLst/>
          </a:prstGeom>
        </p:spPr>
      </p:pic>
    </p:spTree>
    <p:extLst>
      <p:ext uri="{BB962C8B-B14F-4D97-AF65-F5344CB8AC3E}">
        <p14:creationId xmlns:p14="http://schemas.microsoft.com/office/powerpoint/2010/main" val="3744755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20767" y="1558863"/>
                <a:ext cx="7573617" cy="488169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有</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个顶点的无向图中，如果任意两个顶点间都有边相连，此时边的条数最多，达到</a:t>
                </a:r>
                <a14:m>
                  <m:oMath xmlns:m="http://schemas.openxmlformats.org/officeDocument/2006/math">
                    <m:sSubSup>
                      <m:sSubSupPr>
                        <m:ctrlPr>
                          <a:rPr lang="zh-CN" altLang="zh-CN" sz="2800" b="0" i="1">
                            <a:latin typeface="Cambria Math" panose="02040503050406030204" pitchFamily="18" charset="0"/>
                            <a:ea typeface="华文楷体" pitchFamily="2" charset="-122"/>
                          </a:rPr>
                        </m:ctrlPr>
                      </m:sSubSupPr>
                      <m:e>
                        <m:r>
                          <a:rPr lang="en-US" altLang="zh-CN" sz="2800" b="0">
                            <a:latin typeface="Cambria Math" panose="02040503050406030204" pitchFamily="18" charset="0"/>
                            <a:ea typeface="华文楷体" pitchFamily="2" charset="-122"/>
                          </a:rPr>
                          <m:t>𝐶</m:t>
                        </m:r>
                      </m:e>
                      <m:sub>
                        <m:r>
                          <a:rPr lang="en-US" altLang="zh-CN" sz="2800" b="0">
                            <a:latin typeface="Cambria Math" panose="02040503050406030204" pitchFamily="18" charset="0"/>
                            <a:ea typeface="华文楷体" pitchFamily="2" charset="-122"/>
                          </a:rPr>
                          <m:t>𝑛</m:t>
                        </m:r>
                      </m:sub>
                      <m:sup>
                        <m:r>
                          <a:rPr lang="en-US" altLang="zh-CN" sz="2800" b="0">
                            <a:latin typeface="Cambria Math" panose="02040503050406030204" pitchFamily="18" charset="0"/>
                            <a:ea typeface="华文楷体" pitchFamily="2" charset="-122"/>
                          </a:rPr>
                          <m:t>2</m:t>
                        </m:r>
                      </m:sup>
                    </m:sSubSup>
                    <m:r>
                      <a:rPr lang="en-US" altLang="zh-CN" sz="2800" b="0">
                        <a:latin typeface="Cambria Math" panose="02040503050406030204" pitchFamily="18" charset="0"/>
                        <a:ea typeface="华文楷体" pitchFamily="2" charset="-122"/>
                      </a:rPr>
                      <m:t>=</m:t>
                    </m:r>
                    <m:r>
                      <a:rPr lang="en-US" altLang="zh-CN" sz="2800" b="0">
                        <a:latin typeface="Cambria Math" panose="02040503050406030204" pitchFamily="18" charset="0"/>
                        <a:ea typeface="华文楷体" pitchFamily="2" charset="-122"/>
                      </a:rPr>
                      <m:t>𝑛</m:t>
                    </m:r>
                    <m:r>
                      <a:rPr lang="en-US" altLang="zh-CN" sz="2800" b="0">
                        <a:latin typeface="Cambria Math" panose="02040503050406030204" pitchFamily="18" charset="0"/>
                        <a:ea typeface="华文楷体" pitchFamily="2" charset="-122"/>
                      </a:rPr>
                      <m:t>(</m:t>
                    </m:r>
                    <m:r>
                      <a:rPr lang="en-US" altLang="zh-CN" sz="2800" b="0">
                        <a:latin typeface="Cambria Math" panose="02040503050406030204" pitchFamily="18" charset="0"/>
                        <a:ea typeface="华文楷体" pitchFamily="2" charset="-122"/>
                      </a:rPr>
                      <m:t>𝑛</m:t>
                    </m:r>
                    <m:r>
                      <a:rPr lang="en-US" altLang="zh-CN" sz="2800" b="0">
                        <a:latin typeface="Cambria Math" panose="02040503050406030204" pitchFamily="18" charset="0"/>
                        <a:ea typeface="华文楷体" pitchFamily="2" charset="-122"/>
                      </a:rPr>
                      <m:t>−1)/2</m:t>
                    </m:r>
                  </m:oMath>
                </a14:m>
                <a:r>
                  <a:rPr lang="zh-CN" altLang="zh-CN" sz="2800" b="0" dirty="0">
                    <a:ea typeface="华文楷体" pitchFamily="2" charset="-122"/>
                    <a:cs typeface="Times New Roman" panose="02020603050405020304" pitchFamily="18" charset="0"/>
                  </a:rPr>
                  <a:t>条，这样的图称为</a:t>
                </a:r>
                <a:r>
                  <a:rPr lang="zh-CN" altLang="zh-CN" sz="2800" dirty="0">
                    <a:ea typeface="华文楷体" pitchFamily="2" charset="-122"/>
                    <a:cs typeface="Times New Roman" panose="02020603050405020304" pitchFamily="18" charset="0"/>
                  </a:rPr>
                  <a:t>无向完全图</a:t>
                </a:r>
                <a:r>
                  <a:rPr lang="zh-CN" altLang="zh-CN" sz="2800" b="0" dirty="0">
                    <a:ea typeface="华文楷体" pitchFamily="2" charset="-122"/>
                    <a:cs typeface="Times New Roman" panose="02020603050405020304" pitchFamily="18" charset="0"/>
                  </a:rPr>
                  <a:t>；对有向图而言，边的条数最多为</a:t>
                </a:r>
                <a14:m>
                  <m:oMath xmlns:m="http://schemas.openxmlformats.org/officeDocument/2006/math">
                    <m:sSubSup>
                      <m:sSubSupPr>
                        <m:ctrlPr>
                          <a:rPr lang="zh-CN" altLang="zh-CN" sz="2800" b="0" i="1">
                            <a:latin typeface="Cambria Math" panose="02040503050406030204" pitchFamily="18" charset="0"/>
                            <a:ea typeface="华文楷体" pitchFamily="2" charset="-122"/>
                          </a:rPr>
                        </m:ctrlPr>
                      </m:sSubSupPr>
                      <m:e>
                        <m:r>
                          <a:rPr lang="en-US" altLang="zh-CN" sz="2800" b="0">
                            <a:latin typeface="Cambria Math" panose="02040503050406030204" pitchFamily="18" charset="0"/>
                            <a:ea typeface="华文楷体" pitchFamily="2" charset="-122"/>
                          </a:rPr>
                          <m:t>𝑃</m:t>
                        </m:r>
                      </m:e>
                      <m:sub>
                        <m:r>
                          <a:rPr lang="en-US" altLang="zh-CN" sz="2800" b="0">
                            <a:latin typeface="Cambria Math" panose="02040503050406030204" pitchFamily="18" charset="0"/>
                            <a:ea typeface="华文楷体" pitchFamily="2" charset="-122"/>
                          </a:rPr>
                          <m:t>𝑛</m:t>
                        </m:r>
                      </m:sub>
                      <m:sup>
                        <m:r>
                          <a:rPr lang="en-US" altLang="zh-CN" sz="2800" b="0">
                            <a:latin typeface="Cambria Math" panose="02040503050406030204" pitchFamily="18" charset="0"/>
                            <a:ea typeface="华文楷体" pitchFamily="2" charset="-122"/>
                          </a:rPr>
                          <m:t>2</m:t>
                        </m:r>
                      </m:sup>
                    </m:sSubSup>
                    <m:r>
                      <a:rPr lang="en-US" altLang="zh-CN" sz="2800" b="0">
                        <a:latin typeface="Cambria Math" panose="02040503050406030204" pitchFamily="18" charset="0"/>
                        <a:ea typeface="华文楷体" pitchFamily="2" charset="-122"/>
                      </a:rPr>
                      <m:t>=</m:t>
                    </m:r>
                    <m:r>
                      <a:rPr lang="en-US" altLang="zh-CN" sz="2800" b="0">
                        <a:latin typeface="Cambria Math" panose="02040503050406030204" pitchFamily="18" charset="0"/>
                        <a:ea typeface="华文楷体" pitchFamily="2" charset="-122"/>
                      </a:rPr>
                      <m:t>𝑛</m:t>
                    </m:r>
                    <m:r>
                      <a:rPr lang="en-US" altLang="zh-CN" sz="2800" b="0">
                        <a:latin typeface="Cambria Math" panose="02040503050406030204" pitchFamily="18" charset="0"/>
                        <a:ea typeface="华文楷体" pitchFamily="2" charset="-122"/>
                      </a:rPr>
                      <m:t>(</m:t>
                    </m:r>
                    <m:r>
                      <a:rPr lang="en-US" altLang="zh-CN" sz="2800" b="0">
                        <a:latin typeface="Cambria Math" panose="02040503050406030204" pitchFamily="18" charset="0"/>
                        <a:ea typeface="华文楷体" pitchFamily="2" charset="-122"/>
                      </a:rPr>
                      <m:t>𝑛</m:t>
                    </m:r>
                    <m:r>
                      <a:rPr lang="en-US" altLang="zh-CN" sz="2800" b="0">
                        <a:latin typeface="Cambria Math" panose="02040503050406030204" pitchFamily="18" charset="0"/>
                        <a:ea typeface="华文楷体" pitchFamily="2" charset="-122"/>
                      </a:rPr>
                      <m:t>−1)</m:t>
                    </m:r>
                  </m:oMath>
                </a14:m>
                <a:r>
                  <a:rPr lang="zh-CN" altLang="zh-CN" sz="2800" b="0" dirty="0">
                    <a:ea typeface="华文楷体" pitchFamily="2" charset="-122"/>
                    <a:cs typeface="Times New Roman" panose="02020603050405020304" pitchFamily="18" charset="0"/>
                  </a:rPr>
                  <a:t>，这样的图称为</a:t>
                </a:r>
                <a:r>
                  <a:rPr lang="zh-CN" altLang="zh-CN" sz="2800" dirty="0">
                    <a:ea typeface="华文楷体" pitchFamily="2" charset="-122"/>
                    <a:cs typeface="Times New Roman" panose="02020603050405020304" pitchFamily="18" charset="0"/>
                  </a:rPr>
                  <a:t>有向完全图</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在图的实际应用中，边常带有一定的权重，边上带有权重的有向图、无向图分别被称为</a:t>
                </a:r>
                <a:r>
                  <a:rPr lang="zh-CN" altLang="zh-CN" sz="2800" dirty="0">
                    <a:ea typeface="华文楷体" pitchFamily="2" charset="-122"/>
                    <a:cs typeface="Times New Roman" panose="02020603050405020304" pitchFamily="18" charset="0"/>
                  </a:rPr>
                  <a:t>加权有向图</a:t>
                </a:r>
                <a:r>
                  <a:rPr lang="zh-CN" altLang="zh-CN" sz="2800" b="0" dirty="0">
                    <a:ea typeface="华文楷体" pitchFamily="2" charset="-122"/>
                    <a:cs typeface="Times New Roman" panose="02020603050405020304" pitchFamily="18" charset="0"/>
                  </a:rPr>
                  <a:t>、</a:t>
                </a:r>
                <a:r>
                  <a:rPr lang="zh-CN" altLang="zh-CN" sz="2800" dirty="0">
                    <a:ea typeface="华文楷体" pitchFamily="2" charset="-122"/>
                    <a:cs typeface="Times New Roman" panose="02020603050405020304" pitchFamily="18" charset="0"/>
                  </a:rPr>
                  <a:t>加权无向图</a:t>
                </a:r>
                <a:r>
                  <a:rPr lang="zh-CN" altLang="zh-CN" sz="2800" b="0" dirty="0">
                    <a:ea typeface="华文楷体" pitchFamily="2" charset="-122"/>
                    <a:cs typeface="Times New Roman" panose="02020603050405020304" pitchFamily="18" charset="0"/>
                  </a:rPr>
                  <a:t>，统称为</a:t>
                </a:r>
                <a:r>
                  <a:rPr lang="zh-CN" altLang="zh-CN" sz="2800" dirty="0">
                    <a:ea typeface="华文楷体" pitchFamily="2" charset="-122"/>
                    <a:cs typeface="Times New Roman" panose="02020603050405020304" pitchFamily="18" charset="0"/>
                  </a:rPr>
                  <a:t>网络</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20767" y="1558863"/>
                <a:ext cx="7573617" cy="4881694"/>
              </a:xfrm>
              <a:blipFill>
                <a:blip r:embed="rId3"/>
                <a:stretch>
                  <a:fillRect l="-1449" t="-499" r="-6280"/>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2" name="图片 1"/>
          <p:cNvPicPr>
            <a:picLocks noChangeAspect="1"/>
          </p:cNvPicPr>
          <p:nvPr/>
        </p:nvPicPr>
        <p:blipFill>
          <a:blip r:embed="rId4"/>
          <a:stretch>
            <a:fillRect/>
          </a:stretch>
        </p:blipFill>
        <p:spPr>
          <a:xfrm>
            <a:off x="8154435" y="845532"/>
            <a:ext cx="2579826" cy="2758773"/>
          </a:xfrm>
          <a:prstGeom prst="rect">
            <a:avLst/>
          </a:prstGeom>
        </p:spPr>
      </p:pic>
      <p:pic>
        <p:nvPicPr>
          <p:cNvPr id="3" name="图片 2"/>
          <p:cNvPicPr>
            <a:picLocks noChangeAspect="1"/>
          </p:cNvPicPr>
          <p:nvPr/>
        </p:nvPicPr>
        <p:blipFill>
          <a:blip r:embed="rId5"/>
          <a:stretch>
            <a:fillRect/>
          </a:stretch>
        </p:blipFill>
        <p:spPr>
          <a:xfrm>
            <a:off x="8337274" y="3604305"/>
            <a:ext cx="2396987" cy="2611004"/>
          </a:xfrm>
          <a:prstGeom prst="rect">
            <a:avLst/>
          </a:prstGeom>
        </p:spPr>
      </p:pic>
    </p:spTree>
    <p:extLst>
      <p:ext uri="{BB962C8B-B14F-4D97-AF65-F5344CB8AC3E}">
        <p14:creationId xmlns:p14="http://schemas.microsoft.com/office/powerpoint/2010/main" val="4226381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162884" cy="488169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对于图中的任意二个顶点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，如果可以从顶点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出发经过若干条无向边或者有向边到达顶点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，则称从顶点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到顶点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之间存在着一条</a:t>
            </a:r>
            <a:r>
              <a:rPr lang="zh-CN" altLang="zh-CN" sz="2800" dirty="0">
                <a:ea typeface="华文楷体" pitchFamily="2" charset="-122"/>
                <a:cs typeface="Times New Roman" panose="02020603050405020304" pitchFamily="18" charset="0"/>
              </a:rPr>
              <a:t>路径</a:t>
            </a:r>
            <a:r>
              <a:rPr lang="zh-CN" altLang="zh-CN" sz="2800" b="0" dirty="0">
                <a:ea typeface="华文楷体" pitchFamily="2" charset="-122"/>
                <a:cs typeface="Times New Roman" panose="02020603050405020304" pitchFamily="18" charset="0"/>
              </a:rPr>
              <a:t>。</a:t>
            </a:r>
            <a:r>
              <a:rPr lang="zh-CN" altLang="zh-CN" sz="2800" dirty="0">
                <a:ea typeface="华文楷体" pitchFamily="2" charset="-122"/>
                <a:cs typeface="Times New Roman" panose="02020603050405020304" pitchFamily="18" charset="0"/>
              </a:rPr>
              <a:t>路径的长度</a:t>
            </a:r>
            <a:r>
              <a:rPr lang="zh-CN" altLang="zh-CN" sz="2800" b="0" dirty="0">
                <a:ea typeface="华文楷体" pitchFamily="2" charset="-122"/>
                <a:cs typeface="Times New Roman" panose="02020603050405020304" pitchFamily="18" charset="0"/>
              </a:rPr>
              <a:t>是顶点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到顶点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之间的无向边或有向边的条数；如果边上有权重，路径长度也可以用路径上所有边的权重之和来表示。</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在无向图中，可用顶点序列</a:t>
            </a:r>
            <a:r>
              <a:rPr lang="en-US" altLang="zh-CN" sz="2800" b="0" dirty="0">
                <a:ea typeface="华文楷体" pitchFamily="2" charset="-122"/>
                <a:cs typeface="Times New Roman" panose="02020603050405020304" pitchFamily="18" charset="0"/>
              </a:rPr>
              <a:t>V0 ,V1 ,V2, …… ,Vn-1 ,</a:t>
            </a:r>
            <a:r>
              <a:rPr lang="en-US" altLang="zh-CN" sz="2800" b="0" dirty="0" err="1">
                <a:ea typeface="华文楷体" pitchFamily="2" charset="-122"/>
                <a:cs typeface="Times New Roman" panose="02020603050405020304" pitchFamily="18" charset="0"/>
              </a:rPr>
              <a:t>Vn</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表示自</a:t>
            </a:r>
            <a:r>
              <a:rPr lang="en-US" altLang="zh-CN" sz="2800" b="0" dirty="0">
                <a:ea typeface="华文楷体" pitchFamily="2" charset="-122"/>
                <a:cs typeface="Times New Roman" panose="02020603050405020304" pitchFamily="18" charset="0"/>
              </a:rPr>
              <a:t>V0</a:t>
            </a:r>
            <a:r>
              <a:rPr lang="zh-CN" altLang="zh-CN" sz="2800" b="0" dirty="0">
                <a:ea typeface="华文楷体" pitchFamily="2" charset="-122"/>
                <a:cs typeface="Times New Roman" panose="02020603050405020304" pitchFamily="18" charset="0"/>
              </a:rPr>
              <a:t>到</a:t>
            </a:r>
            <a:r>
              <a:rPr lang="en-US" altLang="zh-CN" sz="2800" b="0" dirty="0" err="1">
                <a:ea typeface="华文楷体" pitchFamily="2" charset="-122"/>
                <a:cs typeface="Times New Roman" panose="02020603050405020304" pitchFamily="18" charset="0"/>
              </a:rPr>
              <a:t>Vn</a:t>
            </a:r>
            <a:r>
              <a:rPr lang="zh-CN" altLang="zh-CN" sz="2800" b="0" dirty="0">
                <a:ea typeface="华文楷体" pitchFamily="2" charset="-122"/>
                <a:cs typeface="Times New Roman" panose="02020603050405020304" pitchFamily="18" charset="0"/>
              </a:rPr>
              <a:t>的长度为</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的一条路径，这条路径是由边</a:t>
            </a:r>
            <a:r>
              <a:rPr lang="en-US" altLang="zh-CN" sz="2800" b="0" dirty="0">
                <a:ea typeface="华文楷体" pitchFamily="2" charset="-122"/>
                <a:cs typeface="Times New Roman" panose="02020603050405020304" pitchFamily="18" charset="0"/>
              </a:rPr>
              <a:t>(V0 ,V1) , ( V1V2), …… ,(Vn-1 ,</a:t>
            </a:r>
            <a:r>
              <a:rPr lang="en-US" altLang="zh-CN" sz="2800" b="0" dirty="0" err="1">
                <a:ea typeface="华文楷体" pitchFamily="2" charset="-122"/>
                <a:cs typeface="Times New Roman" panose="02020603050405020304" pitchFamily="18" charset="0"/>
              </a:rPr>
              <a:t>Vn</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构成；在有向图中，顶点序列</a:t>
            </a:r>
            <a:r>
              <a:rPr lang="en-US" altLang="zh-CN" sz="2800" b="0" dirty="0">
                <a:ea typeface="华文楷体" pitchFamily="2" charset="-122"/>
                <a:cs typeface="Times New Roman" panose="02020603050405020304" pitchFamily="18" charset="0"/>
              </a:rPr>
              <a:t>V0 ,V1 ,V2, …… ,Vm-1 ,</a:t>
            </a:r>
            <a:r>
              <a:rPr lang="en-US" altLang="zh-CN" sz="2800" b="0" dirty="0" err="1">
                <a:ea typeface="华文楷体" pitchFamily="2" charset="-122"/>
                <a:cs typeface="Times New Roman" panose="02020603050405020304" pitchFamily="18" charset="0"/>
              </a:rPr>
              <a:t>Vm</a:t>
            </a:r>
            <a:r>
              <a:rPr lang="zh-CN" altLang="zh-CN" sz="2800" b="0" dirty="0">
                <a:ea typeface="华文楷体" pitchFamily="2" charset="-122"/>
                <a:cs typeface="Times New Roman" panose="02020603050405020304" pitchFamily="18" charset="0"/>
              </a:rPr>
              <a:t>表示自</a:t>
            </a:r>
            <a:r>
              <a:rPr lang="en-US" altLang="zh-CN" sz="2800" b="0" dirty="0">
                <a:ea typeface="华文楷体" pitchFamily="2" charset="-122"/>
                <a:cs typeface="Times New Roman" panose="02020603050405020304" pitchFamily="18" charset="0"/>
              </a:rPr>
              <a:t>V0</a:t>
            </a:r>
            <a:r>
              <a:rPr lang="zh-CN" altLang="zh-CN" sz="2800" b="0" dirty="0">
                <a:ea typeface="华文楷体" pitchFamily="2" charset="-122"/>
                <a:cs typeface="Times New Roman" panose="02020603050405020304" pitchFamily="18" charset="0"/>
              </a:rPr>
              <a:t>到</a:t>
            </a:r>
            <a:r>
              <a:rPr lang="en-US" altLang="zh-CN" sz="2800" b="0" dirty="0" err="1">
                <a:ea typeface="华文楷体" pitchFamily="2" charset="-122"/>
                <a:cs typeface="Times New Roman" panose="02020603050405020304" pitchFamily="18" charset="0"/>
              </a:rPr>
              <a:t>Vm</a:t>
            </a:r>
            <a:r>
              <a:rPr lang="zh-CN" altLang="zh-CN" sz="2800" b="0" dirty="0">
                <a:ea typeface="华文楷体" pitchFamily="2" charset="-122"/>
                <a:cs typeface="Times New Roman" panose="02020603050405020304" pitchFamily="18" charset="0"/>
              </a:rPr>
              <a:t>的长度为</a:t>
            </a:r>
            <a:r>
              <a:rPr lang="en-US" altLang="zh-CN" sz="2800" b="0" dirty="0">
                <a:ea typeface="华文楷体" pitchFamily="2" charset="-122"/>
                <a:cs typeface="Times New Roman" panose="02020603050405020304" pitchFamily="18" charset="0"/>
              </a:rPr>
              <a:t>m</a:t>
            </a:r>
            <a:r>
              <a:rPr lang="zh-CN" altLang="zh-CN" sz="2800" b="0" dirty="0">
                <a:ea typeface="华文楷体" pitchFamily="2" charset="-122"/>
                <a:cs typeface="Times New Roman" panose="02020603050405020304" pitchFamily="18" charset="0"/>
              </a:rPr>
              <a:t>的一条路径，它由有向边</a:t>
            </a:r>
            <a:r>
              <a:rPr lang="en-US" altLang="zh-CN" sz="2800" b="0" dirty="0">
                <a:ea typeface="华文楷体" pitchFamily="2" charset="-122"/>
                <a:cs typeface="Times New Roman" panose="02020603050405020304" pitchFamily="18" charset="0"/>
              </a:rPr>
              <a:t>&lt;V0 ,V1&gt; , &lt; V1 ,V2&gt;, …… ,&lt;Vm-1 ,</a:t>
            </a:r>
            <a:r>
              <a:rPr lang="en-US" altLang="zh-CN" sz="2800" b="0" dirty="0" err="1">
                <a:ea typeface="华文楷体" pitchFamily="2" charset="-122"/>
                <a:cs typeface="Times New Roman" panose="02020603050405020304" pitchFamily="18" charset="0"/>
              </a:rPr>
              <a:t>Vm</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构成。</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spTree>
    <p:extLst>
      <p:ext uri="{BB962C8B-B14F-4D97-AF65-F5344CB8AC3E}">
        <p14:creationId xmlns:p14="http://schemas.microsoft.com/office/powerpoint/2010/main" val="4082298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33029" y="4799021"/>
            <a:ext cx="10950622" cy="178068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a:t>
            </a:r>
            <a:r>
              <a:rPr lang="en-US" altLang="zh-CN" sz="2800" b="0" dirty="0">
                <a:ea typeface="华文楷体" pitchFamily="2" charset="-122"/>
                <a:cs typeface="Times New Roman" panose="02020603050405020304" pitchFamily="18" charset="0"/>
              </a:rPr>
              <a:t>G2</a:t>
            </a:r>
            <a:r>
              <a:rPr lang="zh-CN" altLang="zh-CN" sz="2800" b="0" dirty="0">
                <a:ea typeface="华文楷体" pitchFamily="2" charset="-122"/>
                <a:cs typeface="Times New Roman" panose="02020603050405020304" pitchFamily="18" charset="0"/>
              </a:rPr>
              <a:t>中，顶点序列</a:t>
            </a:r>
            <a:r>
              <a:rPr lang="en-US" altLang="zh-CN" sz="2800" b="0" dirty="0">
                <a:ea typeface="华文楷体" pitchFamily="2" charset="-122"/>
                <a:cs typeface="Times New Roman" panose="02020603050405020304" pitchFamily="18" charset="0"/>
              </a:rPr>
              <a:t>C,A,D,B</a:t>
            </a:r>
            <a:r>
              <a:rPr lang="zh-CN" altLang="zh-CN" sz="2800" b="0" dirty="0">
                <a:ea typeface="华文楷体" pitchFamily="2" charset="-122"/>
                <a:cs typeface="Times New Roman" panose="02020603050405020304" pitchFamily="18" charset="0"/>
              </a:rPr>
              <a:t>表示一条由无向边</a:t>
            </a:r>
            <a:r>
              <a:rPr lang="en-US" altLang="zh-CN" sz="2800" b="0" dirty="0">
                <a:ea typeface="华文楷体" pitchFamily="2" charset="-122"/>
                <a:cs typeface="Times New Roman" panose="02020603050405020304" pitchFamily="18" charset="0"/>
              </a:rPr>
              <a:t>(C,A),(A,D),(D,B)</a:t>
            </a:r>
            <a:r>
              <a:rPr lang="zh-CN" altLang="zh-CN" sz="2800" b="0" dirty="0">
                <a:ea typeface="华文楷体" pitchFamily="2" charset="-122"/>
                <a:cs typeface="Times New Roman" panose="02020603050405020304" pitchFamily="18" charset="0"/>
              </a:rPr>
              <a:t>构成的长度为</a:t>
            </a:r>
            <a:r>
              <a:rPr lang="en-US" altLang="zh-CN" sz="2800" b="0" dirty="0">
                <a:ea typeface="华文楷体" pitchFamily="2" charset="-122"/>
                <a:cs typeface="Times New Roman" panose="02020603050405020304" pitchFamily="18" charset="0"/>
              </a:rPr>
              <a:t>3</a:t>
            </a:r>
            <a:r>
              <a:rPr lang="zh-CN" altLang="zh-CN" sz="2800" b="0" dirty="0">
                <a:ea typeface="华文楷体" pitchFamily="2" charset="-122"/>
                <a:cs typeface="Times New Roman" panose="02020603050405020304" pitchFamily="18" charset="0"/>
              </a:rPr>
              <a:t>的路径；在图</a:t>
            </a:r>
            <a:r>
              <a:rPr lang="en-US" altLang="zh-CN" sz="2800" b="0" dirty="0">
                <a:ea typeface="华文楷体" pitchFamily="2" charset="-122"/>
                <a:cs typeface="Times New Roman" panose="02020603050405020304" pitchFamily="18" charset="0"/>
              </a:rPr>
              <a:t>G4</a:t>
            </a:r>
            <a:r>
              <a:rPr lang="zh-CN" altLang="zh-CN" sz="2800" b="0" dirty="0">
                <a:ea typeface="华文楷体" pitchFamily="2" charset="-122"/>
                <a:cs typeface="Times New Roman" panose="02020603050405020304" pitchFamily="18" charset="0"/>
              </a:rPr>
              <a:t>中，顶点序列</a:t>
            </a:r>
            <a:r>
              <a:rPr lang="en-US" altLang="zh-CN" sz="2800" b="0" dirty="0">
                <a:ea typeface="华文楷体" pitchFamily="2" charset="-122"/>
                <a:cs typeface="Times New Roman" panose="02020603050405020304" pitchFamily="18" charset="0"/>
              </a:rPr>
              <a:t>A,D,C,E</a:t>
            </a:r>
            <a:r>
              <a:rPr lang="zh-CN" altLang="zh-CN" sz="2800" b="0" dirty="0">
                <a:ea typeface="华文楷体" pitchFamily="2" charset="-122"/>
                <a:cs typeface="Times New Roman" panose="02020603050405020304" pitchFamily="18" charset="0"/>
              </a:rPr>
              <a:t>表示一条由有向边</a:t>
            </a:r>
            <a:r>
              <a:rPr lang="en-US" altLang="zh-CN" sz="2800" b="0" dirty="0">
                <a:ea typeface="华文楷体" pitchFamily="2" charset="-122"/>
                <a:cs typeface="Times New Roman" panose="02020603050405020304" pitchFamily="18" charset="0"/>
              </a:rPr>
              <a:t>&lt;A ,D&gt;, &lt;D,C&gt;,&lt;C,E&gt;</a:t>
            </a:r>
            <a:r>
              <a:rPr lang="zh-CN" altLang="zh-CN" sz="2800" b="0" dirty="0">
                <a:ea typeface="华文楷体" pitchFamily="2" charset="-122"/>
                <a:cs typeface="Times New Roman" panose="02020603050405020304" pitchFamily="18" charset="0"/>
              </a:rPr>
              <a:t>构成的长度为</a:t>
            </a:r>
            <a:r>
              <a:rPr lang="en-US" altLang="zh-CN" sz="2800" b="0" dirty="0">
                <a:ea typeface="华文楷体" pitchFamily="2" charset="-122"/>
                <a:cs typeface="Times New Roman" panose="02020603050405020304" pitchFamily="18" charset="0"/>
              </a:rPr>
              <a:t>7</a:t>
            </a:r>
            <a:r>
              <a:rPr lang="zh-CN" altLang="zh-CN" sz="2800" b="0" dirty="0">
                <a:ea typeface="华文楷体" pitchFamily="2" charset="-122"/>
                <a:cs typeface="Times New Roman" panose="02020603050405020304" pitchFamily="18" charset="0"/>
              </a:rPr>
              <a:t>的路径。</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4" name="图片 3"/>
          <p:cNvPicPr>
            <a:picLocks noChangeAspect="1"/>
          </p:cNvPicPr>
          <p:nvPr/>
        </p:nvPicPr>
        <p:blipFill>
          <a:blip r:embed="rId3"/>
          <a:stretch>
            <a:fillRect/>
          </a:stretch>
        </p:blipFill>
        <p:spPr>
          <a:xfrm>
            <a:off x="2299479" y="1626945"/>
            <a:ext cx="2053860" cy="2964846"/>
          </a:xfrm>
          <a:prstGeom prst="rect">
            <a:avLst/>
          </a:prstGeom>
        </p:spPr>
      </p:pic>
      <p:pic>
        <p:nvPicPr>
          <p:cNvPr id="5" name="图片 4"/>
          <p:cNvPicPr>
            <a:picLocks noChangeAspect="1"/>
          </p:cNvPicPr>
          <p:nvPr/>
        </p:nvPicPr>
        <p:blipFill>
          <a:blip r:embed="rId4"/>
          <a:stretch>
            <a:fillRect/>
          </a:stretch>
        </p:blipFill>
        <p:spPr>
          <a:xfrm>
            <a:off x="6533549" y="1386247"/>
            <a:ext cx="2958223" cy="3222350"/>
          </a:xfrm>
          <a:prstGeom prst="rect">
            <a:avLst/>
          </a:prstGeom>
        </p:spPr>
      </p:pic>
    </p:spTree>
    <p:extLst>
      <p:ext uri="{BB962C8B-B14F-4D97-AF65-F5344CB8AC3E}">
        <p14:creationId xmlns:p14="http://schemas.microsoft.com/office/powerpoint/2010/main" val="2264081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6" y="1558862"/>
            <a:ext cx="8425669" cy="4444373"/>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如果一条路径上除了第一个顶点和最后一个顶点可能相同之外，其余各顶点都不相同，这样的路径称为</a:t>
            </a:r>
            <a:r>
              <a:rPr lang="zh-CN" altLang="zh-CN" sz="2800" dirty="0">
                <a:ea typeface="华文楷体" pitchFamily="2" charset="-122"/>
                <a:cs typeface="Times New Roman" panose="02020603050405020304" pitchFamily="18" charset="0"/>
              </a:rPr>
              <a:t>简单路径</a:t>
            </a:r>
            <a:r>
              <a:rPr lang="zh-CN" altLang="zh-CN" sz="2800" b="0" dirty="0">
                <a:ea typeface="华文楷体" pitchFamily="2" charset="-122"/>
                <a:cs typeface="Times New Roman" panose="02020603050405020304" pitchFamily="18" charset="0"/>
              </a:rPr>
              <a:t>。简单路径上如果第一个顶点和最后一个顶点相同，则该路径也称为</a:t>
            </a:r>
            <a:r>
              <a:rPr lang="zh-CN" altLang="zh-CN" sz="2800" dirty="0">
                <a:ea typeface="华文楷体" pitchFamily="2" charset="-122"/>
                <a:cs typeface="Times New Roman" panose="02020603050405020304" pitchFamily="18" charset="0"/>
              </a:rPr>
              <a:t>简单回路或简单环</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在图</a:t>
            </a:r>
            <a:r>
              <a:rPr lang="en-US" altLang="zh-CN" sz="2800" b="0" dirty="0">
                <a:ea typeface="华文楷体" pitchFamily="2" charset="-122"/>
                <a:cs typeface="Times New Roman" panose="02020603050405020304" pitchFamily="18" charset="0"/>
              </a:rPr>
              <a:t>G3</a:t>
            </a:r>
            <a:r>
              <a:rPr lang="zh-CN" altLang="zh-CN" sz="2800" b="0" dirty="0">
                <a:ea typeface="华文楷体" pitchFamily="2" charset="-122"/>
                <a:cs typeface="Times New Roman" panose="02020603050405020304" pitchFamily="18" charset="0"/>
              </a:rPr>
              <a:t>中，顶点序列</a:t>
            </a:r>
            <a:r>
              <a:rPr lang="en-US" altLang="zh-CN" sz="2800" b="0" dirty="0">
                <a:ea typeface="华文楷体" pitchFamily="2" charset="-122"/>
                <a:cs typeface="Times New Roman" panose="02020603050405020304" pitchFamily="18" charset="0"/>
              </a:rPr>
              <a:t>A,D,E,F</a:t>
            </a:r>
            <a:r>
              <a:rPr lang="zh-CN" altLang="zh-CN" sz="2800" b="0" dirty="0">
                <a:ea typeface="华文楷体" pitchFamily="2" charset="-122"/>
                <a:cs typeface="Times New Roman" panose="02020603050405020304" pitchFamily="18" charset="0"/>
              </a:rPr>
              <a:t>是简单路径，顶点序列</a:t>
            </a:r>
            <a:r>
              <a:rPr lang="en-US" altLang="zh-CN" sz="2800" b="0" dirty="0">
                <a:ea typeface="华文楷体" pitchFamily="2" charset="-122"/>
                <a:cs typeface="Times New Roman" panose="02020603050405020304" pitchFamily="18" charset="0"/>
              </a:rPr>
              <a:t>A,D,E,F,B,A</a:t>
            </a:r>
            <a:r>
              <a:rPr lang="zh-CN" altLang="zh-CN" sz="2800" b="0" dirty="0">
                <a:ea typeface="华文楷体" pitchFamily="2" charset="-122"/>
                <a:cs typeface="Times New Roman" panose="02020603050405020304" pitchFamily="18" charset="0"/>
              </a:rPr>
              <a:t>是简单路径，也是简单回路。顶点序列</a:t>
            </a:r>
            <a:r>
              <a:rPr lang="en-US" altLang="zh-CN" sz="2800" b="0" dirty="0">
                <a:ea typeface="华文楷体" pitchFamily="2" charset="-122"/>
                <a:cs typeface="Times New Roman" panose="02020603050405020304" pitchFamily="18" charset="0"/>
              </a:rPr>
              <a:t>A,D,C,E,D,B</a:t>
            </a:r>
            <a:r>
              <a:rPr lang="zh-CN" altLang="zh-CN" sz="2800" b="0" dirty="0">
                <a:ea typeface="华文楷体" pitchFamily="2" charset="-122"/>
                <a:cs typeface="Times New Roman" panose="02020603050405020304" pitchFamily="18" charset="0"/>
              </a:rPr>
              <a:t>不是简单路径，顶点序列</a:t>
            </a:r>
            <a:r>
              <a:rPr lang="en-US" altLang="zh-CN" sz="2800" b="0" dirty="0">
                <a:ea typeface="华文楷体" pitchFamily="2" charset="-122"/>
                <a:cs typeface="Times New Roman" panose="02020603050405020304" pitchFamily="18" charset="0"/>
              </a:rPr>
              <a:t>A,D,C,E,D,B,A</a:t>
            </a:r>
            <a:r>
              <a:rPr lang="zh-CN" altLang="zh-CN" sz="2800" b="0" dirty="0">
                <a:ea typeface="华文楷体" pitchFamily="2" charset="-122"/>
                <a:cs typeface="Times New Roman" panose="02020603050405020304" pitchFamily="18" charset="0"/>
              </a:rPr>
              <a:t>是回路但不是简单回路。</a:t>
            </a: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4" name="图片 3"/>
          <p:cNvPicPr>
            <a:picLocks noChangeAspect="1"/>
          </p:cNvPicPr>
          <p:nvPr/>
        </p:nvPicPr>
        <p:blipFill>
          <a:blip r:embed="rId3"/>
          <a:stretch>
            <a:fillRect/>
          </a:stretch>
        </p:blipFill>
        <p:spPr>
          <a:xfrm>
            <a:off x="8838759" y="2213831"/>
            <a:ext cx="2931120" cy="3134434"/>
          </a:xfrm>
          <a:prstGeom prst="rect">
            <a:avLst/>
          </a:prstGeom>
        </p:spPr>
      </p:pic>
    </p:spTree>
    <p:extLst>
      <p:ext uri="{BB962C8B-B14F-4D97-AF65-F5344CB8AC3E}">
        <p14:creationId xmlns:p14="http://schemas.microsoft.com/office/powerpoint/2010/main" val="412910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6" y="1558862"/>
            <a:ext cx="11387530" cy="2198129"/>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假设有两个图</a:t>
            </a:r>
            <a:r>
              <a:rPr lang="en-US" altLang="zh-CN" sz="2800" b="0" dirty="0">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，且</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是</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的子集，</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是</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的子集，则称</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是</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的</a:t>
            </a:r>
            <a:r>
              <a:rPr lang="zh-CN" altLang="zh-CN" sz="2800" dirty="0">
                <a:ea typeface="华文楷体" pitchFamily="2" charset="-122"/>
                <a:cs typeface="Times New Roman" panose="02020603050405020304" pitchFamily="18" charset="0"/>
              </a:rPr>
              <a:t>子图</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a:t>
            </a:r>
            <a:r>
              <a:rPr lang="en-US" altLang="zh-CN" sz="2800" b="0" dirty="0">
                <a:ea typeface="华文楷体" pitchFamily="2" charset="-122"/>
                <a:cs typeface="Times New Roman" panose="02020603050405020304" pitchFamily="18" charset="0"/>
              </a:rPr>
              <a:t>T1</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T2</a:t>
            </a:r>
            <a:r>
              <a:rPr lang="zh-CN" altLang="zh-CN" sz="2800" b="0" dirty="0">
                <a:ea typeface="华文楷体" pitchFamily="2" charset="-122"/>
                <a:cs typeface="Times New Roman" panose="02020603050405020304" pitchFamily="18" charset="0"/>
              </a:rPr>
              <a:t>都是图</a:t>
            </a:r>
            <a:r>
              <a:rPr lang="en-US" altLang="zh-CN" sz="2800" b="0" dirty="0">
                <a:ea typeface="华文楷体" pitchFamily="2" charset="-122"/>
                <a:cs typeface="Times New Roman" panose="02020603050405020304" pitchFamily="18" charset="0"/>
              </a:rPr>
              <a:t>T</a:t>
            </a:r>
            <a:r>
              <a:rPr lang="zh-CN" altLang="zh-CN" sz="2800" b="0" dirty="0">
                <a:ea typeface="华文楷体" pitchFamily="2" charset="-122"/>
                <a:cs typeface="Times New Roman" panose="02020603050405020304" pitchFamily="18" charset="0"/>
              </a:rPr>
              <a:t>的子图</a:t>
            </a:r>
            <a:r>
              <a:rPr lang="zh-CN" altLang="en-US"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T3</a:t>
            </a:r>
            <a:r>
              <a:rPr lang="zh-CN" altLang="zh-CN" sz="2800" b="0" dirty="0">
                <a:ea typeface="华文楷体" pitchFamily="2" charset="-122"/>
                <a:cs typeface="Times New Roman" panose="02020603050405020304" pitchFamily="18" charset="0"/>
              </a:rPr>
              <a:t>中</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及</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条边的形状和</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中不同，但不影响</a:t>
            </a:r>
            <a:r>
              <a:rPr lang="en-US" altLang="zh-CN" sz="2800" b="0" dirty="0">
                <a:ea typeface="华文楷体" pitchFamily="2" charset="-122"/>
                <a:cs typeface="Times New Roman" panose="02020603050405020304" pitchFamily="18" charset="0"/>
              </a:rPr>
              <a:t>T3</a:t>
            </a:r>
            <a:r>
              <a:rPr lang="zh-CN" altLang="zh-CN" sz="2800" b="0" dirty="0">
                <a:ea typeface="华文楷体" pitchFamily="2" charset="-122"/>
                <a:cs typeface="Times New Roman" panose="02020603050405020304" pitchFamily="18" charset="0"/>
              </a:rPr>
              <a:t>也是</a:t>
            </a:r>
            <a:r>
              <a:rPr lang="en-US" altLang="zh-CN" sz="2800" b="0" dirty="0">
                <a:ea typeface="华文楷体" pitchFamily="2" charset="-122"/>
                <a:cs typeface="Times New Roman" panose="02020603050405020304" pitchFamily="18" charset="0"/>
              </a:rPr>
              <a:t>T</a:t>
            </a:r>
            <a:r>
              <a:rPr lang="zh-CN" altLang="zh-CN" sz="2800" b="0" dirty="0">
                <a:ea typeface="华文楷体" pitchFamily="2" charset="-122"/>
                <a:cs typeface="Times New Roman" panose="02020603050405020304" pitchFamily="18" charset="0"/>
              </a:rPr>
              <a:t>的子图。另外，根据定义，</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显然也是</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自身的子图。</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2166269" y="3756991"/>
            <a:ext cx="7471880" cy="2961862"/>
          </a:xfrm>
          <a:prstGeom prst="rect">
            <a:avLst/>
          </a:prstGeom>
          <a:noFill/>
          <a:ln>
            <a:noFill/>
          </a:ln>
        </p:spPr>
      </p:pic>
    </p:spTree>
    <p:extLst>
      <p:ext uri="{BB962C8B-B14F-4D97-AF65-F5344CB8AC3E}">
        <p14:creationId xmlns:p14="http://schemas.microsoft.com/office/powerpoint/2010/main" val="1977268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48560"/>
            <a:ext cx="11871233" cy="2635450"/>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在一个图中，如果顶点</a:t>
            </a:r>
            <a:r>
              <a:rPr lang="en-US" altLang="zh-CN" sz="2800" b="0" dirty="0" err="1">
                <a:latin typeface="华文楷体" pitchFamily="2" charset="-122"/>
                <a:ea typeface="华文楷体" pitchFamily="2" charset="-122"/>
              </a:rPr>
              <a:t>i</a:t>
            </a:r>
            <a:r>
              <a:rPr lang="zh-CN" altLang="zh-CN" sz="2800" b="0" dirty="0">
                <a:latin typeface="华文楷体" pitchFamily="2" charset="-122"/>
                <a:ea typeface="华文楷体" pitchFamily="2" charset="-122"/>
              </a:rPr>
              <a:t>和</a:t>
            </a:r>
            <a:r>
              <a:rPr lang="en-US" altLang="zh-CN" sz="2800" b="0" dirty="0">
                <a:latin typeface="华文楷体" pitchFamily="2" charset="-122"/>
                <a:ea typeface="华文楷体" pitchFamily="2" charset="-122"/>
              </a:rPr>
              <a:t>j</a:t>
            </a:r>
            <a:r>
              <a:rPr lang="zh-CN" altLang="zh-CN" sz="2800" b="0" dirty="0">
                <a:latin typeface="华文楷体" pitchFamily="2" charset="-122"/>
                <a:ea typeface="华文楷体" pitchFamily="2" charset="-122"/>
              </a:rPr>
              <a:t>之间有路径存在，称顶点</a:t>
            </a:r>
            <a:r>
              <a:rPr lang="en-US" altLang="zh-CN" sz="2800" b="0" dirty="0" err="1">
                <a:latin typeface="华文楷体" pitchFamily="2" charset="-122"/>
                <a:ea typeface="华文楷体" pitchFamily="2" charset="-122"/>
              </a:rPr>
              <a:t>i</a:t>
            </a:r>
            <a:r>
              <a:rPr lang="zh-CN" altLang="zh-CN" sz="2800" b="0" dirty="0">
                <a:latin typeface="华文楷体" pitchFamily="2" charset="-122"/>
                <a:ea typeface="华文楷体" pitchFamily="2" charset="-122"/>
              </a:rPr>
              <a:t>、</a:t>
            </a:r>
            <a:r>
              <a:rPr lang="en-US" altLang="zh-CN" sz="2800" b="0" dirty="0">
                <a:latin typeface="华文楷体" pitchFamily="2" charset="-122"/>
                <a:ea typeface="华文楷体" pitchFamily="2" charset="-122"/>
              </a:rPr>
              <a:t>j </a:t>
            </a:r>
            <a:r>
              <a:rPr lang="zh-CN" altLang="zh-CN" sz="2800" b="0" dirty="0">
                <a:latin typeface="华文楷体" pitchFamily="2" charset="-122"/>
                <a:ea typeface="华文楷体" pitchFamily="2" charset="-122"/>
              </a:rPr>
              <a:t>之间是</a:t>
            </a:r>
            <a:r>
              <a:rPr lang="zh-CN" altLang="zh-CN" sz="2800" dirty="0">
                <a:latin typeface="华文楷体" pitchFamily="2" charset="-122"/>
                <a:ea typeface="华文楷体" pitchFamily="2" charset="-122"/>
              </a:rPr>
              <a:t>连通</a:t>
            </a:r>
            <a:r>
              <a:rPr lang="zh-CN" altLang="zh-CN" sz="2800" b="0" dirty="0">
                <a:latin typeface="华文楷体" pitchFamily="2" charset="-122"/>
                <a:ea typeface="华文楷体" pitchFamily="2" charset="-122"/>
              </a:rPr>
              <a:t>的。在一个无向图中，如果任意两个顶点对之间都是连通的，称该无向图</a:t>
            </a:r>
            <a:r>
              <a:rPr lang="en-US" altLang="zh-CN" sz="2800" b="0" dirty="0">
                <a:latin typeface="华文楷体" pitchFamily="2" charset="-122"/>
                <a:ea typeface="华文楷体" pitchFamily="2" charset="-122"/>
              </a:rPr>
              <a:t>G</a:t>
            </a:r>
            <a:r>
              <a:rPr lang="zh-CN" altLang="zh-CN" sz="2800" b="0" dirty="0">
                <a:latin typeface="华文楷体" pitchFamily="2" charset="-122"/>
                <a:ea typeface="华文楷体" pitchFamily="2" charset="-122"/>
              </a:rPr>
              <a:t>是</a:t>
            </a:r>
            <a:r>
              <a:rPr lang="zh-CN" altLang="zh-CN" sz="2800" dirty="0">
                <a:latin typeface="华文楷体" pitchFamily="2" charset="-122"/>
                <a:ea typeface="华文楷体" pitchFamily="2" charset="-122"/>
              </a:rPr>
              <a:t>连通图</a:t>
            </a:r>
            <a:r>
              <a:rPr lang="zh-CN" altLang="zh-CN" sz="2800" b="0" dirty="0">
                <a:latin typeface="华文楷体" pitchFamily="2" charset="-122"/>
                <a:ea typeface="华文楷体" pitchFamily="2" charset="-122"/>
              </a:rPr>
              <a:t>。无向图的极大连通子图称为</a:t>
            </a:r>
            <a:r>
              <a:rPr lang="zh-CN" altLang="zh-CN" sz="2800" dirty="0">
                <a:latin typeface="华文楷体" pitchFamily="2" charset="-122"/>
                <a:ea typeface="华文楷体" pitchFamily="2" charset="-122"/>
              </a:rPr>
              <a:t>连通分量</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在一个有向图</a:t>
            </a:r>
            <a:r>
              <a:rPr lang="en-US" altLang="zh-CN" sz="2800" b="0" dirty="0">
                <a:latin typeface="华文楷体" pitchFamily="2" charset="-122"/>
                <a:ea typeface="华文楷体" pitchFamily="2" charset="-122"/>
              </a:rPr>
              <a:t>G</a:t>
            </a:r>
            <a:r>
              <a:rPr lang="zh-CN" altLang="zh-CN" sz="2800" b="0" dirty="0">
                <a:latin typeface="华文楷体" pitchFamily="2" charset="-122"/>
                <a:ea typeface="华文楷体" pitchFamily="2" charset="-122"/>
              </a:rPr>
              <a:t>中，如果任意两个顶点对之间都是连通的，称有向图</a:t>
            </a:r>
            <a:r>
              <a:rPr lang="en-US" altLang="zh-CN" sz="2800" b="0" dirty="0">
                <a:latin typeface="华文楷体" pitchFamily="2" charset="-122"/>
                <a:ea typeface="华文楷体" pitchFamily="2" charset="-122"/>
              </a:rPr>
              <a:t>G</a:t>
            </a:r>
            <a:r>
              <a:rPr lang="zh-CN" altLang="zh-CN" sz="2800" b="0" dirty="0">
                <a:latin typeface="华文楷体" pitchFamily="2" charset="-122"/>
                <a:ea typeface="华文楷体" pitchFamily="2" charset="-122"/>
              </a:rPr>
              <a:t>是</a:t>
            </a:r>
            <a:r>
              <a:rPr lang="zh-CN" altLang="zh-CN" sz="2800" dirty="0">
                <a:latin typeface="华文楷体" pitchFamily="2" charset="-122"/>
                <a:ea typeface="华文楷体" pitchFamily="2" charset="-122"/>
              </a:rPr>
              <a:t>强连通图</a:t>
            </a:r>
            <a:r>
              <a:rPr lang="zh-CN" altLang="zh-CN" sz="2800" b="0" dirty="0">
                <a:latin typeface="华文楷体" pitchFamily="2" charset="-122"/>
                <a:ea typeface="华文楷体" pitchFamily="2" charset="-122"/>
              </a:rPr>
              <a:t>。有向图的极大连通子图，称</a:t>
            </a:r>
            <a:r>
              <a:rPr lang="zh-CN" altLang="zh-CN" sz="2800" dirty="0">
                <a:latin typeface="华文楷体" pitchFamily="2" charset="-122"/>
                <a:ea typeface="华文楷体" pitchFamily="2" charset="-122"/>
              </a:rPr>
              <a:t>强连通分量</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p>
        </p:txBody>
      </p:sp>
    </p:spTree>
    <p:extLst>
      <p:ext uri="{BB962C8B-B14F-4D97-AF65-F5344CB8AC3E}">
        <p14:creationId xmlns:p14="http://schemas.microsoft.com/office/powerpoint/2010/main" val="3836704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320767" y="1510747"/>
            <a:ext cx="6517355" cy="2623931"/>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5616146" y="4134678"/>
            <a:ext cx="5827749" cy="2544418"/>
          </a:xfrm>
          <a:prstGeom prst="rect">
            <a:avLst/>
          </a:prstGeom>
          <a:noFill/>
          <a:ln>
            <a:noFill/>
          </a:ln>
        </p:spPr>
      </p:pic>
    </p:spTree>
    <p:extLst>
      <p:ext uri="{BB962C8B-B14F-4D97-AF65-F5344CB8AC3E}">
        <p14:creationId xmlns:p14="http://schemas.microsoft.com/office/powerpoint/2010/main" val="166671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20324"/>
            <a:ext cx="11871233" cy="2635450"/>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连通图的</a:t>
            </a:r>
            <a:r>
              <a:rPr lang="zh-CN" altLang="zh-CN" sz="2800" dirty="0">
                <a:ea typeface="华文楷体" pitchFamily="2" charset="-122"/>
                <a:cs typeface="Times New Roman" panose="02020603050405020304" pitchFamily="18" charset="0"/>
              </a:rPr>
              <a:t>生成树</a:t>
            </a:r>
            <a:r>
              <a:rPr lang="zh-CN" altLang="zh-CN" sz="2800" b="0" dirty="0">
                <a:ea typeface="华文楷体" pitchFamily="2" charset="-122"/>
                <a:cs typeface="Times New Roman" panose="02020603050405020304" pitchFamily="18" charset="0"/>
              </a:rPr>
              <a:t>是指它的</a:t>
            </a:r>
            <a:r>
              <a:rPr lang="zh-CN" altLang="zh-CN" sz="2800" dirty="0">
                <a:ea typeface="华文楷体" pitchFamily="2" charset="-122"/>
                <a:cs typeface="Times New Roman" panose="02020603050405020304" pitchFamily="18" charset="0"/>
              </a:rPr>
              <a:t>极小连通子图</a:t>
            </a:r>
            <a:r>
              <a:rPr lang="zh-CN" altLang="zh-CN" sz="2800" b="0" dirty="0">
                <a:ea typeface="华文楷体" pitchFamily="2" charset="-122"/>
                <a:cs typeface="Times New Roman" panose="02020603050405020304" pitchFamily="18" charset="0"/>
              </a:rPr>
              <a:t>，该连通子图包含连通图的所有</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个顶点，但只含它的</a:t>
            </a:r>
            <a:r>
              <a:rPr lang="en-US" altLang="zh-CN" sz="2800" b="0" dirty="0">
                <a:ea typeface="华文楷体" pitchFamily="2" charset="-122"/>
                <a:cs typeface="Times New Roman" panose="02020603050405020304" pitchFamily="18" charset="0"/>
              </a:rPr>
              <a:t>n-1</a:t>
            </a:r>
            <a:r>
              <a:rPr lang="zh-CN" altLang="zh-CN" sz="2800" b="0" dirty="0">
                <a:ea typeface="华文楷体" pitchFamily="2" charset="-122"/>
                <a:cs typeface="Times New Roman" panose="02020603050405020304" pitchFamily="18" charset="0"/>
              </a:rPr>
              <a:t>条边。如果去掉一条边，这个子图将不连通；如果增加一条新的边</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，因顶点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之间原本连通，即存在一条路径，加上新加的这条边便形成了回路，有回路就不再是树。</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一个连通图的生成树并不唯一。</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506960" y="4103205"/>
            <a:ext cx="6790497" cy="2436744"/>
          </a:xfrm>
          <a:prstGeom prst="rect">
            <a:avLst/>
          </a:prstGeom>
          <a:noFill/>
          <a:ln>
            <a:noFill/>
          </a:ln>
        </p:spPr>
      </p:pic>
      <p:sp>
        <p:nvSpPr>
          <p:cNvPr id="2" name="椭圆 1"/>
          <p:cNvSpPr/>
          <p:nvPr/>
        </p:nvSpPr>
        <p:spPr>
          <a:xfrm>
            <a:off x="11715750" y="6329363"/>
            <a:ext cx="157163" cy="2105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85318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图的存储和操作实现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1104378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邻接矩阵及实现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多重邻接表*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十字链表*</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4087018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fontScale="92500"/>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按照线性结构和树结构的存储思路，要想找到一个类似的既能同时存储顶点又能存储表示顶点间关系的边的结构就非常困难。</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不妨换个思路，将顶点和边的存储独立开来： 如，对于有向图或无向图</a:t>
            </a:r>
            <a:r>
              <a:rPr lang="en-US" altLang="zh-CN" sz="2800" b="0" dirty="0">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可以用一个一维数组来存储；边因是用来描述任意两个顶点间关系，故可以用一个二维数组即一个</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行</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列的矩阵</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来存储（</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为顶点的个数），其中</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表示顶点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之间的关系情况。</a:t>
            </a:r>
            <a:endParaRPr lang="en-US" altLang="zh-CN" sz="2800" b="0" dirty="0">
              <a:ea typeface="华文楷体" pitchFamily="2" charset="-122"/>
              <a:cs typeface="Times New Roman" panose="02020603050405020304" pitchFamily="18" charset="0"/>
            </a:endParaRPr>
          </a:p>
          <a:p>
            <a:pPr marL="258763" indent="-258763">
              <a:buFont typeface="Wingdings" panose="05000000000000000000" pitchFamily="2" charset="2"/>
              <a:buChar char="Ø"/>
            </a:pPr>
            <a:r>
              <a:rPr lang="zh-CN" altLang="zh-CN" sz="2800" b="0" dirty="0">
                <a:ea typeface="华文楷体" pitchFamily="2" charset="-122"/>
                <a:cs typeface="Times New Roman" panose="02020603050405020304" pitchFamily="18" charset="0"/>
              </a:rPr>
              <a:t>顶点由一个一维数组存储，边由一个二维数组存储，这种存储方式称</a:t>
            </a:r>
            <a:r>
              <a:rPr lang="zh-CN" altLang="zh-CN" sz="2800" dirty="0">
                <a:ea typeface="华文楷体" pitchFamily="2" charset="-122"/>
                <a:cs typeface="Times New Roman" panose="02020603050405020304" pitchFamily="18" charset="0"/>
              </a:rPr>
              <a:t>邻接矩阵表示法</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spTree>
    <p:extLst>
      <p:ext uri="{BB962C8B-B14F-4D97-AF65-F5344CB8AC3E}">
        <p14:creationId xmlns:p14="http://schemas.microsoft.com/office/powerpoint/2010/main" val="873058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320766" y="692011"/>
            <a:ext cx="6278816" cy="2766806"/>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5125691" y="3458817"/>
            <a:ext cx="6721752" cy="3001618"/>
          </a:xfrm>
          <a:prstGeom prst="rect">
            <a:avLst/>
          </a:prstGeom>
          <a:noFill/>
          <a:ln>
            <a:noFill/>
          </a:ln>
        </p:spPr>
      </p:pic>
    </p:spTree>
    <p:extLst>
      <p:ext uri="{BB962C8B-B14F-4D97-AF65-F5344CB8AC3E}">
        <p14:creationId xmlns:p14="http://schemas.microsoft.com/office/powerpoint/2010/main" val="1667168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8"/>
            <a:ext cx="11162883" cy="5159991"/>
          </a:xfrm>
        </p:spPr>
        <p:txBody>
          <a:bodyPr>
            <a:normAutofit/>
          </a:bodyPr>
          <a:lstStyle/>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在</a:t>
            </a:r>
            <a:r>
              <a:rPr lang="zh-CN" altLang="zh-CN" sz="2800" b="0" dirty="0">
                <a:ea typeface="华文楷体" pitchFamily="2" charset="-122"/>
                <a:cs typeface="Times New Roman" panose="02020603050405020304" pitchFamily="18" charset="0"/>
              </a:rPr>
              <a:t>有向图</a:t>
            </a:r>
            <a:r>
              <a:rPr lang="zh-CN" altLang="en-US" sz="2800" b="0" dirty="0">
                <a:ea typeface="华文楷体" pitchFamily="2" charset="-122"/>
                <a:cs typeface="Times New Roman" panose="02020603050405020304" pitchFamily="18" charset="0"/>
              </a:rPr>
              <a:t>中</a:t>
            </a:r>
            <a:r>
              <a:rPr lang="zh-CN" altLang="zh-CN" sz="2800" b="0" dirty="0">
                <a:ea typeface="华文楷体" pitchFamily="2" charset="-122"/>
                <a:cs typeface="Times New Roman" panose="02020603050405020304" pitchFamily="18" charset="0"/>
              </a:rPr>
              <a:t>，其邻接矩阵某一</a:t>
            </a:r>
            <a:r>
              <a:rPr lang="zh-CN" altLang="zh-CN" sz="2800" b="0" dirty="0">
                <a:solidFill>
                  <a:srgbClr val="FF0000"/>
                </a:solidFill>
                <a:ea typeface="华文楷体" pitchFamily="2" charset="-122"/>
                <a:cs typeface="Times New Roman" panose="02020603050405020304" pitchFamily="18" charset="0"/>
              </a:rPr>
              <a:t>行</a:t>
            </a:r>
            <a:r>
              <a:rPr lang="zh-CN" altLang="zh-CN" sz="2800" b="0" dirty="0">
                <a:ea typeface="华文楷体" pitchFamily="2" charset="-122"/>
                <a:cs typeface="Times New Roman" panose="02020603050405020304" pitchFamily="18" charset="0"/>
              </a:rPr>
              <a:t>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的个数，就是相应行顶点的</a:t>
            </a:r>
            <a:r>
              <a:rPr lang="zh-CN" altLang="zh-CN" sz="2800" b="0" dirty="0">
                <a:solidFill>
                  <a:srgbClr val="FF0000"/>
                </a:solidFill>
                <a:ea typeface="华文楷体" pitchFamily="2" charset="-122"/>
                <a:cs typeface="Times New Roman" panose="02020603050405020304" pitchFamily="18" charset="0"/>
              </a:rPr>
              <a:t>出</a:t>
            </a:r>
            <a:r>
              <a:rPr lang="zh-CN" altLang="zh-CN" sz="2800" b="0" dirty="0">
                <a:ea typeface="华文楷体" pitchFamily="2" charset="-122"/>
                <a:cs typeface="Times New Roman" panose="02020603050405020304" pitchFamily="18" charset="0"/>
              </a:rPr>
              <a:t>度；而某一</a:t>
            </a:r>
            <a:r>
              <a:rPr lang="zh-CN" altLang="zh-CN" sz="2800" b="0" dirty="0">
                <a:solidFill>
                  <a:srgbClr val="FF0000"/>
                </a:solidFill>
                <a:ea typeface="华文楷体" pitchFamily="2" charset="-122"/>
                <a:cs typeface="Times New Roman" panose="02020603050405020304" pitchFamily="18" charset="0"/>
              </a:rPr>
              <a:t>列</a:t>
            </a:r>
            <a:r>
              <a:rPr lang="zh-CN" altLang="zh-CN" sz="2800" b="0" dirty="0">
                <a:ea typeface="华文楷体" pitchFamily="2" charset="-122"/>
                <a:cs typeface="Times New Roman" panose="02020603050405020304" pitchFamily="18" charset="0"/>
              </a:rPr>
              <a:t>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的个数，就是相应列顶点的</a:t>
            </a:r>
            <a:r>
              <a:rPr lang="zh-CN" altLang="zh-CN" sz="2800" b="0" dirty="0">
                <a:solidFill>
                  <a:srgbClr val="FF0000"/>
                </a:solidFill>
                <a:ea typeface="华文楷体" pitchFamily="2" charset="-122"/>
                <a:cs typeface="Times New Roman" panose="02020603050405020304" pitchFamily="18" charset="0"/>
              </a:rPr>
              <a:t>入</a:t>
            </a:r>
            <a:r>
              <a:rPr lang="zh-CN" altLang="zh-CN" sz="2800" b="0" dirty="0">
                <a:ea typeface="华文楷体" pitchFamily="2" charset="-122"/>
                <a:cs typeface="Times New Roman" panose="02020603050405020304" pitchFamily="18" charset="0"/>
              </a:rPr>
              <a:t>度。</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在无向图中，某一行中所有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的个数或者某一列中所有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的个数，就是相应顶点的度。</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无向图</a:t>
            </a:r>
            <a:r>
              <a:rPr lang="zh-CN" altLang="en-US" sz="2800" b="0" dirty="0">
                <a:ea typeface="华文楷体" pitchFamily="2" charset="-122"/>
                <a:cs typeface="Times New Roman" panose="02020603050405020304" pitchFamily="18" charset="0"/>
              </a:rPr>
              <a:t>中，</a:t>
            </a:r>
            <a:r>
              <a:rPr lang="zh-CN" altLang="zh-CN" sz="2800" b="0" dirty="0">
                <a:ea typeface="华文楷体" pitchFamily="2" charset="-122"/>
                <a:cs typeface="Times New Roman" panose="02020603050405020304" pitchFamily="18" charset="0"/>
              </a:rPr>
              <a:t>同一条边在邻接矩阵中出现两次</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无向图的邻接矩阵是以主对角线为轴对称的，主对角线全为零，因此在存储无向图时可以只存储它的上三角矩阵或下三角矩阵。</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一般来说，</a:t>
            </a:r>
            <a:r>
              <a:rPr lang="zh-CN" altLang="zh-CN" sz="2800" b="0" dirty="0">
                <a:ea typeface="华文楷体" pitchFamily="2" charset="-122"/>
                <a:cs typeface="Times New Roman" panose="02020603050405020304" pitchFamily="18" charset="0"/>
              </a:rPr>
              <a:t>边的总数</a:t>
            </a:r>
            <a:r>
              <a:rPr lang="zh-CN" altLang="en-US" sz="2800" b="0" dirty="0">
                <a:ea typeface="华文楷体" pitchFamily="2" charset="-122"/>
                <a:cs typeface="Times New Roman" panose="02020603050405020304" pitchFamily="18" charset="0"/>
              </a:rPr>
              <a:t>即便</a:t>
            </a:r>
            <a:r>
              <a:rPr lang="zh-CN" altLang="zh-CN" sz="2800" b="0" dirty="0">
                <a:ea typeface="华文楷体" pitchFamily="2" charset="-122"/>
                <a:cs typeface="Times New Roman" panose="02020603050405020304" pitchFamily="18" charset="0"/>
              </a:rPr>
              <a:t>远远小于</a:t>
            </a:r>
            <a:r>
              <a:rPr lang="en-US" altLang="zh-CN" sz="2800" b="0" dirty="0">
                <a:ea typeface="华文楷体" pitchFamily="2" charset="-122"/>
                <a:cs typeface="Times New Roman" panose="02020603050405020304" pitchFamily="18" charset="0"/>
              </a:rPr>
              <a:t>n</a:t>
            </a:r>
            <a:r>
              <a:rPr lang="en-US" altLang="zh-CN" sz="2800" b="0" baseline="30000" dirty="0">
                <a:ea typeface="华文楷体" pitchFamily="2" charset="-122"/>
                <a:cs typeface="Times New Roman" panose="02020603050405020304" pitchFamily="18" charset="0"/>
              </a:rPr>
              <a:t>2</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，也需</a:t>
            </a:r>
            <a:r>
              <a:rPr lang="en-US" altLang="zh-CN" sz="2800" b="0" dirty="0">
                <a:ea typeface="华文楷体" pitchFamily="2" charset="-122"/>
                <a:cs typeface="Times New Roman" panose="02020603050405020304" pitchFamily="18" charset="0"/>
              </a:rPr>
              <a:t>n</a:t>
            </a:r>
            <a:r>
              <a:rPr lang="en-US" altLang="zh-CN" sz="2800" b="0" baseline="30000" dirty="0">
                <a:ea typeface="华文楷体" pitchFamily="2" charset="-122"/>
                <a:cs typeface="Times New Roman" panose="02020603050405020304" pitchFamily="18" charset="0"/>
              </a:rPr>
              <a:t>2</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个内存单元来存储边的信息，空间消耗大。</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spTree>
    <p:extLst>
      <p:ext uri="{BB962C8B-B14F-4D97-AF65-F5344CB8AC3E}">
        <p14:creationId xmlns:p14="http://schemas.microsoft.com/office/powerpoint/2010/main" val="939984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9"/>
            <a:ext cx="11162883" cy="1880078"/>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当图中边带有权值时，可以用</a:t>
            </a:r>
            <a:r>
              <a:rPr lang="zh-CN" altLang="zh-CN" sz="2800" dirty="0">
                <a:ea typeface="华文楷体" pitchFamily="2" charset="-122"/>
                <a:cs typeface="Times New Roman" panose="02020603050405020304" pitchFamily="18" charset="0"/>
              </a:rPr>
              <a:t>加权邻接矩阵</a:t>
            </a:r>
            <a:r>
              <a:rPr lang="zh-CN" altLang="zh-CN" sz="2800" b="0" dirty="0">
                <a:ea typeface="华文楷体" pitchFamily="2" charset="-122"/>
                <a:cs typeface="Times New Roman" panose="02020603050405020304" pitchFamily="18" charset="0"/>
              </a:rPr>
              <a:t>表示加权有向图或无向图。</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如果顶点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有一条有向边且它的权值为</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，可令</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][j]=w</a:t>
            </a:r>
            <a:r>
              <a:rPr lang="zh-CN" altLang="zh-CN" sz="2800" b="0" dirty="0">
                <a:ea typeface="华文楷体" pitchFamily="2" charset="-122"/>
                <a:cs typeface="Times New Roman" panose="02020603050405020304" pitchFamily="18" charset="0"/>
              </a:rPr>
              <a:t>；如果顶点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没有边相连，可令</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∞；主对角线上的元素依然有</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462443" y="3359427"/>
            <a:ext cx="7555396" cy="2969866"/>
          </a:xfrm>
          <a:prstGeom prst="rect">
            <a:avLst/>
          </a:prstGeom>
          <a:noFill/>
          <a:ln>
            <a:noFill/>
          </a:ln>
        </p:spPr>
      </p:pic>
    </p:spTree>
    <p:extLst>
      <p:ext uri="{BB962C8B-B14F-4D97-AF65-F5344CB8AC3E}">
        <p14:creationId xmlns:p14="http://schemas.microsoft.com/office/powerpoint/2010/main" val="2958388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604706"/>
            <a:ext cx="11447161" cy="605451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 20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edges;   //</a:t>
            </a:r>
            <a:r>
              <a:rPr lang="zh-CN" altLang="zh-CN" b="0" dirty="0">
                <a:ea typeface="华文楷体" panose="02010600040101010101" pitchFamily="2" charset="-122"/>
                <a:cs typeface="Times New Roman" panose="02020603050405020304" pitchFamily="18" charset="0"/>
              </a:rPr>
              <a:t>图的实际顶点数和实际边数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图顶点的最大可能数量</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verType</a:t>
            </a:r>
            <a:r>
              <a:rPr lang="en-US" altLang="zh-CN"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verList</a:t>
            </a: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保存顶点数据的一维数组</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edgeType</a:t>
            </a:r>
            <a:r>
              <a:rPr lang="en-US" altLang="zh-CN"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edgeMatrix</a:t>
            </a: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保存邻接矩阵内容的二维数组</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无边的标志</a:t>
            </a:r>
          </a:p>
          <a:p>
            <a:pPr marL="0" indent="0">
              <a:buNone/>
            </a:pPr>
            <a:r>
              <a:rPr lang="en-US" altLang="zh-CN" b="0" dirty="0">
                <a:ea typeface="华文楷体" panose="02010600040101010101" pitchFamily="2" charset="-122"/>
                <a:cs typeface="Times New Roman" panose="02020603050405020304" pitchFamily="18" charset="0"/>
              </a:rPr>
              <a:t>        bool directed;          //</a:t>
            </a:r>
            <a:r>
              <a:rPr lang="zh-CN" altLang="zh-CN" b="0" dirty="0">
                <a:ea typeface="华文楷体" panose="02010600040101010101" pitchFamily="2" charset="-122"/>
                <a:cs typeface="Times New Roman" panose="02020603050405020304" pitchFamily="18" charset="0"/>
              </a:rPr>
              <a:t>有向图为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，无向图为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01609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4"/>
            <a:ext cx="11447161" cy="5723414"/>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        Graph(bool direct,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 </a:t>
            </a:r>
            <a:r>
              <a:rPr lang="zh-CN" altLang="zh-CN" b="0" dirty="0">
                <a:ea typeface="华文楷体" panose="02010600040101010101" pitchFamily="2" charset="-122"/>
                <a:cs typeface="Times New Roman" panose="02020603050405020304" pitchFamily="18" charset="0"/>
              </a:rPr>
              <a:t>返回图当前顶点数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edges; }; // </a:t>
            </a:r>
            <a:r>
              <a:rPr lang="zh-CN" altLang="zh-CN" b="0" dirty="0">
                <a:ea typeface="华文楷体" panose="02010600040101010101" pitchFamily="2" charset="-122"/>
                <a:cs typeface="Times New Roman" panose="02020603050405020304" pitchFamily="18" charset="0"/>
              </a:rPr>
              <a:t>返回图当前边数</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返回顶点为</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值的元素在顶点表中的下标</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判断某两个顶点间是否有边</a:t>
            </a: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zh-CN" altLang="zh-CN" b="0" dirty="0">
                <a:ea typeface="华文楷体" panose="02010600040101010101" pitchFamily="2" charset="-122"/>
                <a:cs typeface="Times New Roman" panose="02020603050405020304" pitchFamily="18" charset="0"/>
              </a:rPr>
              <a:t>插入顶点</a:t>
            </a:r>
          </a:p>
        </p:txBody>
      </p:sp>
    </p:spTree>
    <p:extLst>
      <p:ext uri="{BB962C8B-B14F-4D97-AF65-F5344CB8AC3E}">
        <p14:creationId xmlns:p14="http://schemas.microsoft.com/office/powerpoint/2010/main" val="367124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3"/>
            <a:ext cx="11447161" cy="577621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zh-CN" altLang="zh-CN" b="0" dirty="0">
                <a:ea typeface="华文楷体" panose="02010600040101010101" pitchFamily="2" charset="-122"/>
                <a:cs typeface="Times New Roman" panose="02020603050405020304" pitchFamily="18" charset="0"/>
              </a:rPr>
              <a:t>删除边</a:t>
            </a: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的第一个邻接点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如果无邻接点返回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getFirstNeighbor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相对</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的下一个邻接点，如果无下一个邻接点返回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getNextNeighbor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disp</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显示邻接矩阵的值</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50829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3"/>
            <a:ext cx="11447161" cy="577621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&gt;::Graph(bool direct,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初始化属性</a:t>
            </a:r>
          </a:p>
          <a:p>
            <a:pPr marL="0" indent="0">
              <a:buNone/>
            </a:pPr>
            <a:r>
              <a:rPr lang="en-US" altLang="zh-CN" b="0" dirty="0">
                <a:ea typeface="华文楷体" panose="02010600040101010101" pitchFamily="2" charset="-122"/>
                <a:cs typeface="Times New Roman" panose="02020603050405020304" pitchFamily="18" charset="0"/>
              </a:rPr>
              <a:t>    directed = direct;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 e;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0;   edges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为存顶点的一维数组和存边的二维数组创建空间</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607236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803489"/>
            <a:ext cx="11447161" cy="575633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初始化二维数组，边的个数为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==j)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][j] = 0;//</a:t>
            </a:r>
            <a:r>
              <a:rPr lang="zh-CN" altLang="zh-CN" b="0" dirty="0">
                <a:ea typeface="华文楷体" panose="02010600040101010101" pitchFamily="2" charset="-122"/>
                <a:cs typeface="Times New Roman" panose="02020603050405020304" pitchFamily="18" charset="0"/>
              </a:rPr>
              <a:t>对角线元素</a:t>
            </a:r>
          </a:p>
          <a:p>
            <a:pPr marL="0" indent="0">
              <a:buNone/>
            </a:pPr>
            <a:r>
              <a:rPr lang="en-US" altLang="zh-CN" b="0" dirty="0">
                <a:ea typeface="华文楷体" panose="02010600040101010101" pitchFamily="2" charset="-122"/>
                <a:cs typeface="Times New Roman" panose="02020603050405020304" pitchFamily="18" charset="0"/>
              </a:rPr>
              <a:t>                else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][j] =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无边</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82295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883003"/>
            <a:ext cx="11447161" cy="525938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556453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883003"/>
            <a:ext cx="11447161" cy="525938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返回顶点为</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值的元素在顶点表中的下标</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]==vertex)</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688200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6" y="883003"/>
            <a:ext cx="5781858"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判断某两个顶点是否有边</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bool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p>
          <a:p>
            <a:pPr marL="0" indent="0">
              <a:buNone/>
            </a:pP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p>
          <a:p>
            <a:pPr marL="0" indent="0">
              <a:buNone/>
            </a:pP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]==vertex1)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424407" y="1580956"/>
            <a:ext cx="5910468" cy="4773936"/>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[j]==vertex2)</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==verts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j==verts)   return false;</a:t>
            </a: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==j) return false;</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false;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true;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102628" y="1408382"/>
            <a:ext cx="0" cy="538701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508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6" y="883003"/>
            <a:ext cx="5781858"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找到该顶点在顶点表中的下标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]==vertex)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035953" y="1564556"/>
            <a:ext cx="6156047" cy="3416320"/>
          </a:xfrm>
          <a:prstGeom prst="rect">
            <a:avLst/>
          </a:prstGeom>
          <a:noFill/>
        </p:spPr>
        <p:txBody>
          <a:bodyPr wrap="square" rtlCol="0">
            <a:spAutoFit/>
          </a:bodyPr>
          <a:lstStyle/>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在顶点表中删除顶点</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j&lt;verts-1;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计数删除顶点射出的边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边数减少</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&amp;&amp;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edges--;</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5731153" y="1470990"/>
            <a:ext cx="0" cy="538701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5481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02109" y="803490"/>
            <a:ext cx="7451633"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如果是有向图，计数删除顶点射入的边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边数减少</a:t>
            </a:r>
          </a:p>
          <a:p>
            <a:pPr marL="0" indent="0">
              <a:buNone/>
            </a:pPr>
            <a:r>
              <a:rPr lang="en-US" altLang="zh-CN" b="0" dirty="0">
                <a:ea typeface="华文楷体" panose="02010600040101010101" pitchFamily="2" charset="-122"/>
                <a:cs typeface="Times New Roman" panose="02020603050405020304" pitchFamily="18" charset="0"/>
              </a:rPr>
              <a:t>    if (directed)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for (k=0; k&lt;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dirty="0">
                <a:ea typeface="华文楷体" panose="02010600040101010101" pitchFamily="2" charset="-122"/>
                <a:cs typeface="Times New Roman" panose="02020603050405020304" pitchFamily="18" charset="0"/>
              </a:rPr>
              <a:t>( (k!=</a:t>
            </a:r>
            <a:r>
              <a:rPr lang="en-US" altLang="zh-CN" dirty="0" err="1">
                <a:ea typeface="华文楷体" panose="02010600040101010101" pitchFamily="2" charset="-122"/>
                <a:cs typeface="Times New Roman" panose="02020603050405020304" pitchFamily="18" charset="0"/>
              </a:rPr>
              <a:t>i</a:t>
            </a:r>
            <a:r>
              <a:rPr lang="en-US" altLang="zh-CN" dirty="0">
                <a:ea typeface="华文楷体" panose="02010600040101010101" pitchFamily="2" charset="-122"/>
                <a:cs typeface="Times New Roman" panose="02020603050405020304" pitchFamily="18" charset="0"/>
              </a:rPr>
              <a:t>) &amp;&amp;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[k][</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edges--;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第</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行之后所有行上移</a:t>
            </a:r>
          </a:p>
          <a:p>
            <a:pPr marL="0" indent="0">
              <a:buNone/>
            </a:pPr>
            <a:r>
              <a:rPr lang="en-US" altLang="zh-CN" b="0" dirty="0">
                <a:ea typeface="华文楷体" panose="02010600040101010101" pitchFamily="2" charset="-122"/>
                <a:cs typeface="Times New Roman" panose="02020603050405020304" pitchFamily="18" charset="0"/>
              </a:rPr>
              <a:t>    for (j=</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j&lt;verts-1;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for (k=0; k&lt;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[j][k] =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[j+1][k];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554856" y="1498942"/>
            <a:ext cx="5943601" cy="3416320"/>
          </a:xfrm>
          <a:prstGeom prst="rect">
            <a:avLst/>
          </a:prstGeom>
          <a:noFill/>
        </p:spPr>
        <p:txBody>
          <a:bodyPr wrap="square" rtlCol="0">
            <a:spAutoFit/>
          </a:bodyPr>
          <a:lstStyle/>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列之后所有列前移</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j&lt;verts-1;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(k=0; k&lt;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[k][j+1];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554856" y="1470990"/>
            <a:ext cx="0" cy="5387010"/>
          </a:xfrm>
          <a:prstGeom prst="line">
            <a:avLst/>
          </a:prstGeom>
        </p:spPr>
        <p:style>
          <a:lnRef idx="1">
            <a:schemeClr val="accent1"/>
          </a:lnRef>
          <a:fillRef idx="0">
            <a:schemeClr val="accent1"/>
          </a:fillRef>
          <a:effectRef idx="0">
            <a:schemeClr val="accent1"/>
          </a:effectRef>
          <a:fontRef idx="minor">
            <a:schemeClr val="tx1"/>
          </a:fontRef>
        </p:style>
      </p:cxnSp>
      <p:sp>
        <p:nvSpPr>
          <p:cNvPr id="3" name="椭圆 2"/>
          <p:cNvSpPr/>
          <p:nvPr/>
        </p:nvSpPr>
        <p:spPr>
          <a:xfrm>
            <a:off x="11772900" y="6440558"/>
            <a:ext cx="171450" cy="23170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02001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邻接矩阵及实现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邻接表及实现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多重邻接表*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十字链表*</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3357677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38375"/>
            <a:ext cx="11162883" cy="2774599"/>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对于无向图，邻接于同一个顶点的所有边形成一条单链表；对于有向图，自同一个顶点出发的所有边形成一条单链表。顶点信息可以用一个一维数组来存储，这个数组称为</a:t>
            </a:r>
            <a:r>
              <a:rPr lang="zh-CN" altLang="zh-CN" sz="2800" dirty="0">
                <a:latin typeface="华文楷体" pitchFamily="2" charset="-122"/>
                <a:ea typeface="华文楷体" pitchFamily="2" charset="-122"/>
              </a:rPr>
              <a:t>顶点表</a:t>
            </a:r>
            <a:r>
              <a:rPr lang="zh-CN" altLang="zh-CN" sz="2800" b="0" dirty="0">
                <a:latin typeface="华文楷体" pitchFamily="2" charset="-122"/>
                <a:ea typeface="华文楷体" pitchFamily="2" charset="-122"/>
              </a:rPr>
              <a:t>，保存边信息的单链表称为</a:t>
            </a:r>
            <a:r>
              <a:rPr lang="zh-CN" altLang="zh-CN" sz="2800" dirty="0">
                <a:latin typeface="华文楷体" pitchFamily="2" charset="-122"/>
                <a:ea typeface="华文楷体" pitchFamily="2" charset="-122"/>
              </a:rPr>
              <a:t>边表</a:t>
            </a:r>
            <a:r>
              <a:rPr lang="zh-CN" altLang="zh-CN" sz="2800" b="0" dirty="0">
                <a:latin typeface="华文楷体" pitchFamily="2" charset="-122"/>
                <a:ea typeface="华文楷体" pitchFamily="2" charset="-122"/>
              </a:rPr>
              <a:t>。一个图可以由顶点表和边表共同表示，这种方法称为</a:t>
            </a:r>
            <a:r>
              <a:rPr lang="zh-CN" altLang="zh-CN" sz="2800" dirty="0">
                <a:latin typeface="华文楷体" pitchFamily="2" charset="-122"/>
                <a:ea typeface="华文楷体" pitchFamily="2" charset="-122"/>
              </a:rPr>
              <a:t>邻接表表示法</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p>
        </p:txBody>
      </p:sp>
    </p:spTree>
    <p:extLst>
      <p:ext uri="{BB962C8B-B14F-4D97-AF65-F5344CB8AC3E}">
        <p14:creationId xmlns:p14="http://schemas.microsoft.com/office/powerpoint/2010/main" val="436326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032552" y="1956974"/>
            <a:ext cx="8363779" cy="3430036"/>
          </a:xfrm>
          <a:prstGeom prst="rect">
            <a:avLst/>
          </a:prstGeom>
          <a:noFill/>
          <a:ln>
            <a:noFill/>
          </a:ln>
        </p:spPr>
      </p:pic>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p>
        </p:txBody>
      </p:sp>
      <p:sp>
        <p:nvSpPr>
          <p:cNvPr id="2" name="文本框 1"/>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itchFamily="2" charset="-122"/>
                <a:ea typeface="华文楷体" pitchFamily="2" charset="-122"/>
              </a:rPr>
              <a:t>方便计算出度，不方便计算入度</a:t>
            </a:r>
          </a:p>
        </p:txBody>
      </p:sp>
    </p:spTree>
    <p:extLst>
      <p:ext uri="{BB962C8B-B14F-4D97-AF65-F5344CB8AC3E}">
        <p14:creationId xmlns:p14="http://schemas.microsoft.com/office/powerpoint/2010/main" val="1737095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377811" y="1870998"/>
            <a:ext cx="8004728" cy="3078689"/>
          </a:xfrm>
          <a:prstGeom prst="rect">
            <a:avLst/>
          </a:prstGeom>
          <a:noFill/>
          <a:ln>
            <a:noFill/>
          </a:ln>
        </p:spPr>
      </p:pic>
      <p:sp>
        <p:nvSpPr>
          <p:cNvPr id="7" name="文本框 6"/>
          <p:cNvSpPr txBox="1"/>
          <p:nvPr/>
        </p:nvSpPr>
        <p:spPr>
          <a:xfrm>
            <a:off x="596347" y="5754045"/>
            <a:ext cx="10038522"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itchFamily="2" charset="-122"/>
                <a:cs typeface="Times New Roman" panose="02020603050405020304" pitchFamily="18" charset="0"/>
              </a:rPr>
              <a:t>无向图，每条边存储了</a:t>
            </a:r>
            <a:r>
              <a:rPr lang="en-US" altLang="zh-CN" sz="2800" dirty="0">
                <a:latin typeface="Times New Roman" panose="02020603050405020304" pitchFamily="18" charset="0"/>
                <a:ea typeface="华文楷体" pitchFamily="2" charset="-122"/>
                <a:cs typeface="Times New Roman" panose="02020603050405020304" pitchFamily="18" charset="0"/>
              </a:rPr>
              <a:t>2</a:t>
            </a:r>
            <a:r>
              <a:rPr lang="zh-CN" altLang="en-US" sz="2800" dirty="0">
                <a:latin typeface="Times New Roman" panose="02020603050405020304" pitchFamily="18" charset="0"/>
                <a:ea typeface="华文楷体" pitchFamily="2" charset="-122"/>
                <a:cs typeface="Times New Roman" panose="02020603050405020304" pitchFamily="18" charset="0"/>
              </a:rPr>
              <a:t>次，</a:t>
            </a:r>
            <a:r>
              <a:rPr lang="en-US" altLang="zh-CN" sz="2800" dirty="0">
                <a:latin typeface="Times New Roman" panose="02020603050405020304" pitchFamily="18" charset="0"/>
                <a:ea typeface="华文楷体" pitchFamily="2" charset="-122"/>
                <a:cs typeface="Times New Roman" panose="02020603050405020304" pitchFamily="18" charset="0"/>
              </a:rPr>
              <a:t>4</a:t>
            </a:r>
            <a:r>
              <a:rPr lang="zh-CN" altLang="en-US" sz="2800" dirty="0">
                <a:latin typeface="Times New Roman" panose="02020603050405020304" pitchFamily="18" charset="0"/>
                <a:ea typeface="华文楷体" pitchFamily="2" charset="-122"/>
                <a:cs typeface="Times New Roman" panose="02020603050405020304" pitchFamily="18" charset="0"/>
              </a:rPr>
              <a:t>条边有</a:t>
            </a:r>
            <a:r>
              <a:rPr lang="en-US" altLang="zh-CN" sz="2800" dirty="0">
                <a:latin typeface="Times New Roman" panose="02020603050405020304" pitchFamily="18" charset="0"/>
                <a:ea typeface="华文楷体" pitchFamily="2" charset="-122"/>
                <a:cs typeface="Times New Roman" panose="02020603050405020304" pitchFamily="18" charset="0"/>
              </a:rPr>
              <a:t>8</a:t>
            </a:r>
            <a:r>
              <a:rPr lang="zh-CN" altLang="en-US" sz="2800" dirty="0">
                <a:latin typeface="Times New Roman" panose="02020603050405020304" pitchFamily="18" charset="0"/>
                <a:ea typeface="华文楷体" pitchFamily="2" charset="-122"/>
                <a:cs typeface="Times New Roman" panose="02020603050405020304" pitchFamily="18" charset="0"/>
              </a:rPr>
              <a:t>个边结点。</a:t>
            </a:r>
          </a:p>
        </p:txBody>
      </p:sp>
    </p:spTree>
    <p:extLst>
      <p:ext uri="{BB962C8B-B14F-4D97-AF65-F5344CB8AC3E}">
        <p14:creationId xmlns:p14="http://schemas.microsoft.com/office/powerpoint/2010/main" val="182731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另外一种邻接表：顶点表不用数组，用单链表</a:t>
            </a:r>
          </a:p>
        </p:txBody>
      </p:sp>
      <p:sp>
        <p:nvSpPr>
          <p:cNvPr id="7" name="文本框 6"/>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itchFamily="2" charset="-122"/>
                <a:ea typeface="华文楷体" pitchFamily="2" charset="-122"/>
              </a:rPr>
              <a:t>不需要预估顶点个数，方便插入顶点。</a:t>
            </a:r>
          </a:p>
        </p:txBody>
      </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1769164" y="1842119"/>
            <a:ext cx="7891670" cy="3644281"/>
          </a:xfrm>
          <a:prstGeom prst="rect">
            <a:avLst/>
          </a:prstGeom>
          <a:noFill/>
          <a:ln>
            <a:noFill/>
          </a:ln>
        </p:spPr>
      </p:pic>
    </p:spTree>
    <p:extLst>
      <p:ext uri="{BB962C8B-B14F-4D97-AF65-F5344CB8AC3E}">
        <p14:creationId xmlns:p14="http://schemas.microsoft.com/office/powerpoint/2010/main" val="3500954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38375"/>
            <a:ext cx="11162883" cy="2774599"/>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对于有向图，</a:t>
            </a:r>
            <a:r>
              <a:rPr lang="zh-CN" altLang="en-US" sz="2800" b="0" dirty="0">
                <a:latin typeface="华文楷体" pitchFamily="2" charset="-122"/>
                <a:ea typeface="华文楷体" pitchFamily="2" charset="-122"/>
              </a:rPr>
              <a:t>射向</a:t>
            </a:r>
            <a:r>
              <a:rPr lang="zh-CN" altLang="zh-CN" sz="2800" b="0" dirty="0">
                <a:latin typeface="华文楷体" pitchFamily="2" charset="-122"/>
                <a:ea typeface="华文楷体" pitchFamily="2" charset="-122"/>
              </a:rPr>
              <a:t>同一个顶点的所有边形成一条单链表。顶点信息可以用一个一维数组来存储，这个数组称为</a:t>
            </a:r>
            <a:r>
              <a:rPr lang="zh-CN" altLang="zh-CN" sz="2800" dirty="0">
                <a:latin typeface="华文楷体" pitchFamily="2" charset="-122"/>
                <a:ea typeface="华文楷体" pitchFamily="2" charset="-122"/>
              </a:rPr>
              <a:t>顶点表</a:t>
            </a:r>
            <a:r>
              <a:rPr lang="zh-CN" altLang="zh-CN" sz="2800" b="0" dirty="0">
                <a:latin typeface="华文楷体" pitchFamily="2" charset="-122"/>
                <a:ea typeface="华文楷体" pitchFamily="2" charset="-122"/>
              </a:rPr>
              <a:t>，保存边信息的单链表称为</a:t>
            </a:r>
            <a:r>
              <a:rPr lang="zh-CN" altLang="zh-CN" sz="2800" dirty="0">
                <a:latin typeface="华文楷体" pitchFamily="2" charset="-122"/>
                <a:ea typeface="华文楷体" pitchFamily="2" charset="-122"/>
              </a:rPr>
              <a:t>边表</a:t>
            </a:r>
            <a:r>
              <a:rPr lang="zh-CN" altLang="zh-CN" sz="2800" b="0" dirty="0">
                <a:latin typeface="华文楷体" pitchFamily="2" charset="-122"/>
                <a:ea typeface="华文楷体" pitchFamily="2" charset="-122"/>
              </a:rPr>
              <a:t>。一个图可以由顶点表和边表共同表示，这种方法称为</a:t>
            </a:r>
            <a:r>
              <a:rPr lang="zh-CN" altLang="en-US" sz="2800" dirty="0">
                <a:latin typeface="华文楷体" pitchFamily="2" charset="-122"/>
                <a:ea typeface="华文楷体" pitchFamily="2" charset="-122"/>
              </a:rPr>
              <a:t>逆</a:t>
            </a:r>
            <a:r>
              <a:rPr lang="zh-CN" altLang="zh-CN" sz="2800" dirty="0">
                <a:latin typeface="华文楷体" pitchFamily="2" charset="-122"/>
                <a:ea typeface="华文楷体" pitchFamily="2" charset="-122"/>
              </a:rPr>
              <a:t>邻接表表示法</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逆邻接表：</a:t>
            </a:r>
          </a:p>
        </p:txBody>
      </p:sp>
    </p:spTree>
    <p:extLst>
      <p:ext uri="{BB962C8B-B14F-4D97-AF65-F5344CB8AC3E}">
        <p14:creationId xmlns:p14="http://schemas.microsoft.com/office/powerpoint/2010/main" val="2528069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逆邻接表：</a:t>
            </a:r>
          </a:p>
        </p:txBody>
      </p:sp>
      <p:sp>
        <p:nvSpPr>
          <p:cNvPr id="2" name="文本框 1"/>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itchFamily="2" charset="-122"/>
                <a:ea typeface="华文楷体" pitchFamily="2" charset="-122"/>
              </a:rPr>
              <a:t>方便计算入度，不方便计算出度</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849713" y="2001491"/>
            <a:ext cx="8228565" cy="3127099"/>
          </a:xfrm>
          <a:prstGeom prst="rect">
            <a:avLst/>
          </a:prstGeom>
          <a:noFill/>
          <a:ln>
            <a:noFill/>
          </a:ln>
        </p:spPr>
      </p:pic>
    </p:spTree>
    <p:extLst>
      <p:ext uri="{BB962C8B-B14F-4D97-AF65-F5344CB8AC3E}">
        <p14:creationId xmlns:p14="http://schemas.microsoft.com/office/powerpoint/2010/main" val="3975787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61133" y="1527465"/>
            <a:ext cx="5225267" cy="470279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 20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struct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weight;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 *link;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p>
        </p:txBody>
      </p:sp>
      <p:sp>
        <p:nvSpPr>
          <p:cNvPr id="4" name="Rectangle 3"/>
          <p:cNvSpPr txBox="1">
            <a:spLocks noChangeArrowheads="1"/>
          </p:cNvSpPr>
          <p:nvPr/>
        </p:nvSpPr>
        <p:spPr>
          <a:xfrm>
            <a:off x="6277619" y="1527465"/>
            <a:ext cx="5722223" cy="306441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err="1">
                <a:cs typeface="Times New Roman" panose="02020603050405020304" pitchFamily="18" charset="0"/>
              </a:rPr>
              <a:t>struct</a:t>
            </a:r>
            <a:r>
              <a:rPr lang="en-US" altLang="zh-CN" b="0" dirty="0">
                <a:cs typeface="Times New Roman" panose="02020603050405020304" pitchFamily="18" charset="0"/>
              </a:rPr>
              <a:t> </a:t>
            </a:r>
            <a:r>
              <a:rPr lang="en-US" altLang="zh-CN" b="0" dirty="0" err="1">
                <a:cs typeface="Times New Roman" panose="02020603050405020304" pitchFamily="18" charset="0"/>
              </a:rPr>
              <a:t>verNode</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verType</a:t>
            </a:r>
            <a:r>
              <a:rPr lang="en-US" altLang="zh-CN" b="0" dirty="0">
                <a:cs typeface="Times New Roman" panose="02020603050405020304" pitchFamily="18" charset="0"/>
              </a:rPr>
              <a:t> data;</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edgeNode</a:t>
            </a:r>
            <a:r>
              <a:rPr lang="en-US" altLang="zh-CN" b="0" dirty="0">
                <a:cs typeface="Times New Roman" panose="02020603050405020304" pitchFamily="18" charset="0"/>
              </a:rPr>
              <a:t>&lt;</a:t>
            </a:r>
            <a:r>
              <a:rPr lang="en-US" altLang="zh-CN" b="0" dirty="0" err="1">
                <a:cs typeface="Times New Roman" panose="02020603050405020304" pitchFamily="18" charset="0"/>
              </a:rPr>
              <a:t>edgeType</a:t>
            </a:r>
            <a:r>
              <a:rPr lang="en-US" altLang="zh-CN" b="0" dirty="0">
                <a:cs typeface="Times New Roman" panose="02020603050405020304" pitchFamily="18" charset="0"/>
              </a:rPr>
              <a:t>&gt; *</a:t>
            </a:r>
            <a:r>
              <a:rPr lang="en-US" altLang="zh-CN" b="0" dirty="0" err="1">
                <a:cs typeface="Times New Roman" panose="02020603050405020304" pitchFamily="18" charset="0"/>
              </a:rPr>
              <a:t>adj</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p:txBody>
      </p:sp>
      <p:cxnSp>
        <p:nvCxnSpPr>
          <p:cNvPr id="5" name="直接连接符 4"/>
          <p:cNvCxnSpPr/>
          <p:nvPr/>
        </p:nvCxnSpPr>
        <p:spPr>
          <a:xfrm flipH="1">
            <a:off x="5724939" y="1351722"/>
            <a:ext cx="19878" cy="550627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6175928" y="4357274"/>
            <a:ext cx="5068336" cy="2143539"/>
          </a:xfrm>
          <a:prstGeom prst="rect">
            <a:avLst/>
          </a:prstGeom>
          <a:noFill/>
          <a:ln>
            <a:noFill/>
          </a:ln>
        </p:spPr>
      </p:pic>
    </p:spTree>
    <p:extLst>
      <p:ext uri="{BB962C8B-B14F-4D97-AF65-F5344CB8AC3E}">
        <p14:creationId xmlns:p14="http://schemas.microsoft.com/office/powerpoint/2010/main" val="2390848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4"/>
            <a:ext cx="11447161" cy="535877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directed;      //</a:t>
            </a:r>
            <a:r>
              <a:rPr lang="zh-CN" altLang="zh-CN" b="0" dirty="0">
                <a:ea typeface="华文楷体" panose="02010600040101010101" pitchFamily="2" charset="-122"/>
                <a:cs typeface="Times New Roman" panose="02020603050405020304" pitchFamily="18" charset="0"/>
              </a:rPr>
              <a:t>有向图为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，无向图为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edges;     //</a:t>
            </a:r>
            <a:r>
              <a:rPr lang="zh-CN" altLang="zh-CN" b="0" dirty="0">
                <a:ea typeface="华文楷体" panose="02010600040101010101" pitchFamily="2" charset="-122"/>
                <a:cs typeface="Times New Roman" panose="02020603050405020304" pitchFamily="18" charset="0"/>
              </a:rPr>
              <a:t>图的实际顶点数和实际边数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图顶点的最大可能数量</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保存顶点数据的一维数组</a:t>
            </a:r>
          </a:p>
          <a:p>
            <a:pPr marL="0" indent="0">
              <a:buNone/>
            </a:pPr>
            <a:r>
              <a:rPr lang="en-US" altLang="zh-CN" b="0" dirty="0">
                <a:ea typeface="华文楷体" panose="02010600040101010101" pitchFamily="2" charset="-122"/>
                <a:cs typeface="Times New Roman" panose="02020603050405020304" pitchFamily="18" charset="0"/>
              </a:rPr>
              <a:t>    public:</a:t>
            </a:r>
            <a:endParaRPr lang="zh-CN" altLang="zh-CN" b="0" dirty="0">
              <a:ea typeface="华文楷体" panose="02010600040101010101" pitchFamily="2" charset="-122"/>
              <a:cs typeface="Times New Roman" panose="02020603050405020304" pitchFamily="18" charset="0"/>
            </a:endParaRP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bwMode="auto">
          <a:xfrm>
            <a:off x="6163618" y="863124"/>
            <a:ext cx="5068336" cy="2143539"/>
          </a:xfrm>
          <a:prstGeom prst="rect">
            <a:avLst/>
          </a:prstGeom>
          <a:noFill/>
          <a:ln>
            <a:noFill/>
          </a:ln>
        </p:spPr>
      </p:pic>
    </p:spTree>
    <p:extLst>
      <p:ext uri="{BB962C8B-B14F-4D97-AF65-F5344CB8AC3E}">
        <p14:creationId xmlns:p14="http://schemas.microsoft.com/office/powerpoint/2010/main" val="3674805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0" y="823368"/>
            <a:ext cx="11751962" cy="7649120"/>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        Graph(bool direct);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 </a:t>
            </a:r>
            <a:r>
              <a:rPr lang="zh-CN" altLang="zh-CN" b="0" dirty="0">
                <a:ea typeface="华文楷体" panose="02010600040101010101" pitchFamily="2" charset="-122"/>
                <a:cs typeface="Times New Roman" panose="02020603050405020304" pitchFamily="18" charset="0"/>
              </a:rPr>
              <a:t>返回图当前顶点数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edges; }; // </a:t>
            </a:r>
            <a:r>
              <a:rPr lang="zh-CN" altLang="zh-CN" b="0" dirty="0">
                <a:ea typeface="华文楷体" panose="02010600040101010101" pitchFamily="2" charset="-122"/>
                <a:cs typeface="Times New Roman" panose="02020603050405020304" pitchFamily="18" charset="0"/>
              </a:rPr>
              <a:t>返回图当前边数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返回顶点为</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值的元素在顶点表中的下标</a:t>
            </a: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判断某两个顶点间是否有边</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getFirstNeighbor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的相对</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的下一个邻接点，如无下一个邻接点返回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998330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8417" y="1499228"/>
            <a:ext cx="11751962" cy="500096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getNextNeighbor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disp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显示邻接矩阵的值</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zh-CN" altLang="zh-CN" b="0" dirty="0">
                <a:ea typeface="华文楷体" panose="02010600040101010101" pitchFamily="2" charset="-122"/>
                <a:cs typeface="Times New Roman" panose="02020603050405020304" pitchFamily="18" charset="0"/>
              </a:rPr>
              <a:t>插入顶点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zh-CN" altLang="zh-CN" b="0" dirty="0">
                <a:ea typeface="华文楷体" panose="02010600040101010101" pitchFamily="2" charset="-122"/>
                <a:cs typeface="Times New Roman" panose="02020603050405020304" pitchFamily="18" charset="0"/>
              </a:rPr>
              <a:t>删除边</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的第一个邻接点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如果无邻接点返回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576077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78295" y="823367"/>
            <a:ext cx="11751962" cy="571658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&gt;::Graph(bool direct)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初始化属性</a:t>
            </a:r>
          </a:p>
          <a:p>
            <a:pPr marL="0" indent="0">
              <a:buNone/>
            </a:pPr>
            <a:r>
              <a:rPr lang="en-US" altLang="zh-CN" b="0" dirty="0">
                <a:ea typeface="华文楷体" panose="02010600040101010101" pitchFamily="2" charset="-122"/>
                <a:cs typeface="Times New Roman" panose="02020603050405020304" pitchFamily="18" charset="0"/>
              </a:rPr>
              <a:t>    directed = direct;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0;    edges = 0;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为存顶点的一维数组创建空间</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709586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1479350"/>
            <a:ext cx="11751962" cy="500096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释放所有边表中的结点</a:t>
            </a:r>
          </a:p>
          <a:p>
            <a:pPr marL="0" indent="0">
              <a:buNone/>
            </a:pPr>
            <a:r>
              <a:rPr lang="en-US" altLang="zh-CN" b="0" dirty="0">
                <a:ea typeface="华文楷体" panose="02010600040101010101" pitchFamily="2" charset="-122"/>
                <a:cs typeface="Times New Roman" panose="02020603050405020304" pitchFamily="18" charset="0"/>
              </a:rPr>
              <a:t>    {   while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    delete p;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2468066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743855"/>
            <a:ext cx="11990501" cy="57563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].data==vertex1)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[j].data==vertex2)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无此顶点</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8846709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803490"/>
            <a:ext cx="11990501" cy="57563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在</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下标引导的单链表中插入一个边结点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j;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-&gt;weight = edge;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-&gt;link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edges++;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(!directed) //</a:t>
            </a:r>
            <a:r>
              <a:rPr lang="zh-CN" altLang="zh-CN" b="0" dirty="0">
                <a:ea typeface="华文楷体" panose="02010600040101010101" pitchFamily="2" charset="-122"/>
                <a:cs typeface="Times New Roman" panose="02020603050405020304" pitchFamily="18" charset="0"/>
              </a:rPr>
              <a:t>如果是无向图，矩阵中关于主对角线的对称点也要设置</a:t>
            </a: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-&gt;weight = edge;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-&gt;link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065893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624586"/>
            <a:ext cx="11990501" cy="57563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count=0;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 *q;</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找到该顶点在顶点表中的下标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].data==vertex)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 //</a:t>
            </a:r>
            <a:r>
              <a:rPr lang="zh-CN" altLang="zh-CN" b="0" dirty="0">
                <a:ea typeface="华文楷体" panose="02010600040101010101" pitchFamily="2" charset="-122"/>
                <a:cs typeface="Times New Roman" panose="02020603050405020304" pitchFamily="18" charset="0"/>
              </a:rPr>
              <a:t>该顶点不在顶点表中</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删除下标为</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的顶点引导的单链表中所有结点并计数删除的边</a:t>
            </a:r>
          </a:p>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count++;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   delete p;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1394165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783612"/>
            <a:ext cx="11990501" cy="5756336"/>
          </a:xfrm>
        </p:spPr>
        <p:txBody>
          <a:bodyPr>
            <a:no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检查所有单链表，凡是</a:t>
            </a:r>
            <a:r>
              <a:rPr lang="en-US" altLang="zh-CN" b="0" dirty="0" err="1">
                <a:ea typeface="华文楷体" panose="02010600040101010101" pitchFamily="2" charset="-122"/>
                <a:cs typeface="Times New Roman" panose="02020603050405020304" pitchFamily="18" charset="0"/>
              </a:rPr>
              <a:t>dest</a:t>
            </a:r>
            <a:r>
              <a:rPr lang="zh-CN" altLang="zh-CN" b="0" dirty="0">
                <a:ea typeface="华文楷体" panose="02010600040101010101" pitchFamily="2" charset="-122"/>
                <a:cs typeface="Times New Roman" panose="02020603050405020304" pitchFamily="18" charset="0"/>
              </a:rPr>
              <a:t>是</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的都删除</a:t>
            </a: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q = NULL;</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if (p-&gt;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break;    q = p;   p = p-&gt;link;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(!p)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(!q)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q-&gt;link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count++;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198792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41865" y="1489290"/>
            <a:ext cx="6060153" cy="488169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检查所有单链表，凡是</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的都删减一</a:t>
            </a: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a:t>
            </a:r>
          </a:p>
          <a:p>
            <a:pPr marL="0" indent="0">
              <a:buNone/>
            </a:pPr>
            <a:r>
              <a:rPr lang="en-US" altLang="zh-CN" b="0" dirty="0">
                <a:ea typeface="华文楷体" panose="02010600040101010101" pitchFamily="2" charset="-122"/>
                <a:cs typeface="Times New Roman" panose="02020603050405020304" pitchFamily="18" charset="0"/>
              </a:rPr>
              <a:t>            if (p-&gt;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&gt;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3" name="Rectangle 3"/>
          <p:cNvSpPr txBox="1">
            <a:spLocks noChangeArrowheads="1"/>
          </p:cNvSpPr>
          <p:nvPr/>
        </p:nvSpPr>
        <p:spPr>
          <a:xfrm>
            <a:off x="6202018" y="1320325"/>
            <a:ext cx="6060153" cy="521962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if (directed)    edges-=count;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else   edges-=count/2; </a:t>
            </a: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无向图，减少</a:t>
            </a:r>
            <a:r>
              <a:rPr lang="en-US" altLang="zh-CN" b="0" dirty="0">
                <a:ea typeface="华文楷体" panose="02010600040101010101" pitchFamily="2" charset="-122"/>
                <a:cs typeface="Times New Roman" panose="02020603050405020304" pitchFamily="18" charset="0"/>
              </a:rPr>
              <a:t>count</a:t>
            </a:r>
            <a:r>
              <a:rPr lang="zh-CN" altLang="zh-CN" b="0" dirty="0">
                <a:ea typeface="华文楷体" panose="02010600040101010101" pitchFamily="2" charset="-122"/>
                <a:cs typeface="Times New Roman" panose="02020603050405020304" pitchFamily="18" charset="0"/>
              </a:rPr>
              <a:t>的一半</a:t>
            </a: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在顶点表中删除顶点</a:t>
            </a: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for (j=</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j&lt;verts-1;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[j+1];</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202018" y="1320325"/>
            <a:ext cx="0" cy="5537675"/>
          </a:xfrm>
          <a:prstGeom prst="line">
            <a:avLst/>
          </a:prstGeom>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11272838" y="6370982"/>
            <a:ext cx="242887" cy="272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417040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邻接矩阵及实现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多重邻接表*</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十字链表*</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12079960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1717889"/>
            <a:ext cx="11162883" cy="4841937"/>
          </a:xfrm>
        </p:spPr>
        <p:txBody>
          <a:bodyPr>
            <a:normAutofit/>
          </a:bodyPr>
          <a:lstStyle/>
          <a:p>
            <a:pPr marL="258763" indent="0">
              <a:buNone/>
            </a:pPr>
            <a:r>
              <a:rPr lang="zh-CN" altLang="zh-CN" sz="2800" b="0" dirty="0">
                <a:ea typeface="华文楷体" pitchFamily="2" charset="-122"/>
                <a:cs typeface="Times New Roman" panose="02020603050405020304" pitchFamily="18" charset="0"/>
              </a:rPr>
              <a:t>邻接表表示无向图时每条边用了两个边结点</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同一条边被存储了两次。</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这样做，</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）空间浪费、</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）在某些应用中，因重复而不方便</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258763" indent="0">
              <a:buNone/>
            </a:pPr>
            <a:r>
              <a:rPr lang="zh-CN" altLang="zh-CN" sz="2800" dirty="0">
                <a:ea typeface="华文楷体" pitchFamily="2" charset="-122"/>
                <a:cs typeface="Times New Roman" panose="02020603050405020304" pitchFamily="18" charset="0"/>
              </a:rPr>
              <a:t>多重邻接表</a:t>
            </a:r>
            <a:r>
              <a:rPr lang="zh-CN" altLang="zh-CN" sz="2800" b="0" dirty="0">
                <a:ea typeface="华文楷体" pitchFamily="2" charset="-122"/>
                <a:cs typeface="Times New Roman" panose="02020603050405020304" pitchFamily="18" charset="0"/>
              </a:rPr>
              <a:t>中每条边仅使用一个结点来表示，即只存储一次，但这个边结点同时要在它邻接的两个顶点的边表中被链接。</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为了方便两个边表同时链接，每个边结点不再像邻接表中那样只存储边的一个顶点，而是存储两个顶点。</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每个边结点用</a:t>
            </a:r>
            <a:r>
              <a:rPr lang="en-US" altLang="zh-CN" sz="2800" b="0" dirty="0">
                <a:ea typeface="华文楷体" pitchFamily="2" charset="-122"/>
                <a:cs typeface="Times New Roman" panose="02020603050405020304" pitchFamily="18" charset="0"/>
              </a:rPr>
              <a:t>ver1</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ver2</a:t>
            </a:r>
            <a:r>
              <a:rPr lang="zh-CN" altLang="zh-CN" sz="2800" b="0" dirty="0">
                <a:ea typeface="华文楷体" pitchFamily="2" charset="-122"/>
                <a:cs typeface="Times New Roman" panose="02020603050405020304" pitchFamily="18" charset="0"/>
              </a:rPr>
              <a:t>存储边的两个顶点，为了方便起见，不妨设</a:t>
            </a:r>
            <a:r>
              <a:rPr lang="en-US" altLang="zh-CN" sz="2800" b="0" dirty="0">
                <a:ea typeface="华文楷体" pitchFamily="2" charset="-122"/>
                <a:cs typeface="Times New Roman" panose="02020603050405020304" pitchFamily="18" charset="0"/>
              </a:rPr>
              <a:t>ver1&lt;ver2</a:t>
            </a:r>
            <a:r>
              <a:rPr lang="zh-CN" altLang="zh-CN" sz="2800" b="0" dirty="0">
                <a:ea typeface="华文楷体" pitchFamily="2" charset="-122"/>
                <a:cs typeface="Times New Roman" panose="02020603050405020304" pitchFamily="18" charset="0"/>
              </a:rPr>
              <a:t>。</a:t>
            </a:r>
          </a:p>
          <a:p>
            <a:pPr marL="258763" indent="0">
              <a:buNone/>
            </a:pP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多重邻接表：</a:t>
            </a:r>
          </a:p>
        </p:txBody>
      </p:sp>
    </p:spTree>
    <p:extLst>
      <p:ext uri="{BB962C8B-B14F-4D97-AF65-F5344CB8AC3E}">
        <p14:creationId xmlns:p14="http://schemas.microsoft.com/office/powerpoint/2010/main" val="12277769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t>多重邻接表：</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970664" y="1328329"/>
            <a:ext cx="7511266" cy="3109012"/>
          </a:xfrm>
          <a:prstGeom prst="rect">
            <a:avLst/>
          </a:prstGeom>
          <a:noFill/>
          <a:ln>
            <a:noFill/>
          </a:ln>
        </p:spPr>
      </p:pic>
      <p:sp>
        <p:nvSpPr>
          <p:cNvPr id="2" name="文本框 1"/>
          <p:cNvSpPr txBox="1"/>
          <p:nvPr/>
        </p:nvSpPr>
        <p:spPr>
          <a:xfrm>
            <a:off x="687157" y="4591878"/>
            <a:ext cx="10703085" cy="1815882"/>
          </a:xfrm>
          <a:prstGeom prst="rect">
            <a:avLst/>
          </a:prstGeom>
          <a:noFill/>
        </p:spPr>
        <p:txBody>
          <a:bodyPr wrap="square" rtlCol="0">
            <a:spAutoFit/>
          </a:bodyPr>
          <a:lstStyle/>
          <a:p>
            <a:r>
              <a:rPr lang="zh-CN" altLang="zh-CN" sz="2800" dirty="0">
                <a:latin typeface="Times New Roman" panose="02020603050405020304" pitchFamily="18" charset="0"/>
                <a:ea typeface="华文楷体" pitchFamily="2" charset="-122"/>
                <a:cs typeface="Times New Roman" panose="02020603050405020304" pitchFamily="18" charset="0"/>
              </a:rPr>
              <a:t>无向图用邻接多重表表示时，如果要计算某个顶点的度，只需要顺着这个顶点的</a:t>
            </a:r>
            <a:r>
              <a:rPr lang="en-US" altLang="zh-CN" sz="2800" dirty="0" err="1">
                <a:latin typeface="Times New Roman" panose="02020603050405020304" pitchFamily="18" charset="0"/>
                <a:ea typeface="华文楷体" pitchFamily="2" charset="-122"/>
                <a:cs typeface="Times New Roman" panose="02020603050405020304" pitchFamily="18" charset="0"/>
              </a:rPr>
              <a:t>adj</a:t>
            </a:r>
            <a:r>
              <a:rPr lang="zh-CN" altLang="zh-CN" sz="2800" dirty="0">
                <a:latin typeface="Times New Roman" panose="02020603050405020304" pitchFamily="18" charset="0"/>
                <a:ea typeface="华文楷体" pitchFamily="2" charset="-122"/>
                <a:cs typeface="Times New Roman" panose="02020603050405020304" pitchFamily="18" charset="0"/>
              </a:rPr>
              <a:t>，然后一路观察其下标在</a:t>
            </a:r>
            <a:r>
              <a:rPr lang="en-US" altLang="zh-CN" sz="2800" dirty="0">
                <a:latin typeface="Times New Roman" panose="02020603050405020304" pitchFamily="18" charset="0"/>
                <a:ea typeface="华文楷体" pitchFamily="2" charset="-122"/>
                <a:cs typeface="Times New Roman" panose="02020603050405020304" pitchFamily="18" charset="0"/>
              </a:rPr>
              <a:t>ver1</a:t>
            </a:r>
            <a:r>
              <a:rPr lang="zh-CN" altLang="zh-CN" sz="2800" dirty="0">
                <a:latin typeface="Times New Roman" panose="02020603050405020304" pitchFamily="18" charset="0"/>
                <a:ea typeface="华文楷体" pitchFamily="2" charset="-122"/>
                <a:cs typeface="Times New Roman" panose="02020603050405020304" pitchFamily="18" charset="0"/>
              </a:rPr>
              <a:t>还是</a:t>
            </a:r>
            <a:r>
              <a:rPr lang="en-US" altLang="zh-CN" sz="2800" dirty="0">
                <a:latin typeface="Times New Roman" panose="02020603050405020304" pitchFamily="18" charset="0"/>
                <a:ea typeface="华文楷体" pitchFamily="2" charset="-122"/>
                <a:cs typeface="Times New Roman" panose="02020603050405020304" pitchFamily="18" charset="0"/>
              </a:rPr>
              <a:t>ver2</a:t>
            </a:r>
            <a:r>
              <a:rPr lang="zh-CN" altLang="zh-CN" sz="2800" dirty="0">
                <a:latin typeface="Times New Roman" panose="02020603050405020304" pitchFamily="18" charset="0"/>
                <a:ea typeface="华文楷体" pitchFamily="2" charset="-122"/>
                <a:cs typeface="Times New Roman" panose="02020603050405020304" pitchFamily="18" charset="0"/>
              </a:rPr>
              <a:t>中，如果在</a:t>
            </a:r>
            <a:r>
              <a:rPr lang="en-US" altLang="zh-CN" sz="2800" dirty="0">
                <a:latin typeface="Times New Roman" panose="02020603050405020304" pitchFamily="18" charset="0"/>
                <a:ea typeface="华文楷体" pitchFamily="2" charset="-122"/>
                <a:cs typeface="Times New Roman" panose="02020603050405020304" pitchFamily="18" charset="0"/>
              </a:rPr>
              <a:t>ver1</a:t>
            </a:r>
            <a:r>
              <a:rPr lang="zh-CN" altLang="zh-CN" sz="2800" dirty="0">
                <a:latin typeface="Times New Roman" panose="02020603050405020304" pitchFamily="18" charset="0"/>
                <a:ea typeface="华文楷体" pitchFamily="2" charset="-122"/>
                <a:cs typeface="Times New Roman" panose="02020603050405020304" pitchFamily="18" charset="0"/>
              </a:rPr>
              <a:t>中继续沿着</a:t>
            </a:r>
            <a:r>
              <a:rPr lang="en-US" altLang="zh-CN" sz="2800" dirty="0">
                <a:latin typeface="Times New Roman" panose="02020603050405020304" pitchFamily="18" charset="0"/>
                <a:ea typeface="华文楷体" pitchFamily="2" charset="-122"/>
                <a:cs typeface="Times New Roman" panose="02020603050405020304" pitchFamily="18" charset="0"/>
              </a:rPr>
              <a:t>link1</a:t>
            </a:r>
            <a:r>
              <a:rPr lang="zh-CN" altLang="zh-CN" sz="2800" dirty="0">
                <a:latin typeface="Times New Roman" panose="02020603050405020304" pitchFamily="18" charset="0"/>
                <a:ea typeface="华文楷体" pitchFamily="2" charset="-122"/>
                <a:cs typeface="Times New Roman" panose="02020603050405020304" pitchFamily="18" charset="0"/>
              </a:rPr>
              <a:t>数，如果在</a:t>
            </a:r>
            <a:r>
              <a:rPr lang="en-US" altLang="zh-CN" sz="2800" dirty="0">
                <a:latin typeface="Times New Roman" panose="02020603050405020304" pitchFamily="18" charset="0"/>
                <a:ea typeface="华文楷体" pitchFamily="2" charset="-122"/>
                <a:cs typeface="Times New Roman" panose="02020603050405020304" pitchFamily="18" charset="0"/>
              </a:rPr>
              <a:t>ver2</a:t>
            </a:r>
            <a:r>
              <a:rPr lang="zh-CN" altLang="zh-CN" sz="2800" dirty="0">
                <a:latin typeface="Times New Roman" panose="02020603050405020304" pitchFamily="18" charset="0"/>
                <a:ea typeface="华文楷体" pitchFamily="2" charset="-122"/>
                <a:cs typeface="Times New Roman" panose="02020603050405020304" pitchFamily="18" charset="0"/>
              </a:rPr>
              <a:t>中继续沿着</a:t>
            </a:r>
            <a:r>
              <a:rPr lang="en-US" altLang="zh-CN" sz="2800" dirty="0">
                <a:latin typeface="Times New Roman" panose="02020603050405020304" pitchFamily="18" charset="0"/>
                <a:ea typeface="华文楷体" pitchFamily="2" charset="-122"/>
                <a:cs typeface="Times New Roman" panose="02020603050405020304" pitchFamily="18" charset="0"/>
              </a:rPr>
              <a:t>link2</a:t>
            </a:r>
            <a:r>
              <a:rPr lang="zh-CN" altLang="zh-CN" sz="2800" dirty="0">
                <a:latin typeface="Times New Roman" panose="02020603050405020304" pitchFamily="18" charset="0"/>
                <a:ea typeface="华文楷体" pitchFamily="2" charset="-122"/>
                <a:cs typeface="Times New Roman" panose="02020603050405020304" pitchFamily="18" charset="0"/>
              </a:rPr>
              <a:t>数，直到遇到空指针结束。</a:t>
            </a:r>
            <a:endParaRPr lang="zh-CN" altLang="en-US" sz="2800" dirty="0">
              <a:latin typeface="Times New Roman" panose="02020603050405020304" pitchFamily="18" charset="0"/>
              <a:ea typeface="华文楷体" pitchFamily="2" charset="-122"/>
              <a:cs typeface="Times New Roman" panose="02020603050405020304" pitchFamily="18" charset="0"/>
            </a:endParaRPr>
          </a:p>
        </p:txBody>
      </p:sp>
      <p:sp>
        <p:nvSpPr>
          <p:cNvPr id="3" name="椭圆 2"/>
          <p:cNvSpPr/>
          <p:nvPr/>
        </p:nvSpPr>
        <p:spPr>
          <a:xfrm>
            <a:off x="11515725" y="6407760"/>
            <a:ext cx="157163" cy="1502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173739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邻接矩阵及实现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多重邻接表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十字链表*</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33571247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1717890"/>
            <a:ext cx="11162883" cy="2774598"/>
          </a:xfrm>
        </p:spPr>
        <p:txBody>
          <a:bodyPr>
            <a:normAutofit lnSpcReduction="10000"/>
          </a:bodyPr>
          <a:lstStyle/>
          <a:p>
            <a:pPr marL="0" indent="0">
              <a:buNone/>
            </a:pPr>
            <a:r>
              <a:rPr lang="zh-CN" altLang="zh-CN" sz="2800" b="0" dirty="0">
                <a:latin typeface="华文楷体" pitchFamily="2" charset="-122"/>
                <a:ea typeface="华文楷体" pitchFamily="2" charset="-122"/>
              </a:rPr>
              <a:t>在用邻接表表示有向图时，可以很方便地得出某顶点所有射出的边；而用逆邻接表表示有向图时，可以很方便地得出某顶点所有射入的边。在同一种表示中两者无法兼顾，由此提出了</a:t>
            </a:r>
            <a:r>
              <a:rPr lang="zh-CN" altLang="zh-CN" sz="2800" dirty="0">
                <a:latin typeface="华文楷体" pitchFamily="2" charset="-122"/>
                <a:ea typeface="华文楷体" pitchFamily="2" charset="-122"/>
              </a:rPr>
              <a:t>十字链表</a:t>
            </a:r>
            <a:r>
              <a:rPr lang="zh-CN" altLang="zh-CN" sz="2800" b="0" dirty="0">
                <a:latin typeface="华文楷体" pitchFamily="2" charset="-122"/>
                <a:ea typeface="华文楷体" pitchFamily="2" charset="-122"/>
              </a:rPr>
              <a:t>结构。</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zh-CN" altLang="zh-CN" sz="2800" b="0" dirty="0">
                <a:latin typeface="华文楷体" pitchFamily="2" charset="-122"/>
                <a:ea typeface="华文楷体" pitchFamily="2" charset="-122"/>
              </a:rPr>
              <a:t>十字链表将邻接表和逆邻接表结合在了一起。</a:t>
            </a:r>
          </a:p>
          <a:p>
            <a:pPr marL="258763" indent="0">
              <a:buNone/>
            </a:pP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十字链表：</a:t>
            </a:r>
          </a:p>
        </p:txBody>
      </p:sp>
    </p:spTree>
    <p:extLst>
      <p:ext uri="{BB962C8B-B14F-4D97-AF65-F5344CB8AC3E}">
        <p14:creationId xmlns:p14="http://schemas.microsoft.com/office/powerpoint/2010/main" val="32669543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十字链表：</a:t>
            </a:r>
          </a:p>
        </p:txBody>
      </p:sp>
      <p:sp>
        <p:nvSpPr>
          <p:cNvPr id="2" name="文本框 1"/>
          <p:cNvSpPr txBox="1"/>
          <p:nvPr/>
        </p:nvSpPr>
        <p:spPr>
          <a:xfrm>
            <a:off x="658699" y="5426765"/>
            <a:ext cx="10703085" cy="954107"/>
          </a:xfrm>
          <a:prstGeom prst="rect">
            <a:avLst/>
          </a:prstGeom>
          <a:noFill/>
        </p:spPr>
        <p:txBody>
          <a:bodyPr wrap="square" rtlCol="0">
            <a:spAutoFit/>
          </a:bodyPr>
          <a:lstStyle/>
          <a:p>
            <a:r>
              <a:rPr lang="zh-CN" altLang="zh-CN" sz="2800" dirty="0">
                <a:latin typeface="Times New Roman" panose="02020603050405020304" pitchFamily="18" charset="0"/>
                <a:ea typeface="华文楷体" pitchFamily="2" charset="-122"/>
                <a:cs typeface="Times New Roman" panose="02020603050405020304" pitchFamily="18" charset="0"/>
              </a:rPr>
              <a:t>在顶点表中</a:t>
            </a:r>
            <a:r>
              <a:rPr lang="en-US" altLang="zh-CN" sz="2800" dirty="0" err="1">
                <a:latin typeface="Times New Roman" panose="02020603050405020304" pitchFamily="18" charset="0"/>
                <a:ea typeface="华文楷体" pitchFamily="2" charset="-122"/>
                <a:cs typeface="Times New Roman" panose="02020603050405020304" pitchFamily="18" charset="0"/>
              </a:rPr>
              <a:t>firstout</a:t>
            </a:r>
            <a:r>
              <a:rPr lang="zh-CN" altLang="zh-CN" sz="2800" dirty="0">
                <a:latin typeface="Times New Roman" panose="02020603050405020304" pitchFamily="18" charset="0"/>
                <a:ea typeface="华文楷体" pitchFamily="2" charset="-122"/>
                <a:cs typeface="Times New Roman" panose="02020603050405020304" pitchFamily="18" charset="0"/>
              </a:rPr>
              <a:t>记录了该顶点第一条射出的边、</a:t>
            </a:r>
            <a:r>
              <a:rPr lang="en-US" altLang="zh-CN" sz="2800" dirty="0" err="1">
                <a:latin typeface="Times New Roman" panose="02020603050405020304" pitchFamily="18" charset="0"/>
                <a:ea typeface="华文楷体" pitchFamily="2" charset="-122"/>
                <a:cs typeface="Times New Roman" panose="02020603050405020304" pitchFamily="18" charset="0"/>
              </a:rPr>
              <a:t>firstin</a:t>
            </a:r>
            <a:r>
              <a:rPr lang="zh-CN" altLang="zh-CN" sz="2800" dirty="0">
                <a:latin typeface="Times New Roman" panose="02020603050405020304" pitchFamily="18" charset="0"/>
                <a:ea typeface="华文楷体" pitchFamily="2" charset="-122"/>
                <a:cs typeface="Times New Roman" panose="02020603050405020304" pitchFamily="18" charset="0"/>
              </a:rPr>
              <a:t>记录了该顶点第一条射入的边</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zh-CN" altLang="en-US" sz="2800" b="1" dirty="0">
                <a:latin typeface="Times New Roman" panose="02020603050405020304" pitchFamily="18" charset="0"/>
                <a:ea typeface="华文楷体" pitchFamily="2" charset="-122"/>
                <a:cs typeface="Times New Roman" panose="02020603050405020304" pitchFamily="18" charset="0"/>
              </a:rPr>
              <a:t>自行练习：</a:t>
            </a:r>
            <a:r>
              <a:rPr lang="zh-CN" altLang="en-US" sz="2800" dirty="0">
                <a:latin typeface="Times New Roman" panose="02020603050405020304" pitchFamily="18" charset="0"/>
                <a:ea typeface="华文楷体" pitchFamily="2" charset="-122"/>
                <a:cs typeface="Times New Roman" panose="02020603050405020304" pitchFamily="18" charset="0"/>
              </a:rPr>
              <a:t>输出结点</a:t>
            </a:r>
            <a:r>
              <a:rPr lang="en-US" altLang="zh-CN" sz="2800" dirty="0">
                <a:latin typeface="Times New Roman" panose="02020603050405020304" pitchFamily="18" charset="0"/>
                <a:ea typeface="华文楷体" pitchFamily="2" charset="-122"/>
                <a:cs typeface="Times New Roman" panose="02020603050405020304" pitchFamily="18" charset="0"/>
              </a:rPr>
              <a:t>V1</a:t>
            </a:r>
            <a:r>
              <a:rPr lang="zh-CN" altLang="en-US" sz="2800" dirty="0">
                <a:latin typeface="Times New Roman" panose="02020603050405020304" pitchFamily="18" charset="0"/>
                <a:ea typeface="华文楷体" pitchFamily="2" charset="-122"/>
                <a:cs typeface="Times New Roman" panose="02020603050405020304" pitchFamily="18" charset="0"/>
              </a:rPr>
              <a:t>邻接到的所有顶点。</a:t>
            </a:r>
            <a:endParaRPr lang="zh-CN" altLang="zh-CN" sz="2800" dirty="0">
              <a:latin typeface="Times New Roman" panose="02020603050405020304" pitchFamily="18" charset="0"/>
              <a:ea typeface="华文楷体" pitchFamily="2" charset="-122"/>
              <a:cs typeface="Times New Roman" panose="02020603050405020304" pitchFamily="18" charset="0"/>
            </a:endParaRPr>
          </a:p>
        </p:txBody>
      </p:sp>
      <p:sp>
        <p:nvSpPr>
          <p:cNvPr id="3" name="椭圆 2"/>
          <p:cNvSpPr/>
          <p:nvPr/>
        </p:nvSpPr>
        <p:spPr>
          <a:xfrm>
            <a:off x="11687175" y="6380872"/>
            <a:ext cx="134408" cy="1913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997199" y="754146"/>
            <a:ext cx="8247063" cy="4497778"/>
          </a:xfrm>
          <a:prstGeom prst="rect">
            <a:avLst/>
          </a:prstGeom>
          <a:noFill/>
          <a:ln>
            <a:noFill/>
          </a:ln>
        </p:spPr>
      </p:pic>
    </p:spTree>
    <p:extLst>
      <p:ext uri="{BB962C8B-B14F-4D97-AF65-F5344CB8AC3E}">
        <p14:creationId xmlns:p14="http://schemas.microsoft.com/office/powerpoint/2010/main" val="1109595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图的遍历</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35703597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320766" y="692011"/>
            <a:ext cx="6278816" cy="2766806"/>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5125691" y="3458817"/>
            <a:ext cx="6721752" cy="3001618"/>
          </a:xfrm>
          <a:prstGeom prst="rect">
            <a:avLst/>
          </a:prstGeom>
          <a:noFill/>
          <a:ln>
            <a:noFill/>
          </a:ln>
        </p:spPr>
      </p:pic>
    </p:spTree>
    <p:extLst>
      <p:ext uri="{BB962C8B-B14F-4D97-AF65-F5344CB8AC3E}">
        <p14:creationId xmlns:p14="http://schemas.microsoft.com/office/powerpoint/2010/main" val="37721033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032552" y="1956974"/>
            <a:ext cx="8363779" cy="3430036"/>
          </a:xfrm>
          <a:prstGeom prst="rect">
            <a:avLst/>
          </a:prstGeom>
          <a:noFill/>
          <a:ln>
            <a:noFill/>
          </a:ln>
        </p:spPr>
      </p:pic>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p>
        </p:txBody>
      </p:sp>
      <p:sp>
        <p:nvSpPr>
          <p:cNvPr id="2" name="文本框 1"/>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itchFamily="2" charset="-122"/>
                <a:ea typeface="华文楷体" pitchFamily="2" charset="-122"/>
              </a:rPr>
              <a:t>方便计算出度，不方便计算入度</a:t>
            </a:r>
          </a:p>
        </p:txBody>
      </p:sp>
    </p:spTree>
    <p:extLst>
      <p:ext uri="{BB962C8B-B14F-4D97-AF65-F5344CB8AC3E}">
        <p14:creationId xmlns:p14="http://schemas.microsoft.com/office/powerpoint/2010/main" val="26999604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对有向图和无向图进行遍历是按照某种方式</a:t>
            </a:r>
            <a:r>
              <a:rPr lang="zh-CN" altLang="zh-CN" sz="2800" b="0" dirty="0">
                <a:solidFill>
                  <a:schemeClr val="accent1">
                    <a:lumMod val="60000"/>
                    <a:lumOff val="40000"/>
                  </a:schemeClr>
                </a:solidFill>
                <a:latin typeface="华文楷体" pitchFamily="2" charset="-122"/>
                <a:ea typeface="华文楷体" pitchFamily="2" charset="-122"/>
              </a:rPr>
              <a:t>逐个</a:t>
            </a:r>
            <a:r>
              <a:rPr lang="zh-CN" altLang="zh-CN" sz="2800" b="0" dirty="0">
                <a:latin typeface="华文楷体" pitchFamily="2" charset="-122"/>
                <a:ea typeface="华文楷体" pitchFamily="2" charset="-122"/>
              </a:rPr>
              <a:t>访问图中的</a:t>
            </a:r>
            <a:r>
              <a:rPr lang="zh-CN" altLang="zh-CN" sz="2800" b="0" dirty="0">
                <a:solidFill>
                  <a:schemeClr val="accent1">
                    <a:lumMod val="60000"/>
                    <a:lumOff val="40000"/>
                  </a:schemeClr>
                </a:solidFill>
                <a:latin typeface="华文楷体" pitchFamily="2" charset="-122"/>
                <a:ea typeface="华文楷体" pitchFamily="2" charset="-122"/>
              </a:rPr>
              <a:t>所有顶点</a:t>
            </a:r>
            <a:r>
              <a:rPr lang="zh-CN" altLang="zh-CN" sz="2800" b="0" dirty="0">
                <a:latin typeface="华文楷体" pitchFamily="2" charset="-122"/>
                <a:ea typeface="华文楷体" pitchFamily="2" charset="-122"/>
              </a:rPr>
              <a:t>，并且每个顶点</a:t>
            </a:r>
            <a:r>
              <a:rPr lang="zh-CN" altLang="zh-CN" sz="2800" b="0" dirty="0">
                <a:solidFill>
                  <a:schemeClr val="accent1">
                    <a:lumMod val="60000"/>
                    <a:lumOff val="40000"/>
                  </a:schemeClr>
                </a:solidFill>
                <a:latin typeface="华文楷体" pitchFamily="2" charset="-122"/>
                <a:ea typeface="华文楷体" pitchFamily="2" charset="-122"/>
              </a:rPr>
              <a:t>只能被访问一次</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依照前面存储方式的讨论，无论是邻接矩阵还是邻接表存储，顶点都用一个</a:t>
            </a:r>
            <a:r>
              <a:rPr lang="zh-CN" altLang="zh-CN" sz="2800" b="0" dirty="0">
                <a:solidFill>
                  <a:schemeClr val="accent1">
                    <a:lumMod val="60000"/>
                    <a:lumOff val="40000"/>
                  </a:schemeClr>
                </a:solidFill>
                <a:latin typeface="华文楷体" pitchFamily="2" charset="-122"/>
                <a:ea typeface="华文楷体" pitchFamily="2" charset="-122"/>
              </a:rPr>
              <a:t>顶点表</a:t>
            </a:r>
            <a:r>
              <a:rPr lang="zh-CN" altLang="zh-CN" sz="2800" b="0" dirty="0">
                <a:latin typeface="华文楷体" pitchFamily="2" charset="-122"/>
                <a:ea typeface="华文楷体" pitchFamily="2" charset="-122"/>
              </a:rPr>
              <a:t>存储，因此最简单的方式是沿着顶点表循环访问一遍，就达到了遍历的目标。这种方式，完全</a:t>
            </a:r>
            <a:r>
              <a:rPr lang="zh-CN" altLang="zh-CN" sz="2800" b="0" dirty="0">
                <a:solidFill>
                  <a:schemeClr val="accent1">
                    <a:lumMod val="60000"/>
                    <a:lumOff val="40000"/>
                  </a:schemeClr>
                </a:solidFill>
                <a:latin typeface="华文楷体" pitchFamily="2" charset="-122"/>
                <a:ea typeface="华文楷体" pitchFamily="2" charset="-122"/>
              </a:rPr>
              <a:t>没有</a:t>
            </a:r>
            <a:r>
              <a:rPr lang="zh-CN" altLang="zh-CN" sz="2800" b="0" dirty="0">
                <a:latin typeface="华文楷体" pitchFamily="2" charset="-122"/>
                <a:ea typeface="华文楷体" pitchFamily="2" charset="-122"/>
              </a:rPr>
              <a:t>借用</a:t>
            </a:r>
            <a:r>
              <a:rPr lang="zh-CN" altLang="zh-CN" sz="2800" b="0" dirty="0">
                <a:solidFill>
                  <a:schemeClr val="accent1">
                    <a:lumMod val="60000"/>
                    <a:lumOff val="40000"/>
                  </a:schemeClr>
                </a:solidFill>
                <a:latin typeface="华文楷体" pitchFamily="2" charset="-122"/>
                <a:ea typeface="华文楷体" pitchFamily="2" charset="-122"/>
              </a:rPr>
              <a:t>边</a:t>
            </a:r>
            <a:r>
              <a:rPr lang="zh-CN" altLang="zh-CN" sz="2800" b="0" dirty="0">
                <a:latin typeface="华文楷体" pitchFamily="2" charset="-122"/>
                <a:ea typeface="华文楷体" pitchFamily="2" charset="-122"/>
              </a:rPr>
              <a:t>的信息。</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借助</a:t>
            </a:r>
            <a:r>
              <a:rPr lang="zh-CN" altLang="zh-CN" sz="2800" b="0" dirty="0">
                <a:solidFill>
                  <a:schemeClr val="accent1">
                    <a:lumMod val="60000"/>
                    <a:lumOff val="40000"/>
                  </a:schemeClr>
                </a:solidFill>
                <a:latin typeface="华文楷体" pitchFamily="2" charset="-122"/>
                <a:ea typeface="华文楷体" pitchFamily="2" charset="-122"/>
              </a:rPr>
              <a:t>边信息</a:t>
            </a:r>
            <a:r>
              <a:rPr lang="zh-CN" altLang="zh-CN" sz="2800" b="0" dirty="0">
                <a:latin typeface="华文楷体" pitchFamily="2" charset="-122"/>
                <a:ea typeface="华文楷体" pitchFamily="2" charset="-122"/>
              </a:rPr>
              <a:t>实现遍历的算法：</a:t>
            </a:r>
            <a:endParaRPr lang="en-US" altLang="zh-CN" sz="2800" b="0" dirty="0">
              <a:latin typeface="华文楷体" pitchFamily="2" charset="-122"/>
              <a:ea typeface="华文楷体" pitchFamily="2" charset="-122"/>
            </a:endParaRPr>
          </a:p>
          <a:p>
            <a:pPr marL="0" indent="0">
              <a:buNone/>
            </a:pPr>
            <a:r>
              <a:rPr lang="en-US" altLang="zh-CN" sz="2800" b="0" dirty="0">
                <a:latin typeface="华文楷体" pitchFamily="2" charset="-122"/>
                <a:ea typeface="华文楷体" pitchFamily="2" charset="-122"/>
              </a:rPr>
              <a:t>    </a:t>
            </a:r>
            <a:r>
              <a:rPr lang="zh-CN" altLang="zh-CN" sz="2800" dirty="0">
                <a:latin typeface="华文楷体" pitchFamily="2" charset="-122"/>
                <a:ea typeface="华文楷体" pitchFamily="2" charset="-122"/>
              </a:rPr>
              <a:t>深度优先遍历</a:t>
            </a:r>
            <a:r>
              <a:rPr lang="zh-CN" altLang="zh-CN" sz="2800" b="0" dirty="0">
                <a:latin typeface="华文楷体" pitchFamily="2" charset="-122"/>
                <a:ea typeface="华文楷体" pitchFamily="2" charset="-122"/>
              </a:rPr>
              <a:t>和</a:t>
            </a:r>
            <a:r>
              <a:rPr lang="zh-CN" altLang="zh-CN" sz="2800" dirty="0">
                <a:latin typeface="华文楷体" pitchFamily="2" charset="-122"/>
                <a:ea typeface="华文楷体" pitchFamily="2" charset="-122"/>
              </a:rPr>
              <a:t>广度优先遍历</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图的遍历：</a:t>
            </a:r>
          </a:p>
        </p:txBody>
      </p:sp>
    </p:spTree>
    <p:extLst>
      <p:ext uri="{BB962C8B-B14F-4D97-AF65-F5344CB8AC3E}">
        <p14:creationId xmlns:p14="http://schemas.microsoft.com/office/powerpoint/2010/main" val="23677889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2" y="1499227"/>
            <a:ext cx="11533301" cy="5020842"/>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从某种程度上可以把图的遍历看成树结构遍历的推广。</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图的遍历又有其特殊性：</a:t>
            </a:r>
            <a:endParaRPr lang="en-US" altLang="zh-CN" sz="2800" b="0" dirty="0">
              <a:ea typeface="华文楷体" pitchFamily="2" charset="-122"/>
              <a:cs typeface="Times New Roman" panose="02020603050405020304" pitchFamily="18" charset="0"/>
            </a:endParaRPr>
          </a:p>
          <a:p>
            <a:pPr lvl="1">
              <a:buFont typeface="Arial" panose="020B0604020202020204" pitchFamily="34" charset="0"/>
              <a:buChar char="•"/>
            </a:pPr>
            <a:r>
              <a:rPr lang="zh-CN" altLang="zh-CN" sz="2800" b="0" dirty="0">
                <a:ea typeface="华文楷体" pitchFamily="2" charset="-122"/>
                <a:cs typeface="Times New Roman" panose="02020603050405020304" pitchFamily="18" charset="0"/>
              </a:rPr>
              <a:t>首先图中的顶点</a:t>
            </a:r>
            <a:r>
              <a:rPr lang="zh-CN" altLang="zh-CN" sz="2800" b="0" dirty="0">
                <a:solidFill>
                  <a:schemeClr val="accent1">
                    <a:lumMod val="60000"/>
                    <a:lumOff val="40000"/>
                  </a:schemeClr>
                </a:solidFill>
                <a:ea typeface="华文楷体" pitchFamily="2" charset="-122"/>
                <a:cs typeface="Times New Roman" panose="02020603050405020304" pitchFamily="18" charset="0"/>
              </a:rPr>
              <a:t>地位相同</a:t>
            </a:r>
            <a:r>
              <a:rPr lang="zh-CN" altLang="zh-CN" sz="2800" b="0" dirty="0">
                <a:ea typeface="华文楷体" pitchFamily="2" charset="-122"/>
                <a:cs typeface="Times New Roman" panose="02020603050405020304" pitchFamily="18" charset="0"/>
              </a:rPr>
              <a:t>，没有类似树结构中有一个特殊的根结点；</a:t>
            </a:r>
            <a:endParaRPr lang="en-US" altLang="zh-CN" sz="2800" b="0" dirty="0">
              <a:ea typeface="华文楷体" pitchFamily="2" charset="-122"/>
              <a:cs typeface="Times New Roman" panose="02020603050405020304" pitchFamily="18" charset="0"/>
            </a:endParaRPr>
          </a:p>
          <a:p>
            <a:pPr lvl="1">
              <a:buFont typeface="Arial" panose="020B0604020202020204" pitchFamily="34" charset="0"/>
              <a:buChar char="•"/>
            </a:pPr>
            <a:r>
              <a:rPr lang="zh-CN" altLang="en-US" sz="2800" b="0" dirty="0">
                <a:ea typeface="华文楷体" pitchFamily="2" charset="-122"/>
                <a:cs typeface="Times New Roman" panose="02020603050405020304" pitchFamily="18" charset="0"/>
              </a:rPr>
              <a:t>根据边信息访问顶点时，</a:t>
            </a:r>
            <a:r>
              <a:rPr lang="zh-CN" altLang="zh-CN" sz="2800" b="0" dirty="0">
                <a:ea typeface="华文楷体" pitchFamily="2" charset="-122"/>
                <a:cs typeface="Times New Roman" panose="02020603050405020304" pitchFamily="18" charset="0"/>
              </a:rPr>
              <a:t>任一顶点可能和图中多个其它顶点邻接，可能存在回路，因此在图中访问一个顶点</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之后，很可能沿着其他路径再次返回顶点</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。为了</a:t>
            </a:r>
            <a:r>
              <a:rPr lang="zh-CN" altLang="zh-CN" sz="2800" b="0" dirty="0">
                <a:solidFill>
                  <a:schemeClr val="accent1">
                    <a:lumMod val="60000"/>
                    <a:lumOff val="40000"/>
                  </a:schemeClr>
                </a:solidFill>
                <a:ea typeface="华文楷体" pitchFamily="2" charset="-122"/>
                <a:cs typeface="Times New Roman" panose="02020603050405020304" pitchFamily="18" charset="0"/>
              </a:rPr>
              <a:t>避免重复</a:t>
            </a:r>
            <a:r>
              <a:rPr lang="zh-CN" altLang="zh-CN" sz="2800" b="0" dirty="0">
                <a:ea typeface="华文楷体" pitchFamily="2" charset="-122"/>
                <a:cs typeface="Times New Roman" panose="02020603050405020304" pitchFamily="18" charset="0"/>
              </a:rPr>
              <a:t>访问已经访问过的顶点，在图的遍历过程中，通常对</a:t>
            </a:r>
            <a:r>
              <a:rPr lang="zh-CN" altLang="zh-CN" sz="2800" b="0" dirty="0">
                <a:solidFill>
                  <a:schemeClr val="accent1">
                    <a:lumMod val="60000"/>
                    <a:lumOff val="40000"/>
                  </a:schemeClr>
                </a:solidFill>
                <a:ea typeface="华文楷体" pitchFamily="2" charset="-122"/>
                <a:cs typeface="Times New Roman" panose="02020603050405020304" pitchFamily="18" charset="0"/>
              </a:rPr>
              <a:t>已经访问过</a:t>
            </a:r>
            <a:r>
              <a:rPr lang="zh-CN" altLang="zh-CN" sz="2800" b="0" dirty="0">
                <a:ea typeface="华文楷体" pitchFamily="2" charset="-122"/>
                <a:cs typeface="Times New Roman" panose="02020603050405020304" pitchFamily="18" charset="0"/>
              </a:rPr>
              <a:t>的顶点加</a:t>
            </a:r>
            <a:r>
              <a:rPr lang="zh-CN" altLang="zh-CN" sz="2800" b="0" dirty="0">
                <a:solidFill>
                  <a:schemeClr val="accent1">
                    <a:lumMod val="60000"/>
                    <a:lumOff val="40000"/>
                  </a:schemeClr>
                </a:solidFill>
                <a:ea typeface="华文楷体" pitchFamily="2" charset="-122"/>
                <a:cs typeface="Times New Roman" panose="02020603050405020304" pitchFamily="18" charset="0"/>
              </a:rPr>
              <a:t>特殊</a:t>
            </a:r>
            <a:r>
              <a:rPr lang="zh-CN" altLang="zh-CN" sz="2800" b="0" dirty="0">
                <a:ea typeface="华文楷体" pitchFamily="2" charset="-122"/>
                <a:cs typeface="Times New Roman" panose="02020603050405020304" pitchFamily="18" charset="0"/>
              </a:rPr>
              <a:t>标记</a:t>
            </a:r>
            <a:r>
              <a:rPr lang="zh-CN" altLang="zh-CN" sz="2800" b="0" dirty="0">
                <a:latin typeface="华文楷体" pitchFamily="2" charset="-122"/>
                <a:ea typeface="华文楷体" pitchFamily="2" charset="-122"/>
              </a:rPr>
              <a:t>。</a:t>
            </a:r>
          </a:p>
        </p:txBody>
      </p:sp>
      <p:sp>
        <p:nvSpPr>
          <p:cNvPr id="8194" name="Rectangle 2"/>
          <p:cNvSpPr>
            <a:spLocks noGrp="1" noRot="1" noChangeArrowheads="1"/>
          </p:cNvSpPr>
          <p:nvPr>
            <p:ph type="title"/>
          </p:nvPr>
        </p:nvSpPr>
        <p:spPr>
          <a:xfrm>
            <a:off x="288282" y="734267"/>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图的遍历：</a:t>
            </a:r>
          </a:p>
        </p:txBody>
      </p:sp>
      <p:sp>
        <p:nvSpPr>
          <p:cNvPr id="2" name="椭圆 1"/>
          <p:cNvSpPr/>
          <p:nvPr/>
        </p:nvSpPr>
        <p:spPr>
          <a:xfrm>
            <a:off x="11451166" y="6300788"/>
            <a:ext cx="164572" cy="1857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169388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1479441"/>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深度优先遍历（</a:t>
            </a:r>
            <a:r>
              <a:rPr lang="en-US" altLang="zh-CN" sz="2800" dirty="0">
                <a:solidFill>
                  <a:srgbClr val="FF0000"/>
                </a:solidFill>
                <a:latin typeface="华文楷体" pitchFamily="2" charset="-122"/>
                <a:ea typeface="华文楷体" pitchFamily="2" charset="-122"/>
              </a:rPr>
              <a:t>DFS</a:t>
            </a:r>
            <a:r>
              <a:rPr lang="zh-CN" altLang="en-US" sz="2800" dirty="0">
                <a:solidFill>
                  <a:srgbClr val="FF0000"/>
                </a:solidFill>
                <a:latin typeface="华文楷体" pitchFamily="2" charset="-122"/>
                <a:ea typeface="华文楷体" pitchFamily="2" charset="-122"/>
              </a:rPr>
              <a:t>）</a:t>
            </a:r>
            <a:r>
              <a:rPr lang="zh-CN" altLang="en-US" sz="2800" dirty="0">
                <a:latin typeface="华文楷体" pitchFamily="2" charset="-122"/>
                <a:ea typeface="华文楷体" pitchFamily="2" charset="-122"/>
              </a:rPr>
              <a:t>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广度优先遍历（</a:t>
            </a:r>
            <a:r>
              <a:rPr lang="en-US" altLang="zh-CN" sz="2800" dirty="0">
                <a:latin typeface="华文楷体" pitchFamily="2" charset="-122"/>
                <a:ea typeface="华文楷体" pitchFamily="2" charset="-122"/>
              </a:rPr>
              <a:t>BFS</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图的遍历：</a:t>
            </a:r>
          </a:p>
        </p:txBody>
      </p:sp>
    </p:spTree>
    <p:extLst>
      <p:ext uri="{BB962C8B-B14F-4D97-AF65-F5344CB8AC3E}">
        <p14:creationId xmlns:p14="http://schemas.microsoft.com/office/powerpoint/2010/main" val="1871561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zh-CN" sz="2800" b="0" dirty="0">
                <a:ea typeface="华文楷体" pitchFamily="2" charset="-122"/>
                <a:cs typeface="Times New Roman" panose="02020603050405020304" pitchFamily="18" charset="0"/>
              </a:rPr>
              <a:t>访问方式类似于</a:t>
            </a:r>
            <a:r>
              <a:rPr lang="zh-CN" altLang="en-US" sz="2800" b="0" dirty="0">
                <a:ea typeface="华文楷体" pitchFamily="2" charset="-122"/>
                <a:cs typeface="Times New Roman" panose="02020603050405020304" pitchFamily="18" charset="0"/>
              </a:rPr>
              <a:t>二叉树</a:t>
            </a:r>
            <a:r>
              <a:rPr lang="zh-CN" altLang="zh-CN" sz="2800" b="0" dirty="0">
                <a:ea typeface="华文楷体" pitchFamily="2" charset="-122"/>
                <a:cs typeface="Times New Roman" panose="02020603050405020304" pitchFamily="18" charset="0"/>
              </a:rPr>
              <a:t>的前序访问</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访问方式如下：</a:t>
            </a:r>
          </a:p>
          <a:p>
            <a:pPr marL="514350" indent="-514350">
              <a:buFont typeface="+mj-lt"/>
              <a:buAutoNum type="arabicPeriod"/>
            </a:pPr>
            <a:r>
              <a:rPr lang="zh-CN" altLang="zh-CN" sz="2800" b="0" dirty="0">
                <a:ea typeface="华文楷体" pitchFamily="2" charset="-122"/>
                <a:cs typeface="Times New Roman" panose="02020603050405020304" pitchFamily="18" charset="0"/>
              </a:rPr>
              <a:t>选中第一个未被访问过的顶点</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514350" indent="-514350">
              <a:buFont typeface="+mj-lt"/>
              <a:buAutoNum type="arabicPeriod"/>
            </a:pPr>
            <a:r>
              <a:rPr lang="zh-CN" altLang="en-US" sz="2800" b="0" dirty="0">
                <a:ea typeface="华文楷体" pitchFamily="2" charset="-122"/>
                <a:cs typeface="Times New Roman" panose="02020603050405020304" pitchFamily="18" charset="0"/>
              </a:rPr>
              <a:t>访问、</a:t>
            </a:r>
            <a:r>
              <a:rPr lang="zh-CN" altLang="zh-CN" sz="2800" b="0" dirty="0">
                <a:ea typeface="华文楷体" pitchFamily="2" charset="-122"/>
                <a:cs typeface="Times New Roman" panose="02020603050405020304" pitchFamily="18" charset="0"/>
              </a:rPr>
              <a:t>对顶点加已访问标志。</a:t>
            </a:r>
          </a:p>
          <a:p>
            <a:pPr marL="514350" indent="-514350">
              <a:buFont typeface="+mj-lt"/>
              <a:buAutoNum type="arabicPeriod"/>
            </a:pPr>
            <a:r>
              <a:rPr lang="zh-CN" altLang="en-US" sz="2800" b="0" dirty="0">
                <a:ea typeface="华文楷体" pitchFamily="2" charset="-122"/>
                <a:cs typeface="Times New Roman" panose="02020603050405020304" pitchFamily="18" charset="0"/>
              </a:rPr>
              <a:t>依</a:t>
            </a:r>
            <a:r>
              <a:rPr lang="zh-CN" altLang="zh-CN" sz="2800" b="0" dirty="0">
                <a:ea typeface="华文楷体" pitchFamily="2" charset="-122"/>
                <a:cs typeface="Times New Roman" panose="02020603050405020304" pitchFamily="18" charset="0"/>
              </a:rPr>
              <a:t>次从顶点的未被访问过的第一个、第二个、第三个</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邻接顶点出发，依次进行深度优先搜索。即转向</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a:t>
            </a:r>
          </a:p>
          <a:p>
            <a:pPr marL="514350" indent="-514350">
              <a:buFont typeface="+mj-lt"/>
              <a:buAutoNum type="arabicPeriod"/>
            </a:pPr>
            <a:r>
              <a:rPr lang="zh-CN" altLang="zh-CN" sz="2800" b="0" dirty="0">
                <a:ea typeface="华文楷体" pitchFamily="2" charset="-122"/>
                <a:cs typeface="Times New Roman" panose="02020603050405020304" pitchFamily="18" charset="0"/>
              </a:rPr>
              <a:t>如果还有顶点未被访问过，选中其中一个作为起始顶点，转向</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a:t>
            </a:r>
          </a:p>
          <a:p>
            <a:pPr marL="0" indent="536575">
              <a:buNone/>
            </a:pPr>
            <a:r>
              <a:rPr lang="zh-CN" altLang="zh-CN" sz="2800" b="0" dirty="0">
                <a:ea typeface="华文楷体" pitchFamily="2" charset="-122"/>
                <a:cs typeface="Times New Roman" panose="02020603050405020304" pitchFamily="18" charset="0"/>
              </a:rPr>
              <a:t>如果所有的顶点都被访问到，结束。</a:t>
            </a:r>
          </a:p>
        </p:txBody>
      </p:sp>
      <p:sp>
        <p:nvSpPr>
          <p:cNvPr id="2" name="标题 1"/>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深度优先遍历 </a:t>
            </a:r>
            <a:r>
              <a:rPr lang="en-US" altLang="zh-CN" dirty="0">
                <a:latin typeface="华文楷体" panose="02010600040101010101" pitchFamily="2" charset="-122"/>
                <a:ea typeface="华文楷体" panose="02010600040101010101" pitchFamily="2" charset="-122"/>
              </a:rPr>
              <a:t>DFS</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Deep First Search</a:t>
            </a:r>
            <a:r>
              <a:rPr lang="zh-CN" altLang="en-US"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30388981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667496" y="1415910"/>
            <a:ext cx="8671477" cy="4150001"/>
          </a:xfrm>
          <a:prstGeom prst="rect">
            <a:avLst/>
          </a:prstGeom>
          <a:noFill/>
          <a:ln>
            <a:noFill/>
          </a:ln>
        </p:spPr>
      </p:pic>
      <p:sp>
        <p:nvSpPr>
          <p:cNvPr id="4" name="文本框 3"/>
          <p:cNvSpPr txBox="1"/>
          <p:nvPr/>
        </p:nvSpPr>
        <p:spPr>
          <a:xfrm>
            <a:off x="437322" y="5565911"/>
            <a:ext cx="11131826" cy="954107"/>
          </a:xfrm>
          <a:prstGeom prst="rect">
            <a:avLst/>
          </a:prstGeom>
          <a:noFill/>
        </p:spPr>
        <p:txBody>
          <a:bodyPr wrap="square" rtlCol="0">
            <a:spAutoFit/>
          </a:bodyPr>
          <a:lstStyle/>
          <a:p>
            <a:r>
              <a:rPr lang="zh-CN" altLang="zh-CN" sz="2800" dirty="0">
                <a:latin typeface="华文楷体" pitchFamily="2" charset="-122"/>
                <a:ea typeface="华文楷体" pitchFamily="2" charset="-122"/>
              </a:rPr>
              <a:t>同一个图的深度优先遍历结果并不唯一，图中就是对</a:t>
            </a:r>
            <a:r>
              <a:rPr lang="en-US" altLang="zh-CN" sz="2800" dirty="0">
                <a:latin typeface="华文楷体" pitchFamily="2" charset="-122"/>
                <a:ea typeface="华文楷体" pitchFamily="2" charset="-122"/>
              </a:rPr>
              <a:t>G17</a:t>
            </a:r>
            <a:r>
              <a:rPr lang="zh-CN" altLang="zh-CN" sz="2800" dirty="0">
                <a:latin typeface="华文楷体" pitchFamily="2" charset="-122"/>
                <a:ea typeface="华文楷体" pitchFamily="2" charset="-122"/>
              </a:rPr>
              <a:t>的两种不同的深度遍历结果。</a:t>
            </a:r>
          </a:p>
        </p:txBody>
      </p:sp>
    </p:spTree>
    <p:extLst>
      <p:ext uri="{BB962C8B-B14F-4D97-AF65-F5344CB8AC3E}">
        <p14:creationId xmlns:p14="http://schemas.microsoft.com/office/powerpoint/2010/main" val="29087005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en-US" sz="2800" b="0" dirty="0">
                    <a:latin typeface="华文楷体" pitchFamily="2" charset="-122"/>
                    <a:ea typeface="华文楷体" pitchFamily="2" charset="-122"/>
                  </a:rPr>
                  <a:t>定义和二叉树前序遍历类似，递归算法也</a:t>
                </a:r>
                <a:r>
                  <a:rPr lang="zh-CN" altLang="zh-CN" sz="2800" b="0" dirty="0">
                    <a:latin typeface="华文楷体" pitchFamily="2" charset="-122"/>
                    <a:ea typeface="华文楷体" pitchFamily="2" charset="-122"/>
                  </a:rPr>
                  <a:t>和二叉树前序遍历的递归算法相似。</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二叉树的前序遍历，首先访问根结点，然后以左子为根前序遍历左子树，以右子为根前序遍历右子树。</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图的</a:t>
                </a:r>
                <a:r>
                  <a:rPr lang="zh-CN" altLang="zh-CN" sz="2800" dirty="0">
                    <a:latin typeface="华文楷体" pitchFamily="2" charset="-122"/>
                    <a:ea typeface="华文楷体" pitchFamily="2" charset="-122"/>
                  </a:rPr>
                  <a:t>深度优先遍历</a:t>
                </a:r>
                <a:r>
                  <a:rPr lang="zh-CN" altLang="zh-CN" sz="2800" b="0" dirty="0">
                    <a:latin typeface="华文楷体" pitchFamily="2" charset="-122"/>
                    <a:ea typeface="华文楷体" pitchFamily="2" charset="-122"/>
                  </a:rPr>
                  <a:t>，访问某个顶点，然后以其第一个邻接点为起始顶点做深度优先遍历，以其第二个邻接点为起始顶点做深度优先遍历，</a:t>
                </a:r>
                <a14:m>
                  <m:oMath xmlns:m="http://schemas.openxmlformats.org/officeDocument/2006/math">
                    <m:r>
                      <a:rPr lang="en-US" altLang="zh-CN" sz="2800" b="0">
                        <a:latin typeface="Cambria Math" panose="02040503050406030204" pitchFamily="18" charset="0"/>
                        <a:ea typeface="华文楷体" pitchFamily="2" charset="-122"/>
                      </a:rPr>
                      <m:t>⋯</m:t>
                    </m:r>
                    <m:r>
                      <a:rPr lang="zh-CN" altLang="zh-CN" sz="2800" b="0">
                        <a:latin typeface="Cambria Math" panose="02040503050406030204" pitchFamily="18" charset="0"/>
                        <a:ea typeface="华文楷体" pitchFamily="2" charset="-122"/>
                      </a:rPr>
                      <m:t>，</m:t>
                    </m:r>
                  </m:oMath>
                </a14:m>
                <a:r>
                  <a:rPr lang="zh-CN" altLang="zh-CN" sz="2800" b="0" dirty="0">
                    <a:latin typeface="华文楷体" pitchFamily="2" charset="-122"/>
                    <a:ea typeface="华文楷体" pitchFamily="2" charset="-122"/>
                  </a:rPr>
                  <a:t>以其最后一个邻接点为起始顶点做深度优先遍历。因此图的深度优先遍历算法可以看作是二叉树前序遍历的扩展。</a:t>
                </a:r>
                <a:endParaRPr lang="en-US" altLang="zh-CN" sz="2800" b="0" dirty="0">
                  <a:latin typeface="华文楷体" pitchFamily="2" charset="-122"/>
                  <a:ea typeface="华文楷体"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20769" y="1558863"/>
                <a:ext cx="11162882" cy="4961207"/>
              </a:xfrm>
              <a:blipFill>
                <a:blip r:embed="rId3"/>
                <a:stretch>
                  <a:fillRect l="-983" t="-246" r="-60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思想：</a:t>
            </a:r>
          </a:p>
        </p:txBody>
      </p:sp>
    </p:spTree>
    <p:extLst>
      <p:ext uri="{BB962C8B-B14F-4D97-AF65-F5344CB8AC3E}">
        <p14:creationId xmlns:p14="http://schemas.microsoft.com/office/powerpoint/2010/main" val="34940038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图可能不连通，从一个顶点开始做深度优先遍历可能只能访问到部分顶点，此时需要</a:t>
            </a:r>
            <a:r>
              <a:rPr lang="zh-CN" altLang="zh-CN" sz="2800" b="0" dirty="0">
                <a:solidFill>
                  <a:schemeClr val="accent1">
                    <a:lumMod val="60000"/>
                    <a:lumOff val="40000"/>
                  </a:schemeClr>
                </a:solidFill>
                <a:latin typeface="华文楷体" pitchFamily="2" charset="-122"/>
                <a:ea typeface="华文楷体" pitchFamily="2" charset="-122"/>
              </a:rPr>
              <a:t>重新</a:t>
            </a:r>
            <a:r>
              <a:rPr lang="zh-CN" altLang="zh-CN" sz="2800" b="0" dirty="0">
                <a:latin typeface="华文楷体" pitchFamily="2" charset="-122"/>
                <a:ea typeface="华文楷体" pitchFamily="2" charset="-122"/>
              </a:rPr>
              <a:t>选择</a:t>
            </a:r>
            <a:r>
              <a:rPr lang="zh-CN" altLang="zh-CN" sz="2800" b="0" dirty="0">
                <a:solidFill>
                  <a:schemeClr val="accent1">
                    <a:lumMod val="60000"/>
                    <a:lumOff val="40000"/>
                  </a:schemeClr>
                </a:solidFill>
                <a:latin typeface="华文楷体" pitchFamily="2" charset="-122"/>
                <a:ea typeface="华文楷体" pitchFamily="2" charset="-122"/>
              </a:rPr>
              <a:t>尚未访问</a:t>
            </a:r>
            <a:r>
              <a:rPr lang="zh-CN" altLang="zh-CN" sz="2800" b="0" dirty="0">
                <a:latin typeface="华文楷体" pitchFamily="2" charset="-122"/>
                <a:ea typeface="华文楷体" pitchFamily="2" charset="-122"/>
              </a:rPr>
              <a:t>的顶点，从它开始再次开始深度优先遍历。</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一个顶点可能和其他多个顶点邻接，故以它为起始顶点做深度优先遍历前需检查是否已经访问过。如果未访问过，遍历才能进行。</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思想：</a:t>
            </a:r>
          </a:p>
        </p:txBody>
      </p:sp>
    </p:spTree>
    <p:extLst>
      <p:ext uri="{BB962C8B-B14F-4D97-AF65-F5344CB8AC3E}">
        <p14:creationId xmlns:p14="http://schemas.microsoft.com/office/powerpoint/2010/main" val="40955299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557992"/>
          </a:xfrm>
        </p:spPr>
        <p:txBody>
          <a:bodyPr>
            <a:no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Graph&lt;</a:t>
            </a:r>
            <a:r>
              <a:rPr lang="en-US" altLang="zh-CN" b="0" dirty="0" err="1">
                <a:cs typeface="Times New Roman" panose="02020603050405020304" pitchFamily="18" charset="0"/>
              </a:rPr>
              <a:t>verType</a:t>
            </a:r>
            <a:r>
              <a:rPr lang="en-US" altLang="zh-CN" b="0" dirty="0">
                <a:cs typeface="Times New Roman" panose="02020603050405020304" pitchFamily="18" charset="0"/>
              </a:rPr>
              <a:t>, </a:t>
            </a:r>
            <a:r>
              <a:rPr lang="en-US" altLang="zh-CN" b="0" dirty="0" err="1">
                <a:cs typeface="Times New Roman" panose="02020603050405020304" pitchFamily="18" charset="0"/>
              </a:rPr>
              <a:t>edgeType</a:t>
            </a:r>
            <a:r>
              <a:rPr lang="en-US" altLang="zh-CN" b="0" dirty="0">
                <a:cs typeface="Times New Roman" panose="02020603050405020304" pitchFamily="18" charset="0"/>
              </a:rPr>
              <a:t>&gt;::DFS() const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bool *visited;     </a:t>
            </a:r>
            <a:r>
              <a:rPr lang="en-US" altLang="zh-CN" b="0" dirty="0" err="1">
                <a:cs typeface="Times New Roman" panose="02020603050405020304" pitchFamily="18" charset="0"/>
              </a:rPr>
              <a:t>int</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visited = new bool[</a:t>
            </a:r>
            <a:r>
              <a:rPr lang="en-US" altLang="zh-CN" b="0" dirty="0" err="1">
                <a:cs typeface="Times New Roman" panose="02020603050405020304" pitchFamily="18" charset="0"/>
              </a:rPr>
              <a:t>verts</a:t>
            </a:r>
            <a:r>
              <a:rPr lang="en-US" altLang="zh-CN" b="0" dirty="0">
                <a:cs typeface="Times New Roman" panose="02020603050405020304" pitchFamily="18" charset="0"/>
              </a:rPr>
              <a:t>];   if (!visited) throw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for (</a:t>
            </a:r>
            <a:r>
              <a:rPr lang="en-US" altLang="zh-CN" b="0" dirty="0" err="1">
                <a:cs typeface="Times New Roman" panose="02020603050405020304" pitchFamily="18" charset="0"/>
              </a:rPr>
              <a:t>i</a:t>
            </a:r>
            <a:r>
              <a:rPr lang="en-US" altLang="zh-CN" b="0" dirty="0">
                <a:cs typeface="Times New Roman" panose="02020603050405020304" pitchFamily="18" charset="0"/>
              </a:rPr>
              <a:t>=0; </a:t>
            </a:r>
            <a:r>
              <a:rPr lang="en-US" altLang="zh-CN" b="0" dirty="0" err="1">
                <a:cs typeface="Times New Roman" panose="02020603050405020304" pitchFamily="18" charset="0"/>
              </a:rPr>
              <a:t>i</a:t>
            </a:r>
            <a:r>
              <a:rPr lang="en-US" altLang="zh-CN" b="0" dirty="0">
                <a:cs typeface="Times New Roman" panose="02020603050405020304" pitchFamily="18" charset="0"/>
              </a:rPr>
              <a:t>&lt;</a:t>
            </a:r>
            <a:r>
              <a:rPr lang="en-US" altLang="zh-CN" b="0" dirty="0" err="1">
                <a:cs typeface="Times New Roman" panose="02020603050405020304" pitchFamily="18" charset="0"/>
              </a:rPr>
              <a:t>verts</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 visited[</a:t>
            </a:r>
            <a:r>
              <a:rPr lang="en-US" altLang="zh-CN" b="0" dirty="0" err="1">
                <a:cs typeface="Times New Roman" panose="02020603050405020304" pitchFamily="18" charset="0"/>
              </a:rPr>
              <a:t>i</a:t>
            </a:r>
            <a:r>
              <a:rPr lang="en-US" altLang="zh-CN" b="0" dirty="0">
                <a:cs typeface="Times New Roman" panose="02020603050405020304" pitchFamily="18" charset="0"/>
              </a:rPr>
              <a:t>]=false;</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for (</a:t>
            </a:r>
            <a:r>
              <a:rPr lang="en-US" altLang="zh-CN" b="0" dirty="0" err="1">
                <a:cs typeface="Times New Roman" panose="02020603050405020304" pitchFamily="18" charset="0"/>
              </a:rPr>
              <a:t>i</a:t>
            </a:r>
            <a:r>
              <a:rPr lang="en-US" altLang="zh-CN" b="0" dirty="0">
                <a:cs typeface="Times New Roman" panose="02020603050405020304" pitchFamily="18" charset="0"/>
              </a:rPr>
              <a:t>=0; </a:t>
            </a:r>
            <a:r>
              <a:rPr lang="en-US" altLang="zh-CN" b="0" dirty="0" err="1">
                <a:cs typeface="Times New Roman" panose="02020603050405020304" pitchFamily="18" charset="0"/>
              </a:rPr>
              <a:t>i</a:t>
            </a:r>
            <a:r>
              <a:rPr lang="en-US" altLang="zh-CN" b="0" dirty="0">
                <a:cs typeface="Times New Roman" panose="02020603050405020304" pitchFamily="18" charset="0"/>
              </a:rPr>
              <a:t>&lt;</a:t>
            </a:r>
            <a:r>
              <a:rPr lang="en-US" altLang="zh-CN" b="0" dirty="0" err="1">
                <a:cs typeface="Times New Roman" panose="02020603050405020304" pitchFamily="18" charset="0"/>
              </a:rPr>
              <a:t>verts</a:t>
            </a:r>
            <a:r>
              <a:rPr lang="en-US" altLang="zh-CN" b="0" dirty="0">
                <a:cs typeface="Times New Roman" panose="02020603050405020304" pitchFamily="18" charset="0"/>
              </a:rPr>
              <a:t>; </a:t>
            </a:r>
            <a:r>
              <a:rPr lang="en-US" altLang="zh-CN" b="0" dirty="0" err="1">
                <a:cs typeface="Times New Roman" panose="02020603050405020304" pitchFamily="18" charset="0"/>
              </a:rPr>
              <a:t>i</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if (!visited[</a:t>
            </a:r>
            <a:r>
              <a:rPr lang="en-US" altLang="zh-CN" b="0" dirty="0" err="1">
                <a:cs typeface="Times New Roman" panose="02020603050405020304" pitchFamily="18" charset="0"/>
              </a:rPr>
              <a:t>i</a:t>
            </a:r>
            <a:r>
              <a:rPr lang="en-US" altLang="zh-CN" b="0" dirty="0">
                <a:cs typeface="Times New Roman" panose="02020603050405020304" pitchFamily="18" charset="0"/>
              </a:rPr>
              <a:t>]) DFS(</a:t>
            </a:r>
            <a:r>
              <a:rPr lang="en-US" altLang="zh-CN" b="0" dirty="0" err="1">
                <a:cs typeface="Times New Roman" panose="02020603050405020304" pitchFamily="18" charset="0"/>
              </a:rPr>
              <a:t>i</a:t>
            </a:r>
            <a:r>
              <a:rPr lang="en-US" altLang="zh-CN" b="0" dirty="0">
                <a:cs typeface="Times New Roman" panose="02020603050405020304" pitchFamily="18" charset="0"/>
              </a:rPr>
              <a:t>, visited);</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a:t>
            </a:r>
            <a:r>
              <a:rPr lang="en-US" altLang="zh-CN" b="0" dirty="0" err="1">
                <a:cs typeface="Times New Roman" panose="02020603050405020304" pitchFamily="18" charset="0"/>
              </a:rPr>
              <a:t>endl</a:t>
            </a: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a:t>
            </a:r>
          </a:p>
          <a:p>
            <a:pPr marL="0" indent="0">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t> </a:t>
            </a:r>
            <a:endParaRPr lang="zh-CN" altLang="zh-CN" b="0" dirty="0"/>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1701703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419715"/>
            <a:ext cx="11162882" cy="5100792"/>
          </a:xfrm>
        </p:spPr>
        <p:txBody>
          <a:bodyPr>
            <a:noAutofit/>
          </a:bodyPr>
          <a:lstStyle/>
          <a:p>
            <a:pPr marL="0" indent="0">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void Graph&lt;</a:t>
            </a:r>
            <a:r>
              <a:rPr lang="en-US" altLang="zh-CN" b="0" dirty="0" err="1">
                <a:cs typeface="Times New Roman" panose="02020603050405020304" pitchFamily="18" charset="0"/>
              </a:rPr>
              <a:t>verType</a:t>
            </a:r>
            <a:r>
              <a:rPr lang="en-US" altLang="zh-CN" b="0" dirty="0">
                <a:cs typeface="Times New Roman" panose="02020603050405020304" pitchFamily="18" charset="0"/>
              </a:rPr>
              <a:t>, </a:t>
            </a:r>
            <a:r>
              <a:rPr lang="en-US" altLang="zh-CN" b="0" dirty="0" err="1">
                <a:cs typeface="Times New Roman" panose="02020603050405020304" pitchFamily="18" charset="0"/>
              </a:rPr>
              <a:t>edgeType</a:t>
            </a:r>
            <a:r>
              <a:rPr lang="en-US" altLang="zh-CN" b="0" dirty="0">
                <a:cs typeface="Times New Roman" panose="02020603050405020304" pitchFamily="18" charset="0"/>
              </a:rPr>
              <a:t>&gt;::DFS(</a:t>
            </a:r>
            <a:r>
              <a:rPr lang="en-US" altLang="zh-CN" b="0" dirty="0" err="1">
                <a:cs typeface="Times New Roman" panose="02020603050405020304" pitchFamily="18" charset="0"/>
              </a:rPr>
              <a:t>int</a:t>
            </a:r>
            <a:r>
              <a:rPr lang="en-US" altLang="zh-CN" b="0" dirty="0">
                <a:cs typeface="Times New Roman" panose="02020603050405020304" pitchFamily="18" charset="0"/>
              </a:rPr>
              <a:t> start, bool visited[])</a:t>
            </a:r>
            <a:r>
              <a:rPr lang="en-US" altLang="zh-CN" b="0" dirty="0" err="1">
                <a:cs typeface="Times New Roman" panose="02020603050405020304" pitchFamily="18" charset="0"/>
              </a:rPr>
              <a:t>const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edgeNode</a:t>
            </a:r>
            <a:r>
              <a:rPr lang="en-US" altLang="zh-CN" b="0" dirty="0">
                <a:cs typeface="Times New Roman" panose="02020603050405020304" pitchFamily="18" charset="0"/>
              </a:rPr>
              <a:t>&lt;</a:t>
            </a:r>
            <a:r>
              <a:rPr lang="en-US" altLang="zh-CN" b="0" dirty="0" err="1">
                <a:cs typeface="Times New Roman" panose="02020603050405020304" pitchFamily="18" charset="0"/>
              </a:rPr>
              <a:t>edgeType</a:t>
            </a:r>
            <a:r>
              <a:rPr lang="en-US" altLang="zh-CN" b="0" dirty="0">
                <a:cs typeface="Times New Roman" panose="02020603050405020304" pitchFamily="18" charset="0"/>
              </a:rPr>
              <a:t>&gt; *p;</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&lt;&lt;</a:t>
            </a:r>
            <a:r>
              <a:rPr lang="en-US" altLang="zh-CN" b="0" dirty="0" err="1">
                <a:cs typeface="Times New Roman" panose="02020603050405020304" pitchFamily="18" charset="0"/>
              </a:rPr>
              <a:t>verList</a:t>
            </a:r>
            <a:r>
              <a:rPr lang="en-US" altLang="zh-CN" b="0" dirty="0">
                <a:cs typeface="Times New Roman" panose="02020603050405020304" pitchFamily="18" charset="0"/>
              </a:rPr>
              <a:t>[start].data&lt;&lt;'\t';     visited[start] = true;    p = </a:t>
            </a:r>
            <a:r>
              <a:rPr lang="en-US" altLang="zh-CN" b="0" dirty="0" err="1">
                <a:cs typeface="Times New Roman" panose="02020603050405020304" pitchFamily="18" charset="0"/>
              </a:rPr>
              <a:t>verList</a:t>
            </a:r>
            <a:r>
              <a:rPr lang="en-US" altLang="zh-CN" b="0" dirty="0">
                <a:cs typeface="Times New Roman" panose="02020603050405020304" pitchFamily="18" charset="0"/>
              </a:rPr>
              <a:t>[start].</a:t>
            </a:r>
            <a:r>
              <a:rPr lang="en-US" altLang="zh-CN" b="0" dirty="0" err="1">
                <a:cs typeface="Times New Roman" panose="02020603050405020304" pitchFamily="18" charset="0"/>
              </a:rPr>
              <a:t>adj</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while (p)</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  if (!visited[p-&gt;</a:t>
            </a:r>
            <a:r>
              <a:rPr lang="en-US" altLang="zh-CN" b="0" dirty="0" err="1">
                <a:cs typeface="Times New Roman" panose="02020603050405020304" pitchFamily="18" charset="0"/>
              </a:rPr>
              <a:t>dest</a:t>
            </a:r>
            <a:r>
              <a:rPr lang="en-US" altLang="zh-CN" b="0" dirty="0">
                <a:cs typeface="Times New Roman" panose="02020603050405020304" pitchFamily="18" charset="0"/>
              </a:rPr>
              <a:t>]) DFS(p-&gt;</a:t>
            </a:r>
            <a:r>
              <a:rPr lang="en-US" altLang="zh-CN" b="0" dirty="0" err="1">
                <a:cs typeface="Times New Roman" panose="02020603050405020304" pitchFamily="18" charset="0"/>
              </a:rPr>
              <a:t>dest</a:t>
            </a:r>
            <a:r>
              <a:rPr lang="en-US" altLang="zh-CN" b="0" dirty="0">
                <a:cs typeface="Times New Roman" panose="02020603050405020304" pitchFamily="18" charset="0"/>
              </a:rPr>
              <a:t>, visited);</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p = p-&gt;link;</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27614616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2496302"/>
          </a:xfrm>
        </p:spPr>
        <p:txBody>
          <a:bodyPr>
            <a:noAutofit/>
          </a:bodyPr>
          <a:lstStyle/>
          <a:p>
            <a:pPr marL="0" indent="0">
              <a:buNone/>
            </a:pPr>
            <a:r>
              <a:rPr lang="en-US" altLang="zh-CN" sz="2800" b="0" dirty="0">
                <a:ea typeface="华文楷体" pitchFamily="2" charset="-122"/>
                <a:cs typeface="Times New Roman" panose="02020603050405020304" pitchFamily="18" charset="0"/>
              </a:rPr>
              <a:t>DFS()</a:t>
            </a:r>
            <a:r>
              <a:rPr lang="zh-CN" altLang="zh-CN" sz="2800" b="0" dirty="0">
                <a:ea typeface="华文楷体" pitchFamily="2" charset="-122"/>
                <a:cs typeface="Times New Roman" panose="02020603050405020304" pitchFamily="18" charset="0"/>
              </a:rPr>
              <a:t>中第一个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循环初始化</a:t>
            </a:r>
            <a:r>
              <a:rPr lang="en-US" altLang="zh-CN" sz="2800" b="0" dirty="0">
                <a:ea typeface="华文楷体" pitchFamily="2" charset="-122"/>
                <a:cs typeface="Times New Roman" panose="02020603050405020304" pitchFamily="18" charset="0"/>
              </a:rPr>
              <a:t>visited</a:t>
            </a:r>
            <a:r>
              <a:rPr lang="zh-CN" altLang="zh-CN" sz="2800" b="0" dirty="0">
                <a:ea typeface="华文楷体" pitchFamily="2" charset="-122"/>
                <a:cs typeface="Times New Roman" panose="02020603050405020304" pitchFamily="18" charset="0"/>
              </a:rPr>
              <a:t>数组，时间为</a:t>
            </a:r>
            <a:r>
              <a:rPr lang="en-US" altLang="zh-CN" sz="2800" b="0" dirty="0">
                <a:ea typeface="华文楷体" pitchFamily="2" charset="-122"/>
                <a:cs typeface="Times New Roman" panose="02020603050405020304" pitchFamily="18" charset="0"/>
              </a:rPr>
              <a:t>O(n)</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第二个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循环中的每一次循环体的执行都有一个顶点被访检查，一共有</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个顶点，每个顶点又通过</a:t>
            </a:r>
            <a:r>
              <a:rPr lang="en-US" altLang="zh-CN" sz="2800" b="0" dirty="0">
                <a:ea typeface="华文楷体" pitchFamily="2" charset="-122"/>
                <a:cs typeface="Times New Roman" panose="02020603050405020304" pitchFamily="18" charset="0"/>
              </a:rPr>
              <a:t>DFS(</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start, bool visited[])</a:t>
            </a:r>
            <a:r>
              <a:rPr lang="zh-CN" altLang="zh-CN" sz="2800" b="0" dirty="0">
                <a:ea typeface="华文楷体" pitchFamily="2" charset="-122"/>
                <a:cs typeface="Times New Roman" panose="02020603050405020304" pitchFamily="18" charset="0"/>
              </a:rPr>
              <a:t>遍历了它的边表，因此总的时间复杂度为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分析：</a:t>
            </a:r>
          </a:p>
        </p:txBody>
      </p:sp>
    </p:spTree>
    <p:extLst>
      <p:ext uri="{BB962C8B-B14F-4D97-AF65-F5344CB8AC3E}">
        <p14:creationId xmlns:p14="http://schemas.microsoft.com/office/powerpoint/2010/main" val="23988888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20769" y="1558864"/>
                <a:ext cx="11162882" cy="4682910"/>
              </a:xfrm>
            </p:spPr>
            <p:txBody>
              <a:bodyPr>
                <a:noAutofit/>
              </a:bodyPr>
              <a:lstStyle/>
              <a:p>
                <a:pPr marL="0" indent="0">
                  <a:buNone/>
                </a:pPr>
                <a:r>
                  <a:rPr lang="zh-CN" altLang="en-US" sz="2800" b="0" dirty="0">
                    <a:latin typeface="华文楷体" pitchFamily="2" charset="-122"/>
                    <a:ea typeface="华文楷体" pitchFamily="2" charset="-122"/>
                  </a:rPr>
                  <a:t>图的深度优先非递归算法和</a:t>
                </a:r>
                <a:r>
                  <a:rPr lang="zh-CN" altLang="zh-CN" sz="2800" b="0" dirty="0">
                    <a:latin typeface="华文楷体" pitchFamily="2" charset="-122"/>
                    <a:ea typeface="华文楷体" pitchFamily="2" charset="-122"/>
                  </a:rPr>
                  <a:t>方法和二叉树前序遍历的非递归算法相似。</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二叉树的前序遍历，建立一个栈，根结点进栈，然后反复进行以下操作：如果栈不空，弹出访问，如果访问结点有右子，右子进栈；如果访问结点有左子，左子进栈。</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图的深度优先遍历，建立一个栈，选一个顶点进栈，然后反复进行以下操作：如果栈不空，弹出访问，第一个未被访问的邻接点进栈，第二个未被访问的邻接点进栈，</a:t>
                </a:r>
                <a14:m>
                  <m:oMath xmlns:m="http://schemas.openxmlformats.org/officeDocument/2006/math">
                    <m:r>
                      <a:rPr lang="en-US" altLang="zh-CN" sz="2800" b="0">
                        <a:latin typeface="Cambria Math" panose="02040503050406030204" pitchFamily="18" charset="0"/>
                        <a:ea typeface="华文楷体" pitchFamily="2" charset="-122"/>
                      </a:rPr>
                      <m:t>⋯</m:t>
                    </m:r>
                    <m:r>
                      <a:rPr lang="zh-CN" altLang="zh-CN" sz="2800" b="0">
                        <a:latin typeface="Cambria Math" panose="02040503050406030204" pitchFamily="18" charset="0"/>
                        <a:ea typeface="华文楷体" pitchFamily="2" charset="-122"/>
                      </a:rPr>
                      <m:t>，最</m:t>
                    </m:r>
                  </m:oMath>
                </a14:m>
                <a:r>
                  <a:rPr lang="zh-CN" altLang="zh-CN" sz="2800" b="0" dirty="0">
                    <a:latin typeface="华文楷体" pitchFamily="2" charset="-122"/>
                    <a:ea typeface="华文楷体" pitchFamily="2" charset="-122"/>
                  </a:rPr>
                  <a:t>后一个未被访问的邻接点进栈。</a:t>
                </a:r>
                <a:endParaRPr lang="en-US" altLang="zh-CN" sz="2800" b="0" dirty="0">
                  <a:latin typeface="华文楷体" pitchFamily="2" charset="-122"/>
                  <a:ea typeface="华文楷体"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20769" y="1558864"/>
                <a:ext cx="11162882" cy="4682910"/>
              </a:xfrm>
              <a:blipFill>
                <a:blip r:embed="rId3"/>
                <a:stretch>
                  <a:fillRect l="-1147" t="-260" r="-152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思想：</a:t>
            </a:r>
          </a:p>
        </p:txBody>
      </p:sp>
    </p:spTree>
    <p:extLst>
      <p:ext uri="{BB962C8B-B14F-4D97-AF65-F5344CB8AC3E}">
        <p14:creationId xmlns:p14="http://schemas.microsoft.com/office/powerpoint/2010/main" val="38731672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488213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&gt;::DFS()</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r>
              <a:rPr lang="en-US" altLang="zh-CN" dirty="0">
                <a:ea typeface="华文楷体" panose="02010600040101010101" pitchFamily="2" charset="-122"/>
                <a:cs typeface="Times New Roman" panose="02020603050405020304" pitchFamily="18" charset="0"/>
              </a:rPr>
              <a:t>;</a:t>
            </a:r>
            <a:endParaRPr lang="zh-CN" altLang="zh-CN"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1024549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5219624"/>
          </a:xfrm>
        </p:spPr>
        <p:txBody>
          <a:bodyPr>
            <a:noAutofit/>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逐一找到未被访问过顶点，做深度优先遍历</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s.isEmpty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(visited[start])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10539870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521962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41917607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4682910"/>
          </a:xfrm>
        </p:spPr>
        <p:txBody>
          <a:bodyPr>
            <a:noAutofit/>
          </a:bodyPr>
          <a:lstStyle/>
          <a:p>
            <a:pPr marL="0" indent="0">
              <a:buNone/>
            </a:pPr>
            <a:r>
              <a:rPr lang="en-US" altLang="zh-CN" sz="2800" b="0" dirty="0">
                <a:ea typeface="华文楷体" pitchFamily="2" charset="-122"/>
                <a:cs typeface="Times New Roman" panose="02020603050405020304" pitchFamily="18" charset="0"/>
              </a:rPr>
              <a:t>DFS()</a:t>
            </a:r>
            <a:r>
              <a:rPr lang="zh-CN" altLang="zh-CN" sz="2800" b="0" dirty="0">
                <a:ea typeface="华文楷体" pitchFamily="2" charset="-122"/>
                <a:cs typeface="Times New Roman" panose="02020603050405020304" pitchFamily="18" charset="0"/>
              </a:rPr>
              <a:t>中第一个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循环初始化</a:t>
            </a:r>
            <a:r>
              <a:rPr lang="en-US" altLang="zh-CN" sz="2800" b="0" dirty="0">
                <a:ea typeface="华文楷体" pitchFamily="2" charset="-122"/>
                <a:cs typeface="Times New Roman" panose="02020603050405020304" pitchFamily="18" charset="0"/>
              </a:rPr>
              <a:t>visited</a:t>
            </a:r>
            <a:r>
              <a:rPr lang="zh-CN" altLang="zh-CN" sz="2800" b="0" dirty="0">
                <a:ea typeface="华文楷体" pitchFamily="2" charset="-122"/>
                <a:cs typeface="Times New Roman" panose="02020603050405020304" pitchFamily="18" charset="0"/>
              </a:rPr>
              <a:t>数组，时间为</a:t>
            </a:r>
            <a:r>
              <a:rPr lang="en-US" altLang="zh-CN" sz="2800" b="0" dirty="0">
                <a:ea typeface="华文楷体" pitchFamily="2" charset="-122"/>
                <a:cs typeface="Times New Roman" panose="02020603050405020304" pitchFamily="18" charset="0"/>
              </a:rPr>
              <a:t>O(n)</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第二个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循环体中嵌套了一个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循环，而这个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循环中又嵌套了一个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循环，三层循环中循环次数并非相互独立。</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先观察两个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语句嵌套，外层</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语句每次循环体的执行访问了一个顶点并遍历了它的边表，故时间复杂度为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外层</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循环，循环体执行了</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次，但前面</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循环体执行中访问过的结点将不再进入内部</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循环，因此打开</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循环成为串行结构，总的时间复杂度仍为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分析：</a:t>
            </a:r>
          </a:p>
        </p:txBody>
      </p:sp>
    </p:spTree>
    <p:extLst>
      <p:ext uri="{BB962C8B-B14F-4D97-AF65-F5344CB8AC3E}">
        <p14:creationId xmlns:p14="http://schemas.microsoft.com/office/powerpoint/2010/main" val="21922626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777525"/>
            <a:ext cx="11162882" cy="3768510"/>
          </a:xfrm>
        </p:spPr>
        <p:txBody>
          <a:bodyPr>
            <a:noAutofit/>
          </a:bodyPr>
          <a:lstStyle/>
          <a:p>
            <a:pPr marL="0" indent="0">
              <a:buNone/>
            </a:pPr>
            <a:r>
              <a:rPr lang="zh-CN" altLang="zh-CN" sz="2800" b="0" dirty="0">
                <a:ea typeface="华文楷体" pitchFamily="2" charset="-122"/>
                <a:cs typeface="Times New Roman" panose="02020603050405020304" pitchFamily="18" charset="0"/>
              </a:rPr>
              <a:t>如果图用邻接表存储，栈可以不保存顶点，而是保存边结点地址。</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因为每个顶点射出的所有边都在各自用单链表表示的边表中，不需要把访问顶点的所有相邻顶点进栈，只需要将该顶点在边表中的一条其</a:t>
            </a:r>
            <a:r>
              <a:rPr lang="en-US" altLang="zh-CN" sz="2800" b="0" dirty="0" err="1">
                <a:ea typeface="华文楷体" pitchFamily="2" charset="-122"/>
                <a:cs typeface="Times New Roman" panose="02020603050405020304" pitchFamily="18" charset="0"/>
              </a:rPr>
              <a:t>dest</a:t>
            </a:r>
            <a:r>
              <a:rPr lang="zh-CN" altLang="zh-CN" sz="2800" b="0" dirty="0">
                <a:ea typeface="华文楷体" pitchFamily="2" charset="-122"/>
                <a:cs typeface="Times New Roman" panose="02020603050405020304" pitchFamily="18" charset="0"/>
              </a:rPr>
              <a:t>顶点未被访问的边结点地址进栈，它出栈时，根据边结点中</a:t>
            </a:r>
            <a:r>
              <a:rPr lang="en-US" altLang="zh-CN" sz="2800" b="0" dirty="0">
                <a:ea typeface="华文楷体" pitchFamily="2" charset="-122"/>
                <a:cs typeface="Times New Roman" panose="02020603050405020304" pitchFamily="18" charset="0"/>
              </a:rPr>
              <a:t>link</a:t>
            </a:r>
            <a:r>
              <a:rPr lang="zh-CN" altLang="zh-CN" sz="2800" b="0" dirty="0">
                <a:ea typeface="华文楷体" pitchFamily="2" charset="-122"/>
                <a:cs typeface="Times New Roman" panose="02020603050405020304" pitchFamily="18" charset="0"/>
              </a:rPr>
              <a:t>字段找下一条其</a:t>
            </a:r>
            <a:r>
              <a:rPr lang="en-US" altLang="zh-CN" sz="2800" b="0" dirty="0" err="1">
                <a:ea typeface="华文楷体" pitchFamily="2" charset="-122"/>
                <a:cs typeface="Times New Roman" panose="02020603050405020304" pitchFamily="18" charset="0"/>
              </a:rPr>
              <a:t>dest</a:t>
            </a:r>
            <a:r>
              <a:rPr lang="zh-CN" altLang="zh-CN" sz="2800" b="0" dirty="0">
                <a:ea typeface="华文楷体" pitchFamily="2" charset="-122"/>
                <a:cs typeface="Times New Roman" panose="02020603050405020304" pitchFamily="18" charset="0"/>
              </a:rPr>
              <a:t>顶点未被访问的边，如果有，将它进栈，这样便可保证同一弧尾顶点的所有邻接点可以被一个个挨着查验过去。</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改进：</a:t>
            </a:r>
          </a:p>
        </p:txBody>
      </p:sp>
    </p:spTree>
    <p:extLst>
      <p:ext uri="{BB962C8B-B14F-4D97-AF65-F5344CB8AC3E}">
        <p14:creationId xmlns:p14="http://schemas.microsoft.com/office/powerpoint/2010/main" val="28956190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757646"/>
            <a:ext cx="11162882" cy="3013136"/>
          </a:xfrm>
        </p:spPr>
        <p:txBody>
          <a:bodyPr>
            <a:noAutofit/>
          </a:bodyPr>
          <a:lstStyle/>
          <a:p>
            <a:pPr marL="0" indent="0">
              <a:buNone/>
            </a:pPr>
            <a:r>
              <a:rPr lang="zh-CN" altLang="zh-CN" sz="2800" b="0" dirty="0">
                <a:ea typeface="华文楷体" pitchFamily="2" charset="-122"/>
                <a:cs typeface="Times New Roman" panose="02020603050405020304" pitchFamily="18" charset="0"/>
              </a:rPr>
              <a:t>如果图用邻接矩阵存储，访问完顶点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，可从第</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列开始逐列检查，如果遇到第一个有边且顶点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未被访问过，将描述边位置的两元组</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进栈；它出栈时，让第</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行第</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列后第一个有边且</a:t>
            </a:r>
            <a:r>
              <a:rPr lang="en-US" altLang="zh-CN" sz="2800" b="0" dirty="0" err="1">
                <a:ea typeface="华文楷体" pitchFamily="2" charset="-122"/>
                <a:cs typeface="Times New Roman" panose="02020603050405020304" pitchFamily="18" charset="0"/>
              </a:rPr>
              <a:t>j+m</a:t>
            </a:r>
            <a:r>
              <a:rPr lang="zh-CN" altLang="zh-CN" sz="2800" b="0" dirty="0">
                <a:ea typeface="华文楷体" pitchFamily="2" charset="-122"/>
                <a:cs typeface="Times New Roman" panose="02020603050405020304" pitchFamily="18" charset="0"/>
              </a:rPr>
              <a:t>顶点未被访问过的两元组</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i,j+m</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进栈即可。</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改进：</a:t>
            </a:r>
          </a:p>
        </p:txBody>
      </p:sp>
      <p:sp>
        <p:nvSpPr>
          <p:cNvPr id="2" name="椭圆 1"/>
          <p:cNvSpPr/>
          <p:nvPr/>
        </p:nvSpPr>
        <p:spPr>
          <a:xfrm>
            <a:off x="11229975" y="6243638"/>
            <a:ext cx="253676" cy="2143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148988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1479441"/>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深度优先遍历（</a:t>
            </a:r>
            <a:r>
              <a:rPr lang="en-US" altLang="zh-CN" sz="2800" dirty="0">
                <a:latin typeface="华文楷体" pitchFamily="2" charset="-122"/>
                <a:ea typeface="华文楷体" pitchFamily="2" charset="-122"/>
              </a:rPr>
              <a:t>DFS</a:t>
            </a:r>
            <a:r>
              <a:rPr lang="zh-CN" altLang="en-US" sz="2800" dirty="0">
                <a:latin typeface="华文楷体" pitchFamily="2" charset="-122"/>
                <a:ea typeface="华文楷体" pitchFamily="2" charset="-122"/>
              </a:rPr>
              <a:t>）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广度优先遍历（</a:t>
            </a:r>
            <a:r>
              <a:rPr lang="en-US" altLang="zh-CN" sz="2800" dirty="0">
                <a:solidFill>
                  <a:srgbClr val="FF0000"/>
                </a:solidFill>
                <a:latin typeface="华文楷体" pitchFamily="2" charset="-122"/>
                <a:ea typeface="华文楷体" pitchFamily="2" charset="-122"/>
              </a:rPr>
              <a:t>BFS</a:t>
            </a:r>
            <a:r>
              <a:rPr lang="zh-CN" altLang="en-US" sz="2800" dirty="0">
                <a:solidFill>
                  <a:srgbClr val="FF0000"/>
                </a:solidFill>
                <a:latin typeface="华文楷体" pitchFamily="2" charset="-122"/>
                <a:ea typeface="华文楷体" pitchFamily="2" charset="-122"/>
              </a:rPr>
              <a:t>）</a:t>
            </a:r>
            <a:endParaRPr lang="en-US" altLang="zh-CN" sz="2800" dirty="0">
              <a:solidFill>
                <a:srgbClr val="FF0000"/>
              </a:solidFill>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图的遍历：</a:t>
            </a:r>
          </a:p>
        </p:txBody>
      </p:sp>
    </p:spTree>
    <p:extLst>
      <p:ext uri="{BB962C8B-B14F-4D97-AF65-F5344CB8AC3E}">
        <p14:creationId xmlns:p14="http://schemas.microsoft.com/office/powerpoint/2010/main" val="20253409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zh-CN" sz="2800" b="0" dirty="0">
                <a:ea typeface="华文楷体" pitchFamily="2" charset="-122"/>
                <a:cs typeface="Times New Roman" panose="02020603050405020304" pitchFamily="18" charset="0"/>
              </a:rPr>
              <a:t>访问方式类似于二叉树的层次遍历。：</a:t>
            </a:r>
          </a:p>
          <a:p>
            <a:pPr marL="457200" indent="-457200">
              <a:buFont typeface="+mj-lt"/>
              <a:buAutoNum type="arabicPeriod"/>
            </a:pPr>
            <a:r>
              <a:rPr lang="zh-CN" altLang="zh-CN" b="0" dirty="0">
                <a:ea typeface="华文楷体" panose="02010600040101010101" pitchFamily="2" charset="-122"/>
                <a:cs typeface="Times New Roman" panose="02020603050405020304" pitchFamily="18" charset="0"/>
              </a:rPr>
              <a:t>选中第一个</a:t>
            </a:r>
            <a:r>
              <a:rPr lang="zh-CN" altLang="en-US" b="0" dirty="0">
                <a:ea typeface="华文楷体" panose="02010600040101010101" pitchFamily="2" charset="-122"/>
                <a:cs typeface="Times New Roman" panose="02020603050405020304" pitchFamily="18" charset="0"/>
              </a:rPr>
              <a:t>未</a:t>
            </a:r>
            <a:r>
              <a:rPr lang="zh-CN" altLang="zh-CN" b="0" dirty="0">
                <a:ea typeface="华文楷体" panose="02010600040101010101" pitchFamily="2" charset="-122"/>
                <a:cs typeface="Times New Roman" panose="02020603050405020304" pitchFamily="18" charset="0"/>
              </a:rPr>
              <a:t>被访问的顶点。</a:t>
            </a:r>
          </a:p>
          <a:p>
            <a:pPr marL="457200" indent="-457200">
              <a:buFont typeface="+mj-lt"/>
              <a:buAutoNum type="arabicPeriod"/>
            </a:pPr>
            <a:r>
              <a:rPr lang="zh-CN" altLang="en-US" b="0" dirty="0">
                <a:ea typeface="华文楷体" panose="02010600040101010101" pitchFamily="2" charset="-122"/>
                <a:cs typeface="Times New Roman" panose="02020603050405020304" pitchFamily="18" charset="0"/>
              </a:rPr>
              <a:t>访问、</a:t>
            </a:r>
            <a:r>
              <a:rPr lang="zh-CN" altLang="zh-CN" b="0" dirty="0">
                <a:ea typeface="华文楷体" panose="02010600040101010101" pitchFamily="2" charset="-122"/>
                <a:cs typeface="Times New Roman" panose="02020603050405020304" pitchFamily="18" charset="0"/>
              </a:rPr>
              <a:t>对顶点置已访问过的标志。</a:t>
            </a:r>
          </a:p>
          <a:p>
            <a:pPr marL="457200" indent="-457200">
              <a:buFont typeface="+mj-lt"/>
              <a:buAutoNum type="arabicPeriod"/>
            </a:pPr>
            <a:r>
              <a:rPr lang="zh-CN" altLang="zh-CN" b="0" dirty="0">
                <a:ea typeface="华文楷体" panose="02010600040101010101" pitchFamily="2" charset="-122"/>
                <a:cs typeface="Times New Roman" panose="02020603050405020304" pitchFamily="18" charset="0"/>
              </a:rPr>
              <a:t>依次对顶点的未被访问过的第一个、第二个、第三个</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第</a:t>
            </a:r>
            <a:r>
              <a:rPr lang="en-US" altLang="zh-CN" b="0" dirty="0">
                <a:ea typeface="华文楷体" panose="02010600040101010101" pitchFamily="2" charset="-122"/>
                <a:cs typeface="Times New Roman" panose="02020603050405020304" pitchFamily="18" charset="0"/>
              </a:rPr>
              <a:t> m </a:t>
            </a:r>
            <a:r>
              <a:rPr lang="zh-CN" altLang="zh-CN" b="0" dirty="0">
                <a:ea typeface="华文楷体" panose="02010600040101010101" pitchFamily="2" charset="-122"/>
                <a:cs typeface="Times New Roman" panose="02020603050405020304" pitchFamily="18" charset="0"/>
              </a:rPr>
              <a:t>个</a:t>
            </a:r>
          </a:p>
          <a:p>
            <a:pPr marL="457200" indent="0">
              <a:buNone/>
            </a:pPr>
            <a:r>
              <a:rPr lang="zh-CN" altLang="zh-CN" b="0" dirty="0">
                <a:ea typeface="华文楷体" panose="02010600040101010101" pitchFamily="2" charset="-122"/>
                <a:cs typeface="Times New Roman" panose="02020603050405020304" pitchFamily="18" charset="0"/>
              </a:rPr>
              <a:t>邻接顶点</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1</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3</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m</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进行访问且进行标记。</a:t>
            </a:r>
          </a:p>
          <a:p>
            <a:pPr marL="457200" indent="-457200">
              <a:buFont typeface="+mj-lt"/>
              <a:buAutoNum type="arabicPeriod" startAt="4"/>
            </a:pPr>
            <a:r>
              <a:rPr lang="zh-CN" altLang="en-US" b="0" dirty="0">
                <a:ea typeface="华文楷体" panose="02010600040101010101" pitchFamily="2" charset="-122"/>
                <a:cs typeface="Times New Roman" panose="02020603050405020304" pitchFamily="18" charset="0"/>
              </a:rPr>
              <a:t>依</a:t>
            </a:r>
            <a:r>
              <a:rPr lang="zh-CN" altLang="zh-CN" b="0" dirty="0">
                <a:ea typeface="华文楷体" panose="02010600040101010101" pitchFamily="2" charset="-122"/>
                <a:cs typeface="Times New Roman" panose="02020603050405020304" pitchFamily="18" charset="0"/>
              </a:rPr>
              <a:t>次对顶点</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1</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3</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m</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转向操作</a:t>
            </a:r>
            <a:r>
              <a:rPr lang="en-US" altLang="zh-CN" b="0" dirty="0">
                <a:ea typeface="华文楷体" panose="02010600040101010101" pitchFamily="2" charset="-122"/>
                <a:cs typeface="Times New Roman" panose="02020603050405020304" pitchFamily="18" charset="0"/>
              </a:rPr>
              <a:t>3</a:t>
            </a:r>
            <a:r>
              <a:rPr lang="zh-CN" altLang="zh-CN" b="0" dirty="0">
                <a:ea typeface="华文楷体" panose="02010600040101010101" pitchFamily="2" charset="-122"/>
                <a:cs typeface="Times New Roman" panose="02020603050405020304" pitchFamily="18" charset="0"/>
              </a:rPr>
              <a:t>。</a:t>
            </a:r>
          </a:p>
          <a:p>
            <a:pPr marL="457200" indent="-457200">
              <a:buFont typeface="+mj-lt"/>
              <a:buAutoNum type="arabicPeriod" startAt="4"/>
            </a:pPr>
            <a:r>
              <a:rPr lang="zh-CN" altLang="zh-CN" b="0" dirty="0">
                <a:ea typeface="华文楷体" panose="02010600040101010101" pitchFamily="2" charset="-122"/>
                <a:cs typeface="Times New Roman" panose="02020603050405020304" pitchFamily="18" charset="0"/>
              </a:rPr>
              <a:t>如果还有顶点未被访问，任选其中一个顶点作为起始顶点，转向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p>
          <a:p>
            <a:pPr marL="0" indent="457200">
              <a:buNone/>
            </a:pPr>
            <a:r>
              <a:rPr lang="zh-CN" altLang="zh-CN" b="0" dirty="0">
                <a:ea typeface="华文楷体" panose="02010600040101010101" pitchFamily="2" charset="-122"/>
                <a:cs typeface="Times New Roman" panose="02020603050405020304" pitchFamily="18" charset="0"/>
              </a:rPr>
              <a:t>如果所有的顶点都被访问到，遍历结束。</a:t>
            </a:r>
          </a:p>
        </p:txBody>
      </p:sp>
      <p:sp>
        <p:nvSpPr>
          <p:cNvPr id="2" name="标题 1"/>
          <p:cNvSpPr>
            <a:spLocks noGrp="1"/>
          </p:cNvSpPr>
          <p:nvPr>
            <p:ph type="title"/>
          </p:nvPr>
        </p:nvSpPr>
        <p:spPr>
          <a:xfrm>
            <a:off x="420160" y="734268"/>
            <a:ext cx="11162884" cy="574183"/>
          </a:xfrm>
        </p:spPr>
        <p:txBody>
          <a:bodyPr/>
          <a:lstStyle/>
          <a:p>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广度优先遍历 </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BFS</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Breadth First Search</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13905295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7322" y="5565911"/>
            <a:ext cx="11131826" cy="954107"/>
          </a:xfrm>
          <a:prstGeom prst="rect">
            <a:avLst/>
          </a:prstGeom>
          <a:noFill/>
        </p:spPr>
        <p:txBody>
          <a:bodyPr wrap="square" rtlCol="0">
            <a:spAutoFit/>
          </a:bodyPr>
          <a:lstStyle/>
          <a:p>
            <a:r>
              <a:rPr lang="zh-CN" altLang="zh-CN" sz="2800" dirty="0">
                <a:latin typeface="华文楷体" pitchFamily="2" charset="-122"/>
                <a:ea typeface="华文楷体" pitchFamily="2" charset="-122"/>
              </a:rPr>
              <a:t>同一个图的</a:t>
            </a:r>
            <a:r>
              <a:rPr lang="zh-CN" altLang="en-US" sz="2800" dirty="0">
                <a:latin typeface="华文楷体" pitchFamily="2" charset="-122"/>
                <a:ea typeface="华文楷体" pitchFamily="2" charset="-122"/>
              </a:rPr>
              <a:t>广</a:t>
            </a:r>
            <a:r>
              <a:rPr lang="zh-CN" altLang="zh-CN" sz="2800" dirty="0">
                <a:latin typeface="华文楷体" pitchFamily="2" charset="-122"/>
                <a:ea typeface="华文楷体" pitchFamily="2" charset="-122"/>
              </a:rPr>
              <a:t>度优先遍历结果并不唯一，图中就是对</a:t>
            </a:r>
            <a:r>
              <a:rPr lang="en-US" altLang="zh-CN" sz="2800" dirty="0">
                <a:latin typeface="华文楷体" pitchFamily="2" charset="-122"/>
                <a:ea typeface="华文楷体" pitchFamily="2" charset="-122"/>
              </a:rPr>
              <a:t>G18</a:t>
            </a:r>
            <a:r>
              <a:rPr lang="zh-CN" altLang="zh-CN" sz="2800" dirty="0">
                <a:latin typeface="华文楷体" pitchFamily="2" charset="-122"/>
                <a:ea typeface="华文楷体" pitchFamily="2" charset="-122"/>
              </a:rPr>
              <a:t>的两种不同的深度遍历结果。</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610138" y="1771857"/>
            <a:ext cx="9104243" cy="3297100"/>
          </a:xfrm>
          <a:prstGeom prst="rect">
            <a:avLst/>
          </a:prstGeom>
          <a:noFill/>
          <a:ln>
            <a:noFill/>
          </a:ln>
        </p:spPr>
      </p:pic>
    </p:spTree>
    <p:extLst>
      <p:ext uri="{BB962C8B-B14F-4D97-AF65-F5344CB8AC3E}">
        <p14:creationId xmlns:p14="http://schemas.microsoft.com/office/powerpoint/2010/main" val="3658890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marL="0" indent="0">
              <a:buNone/>
            </a:pPr>
            <a:r>
              <a:rPr lang="zh-CN" altLang="en-US" sz="2800" b="0" dirty="0">
                <a:ea typeface="华文楷体" pitchFamily="2" charset="-122"/>
                <a:cs typeface="Times New Roman" panose="02020603050405020304" pitchFamily="18" charset="0"/>
              </a:rPr>
              <a:t>和</a:t>
            </a:r>
            <a:r>
              <a:rPr lang="zh-CN" altLang="zh-CN" sz="2800" b="0" dirty="0">
                <a:ea typeface="华文楷体" pitchFamily="2" charset="-122"/>
                <a:cs typeface="Times New Roman" panose="02020603050405020304" pitchFamily="18" charset="0"/>
              </a:rPr>
              <a:t>二叉树的层次遍历实现方法类似：</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程序首先将所有顶点的访问标志初始化为</a:t>
            </a:r>
            <a:r>
              <a:rPr lang="en-US" altLang="zh-CN" sz="2800" b="0" dirty="0">
                <a:ea typeface="华文楷体" pitchFamily="2" charset="-122"/>
                <a:cs typeface="Times New Roman" panose="02020603050405020304" pitchFamily="18" charset="0"/>
              </a:rPr>
              <a:t>false</a:t>
            </a:r>
            <a:r>
              <a:rPr lang="zh-CN" altLang="zh-CN" sz="2800" b="0" dirty="0">
                <a:ea typeface="华文楷体" pitchFamily="2" charset="-122"/>
                <a:cs typeface="Times New Roman" panose="02020603050405020304" pitchFamily="18" charset="0"/>
              </a:rPr>
              <a:t>，然后进入外层</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在外循环中，顺序找未被访问过的顶点作起始顶点，将起始顶点进队，然后反复执行以下循环：顶点出队，如果未访问过，访问之并将它所有未被访问过的邻接点进队，反复循环，直到队空。</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继续下一轮外循环，直到所有的顶点都被检查过。</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广</a:t>
            </a:r>
            <a:r>
              <a:rPr lang="zh-CN" altLang="zh-CN" dirty="0"/>
              <a:t>度优先遍历的算法</a:t>
            </a:r>
            <a:r>
              <a:rPr lang="zh-CN" altLang="en-US" dirty="0"/>
              <a:t>思想：</a:t>
            </a:r>
          </a:p>
        </p:txBody>
      </p:sp>
    </p:spTree>
    <p:extLst>
      <p:ext uri="{BB962C8B-B14F-4D97-AF65-F5344CB8AC3E}">
        <p14:creationId xmlns:p14="http://schemas.microsoft.com/office/powerpoint/2010/main" val="35311219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23994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&gt;::BFS()</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广度优先遍历</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q;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广</a:t>
            </a:r>
            <a:r>
              <a:rPr lang="zh-CN" altLang="zh-CN" dirty="0"/>
              <a:t>度优先遍历的算法</a:t>
            </a:r>
            <a:r>
              <a:rPr lang="zh-CN" altLang="en-US" dirty="0"/>
              <a:t>实现：</a:t>
            </a:r>
          </a:p>
        </p:txBody>
      </p:sp>
    </p:spTree>
    <p:extLst>
      <p:ext uri="{BB962C8B-B14F-4D97-AF65-F5344CB8AC3E}">
        <p14:creationId xmlns:p14="http://schemas.microsoft.com/office/powerpoint/2010/main" val="26151885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803051"/>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(visited[start])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6182139" y="1412651"/>
            <a:ext cx="5440017" cy="518693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t>	</a:t>
            </a: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923721"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8724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2496302"/>
          </a:xfrm>
        </p:spPr>
        <p:txBody>
          <a:bodyPr>
            <a:noAutofit/>
          </a:bodyPr>
          <a:lstStyle/>
          <a:p>
            <a:pPr marL="0" indent="0">
              <a:buNone/>
            </a:pPr>
            <a:r>
              <a:rPr lang="zh-CN" altLang="zh-CN" sz="2800" b="0" dirty="0">
                <a:ea typeface="华文楷体" pitchFamily="2" charset="-122"/>
                <a:cs typeface="Times New Roman" panose="02020603050405020304" pitchFamily="18" charset="0"/>
              </a:rPr>
              <a:t>初始化</a:t>
            </a:r>
            <a:r>
              <a:rPr lang="en-US" altLang="zh-CN" sz="2800" b="0" dirty="0">
                <a:ea typeface="华文楷体" pitchFamily="2" charset="-122"/>
                <a:cs typeface="Times New Roman" panose="02020603050405020304" pitchFamily="18" charset="0"/>
              </a:rPr>
              <a:t>visited</a:t>
            </a:r>
            <a:r>
              <a:rPr lang="zh-CN" altLang="zh-CN" sz="2800" b="0" dirty="0">
                <a:ea typeface="华文楷体" pitchFamily="2" charset="-122"/>
                <a:cs typeface="Times New Roman" panose="02020603050405020304" pitchFamily="18" charset="0"/>
              </a:rPr>
              <a:t>数组，时间为</a:t>
            </a:r>
            <a:r>
              <a:rPr lang="en-US" altLang="zh-CN" sz="2800" b="0" dirty="0">
                <a:ea typeface="华文楷体" pitchFamily="2" charset="-122"/>
                <a:cs typeface="Times New Roman" panose="02020603050405020304" pitchFamily="18" charset="0"/>
              </a:rPr>
              <a:t>O(n)</a:t>
            </a:r>
            <a:r>
              <a:rPr lang="zh-CN" altLang="zh-CN" sz="2800" b="0" dirty="0">
                <a:ea typeface="华文楷体" pitchFamily="2" charset="-122"/>
                <a:cs typeface="Times New Roman" panose="02020603050405020304" pitchFamily="18" charset="0"/>
              </a:rPr>
              <a:t>；第二个循环为</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三层循环嵌套，三层循环相互并不独立。打开外循环，检查每个顶点，当某个顶点未被访问时，通过内循环访问它，并通过遍历边表访问所有和它在一个连通分量中的顶点，因此总的时间为</a:t>
            </a:r>
            <a:r>
              <a:rPr lang="en-US" altLang="zh-CN" sz="2800" b="0" dirty="0" err="1">
                <a:ea typeface="华文楷体" pitchFamily="2" charset="-122"/>
                <a:cs typeface="Times New Roman" panose="02020603050405020304" pitchFamily="18" charset="0"/>
              </a:rPr>
              <a:t>n+e</a:t>
            </a:r>
            <a:r>
              <a:rPr lang="zh-CN" altLang="zh-CN" sz="2800" b="0" dirty="0">
                <a:ea typeface="华文楷体" pitchFamily="2" charset="-122"/>
                <a:cs typeface="Times New Roman" panose="02020603050405020304" pitchFamily="18" charset="0"/>
              </a:rPr>
              <a:t>，故算法的时间复杂度为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广度</a:t>
            </a:r>
            <a:r>
              <a:rPr lang="zh-CN" altLang="zh-CN" dirty="0">
                <a:latin typeface="华文楷体" panose="02010600040101010101" pitchFamily="2" charset="-122"/>
                <a:ea typeface="华文楷体" panose="02010600040101010101" pitchFamily="2" charset="-122"/>
              </a:rPr>
              <a:t>优先遍历的递归算法</a:t>
            </a:r>
            <a:r>
              <a:rPr lang="zh-CN" altLang="en-US" dirty="0">
                <a:latin typeface="华文楷体" panose="02010600040101010101" pitchFamily="2" charset="-122"/>
                <a:ea typeface="华文楷体" panose="02010600040101010101" pitchFamily="2" charset="-122"/>
              </a:rPr>
              <a:t>分析：</a:t>
            </a:r>
          </a:p>
        </p:txBody>
      </p:sp>
      <p:sp>
        <p:nvSpPr>
          <p:cNvPr id="2" name="椭圆 1"/>
          <p:cNvSpPr/>
          <p:nvPr/>
        </p:nvSpPr>
        <p:spPr>
          <a:xfrm>
            <a:off x="11772900" y="6443663"/>
            <a:ext cx="142875" cy="1857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237454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图的连通性</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21886587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53814" cy="1807858"/>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无向图的连通性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有向图的连通性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欧拉回路（补充内容）</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图的连通性：</a:t>
            </a:r>
          </a:p>
        </p:txBody>
      </p:sp>
    </p:spTree>
    <p:extLst>
      <p:ext uri="{BB962C8B-B14F-4D97-AF65-F5344CB8AC3E}">
        <p14:creationId xmlns:p14="http://schemas.microsoft.com/office/powerpoint/2010/main" val="6361945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624203" cy="4930838"/>
          </a:xfrm>
        </p:spPr>
        <p:txBody>
          <a:bodyPr>
            <a:noAutofit/>
          </a:bodyPr>
          <a:lstStyle/>
          <a:p>
            <a:pPr marL="0" indent="0">
              <a:buNone/>
            </a:pPr>
            <a:r>
              <a:rPr lang="zh-CN" altLang="zh-CN" sz="2800" b="0" dirty="0">
                <a:ea typeface="华文楷体" pitchFamily="2" charset="-122"/>
                <a:cs typeface="Times New Roman" panose="02020603050405020304" pitchFamily="18" charset="0"/>
              </a:rPr>
              <a:t>如果无向图是连通的，那么选定图中任何一个顶点，从该顶点出发，通过遍历，就能到达图中其他所有顶点。</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这在以上的深度优先、广度优先遍历算法实现中增加一个</a:t>
            </a:r>
            <a:r>
              <a:rPr lang="zh-CN" altLang="zh-CN" sz="2800" b="0" dirty="0">
                <a:solidFill>
                  <a:schemeClr val="accent1">
                    <a:lumMod val="60000"/>
                    <a:lumOff val="40000"/>
                  </a:schemeClr>
                </a:solidFill>
                <a:ea typeface="华文楷体" pitchFamily="2" charset="-122"/>
                <a:cs typeface="Times New Roman" panose="02020603050405020304" pitchFamily="18" charset="0"/>
              </a:rPr>
              <a:t>计数器</a:t>
            </a:r>
            <a:r>
              <a:rPr lang="zh-CN" altLang="zh-CN" sz="2800" b="0" dirty="0">
                <a:ea typeface="华文楷体" pitchFamily="2" charset="-122"/>
                <a:cs typeface="Times New Roman" panose="02020603050405020304" pitchFamily="18" charset="0"/>
              </a:rPr>
              <a:t>，记录外循环体中，进入内循环的次数，根据次数可以判断出该图是否连通、如果不连通有几个连通分量、每个连通分量包含哪些顶点。</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顺着图中边的信息对顶点进行遍历的用途非常广泛。比如在最内部的循环中，如果遇到了</a:t>
            </a:r>
            <a:r>
              <a:rPr lang="en-US" altLang="zh-CN" sz="2800" b="0" dirty="0">
                <a:ea typeface="华文楷体" pitchFamily="2" charset="-122"/>
                <a:cs typeface="Times New Roman" panose="02020603050405020304" pitchFamily="18" charset="0"/>
              </a:rPr>
              <a:t>visited[p-&gt;</a:t>
            </a:r>
            <a:r>
              <a:rPr lang="en-US" altLang="zh-CN" sz="2800" b="0" dirty="0" err="1">
                <a:ea typeface="华文楷体" pitchFamily="2" charset="-122"/>
                <a:cs typeface="Times New Roman" panose="02020603050405020304" pitchFamily="18" charset="0"/>
              </a:rPr>
              <a:t>dest</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为</a:t>
            </a:r>
            <a:r>
              <a:rPr lang="en-US" altLang="zh-CN" sz="2800" b="0" dirty="0">
                <a:ea typeface="华文楷体" pitchFamily="2" charset="-122"/>
                <a:cs typeface="Times New Roman" panose="02020603050405020304" pitchFamily="18" charset="0"/>
              </a:rPr>
              <a:t>true</a:t>
            </a:r>
            <a:r>
              <a:rPr lang="zh-CN" altLang="zh-CN" sz="2800" b="0" dirty="0">
                <a:ea typeface="华文楷体" pitchFamily="2" charset="-122"/>
                <a:cs typeface="Times New Roman" panose="02020603050405020304" pitchFamily="18" charset="0"/>
              </a:rPr>
              <a:t>，那就意味着图中</a:t>
            </a:r>
            <a:r>
              <a:rPr lang="zh-CN" altLang="en-US" sz="2800" b="0" dirty="0">
                <a:ea typeface="华文楷体" pitchFamily="2" charset="-122"/>
                <a:cs typeface="Times New Roman" panose="02020603050405020304" pitchFamily="18" charset="0"/>
              </a:rPr>
              <a:t>可能</a:t>
            </a:r>
            <a:r>
              <a:rPr lang="zh-CN" altLang="zh-CN" sz="2800" b="0" dirty="0">
                <a:ea typeface="华文楷体" pitchFamily="2" charset="-122"/>
                <a:cs typeface="Times New Roman" panose="02020603050405020304" pitchFamily="18" charset="0"/>
              </a:rPr>
              <a:t>出现了回路。</a:t>
            </a:r>
          </a:p>
        </p:txBody>
      </p:sp>
      <p:sp>
        <p:nvSpPr>
          <p:cNvPr id="2" name="标题 1"/>
          <p:cNvSpPr>
            <a:spLocks noGrp="1"/>
          </p:cNvSpPr>
          <p:nvPr>
            <p:ph type="title"/>
          </p:nvPr>
        </p:nvSpPr>
        <p:spPr>
          <a:xfrm>
            <a:off x="420160" y="734268"/>
            <a:ext cx="11162884" cy="574183"/>
          </a:xfrm>
        </p:spPr>
        <p:txBody>
          <a:bodyPr/>
          <a:lstStyle/>
          <a:p>
            <a:r>
              <a:rPr lang="zh-CN" altLang="en-US" dirty="0">
                <a:latin typeface="华文楷体" panose="02010600040101010101" pitchFamily="2" charset="-122"/>
                <a:ea typeface="华文楷体" panose="02010600040101010101" pitchFamily="2" charset="-122"/>
              </a:rPr>
              <a:t>无向图的连通性和连通分量：</a:t>
            </a:r>
          </a:p>
        </p:txBody>
      </p:sp>
    </p:spTree>
    <p:extLst>
      <p:ext uri="{BB962C8B-B14F-4D97-AF65-F5344CB8AC3E}">
        <p14:creationId xmlns:p14="http://schemas.microsoft.com/office/powerpoint/2010/main" val="17992032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23994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bool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&gt;::connected()</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广度优先遍历</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q;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 </a:t>
            </a:r>
            <a:r>
              <a:rPr lang="en-US" altLang="zh-CN" dirty="0">
                <a:ea typeface="华文楷体" panose="02010600040101010101" pitchFamily="2" charset="-122"/>
                <a:cs typeface="Times New Roman" panose="02020603050405020304" pitchFamily="18" charset="0"/>
              </a:rPr>
              <a:t>count=0; //count</a:t>
            </a:r>
            <a:r>
              <a:rPr lang="zh-CN" altLang="zh-CN" dirty="0">
                <a:ea typeface="华文楷体" panose="02010600040101010101" pitchFamily="2" charset="-122"/>
                <a:cs typeface="Times New Roman" panose="02020603050405020304" pitchFamily="18" charset="0"/>
              </a:rPr>
              <a:t>为计数器</a:t>
            </a: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连通性和连通分量</a:t>
            </a:r>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3949034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803051"/>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count++;  </a:t>
            </a: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7030A0"/>
                </a:solidFill>
                <a:ea typeface="华文楷体" panose="02010600040101010101" pitchFamily="2" charset="-122"/>
                <a:cs typeface="Times New Roman" panose="02020603050405020304" pitchFamily="18" charset="0"/>
              </a:rPr>
              <a:t> </a:t>
            </a:r>
            <a:r>
              <a:rPr lang="en-US" altLang="zh-CN" b="0" dirty="0">
                <a:solidFill>
                  <a:srgbClr val="00B050"/>
                </a:solidFill>
                <a:ea typeface="华文楷体" panose="02010600040101010101" pitchFamily="2" charset="-122"/>
                <a:cs typeface="Times New Roman" panose="02020603050405020304" pitchFamily="18" charset="0"/>
              </a:rPr>
              <a:t>{</a:t>
            </a:r>
            <a:r>
              <a:rPr lang="en-US" altLang="zh-CN" b="0" dirty="0">
                <a:solidFill>
                  <a:srgbClr val="7030A0"/>
                </a:solidFill>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(visited[start])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5804452" y="803051"/>
            <a:ext cx="5440017" cy="579653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t>	</a:t>
            </a: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a:solidFill>
                  <a:srgbClr val="00B050"/>
                </a:solidFill>
                <a:ea typeface="华文楷体" panose="02010600040101010101" pitchFamily="2" charset="-122"/>
                <a:cs typeface="Times New Roman" panose="02020603050405020304" pitchFamily="18" charset="0"/>
              </a:rPr>
              <a:t>}</a:t>
            </a:r>
            <a:endParaRPr lang="zh-CN" altLang="zh-CN" b="0" dirty="0">
              <a:solidFill>
                <a:srgbClr val="00B05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a:t>
            </a:r>
            <a:endParaRPr lang="zh-CN" altLang="zh-CN"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if (count==1) return true;</a:t>
            </a:r>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return false;     </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923721"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11744325" y="6486525"/>
            <a:ext cx="214313" cy="228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80608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6" y="2663934"/>
            <a:ext cx="4204335" cy="2083430"/>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无向图的连通性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有向图的连通性</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欧拉回路（补充内容）</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图的连通性：</a:t>
            </a:r>
          </a:p>
        </p:txBody>
      </p:sp>
    </p:spTree>
    <p:extLst>
      <p:ext uri="{BB962C8B-B14F-4D97-AF65-F5344CB8AC3E}">
        <p14:creationId xmlns:p14="http://schemas.microsoft.com/office/powerpoint/2010/main" val="41495125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en-US" sz="2800" dirty="0">
                <a:ea typeface="华文楷体" pitchFamily="2" charset="-122"/>
                <a:cs typeface="Times New Roman" panose="02020603050405020304" pitchFamily="18" charset="0"/>
              </a:rPr>
              <a:t>有向图的连通性和其强连通分量是同一个问题</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当有向图的强连通分量只有一个时，说明它是强连通图。</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当有向图的强连通分量不止一个时，说明它不是强连通图。</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r>
              <a:rPr lang="zh-CN" altLang="zh-CN" sz="2800" dirty="0">
                <a:ea typeface="华文楷体" pitchFamily="2" charset="-122"/>
                <a:cs typeface="Times New Roman" panose="02020603050405020304" pitchFamily="18" charset="0"/>
              </a:rPr>
              <a:t>有向图的强连通分量问题解决起来比较复杂</a:t>
            </a:r>
            <a:r>
              <a:rPr lang="zh-CN" altLang="en-US" sz="280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对一个强连通分量来说，要求每一对顶点间都有路径可达，比如顶点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，不光要从</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能到</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，还要求从</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能到</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a:t>
            </a:r>
          </a:p>
        </p:txBody>
      </p:sp>
      <p:sp>
        <p:nvSpPr>
          <p:cNvPr id="2" name="标题 1"/>
          <p:cNvSpPr>
            <a:spLocks noGrp="1"/>
          </p:cNvSpPr>
          <p:nvPr>
            <p:ph type="title"/>
          </p:nvPr>
        </p:nvSpPr>
        <p:spPr>
          <a:xfrm>
            <a:off x="420160" y="734268"/>
            <a:ext cx="11162884" cy="574183"/>
          </a:xfrm>
        </p:spPr>
        <p:txBody>
          <a:bodyPr/>
          <a:lstStyle/>
          <a:p>
            <a:r>
              <a:rPr lang="zh-CN" altLang="en-US" dirty="0"/>
              <a:t>有向图的连通性：</a:t>
            </a:r>
          </a:p>
        </p:txBody>
      </p:sp>
    </p:spTree>
    <p:extLst>
      <p:ext uri="{BB962C8B-B14F-4D97-AF65-F5344CB8AC3E}">
        <p14:creationId xmlns:p14="http://schemas.microsoft.com/office/powerpoint/2010/main" val="4655877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494188"/>
            <a:ext cx="11401423" cy="4220812"/>
          </a:xfrm>
        </p:spPr>
        <p:txBody>
          <a:bodyPr>
            <a:noAutofit/>
          </a:bodyPr>
          <a:lstStyle/>
          <a:p>
            <a:pPr marL="0" indent="0">
              <a:buNone/>
            </a:pPr>
            <a:r>
              <a:rPr lang="zh-CN" altLang="zh-CN" sz="2800" b="0" dirty="0">
                <a:ea typeface="华文楷体" pitchFamily="2" charset="-122"/>
                <a:cs typeface="Times New Roman" panose="02020603050405020304" pitchFamily="18" charset="0"/>
              </a:rPr>
              <a:t>可以利用有向图的深度优先遍历</a:t>
            </a:r>
            <a:r>
              <a:rPr lang="en-US" altLang="zh-CN" sz="2800" b="0" dirty="0">
                <a:ea typeface="华文楷体" pitchFamily="2" charset="-122"/>
                <a:cs typeface="Times New Roman" panose="02020603050405020304" pitchFamily="18" charset="0"/>
              </a:rPr>
              <a:t>DFS</a:t>
            </a:r>
            <a:r>
              <a:rPr lang="zh-CN" altLang="zh-CN" sz="2800" b="0" dirty="0">
                <a:ea typeface="华文楷体" pitchFamily="2" charset="-122"/>
                <a:cs typeface="Times New Roman" panose="02020603050405020304" pitchFamily="18" charset="0"/>
              </a:rPr>
              <a:t>，通过以下算法获得：</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对有向图</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进行深度优先遍历，按照遍历中回退顶点的次序给每个顶点进行编号。</a:t>
            </a:r>
            <a:r>
              <a:rPr lang="zh-CN" altLang="zh-CN" sz="2800" b="0" dirty="0">
                <a:solidFill>
                  <a:schemeClr val="accent1">
                    <a:lumMod val="60000"/>
                    <a:lumOff val="40000"/>
                  </a:schemeClr>
                </a:solidFill>
                <a:ea typeface="华文楷体" pitchFamily="2" charset="-122"/>
                <a:cs typeface="Times New Roman" panose="02020603050405020304" pitchFamily="18" charset="0"/>
              </a:rPr>
              <a:t>最先回退</a:t>
            </a:r>
            <a:r>
              <a:rPr lang="zh-CN" altLang="zh-CN" sz="2800" b="0" dirty="0">
                <a:ea typeface="华文楷体" pitchFamily="2" charset="-122"/>
                <a:cs typeface="Times New Roman" panose="02020603050405020304" pitchFamily="18" charset="0"/>
              </a:rPr>
              <a:t>的顶点的编号为</a:t>
            </a:r>
            <a:r>
              <a:rPr lang="en-US" altLang="zh-CN" sz="2800" b="0" dirty="0">
                <a:solidFill>
                  <a:schemeClr val="accent1">
                    <a:lumMod val="60000"/>
                    <a:lumOff val="40000"/>
                  </a:schemeClr>
                </a:solidFill>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，其它顶点的编号按回退先后逐次</a:t>
            </a:r>
            <a:r>
              <a:rPr lang="zh-CN" altLang="zh-CN" sz="2800" b="0" dirty="0">
                <a:solidFill>
                  <a:schemeClr val="accent1">
                    <a:lumMod val="60000"/>
                    <a:lumOff val="40000"/>
                  </a:schemeClr>
                </a:solidFill>
                <a:ea typeface="华文楷体" pitchFamily="2" charset="-122"/>
                <a:cs typeface="Times New Roman" panose="02020603050405020304" pitchFamily="18" charset="0"/>
              </a:rPr>
              <a:t>增大</a:t>
            </a:r>
            <a:r>
              <a:rPr lang="en-US" altLang="zh-CN" sz="2800" b="0" dirty="0">
                <a:solidFill>
                  <a:schemeClr val="accent1">
                    <a:lumMod val="60000"/>
                    <a:lumOff val="40000"/>
                  </a:schemeClr>
                </a:solidFill>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a:t>
            </a: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将有向图</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的所有有向边</a:t>
            </a:r>
            <a:r>
              <a:rPr lang="zh-CN" altLang="zh-CN" sz="2800" b="0" dirty="0">
                <a:solidFill>
                  <a:schemeClr val="accent1">
                    <a:lumMod val="60000"/>
                    <a:lumOff val="40000"/>
                  </a:schemeClr>
                </a:solidFill>
                <a:ea typeface="华文楷体" pitchFamily="2" charset="-122"/>
                <a:cs typeface="Times New Roman" panose="02020603050405020304" pitchFamily="18" charset="0"/>
              </a:rPr>
              <a:t>反向</a:t>
            </a:r>
            <a:r>
              <a:rPr lang="zh-CN" altLang="zh-CN" sz="2800" b="0" dirty="0">
                <a:ea typeface="华文楷体" pitchFamily="2" charset="-122"/>
                <a:cs typeface="Times New Roman" panose="02020603050405020304" pitchFamily="18" charset="0"/>
              </a:rPr>
              <a:t>，构造</a:t>
            </a:r>
            <a:r>
              <a:rPr lang="zh-CN" altLang="zh-CN" sz="2800" b="0" dirty="0">
                <a:solidFill>
                  <a:schemeClr val="accent1">
                    <a:lumMod val="60000"/>
                    <a:lumOff val="40000"/>
                  </a:schemeClr>
                </a:solidFill>
                <a:ea typeface="华文楷体" pitchFamily="2" charset="-122"/>
                <a:cs typeface="Times New Roman" panose="02020603050405020304" pitchFamily="18" charset="0"/>
              </a:rPr>
              <a:t>新</a:t>
            </a:r>
            <a:r>
              <a:rPr lang="zh-CN" altLang="zh-CN" sz="2800" b="0" dirty="0">
                <a:ea typeface="华文楷体" pitchFamily="2" charset="-122"/>
                <a:cs typeface="Times New Roman" panose="02020603050405020304" pitchFamily="18" charset="0"/>
              </a:rPr>
              <a:t>的有向图</a:t>
            </a:r>
            <a:r>
              <a:rPr lang="en-US" altLang="zh-CN" sz="2800" b="0" dirty="0">
                <a:solidFill>
                  <a:schemeClr val="accent1">
                    <a:lumMod val="60000"/>
                    <a:lumOff val="40000"/>
                  </a:schemeClr>
                </a:solidFill>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a:t>
            </a:r>
          </a:p>
        </p:txBody>
      </p:sp>
      <p:sp>
        <p:nvSpPr>
          <p:cNvPr id="2" name="标题 1"/>
          <p:cNvSpPr>
            <a:spLocks noGrp="1"/>
          </p:cNvSpPr>
          <p:nvPr>
            <p:ph type="title"/>
          </p:nvPr>
        </p:nvSpPr>
        <p:spPr>
          <a:xfrm>
            <a:off x="420160" y="734268"/>
            <a:ext cx="11162884" cy="574183"/>
          </a:xfrm>
        </p:spPr>
        <p:txBody>
          <a:bodyPr/>
          <a:lstStyle/>
          <a:p>
            <a:r>
              <a:rPr lang="zh-CN" altLang="en-US" dirty="0"/>
              <a:t>有向图的连通性：</a:t>
            </a:r>
          </a:p>
        </p:txBody>
      </p:sp>
    </p:spTree>
    <p:extLst>
      <p:ext uri="{BB962C8B-B14F-4D97-AF65-F5344CB8AC3E}">
        <p14:creationId xmlns:p14="http://schemas.microsoft.com/office/powerpoint/2010/main" val="16154923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08502"/>
            <a:ext cx="11401423" cy="3234974"/>
          </a:xfrm>
        </p:spPr>
        <p:txBody>
          <a:bodyPr>
            <a:noAutofit/>
          </a:bodyPr>
          <a:lstStyle/>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根据步骤</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对顶点进行的编号，选取</a:t>
            </a:r>
            <a:r>
              <a:rPr lang="zh-CN" altLang="en-US" sz="2800" b="0" dirty="0">
                <a:solidFill>
                  <a:schemeClr val="accent1">
                    <a:lumMod val="60000"/>
                    <a:lumOff val="40000"/>
                  </a:schemeClr>
                </a:solidFill>
                <a:ea typeface="华文楷体" pitchFamily="2" charset="-122"/>
                <a:cs typeface="Times New Roman" panose="02020603050405020304" pitchFamily="18" charset="0"/>
              </a:rPr>
              <a:t>未访问</a:t>
            </a:r>
            <a:r>
              <a:rPr lang="zh-CN" altLang="en-US" sz="2800" b="0" dirty="0">
                <a:ea typeface="华文楷体" pitchFamily="2" charset="-122"/>
                <a:cs typeface="Times New Roman" panose="02020603050405020304" pitchFamily="18" charset="0"/>
              </a:rPr>
              <a:t>过的</a:t>
            </a:r>
            <a:r>
              <a:rPr lang="zh-CN" altLang="zh-CN" sz="2800" b="0" dirty="0">
                <a:solidFill>
                  <a:schemeClr val="accent1">
                    <a:lumMod val="60000"/>
                    <a:lumOff val="40000"/>
                  </a:schemeClr>
                </a:solidFill>
                <a:ea typeface="华文楷体" pitchFamily="2" charset="-122"/>
                <a:cs typeface="Times New Roman" panose="02020603050405020304" pitchFamily="18" charset="0"/>
              </a:rPr>
              <a:t>最大</a:t>
            </a:r>
            <a:r>
              <a:rPr lang="zh-CN" altLang="zh-CN" sz="2800" b="0" dirty="0">
                <a:ea typeface="华文楷体" pitchFamily="2" charset="-122"/>
                <a:cs typeface="Times New Roman" panose="02020603050405020304" pitchFamily="18" charset="0"/>
              </a:rPr>
              <a:t>编号顶点。以该顶点为起始点在有向图</a:t>
            </a:r>
            <a:r>
              <a:rPr lang="en-US" altLang="zh-CN" sz="2800" b="0" dirty="0">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上进行深度优先遍历。如果没有访问到所有的顶点，则从剩余的那些未被访问过的顶点中选取编号最大的顶点，以该顶点为起始点再进行深度优先遍历，如此反复，直至所有的顶点都被访问到。</a:t>
            </a:r>
          </a:p>
        </p:txBody>
      </p:sp>
      <p:sp>
        <p:nvSpPr>
          <p:cNvPr id="2" name="标题 1"/>
          <p:cNvSpPr>
            <a:spLocks noGrp="1"/>
          </p:cNvSpPr>
          <p:nvPr>
            <p:ph type="title"/>
          </p:nvPr>
        </p:nvSpPr>
        <p:spPr>
          <a:xfrm>
            <a:off x="420160" y="734269"/>
            <a:ext cx="11162884" cy="574183"/>
          </a:xfrm>
        </p:spPr>
        <p:txBody>
          <a:bodyPr/>
          <a:lstStyle/>
          <a:p>
            <a:r>
              <a:rPr lang="zh-CN" altLang="en-US" dirty="0"/>
              <a:t>有向图的连通性：</a:t>
            </a:r>
          </a:p>
        </p:txBody>
      </p:sp>
    </p:spTree>
    <p:extLst>
      <p:ext uri="{BB962C8B-B14F-4D97-AF65-F5344CB8AC3E}">
        <p14:creationId xmlns:p14="http://schemas.microsoft.com/office/powerpoint/2010/main" val="14486537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307535" y="1624220"/>
            <a:ext cx="7393056" cy="4557920"/>
          </a:xfrm>
          <a:prstGeom prst="rect">
            <a:avLst/>
          </a:prstGeom>
          <a:noFill/>
          <a:ln>
            <a:noFill/>
          </a:ln>
        </p:spPr>
      </p:pic>
    </p:spTree>
    <p:extLst>
      <p:ext uri="{BB962C8B-B14F-4D97-AF65-F5344CB8AC3E}">
        <p14:creationId xmlns:p14="http://schemas.microsoft.com/office/powerpoint/2010/main" val="10632080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bwMode="auto">
          <a:xfrm>
            <a:off x="2124283" y="1721954"/>
            <a:ext cx="7158866" cy="4221647"/>
          </a:xfrm>
          <a:prstGeom prst="rect">
            <a:avLst/>
          </a:prstGeom>
          <a:noFill/>
          <a:ln>
            <a:noFill/>
          </a:ln>
        </p:spPr>
      </p:pic>
      <p:sp>
        <p:nvSpPr>
          <p:cNvPr id="2" name="椭圆 1"/>
          <p:cNvSpPr/>
          <p:nvPr/>
        </p:nvSpPr>
        <p:spPr>
          <a:xfrm>
            <a:off x="11644313" y="6443663"/>
            <a:ext cx="185737" cy="1714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679061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6" y="2663934"/>
            <a:ext cx="4204335" cy="2083430"/>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无向图的连通性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有向图的连通性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solidFill>
                  <a:srgbClr val="FF0000"/>
                </a:solidFill>
                <a:latin typeface="华文楷体" pitchFamily="2" charset="-122"/>
                <a:ea typeface="华文楷体" pitchFamily="2" charset="-122"/>
              </a:rPr>
              <a:t> 欧拉回路（补充内容）</a:t>
            </a:r>
            <a:endParaRPr lang="en-US" altLang="zh-CN" sz="2800" dirty="0">
              <a:solidFill>
                <a:srgbClr val="FF0000"/>
              </a:solidFill>
              <a:latin typeface="华文楷体" pitchFamily="2" charset="-122"/>
              <a:ea typeface="华文楷体" pitchFamily="2" charset="-122"/>
            </a:endParaRPr>
          </a:p>
          <a:p>
            <a:pPr marL="0" indent="0">
              <a:lnSpc>
                <a:spcPct val="115000"/>
              </a:lnSpc>
              <a:buNone/>
              <a:defRPr/>
            </a:pP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图的连通性：</a:t>
            </a:r>
          </a:p>
        </p:txBody>
      </p:sp>
    </p:spTree>
    <p:extLst>
      <p:ext uri="{BB962C8B-B14F-4D97-AF65-F5344CB8AC3E}">
        <p14:creationId xmlns:p14="http://schemas.microsoft.com/office/powerpoint/2010/main" val="25153918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a:extLst>
              <a:ext uri="{FF2B5EF4-FFF2-40B4-BE49-F238E27FC236}">
                <a16:creationId xmlns:a16="http://schemas.microsoft.com/office/drawing/2014/main" id="{5A21434A-383D-447B-A31C-62D7D311B9DE}"/>
              </a:ext>
            </a:extLst>
          </p:cNvPr>
          <p:cNvSpPr>
            <a:spLocks noGrp="1" noChangeArrowheads="1"/>
          </p:cNvSpPr>
          <p:nvPr>
            <p:ph type="title"/>
          </p:nvPr>
        </p:nvSpPr>
        <p:spPr>
          <a:xfrm>
            <a:off x="322263" y="517525"/>
            <a:ext cx="7772400" cy="1143000"/>
          </a:xfrm>
        </p:spPr>
        <p:txBody>
          <a:bodyPr>
            <a:normAutofit/>
          </a:bodyPr>
          <a:lstStyle/>
          <a:p>
            <a:pPr>
              <a:defRPr/>
            </a:pPr>
            <a:r>
              <a:rPr lang="zh-CN" altLang="en-US" dirty="0"/>
              <a:t>欧拉回路：</a:t>
            </a:r>
          </a:p>
        </p:txBody>
      </p:sp>
      <p:sp>
        <p:nvSpPr>
          <p:cNvPr id="2" name="Rectangle 3">
            <a:extLst>
              <a:ext uri="{FF2B5EF4-FFF2-40B4-BE49-F238E27FC236}">
                <a16:creationId xmlns:a16="http://schemas.microsoft.com/office/drawing/2014/main" id="{C78C4C53-822E-404D-AF7D-D6C4CCEA8966}"/>
              </a:ext>
            </a:extLst>
          </p:cNvPr>
          <p:cNvSpPr>
            <a:spLocks noGrp="1" noChangeArrowheads="1"/>
          </p:cNvSpPr>
          <p:nvPr>
            <p:ph type="body" idx="1"/>
          </p:nvPr>
        </p:nvSpPr>
        <p:spPr>
          <a:xfrm>
            <a:off x="1127125" y="1628775"/>
            <a:ext cx="10150475" cy="1879600"/>
          </a:xfrm>
        </p:spPr>
        <p:txBody>
          <a:bodyPr/>
          <a:lstStyle/>
          <a:p>
            <a:pPr marL="0" indent="0" eaLnBrk="1" hangingPunct="1">
              <a:buNone/>
            </a:pPr>
            <a:r>
              <a:rPr lang="zh-CN" altLang="en-US" sz="2800" b="0" dirty="0">
                <a:latin typeface="Times New Roman" panose="02020603050405020304" pitchFamily="18" charset="0"/>
                <a:ea typeface="华文楷体" pitchFamily="2" charset="-122"/>
                <a:cs typeface="Times New Roman" panose="02020603050405020304" pitchFamily="18" charset="0"/>
              </a:rPr>
              <a:t>哥尼斯堡七桥问题就是：能否找到一条走遍这七座桥，而且每座桥只经过一次，最后又回到原出发点的路径 。</a:t>
            </a:r>
          </a:p>
        </p:txBody>
      </p:sp>
      <p:grpSp>
        <p:nvGrpSpPr>
          <p:cNvPr id="106500" name="Group 28">
            <a:extLst>
              <a:ext uri="{FF2B5EF4-FFF2-40B4-BE49-F238E27FC236}">
                <a16:creationId xmlns:a16="http://schemas.microsoft.com/office/drawing/2014/main" id="{33E12FA3-A733-421E-ABEA-F64D42E85412}"/>
              </a:ext>
            </a:extLst>
          </p:cNvPr>
          <p:cNvGrpSpPr>
            <a:grpSpLocks/>
          </p:cNvGrpSpPr>
          <p:nvPr/>
        </p:nvGrpSpPr>
        <p:grpSpPr bwMode="auto">
          <a:xfrm>
            <a:off x="2640013" y="3640138"/>
            <a:ext cx="5400675" cy="2976562"/>
            <a:chOff x="703" y="2293"/>
            <a:chExt cx="3402" cy="1875"/>
          </a:xfrm>
        </p:grpSpPr>
        <p:sp>
          <p:nvSpPr>
            <p:cNvPr id="106501" name="AutoShape 5">
              <a:extLst>
                <a:ext uri="{FF2B5EF4-FFF2-40B4-BE49-F238E27FC236}">
                  <a16:creationId xmlns:a16="http://schemas.microsoft.com/office/drawing/2014/main" id="{3EB9B463-FC86-4400-89C2-798749DA7E83}"/>
                </a:ext>
              </a:extLst>
            </p:cNvPr>
            <p:cNvSpPr>
              <a:spLocks noChangeAspect="1" noChangeArrowheads="1"/>
            </p:cNvSpPr>
            <p:nvPr/>
          </p:nvSpPr>
          <p:spPr bwMode="auto">
            <a:xfrm>
              <a:off x="703" y="2293"/>
              <a:ext cx="3402" cy="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6502" name="Freeform 6">
              <a:extLst>
                <a:ext uri="{FF2B5EF4-FFF2-40B4-BE49-F238E27FC236}">
                  <a16:creationId xmlns:a16="http://schemas.microsoft.com/office/drawing/2014/main" id="{057A3C4E-5F03-4B42-A1B9-FDD6AA3D9FA0}"/>
                </a:ext>
              </a:extLst>
            </p:cNvPr>
            <p:cNvSpPr>
              <a:spLocks/>
            </p:cNvSpPr>
            <p:nvPr/>
          </p:nvSpPr>
          <p:spPr bwMode="auto">
            <a:xfrm>
              <a:off x="1691" y="2528"/>
              <a:ext cx="1454" cy="877"/>
            </a:xfrm>
            <a:custGeom>
              <a:avLst/>
              <a:gdLst>
                <a:gd name="T0" fmla="*/ 587 w 1279"/>
                <a:gd name="T1" fmla="*/ 3532 h 795"/>
                <a:gd name="T2" fmla="*/ 2257 w 1279"/>
                <a:gd name="T3" fmla="*/ 4434 h 795"/>
                <a:gd name="T4" fmla="*/ 3440 w 1279"/>
                <a:gd name="T5" fmla="*/ 4836 h 795"/>
                <a:gd name="T6" fmla="*/ 7190 w 1279"/>
                <a:gd name="T7" fmla="*/ 5660 h 795"/>
                <a:gd name="T8" fmla="*/ 13645 w 1279"/>
                <a:gd name="T9" fmla="*/ 4764 h 795"/>
                <a:gd name="T10" fmla="*/ 15129 w 1279"/>
                <a:gd name="T11" fmla="*/ 4355 h 795"/>
                <a:gd name="T12" fmla="*/ 16623 w 1279"/>
                <a:gd name="T13" fmla="*/ 2713 h 795"/>
                <a:gd name="T14" fmla="*/ 15870 w 1279"/>
                <a:gd name="T15" fmla="*/ 1392 h 795"/>
                <a:gd name="T16" fmla="*/ 11532 w 1279"/>
                <a:gd name="T17" fmla="*/ 0 h 795"/>
                <a:gd name="T18" fmla="*/ 8838 w 1279"/>
                <a:gd name="T19" fmla="*/ 249 h 795"/>
                <a:gd name="T20" fmla="*/ 5241 w 1279"/>
                <a:gd name="T21" fmla="*/ 663 h 795"/>
                <a:gd name="T22" fmla="*/ 3299 w 1279"/>
                <a:gd name="T23" fmla="*/ 1237 h 795"/>
                <a:gd name="T24" fmla="*/ 2853 w 1279"/>
                <a:gd name="T25" fmla="*/ 1392 h 795"/>
                <a:gd name="T26" fmla="*/ 2403 w 1279"/>
                <a:gd name="T27" fmla="*/ 1568 h 795"/>
                <a:gd name="T28" fmla="*/ 1812 w 1279"/>
                <a:gd name="T29" fmla="*/ 1885 h 795"/>
                <a:gd name="T30" fmla="*/ 1510 w 1279"/>
                <a:gd name="T31" fmla="*/ 2143 h 795"/>
                <a:gd name="T32" fmla="*/ 1046 w 1279"/>
                <a:gd name="T33" fmla="*/ 2300 h 795"/>
                <a:gd name="T34" fmla="*/ 448 w 1279"/>
                <a:gd name="T35" fmla="*/ 2713 h 795"/>
                <a:gd name="T36" fmla="*/ 302 w 1279"/>
                <a:gd name="T37" fmla="*/ 2952 h 795"/>
                <a:gd name="T38" fmla="*/ 0 w 1279"/>
                <a:gd name="T39" fmla="*/ 3202 h 795"/>
                <a:gd name="T40" fmla="*/ 159 w 1279"/>
                <a:gd name="T41" fmla="*/ 3607 h 795"/>
                <a:gd name="T42" fmla="*/ 587 w 1279"/>
                <a:gd name="T43" fmla="*/ 3532 h 79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79"/>
                <a:gd name="T67" fmla="*/ 0 h 795"/>
                <a:gd name="T68" fmla="*/ 1279 w 1279"/>
                <a:gd name="T69" fmla="*/ 795 h 79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79" h="795">
                  <a:moveTo>
                    <a:pt x="46" y="496"/>
                  </a:moveTo>
                  <a:cubicBezTo>
                    <a:pt x="68" y="559"/>
                    <a:pt x="117" y="585"/>
                    <a:pt x="173" y="622"/>
                  </a:cubicBezTo>
                  <a:cubicBezTo>
                    <a:pt x="208" y="645"/>
                    <a:pt x="226" y="667"/>
                    <a:pt x="265" y="680"/>
                  </a:cubicBezTo>
                  <a:cubicBezTo>
                    <a:pt x="351" y="737"/>
                    <a:pt x="453" y="771"/>
                    <a:pt x="553" y="795"/>
                  </a:cubicBezTo>
                  <a:cubicBezTo>
                    <a:pt x="726" y="779"/>
                    <a:pt x="884" y="721"/>
                    <a:pt x="1049" y="669"/>
                  </a:cubicBezTo>
                  <a:cubicBezTo>
                    <a:pt x="1086" y="643"/>
                    <a:pt x="1123" y="631"/>
                    <a:pt x="1164" y="611"/>
                  </a:cubicBezTo>
                  <a:cubicBezTo>
                    <a:pt x="1219" y="529"/>
                    <a:pt x="1260" y="477"/>
                    <a:pt x="1279" y="381"/>
                  </a:cubicBezTo>
                  <a:cubicBezTo>
                    <a:pt x="1270" y="317"/>
                    <a:pt x="1270" y="243"/>
                    <a:pt x="1221" y="196"/>
                  </a:cubicBezTo>
                  <a:cubicBezTo>
                    <a:pt x="1179" y="68"/>
                    <a:pt x="1006" y="18"/>
                    <a:pt x="887" y="0"/>
                  </a:cubicBezTo>
                  <a:cubicBezTo>
                    <a:pt x="808" y="8"/>
                    <a:pt x="755" y="23"/>
                    <a:pt x="680" y="35"/>
                  </a:cubicBezTo>
                  <a:cubicBezTo>
                    <a:pt x="586" y="51"/>
                    <a:pt x="494" y="63"/>
                    <a:pt x="404" y="93"/>
                  </a:cubicBezTo>
                  <a:cubicBezTo>
                    <a:pt x="346" y="112"/>
                    <a:pt x="306" y="139"/>
                    <a:pt x="254" y="173"/>
                  </a:cubicBezTo>
                  <a:cubicBezTo>
                    <a:pt x="242" y="181"/>
                    <a:pt x="231" y="188"/>
                    <a:pt x="219" y="196"/>
                  </a:cubicBezTo>
                  <a:cubicBezTo>
                    <a:pt x="208" y="204"/>
                    <a:pt x="185" y="219"/>
                    <a:pt x="185" y="219"/>
                  </a:cubicBezTo>
                  <a:cubicBezTo>
                    <a:pt x="158" y="297"/>
                    <a:pt x="195" y="220"/>
                    <a:pt x="139" y="265"/>
                  </a:cubicBezTo>
                  <a:cubicBezTo>
                    <a:pt x="128" y="274"/>
                    <a:pt x="126" y="290"/>
                    <a:pt x="116" y="300"/>
                  </a:cubicBezTo>
                  <a:cubicBezTo>
                    <a:pt x="106" y="310"/>
                    <a:pt x="93" y="315"/>
                    <a:pt x="81" y="323"/>
                  </a:cubicBezTo>
                  <a:cubicBezTo>
                    <a:pt x="67" y="343"/>
                    <a:pt x="48" y="360"/>
                    <a:pt x="35" y="381"/>
                  </a:cubicBezTo>
                  <a:cubicBezTo>
                    <a:pt x="29" y="391"/>
                    <a:pt x="28" y="404"/>
                    <a:pt x="23" y="415"/>
                  </a:cubicBezTo>
                  <a:cubicBezTo>
                    <a:pt x="17" y="427"/>
                    <a:pt x="8" y="438"/>
                    <a:pt x="0" y="450"/>
                  </a:cubicBezTo>
                  <a:cubicBezTo>
                    <a:pt x="4" y="469"/>
                    <a:pt x="1" y="491"/>
                    <a:pt x="12" y="507"/>
                  </a:cubicBezTo>
                  <a:cubicBezTo>
                    <a:pt x="53" y="569"/>
                    <a:pt x="46" y="501"/>
                    <a:pt x="46" y="496"/>
                  </a:cubicBezTo>
                  <a:close/>
                </a:path>
              </a:pathLst>
            </a:custGeom>
            <a:noFill/>
            <a:ln w="38100">
              <a:solidFill>
                <a:srgbClr val="B2B2B2"/>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06503" name="Freeform 7">
              <a:extLst>
                <a:ext uri="{FF2B5EF4-FFF2-40B4-BE49-F238E27FC236}">
                  <a16:creationId xmlns:a16="http://schemas.microsoft.com/office/drawing/2014/main" id="{755A121F-0508-4F06-84AB-DBA8C7576A30}"/>
                </a:ext>
              </a:extLst>
            </p:cNvPr>
            <p:cNvSpPr>
              <a:spLocks/>
            </p:cNvSpPr>
            <p:nvPr/>
          </p:nvSpPr>
          <p:spPr bwMode="auto">
            <a:xfrm>
              <a:off x="703" y="2293"/>
              <a:ext cx="3145" cy="651"/>
            </a:xfrm>
            <a:custGeom>
              <a:avLst/>
              <a:gdLst>
                <a:gd name="T0" fmla="*/ 0 w 2767"/>
                <a:gd name="T1" fmla="*/ 4219 h 590"/>
                <a:gd name="T2" fmla="*/ 10564 w 2767"/>
                <a:gd name="T3" fmla="*/ 2923 h 590"/>
                <a:gd name="T4" fmla="*/ 18785 w 2767"/>
                <a:gd name="T5" fmla="*/ 650 h 590"/>
                <a:gd name="T6" fmla="*/ 28183 w 2767"/>
                <a:gd name="T7" fmla="*/ 977 h 590"/>
                <a:gd name="T8" fmla="*/ 35828 w 2767"/>
                <a:gd name="T9" fmla="*/ 0 h 590"/>
                <a:gd name="T10" fmla="*/ 0 60000 65536"/>
                <a:gd name="T11" fmla="*/ 0 60000 65536"/>
                <a:gd name="T12" fmla="*/ 0 60000 65536"/>
                <a:gd name="T13" fmla="*/ 0 60000 65536"/>
                <a:gd name="T14" fmla="*/ 0 60000 65536"/>
                <a:gd name="T15" fmla="*/ 0 w 2767"/>
                <a:gd name="T16" fmla="*/ 0 h 590"/>
                <a:gd name="T17" fmla="*/ 2767 w 2767"/>
                <a:gd name="T18" fmla="*/ 590 h 590"/>
              </a:gdLst>
              <a:ahLst/>
              <a:cxnLst>
                <a:cxn ang="T10">
                  <a:pos x="T0" y="T1"/>
                </a:cxn>
                <a:cxn ang="T11">
                  <a:pos x="T2" y="T3"/>
                </a:cxn>
                <a:cxn ang="T12">
                  <a:pos x="T4" y="T5"/>
                </a:cxn>
                <a:cxn ang="T13">
                  <a:pos x="T6" y="T7"/>
                </a:cxn>
                <a:cxn ang="T14">
                  <a:pos x="T8" y="T9"/>
                </a:cxn>
              </a:cxnLst>
              <a:rect l="T15" t="T16" r="T17" b="T18"/>
              <a:pathLst>
                <a:path w="2767" h="590">
                  <a:moveTo>
                    <a:pt x="0" y="590"/>
                  </a:moveTo>
                  <a:cubicBezTo>
                    <a:pt x="287" y="540"/>
                    <a:pt x="574" y="491"/>
                    <a:pt x="816" y="408"/>
                  </a:cubicBezTo>
                  <a:cubicBezTo>
                    <a:pt x="1058" y="325"/>
                    <a:pt x="1224" y="136"/>
                    <a:pt x="1451" y="91"/>
                  </a:cubicBezTo>
                  <a:cubicBezTo>
                    <a:pt x="1678" y="46"/>
                    <a:pt x="1958" y="151"/>
                    <a:pt x="2177" y="136"/>
                  </a:cubicBezTo>
                  <a:cubicBezTo>
                    <a:pt x="2396" y="121"/>
                    <a:pt x="2581" y="60"/>
                    <a:pt x="2767" y="0"/>
                  </a:cubicBezTo>
                </a:path>
              </a:pathLst>
            </a:custGeom>
            <a:noFill/>
            <a:ln w="38100">
              <a:solidFill>
                <a:srgbClr val="B2B2B2"/>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06504" name="Freeform 8">
              <a:extLst>
                <a:ext uri="{FF2B5EF4-FFF2-40B4-BE49-F238E27FC236}">
                  <a16:creationId xmlns:a16="http://schemas.microsoft.com/office/drawing/2014/main" id="{63258104-05AC-47F3-8FC3-F0AD4188DFB1}"/>
                </a:ext>
              </a:extLst>
            </p:cNvPr>
            <p:cNvSpPr>
              <a:spLocks/>
            </p:cNvSpPr>
            <p:nvPr/>
          </p:nvSpPr>
          <p:spPr bwMode="auto">
            <a:xfrm>
              <a:off x="754" y="3386"/>
              <a:ext cx="3300" cy="759"/>
            </a:xfrm>
            <a:custGeom>
              <a:avLst/>
              <a:gdLst>
                <a:gd name="T0" fmla="*/ 0 w 2903"/>
                <a:gd name="T1" fmla="*/ 698 h 688"/>
                <a:gd name="T2" fmla="*/ 11770 w 2903"/>
                <a:gd name="T3" fmla="*/ 51 h 688"/>
                <a:gd name="T4" fmla="*/ 17681 w 2903"/>
                <a:gd name="T5" fmla="*/ 1017 h 688"/>
                <a:gd name="T6" fmla="*/ 22962 w 2903"/>
                <a:gd name="T7" fmla="*/ 698 h 688"/>
                <a:gd name="T8" fmla="*/ 37683 w 2903"/>
                <a:gd name="T9" fmla="*/ 4904 h 688"/>
                <a:gd name="T10" fmla="*/ 0 60000 65536"/>
                <a:gd name="T11" fmla="*/ 0 60000 65536"/>
                <a:gd name="T12" fmla="*/ 0 60000 65536"/>
                <a:gd name="T13" fmla="*/ 0 60000 65536"/>
                <a:gd name="T14" fmla="*/ 0 60000 65536"/>
                <a:gd name="T15" fmla="*/ 0 w 2903"/>
                <a:gd name="T16" fmla="*/ 0 h 688"/>
                <a:gd name="T17" fmla="*/ 2903 w 2903"/>
                <a:gd name="T18" fmla="*/ 688 h 688"/>
              </a:gdLst>
              <a:ahLst/>
              <a:cxnLst>
                <a:cxn ang="T10">
                  <a:pos x="T0" y="T1"/>
                </a:cxn>
                <a:cxn ang="T11">
                  <a:pos x="T2" y="T3"/>
                </a:cxn>
                <a:cxn ang="T12">
                  <a:pos x="T4" y="T5"/>
                </a:cxn>
                <a:cxn ang="T13">
                  <a:pos x="T6" y="T7"/>
                </a:cxn>
                <a:cxn ang="T14">
                  <a:pos x="T8" y="T9"/>
                </a:cxn>
              </a:cxnLst>
              <a:rect l="T15" t="T16" r="T17" b="T18"/>
              <a:pathLst>
                <a:path w="2903" h="688">
                  <a:moveTo>
                    <a:pt x="0" y="98"/>
                  </a:moveTo>
                  <a:cubicBezTo>
                    <a:pt x="340" y="49"/>
                    <a:pt x="680" y="0"/>
                    <a:pt x="907" y="7"/>
                  </a:cubicBezTo>
                  <a:cubicBezTo>
                    <a:pt x="1134" y="14"/>
                    <a:pt x="1217" y="128"/>
                    <a:pt x="1361" y="143"/>
                  </a:cubicBezTo>
                  <a:cubicBezTo>
                    <a:pt x="1505" y="158"/>
                    <a:pt x="1512" y="7"/>
                    <a:pt x="1769" y="98"/>
                  </a:cubicBezTo>
                  <a:cubicBezTo>
                    <a:pt x="2026" y="189"/>
                    <a:pt x="2707" y="582"/>
                    <a:pt x="2903" y="688"/>
                  </a:cubicBezTo>
                </a:path>
              </a:pathLst>
            </a:custGeom>
            <a:noFill/>
            <a:ln w="38100">
              <a:solidFill>
                <a:srgbClr val="B2B2B2"/>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06505" name="Freeform 9">
              <a:extLst>
                <a:ext uri="{FF2B5EF4-FFF2-40B4-BE49-F238E27FC236}">
                  <a16:creationId xmlns:a16="http://schemas.microsoft.com/office/drawing/2014/main" id="{EC224ED4-717C-40AF-AB33-B7D0E902C721}"/>
                </a:ext>
              </a:extLst>
            </p:cNvPr>
            <p:cNvSpPr>
              <a:spLocks/>
            </p:cNvSpPr>
            <p:nvPr/>
          </p:nvSpPr>
          <p:spPr bwMode="auto">
            <a:xfrm>
              <a:off x="2919" y="2494"/>
              <a:ext cx="1186" cy="1451"/>
            </a:xfrm>
            <a:custGeom>
              <a:avLst/>
              <a:gdLst>
                <a:gd name="T0" fmla="*/ 11845 w 1043"/>
                <a:gd name="T1" fmla="*/ 0 h 1315"/>
                <a:gd name="T2" fmla="*/ 4744 w 1043"/>
                <a:gd name="T3" fmla="*/ 1297 h 1315"/>
                <a:gd name="T4" fmla="*/ 4158 w 1043"/>
                <a:gd name="T5" fmla="*/ 2600 h 1315"/>
                <a:gd name="T6" fmla="*/ 2960 w 1043"/>
                <a:gd name="T7" fmla="*/ 5190 h 1315"/>
                <a:gd name="T8" fmla="*/ 1770 w 1043"/>
                <a:gd name="T9" fmla="*/ 5517 h 1315"/>
                <a:gd name="T10" fmla="*/ 13629 w 1043"/>
                <a:gd name="T11" fmla="*/ 9420 h 1315"/>
                <a:gd name="T12" fmla="*/ 0 60000 65536"/>
                <a:gd name="T13" fmla="*/ 0 60000 65536"/>
                <a:gd name="T14" fmla="*/ 0 60000 65536"/>
                <a:gd name="T15" fmla="*/ 0 60000 65536"/>
                <a:gd name="T16" fmla="*/ 0 60000 65536"/>
                <a:gd name="T17" fmla="*/ 0 60000 65536"/>
                <a:gd name="T18" fmla="*/ 0 w 1043"/>
                <a:gd name="T19" fmla="*/ 0 h 1315"/>
                <a:gd name="T20" fmla="*/ 1043 w 1043"/>
                <a:gd name="T21" fmla="*/ 1315 h 1315"/>
              </a:gdLst>
              <a:ahLst/>
              <a:cxnLst>
                <a:cxn ang="T12">
                  <a:pos x="T0" y="T1"/>
                </a:cxn>
                <a:cxn ang="T13">
                  <a:pos x="T2" y="T3"/>
                </a:cxn>
                <a:cxn ang="T14">
                  <a:pos x="T4" y="T5"/>
                </a:cxn>
                <a:cxn ang="T15">
                  <a:pos x="T6" y="T7"/>
                </a:cxn>
                <a:cxn ang="T16">
                  <a:pos x="T8" y="T9"/>
                </a:cxn>
                <a:cxn ang="T17">
                  <a:pos x="T10" y="T11"/>
                </a:cxn>
              </a:cxnLst>
              <a:rect l="T18" t="T19" r="T20" b="T21"/>
              <a:pathLst>
                <a:path w="1043" h="1315">
                  <a:moveTo>
                    <a:pt x="907" y="0"/>
                  </a:moveTo>
                  <a:cubicBezTo>
                    <a:pt x="684" y="60"/>
                    <a:pt x="461" y="120"/>
                    <a:pt x="363" y="181"/>
                  </a:cubicBezTo>
                  <a:cubicBezTo>
                    <a:pt x="265" y="242"/>
                    <a:pt x="341" y="272"/>
                    <a:pt x="318" y="363"/>
                  </a:cubicBezTo>
                  <a:cubicBezTo>
                    <a:pt x="295" y="454"/>
                    <a:pt x="257" y="657"/>
                    <a:pt x="227" y="725"/>
                  </a:cubicBezTo>
                  <a:cubicBezTo>
                    <a:pt x="197" y="793"/>
                    <a:pt x="0" y="673"/>
                    <a:pt x="136" y="771"/>
                  </a:cubicBezTo>
                  <a:cubicBezTo>
                    <a:pt x="272" y="869"/>
                    <a:pt x="657" y="1092"/>
                    <a:pt x="1043" y="1315"/>
                  </a:cubicBezTo>
                </a:path>
              </a:pathLst>
            </a:custGeom>
            <a:noFill/>
            <a:ln w="38100">
              <a:solidFill>
                <a:srgbClr val="B2B2B2"/>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06506" name="Text Box 10">
              <a:extLst>
                <a:ext uri="{FF2B5EF4-FFF2-40B4-BE49-F238E27FC236}">
                  <a16:creationId xmlns:a16="http://schemas.microsoft.com/office/drawing/2014/main" id="{810DD4AB-9747-40A6-AFD2-BEFFDC2B1AA7}"/>
                </a:ext>
              </a:extLst>
            </p:cNvPr>
            <p:cNvSpPr txBox="1">
              <a:spLocks noChangeArrowheads="1"/>
            </p:cNvSpPr>
            <p:nvPr/>
          </p:nvSpPr>
          <p:spPr bwMode="auto">
            <a:xfrm>
              <a:off x="2043" y="2794"/>
              <a:ext cx="87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4072" tIns="32036" rIns="64072" bIns="32036"/>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岛区</a:t>
              </a:r>
            </a:p>
          </p:txBody>
        </p:sp>
        <p:sp>
          <p:nvSpPr>
            <p:cNvPr id="106507" name="Text Box 11">
              <a:extLst>
                <a:ext uri="{FF2B5EF4-FFF2-40B4-BE49-F238E27FC236}">
                  <a16:creationId xmlns:a16="http://schemas.microsoft.com/office/drawing/2014/main" id="{109CB2EA-96B8-4095-B569-03DBABA32D16}"/>
                </a:ext>
              </a:extLst>
            </p:cNvPr>
            <p:cNvSpPr txBox="1">
              <a:spLocks noChangeArrowheads="1"/>
            </p:cNvSpPr>
            <p:nvPr/>
          </p:nvSpPr>
          <p:spPr bwMode="auto">
            <a:xfrm>
              <a:off x="3332" y="2843"/>
              <a:ext cx="722"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4072" tIns="32036" rIns="64072" bIns="32036"/>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东区</a:t>
              </a:r>
            </a:p>
          </p:txBody>
        </p:sp>
        <p:sp>
          <p:nvSpPr>
            <p:cNvPr id="106508" name="Text Box 12">
              <a:extLst>
                <a:ext uri="{FF2B5EF4-FFF2-40B4-BE49-F238E27FC236}">
                  <a16:creationId xmlns:a16="http://schemas.microsoft.com/office/drawing/2014/main" id="{ADA46526-4B28-4DCF-838D-BFB4838C6295}"/>
                </a:ext>
              </a:extLst>
            </p:cNvPr>
            <p:cNvSpPr txBox="1">
              <a:spLocks noChangeArrowheads="1"/>
            </p:cNvSpPr>
            <p:nvPr/>
          </p:nvSpPr>
          <p:spPr bwMode="auto">
            <a:xfrm>
              <a:off x="909" y="2326"/>
              <a:ext cx="87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4072" tIns="32036" rIns="64072" bIns="32036"/>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北区</a:t>
              </a:r>
            </a:p>
          </p:txBody>
        </p:sp>
        <p:sp>
          <p:nvSpPr>
            <p:cNvPr id="106509" name="Text Box 13">
              <a:extLst>
                <a:ext uri="{FF2B5EF4-FFF2-40B4-BE49-F238E27FC236}">
                  <a16:creationId xmlns:a16="http://schemas.microsoft.com/office/drawing/2014/main" id="{704C70DB-7C68-4A55-B8B3-53CF66915DB8}"/>
                </a:ext>
              </a:extLst>
            </p:cNvPr>
            <p:cNvSpPr txBox="1">
              <a:spLocks noChangeArrowheads="1"/>
            </p:cNvSpPr>
            <p:nvPr/>
          </p:nvSpPr>
          <p:spPr bwMode="auto">
            <a:xfrm>
              <a:off x="1167" y="3595"/>
              <a:ext cx="980"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4072" tIns="32036" rIns="64072" bIns="32036"/>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南区</a:t>
              </a:r>
            </a:p>
          </p:txBody>
        </p:sp>
        <p:sp>
          <p:nvSpPr>
            <p:cNvPr id="106510" name="Line 14">
              <a:extLst>
                <a:ext uri="{FF2B5EF4-FFF2-40B4-BE49-F238E27FC236}">
                  <a16:creationId xmlns:a16="http://schemas.microsoft.com/office/drawing/2014/main" id="{9B37204E-8905-450F-BC14-73AFE5292A84}"/>
                </a:ext>
              </a:extLst>
            </p:cNvPr>
            <p:cNvSpPr>
              <a:spLocks noChangeShapeType="1"/>
            </p:cNvSpPr>
            <p:nvPr/>
          </p:nvSpPr>
          <p:spPr bwMode="auto">
            <a:xfrm>
              <a:off x="3692" y="2344"/>
              <a:ext cx="52" cy="199"/>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1" name="Line 15">
              <a:extLst>
                <a:ext uri="{FF2B5EF4-FFF2-40B4-BE49-F238E27FC236}">
                  <a16:creationId xmlns:a16="http://schemas.microsoft.com/office/drawing/2014/main" id="{0124F5B6-1A0E-4BE3-B65D-7F39D7FCEFE2}"/>
                </a:ext>
              </a:extLst>
            </p:cNvPr>
            <p:cNvSpPr>
              <a:spLocks noChangeShapeType="1"/>
            </p:cNvSpPr>
            <p:nvPr/>
          </p:nvSpPr>
          <p:spPr bwMode="auto">
            <a:xfrm>
              <a:off x="3590" y="2393"/>
              <a:ext cx="52" cy="20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2" name="Line 16">
              <a:extLst>
                <a:ext uri="{FF2B5EF4-FFF2-40B4-BE49-F238E27FC236}">
                  <a16:creationId xmlns:a16="http://schemas.microsoft.com/office/drawing/2014/main" id="{DBB56243-4AD4-4E3D-B055-0E6DBECA59C9}"/>
                </a:ext>
              </a:extLst>
            </p:cNvPr>
            <p:cNvSpPr>
              <a:spLocks noChangeShapeType="1"/>
            </p:cNvSpPr>
            <p:nvPr/>
          </p:nvSpPr>
          <p:spPr bwMode="auto">
            <a:xfrm flipH="1">
              <a:off x="2869" y="2443"/>
              <a:ext cx="50" cy="10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3" name="Line 17">
              <a:extLst>
                <a:ext uri="{FF2B5EF4-FFF2-40B4-BE49-F238E27FC236}">
                  <a16:creationId xmlns:a16="http://schemas.microsoft.com/office/drawing/2014/main" id="{B8E6D8DD-CDE1-4AC0-9FE3-7BF8C1DDC1E7}"/>
                </a:ext>
              </a:extLst>
            </p:cNvPr>
            <p:cNvSpPr>
              <a:spLocks noChangeShapeType="1"/>
            </p:cNvSpPr>
            <p:nvPr/>
          </p:nvSpPr>
          <p:spPr bwMode="auto">
            <a:xfrm flipH="1">
              <a:off x="2765" y="2393"/>
              <a:ext cx="51" cy="15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4" name="Line 18">
              <a:extLst>
                <a:ext uri="{FF2B5EF4-FFF2-40B4-BE49-F238E27FC236}">
                  <a16:creationId xmlns:a16="http://schemas.microsoft.com/office/drawing/2014/main" id="{055B2CF3-57C1-453C-AE03-98DDD1FBF9B3}"/>
                </a:ext>
              </a:extLst>
            </p:cNvPr>
            <p:cNvSpPr>
              <a:spLocks noChangeShapeType="1"/>
            </p:cNvSpPr>
            <p:nvPr/>
          </p:nvSpPr>
          <p:spPr bwMode="auto">
            <a:xfrm>
              <a:off x="2094" y="2494"/>
              <a:ext cx="104" cy="15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5" name="Line 19">
              <a:extLst>
                <a:ext uri="{FF2B5EF4-FFF2-40B4-BE49-F238E27FC236}">
                  <a16:creationId xmlns:a16="http://schemas.microsoft.com/office/drawing/2014/main" id="{877C78DA-99EC-4A40-A600-B2A774C4A935}"/>
                </a:ext>
              </a:extLst>
            </p:cNvPr>
            <p:cNvSpPr>
              <a:spLocks noChangeShapeType="1"/>
            </p:cNvSpPr>
            <p:nvPr/>
          </p:nvSpPr>
          <p:spPr bwMode="auto">
            <a:xfrm>
              <a:off x="1992" y="2543"/>
              <a:ext cx="102" cy="15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6" name="Line 20">
              <a:extLst>
                <a:ext uri="{FF2B5EF4-FFF2-40B4-BE49-F238E27FC236}">
                  <a16:creationId xmlns:a16="http://schemas.microsoft.com/office/drawing/2014/main" id="{C4638B26-7D41-4CBF-BEC6-803EFC48BEA5}"/>
                </a:ext>
              </a:extLst>
            </p:cNvPr>
            <p:cNvSpPr>
              <a:spLocks noChangeShapeType="1"/>
            </p:cNvSpPr>
            <p:nvPr/>
          </p:nvSpPr>
          <p:spPr bwMode="auto">
            <a:xfrm>
              <a:off x="3126" y="2894"/>
              <a:ext cx="102" cy="5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7" name="Line 21">
              <a:extLst>
                <a:ext uri="{FF2B5EF4-FFF2-40B4-BE49-F238E27FC236}">
                  <a16:creationId xmlns:a16="http://schemas.microsoft.com/office/drawing/2014/main" id="{36F8B810-3E5E-4027-9286-BF4419575314}"/>
                </a:ext>
              </a:extLst>
            </p:cNvPr>
            <p:cNvSpPr>
              <a:spLocks noChangeShapeType="1"/>
            </p:cNvSpPr>
            <p:nvPr/>
          </p:nvSpPr>
          <p:spPr bwMode="auto">
            <a:xfrm>
              <a:off x="3126" y="2993"/>
              <a:ext cx="102" cy="101"/>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8" name="Line 22">
              <a:extLst>
                <a:ext uri="{FF2B5EF4-FFF2-40B4-BE49-F238E27FC236}">
                  <a16:creationId xmlns:a16="http://schemas.microsoft.com/office/drawing/2014/main" id="{838FF546-B236-4C52-A031-D98D637A13BF}"/>
                </a:ext>
              </a:extLst>
            </p:cNvPr>
            <p:cNvSpPr>
              <a:spLocks noChangeShapeType="1"/>
            </p:cNvSpPr>
            <p:nvPr/>
          </p:nvSpPr>
          <p:spPr bwMode="auto">
            <a:xfrm flipH="1">
              <a:off x="3538" y="3694"/>
              <a:ext cx="103" cy="15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19" name="Line 23">
              <a:extLst>
                <a:ext uri="{FF2B5EF4-FFF2-40B4-BE49-F238E27FC236}">
                  <a16:creationId xmlns:a16="http://schemas.microsoft.com/office/drawing/2014/main" id="{6836C7C8-806D-45A7-9EF9-DB7BDBBAC70B}"/>
                </a:ext>
              </a:extLst>
            </p:cNvPr>
            <p:cNvSpPr>
              <a:spLocks noChangeShapeType="1"/>
            </p:cNvSpPr>
            <p:nvPr/>
          </p:nvSpPr>
          <p:spPr bwMode="auto">
            <a:xfrm flipH="1">
              <a:off x="3435" y="3645"/>
              <a:ext cx="103" cy="199"/>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20" name="Line 24">
              <a:extLst>
                <a:ext uri="{FF2B5EF4-FFF2-40B4-BE49-F238E27FC236}">
                  <a16:creationId xmlns:a16="http://schemas.microsoft.com/office/drawing/2014/main" id="{C8F0DCD0-F21E-4AE4-B08C-A895038ED0F9}"/>
                </a:ext>
              </a:extLst>
            </p:cNvPr>
            <p:cNvSpPr>
              <a:spLocks noChangeShapeType="1"/>
            </p:cNvSpPr>
            <p:nvPr/>
          </p:nvSpPr>
          <p:spPr bwMode="auto">
            <a:xfrm>
              <a:off x="2714" y="3293"/>
              <a:ext cx="0" cy="152"/>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21" name="Line 25">
              <a:extLst>
                <a:ext uri="{FF2B5EF4-FFF2-40B4-BE49-F238E27FC236}">
                  <a16:creationId xmlns:a16="http://schemas.microsoft.com/office/drawing/2014/main" id="{0C4F8C6D-BC7F-4EFD-B062-EBDBBEC89B91}"/>
                </a:ext>
              </a:extLst>
            </p:cNvPr>
            <p:cNvSpPr>
              <a:spLocks noChangeShapeType="1"/>
            </p:cNvSpPr>
            <p:nvPr/>
          </p:nvSpPr>
          <p:spPr bwMode="auto">
            <a:xfrm>
              <a:off x="2610" y="3344"/>
              <a:ext cx="0" cy="101"/>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22" name="Line 26">
              <a:extLst>
                <a:ext uri="{FF2B5EF4-FFF2-40B4-BE49-F238E27FC236}">
                  <a16:creationId xmlns:a16="http://schemas.microsoft.com/office/drawing/2014/main" id="{EF87AC52-F5AA-4CAA-B415-084F73CCCB71}"/>
                </a:ext>
              </a:extLst>
            </p:cNvPr>
            <p:cNvSpPr>
              <a:spLocks noChangeShapeType="1"/>
            </p:cNvSpPr>
            <p:nvPr/>
          </p:nvSpPr>
          <p:spPr bwMode="auto">
            <a:xfrm flipH="1">
              <a:off x="2094" y="3344"/>
              <a:ext cx="53" cy="15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6523" name="Line 27">
              <a:extLst>
                <a:ext uri="{FF2B5EF4-FFF2-40B4-BE49-F238E27FC236}">
                  <a16:creationId xmlns:a16="http://schemas.microsoft.com/office/drawing/2014/main" id="{757434E4-42D0-4721-81FF-AF4192C59209}"/>
                </a:ext>
              </a:extLst>
            </p:cNvPr>
            <p:cNvSpPr>
              <a:spLocks noChangeShapeType="1"/>
            </p:cNvSpPr>
            <p:nvPr/>
          </p:nvSpPr>
          <p:spPr bwMode="auto">
            <a:xfrm flipH="1">
              <a:off x="1992" y="3293"/>
              <a:ext cx="51" cy="152"/>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a:extLst>
              <a:ext uri="{FF2B5EF4-FFF2-40B4-BE49-F238E27FC236}">
                <a16:creationId xmlns:a16="http://schemas.microsoft.com/office/drawing/2014/main" id="{72E87193-77B7-4323-B855-6918CA55CC62}"/>
              </a:ext>
            </a:extLst>
          </p:cNvPr>
          <p:cNvSpPr>
            <a:spLocks noGrp="1" noChangeArrowheads="1"/>
          </p:cNvSpPr>
          <p:nvPr>
            <p:ph type="title"/>
          </p:nvPr>
        </p:nvSpPr>
        <p:spPr/>
        <p:txBody>
          <a:bodyPr/>
          <a:lstStyle/>
          <a:p>
            <a:pPr eaLnBrk="1" hangingPunct="1">
              <a:defRPr/>
            </a:pPr>
            <a:r>
              <a:rPr lang="zh-CN" altLang="en-US"/>
              <a:t>七桥问题的抽象</a:t>
            </a:r>
          </a:p>
        </p:txBody>
      </p:sp>
      <p:grpSp>
        <p:nvGrpSpPr>
          <p:cNvPr id="2" name="Group 20">
            <a:extLst>
              <a:ext uri="{FF2B5EF4-FFF2-40B4-BE49-F238E27FC236}">
                <a16:creationId xmlns:a16="http://schemas.microsoft.com/office/drawing/2014/main" id="{15566E34-097F-4162-88B0-79A786A5CA4C}"/>
              </a:ext>
            </a:extLst>
          </p:cNvPr>
          <p:cNvGrpSpPr>
            <a:grpSpLocks/>
          </p:cNvGrpSpPr>
          <p:nvPr/>
        </p:nvGrpSpPr>
        <p:grpSpPr bwMode="auto">
          <a:xfrm>
            <a:off x="3071813" y="2492375"/>
            <a:ext cx="4895850" cy="3182938"/>
            <a:chOff x="975" y="1570"/>
            <a:chExt cx="3084" cy="2005"/>
          </a:xfrm>
        </p:grpSpPr>
        <p:sp>
          <p:nvSpPr>
            <p:cNvPr id="107524" name="AutoShape 6">
              <a:extLst>
                <a:ext uri="{FF2B5EF4-FFF2-40B4-BE49-F238E27FC236}">
                  <a16:creationId xmlns:a16="http://schemas.microsoft.com/office/drawing/2014/main" id="{47204869-9872-4E4C-882A-C2E033772399}"/>
                </a:ext>
              </a:extLst>
            </p:cNvPr>
            <p:cNvSpPr>
              <a:spLocks noChangeAspect="1" noChangeArrowheads="1"/>
            </p:cNvSpPr>
            <p:nvPr/>
          </p:nvSpPr>
          <p:spPr bwMode="auto">
            <a:xfrm>
              <a:off x="975" y="1570"/>
              <a:ext cx="3084" cy="2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7525" name="Oval 7">
              <a:extLst>
                <a:ext uri="{FF2B5EF4-FFF2-40B4-BE49-F238E27FC236}">
                  <a16:creationId xmlns:a16="http://schemas.microsoft.com/office/drawing/2014/main" id="{D02FB28F-8A89-4FFC-857E-49257EA2D3DC}"/>
                </a:ext>
              </a:extLst>
            </p:cNvPr>
            <p:cNvSpPr>
              <a:spLocks noChangeArrowheads="1"/>
            </p:cNvSpPr>
            <p:nvPr/>
          </p:nvSpPr>
          <p:spPr bwMode="auto">
            <a:xfrm>
              <a:off x="1580" y="1807"/>
              <a:ext cx="496" cy="757"/>
            </a:xfrm>
            <a:prstGeom prst="ellipse">
              <a:avLst/>
            </a:prstGeom>
            <a:noFill/>
            <a:ln w="38100" algn="ctr">
              <a:solidFill>
                <a:srgbClr val="B2B2B2"/>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7526" name="Oval 8">
              <a:extLst>
                <a:ext uri="{FF2B5EF4-FFF2-40B4-BE49-F238E27FC236}">
                  <a16:creationId xmlns:a16="http://schemas.microsoft.com/office/drawing/2014/main" id="{074817A2-F691-4E46-A3F8-11A6F45EBB0A}"/>
                </a:ext>
              </a:extLst>
            </p:cNvPr>
            <p:cNvSpPr>
              <a:spLocks noChangeArrowheads="1"/>
            </p:cNvSpPr>
            <p:nvPr/>
          </p:nvSpPr>
          <p:spPr bwMode="auto">
            <a:xfrm>
              <a:off x="1580" y="2658"/>
              <a:ext cx="496" cy="758"/>
            </a:xfrm>
            <a:prstGeom prst="ellipse">
              <a:avLst/>
            </a:prstGeom>
            <a:noFill/>
            <a:ln w="38100" algn="ctr">
              <a:solidFill>
                <a:srgbClr val="B2B2B2"/>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7527" name="Oval 9">
              <a:extLst>
                <a:ext uri="{FF2B5EF4-FFF2-40B4-BE49-F238E27FC236}">
                  <a16:creationId xmlns:a16="http://schemas.microsoft.com/office/drawing/2014/main" id="{BE9A5E5F-BEAA-4854-931D-0FD972BFC46F}"/>
                </a:ext>
              </a:extLst>
            </p:cNvPr>
            <p:cNvSpPr>
              <a:spLocks noChangeArrowheads="1"/>
            </p:cNvSpPr>
            <p:nvPr/>
          </p:nvSpPr>
          <p:spPr bwMode="auto">
            <a:xfrm>
              <a:off x="1800" y="1665"/>
              <a:ext cx="112" cy="142"/>
            </a:xfrm>
            <a:prstGeom prst="ellipse">
              <a:avLst/>
            </a:prstGeom>
            <a:solidFill>
              <a:srgbClr val="FF0000"/>
            </a:solidFill>
            <a:ln w="38100" algn="ctr">
              <a:solidFill>
                <a:srgbClr val="B2B2B2"/>
              </a:solidFill>
              <a:round/>
              <a:headEnd/>
              <a:tailEnd/>
            </a:ln>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7528" name="Oval 10">
              <a:extLst>
                <a:ext uri="{FF2B5EF4-FFF2-40B4-BE49-F238E27FC236}">
                  <a16:creationId xmlns:a16="http://schemas.microsoft.com/office/drawing/2014/main" id="{271F9068-03CC-4681-B9A4-507016A3117D}"/>
                </a:ext>
              </a:extLst>
            </p:cNvPr>
            <p:cNvSpPr>
              <a:spLocks noChangeArrowheads="1"/>
            </p:cNvSpPr>
            <p:nvPr/>
          </p:nvSpPr>
          <p:spPr bwMode="auto">
            <a:xfrm>
              <a:off x="3287" y="2564"/>
              <a:ext cx="111" cy="143"/>
            </a:xfrm>
            <a:prstGeom prst="ellipse">
              <a:avLst/>
            </a:prstGeom>
            <a:solidFill>
              <a:srgbClr val="FF0000"/>
            </a:solidFill>
            <a:ln w="38100" algn="ctr">
              <a:solidFill>
                <a:srgbClr val="B2B2B2"/>
              </a:solidFill>
              <a:round/>
              <a:headEnd/>
              <a:tailEnd/>
            </a:ln>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7529" name="Oval 11">
              <a:extLst>
                <a:ext uri="{FF2B5EF4-FFF2-40B4-BE49-F238E27FC236}">
                  <a16:creationId xmlns:a16="http://schemas.microsoft.com/office/drawing/2014/main" id="{4B587BE1-2153-447E-8196-17F92F1157EF}"/>
                </a:ext>
              </a:extLst>
            </p:cNvPr>
            <p:cNvSpPr>
              <a:spLocks noChangeArrowheads="1"/>
            </p:cNvSpPr>
            <p:nvPr/>
          </p:nvSpPr>
          <p:spPr bwMode="auto">
            <a:xfrm>
              <a:off x="1745" y="3416"/>
              <a:ext cx="111" cy="142"/>
            </a:xfrm>
            <a:prstGeom prst="ellipse">
              <a:avLst/>
            </a:prstGeom>
            <a:solidFill>
              <a:srgbClr val="FF0000"/>
            </a:solidFill>
            <a:ln w="38100" algn="ctr">
              <a:solidFill>
                <a:srgbClr val="B2B2B2"/>
              </a:solidFill>
              <a:round/>
              <a:headEnd/>
              <a:tailEnd/>
            </a:ln>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7530" name="Oval 12">
              <a:extLst>
                <a:ext uri="{FF2B5EF4-FFF2-40B4-BE49-F238E27FC236}">
                  <a16:creationId xmlns:a16="http://schemas.microsoft.com/office/drawing/2014/main" id="{013FCA19-F252-4F56-A29F-A69B61B09C1C}"/>
                </a:ext>
              </a:extLst>
            </p:cNvPr>
            <p:cNvSpPr>
              <a:spLocks noChangeArrowheads="1"/>
            </p:cNvSpPr>
            <p:nvPr/>
          </p:nvSpPr>
          <p:spPr bwMode="auto">
            <a:xfrm>
              <a:off x="1745" y="2564"/>
              <a:ext cx="111" cy="143"/>
            </a:xfrm>
            <a:prstGeom prst="ellipse">
              <a:avLst/>
            </a:prstGeom>
            <a:solidFill>
              <a:srgbClr val="FF0000"/>
            </a:solidFill>
            <a:ln w="38100" algn="ctr">
              <a:solidFill>
                <a:srgbClr val="B2B2B2"/>
              </a:solidFill>
              <a:round/>
              <a:headEnd/>
              <a:tailEnd/>
            </a:ln>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07531" name="Line 13">
              <a:extLst>
                <a:ext uri="{FF2B5EF4-FFF2-40B4-BE49-F238E27FC236}">
                  <a16:creationId xmlns:a16="http://schemas.microsoft.com/office/drawing/2014/main" id="{F684723F-B34D-4D9D-9810-5E44AE4C8C8D}"/>
                </a:ext>
              </a:extLst>
            </p:cNvPr>
            <p:cNvSpPr>
              <a:spLocks noChangeShapeType="1"/>
            </p:cNvSpPr>
            <p:nvPr/>
          </p:nvSpPr>
          <p:spPr bwMode="auto">
            <a:xfrm>
              <a:off x="1856" y="1712"/>
              <a:ext cx="1486" cy="90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7532" name="Line 14">
              <a:extLst>
                <a:ext uri="{FF2B5EF4-FFF2-40B4-BE49-F238E27FC236}">
                  <a16:creationId xmlns:a16="http://schemas.microsoft.com/office/drawing/2014/main" id="{FAC7AF11-D6DD-4B46-8CCF-C103650037F3}"/>
                </a:ext>
              </a:extLst>
            </p:cNvPr>
            <p:cNvSpPr>
              <a:spLocks noChangeShapeType="1"/>
            </p:cNvSpPr>
            <p:nvPr/>
          </p:nvSpPr>
          <p:spPr bwMode="auto">
            <a:xfrm>
              <a:off x="1800" y="2658"/>
              <a:ext cx="1598" cy="0"/>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7533" name="Line 15">
              <a:extLst>
                <a:ext uri="{FF2B5EF4-FFF2-40B4-BE49-F238E27FC236}">
                  <a16:creationId xmlns:a16="http://schemas.microsoft.com/office/drawing/2014/main" id="{7FECC9AF-2677-49E1-9692-A5CF11945B4C}"/>
                </a:ext>
              </a:extLst>
            </p:cNvPr>
            <p:cNvSpPr>
              <a:spLocks noChangeShapeType="1"/>
            </p:cNvSpPr>
            <p:nvPr/>
          </p:nvSpPr>
          <p:spPr bwMode="auto">
            <a:xfrm flipH="1">
              <a:off x="1800" y="2707"/>
              <a:ext cx="1542" cy="851"/>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07534" name="Text Box 16">
              <a:extLst>
                <a:ext uri="{FF2B5EF4-FFF2-40B4-BE49-F238E27FC236}">
                  <a16:creationId xmlns:a16="http://schemas.microsoft.com/office/drawing/2014/main" id="{E61F1C3E-1F8D-4E1C-B4B0-6C0EC847ED08}"/>
                </a:ext>
              </a:extLst>
            </p:cNvPr>
            <p:cNvSpPr txBox="1">
              <a:spLocks noChangeArrowheads="1"/>
            </p:cNvSpPr>
            <p:nvPr/>
          </p:nvSpPr>
          <p:spPr bwMode="auto">
            <a:xfrm>
              <a:off x="3342" y="2470"/>
              <a:ext cx="71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7666" tIns="33833" rIns="67666" bIns="33833"/>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东区</a:t>
              </a:r>
              <a:endParaRPr lang="zh-CN" altLang="en-US" sz="2400" b="0"/>
            </a:p>
          </p:txBody>
        </p:sp>
        <p:sp>
          <p:nvSpPr>
            <p:cNvPr id="107535" name="Text Box 17">
              <a:extLst>
                <a:ext uri="{FF2B5EF4-FFF2-40B4-BE49-F238E27FC236}">
                  <a16:creationId xmlns:a16="http://schemas.microsoft.com/office/drawing/2014/main" id="{0D218586-B3DA-4F0A-B6B5-693A62C6023C}"/>
                </a:ext>
              </a:extLst>
            </p:cNvPr>
            <p:cNvSpPr txBox="1">
              <a:spLocks noChangeArrowheads="1"/>
            </p:cNvSpPr>
            <p:nvPr/>
          </p:nvSpPr>
          <p:spPr bwMode="auto">
            <a:xfrm>
              <a:off x="975" y="1570"/>
              <a:ext cx="82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7666" tIns="33833" rIns="67666" bIns="33833"/>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北区</a:t>
              </a:r>
              <a:endParaRPr lang="zh-CN" altLang="en-US" sz="2400" b="0"/>
            </a:p>
          </p:txBody>
        </p:sp>
        <p:sp>
          <p:nvSpPr>
            <p:cNvPr id="107536" name="Text Box 18">
              <a:extLst>
                <a:ext uri="{FF2B5EF4-FFF2-40B4-BE49-F238E27FC236}">
                  <a16:creationId xmlns:a16="http://schemas.microsoft.com/office/drawing/2014/main" id="{5D35BB0E-9400-4219-BB60-C1FFBF522EA7}"/>
                </a:ext>
              </a:extLst>
            </p:cNvPr>
            <p:cNvSpPr txBox="1">
              <a:spLocks noChangeArrowheads="1"/>
            </p:cNvSpPr>
            <p:nvPr/>
          </p:nvSpPr>
          <p:spPr bwMode="auto">
            <a:xfrm>
              <a:off x="1029" y="2470"/>
              <a:ext cx="716"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7666" tIns="33833" rIns="67666" bIns="33833"/>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岛区</a:t>
              </a:r>
              <a:endParaRPr lang="zh-CN" altLang="en-US" sz="2400" b="0"/>
            </a:p>
          </p:txBody>
        </p:sp>
        <p:sp>
          <p:nvSpPr>
            <p:cNvPr id="107537" name="Text Box 19">
              <a:extLst>
                <a:ext uri="{FF2B5EF4-FFF2-40B4-BE49-F238E27FC236}">
                  <a16:creationId xmlns:a16="http://schemas.microsoft.com/office/drawing/2014/main" id="{22D186AF-B465-4E65-9DBC-F87EB80B92BF}"/>
                </a:ext>
              </a:extLst>
            </p:cNvPr>
            <p:cNvSpPr txBox="1">
              <a:spLocks noChangeArrowheads="1"/>
            </p:cNvSpPr>
            <p:nvPr/>
          </p:nvSpPr>
          <p:spPr bwMode="auto">
            <a:xfrm>
              <a:off x="1030" y="3274"/>
              <a:ext cx="660"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lIns="67666" tIns="33833" rIns="67666" bIns="33833"/>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zh-CN" altLang="en-US" sz="2400"/>
                <a:t>南区</a:t>
              </a:r>
              <a:endParaRPr lang="zh-CN" altLang="en-US" sz="2400" b="0"/>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a:extLst>
              <a:ext uri="{FF2B5EF4-FFF2-40B4-BE49-F238E27FC236}">
                <a16:creationId xmlns:a16="http://schemas.microsoft.com/office/drawing/2014/main" id="{2B7A7BF2-58D4-4154-BC07-CF6A58A9F430}"/>
              </a:ext>
            </a:extLst>
          </p:cNvPr>
          <p:cNvSpPr>
            <a:spLocks noGrp="1" noChangeArrowheads="1"/>
          </p:cNvSpPr>
          <p:nvPr>
            <p:ph type="title"/>
          </p:nvPr>
        </p:nvSpPr>
        <p:spPr>
          <a:xfrm>
            <a:off x="477838" y="630238"/>
            <a:ext cx="7772400" cy="1143000"/>
          </a:xfrm>
        </p:spPr>
        <p:txBody>
          <a:bodyPr/>
          <a:lstStyle/>
          <a:p>
            <a:pPr eaLnBrk="1" hangingPunct="1">
              <a:defRPr/>
            </a:pPr>
            <a:r>
              <a:rPr lang="zh-CN" altLang="en-US" dirty="0"/>
              <a:t>欧拉的判断 </a:t>
            </a:r>
          </a:p>
        </p:txBody>
      </p:sp>
      <p:sp>
        <p:nvSpPr>
          <p:cNvPr id="2" name="Rectangle 3">
            <a:extLst>
              <a:ext uri="{FF2B5EF4-FFF2-40B4-BE49-F238E27FC236}">
                <a16:creationId xmlns:a16="http://schemas.microsoft.com/office/drawing/2014/main" id="{1F24D16D-8005-4224-A460-6A9C3FF1F9CE}"/>
              </a:ext>
            </a:extLst>
          </p:cNvPr>
          <p:cNvSpPr>
            <a:spLocks noGrp="1" noChangeArrowheads="1"/>
          </p:cNvSpPr>
          <p:nvPr>
            <p:ph type="body" idx="1"/>
          </p:nvPr>
        </p:nvSpPr>
        <p:spPr>
          <a:xfrm>
            <a:off x="477838" y="1773238"/>
            <a:ext cx="11233150" cy="4395787"/>
          </a:xfrm>
        </p:spPr>
        <p:txBody>
          <a:bodyPr/>
          <a:lstStyle/>
          <a:p>
            <a:pPr eaLnBrk="1" hangingPunct="1">
              <a:lnSpc>
                <a:spcPct val="12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如果有奇数桥的地方不止两个，满足要求的路径是找不到的。</a:t>
            </a:r>
          </a:p>
          <a:p>
            <a:pPr eaLnBrk="1" hangingPunct="1">
              <a:lnSpc>
                <a:spcPct val="12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如果只有两个地方有奇数桥，可以从这两个地方之一出发，经过所有的桥一次，再回到另一个地方。</a:t>
            </a:r>
          </a:p>
          <a:p>
            <a:pPr eaLnBrk="1" hangingPunct="1">
              <a:lnSpc>
                <a:spcPct val="12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如果都是偶数桥，从任意地方出发都能回到原点。</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a:extLst>
              <a:ext uri="{FF2B5EF4-FFF2-40B4-BE49-F238E27FC236}">
                <a16:creationId xmlns:a16="http://schemas.microsoft.com/office/drawing/2014/main" id="{5A29141D-CE04-4CCD-84C8-E19814318582}"/>
              </a:ext>
            </a:extLst>
          </p:cNvPr>
          <p:cNvSpPr>
            <a:spLocks noGrp="1" noChangeArrowheads="1"/>
          </p:cNvSpPr>
          <p:nvPr>
            <p:ph type="title"/>
          </p:nvPr>
        </p:nvSpPr>
        <p:spPr/>
        <p:txBody>
          <a:bodyPr/>
          <a:lstStyle/>
          <a:p>
            <a:pPr eaLnBrk="1" hangingPunct="1">
              <a:defRPr/>
            </a:pPr>
            <a:r>
              <a:rPr lang="zh-CN" altLang="en-US"/>
              <a:t>欧拉回路和欧拉路径</a:t>
            </a:r>
          </a:p>
        </p:txBody>
      </p:sp>
      <p:sp>
        <p:nvSpPr>
          <p:cNvPr id="2" name="Rectangle 3">
            <a:extLst>
              <a:ext uri="{FF2B5EF4-FFF2-40B4-BE49-F238E27FC236}">
                <a16:creationId xmlns:a16="http://schemas.microsoft.com/office/drawing/2014/main" id="{D05A57AA-75BA-41D7-8ABE-4B986D4C3464}"/>
              </a:ext>
            </a:extLst>
          </p:cNvPr>
          <p:cNvSpPr>
            <a:spLocks noGrp="1" noChangeArrowheads="1"/>
          </p:cNvSpPr>
          <p:nvPr>
            <p:ph type="body" idx="1"/>
          </p:nvPr>
        </p:nvSpPr>
        <p:spPr>
          <a:xfrm>
            <a:off x="551292" y="1546578"/>
            <a:ext cx="10684555" cy="5126614"/>
          </a:xfrm>
        </p:spPr>
        <p:txBody>
          <a:bodyPr/>
          <a:lstStyle/>
          <a:p>
            <a:pPr>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如果能够在一个图中找到一条路径，使得该路径对图的每一条边正好经过一次，这条路径被称为欧拉路径。</a:t>
            </a:r>
          </a:p>
          <a:p>
            <a:pPr>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如果再增加一个附加条件，即起点和终点是相同的，这条路径被称为欧拉回路。</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a:extLst>
              <a:ext uri="{FF2B5EF4-FFF2-40B4-BE49-F238E27FC236}">
                <a16:creationId xmlns:a16="http://schemas.microsoft.com/office/drawing/2014/main" id="{33A292E1-2F47-4205-AA78-FA002519F1B2}"/>
              </a:ext>
            </a:extLst>
          </p:cNvPr>
          <p:cNvSpPr>
            <a:spLocks noGrp="1" noChangeArrowheads="1"/>
          </p:cNvSpPr>
          <p:nvPr>
            <p:ph type="title"/>
          </p:nvPr>
        </p:nvSpPr>
        <p:spPr/>
        <p:txBody>
          <a:bodyPr/>
          <a:lstStyle/>
          <a:p>
            <a:pPr eaLnBrk="1" hangingPunct="1">
              <a:defRPr/>
            </a:pPr>
            <a:r>
              <a:rPr lang="zh-CN" altLang="en-US"/>
              <a:t>基本想法</a:t>
            </a:r>
          </a:p>
        </p:txBody>
      </p:sp>
      <p:sp>
        <p:nvSpPr>
          <p:cNvPr id="2" name="Rectangle 3">
            <a:extLst>
              <a:ext uri="{FF2B5EF4-FFF2-40B4-BE49-F238E27FC236}">
                <a16:creationId xmlns:a16="http://schemas.microsoft.com/office/drawing/2014/main" id="{C90242CF-AB9A-4F0D-A44A-25986C94E397}"/>
              </a:ext>
            </a:extLst>
          </p:cNvPr>
          <p:cNvSpPr>
            <a:spLocks noGrp="1" noChangeArrowheads="1"/>
          </p:cNvSpPr>
          <p:nvPr>
            <p:ph type="body" idx="1"/>
          </p:nvPr>
        </p:nvSpPr>
        <p:spPr>
          <a:xfrm>
            <a:off x="695325" y="1981200"/>
            <a:ext cx="10729913" cy="4114800"/>
          </a:xfrm>
        </p:spPr>
        <p:txBody>
          <a:bodyPr/>
          <a:lstStyle/>
          <a:p>
            <a:pPr>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执行一次深度优先的搜索。从起始结点开始，沿着这条路一直往下走，直到无路可走。而且在此过程中不允许回溯。因此欧拉回路问题也被称为一笔画问题。</a:t>
            </a:r>
          </a:p>
          <a:p>
            <a:pPr>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但是有很多的搜索方案是行不通的。</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618" name="Group 29">
            <a:extLst>
              <a:ext uri="{FF2B5EF4-FFF2-40B4-BE49-F238E27FC236}">
                <a16:creationId xmlns:a16="http://schemas.microsoft.com/office/drawing/2014/main" id="{07D9BCA8-492E-4BEE-A89E-45028E0AD593}"/>
              </a:ext>
            </a:extLst>
          </p:cNvPr>
          <p:cNvGrpSpPr>
            <a:grpSpLocks/>
          </p:cNvGrpSpPr>
          <p:nvPr/>
        </p:nvGrpSpPr>
        <p:grpSpPr bwMode="auto">
          <a:xfrm>
            <a:off x="3992060" y="620713"/>
            <a:ext cx="3600450" cy="3128962"/>
            <a:chOff x="703" y="391"/>
            <a:chExt cx="2268" cy="1971"/>
          </a:xfrm>
        </p:grpSpPr>
        <p:grpSp>
          <p:nvGrpSpPr>
            <p:cNvPr id="111620" name="Group 6">
              <a:extLst>
                <a:ext uri="{FF2B5EF4-FFF2-40B4-BE49-F238E27FC236}">
                  <a16:creationId xmlns:a16="http://schemas.microsoft.com/office/drawing/2014/main" id="{4CED821A-3F8E-4A02-AADE-80C84D706B2C}"/>
                </a:ext>
              </a:extLst>
            </p:cNvPr>
            <p:cNvGrpSpPr>
              <a:grpSpLocks/>
            </p:cNvGrpSpPr>
            <p:nvPr/>
          </p:nvGrpSpPr>
          <p:grpSpPr bwMode="auto">
            <a:xfrm>
              <a:off x="973" y="591"/>
              <a:ext cx="1662" cy="1562"/>
              <a:chOff x="2200" y="572"/>
              <a:chExt cx="1225" cy="1316"/>
            </a:xfrm>
          </p:grpSpPr>
          <p:grpSp>
            <p:nvGrpSpPr>
              <p:cNvPr id="111633" name="Group 7">
                <a:extLst>
                  <a:ext uri="{FF2B5EF4-FFF2-40B4-BE49-F238E27FC236}">
                    <a16:creationId xmlns:a16="http://schemas.microsoft.com/office/drawing/2014/main" id="{B4370204-4839-4F73-8DCF-FC97F0B129EA}"/>
                  </a:ext>
                </a:extLst>
              </p:cNvPr>
              <p:cNvGrpSpPr>
                <a:grpSpLocks/>
              </p:cNvGrpSpPr>
              <p:nvPr/>
            </p:nvGrpSpPr>
            <p:grpSpPr bwMode="auto">
              <a:xfrm>
                <a:off x="2200" y="572"/>
                <a:ext cx="1225" cy="954"/>
                <a:chOff x="612" y="572"/>
                <a:chExt cx="1225" cy="954"/>
              </a:xfrm>
            </p:grpSpPr>
            <p:grpSp>
              <p:nvGrpSpPr>
                <p:cNvPr id="111636" name="Group 8">
                  <a:extLst>
                    <a:ext uri="{FF2B5EF4-FFF2-40B4-BE49-F238E27FC236}">
                      <a16:creationId xmlns:a16="http://schemas.microsoft.com/office/drawing/2014/main" id="{9828510E-A87F-4265-AE21-F33837D611F4}"/>
                    </a:ext>
                  </a:extLst>
                </p:cNvPr>
                <p:cNvGrpSpPr>
                  <a:grpSpLocks/>
                </p:cNvGrpSpPr>
                <p:nvPr/>
              </p:nvGrpSpPr>
              <p:grpSpPr bwMode="auto">
                <a:xfrm>
                  <a:off x="612" y="981"/>
                  <a:ext cx="1225" cy="545"/>
                  <a:chOff x="612" y="436"/>
                  <a:chExt cx="1225" cy="545"/>
                </a:xfrm>
              </p:grpSpPr>
              <p:sp>
                <p:nvSpPr>
                  <p:cNvPr id="111639" name="Rectangle 9">
                    <a:extLst>
                      <a:ext uri="{FF2B5EF4-FFF2-40B4-BE49-F238E27FC236}">
                        <a16:creationId xmlns:a16="http://schemas.microsoft.com/office/drawing/2014/main" id="{F16F9B39-6758-426E-8C4D-BE163FA5315C}"/>
                      </a:ext>
                    </a:extLst>
                  </p:cNvPr>
                  <p:cNvSpPr>
                    <a:spLocks noChangeArrowheads="1"/>
                  </p:cNvSpPr>
                  <p:nvPr/>
                </p:nvSpPr>
                <p:spPr bwMode="auto">
                  <a:xfrm>
                    <a:off x="612" y="436"/>
                    <a:ext cx="1225" cy="54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1640" name="Line 10">
                    <a:extLst>
                      <a:ext uri="{FF2B5EF4-FFF2-40B4-BE49-F238E27FC236}">
                        <a16:creationId xmlns:a16="http://schemas.microsoft.com/office/drawing/2014/main" id="{81255BF0-1958-4664-A502-9168A3F5D732}"/>
                      </a:ext>
                    </a:extLst>
                  </p:cNvPr>
                  <p:cNvSpPr>
                    <a:spLocks noChangeShapeType="1"/>
                  </p:cNvSpPr>
                  <p:nvPr/>
                </p:nvSpPr>
                <p:spPr bwMode="auto">
                  <a:xfrm flipH="1">
                    <a:off x="657" y="436"/>
                    <a:ext cx="1180" cy="5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1" name="Line 11">
                    <a:extLst>
                      <a:ext uri="{FF2B5EF4-FFF2-40B4-BE49-F238E27FC236}">
                        <a16:creationId xmlns:a16="http://schemas.microsoft.com/office/drawing/2014/main" id="{2DB6DBDB-2FAF-436F-86BF-66155B3EB79C}"/>
                      </a:ext>
                    </a:extLst>
                  </p:cNvPr>
                  <p:cNvSpPr>
                    <a:spLocks noChangeShapeType="1"/>
                  </p:cNvSpPr>
                  <p:nvPr/>
                </p:nvSpPr>
                <p:spPr bwMode="auto">
                  <a:xfrm>
                    <a:off x="612" y="436"/>
                    <a:ext cx="1179"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1637" name="Line 12">
                  <a:extLst>
                    <a:ext uri="{FF2B5EF4-FFF2-40B4-BE49-F238E27FC236}">
                      <a16:creationId xmlns:a16="http://schemas.microsoft.com/office/drawing/2014/main" id="{D3C906EF-722F-4364-9BC7-D9BAB559805F}"/>
                    </a:ext>
                  </a:extLst>
                </p:cNvPr>
                <p:cNvSpPr>
                  <a:spLocks noChangeShapeType="1"/>
                </p:cNvSpPr>
                <p:nvPr/>
              </p:nvSpPr>
              <p:spPr bwMode="auto">
                <a:xfrm flipV="1">
                  <a:off x="612" y="572"/>
                  <a:ext cx="635" cy="40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8" name="Line 13">
                  <a:extLst>
                    <a:ext uri="{FF2B5EF4-FFF2-40B4-BE49-F238E27FC236}">
                      <a16:creationId xmlns:a16="http://schemas.microsoft.com/office/drawing/2014/main" id="{1D456B09-63D4-4C05-BD3D-6E54770493A4}"/>
                    </a:ext>
                  </a:extLst>
                </p:cNvPr>
                <p:cNvSpPr>
                  <a:spLocks noChangeShapeType="1"/>
                </p:cNvSpPr>
                <p:nvPr/>
              </p:nvSpPr>
              <p:spPr bwMode="auto">
                <a:xfrm>
                  <a:off x="1247" y="572"/>
                  <a:ext cx="590" cy="40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1634" name="Line 14">
                <a:extLst>
                  <a:ext uri="{FF2B5EF4-FFF2-40B4-BE49-F238E27FC236}">
                    <a16:creationId xmlns:a16="http://schemas.microsoft.com/office/drawing/2014/main" id="{BB47FAEE-ACA4-4F7E-9205-D74676E0DFBF}"/>
                  </a:ext>
                </a:extLst>
              </p:cNvPr>
              <p:cNvSpPr>
                <a:spLocks noChangeShapeType="1"/>
              </p:cNvSpPr>
              <p:nvPr/>
            </p:nvSpPr>
            <p:spPr bwMode="auto">
              <a:xfrm>
                <a:off x="2200" y="1525"/>
                <a:ext cx="589"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5" name="Line 15">
                <a:extLst>
                  <a:ext uri="{FF2B5EF4-FFF2-40B4-BE49-F238E27FC236}">
                    <a16:creationId xmlns:a16="http://schemas.microsoft.com/office/drawing/2014/main" id="{7F314954-9713-4992-A850-F82B672063F3}"/>
                  </a:ext>
                </a:extLst>
              </p:cNvPr>
              <p:cNvSpPr>
                <a:spLocks noChangeShapeType="1"/>
              </p:cNvSpPr>
              <p:nvPr/>
            </p:nvSpPr>
            <p:spPr bwMode="auto">
              <a:xfrm flipH="1">
                <a:off x="2789" y="1525"/>
                <a:ext cx="635"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1621" name="Text Box 16">
              <a:extLst>
                <a:ext uri="{FF2B5EF4-FFF2-40B4-BE49-F238E27FC236}">
                  <a16:creationId xmlns:a16="http://schemas.microsoft.com/office/drawing/2014/main" id="{50A39238-6C08-4AD7-85BB-25BA25F653BC}"/>
                </a:ext>
              </a:extLst>
            </p:cNvPr>
            <p:cNvSpPr txBox="1">
              <a:spLocks noChangeArrowheads="1"/>
            </p:cNvSpPr>
            <p:nvPr/>
          </p:nvSpPr>
          <p:spPr bwMode="auto">
            <a:xfrm>
              <a:off x="1591" y="2140"/>
              <a:ext cx="24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0</a:t>
              </a:r>
              <a:endParaRPr lang="en-US" altLang="zh-CN" sz="2400" b="0"/>
            </a:p>
          </p:txBody>
        </p:sp>
        <p:sp>
          <p:nvSpPr>
            <p:cNvPr id="111622" name="Text Box 17">
              <a:extLst>
                <a:ext uri="{FF2B5EF4-FFF2-40B4-BE49-F238E27FC236}">
                  <a16:creationId xmlns:a16="http://schemas.microsoft.com/office/drawing/2014/main" id="{1AA9CC2A-D2C6-4FE7-B6B8-642921876EC6}"/>
                </a:ext>
              </a:extLst>
            </p:cNvPr>
            <p:cNvSpPr txBox="1">
              <a:spLocks noChangeArrowheads="1"/>
            </p:cNvSpPr>
            <p:nvPr/>
          </p:nvSpPr>
          <p:spPr bwMode="auto">
            <a:xfrm>
              <a:off x="703" y="1570"/>
              <a:ext cx="24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1</a:t>
              </a:r>
              <a:endParaRPr lang="en-US" altLang="zh-CN" sz="2400" b="0"/>
            </a:p>
          </p:txBody>
        </p:sp>
        <p:sp>
          <p:nvSpPr>
            <p:cNvPr id="111623" name="Text Box 18">
              <a:extLst>
                <a:ext uri="{FF2B5EF4-FFF2-40B4-BE49-F238E27FC236}">
                  <a16:creationId xmlns:a16="http://schemas.microsoft.com/office/drawing/2014/main" id="{88DC75E8-ED5F-4587-A14E-1D1639625FA0}"/>
                </a:ext>
              </a:extLst>
            </p:cNvPr>
            <p:cNvSpPr txBox="1">
              <a:spLocks noChangeArrowheads="1"/>
            </p:cNvSpPr>
            <p:nvPr/>
          </p:nvSpPr>
          <p:spPr bwMode="auto">
            <a:xfrm>
              <a:off x="2725" y="1570"/>
              <a:ext cx="24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2</a:t>
              </a:r>
              <a:endParaRPr lang="en-US" altLang="zh-CN" sz="2400" b="0"/>
            </a:p>
          </p:txBody>
        </p:sp>
        <p:sp>
          <p:nvSpPr>
            <p:cNvPr id="111624" name="Text Box 19">
              <a:extLst>
                <a:ext uri="{FF2B5EF4-FFF2-40B4-BE49-F238E27FC236}">
                  <a16:creationId xmlns:a16="http://schemas.microsoft.com/office/drawing/2014/main" id="{555E1315-FE4B-43C0-BCAA-35AFB2A08DA0}"/>
                </a:ext>
              </a:extLst>
            </p:cNvPr>
            <p:cNvSpPr txBox="1">
              <a:spLocks noChangeArrowheads="1"/>
            </p:cNvSpPr>
            <p:nvPr/>
          </p:nvSpPr>
          <p:spPr bwMode="auto">
            <a:xfrm>
              <a:off x="2680" y="890"/>
              <a:ext cx="24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3</a:t>
              </a:r>
              <a:endParaRPr lang="en-US" altLang="zh-CN" sz="2400" b="0"/>
            </a:p>
          </p:txBody>
        </p:sp>
        <p:sp>
          <p:nvSpPr>
            <p:cNvPr id="111625" name="Text Box 20">
              <a:extLst>
                <a:ext uri="{FF2B5EF4-FFF2-40B4-BE49-F238E27FC236}">
                  <a16:creationId xmlns:a16="http://schemas.microsoft.com/office/drawing/2014/main" id="{BA490810-FB8D-4883-8B37-AAA04366812C}"/>
                </a:ext>
              </a:extLst>
            </p:cNvPr>
            <p:cNvSpPr txBox="1">
              <a:spLocks noChangeArrowheads="1"/>
            </p:cNvSpPr>
            <p:nvPr/>
          </p:nvSpPr>
          <p:spPr bwMode="auto">
            <a:xfrm>
              <a:off x="703" y="935"/>
              <a:ext cx="24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4</a:t>
              </a:r>
              <a:endParaRPr lang="en-US" altLang="zh-CN" sz="2400" b="0"/>
            </a:p>
          </p:txBody>
        </p:sp>
        <p:sp>
          <p:nvSpPr>
            <p:cNvPr id="111626" name="Text Box 21">
              <a:extLst>
                <a:ext uri="{FF2B5EF4-FFF2-40B4-BE49-F238E27FC236}">
                  <a16:creationId xmlns:a16="http://schemas.microsoft.com/office/drawing/2014/main" id="{30746232-9567-49F2-92D0-C530DD195A48}"/>
                </a:ext>
              </a:extLst>
            </p:cNvPr>
            <p:cNvSpPr txBox="1">
              <a:spLocks noChangeArrowheads="1"/>
            </p:cNvSpPr>
            <p:nvPr/>
          </p:nvSpPr>
          <p:spPr bwMode="auto">
            <a:xfrm>
              <a:off x="1908" y="391"/>
              <a:ext cx="24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5</a:t>
              </a:r>
              <a:endParaRPr lang="en-US" altLang="zh-CN" sz="2400" b="0"/>
            </a:p>
          </p:txBody>
        </p:sp>
        <p:sp>
          <p:nvSpPr>
            <p:cNvPr id="111627" name="Oval 22">
              <a:extLst>
                <a:ext uri="{FF2B5EF4-FFF2-40B4-BE49-F238E27FC236}">
                  <a16:creationId xmlns:a16="http://schemas.microsoft.com/office/drawing/2014/main" id="{FA40CAE7-DA90-4077-8E47-304BD58BF852}"/>
                </a:ext>
              </a:extLst>
            </p:cNvPr>
            <p:cNvSpPr>
              <a:spLocks noChangeArrowheads="1"/>
            </p:cNvSpPr>
            <p:nvPr/>
          </p:nvSpPr>
          <p:spPr bwMode="auto">
            <a:xfrm>
              <a:off x="1788" y="553"/>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1628" name="Oval 23">
              <a:extLst>
                <a:ext uri="{FF2B5EF4-FFF2-40B4-BE49-F238E27FC236}">
                  <a16:creationId xmlns:a16="http://schemas.microsoft.com/office/drawing/2014/main" id="{7F0D08C5-0B64-4AA6-83B6-B6AEAB4F7D4E}"/>
                </a:ext>
              </a:extLst>
            </p:cNvPr>
            <p:cNvSpPr>
              <a:spLocks noChangeArrowheads="1"/>
            </p:cNvSpPr>
            <p:nvPr/>
          </p:nvSpPr>
          <p:spPr bwMode="auto">
            <a:xfrm>
              <a:off x="958" y="1029"/>
              <a:ext cx="97"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1629" name="Oval 24">
              <a:extLst>
                <a:ext uri="{FF2B5EF4-FFF2-40B4-BE49-F238E27FC236}">
                  <a16:creationId xmlns:a16="http://schemas.microsoft.com/office/drawing/2014/main" id="{9B941519-797E-490F-A0A5-F413AE8D7D57}"/>
                </a:ext>
              </a:extLst>
            </p:cNvPr>
            <p:cNvSpPr>
              <a:spLocks noChangeArrowheads="1"/>
            </p:cNvSpPr>
            <p:nvPr/>
          </p:nvSpPr>
          <p:spPr bwMode="auto">
            <a:xfrm>
              <a:off x="2578" y="1029"/>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1630" name="Oval 25">
              <a:extLst>
                <a:ext uri="{FF2B5EF4-FFF2-40B4-BE49-F238E27FC236}">
                  <a16:creationId xmlns:a16="http://schemas.microsoft.com/office/drawing/2014/main" id="{CAE3E861-F796-4DC1-B521-1843959282EA}"/>
                </a:ext>
              </a:extLst>
            </p:cNvPr>
            <p:cNvSpPr>
              <a:spLocks noChangeArrowheads="1"/>
            </p:cNvSpPr>
            <p:nvPr/>
          </p:nvSpPr>
          <p:spPr bwMode="auto">
            <a:xfrm>
              <a:off x="2586" y="1671"/>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1631" name="Oval 26">
              <a:extLst>
                <a:ext uri="{FF2B5EF4-FFF2-40B4-BE49-F238E27FC236}">
                  <a16:creationId xmlns:a16="http://schemas.microsoft.com/office/drawing/2014/main" id="{BEB71F65-2A9C-4E49-B6F8-B4F659205CBA}"/>
                </a:ext>
              </a:extLst>
            </p:cNvPr>
            <p:cNvSpPr>
              <a:spLocks noChangeArrowheads="1"/>
            </p:cNvSpPr>
            <p:nvPr/>
          </p:nvSpPr>
          <p:spPr bwMode="auto">
            <a:xfrm>
              <a:off x="925" y="1667"/>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1632" name="Oval 27">
              <a:extLst>
                <a:ext uri="{FF2B5EF4-FFF2-40B4-BE49-F238E27FC236}">
                  <a16:creationId xmlns:a16="http://schemas.microsoft.com/office/drawing/2014/main" id="{9E16CD65-D0A0-46FE-AD97-F573A74E840A}"/>
                </a:ext>
              </a:extLst>
            </p:cNvPr>
            <p:cNvSpPr>
              <a:spLocks noChangeArrowheads="1"/>
            </p:cNvSpPr>
            <p:nvPr/>
          </p:nvSpPr>
          <p:spPr bwMode="auto">
            <a:xfrm>
              <a:off x="1707" y="2101"/>
              <a:ext cx="97"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grpSp>
      <p:sp>
        <p:nvSpPr>
          <p:cNvPr id="111619" name="Rectangle 28">
            <a:extLst>
              <a:ext uri="{FF2B5EF4-FFF2-40B4-BE49-F238E27FC236}">
                <a16:creationId xmlns:a16="http://schemas.microsoft.com/office/drawing/2014/main" id="{91A68DBD-B8E7-4FB9-A9AA-08B830E30AD7}"/>
              </a:ext>
            </a:extLst>
          </p:cNvPr>
          <p:cNvSpPr>
            <a:spLocks noChangeArrowheads="1"/>
          </p:cNvSpPr>
          <p:nvPr/>
        </p:nvSpPr>
        <p:spPr bwMode="auto">
          <a:xfrm>
            <a:off x="926925" y="4171819"/>
            <a:ext cx="10595563" cy="2116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228600" indent="-228600">
              <a:lnSpc>
                <a:spcPct val="120000"/>
              </a:lnSpc>
              <a:spcBef>
                <a:spcPts val="1000"/>
              </a:spcBef>
              <a:buClr>
                <a:schemeClr val="accent1"/>
              </a:buClr>
              <a:buSzPct val="100000"/>
              <a:buFont typeface="Wingdings" panose="05000000000000000000" pitchFamily="2" charset="2"/>
              <a:buChar char="Ø"/>
            </a:pPr>
            <a:r>
              <a:rPr lang="zh-CN" altLang="en-US" sz="2800" b="0" dirty="0">
                <a:ea typeface="华文楷体" pitchFamily="2" charset="-122"/>
                <a:cs typeface="Times New Roman" panose="02020603050405020304" pitchFamily="18" charset="0"/>
              </a:rPr>
              <a:t>对于上图，它的所有结点的度均为偶数，应该存在欧拉回路。但如果从结点</a:t>
            </a:r>
            <a:r>
              <a:rPr lang="en-US" altLang="zh-CN" sz="2800" b="0" dirty="0">
                <a:ea typeface="华文楷体" pitchFamily="2" charset="-122"/>
                <a:cs typeface="Times New Roman" panose="02020603050405020304" pitchFamily="18" charset="0"/>
              </a:rPr>
              <a:t>5</a:t>
            </a:r>
            <a:r>
              <a:rPr lang="zh-CN" altLang="en-US" sz="2800" b="0" dirty="0">
                <a:ea typeface="华文楷体" pitchFamily="2" charset="-122"/>
                <a:cs typeface="Times New Roman" panose="02020603050405020304" pitchFamily="18" charset="0"/>
              </a:rPr>
              <a:t>出发开始深度优先的访问，选择的路径为</a:t>
            </a:r>
            <a:r>
              <a:rPr lang="en-US" altLang="zh-CN" sz="2800" b="0" dirty="0">
                <a:ea typeface="华文楷体" pitchFamily="2" charset="-122"/>
                <a:cs typeface="Times New Roman" panose="02020603050405020304" pitchFamily="18" charset="0"/>
              </a:rPr>
              <a:t>5-&gt;4-&gt;3-&gt;5</a:t>
            </a:r>
            <a:r>
              <a:rPr lang="zh-CN" altLang="en-US" sz="2800" b="0" dirty="0">
                <a:ea typeface="华文楷体" pitchFamily="2" charset="-122"/>
                <a:cs typeface="Times New Roman" panose="02020603050405020304" pitchFamily="18" charset="0"/>
              </a:rPr>
              <a:t>，则此时，就无法访问其他结点了</a:t>
            </a:r>
            <a:r>
              <a:rPr lang="en-US" altLang="zh-CN" sz="2800" b="0" dirty="0">
                <a:ea typeface="华文楷体" pitchFamily="2" charset="-122"/>
                <a:cs typeface="Times New Roman" panose="02020603050405020304" pitchFamily="18" charset="0"/>
              </a:rPr>
              <a:t>,</a:t>
            </a:r>
            <a:r>
              <a:rPr lang="zh-CN" altLang="en-US" sz="2800" b="0" dirty="0">
                <a:ea typeface="华文楷体" pitchFamily="2" charset="-122"/>
                <a:cs typeface="Times New Roman" panose="02020603050405020304" pitchFamily="18" charset="0"/>
              </a:rPr>
              <a:t>因为</a:t>
            </a:r>
            <a:r>
              <a:rPr lang="en-US" altLang="zh-CN" sz="2800" b="0" dirty="0">
                <a:ea typeface="华文楷体" pitchFamily="2" charset="-122"/>
                <a:cs typeface="Times New Roman" panose="02020603050405020304" pitchFamily="18" charset="0"/>
              </a:rPr>
              <a:t>5</a:t>
            </a:r>
            <a:r>
              <a:rPr lang="zh-CN" altLang="en-US" sz="2800" b="0" dirty="0">
                <a:ea typeface="华文楷体" pitchFamily="2" charset="-122"/>
                <a:cs typeface="Times New Roman" panose="02020603050405020304" pitchFamily="18" charset="0"/>
              </a:rPr>
              <a:t>没有其他的尚未被访问的边了。</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a:extLst>
              <a:ext uri="{FF2B5EF4-FFF2-40B4-BE49-F238E27FC236}">
                <a16:creationId xmlns:a16="http://schemas.microsoft.com/office/drawing/2014/main" id="{5A8C2366-A339-44DB-822E-3D0D066D90ED}"/>
              </a:ext>
            </a:extLst>
          </p:cNvPr>
          <p:cNvSpPr>
            <a:spLocks noGrp="1" noChangeArrowheads="1"/>
          </p:cNvSpPr>
          <p:nvPr>
            <p:ph type="title"/>
          </p:nvPr>
        </p:nvSpPr>
        <p:spPr/>
        <p:txBody>
          <a:bodyPr/>
          <a:lstStyle/>
          <a:p>
            <a:pPr eaLnBrk="1" hangingPunct="1">
              <a:defRPr/>
            </a:pPr>
            <a:r>
              <a:rPr lang="zh-CN" altLang="en-US"/>
              <a:t>解决方法</a:t>
            </a:r>
          </a:p>
        </p:txBody>
      </p:sp>
      <p:sp>
        <p:nvSpPr>
          <p:cNvPr id="2" name="Rectangle 3">
            <a:extLst>
              <a:ext uri="{FF2B5EF4-FFF2-40B4-BE49-F238E27FC236}">
                <a16:creationId xmlns:a16="http://schemas.microsoft.com/office/drawing/2014/main" id="{EC6322B3-D115-4E30-A9BA-3882ABB4606C}"/>
              </a:ext>
            </a:extLst>
          </p:cNvPr>
          <p:cNvSpPr>
            <a:spLocks noGrp="1" noChangeArrowheads="1"/>
          </p:cNvSpPr>
          <p:nvPr>
            <p:ph type="body" idx="1"/>
          </p:nvPr>
        </p:nvSpPr>
        <p:spPr>
          <a:xfrm>
            <a:off x="551291" y="1624806"/>
            <a:ext cx="9936163" cy="3608388"/>
          </a:xfrm>
        </p:spPr>
        <p:txBody>
          <a:bodyPr>
            <a:normAutofit/>
          </a:bodyPr>
          <a:lstStyle/>
          <a:p>
            <a:pPr eaLnBrk="1" hangingPunct="1">
              <a:lnSpc>
                <a:spcPct val="15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找出路径上的另外一个尚有未访问的边的顶点，开始另一次深度优先的搜索，将得到的遍历序列拼接到原来的序列中，直到所有的边都已被访问。</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Group 4">
            <a:extLst>
              <a:ext uri="{FF2B5EF4-FFF2-40B4-BE49-F238E27FC236}">
                <a16:creationId xmlns:a16="http://schemas.microsoft.com/office/drawing/2014/main" id="{CC116B2B-F802-4AD3-99BB-3D04E3D42DF5}"/>
              </a:ext>
            </a:extLst>
          </p:cNvPr>
          <p:cNvGrpSpPr>
            <a:grpSpLocks/>
          </p:cNvGrpSpPr>
          <p:nvPr/>
        </p:nvGrpSpPr>
        <p:grpSpPr bwMode="auto">
          <a:xfrm>
            <a:off x="2063750" y="188913"/>
            <a:ext cx="3600450" cy="3128962"/>
            <a:chOff x="703" y="391"/>
            <a:chExt cx="2268" cy="1971"/>
          </a:xfrm>
        </p:grpSpPr>
        <p:grpSp>
          <p:nvGrpSpPr>
            <p:cNvPr id="113672" name="Group 5">
              <a:extLst>
                <a:ext uri="{FF2B5EF4-FFF2-40B4-BE49-F238E27FC236}">
                  <a16:creationId xmlns:a16="http://schemas.microsoft.com/office/drawing/2014/main" id="{A42AF449-8168-4207-B6EB-DC6358F7E4F0}"/>
                </a:ext>
              </a:extLst>
            </p:cNvPr>
            <p:cNvGrpSpPr>
              <a:grpSpLocks/>
            </p:cNvGrpSpPr>
            <p:nvPr/>
          </p:nvGrpSpPr>
          <p:grpSpPr bwMode="auto">
            <a:xfrm>
              <a:off x="973" y="591"/>
              <a:ext cx="1662" cy="1562"/>
              <a:chOff x="2200" y="572"/>
              <a:chExt cx="1225" cy="1316"/>
            </a:xfrm>
          </p:grpSpPr>
          <p:grpSp>
            <p:nvGrpSpPr>
              <p:cNvPr id="113685" name="Group 6">
                <a:extLst>
                  <a:ext uri="{FF2B5EF4-FFF2-40B4-BE49-F238E27FC236}">
                    <a16:creationId xmlns:a16="http://schemas.microsoft.com/office/drawing/2014/main" id="{176605C0-D563-49F8-BE9A-4A6D8CAC9B8F}"/>
                  </a:ext>
                </a:extLst>
              </p:cNvPr>
              <p:cNvGrpSpPr>
                <a:grpSpLocks/>
              </p:cNvGrpSpPr>
              <p:nvPr/>
            </p:nvGrpSpPr>
            <p:grpSpPr bwMode="auto">
              <a:xfrm>
                <a:off x="2200" y="572"/>
                <a:ext cx="1225" cy="954"/>
                <a:chOff x="612" y="572"/>
                <a:chExt cx="1225" cy="954"/>
              </a:xfrm>
            </p:grpSpPr>
            <p:grpSp>
              <p:nvGrpSpPr>
                <p:cNvPr id="113688" name="Group 7">
                  <a:extLst>
                    <a:ext uri="{FF2B5EF4-FFF2-40B4-BE49-F238E27FC236}">
                      <a16:creationId xmlns:a16="http://schemas.microsoft.com/office/drawing/2014/main" id="{71C29F34-B1D3-4F68-A9B7-C35696D19658}"/>
                    </a:ext>
                  </a:extLst>
                </p:cNvPr>
                <p:cNvGrpSpPr>
                  <a:grpSpLocks/>
                </p:cNvGrpSpPr>
                <p:nvPr/>
              </p:nvGrpSpPr>
              <p:grpSpPr bwMode="auto">
                <a:xfrm>
                  <a:off x="612" y="981"/>
                  <a:ext cx="1225" cy="545"/>
                  <a:chOff x="612" y="436"/>
                  <a:chExt cx="1225" cy="545"/>
                </a:xfrm>
              </p:grpSpPr>
              <p:sp>
                <p:nvSpPr>
                  <p:cNvPr id="113691" name="Rectangle 8">
                    <a:extLst>
                      <a:ext uri="{FF2B5EF4-FFF2-40B4-BE49-F238E27FC236}">
                        <a16:creationId xmlns:a16="http://schemas.microsoft.com/office/drawing/2014/main" id="{567FED7F-25F3-4BFA-BD4B-031B77A2E18A}"/>
                      </a:ext>
                    </a:extLst>
                  </p:cNvPr>
                  <p:cNvSpPr>
                    <a:spLocks noChangeArrowheads="1"/>
                  </p:cNvSpPr>
                  <p:nvPr/>
                </p:nvSpPr>
                <p:spPr bwMode="auto">
                  <a:xfrm>
                    <a:off x="612" y="436"/>
                    <a:ext cx="1225" cy="54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3692" name="Line 9">
                    <a:extLst>
                      <a:ext uri="{FF2B5EF4-FFF2-40B4-BE49-F238E27FC236}">
                        <a16:creationId xmlns:a16="http://schemas.microsoft.com/office/drawing/2014/main" id="{41556172-8088-4438-A624-FB7375C6C8C3}"/>
                      </a:ext>
                    </a:extLst>
                  </p:cNvPr>
                  <p:cNvSpPr>
                    <a:spLocks noChangeShapeType="1"/>
                  </p:cNvSpPr>
                  <p:nvPr/>
                </p:nvSpPr>
                <p:spPr bwMode="auto">
                  <a:xfrm flipH="1">
                    <a:off x="657" y="436"/>
                    <a:ext cx="1180" cy="5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93" name="Line 10">
                    <a:extLst>
                      <a:ext uri="{FF2B5EF4-FFF2-40B4-BE49-F238E27FC236}">
                        <a16:creationId xmlns:a16="http://schemas.microsoft.com/office/drawing/2014/main" id="{1FF28259-8C9B-4D30-A4F3-EEE3CE845BED}"/>
                      </a:ext>
                    </a:extLst>
                  </p:cNvPr>
                  <p:cNvSpPr>
                    <a:spLocks noChangeShapeType="1"/>
                  </p:cNvSpPr>
                  <p:nvPr/>
                </p:nvSpPr>
                <p:spPr bwMode="auto">
                  <a:xfrm>
                    <a:off x="612" y="436"/>
                    <a:ext cx="1179" cy="4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3689" name="Line 11">
                  <a:extLst>
                    <a:ext uri="{FF2B5EF4-FFF2-40B4-BE49-F238E27FC236}">
                      <a16:creationId xmlns:a16="http://schemas.microsoft.com/office/drawing/2014/main" id="{F4ECFE35-0324-4F50-B146-0541F2EC358E}"/>
                    </a:ext>
                  </a:extLst>
                </p:cNvPr>
                <p:cNvSpPr>
                  <a:spLocks noChangeShapeType="1"/>
                </p:cNvSpPr>
                <p:nvPr/>
              </p:nvSpPr>
              <p:spPr bwMode="auto">
                <a:xfrm flipV="1">
                  <a:off x="612" y="572"/>
                  <a:ext cx="635" cy="40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90" name="Line 12">
                  <a:extLst>
                    <a:ext uri="{FF2B5EF4-FFF2-40B4-BE49-F238E27FC236}">
                      <a16:creationId xmlns:a16="http://schemas.microsoft.com/office/drawing/2014/main" id="{66A6C9A9-2B41-42DF-B610-0240EA1FE8E3}"/>
                    </a:ext>
                  </a:extLst>
                </p:cNvPr>
                <p:cNvSpPr>
                  <a:spLocks noChangeShapeType="1"/>
                </p:cNvSpPr>
                <p:nvPr/>
              </p:nvSpPr>
              <p:spPr bwMode="auto">
                <a:xfrm>
                  <a:off x="1247" y="572"/>
                  <a:ext cx="590" cy="40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3686" name="Line 13">
                <a:extLst>
                  <a:ext uri="{FF2B5EF4-FFF2-40B4-BE49-F238E27FC236}">
                    <a16:creationId xmlns:a16="http://schemas.microsoft.com/office/drawing/2014/main" id="{E2470474-47B2-4E1D-8B98-941FDECFCCDE}"/>
                  </a:ext>
                </a:extLst>
              </p:cNvPr>
              <p:cNvSpPr>
                <a:spLocks noChangeShapeType="1"/>
              </p:cNvSpPr>
              <p:nvPr/>
            </p:nvSpPr>
            <p:spPr bwMode="auto">
              <a:xfrm>
                <a:off x="2200" y="1525"/>
                <a:ext cx="589"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87" name="Line 14">
                <a:extLst>
                  <a:ext uri="{FF2B5EF4-FFF2-40B4-BE49-F238E27FC236}">
                    <a16:creationId xmlns:a16="http://schemas.microsoft.com/office/drawing/2014/main" id="{05EAB97F-D468-4DA8-84DE-14A0859471E4}"/>
                  </a:ext>
                </a:extLst>
              </p:cNvPr>
              <p:cNvSpPr>
                <a:spLocks noChangeShapeType="1"/>
              </p:cNvSpPr>
              <p:nvPr/>
            </p:nvSpPr>
            <p:spPr bwMode="auto">
              <a:xfrm flipH="1">
                <a:off x="2789" y="1525"/>
                <a:ext cx="635" cy="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3673" name="Text Box 15">
              <a:extLst>
                <a:ext uri="{FF2B5EF4-FFF2-40B4-BE49-F238E27FC236}">
                  <a16:creationId xmlns:a16="http://schemas.microsoft.com/office/drawing/2014/main" id="{97BD4256-CBE6-4BA8-9BE5-385C942B19A5}"/>
                </a:ext>
              </a:extLst>
            </p:cNvPr>
            <p:cNvSpPr txBox="1">
              <a:spLocks noChangeArrowheads="1"/>
            </p:cNvSpPr>
            <p:nvPr/>
          </p:nvSpPr>
          <p:spPr bwMode="auto">
            <a:xfrm>
              <a:off x="1591" y="2140"/>
              <a:ext cx="24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0</a:t>
              </a:r>
              <a:endParaRPr lang="en-US" altLang="zh-CN" sz="2400" b="0"/>
            </a:p>
          </p:txBody>
        </p:sp>
        <p:sp>
          <p:nvSpPr>
            <p:cNvPr id="113674" name="Text Box 16">
              <a:extLst>
                <a:ext uri="{FF2B5EF4-FFF2-40B4-BE49-F238E27FC236}">
                  <a16:creationId xmlns:a16="http://schemas.microsoft.com/office/drawing/2014/main" id="{C4D6C9F5-7E6C-49D5-923D-5D9B4791F7CB}"/>
                </a:ext>
              </a:extLst>
            </p:cNvPr>
            <p:cNvSpPr txBox="1">
              <a:spLocks noChangeArrowheads="1"/>
            </p:cNvSpPr>
            <p:nvPr/>
          </p:nvSpPr>
          <p:spPr bwMode="auto">
            <a:xfrm>
              <a:off x="703" y="1570"/>
              <a:ext cx="24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1</a:t>
              </a:r>
              <a:endParaRPr lang="en-US" altLang="zh-CN" sz="2400" b="0"/>
            </a:p>
          </p:txBody>
        </p:sp>
        <p:sp>
          <p:nvSpPr>
            <p:cNvPr id="113675" name="Text Box 17">
              <a:extLst>
                <a:ext uri="{FF2B5EF4-FFF2-40B4-BE49-F238E27FC236}">
                  <a16:creationId xmlns:a16="http://schemas.microsoft.com/office/drawing/2014/main" id="{427DA6EC-3E91-461E-8176-6B3756D6C2BA}"/>
                </a:ext>
              </a:extLst>
            </p:cNvPr>
            <p:cNvSpPr txBox="1">
              <a:spLocks noChangeArrowheads="1"/>
            </p:cNvSpPr>
            <p:nvPr/>
          </p:nvSpPr>
          <p:spPr bwMode="auto">
            <a:xfrm>
              <a:off x="2725" y="1570"/>
              <a:ext cx="24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2</a:t>
              </a:r>
              <a:endParaRPr lang="en-US" altLang="zh-CN" sz="2400" b="0"/>
            </a:p>
          </p:txBody>
        </p:sp>
        <p:sp>
          <p:nvSpPr>
            <p:cNvPr id="113676" name="Text Box 18">
              <a:extLst>
                <a:ext uri="{FF2B5EF4-FFF2-40B4-BE49-F238E27FC236}">
                  <a16:creationId xmlns:a16="http://schemas.microsoft.com/office/drawing/2014/main" id="{8775AF51-EBC3-4F75-95FB-6F54C48E63A9}"/>
                </a:ext>
              </a:extLst>
            </p:cNvPr>
            <p:cNvSpPr txBox="1">
              <a:spLocks noChangeArrowheads="1"/>
            </p:cNvSpPr>
            <p:nvPr/>
          </p:nvSpPr>
          <p:spPr bwMode="auto">
            <a:xfrm>
              <a:off x="2680" y="890"/>
              <a:ext cx="24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3</a:t>
              </a:r>
              <a:endParaRPr lang="en-US" altLang="zh-CN" sz="2400" b="0"/>
            </a:p>
          </p:txBody>
        </p:sp>
        <p:sp>
          <p:nvSpPr>
            <p:cNvPr id="113677" name="Text Box 19">
              <a:extLst>
                <a:ext uri="{FF2B5EF4-FFF2-40B4-BE49-F238E27FC236}">
                  <a16:creationId xmlns:a16="http://schemas.microsoft.com/office/drawing/2014/main" id="{054AE366-36CE-44E5-9338-5BFAF86781E0}"/>
                </a:ext>
              </a:extLst>
            </p:cNvPr>
            <p:cNvSpPr txBox="1">
              <a:spLocks noChangeArrowheads="1"/>
            </p:cNvSpPr>
            <p:nvPr/>
          </p:nvSpPr>
          <p:spPr bwMode="auto">
            <a:xfrm>
              <a:off x="703" y="935"/>
              <a:ext cx="24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4</a:t>
              </a:r>
              <a:endParaRPr lang="en-US" altLang="zh-CN" sz="2400" b="0"/>
            </a:p>
          </p:txBody>
        </p:sp>
        <p:sp>
          <p:nvSpPr>
            <p:cNvPr id="113678" name="Text Box 20">
              <a:extLst>
                <a:ext uri="{FF2B5EF4-FFF2-40B4-BE49-F238E27FC236}">
                  <a16:creationId xmlns:a16="http://schemas.microsoft.com/office/drawing/2014/main" id="{9AEAA3FD-E9EE-42B1-B93B-39E7584260B4}"/>
                </a:ext>
              </a:extLst>
            </p:cNvPr>
            <p:cNvSpPr txBox="1">
              <a:spLocks noChangeArrowheads="1"/>
            </p:cNvSpPr>
            <p:nvPr/>
          </p:nvSpPr>
          <p:spPr bwMode="auto">
            <a:xfrm>
              <a:off x="1908" y="391"/>
              <a:ext cx="24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80760" tIns="40380" rIns="80760" bIns="4038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a:t>5</a:t>
              </a:r>
              <a:endParaRPr lang="en-US" altLang="zh-CN" sz="2400" b="0"/>
            </a:p>
          </p:txBody>
        </p:sp>
        <p:sp>
          <p:nvSpPr>
            <p:cNvPr id="113679" name="Oval 21">
              <a:extLst>
                <a:ext uri="{FF2B5EF4-FFF2-40B4-BE49-F238E27FC236}">
                  <a16:creationId xmlns:a16="http://schemas.microsoft.com/office/drawing/2014/main" id="{ED3C603E-C380-4246-91E6-2DE7A959B7FC}"/>
                </a:ext>
              </a:extLst>
            </p:cNvPr>
            <p:cNvSpPr>
              <a:spLocks noChangeArrowheads="1"/>
            </p:cNvSpPr>
            <p:nvPr/>
          </p:nvSpPr>
          <p:spPr bwMode="auto">
            <a:xfrm>
              <a:off x="1788" y="553"/>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3680" name="Oval 22">
              <a:extLst>
                <a:ext uri="{FF2B5EF4-FFF2-40B4-BE49-F238E27FC236}">
                  <a16:creationId xmlns:a16="http://schemas.microsoft.com/office/drawing/2014/main" id="{74B342AB-CB4C-45DD-836F-800EDE01F03F}"/>
                </a:ext>
              </a:extLst>
            </p:cNvPr>
            <p:cNvSpPr>
              <a:spLocks noChangeArrowheads="1"/>
            </p:cNvSpPr>
            <p:nvPr/>
          </p:nvSpPr>
          <p:spPr bwMode="auto">
            <a:xfrm>
              <a:off x="958" y="1029"/>
              <a:ext cx="97"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3681" name="Oval 23">
              <a:extLst>
                <a:ext uri="{FF2B5EF4-FFF2-40B4-BE49-F238E27FC236}">
                  <a16:creationId xmlns:a16="http://schemas.microsoft.com/office/drawing/2014/main" id="{3EC9A888-D3A0-48A6-81CE-266DF18AD242}"/>
                </a:ext>
              </a:extLst>
            </p:cNvPr>
            <p:cNvSpPr>
              <a:spLocks noChangeArrowheads="1"/>
            </p:cNvSpPr>
            <p:nvPr/>
          </p:nvSpPr>
          <p:spPr bwMode="auto">
            <a:xfrm>
              <a:off x="2578" y="1029"/>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3682" name="Oval 24">
              <a:extLst>
                <a:ext uri="{FF2B5EF4-FFF2-40B4-BE49-F238E27FC236}">
                  <a16:creationId xmlns:a16="http://schemas.microsoft.com/office/drawing/2014/main" id="{4EAE32DC-AAE7-4EC1-A3EC-9B788129C822}"/>
                </a:ext>
              </a:extLst>
            </p:cNvPr>
            <p:cNvSpPr>
              <a:spLocks noChangeArrowheads="1"/>
            </p:cNvSpPr>
            <p:nvPr/>
          </p:nvSpPr>
          <p:spPr bwMode="auto">
            <a:xfrm>
              <a:off x="2586" y="1671"/>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3683" name="Oval 25">
              <a:extLst>
                <a:ext uri="{FF2B5EF4-FFF2-40B4-BE49-F238E27FC236}">
                  <a16:creationId xmlns:a16="http://schemas.microsoft.com/office/drawing/2014/main" id="{3EA0E768-7B3E-4D0F-9E9D-B2BF786CD053}"/>
                </a:ext>
              </a:extLst>
            </p:cNvPr>
            <p:cNvSpPr>
              <a:spLocks noChangeArrowheads="1"/>
            </p:cNvSpPr>
            <p:nvPr/>
          </p:nvSpPr>
          <p:spPr bwMode="auto">
            <a:xfrm>
              <a:off x="925" y="1667"/>
              <a:ext cx="98"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13684" name="Oval 26">
              <a:extLst>
                <a:ext uri="{FF2B5EF4-FFF2-40B4-BE49-F238E27FC236}">
                  <a16:creationId xmlns:a16="http://schemas.microsoft.com/office/drawing/2014/main" id="{36B54CAF-C785-4B61-8576-B6F6EAED8DD3}"/>
                </a:ext>
              </a:extLst>
            </p:cNvPr>
            <p:cNvSpPr>
              <a:spLocks noChangeArrowheads="1"/>
            </p:cNvSpPr>
            <p:nvPr/>
          </p:nvSpPr>
          <p:spPr bwMode="auto">
            <a:xfrm>
              <a:off x="1707" y="2101"/>
              <a:ext cx="97" cy="74"/>
            </a:xfrm>
            <a:prstGeom prst="ellipse">
              <a:avLst/>
            </a:prstGeom>
            <a:solidFill>
              <a:srgbClr val="FFFFFF"/>
            </a:solidFill>
            <a:ln w="38100">
              <a:solidFill>
                <a:schemeClr val="tx1"/>
              </a:solidFill>
              <a:round/>
              <a:headEnd/>
              <a:tailEnd/>
            </a:ln>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grpSp>
      <p:sp>
        <p:nvSpPr>
          <p:cNvPr id="113667" name="Rectangle 28">
            <a:extLst>
              <a:ext uri="{FF2B5EF4-FFF2-40B4-BE49-F238E27FC236}">
                <a16:creationId xmlns:a16="http://schemas.microsoft.com/office/drawing/2014/main" id="{60FDE3B6-0413-4A63-A4E9-725A3CD23648}"/>
              </a:ext>
            </a:extLst>
          </p:cNvPr>
          <p:cNvSpPr>
            <a:spLocks noChangeArrowheads="1"/>
          </p:cNvSpPr>
          <p:nvPr/>
        </p:nvSpPr>
        <p:spPr bwMode="auto">
          <a:xfrm>
            <a:off x="6011726" y="1287482"/>
            <a:ext cx="377749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800" b="0" dirty="0"/>
              <a:t>先找到 </a:t>
            </a:r>
            <a:r>
              <a:rPr lang="en-US" altLang="zh-CN" sz="2800" b="0" dirty="0"/>
              <a:t>5-&gt;4-&gt;3-&gt;5</a:t>
            </a:r>
          </a:p>
        </p:txBody>
      </p:sp>
      <p:sp>
        <p:nvSpPr>
          <p:cNvPr id="2701341" name="Text Box 29">
            <a:extLst>
              <a:ext uri="{FF2B5EF4-FFF2-40B4-BE49-F238E27FC236}">
                <a16:creationId xmlns:a16="http://schemas.microsoft.com/office/drawing/2014/main" id="{A299AED9-0439-4B2E-856D-2EF14554BDBA}"/>
              </a:ext>
            </a:extLst>
          </p:cNvPr>
          <p:cNvSpPr txBox="1">
            <a:spLocks noChangeArrowheads="1"/>
          </p:cNvSpPr>
          <p:nvPr/>
        </p:nvSpPr>
        <p:spPr bwMode="auto">
          <a:xfrm>
            <a:off x="6019451" y="1955820"/>
            <a:ext cx="586174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zh-CN" altLang="en-US" sz="2800" b="0" dirty="0"/>
              <a:t>在路径上找一个尚有边未被访问的结点，如：</a:t>
            </a:r>
            <a:r>
              <a:rPr lang="en-US" altLang="zh-CN" sz="2800" b="0" dirty="0"/>
              <a:t>4</a:t>
            </a:r>
            <a:r>
              <a:rPr lang="zh-CN" altLang="en-US" sz="2800" b="0" dirty="0"/>
              <a:t>，开始另一次深度优先遍历。得到路径</a:t>
            </a:r>
            <a:r>
              <a:rPr lang="en-US" altLang="zh-CN" sz="2800" b="0" dirty="0"/>
              <a:t>4-&gt;2-&gt;1-&gt;4</a:t>
            </a:r>
          </a:p>
        </p:txBody>
      </p:sp>
      <p:sp>
        <p:nvSpPr>
          <p:cNvPr id="2701342" name="Text Box 30">
            <a:extLst>
              <a:ext uri="{FF2B5EF4-FFF2-40B4-BE49-F238E27FC236}">
                <a16:creationId xmlns:a16="http://schemas.microsoft.com/office/drawing/2014/main" id="{33ADED4E-CEBD-4D0E-9E03-8A678C12FB02}"/>
              </a:ext>
            </a:extLst>
          </p:cNvPr>
          <p:cNvSpPr txBox="1">
            <a:spLocks noChangeArrowheads="1"/>
          </p:cNvSpPr>
          <p:nvPr/>
        </p:nvSpPr>
        <p:spPr bwMode="auto">
          <a:xfrm>
            <a:off x="1244600" y="3529013"/>
            <a:ext cx="7705725"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lnSpc>
                <a:spcPct val="80000"/>
              </a:lnSpc>
              <a:spcBef>
                <a:spcPct val="50000"/>
              </a:spcBef>
              <a:buClrTx/>
              <a:buSzTx/>
              <a:buFontTx/>
              <a:buNone/>
            </a:pPr>
            <a:r>
              <a:rPr lang="zh-CN" altLang="en-US" sz="2800" b="0" dirty="0"/>
              <a:t>将第二条路径拼接到第一条路径上，得到：</a:t>
            </a:r>
          </a:p>
          <a:p>
            <a:pPr eaLnBrk="1" hangingPunct="1">
              <a:lnSpc>
                <a:spcPct val="80000"/>
              </a:lnSpc>
              <a:spcBef>
                <a:spcPct val="50000"/>
              </a:spcBef>
              <a:buClrTx/>
              <a:buSzTx/>
              <a:buFontTx/>
              <a:buNone/>
            </a:pPr>
            <a:r>
              <a:rPr lang="en-US" altLang="zh-CN" sz="2800" b="0" dirty="0"/>
              <a:t>5-&gt;4-&gt;2-&gt;1-&gt;4-&gt;3-&gt;5</a:t>
            </a:r>
          </a:p>
        </p:txBody>
      </p:sp>
      <p:sp>
        <p:nvSpPr>
          <p:cNvPr id="2701343" name="Text Box 31">
            <a:extLst>
              <a:ext uri="{FF2B5EF4-FFF2-40B4-BE49-F238E27FC236}">
                <a16:creationId xmlns:a16="http://schemas.microsoft.com/office/drawing/2014/main" id="{BB73CA28-6AA7-483E-94EB-5EA7CBAB0144}"/>
              </a:ext>
            </a:extLst>
          </p:cNvPr>
          <p:cNvSpPr txBox="1">
            <a:spLocks noChangeArrowheads="1"/>
          </p:cNvSpPr>
          <p:nvPr/>
        </p:nvSpPr>
        <p:spPr bwMode="auto">
          <a:xfrm>
            <a:off x="1270000" y="4667250"/>
            <a:ext cx="97948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800" b="0" dirty="0"/>
              <a:t>3</a:t>
            </a:r>
            <a:r>
              <a:rPr lang="zh-CN" altLang="en-US" sz="2800" b="0" dirty="0"/>
              <a:t>号结点还有未访问的边，从</a:t>
            </a:r>
            <a:r>
              <a:rPr lang="en-US" altLang="zh-CN" sz="2800" b="0" dirty="0"/>
              <a:t>3</a:t>
            </a:r>
            <a:r>
              <a:rPr lang="zh-CN" altLang="en-US" sz="2800" b="0" dirty="0"/>
              <a:t>号结点再开始一次深度优先遍历，得到路径</a:t>
            </a:r>
            <a:r>
              <a:rPr lang="en-US" altLang="zh-CN" sz="2800" b="0" dirty="0"/>
              <a:t>3-&gt;1-&gt;0-&gt;2-&gt;3</a:t>
            </a:r>
          </a:p>
        </p:txBody>
      </p:sp>
      <p:sp>
        <p:nvSpPr>
          <p:cNvPr id="2701344" name="Text Box 32">
            <a:extLst>
              <a:ext uri="{FF2B5EF4-FFF2-40B4-BE49-F238E27FC236}">
                <a16:creationId xmlns:a16="http://schemas.microsoft.com/office/drawing/2014/main" id="{023385C4-576C-4F3C-B1AB-B554BF7706B4}"/>
              </a:ext>
            </a:extLst>
          </p:cNvPr>
          <p:cNvSpPr txBox="1">
            <a:spLocks noChangeArrowheads="1"/>
          </p:cNvSpPr>
          <p:nvPr/>
        </p:nvSpPr>
        <p:spPr bwMode="auto">
          <a:xfrm>
            <a:off x="1273175" y="5805488"/>
            <a:ext cx="6985000"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lnSpc>
                <a:spcPct val="80000"/>
              </a:lnSpc>
              <a:spcBef>
                <a:spcPct val="50000"/>
              </a:spcBef>
              <a:buClrTx/>
              <a:buSzTx/>
              <a:buFontTx/>
              <a:buNone/>
            </a:pPr>
            <a:r>
              <a:rPr lang="zh-CN" altLang="en-US" sz="2800" b="0" dirty="0"/>
              <a:t>将第三条路径拼接到第一条路径上，得到：</a:t>
            </a:r>
          </a:p>
          <a:p>
            <a:pPr eaLnBrk="1" hangingPunct="1">
              <a:lnSpc>
                <a:spcPct val="80000"/>
              </a:lnSpc>
              <a:spcBef>
                <a:spcPct val="50000"/>
              </a:spcBef>
              <a:buClrTx/>
              <a:buSzTx/>
              <a:buFontTx/>
              <a:buNone/>
            </a:pPr>
            <a:r>
              <a:rPr lang="en-US" altLang="zh-CN" sz="2800" b="0" dirty="0"/>
              <a:t>5-&gt;4-&gt;2-&gt;1-&gt;4-&gt;3-&gt;1-&gt;0-&gt;2-&gt;3-&gt;5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01341"/>
                                        </p:tgtEl>
                                        <p:attrNameLst>
                                          <p:attrName>style.visibility</p:attrName>
                                        </p:attrNameLst>
                                      </p:cBhvr>
                                      <p:to>
                                        <p:strVal val="visible"/>
                                      </p:to>
                                    </p:set>
                                    <p:animEffect transition="in" filter="fade">
                                      <p:cBhvr>
                                        <p:cTn id="7" dur="2000"/>
                                        <p:tgtEl>
                                          <p:spTgt spid="27013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01342"/>
                                        </p:tgtEl>
                                        <p:attrNameLst>
                                          <p:attrName>style.visibility</p:attrName>
                                        </p:attrNameLst>
                                      </p:cBhvr>
                                      <p:to>
                                        <p:strVal val="visible"/>
                                      </p:to>
                                    </p:set>
                                    <p:animEffect transition="in" filter="fade">
                                      <p:cBhvr>
                                        <p:cTn id="12" dur="2000"/>
                                        <p:tgtEl>
                                          <p:spTgt spid="27013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01343"/>
                                        </p:tgtEl>
                                        <p:attrNameLst>
                                          <p:attrName>style.visibility</p:attrName>
                                        </p:attrNameLst>
                                      </p:cBhvr>
                                      <p:to>
                                        <p:strVal val="visible"/>
                                      </p:to>
                                    </p:set>
                                    <p:animEffect transition="in" filter="fade">
                                      <p:cBhvr>
                                        <p:cTn id="17" dur="2000"/>
                                        <p:tgtEl>
                                          <p:spTgt spid="27013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01344"/>
                                        </p:tgtEl>
                                        <p:attrNameLst>
                                          <p:attrName>style.visibility</p:attrName>
                                        </p:attrNameLst>
                                      </p:cBhvr>
                                      <p:to>
                                        <p:strVal val="visible"/>
                                      </p:to>
                                    </p:set>
                                    <p:animEffect transition="in" filter="fade">
                                      <p:cBhvr>
                                        <p:cTn id="22" dur="2000"/>
                                        <p:tgtEl>
                                          <p:spTgt spid="2701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1341" grpId="0"/>
      <p:bldP spid="2701342" grpId="0"/>
      <p:bldP spid="2701343" grpId="0"/>
      <p:bldP spid="270134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a:extLst>
              <a:ext uri="{FF2B5EF4-FFF2-40B4-BE49-F238E27FC236}">
                <a16:creationId xmlns:a16="http://schemas.microsoft.com/office/drawing/2014/main" id="{F86ECC89-1C6F-4D63-AFF0-78FFAF14FF2E}"/>
              </a:ext>
            </a:extLst>
          </p:cNvPr>
          <p:cNvSpPr>
            <a:spLocks noGrp="1" noChangeArrowheads="1"/>
          </p:cNvSpPr>
          <p:nvPr>
            <p:ph type="title"/>
          </p:nvPr>
        </p:nvSpPr>
        <p:spPr>
          <a:xfrm>
            <a:off x="695325" y="558844"/>
            <a:ext cx="7772400" cy="1143000"/>
          </a:xfrm>
        </p:spPr>
        <p:txBody>
          <a:bodyPr/>
          <a:lstStyle/>
          <a:p>
            <a:pPr eaLnBrk="1" hangingPunct="1">
              <a:defRPr/>
            </a:pPr>
            <a:r>
              <a:rPr lang="zh-CN" altLang="en-US" dirty="0"/>
              <a:t>寻找欧拉回路</a:t>
            </a:r>
          </a:p>
        </p:txBody>
      </p:sp>
      <p:sp>
        <p:nvSpPr>
          <p:cNvPr id="2" name="Rectangle 3">
            <a:extLst>
              <a:ext uri="{FF2B5EF4-FFF2-40B4-BE49-F238E27FC236}">
                <a16:creationId xmlns:a16="http://schemas.microsoft.com/office/drawing/2014/main" id="{D77C1DD0-1A70-48FE-9651-0B8038C27CF8}"/>
              </a:ext>
            </a:extLst>
          </p:cNvPr>
          <p:cNvSpPr>
            <a:spLocks noGrp="1" noChangeArrowheads="1"/>
          </p:cNvSpPr>
          <p:nvPr>
            <p:ph type="body" idx="1"/>
          </p:nvPr>
        </p:nvSpPr>
        <p:spPr>
          <a:xfrm>
            <a:off x="839788" y="1484313"/>
            <a:ext cx="10656887" cy="4967287"/>
          </a:xfrm>
        </p:spPr>
        <p:txBody>
          <a:bodyPr/>
          <a:lstStyle/>
          <a:p>
            <a:pPr>
              <a:lnSpc>
                <a:spcPct val="15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检查存在性</a:t>
            </a:r>
          </a:p>
          <a:p>
            <a:pPr>
              <a:lnSpc>
                <a:spcPct val="15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找出回路：</a:t>
            </a:r>
          </a:p>
          <a:p>
            <a:pPr marL="685800" lvl="2">
              <a:lnSpc>
                <a:spcPct val="150000"/>
              </a:lnSpc>
              <a:spcBef>
                <a:spcPts val="1000"/>
              </a:spcBef>
            </a:pPr>
            <a:r>
              <a:rPr lang="zh-CN" altLang="en-US" sz="2600" b="0" dirty="0">
                <a:latin typeface="Times New Roman" panose="02020603050405020304" pitchFamily="18" charset="0"/>
                <a:ea typeface="华文楷体" pitchFamily="2" charset="-122"/>
                <a:cs typeface="Times New Roman" panose="02020603050405020304" pitchFamily="18" charset="0"/>
              </a:rPr>
              <a:t>执行一次深度优先的搜索。从起始结点开始，沿着这条路一直往下走，直到无路可走。而且在此过程中不允许回溯。</a:t>
            </a:r>
          </a:p>
          <a:p>
            <a:pPr marL="685800" lvl="2">
              <a:lnSpc>
                <a:spcPct val="150000"/>
              </a:lnSpc>
              <a:spcBef>
                <a:spcPts val="1000"/>
              </a:spcBef>
            </a:pPr>
            <a:r>
              <a:rPr lang="zh-CN" altLang="en-US" sz="2600" b="0" dirty="0">
                <a:latin typeface="Times New Roman" panose="02020603050405020304" pitchFamily="18" charset="0"/>
                <a:ea typeface="华文楷体" pitchFamily="2" charset="-122"/>
                <a:cs typeface="Times New Roman" panose="02020603050405020304" pitchFamily="18" charset="0"/>
              </a:rPr>
              <a:t>路径上是否有一个尚有未访问的边的顶点。如果有，开始另一次深度优先的搜索，将得到的遍历序列拼接到原来的序列中，直到所有的边都已被访问</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a:extLst>
              <a:ext uri="{FF2B5EF4-FFF2-40B4-BE49-F238E27FC236}">
                <a16:creationId xmlns:a16="http://schemas.microsoft.com/office/drawing/2014/main" id="{F86ECC89-1C6F-4D63-AFF0-78FFAF14FF2E}"/>
              </a:ext>
            </a:extLst>
          </p:cNvPr>
          <p:cNvSpPr>
            <a:spLocks noGrp="1" noChangeArrowheads="1"/>
          </p:cNvSpPr>
          <p:nvPr>
            <p:ph type="title"/>
          </p:nvPr>
        </p:nvSpPr>
        <p:spPr>
          <a:xfrm>
            <a:off x="695325" y="558844"/>
            <a:ext cx="7772400" cy="1143000"/>
          </a:xfrm>
        </p:spPr>
        <p:txBody>
          <a:bodyPr/>
          <a:lstStyle/>
          <a:p>
            <a:pPr eaLnBrk="1" hangingPunct="1">
              <a:defRPr/>
            </a:pPr>
            <a:r>
              <a:rPr lang="en-US" altLang="zh-CN" dirty="0"/>
              <a:t>TSP</a:t>
            </a:r>
            <a:r>
              <a:rPr lang="zh-CN" altLang="en-US" dirty="0"/>
              <a:t>问题</a:t>
            </a:r>
          </a:p>
        </p:txBody>
      </p:sp>
      <p:sp>
        <p:nvSpPr>
          <p:cNvPr id="2" name="Rectangle 3">
            <a:extLst>
              <a:ext uri="{FF2B5EF4-FFF2-40B4-BE49-F238E27FC236}">
                <a16:creationId xmlns:a16="http://schemas.microsoft.com/office/drawing/2014/main" id="{D77C1DD0-1A70-48FE-9651-0B8038C27CF8}"/>
              </a:ext>
            </a:extLst>
          </p:cNvPr>
          <p:cNvSpPr>
            <a:spLocks noGrp="1" noChangeArrowheads="1"/>
          </p:cNvSpPr>
          <p:nvPr>
            <p:ph type="body" idx="1"/>
          </p:nvPr>
        </p:nvSpPr>
        <p:spPr>
          <a:xfrm>
            <a:off x="839788" y="1484313"/>
            <a:ext cx="10656887" cy="4967287"/>
          </a:xfrm>
        </p:spPr>
        <p:txBody>
          <a:bodyPr>
            <a:normAutofit/>
          </a:bodyPr>
          <a:lstStyle/>
          <a:p>
            <a:pPr>
              <a:lnSpc>
                <a:spcPct val="150000"/>
              </a:lnSpc>
              <a:buFont typeface="Wingdings" panose="05000000000000000000" pitchFamily="2" charset="2"/>
              <a:buChar char="Ø"/>
            </a:pPr>
            <a:r>
              <a:rPr lang="en-US" altLang="zh-CN" sz="2800" b="0" dirty="0">
                <a:latin typeface="Times New Roman" panose="02020603050405020304" pitchFamily="18" charset="0"/>
                <a:ea typeface="华文楷体" pitchFamily="2" charset="-122"/>
                <a:cs typeface="Times New Roman" panose="02020603050405020304" pitchFamily="18" charset="0"/>
              </a:rPr>
              <a:t>Traveling Salesman Problem</a:t>
            </a:r>
            <a:r>
              <a:rPr lang="zh-CN" altLang="en-US" sz="2800" b="0" dirty="0">
                <a:latin typeface="Times New Roman" panose="02020603050405020304" pitchFamily="18" charset="0"/>
                <a:ea typeface="华文楷体" pitchFamily="2" charset="-122"/>
                <a:cs typeface="Times New Roman" panose="02020603050405020304" pitchFamily="18" charset="0"/>
              </a:rPr>
              <a:t>，即旅行商问题，是数学领域中著名问题之一。</a:t>
            </a:r>
            <a:endParaRPr lang="en-US" altLang="zh-CN" sz="2800" b="0" dirty="0">
              <a:latin typeface="Times New Roman" panose="02020603050405020304" pitchFamily="18" charset="0"/>
              <a:ea typeface="华文楷体" pitchFamily="2" charset="-122"/>
              <a:cs typeface="Times New Roman" panose="02020603050405020304" pitchFamily="18" charset="0"/>
            </a:endParaRPr>
          </a:p>
          <a:p>
            <a:pPr>
              <a:lnSpc>
                <a:spcPct val="15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假设有一个旅行商人要拜访</a:t>
            </a:r>
            <a:r>
              <a:rPr lang="en-US" altLang="zh-CN" sz="2800" b="0" dirty="0">
                <a:latin typeface="Times New Roman" panose="02020603050405020304" pitchFamily="18" charset="0"/>
                <a:ea typeface="华文楷体" pitchFamily="2" charset="-122"/>
                <a:cs typeface="Times New Roman" panose="02020603050405020304" pitchFamily="18" charset="0"/>
              </a:rPr>
              <a:t>N</a:t>
            </a:r>
            <a:r>
              <a:rPr lang="zh-CN" altLang="en-US" sz="2800" b="0" dirty="0">
                <a:latin typeface="Times New Roman" panose="02020603050405020304" pitchFamily="18" charset="0"/>
                <a:ea typeface="华文楷体" pitchFamily="2" charset="-122"/>
                <a:cs typeface="Times New Roman" panose="02020603050405020304" pitchFamily="18" charset="0"/>
              </a:rPr>
              <a:t>个城市，他必须选择所要走的路径，路径的限制是</a:t>
            </a:r>
            <a:r>
              <a:rPr lang="zh-CN" altLang="en-US" sz="2800" b="0" dirty="0">
                <a:solidFill>
                  <a:srgbClr val="00B0F0"/>
                </a:solidFill>
                <a:latin typeface="Times New Roman" panose="02020603050405020304" pitchFamily="18" charset="0"/>
                <a:ea typeface="华文楷体" pitchFamily="2" charset="-122"/>
                <a:cs typeface="Times New Roman" panose="02020603050405020304" pitchFamily="18" charset="0"/>
              </a:rPr>
              <a:t>每个城市</a:t>
            </a:r>
            <a:r>
              <a:rPr lang="zh-CN" altLang="en-US" sz="2800" b="0" dirty="0">
                <a:latin typeface="Times New Roman" panose="02020603050405020304" pitchFamily="18" charset="0"/>
                <a:ea typeface="华文楷体" pitchFamily="2" charset="-122"/>
                <a:cs typeface="Times New Roman" panose="02020603050405020304" pitchFamily="18" charset="0"/>
              </a:rPr>
              <a:t>只能拜访</a:t>
            </a:r>
            <a:r>
              <a:rPr lang="zh-CN" altLang="en-US" sz="2800" b="0" dirty="0">
                <a:solidFill>
                  <a:srgbClr val="00B0F0"/>
                </a:solidFill>
                <a:latin typeface="Times New Roman" panose="02020603050405020304" pitchFamily="18" charset="0"/>
                <a:ea typeface="华文楷体" pitchFamily="2" charset="-122"/>
                <a:cs typeface="Times New Roman" panose="02020603050405020304" pitchFamily="18" charset="0"/>
              </a:rPr>
              <a:t>一次</a:t>
            </a:r>
            <a:r>
              <a:rPr lang="zh-CN" altLang="en-US" sz="2800" b="0" dirty="0">
                <a:latin typeface="Times New Roman" panose="02020603050405020304" pitchFamily="18" charset="0"/>
                <a:ea typeface="华文楷体" pitchFamily="2" charset="-122"/>
                <a:cs typeface="Times New Roman" panose="02020603050405020304" pitchFamily="18" charset="0"/>
              </a:rPr>
              <a:t>，而且最后要</a:t>
            </a:r>
            <a:r>
              <a:rPr lang="zh-CN" altLang="en-US" sz="2800" b="0" dirty="0">
                <a:solidFill>
                  <a:srgbClr val="00B0F0"/>
                </a:solidFill>
                <a:latin typeface="Times New Roman" panose="02020603050405020304" pitchFamily="18" charset="0"/>
                <a:ea typeface="华文楷体" pitchFamily="2" charset="-122"/>
                <a:cs typeface="Times New Roman" panose="02020603050405020304" pitchFamily="18" charset="0"/>
              </a:rPr>
              <a:t>回到</a:t>
            </a:r>
            <a:r>
              <a:rPr lang="zh-CN" altLang="en-US" sz="2800" b="0" dirty="0">
                <a:latin typeface="Times New Roman" panose="02020603050405020304" pitchFamily="18" charset="0"/>
                <a:ea typeface="华文楷体" pitchFamily="2" charset="-122"/>
                <a:cs typeface="Times New Roman" panose="02020603050405020304" pitchFamily="18" charset="0"/>
              </a:rPr>
              <a:t>原来出发的城市。</a:t>
            </a:r>
            <a:endParaRPr lang="en-US" altLang="zh-CN" sz="2800" b="0" dirty="0">
              <a:latin typeface="Times New Roman" panose="02020603050405020304" pitchFamily="18" charset="0"/>
              <a:ea typeface="华文楷体" pitchFamily="2" charset="-122"/>
              <a:cs typeface="Times New Roman" panose="02020603050405020304" pitchFamily="18" charset="0"/>
            </a:endParaRPr>
          </a:p>
          <a:p>
            <a:pPr>
              <a:lnSpc>
                <a:spcPct val="15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路径的选择目标是要求得的路径路程为所有路径之中的最小值，这是一个</a:t>
            </a:r>
            <a:r>
              <a:rPr lang="en-US" altLang="zh-CN" sz="2800" b="0" dirty="0">
                <a:latin typeface="Times New Roman" panose="02020603050405020304" pitchFamily="18" charset="0"/>
                <a:ea typeface="华文楷体" pitchFamily="2" charset="-122"/>
                <a:cs typeface="Times New Roman" panose="02020603050405020304" pitchFamily="18" charset="0"/>
              </a:rPr>
              <a:t>NP</a:t>
            </a:r>
            <a:r>
              <a:rPr lang="zh-CN" altLang="en-US" sz="2800" b="0" dirty="0">
                <a:latin typeface="Times New Roman" panose="02020603050405020304" pitchFamily="18" charset="0"/>
                <a:ea typeface="华文楷体" pitchFamily="2" charset="-122"/>
                <a:cs typeface="Times New Roman" panose="02020603050405020304" pitchFamily="18" charset="0"/>
              </a:rPr>
              <a:t>难问题。</a:t>
            </a:r>
          </a:p>
        </p:txBody>
      </p:sp>
    </p:spTree>
    <p:extLst>
      <p:ext uri="{BB962C8B-B14F-4D97-AF65-F5344CB8AC3E}">
        <p14:creationId xmlns:p14="http://schemas.microsoft.com/office/powerpoint/2010/main" val="37415259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最小代价生成树</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14021180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20324"/>
            <a:ext cx="11871233" cy="2635450"/>
          </a:xfrm>
        </p:spPr>
        <p:txBody>
          <a:bodyPr>
            <a:noAutofit/>
          </a:bodyPr>
          <a:lstStyle/>
          <a:p>
            <a:pPr>
              <a:buFont typeface="Wingdings" panose="05000000000000000000" pitchFamily="2" charset="2"/>
              <a:buChar char="Ø"/>
            </a:pPr>
            <a:r>
              <a:rPr lang="zh-CN" altLang="zh-CN" sz="2800" dirty="0">
                <a:ea typeface="华文楷体" pitchFamily="2" charset="-122"/>
                <a:cs typeface="Times New Roman" panose="02020603050405020304" pitchFamily="18" charset="0"/>
              </a:rPr>
              <a:t>极小连通子图</a:t>
            </a:r>
            <a:r>
              <a:rPr lang="zh-CN" altLang="zh-CN" sz="2800" b="0" dirty="0">
                <a:ea typeface="华文楷体" pitchFamily="2" charset="-122"/>
                <a:cs typeface="Times New Roman" panose="02020603050405020304" pitchFamily="18" charset="0"/>
              </a:rPr>
              <a:t>，包含连通图的所有</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个顶点，但只含它的</a:t>
            </a:r>
            <a:r>
              <a:rPr lang="en-US" altLang="zh-CN" sz="2800" b="0" dirty="0">
                <a:ea typeface="华文楷体" pitchFamily="2" charset="-122"/>
                <a:cs typeface="Times New Roman" panose="02020603050405020304" pitchFamily="18" charset="0"/>
              </a:rPr>
              <a:t>n-1</a:t>
            </a:r>
            <a:r>
              <a:rPr lang="zh-CN" altLang="zh-CN" sz="2800" b="0" dirty="0">
                <a:ea typeface="华文楷体" pitchFamily="2" charset="-122"/>
                <a:cs typeface="Times New Roman" panose="02020603050405020304" pitchFamily="18" charset="0"/>
              </a:rPr>
              <a:t>条边。如果去掉一条边，这个子图将不连通；如果增加一条新的边</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，因顶点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之间原本连通，即存在一条路径，加上新加的这条边便形成了回路，有回路就不再是树。</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一个连通图的生成树并不唯一。</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连通图的生成树</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506960" y="4103205"/>
            <a:ext cx="6790497" cy="2436744"/>
          </a:xfrm>
          <a:prstGeom prst="rect">
            <a:avLst/>
          </a:prstGeom>
          <a:noFill/>
          <a:ln>
            <a:noFill/>
          </a:ln>
        </p:spPr>
      </p:pic>
      <p:sp>
        <p:nvSpPr>
          <p:cNvPr id="2" name="椭圆 1"/>
          <p:cNvSpPr/>
          <p:nvPr/>
        </p:nvSpPr>
        <p:spPr>
          <a:xfrm>
            <a:off x="11715750" y="6329363"/>
            <a:ext cx="157163" cy="2105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84748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标题 1">
            <a:extLst>
              <a:ext uri="{FF2B5EF4-FFF2-40B4-BE49-F238E27FC236}">
                <a16:creationId xmlns:a16="http://schemas.microsoft.com/office/drawing/2014/main" id="{58314CE2-4C7D-435A-A75D-5F15967BC3AF}"/>
              </a:ext>
            </a:extLst>
          </p:cNvPr>
          <p:cNvSpPr>
            <a:spLocks noGrp="1" noChangeArrowheads="1"/>
          </p:cNvSpPr>
          <p:nvPr>
            <p:ph type="title"/>
          </p:nvPr>
        </p:nvSpPr>
        <p:spPr>
          <a:xfrm>
            <a:off x="551058" y="520700"/>
            <a:ext cx="7772400" cy="1143000"/>
          </a:xfrm>
        </p:spPr>
        <p:txBody>
          <a:bodyPr/>
          <a:lstStyle/>
          <a:p>
            <a:pPr>
              <a:defRPr/>
            </a:pPr>
            <a:r>
              <a:rPr lang="zh-CN" altLang="en-US" dirty="0"/>
              <a:t>生成树应用</a:t>
            </a:r>
          </a:p>
        </p:txBody>
      </p:sp>
      <p:sp>
        <p:nvSpPr>
          <p:cNvPr id="168963" name="内容占位符 2">
            <a:extLst>
              <a:ext uri="{FF2B5EF4-FFF2-40B4-BE49-F238E27FC236}">
                <a16:creationId xmlns:a16="http://schemas.microsoft.com/office/drawing/2014/main" id="{5218B9BB-B450-4AF7-9556-E13E1B1DF26B}"/>
              </a:ext>
            </a:extLst>
          </p:cNvPr>
          <p:cNvSpPr>
            <a:spLocks noGrp="1" noChangeArrowheads="1"/>
          </p:cNvSpPr>
          <p:nvPr>
            <p:ph idx="1"/>
          </p:nvPr>
        </p:nvSpPr>
        <p:spPr>
          <a:xfrm>
            <a:off x="657052" y="1578768"/>
            <a:ext cx="8982075" cy="1295400"/>
          </a:xfrm>
        </p:spPr>
        <p:txBody>
          <a:bodyPr>
            <a:normAutofit/>
          </a:bodyPr>
          <a:lstStyle/>
          <a:p>
            <a:pPr marL="0" indent="0">
              <a:buNone/>
            </a:pPr>
            <a:r>
              <a:rPr lang="zh-CN" altLang="en-US" sz="2600" b="0" dirty="0">
                <a:latin typeface="Times New Roman" panose="02020603050405020304" pitchFamily="18" charset="0"/>
                <a:ea typeface="华文楷体" pitchFamily="2" charset="-122"/>
                <a:cs typeface="Times New Roman" panose="02020603050405020304" pitchFamily="18" charset="0"/>
              </a:rPr>
              <a:t>计算机网络中的交换机上都运行着生成树算法</a:t>
            </a:r>
          </a:p>
        </p:txBody>
      </p:sp>
      <p:grpSp>
        <p:nvGrpSpPr>
          <p:cNvPr id="168964" name="Group 35">
            <a:extLst>
              <a:ext uri="{FF2B5EF4-FFF2-40B4-BE49-F238E27FC236}">
                <a16:creationId xmlns:a16="http://schemas.microsoft.com/office/drawing/2014/main" id="{C1E3A0CA-2D85-4C3A-A46C-4C762D56BAEC}"/>
              </a:ext>
            </a:extLst>
          </p:cNvPr>
          <p:cNvGrpSpPr>
            <a:grpSpLocks/>
          </p:cNvGrpSpPr>
          <p:nvPr/>
        </p:nvGrpSpPr>
        <p:grpSpPr bwMode="auto">
          <a:xfrm>
            <a:off x="1847850" y="2997200"/>
            <a:ext cx="8351838" cy="3287713"/>
            <a:chOff x="672" y="1296"/>
            <a:chExt cx="4224" cy="2071"/>
          </a:xfrm>
        </p:grpSpPr>
        <p:sp>
          <p:nvSpPr>
            <p:cNvPr id="168965" name="AutoShape 3">
              <a:extLst>
                <a:ext uri="{FF2B5EF4-FFF2-40B4-BE49-F238E27FC236}">
                  <a16:creationId xmlns:a16="http://schemas.microsoft.com/office/drawing/2014/main" id="{9715095A-31A0-4BF2-9B09-DBED95782A84}"/>
                </a:ext>
              </a:extLst>
            </p:cNvPr>
            <p:cNvSpPr>
              <a:spLocks noChangeArrowheads="1"/>
            </p:cNvSpPr>
            <p:nvPr/>
          </p:nvSpPr>
          <p:spPr bwMode="auto">
            <a:xfrm>
              <a:off x="2616" y="2208"/>
              <a:ext cx="433" cy="383"/>
            </a:xfrm>
            <a:prstGeom prst="hexagon">
              <a:avLst>
                <a:gd name="adj" fmla="val 28264"/>
                <a:gd name="vf" fmla="val 11547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800">
                  <a:ea typeface="黑体" panose="02010609060101010101" pitchFamily="49" charset="-122"/>
                </a:rPr>
                <a:t>B1</a:t>
              </a:r>
            </a:p>
          </p:txBody>
        </p:sp>
        <p:sp>
          <p:nvSpPr>
            <p:cNvPr id="168966" name="AutoShape 4">
              <a:extLst>
                <a:ext uri="{FF2B5EF4-FFF2-40B4-BE49-F238E27FC236}">
                  <a16:creationId xmlns:a16="http://schemas.microsoft.com/office/drawing/2014/main" id="{2A2A5499-F4F3-4058-9E73-B55F4560EAC8}"/>
                </a:ext>
              </a:extLst>
            </p:cNvPr>
            <p:cNvSpPr>
              <a:spLocks noChangeArrowheads="1"/>
            </p:cNvSpPr>
            <p:nvPr/>
          </p:nvSpPr>
          <p:spPr bwMode="auto">
            <a:xfrm>
              <a:off x="3672" y="2208"/>
              <a:ext cx="433" cy="383"/>
            </a:xfrm>
            <a:prstGeom prst="hexagon">
              <a:avLst>
                <a:gd name="adj" fmla="val 28264"/>
                <a:gd name="vf" fmla="val 115470"/>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800">
                  <a:ea typeface="黑体" panose="02010609060101010101" pitchFamily="49" charset="-122"/>
                </a:rPr>
                <a:t>B2</a:t>
              </a:r>
            </a:p>
          </p:txBody>
        </p:sp>
        <p:sp>
          <p:nvSpPr>
            <p:cNvPr id="168967" name="Line 5">
              <a:extLst>
                <a:ext uri="{FF2B5EF4-FFF2-40B4-BE49-F238E27FC236}">
                  <a16:creationId xmlns:a16="http://schemas.microsoft.com/office/drawing/2014/main" id="{651DE90F-083B-4019-83BF-0967DA0E3C62}"/>
                </a:ext>
              </a:extLst>
            </p:cNvPr>
            <p:cNvSpPr>
              <a:spLocks noChangeShapeType="1"/>
            </p:cNvSpPr>
            <p:nvPr/>
          </p:nvSpPr>
          <p:spPr bwMode="auto">
            <a:xfrm>
              <a:off x="1248" y="1637"/>
              <a:ext cx="3648" cy="0"/>
            </a:xfrm>
            <a:prstGeom prst="line">
              <a:avLst/>
            </a:prstGeom>
            <a:noFill/>
            <a:ln w="1143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8968" name="Line 6">
              <a:extLst>
                <a:ext uri="{FF2B5EF4-FFF2-40B4-BE49-F238E27FC236}">
                  <a16:creationId xmlns:a16="http://schemas.microsoft.com/office/drawing/2014/main" id="{22D123DF-9AC8-4581-84AF-913CB492EBBB}"/>
                </a:ext>
              </a:extLst>
            </p:cNvPr>
            <p:cNvSpPr>
              <a:spLocks noChangeShapeType="1"/>
            </p:cNvSpPr>
            <p:nvPr/>
          </p:nvSpPr>
          <p:spPr bwMode="auto">
            <a:xfrm>
              <a:off x="1248" y="3162"/>
              <a:ext cx="3648" cy="0"/>
            </a:xfrm>
            <a:prstGeom prst="line">
              <a:avLst/>
            </a:prstGeom>
            <a:noFill/>
            <a:ln w="11430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8969" name="Text Box 7">
              <a:extLst>
                <a:ext uri="{FF2B5EF4-FFF2-40B4-BE49-F238E27FC236}">
                  <a16:creationId xmlns:a16="http://schemas.microsoft.com/office/drawing/2014/main" id="{34982A01-ECC5-4C67-9B16-13EDC6FE392C}"/>
                </a:ext>
              </a:extLst>
            </p:cNvPr>
            <p:cNvSpPr txBox="1">
              <a:spLocks noChangeArrowheads="1"/>
            </p:cNvSpPr>
            <p:nvPr/>
          </p:nvSpPr>
          <p:spPr bwMode="auto">
            <a:xfrm>
              <a:off x="672" y="3037"/>
              <a:ext cx="57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cap="sq">
                  <a:solidFill>
                    <a:srgbClr val="000000"/>
                  </a:solidFill>
                  <a:miter lim="800000"/>
                  <a:headEnd type="none" w="sm" len="sm"/>
                  <a:tailEnd type="none" w="sm" len="sm"/>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50000"/>
                </a:spcBef>
                <a:buClrTx/>
                <a:buSzTx/>
                <a:buFontTx/>
                <a:buNone/>
              </a:pPr>
              <a:r>
                <a:rPr lang="en-US" altLang="zh-CN" sz="2800">
                  <a:ea typeface="黑体" panose="02010609060101010101" pitchFamily="49" charset="-122"/>
                </a:rPr>
                <a:t>LAN1</a:t>
              </a:r>
            </a:p>
          </p:txBody>
        </p:sp>
        <p:sp>
          <p:nvSpPr>
            <p:cNvPr id="168970" name="Text Box 8">
              <a:extLst>
                <a:ext uri="{FF2B5EF4-FFF2-40B4-BE49-F238E27FC236}">
                  <a16:creationId xmlns:a16="http://schemas.microsoft.com/office/drawing/2014/main" id="{A1E4ADD2-F745-4839-BC29-9597BB5BECAC}"/>
                </a:ext>
              </a:extLst>
            </p:cNvPr>
            <p:cNvSpPr txBox="1">
              <a:spLocks noChangeArrowheads="1"/>
            </p:cNvSpPr>
            <p:nvPr/>
          </p:nvSpPr>
          <p:spPr bwMode="auto">
            <a:xfrm>
              <a:off x="672" y="1507"/>
              <a:ext cx="57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cap="sq">
                  <a:solidFill>
                    <a:srgbClr val="000000"/>
                  </a:solidFill>
                  <a:miter lim="800000"/>
                  <a:headEnd type="none" w="sm" len="sm"/>
                  <a:tailEnd type="none" w="sm" len="sm"/>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r" eaLnBrk="1" hangingPunct="1">
                <a:spcBef>
                  <a:spcPct val="50000"/>
                </a:spcBef>
                <a:buClrTx/>
                <a:buSzTx/>
                <a:buFontTx/>
                <a:buNone/>
              </a:pPr>
              <a:r>
                <a:rPr lang="en-US" altLang="zh-CN" sz="2800">
                  <a:ea typeface="黑体" panose="02010609060101010101" pitchFamily="49" charset="-122"/>
                </a:rPr>
                <a:t>LAN2</a:t>
              </a:r>
            </a:p>
          </p:txBody>
        </p:sp>
        <p:sp>
          <p:nvSpPr>
            <p:cNvPr id="168971" name="Rectangle 9">
              <a:extLst>
                <a:ext uri="{FF2B5EF4-FFF2-40B4-BE49-F238E27FC236}">
                  <a16:creationId xmlns:a16="http://schemas.microsoft.com/office/drawing/2014/main" id="{5CAB6677-6960-4075-B08B-3D978551636D}"/>
                </a:ext>
              </a:extLst>
            </p:cNvPr>
            <p:cNvSpPr>
              <a:spLocks noChangeArrowheads="1"/>
            </p:cNvSpPr>
            <p:nvPr/>
          </p:nvSpPr>
          <p:spPr bwMode="auto">
            <a:xfrm>
              <a:off x="1332" y="2730"/>
              <a:ext cx="50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800"/>
                <a:t>Host</a:t>
              </a:r>
            </a:p>
          </p:txBody>
        </p:sp>
        <p:sp>
          <p:nvSpPr>
            <p:cNvPr id="168972" name="Line 10">
              <a:extLst>
                <a:ext uri="{FF2B5EF4-FFF2-40B4-BE49-F238E27FC236}">
                  <a16:creationId xmlns:a16="http://schemas.microsoft.com/office/drawing/2014/main" id="{2E18D2FE-7908-4596-9925-CD8143C482BA}"/>
                </a:ext>
              </a:extLst>
            </p:cNvPr>
            <p:cNvSpPr>
              <a:spLocks noChangeShapeType="1"/>
            </p:cNvSpPr>
            <p:nvPr/>
          </p:nvSpPr>
          <p:spPr bwMode="auto">
            <a:xfrm>
              <a:off x="1584" y="2976"/>
              <a:ext cx="0" cy="18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8973" name="Text Box 11">
              <a:extLst>
                <a:ext uri="{FF2B5EF4-FFF2-40B4-BE49-F238E27FC236}">
                  <a16:creationId xmlns:a16="http://schemas.microsoft.com/office/drawing/2014/main" id="{7BD8D19A-AB3F-4638-9565-6DA6F5042B4D}"/>
                </a:ext>
              </a:extLst>
            </p:cNvPr>
            <p:cNvSpPr txBox="1">
              <a:spLocks noChangeArrowheads="1"/>
            </p:cNvSpPr>
            <p:nvPr/>
          </p:nvSpPr>
          <p:spPr bwMode="auto">
            <a:xfrm>
              <a:off x="2640" y="1296"/>
              <a:ext cx="336" cy="33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Tx/>
                <a:buSzTx/>
                <a:buFontTx/>
                <a:buNone/>
              </a:pPr>
              <a:r>
                <a:rPr lang="en-US" altLang="zh-CN" sz="2800">
                  <a:ea typeface="黑体" panose="02010609060101010101" pitchFamily="49" charset="-122"/>
                </a:rPr>
                <a:t>F1</a:t>
              </a:r>
            </a:p>
          </p:txBody>
        </p:sp>
        <p:sp>
          <p:nvSpPr>
            <p:cNvPr id="168974" name="Text Box 12">
              <a:extLst>
                <a:ext uri="{FF2B5EF4-FFF2-40B4-BE49-F238E27FC236}">
                  <a16:creationId xmlns:a16="http://schemas.microsoft.com/office/drawing/2014/main" id="{2422678C-1D45-40D8-B08D-26BF132F8981}"/>
                </a:ext>
              </a:extLst>
            </p:cNvPr>
            <p:cNvSpPr txBox="1">
              <a:spLocks noChangeArrowheads="1"/>
            </p:cNvSpPr>
            <p:nvPr/>
          </p:nvSpPr>
          <p:spPr bwMode="auto">
            <a:xfrm>
              <a:off x="3696" y="1296"/>
              <a:ext cx="336" cy="33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50000"/>
                </a:spcBef>
                <a:buClrTx/>
                <a:buSzTx/>
                <a:buFontTx/>
                <a:buNone/>
              </a:pPr>
              <a:r>
                <a:rPr lang="en-US" altLang="zh-CN" sz="2800">
                  <a:ea typeface="黑体" panose="02010609060101010101" pitchFamily="49" charset="-122"/>
                </a:rPr>
                <a:t>F2</a:t>
              </a:r>
            </a:p>
          </p:txBody>
        </p:sp>
        <p:sp>
          <p:nvSpPr>
            <p:cNvPr id="168975" name="Line 13">
              <a:extLst>
                <a:ext uri="{FF2B5EF4-FFF2-40B4-BE49-F238E27FC236}">
                  <a16:creationId xmlns:a16="http://schemas.microsoft.com/office/drawing/2014/main" id="{0575558E-8674-47B8-BEFF-938F92654DAF}"/>
                </a:ext>
              </a:extLst>
            </p:cNvPr>
            <p:cNvSpPr>
              <a:spLocks noChangeShapeType="1"/>
            </p:cNvSpPr>
            <p:nvPr/>
          </p:nvSpPr>
          <p:spPr bwMode="auto">
            <a:xfrm>
              <a:off x="2832" y="1637"/>
              <a:ext cx="0" cy="571"/>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8976" name="Line 14">
              <a:extLst>
                <a:ext uri="{FF2B5EF4-FFF2-40B4-BE49-F238E27FC236}">
                  <a16:creationId xmlns:a16="http://schemas.microsoft.com/office/drawing/2014/main" id="{611B5535-6603-4182-8CC9-F6006142539A}"/>
                </a:ext>
              </a:extLst>
            </p:cNvPr>
            <p:cNvSpPr>
              <a:spLocks noChangeShapeType="1"/>
            </p:cNvSpPr>
            <p:nvPr/>
          </p:nvSpPr>
          <p:spPr bwMode="auto">
            <a:xfrm>
              <a:off x="3888" y="1637"/>
              <a:ext cx="0" cy="571"/>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8977" name="Line 15">
              <a:extLst>
                <a:ext uri="{FF2B5EF4-FFF2-40B4-BE49-F238E27FC236}">
                  <a16:creationId xmlns:a16="http://schemas.microsoft.com/office/drawing/2014/main" id="{CB380B37-09CE-4128-A8AF-A910B74EDEBF}"/>
                </a:ext>
              </a:extLst>
            </p:cNvPr>
            <p:cNvSpPr>
              <a:spLocks noChangeShapeType="1"/>
            </p:cNvSpPr>
            <p:nvPr/>
          </p:nvSpPr>
          <p:spPr bwMode="auto">
            <a:xfrm>
              <a:off x="2832" y="2591"/>
              <a:ext cx="0" cy="571"/>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68978" name="Line 16">
              <a:extLst>
                <a:ext uri="{FF2B5EF4-FFF2-40B4-BE49-F238E27FC236}">
                  <a16:creationId xmlns:a16="http://schemas.microsoft.com/office/drawing/2014/main" id="{18923458-7596-434D-9FA6-841F3CA299F9}"/>
                </a:ext>
              </a:extLst>
            </p:cNvPr>
            <p:cNvSpPr>
              <a:spLocks noChangeShapeType="1"/>
            </p:cNvSpPr>
            <p:nvPr/>
          </p:nvSpPr>
          <p:spPr bwMode="auto">
            <a:xfrm>
              <a:off x="3888" y="2591"/>
              <a:ext cx="0" cy="571"/>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168979" name="Group 17">
              <a:extLst>
                <a:ext uri="{FF2B5EF4-FFF2-40B4-BE49-F238E27FC236}">
                  <a16:creationId xmlns:a16="http://schemas.microsoft.com/office/drawing/2014/main" id="{26DCDC5C-DF32-4E7C-968D-66B3D1493BE2}"/>
                </a:ext>
              </a:extLst>
            </p:cNvPr>
            <p:cNvGrpSpPr>
              <a:grpSpLocks/>
            </p:cNvGrpSpPr>
            <p:nvPr/>
          </p:nvGrpSpPr>
          <p:grpSpPr bwMode="auto">
            <a:xfrm>
              <a:off x="3072" y="2208"/>
              <a:ext cx="576" cy="290"/>
              <a:chOff x="3072" y="2254"/>
              <a:chExt cx="576" cy="290"/>
            </a:xfrm>
          </p:grpSpPr>
          <p:sp>
            <p:nvSpPr>
              <p:cNvPr id="168984" name="AutoShape 18">
                <a:extLst>
                  <a:ext uri="{FF2B5EF4-FFF2-40B4-BE49-F238E27FC236}">
                    <a16:creationId xmlns:a16="http://schemas.microsoft.com/office/drawing/2014/main" id="{BFA44C91-3D03-406A-95AC-166697C08A2A}"/>
                  </a:ext>
                </a:extLst>
              </p:cNvPr>
              <p:cNvSpPr>
                <a:spLocks noChangeArrowheads="1"/>
              </p:cNvSpPr>
              <p:nvPr/>
            </p:nvSpPr>
            <p:spPr bwMode="auto">
              <a:xfrm>
                <a:off x="3072" y="2256"/>
                <a:ext cx="576" cy="288"/>
              </a:xfrm>
              <a:prstGeom prst="roundRect">
                <a:avLst>
                  <a:gd name="adj" fmla="val 42014"/>
                </a:avLst>
              </a:prstGeom>
              <a:noFill/>
              <a:ln w="57150" cap="sq">
                <a:solidFill>
                  <a:srgbClr val="96969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68985" name="Line 19">
                <a:extLst>
                  <a:ext uri="{FF2B5EF4-FFF2-40B4-BE49-F238E27FC236}">
                    <a16:creationId xmlns:a16="http://schemas.microsoft.com/office/drawing/2014/main" id="{6DA8BC54-6061-40FD-8135-B6A5CAE3147B}"/>
                  </a:ext>
                </a:extLst>
              </p:cNvPr>
              <p:cNvSpPr>
                <a:spLocks noChangeShapeType="1"/>
              </p:cNvSpPr>
              <p:nvPr/>
            </p:nvSpPr>
            <p:spPr bwMode="auto">
              <a:xfrm>
                <a:off x="3288" y="2544"/>
                <a:ext cx="144" cy="0"/>
              </a:xfrm>
              <a:prstGeom prst="line">
                <a:avLst/>
              </a:prstGeom>
              <a:noFill/>
              <a:ln w="57150" cap="sq">
                <a:solidFill>
                  <a:srgbClr val="969696"/>
                </a:solidFill>
                <a:round/>
                <a:headEnd type="none" w="sm" len="sm"/>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8986" name="Line 20">
                <a:extLst>
                  <a:ext uri="{FF2B5EF4-FFF2-40B4-BE49-F238E27FC236}">
                    <a16:creationId xmlns:a16="http://schemas.microsoft.com/office/drawing/2014/main" id="{B6F0A98B-60E8-4B44-A0F1-10ABAB1B3CE6}"/>
                  </a:ext>
                </a:extLst>
              </p:cNvPr>
              <p:cNvSpPr>
                <a:spLocks noChangeShapeType="1"/>
              </p:cNvSpPr>
              <p:nvPr/>
            </p:nvSpPr>
            <p:spPr bwMode="auto">
              <a:xfrm flipH="1">
                <a:off x="3288" y="2254"/>
                <a:ext cx="144" cy="0"/>
              </a:xfrm>
              <a:prstGeom prst="line">
                <a:avLst/>
              </a:prstGeom>
              <a:noFill/>
              <a:ln w="57150" cap="sq">
                <a:solidFill>
                  <a:srgbClr val="969696"/>
                </a:solidFill>
                <a:round/>
                <a:headEnd type="none" w="sm" len="sm"/>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68980" name="Group 27">
              <a:extLst>
                <a:ext uri="{FF2B5EF4-FFF2-40B4-BE49-F238E27FC236}">
                  <a16:creationId xmlns:a16="http://schemas.microsoft.com/office/drawing/2014/main" id="{FB532D38-3ED0-4300-B34C-8006587D811E}"/>
                </a:ext>
              </a:extLst>
            </p:cNvPr>
            <p:cNvGrpSpPr>
              <a:grpSpLocks/>
            </p:cNvGrpSpPr>
            <p:nvPr/>
          </p:nvGrpSpPr>
          <p:grpSpPr bwMode="auto">
            <a:xfrm flipH="1">
              <a:off x="3072" y="2306"/>
              <a:ext cx="576" cy="290"/>
              <a:chOff x="3072" y="2254"/>
              <a:chExt cx="576" cy="290"/>
            </a:xfrm>
          </p:grpSpPr>
          <p:sp>
            <p:nvSpPr>
              <p:cNvPr id="168981" name="AutoShape 28">
                <a:extLst>
                  <a:ext uri="{FF2B5EF4-FFF2-40B4-BE49-F238E27FC236}">
                    <a16:creationId xmlns:a16="http://schemas.microsoft.com/office/drawing/2014/main" id="{CF538EA0-47D9-41F7-8DE1-CA57F65A15C5}"/>
                  </a:ext>
                </a:extLst>
              </p:cNvPr>
              <p:cNvSpPr>
                <a:spLocks noChangeArrowheads="1"/>
              </p:cNvSpPr>
              <p:nvPr/>
            </p:nvSpPr>
            <p:spPr bwMode="auto">
              <a:xfrm>
                <a:off x="3072" y="2256"/>
                <a:ext cx="576" cy="288"/>
              </a:xfrm>
              <a:prstGeom prst="roundRect">
                <a:avLst>
                  <a:gd name="adj" fmla="val 42014"/>
                </a:avLst>
              </a:prstGeom>
              <a:noFill/>
              <a:ln w="5715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endParaRPr lang="zh-CN" altLang="en-US" sz="2800" b="0"/>
              </a:p>
            </p:txBody>
          </p:sp>
          <p:sp>
            <p:nvSpPr>
              <p:cNvPr id="168982" name="Line 29">
                <a:extLst>
                  <a:ext uri="{FF2B5EF4-FFF2-40B4-BE49-F238E27FC236}">
                    <a16:creationId xmlns:a16="http://schemas.microsoft.com/office/drawing/2014/main" id="{3B092A4E-B42B-4273-97E4-18E2C0A33333}"/>
                  </a:ext>
                </a:extLst>
              </p:cNvPr>
              <p:cNvSpPr>
                <a:spLocks noChangeShapeType="1"/>
              </p:cNvSpPr>
              <p:nvPr/>
            </p:nvSpPr>
            <p:spPr bwMode="auto">
              <a:xfrm>
                <a:off x="3288" y="2544"/>
                <a:ext cx="144" cy="0"/>
              </a:xfrm>
              <a:prstGeom prst="line">
                <a:avLst/>
              </a:prstGeom>
              <a:noFill/>
              <a:ln w="57150" cap="sq">
                <a:solidFill>
                  <a:srgbClr val="FF0000"/>
                </a:solidFill>
                <a:round/>
                <a:headEnd type="none" w="sm" len="sm"/>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8983" name="Line 30">
                <a:extLst>
                  <a:ext uri="{FF2B5EF4-FFF2-40B4-BE49-F238E27FC236}">
                    <a16:creationId xmlns:a16="http://schemas.microsoft.com/office/drawing/2014/main" id="{CED4B866-757C-4773-B136-D4C721D0B4E6}"/>
                  </a:ext>
                </a:extLst>
              </p:cNvPr>
              <p:cNvSpPr>
                <a:spLocks noChangeShapeType="1"/>
              </p:cNvSpPr>
              <p:nvPr/>
            </p:nvSpPr>
            <p:spPr bwMode="auto">
              <a:xfrm flipH="1">
                <a:off x="3288" y="2254"/>
                <a:ext cx="144" cy="0"/>
              </a:xfrm>
              <a:prstGeom prst="line">
                <a:avLst/>
              </a:prstGeom>
              <a:noFill/>
              <a:ln w="57150" cap="sq">
                <a:solidFill>
                  <a:srgbClr val="FF0000"/>
                </a:solidFill>
                <a:round/>
                <a:headEnd type="none" w="sm" len="sm"/>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gr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598618"/>
            <a:ext cx="11162883" cy="4663034"/>
          </a:xfrm>
        </p:spPr>
        <p:txBody>
          <a:bodyPr>
            <a:normAutofit fontScale="92500"/>
          </a:bodyPr>
          <a:lstStyle/>
          <a:p>
            <a:pPr marL="0" indent="0">
              <a:buNone/>
            </a:pPr>
            <a:r>
              <a:rPr lang="zh-CN" altLang="zh-CN" sz="2800" b="0" dirty="0">
                <a:ea typeface="华文楷体" pitchFamily="2" charset="-122"/>
                <a:cs typeface="Times New Roman" panose="02020603050405020304" pitchFamily="18" charset="0"/>
              </a:rPr>
              <a:t>当一个无向图中每条边有一个权值（如：长度、时间、代价等），这个图通常称为</a:t>
            </a:r>
            <a:r>
              <a:rPr lang="zh-CN" altLang="zh-CN" sz="2800" b="0" dirty="0">
                <a:solidFill>
                  <a:schemeClr val="accent1">
                    <a:lumMod val="60000"/>
                    <a:lumOff val="40000"/>
                  </a:schemeClr>
                </a:solidFill>
                <a:ea typeface="华文楷体" pitchFamily="2" charset="-122"/>
                <a:cs typeface="Times New Roman" panose="02020603050405020304" pitchFamily="18" charset="0"/>
              </a:rPr>
              <a:t>网络</a:t>
            </a:r>
            <a:r>
              <a:rPr lang="zh-CN" altLang="zh-CN" sz="2800" b="0" dirty="0">
                <a:ea typeface="华文楷体" pitchFamily="2" charset="-122"/>
                <a:cs typeface="Times New Roman" panose="02020603050405020304" pitchFamily="18" charset="0"/>
              </a:rPr>
              <a:t>。如果这个无向图是连通的，且其子图满足以下</a:t>
            </a:r>
            <a:r>
              <a:rPr lang="en-US" altLang="zh-CN" sz="2800" b="0" dirty="0">
                <a:ea typeface="华文楷体" pitchFamily="2" charset="-122"/>
                <a:cs typeface="Times New Roman" panose="02020603050405020304" pitchFamily="18" charset="0"/>
              </a:rPr>
              <a:t>4</a:t>
            </a:r>
            <a:r>
              <a:rPr lang="zh-CN" altLang="zh-CN" sz="2800" b="0" dirty="0">
                <a:ea typeface="华文楷体" pitchFamily="2" charset="-122"/>
                <a:cs typeface="Times New Roman" panose="02020603050405020304" pitchFamily="18" charset="0"/>
              </a:rPr>
              <a:t>个条件：</a:t>
            </a: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包含原来网络中的所有顶点</a:t>
            </a: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包含原来网络中的部分边</a:t>
            </a: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该子图是连通的</a:t>
            </a: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在同时满足</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3)</a:t>
            </a:r>
            <a:r>
              <a:rPr lang="zh-CN" altLang="zh-CN" sz="2800" b="0" dirty="0">
                <a:ea typeface="华文楷体" pitchFamily="2" charset="-122"/>
                <a:cs typeface="Times New Roman" panose="02020603050405020304" pitchFamily="18" charset="0"/>
              </a:rPr>
              <a:t>条件的所有子图中该子图所有边的</a:t>
            </a:r>
            <a:r>
              <a:rPr lang="zh-CN" altLang="zh-CN" sz="2800" b="0" dirty="0">
                <a:solidFill>
                  <a:schemeClr val="accent1">
                    <a:lumMod val="60000"/>
                    <a:lumOff val="40000"/>
                  </a:schemeClr>
                </a:solidFill>
                <a:ea typeface="华文楷体" pitchFamily="2" charset="-122"/>
                <a:cs typeface="Times New Roman" panose="02020603050405020304" pitchFamily="18" charset="0"/>
              </a:rPr>
              <a:t>权值之和最小</a:t>
            </a:r>
          </a:p>
          <a:p>
            <a:pPr marL="0" indent="0">
              <a:buNone/>
            </a:pPr>
            <a:r>
              <a:rPr lang="zh-CN" altLang="zh-CN" sz="2800" b="0" dirty="0">
                <a:ea typeface="华文楷体" pitchFamily="2" charset="-122"/>
                <a:cs typeface="Times New Roman" panose="02020603050405020304" pitchFamily="18" charset="0"/>
              </a:rPr>
              <a:t>该子图就被称为最小代价生成树</a:t>
            </a:r>
            <a:r>
              <a:rPr lang="en-US" altLang="zh-CN" sz="2800" b="0" dirty="0">
                <a:ea typeface="华文楷体" pitchFamily="2" charset="-122"/>
                <a:cs typeface="Times New Roman" panose="02020603050405020304" pitchFamily="18" charset="0"/>
              </a:rPr>
              <a:t>( Minimum Cost Spanning Tree)</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zh-CN" altLang="en-US" dirty="0"/>
              <a:t>最小代价生成树：</a:t>
            </a:r>
          </a:p>
        </p:txBody>
      </p:sp>
    </p:spTree>
    <p:extLst>
      <p:ext uri="{BB962C8B-B14F-4D97-AF65-F5344CB8AC3E}">
        <p14:creationId xmlns:p14="http://schemas.microsoft.com/office/powerpoint/2010/main" val="42313717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zh-CN" altLang="en-US" dirty="0"/>
              <a:t>最小代价生成树：</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391202" y="1516544"/>
            <a:ext cx="7829319" cy="3214481"/>
          </a:xfrm>
          <a:prstGeom prst="rect">
            <a:avLst/>
          </a:prstGeom>
          <a:noFill/>
          <a:ln>
            <a:noFill/>
          </a:ln>
        </p:spPr>
      </p:pic>
      <p:sp>
        <p:nvSpPr>
          <p:cNvPr id="3" name="矩形 2"/>
          <p:cNvSpPr/>
          <p:nvPr/>
        </p:nvSpPr>
        <p:spPr>
          <a:xfrm>
            <a:off x="720288" y="5367130"/>
            <a:ext cx="10562626" cy="892552"/>
          </a:xfrm>
          <a:prstGeom prst="rect">
            <a:avLst/>
          </a:prstGeom>
        </p:spPr>
        <p:txBody>
          <a:bodyPr wrap="square">
            <a:spAutoFit/>
          </a:bodyPr>
          <a:lstStyle/>
          <a:p>
            <a:r>
              <a:rPr lang="zh-CN" altLang="zh-CN" sz="2600" dirty="0">
                <a:latin typeface="Times New Roman" panose="02020603050405020304" pitchFamily="18" charset="0"/>
                <a:ea typeface="华文楷体" pitchFamily="2" charset="-122"/>
                <a:cs typeface="Times New Roman" panose="02020603050405020304" pitchFamily="18" charset="0"/>
              </a:rPr>
              <a:t>假设一个无向连通图有</a:t>
            </a:r>
            <a:r>
              <a:rPr lang="en-US" altLang="zh-CN" sz="2600" dirty="0">
                <a:latin typeface="Times New Roman" panose="02020603050405020304" pitchFamily="18" charset="0"/>
                <a:ea typeface="华文楷体" pitchFamily="2" charset="-122"/>
                <a:cs typeface="Times New Roman" panose="02020603050405020304" pitchFamily="18" charset="0"/>
              </a:rPr>
              <a:t>n</a:t>
            </a:r>
            <a:r>
              <a:rPr lang="zh-CN" altLang="zh-CN" sz="2600" dirty="0">
                <a:latin typeface="Times New Roman" panose="02020603050405020304" pitchFamily="18" charset="0"/>
                <a:ea typeface="华文楷体" pitchFamily="2" charset="-122"/>
                <a:cs typeface="Times New Roman" panose="02020603050405020304" pitchFamily="18" charset="0"/>
              </a:rPr>
              <a:t>个顶点，边数最多即完全图时达</a:t>
            </a:r>
            <a:r>
              <a:rPr lang="en-US" altLang="zh-CN" sz="2600" dirty="0">
                <a:latin typeface="Times New Roman" panose="02020603050405020304" pitchFamily="18" charset="0"/>
                <a:ea typeface="华文楷体" pitchFamily="2" charset="-122"/>
                <a:cs typeface="Times New Roman" panose="02020603050405020304" pitchFamily="18" charset="0"/>
              </a:rPr>
              <a:t>n(n-1)/2</a:t>
            </a:r>
            <a:r>
              <a:rPr lang="zh-CN" altLang="zh-CN" sz="2600" dirty="0">
                <a:latin typeface="Times New Roman" panose="02020603050405020304" pitchFamily="18" charset="0"/>
                <a:ea typeface="华文楷体" pitchFamily="2" charset="-122"/>
                <a:cs typeface="Times New Roman" panose="02020603050405020304" pitchFamily="18" charset="0"/>
              </a:rPr>
              <a:t>，最少有</a:t>
            </a:r>
            <a:r>
              <a:rPr lang="en-US" altLang="zh-CN" sz="2600" dirty="0">
                <a:latin typeface="Times New Roman" panose="02020603050405020304" pitchFamily="18" charset="0"/>
                <a:ea typeface="华文楷体" pitchFamily="2" charset="-122"/>
                <a:cs typeface="Times New Roman" panose="02020603050405020304" pitchFamily="18" charset="0"/>
              </a:rPr>
              <a:t>n-1</a:t>
            </a:r>
            <a:r>
              <a:rPr lang="zh-CN" altLang="zh-CN" sz="2600" dirty="0">
                <a:latin typeface="Times New Roman" panose="02020603050405020304" pitchFamily="18" charset="0"/>
                <a:ea typeface="华文楷体" pitchFamily="2" charset="-122"/>
                <a:cs typeface="Times New Roman" panose="02020603050405020304" pitchFamily="18" charset="0"/>
              </a:rPr>
              <a:t>。一个无向连通图的生成树中就含有</a:t>
            </a:r>
            <a:r>
              <a:rPr lang="en-US" altLang="zh-CN" sz="2600" dirty="0">
                <a:latin typeface="Times New Roman" panose="02020603050405020304" pitchFamily="18" charset="0"/>
                <a:ea typeface="华文楷体" pitchFamily="2" charset="-122"/>
                <a:cs typeface="Times New Roman" panose="02020603050405020304" pitchFamily="18" charset="0"/>
              </a:rPr>
              <a:t>n</a:t>
            </a:r>
            <a:r>
              <a:rPr lang="zh-CN" altLang="zh-CN" sz="2600" dirty="0">
                <a:latin typeface="Times New Roman" panose="02020603050405020304" pitchFamily="18" charset="0"/>
                <a:ea typeface="华文楷体" pitchFamily="2" charset="-122"/>
                <a:cs typeface="Times New Roman" panose="02020603050405020304" pitchFamily="18" charset="0"/>
              </a:rPr>
              <a:t>个顶点和</a:t>
            </a:r>
            <a:r>
              <a:rPr lang="en-US" altLang="zh-CN" sz="26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n-1</a:t>
            </a:r>
            <a:r>
              <a:rPr lang="zh-CN" altLang="zh-CN" sz="2600" dirty="0">
                <a:latin typeface="Times New Roman" panose="02020603050405020304" pitchFamily="18" charset="0"/>
                <a:ea typeface="华文楷体" pitchFamily="2" charset="-122"/>
                <a:cs typeface="Times New Roman" panose="02020603050405020304" pitchFamily="18" charset="0"/>
              </a:rPr>
              <a:t>条边。</a:t>
            </a:r>
            <a:endParaRPr lang="zh-CN" altLang="en-US" sz="2600" dirty="0">
              <a:latin typeface="Times New Roman" panose="02020603050405020304" pitchFamily="18" charset="0"/>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29214734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标题 1">
            <a:extLst>
              <a:ext uri="{FF2B5EF4-FFF2-40B4-BE49-F238E27FC236}">
                <a16:creationId xmlns:a16="http://schemas.microsoft.com/office/drawing/2014/main" id="{58314CE2-4C7D-435A-A75D-5F15967BC3AF}"/>
              </a:ext>
            </a:extLst>
          </p:cNvPr>
          <p:cNvSpPr>
            <a:spLocks noGrp="1" noChangeArrowheads="1"/>
          </p:cNvSpPr>
          <p:nvPr>
            <p:ph type="title"/>
          </p:nvPr>
        </p:nvSpPr>
        <p:spPr>
          <a:xfrm>
            <a:off x="551058" y="520700"/>
            <a:ext cx="7772400" cy="1143000"/>
          </a:xfrm>
        </p:spPr>
        <p:txBody>
          <a:bodyPr/>
          <a:lstStyle/>
          <a:p>
            <a:pPr>
              <a:defRPr/>
            </a:pPr>
            <a:r>
              <a:rPr lang="zh-CN" altLang="en-US" dirty="0"/>
              <a:t>最小代价生成树应用</a:t>
            </a:r>
          </a:p>
        </p:txBody>
      </p:sp>
      <p:pic>
        <p:nvPicPr>
          <p:cNvPr id="29" name="图片 28">
            <a:extLst>
              <a:ext uri="{FF2B5EF4-FFF2-40B4-BE49-F238E27FC236}">
                <a16:creationId xmlns:a16="http://schemas.microsoft.com/office/drawing/2014/main" id="{76256C8E-5B30-41FD-8338-D33800E37F8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391202" y="1516544"/>
            <a:ext cx="7829319" cy="3214481"/>
          </a:xfrm>
          <a:prstGeom prst="rect">
            <a:avLst/>
          </a:prstGeom>
          <a:noFill/>
          <a:ln>
            <a:noFill/>
          </a:ln>
        </p:spPr>
      </p:pic>
      <p:sp>
        <p:nvSpPr>
          <p:cNvPr id="30" name="矩形 29">
            <a:extLst>
              <a:ext uri="{FF2B5EF4-FFF2-40B4-BE49-F238E27FC236}">
                <a16:creationId xmlns:a16="http://schemas.microsoft.com/office/drawing/2014/main" id="{E5DA803F-3E07-401B-865B-A7A75173E480}"/>
              </a:ext>
            </a:extLst>
          </p:cNvPr>
          <p:cNvSpPr/>
          <p:nvPr/>
        </p:nvSpPr>
        <p:spPr>
          <a:xfrm>
            <a:off x="551058" y="5403216"/>
            <a:ext cx="10678397" cy="892552"/>
          </a:xfrm>
          <a:prstGeom prst="rect">
            <a:avLst/>
          </a:prstGeom>
        </p:spPr>
        <p:txBody>
          <a:bodyPr wrap="square">
            <a:spAutoFit/>
          </a:bodyPr>
          <a:lstStyle/>
          <a:p>
            <a:r>
              <a:rPr lang="zh-CN" altLang="en-US" sz="2600" dirty="0">
                <a:latin typeface="Times New Roman" panose="02020603050405020304" pitchFamily="18" charset="0"/>
                <a:ea typeface="华文楷体" pitchFamily="2" charset="-122"/>
                <a:cs typeface="Times New Roman" panose="02020603050405020304" pitchFamily="18" charset="0"/>
              </a:rPr>
              <a:t>在相邻的</a:t>
            </a:r>
            <a:r>
              <a:rPr lang="en-US" altLang="zh-CN" sz="2600" dirty="0">
                <a:latin typeface="Times New Roman" panose="02020603050405020304" pitchFamily="18" charset="0"/>
                <a:ea typeface="华文楷体" pitchFamily="2" charset="-122"/>
                <a:cs typeface="Times New Roman" panose="02020603050405020304" pitchFamily="18" charset="0"/>
              </a:rPr>
              <a:t>n</a:t>
            </a:r>
            <a:r>
              <a:rPr lang="zh-CN" altLang="en-US" sz="2600" dirty="0">
                <a:latin typeface="Times New Roman" panose="02020603050405020304" pitchFamily="18" charset="0"/>
                <a:ea typeface="华文楷体" pitchFamily="2" charset="-122"/>
                <a:cs typeface="Times New Roman" panose="02020603050405020304" pitchFamily="18" charset="0"/>
              </a:rPr>
              <a:t>个城市之间铺设光缆</a:t>
            </a:r>
            <a:r>
              <a:rPr lang="zh-CN" altLang="zh-CN" sz="2600" dirty="0">
                <a:latin typeface="Times New Roman" panose="02020603050405020304" pitchFamily="18" charset="0"/>
                <a:ea typeface="华文楷体" pitchFamily="2" charset="-122"/>
                <a:cs typeface="Times New Roman" panose="02020603050405020304" pitchFamily="18" charset="0"/>
              </a:rPr>
              <a:t>，</a:t>
            </a:r>
            <a:r>
              <a:rPr lang="zh-CN" altLang="en-US" sz="2600" dirty="0">
                <a:latin typeface="Times New Roman" panose="02020603050405020304" pitchFamily="18" charset="0"/>
                <a:ea typeface="华文楷体" pitchFamily="2" charset="-122"/>
                <a:cs typeface="Times New Roman" panose="02020603050405020304" pitchFamily="18" charset="0"/>
              </a:rPr>
              <a:t>使得任意两座城市之间都可以进行通讯，且要铺设的电缆长度之和最小。</a:t>
            </a:r>
          </a:p>
        </p:txBody>
      </p:sp>
    </p:spTree>
    <p:extLst>
      <p:ext uri="{BB962C8B-B14F-4D97-AF65-F5344CB8AC3E}">
        <p14:creationId xmlns:p14="http://schemas.microsoft.com/office/powerpoint/2010/main" val="40583203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Prim</a:t>
            </a:r>
            <a:r>
              <a:rPr lang="zh-CN" altLang="zh-CN" sz="2800" dirty="0">
                <a:solidFill>
                  <a:srgbClr val="FF0000"/>
                </a:solidFill>
                <a:latin typeface="华文楷体" pitchFamily="2" charset="-122"/>
                <a:ea typeface="华文楷体" pitchFamily="2" charset="-122"/>
              </a:rPr>
              <a:t> </a:t>
            </a:r>
            <a:r>
              <a:rPr lang="en-US" altLang="zh-CN" sz="2800" dirty="0">
                <a:solidFill>
                  <a:srgbClr val="FF0000"/>
                </a:solidFill>
              </a:rPr>
              <a:t>(</a:t>
            </a:r>
            <a:r>
              <a:rPr lang="zh-CN" altLang="zh-CN" sz="2800" dirty="0">
                <a:solidFill>
                  <a:srgbClr val="FF0000"/>
                </a:solidFill>
                <a:latin typeface="华文楷体" pitchFamily="2" charset="-122"/>
                <a:ea typeface="华文楷体" pitchFamily="2" charset="-122"/>
              </a:rPr>
              <a:t>普里姆</a:t>
            </a:r>
            <a:r>
              <a:rPr lang="en-US" altLang="zh-CN" sz="2800" dirty="0">
                <a:solidFill>
                  <a:srgbClr val="FF0000"/>
                </a:solidFill>
              </a:rPr>
              <a:t>)</a:t>
            </a:r>
            <a:r>
              <a:rPr lang="zh-CN" altLang="en-US" sz="2800" dirty="0">
                <a:solidFill>
                  <a:srgbClr val="FF0000"/>
                </a:solidFill>
                <a:latin typeface="华文楷体" pitchFamily="2" charset="-122"/>
                <a:ea typeface="华文楷体" pitchFamily="2" charset="-122"/>
              </a:rPr>
              <a:t>算法</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en-US" altLang="zh-CN" sz="2800" b="0" dirty="0" err="1"/>
              <a:t>Kruscal</a:t>
            </a:r>
            <a:r>
              <a:rPr lang="en-US" altLang="zh-CN" sz="2800" b="0" dirty="0"/>
              <a:t> </a:t>
            </a:r>
            <a:r>
              <a:rPr lang="en-US" altLang="zh-CN" sz="2800" dirty="0"/>
              <a:t>(</a:t>
            </a:r>
            <a:r>
              <a:rPr lang="zh-CN" altLang="zh-CN" sz="2800" dirty="0">
                <a:latin typeface="华文楷体" pitchFamily="2" charset="-122"/>
                <a:ea typeface="华文楷体" pitchFamily="2" charset="-122"/>
              </a:rPr>
              <a:t>克鲁斯卡尔</a:t>
            </a:r>
            <a:r>
              <a:rPr lang="en-US" altLang="zh-CN" sz="2800" dirty="0"/>
              <a:t>)</a:t>
            </a:r>
            <a:r>
              <a:rPr lang="zh-CN" altLang="en-US" sz="2800" dirty="0">
                <a:latin typeface="华文楷体" pitchFamily="2" charset="-122"/>
                <a:ea typeface="华文楷体" pitchFamily="2" charset="-122"/>
              </a:rPr>
              <a:t>算法</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最小代价生成树：</a:t>
            </a:r>
          </a:p>
        </p:txBody>
      </p:sp>
    </p:spTree>
    <p:extLst>
      <p:ext uri="{BB962C8B-B14F-4D97-AF65-F5344CB8AC3E}">
        <p14:creationId xmlns:p14="http://schemas.microsoft.com/office/powerpoint/2010/main" val="373703959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606189" cy="1184337"/>
          </a:xfrm>
        </p:spPr>
        <p:txBody>
          <a:bodyPr>
            <a:noAutofit/>
          </a:bodyPr>
          <a:lstStyle/>
          <a:p>
            <a:pPr marL="0" indent="0">
              <a:buNone/>
            </a:pPr>
            <a:r>
              <a:rPr lang="zh-CN" altLang="zh-CN" sz="2800" b="0" dirty="0">
                <a:ea typeface="华文楷体" pitchFamily="2" charset="-122"/>
                <a:cs typeface="Times New Roman" panose="02020603050405020304" pitchFamily="18" charset="0"/>
              </a:rPr>
              <a:t>对一个无向连通图</a:t>
            </a:r>
            <a:r>
              <a:rPr lang="en-US" altLang="zh-CN" sz="2800" b="0" dirty="0">
                <a:ea typeface="华文楷体" pitchFamily="2" charset="-122"/>
                <a:cs typeface="Times New Roman" panose="02020603050405020304" pitchFamily="18" charset="0"/>
              </a:rPr>
              <a:t>G = { V, E }</a:t>
            </a:r>
            <a:r>
              <a:rPr lang="zh-CN" altLang="zh-CN" sz="2800" b="0" dirty="0">
                <a:ea typeface="华文楷体" pitchFamily="2" charset="-122"/>
                <a:cs typeface="Times New Roman" panose="02020603050405020304" pitchFamily="18" charset="0"/>
              </a:rPr>
              <a:t>，用</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表示顶点集合、</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表示最小生成树中顶点集合、</a:t>
            </a:r>
            <a:r>
              <a:rPr lang="en-US" altLang="zh-CN" sz="2800" b="0" dirty="0">
                <a:ea typeface="华文楷体" pitchFamily="2" charset="-122"/>
                <a:cs typeface="Times New Roman" panose="02020603050405020304" pitchFamily="18" charset="0"/>
              </a:rPr>
              <a:t>T</a:t>
            </a:r>
            <a:r>
              <a:rPr lang="zh-CN" altLang="zh-CN" sz="2800" b="0" dirty="0">
                <a:ea typeface="华文楷体" pitchFamily="2" charset="-122"/>
                <a:cs typeface="Times New Roman" panose="02020603050405020304" pitchFamily="18" charset="0"/>
              </a:rPr>
              <a:t>表示最小生成树中边集合</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zh-CN" dirty="0">
                <a:latin typeface="Times New Roman" panose="02020603050405020304" pitchFamily="18" charset="0"/>
                <a:ea typeface="华文楷体" pitchFamily="2" charset="-122"/>
                <a:cs typeface="Times New Roman" panose="02020603050405020304" pitchFamily="18" charset="0"/>
              </a:rPr>
              <a:t>普里姆算法着眼于顶点</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2093255" y="2584174"/>
            <a:ext cx="7617907" cy="3975652"/>
          </a:xfrm>
          <a:prstGeom prst="rect">
            <a:avLst/>
          </a:prstGeom>
          <a:noFill/>
          <a:ln>
            <a:noFill/>
          </a:ln>
        </p:spPr>
      </p:pic>
    </p:spTree>
    <p:extLst>
      <p:ext uri="{BB962C8B-B14F-4D97-AF65-F5344CB8AC3E}">
        <p14:creationId xmlns:p14="http://schemas.microsoft.com/office/powerpoint/2010/main" val="9025007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zh-CN" dirty="0">
                <a:latin typeface="Times New Roman" panose="02020603050405020304" pitchFamily="18" charset="0"/>
                <a:ea typeface="华文楷体" pitchFamily="2" charset="-122"/>
                <a:cs typeface="Times New Roman" panose="02020603050405020304" pitchFamily="18" charset="0"/>
              </a:rPr>
              <a:t>普里姆算法着眼于顶点</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059470" y="1662732"/>
            <a:ext cx="8018808" cy="4618797"/>
          </a:xfrm>
          <a:prstGeom prst="rect">
            <a:avLst/>
          </a:prstGeom>
          <a:noFill/>
          <a:ln>
            <a:noFill/>
          </a:ln>
        </p:spPr>
      </p:pic>
    </p:spTree>
    <p:extLst>
      <p:ext uri="{BB962C8B-B14F-4D97-AF65-F5344CB8AC3E}">
        <p14:creationId xmlns:p14="http://schemas.microsoft.com/office/powerpoint/2010/main" val="28969562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a:t>
            </a:r>
            <a:r>
              <a:rPr lang="zh-CN" altLang="zh-CN" dirty="0">
                <a:latin typeface="Times New Roman" panose="02020603050405020304" pitchFamily="18" charset="0"/>
                <a:ea typeface="华文楷体" pitchFamily="2" charset="-122"/>
                <a:cs typeface="Times New Roman" panose="02020603050405020304" pitchFamily="18" charset="0"/>
              </a:rPr>
              <a:t>普里姆算法着眼于顶点</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305753" y="1573903"/>
            <a:ext cx="8533986" cy="4985923"/>
          </a:xfrm>
          <a:prstGeom prst="rect">
            <a:avLst/>
          </a:prstGeom>
          <a:noFill/>
          <a:ln>
            <a:noFill/>
          </a:ln>
        </p:spPr>
      </p:pic>
    </p:spTree>
    <p:extLst>
      <p:ext uri="{BB962C8B-B14F-4D97-AF65-F5344CB8AC3E}">
        <p14:creationId xmlns:p14="http://schemas.microsoft.com/office/powerpoint/2010/main" val="363524694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4563640"/>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假设图用邻接表方式存储。</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程序首先定义了一个结构类型</a:t>
            </a:r>
            <a:r>
              <a:rPr lang="en-US" altLang="zh-CN" sz="2800" b="0" dirty="0" err="1">
                <a:ea typeface="华文楷体" pitchFamily="2" charset="-122"/>
                <a:cs typeface="Times New Roman" panose="02020603050405020304" pitchFamily="18" charset="0"/>
              </a:rPr>
              <a:t>primNode</a:t>
            </a:r>
            <a:r>
              <a:rPr lang="zh-CN" altLang="zh-CN" sz="2800" b="0" dirty="0">
                <a:ea typeface="华文楷体" pitchFamily="2" charset="-122"/>
                <a:cs typeface="Times New Roman" panose="02020603050405020304" pitchFamily="18" charset="0"/>
              </a:rPr>
              <a:t>，用以描述边的信息：包括边的两个顶点和权值。</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itchFamily="2" charset="-122"/>
                <a:cs typeface="Times New Roman" panose="02020603050405020304" pitchFamily="18" charset="0"/>
              </a:rPr>
              <a:t>Prim</a:t>
            </a:r>
            <a:r>
              <a:rPr lang="zh-CN" altLang="zh-CN" sz="2800" b="0" dirty="0">
                <a:ea typeface="华文楷体" pitchFamily="2" charset="-122"/>
                <a:cs typeface="Times New Roman" panose="02020603050405020304" pitchFamily="18" charset="0"/>
              </a:rPr>
              <a:t>函数定义了</a:t>
            </a:r>
            <a:r>
              <a:rPr lang="en-US" altLang="zh-CN" sz="2800" b="0" dirty="0">
                <a:ea typeface="华文楷体" pitchFamily="2" charset="-122"/>
                <a:cs typeface="Times New Roman" panose="02020603050405020304" pitchFamily="18" charset="0"/>
              </a:rPr>
              <a:t>4</a:t>
            </a:r>
            <a:r>
              <a:rPr lang="zh-CN" altLang="zh-CN" sz="2800" b="0" dirty="0">
                <a:ea typeface="华文楷体" pitchFamily="2" charset="-122"/>
                <a:cs typeface="Times New Roman" panose="02020603050405020304" pitchFamily="18" charset="0"/>
              </a:rPr>
              <a:t>个数组</a:t>
            </a:r>
            <a:r>
              <a:rPr lang="en-US" altLang="zh-CN" sz="2800" b="0" dirty="0">
                <a:ea typeface="华文楷体" pitchFamily="2" charset="-122"/>
                <a:cs typeface="Times New Roman" panose="02020603050405020304" pitchFamily="18" charset="0"/>
              </a:rPr>
              <a:t>source</a:t>
            </a:r>
            <a:r>
              <a:rPr lang="zh-CN"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dist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selected</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treeEdges</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lvl="1"/>
            <a:r>
              <a:rPr lang="en-US" altLang="zh-CN" sz="2400" b="0" dirty="0">
                <a:ea typeface="华文楷体" pitchFamily="2" charset="-122"/>
                <a:cs typeface="Times New Roman" panose="02020603050405020304" pitchFamily="18" charset="0"/>
              </a:rPr>
              <a:t>source[</a:t>
            </a:r>
            <a:r>
              <a:rPr lang="en-US" altLang="zh-CN" sz="2400" b="0" dirty="0" err="1">
                <a:ea typeface="华文楷体" pitchFamily="2" charset="-122"/>
                <a:cs typeface="Times New Roman" panose="02020603050405020304" pitchFamily="18" charset="0"/>
              </a:rPr>
              <a:t>i</a:t>
            </a:r>
            <a:r>
              <a:rPr lang="en-US" altLang="zh-CN" sz="2400" b="0" dirty="0">
                <a:ea typeface="华文楷体" pitchFamily="2" charset="-122"/>
                <a:cs typeface="Times New Roman" panose="02020603050405020304" pitchFamily="18" charset="0"/>
              </a:rPr>
              <a:t>]</a:t>
            </a:r>
            <a:r>
              <a:rPr lang="zh-CN" altLang="zh-CN" sz="2400" b="0" dirty="0">
                <a:ea typeface="华文楷体" pitchFamily="2" charset="-122"/>
                <a:cs typeface="Times New Roman" panose="02020603050405020304" pitchFamily="18" charset="0"/>
              </a:rPr>
              <a:t>记录了顶点</a:t>
            </a:r>
            <a:r>
              <a:rPr lang="en-US" altLang="zh-CN" sz="2400" b="0" dirty="0" err="1">
                <a:ea typeface="华文楷体" pitchFamily="2" charset="-122"/>
                <a:cs typeface="Times New Roman" panose="02020603050405020304" pitchFamily="18" charset="0"/>
              </a:rPr>
              <a:t>i</a:t>
            </a:r>
            <a:r>
              <a:rPr lang="zh-CN" altLang="zh-CN" sz="2400" b="0" dirty="0">
                <a:ea typeface="华文楷体" pitchFamily="2" charset="-122"/>
                <a:cs typeface="Times New Roman" panose="02020603050405020304" pitchFamily="18" charset="0"/>
              </a:rPr>
              <a:t>到</a:t>
            </a:r>
            <a:r>
              <a:rPr lang="en-US" altLang="zh-CN" sz="2400" b="0" dirty="0">
                <a:ea typeface="华文楷体" pitchFamily="2" charset="-122"/>
                <a:cs typeface="Times New Roman" panose="02020603050405020304" pitchFamily="18" charset="0"/>
              </a:rPr>
              <a:t>U</a:t>
            </a:r>
            <a:r>
              <a:rPr lang="zh-CN" altLang="zh-CN" sz="2400" b="0" dirty="0">
                <a:ea typeface="华文楷体" pitchFamily="2" charset="-122"/>
                <a:cs typeface="Times New Roman" panose="02020603050405020304" pitchFamily="18" charset="0"/>
              </a:rPr>
              <a:t>集合的最短距离是</a:t>
            </a:r>
            <a:r>
              <a:rPr lang="zh-CN" altLang="zh-CN" sz="2400" b="0" dirty="0">
                <a:solidFill>
                  <a:schemeClr val="accent1">
                    <a:lumMod val="60000"/>
                    <a:lumOff val="40000"/>
                  </a:schemeClr>
                </a:solidFill>
                <a:ea typeface="华文楷体" pitchFamily="2" charset="-122"/>
                <a:cs typeface="Times New Roman" panose="02020603050405020304" pitchFamily="18" charset="0"/>
              </a:rPr>
              <a:t>哪个顶点</a:t>
            </a:r>
            <a:r>
              <a:rPr lang="zh-CN" altLang="zh-CN" sz="2400" b="0" dirty="0">
                <a:ea typeface="华文楷体" pitchFamily="2" charset="-122"/>
                <a:cs typeface="Times New Roman" panose="02020603050405020304" pitchFamily="18" charset="0"/>
              </a:rPr>
              <a:t>造成的</a:t>
            </a:r>
            <a:endParaRPr lang="en-US" altLang="zh-CN" sz="2400" b="0" dirty="0">
              <a:ea typeface="华文楷体" pitchFamily="2" charset="-122"/>
              <a:cs typeface="Times New Roman" panose="02020603050405020304" pitchFamily="18" charset="0"/>
            </a:endParaRPr>
          </a:p>
          <a:p>
            <a:pPr lvl="1"/>
            <a:r>
              <a:rPr lang="en-US" altLang="zh-CN" sz="2400" b="0" dirty="0" err="1">
                <a:ea typeface="华文楷体" pitchFamily="2" charset="-122"/>
                <a:cs typeface="Times New Roman" panose="02020603050405020304" pitchFamily="18" charset="0"/>
              </a:rPr>
              <a:t>dist</a:t>
            </a:r>
            <a:r>
              <a:rPr lang="en-US" altLang="zh-CN" sz="2400" b="0" dirty="0">
                <a:ea typeface="华文楷体" pitchFamily="2" charset="-122"/>
                <a:cs typeface="Times New Roman" panose="02020603050405020304" pitchFamily="18" charset="0"/>
              </a:rPr>
              <a:t>[</a:t>
            </a:r>
            <a:r>
              <a:rPr lang="en-US" altLang="zh-CN" sz="2400" b="0" dirty="0" err="1">
                <a:ea typeface="华文楷体" pitchFamily="2" charset="-122"/>
                <a:cs typeface="Times New Roman" panose="02020603050405020304" pitchFamily="18" charset="0"/>
              </a:rPr>
              <a:t>i</a:t>
            </a:r>
            <a:r>
              <a:rPr lang="en-US" altLang="zh-CN" sz="2400" b="0" dirty="0">
                <a:ea typeface="华文楷体" pitchFamily="2" charset="-122"/>
                <a:cs typeface="Times New Roman" panose="02020603050405020304" pitchFamily="18" charset="0"/>
              </a:rPr>
              <a:t>]</a:t>
            </a:r>
            <a:r>
              <a:rPr lang="zh-CN" altLang="zh-CN" sz="2400" b="0" dirty="0">
                <a:ea typeface="华文楷体" pitchFamily="2" charset="-122"/>
                <a:cs typeface="Times New Roman" panose="02020603050405020304" pitchFamily="18" charset="0"/>
              </a:rPr>
              <a:t>记录了顶点</a:t>
            </a:r>
            <a:r>
              <a:rPr lang="en-US" altLang="zh-CN" sz="2400" b="0" dirty="0" err="1">
                <a:ea typeface="华文楷体" pitchFamily="2" charset="-122"/>
                <a:cs typeface="Times New Roman" panose="02020603050405020304" pitchFamily="18" charset="0"/>
              </a:rPr>
              <a:t>i</a:t>
            </a:r>
            <a:r>
              <a:rPr lang="zh-CN" altLang="zh-CN" sz="2400" b="0" dirty="0">
                <a:ea typeface="华文楷体" pitchFamily="2" charset="-122"/>
                <a:cs typeface="Times New Roman" panose="02020603050405020304" pitchFamily="18" charset="0"/>
              </a:rPr>
              <a:t>到</a:t>
            </a:r>
            <a:r>
              <a:rPr lang="en-US" altLang="zh-CN" sz="2400" b="0" dirty="0">
                <a:ea typeface="华文楷体" pitchFamily="2" charset="-122"/>
                <a:cs typeface="Times New Roman" panose="02020603050405020304" pitchFamily="18" charset="0"/>
              </a:rPr>
              <a:t>U</a:t>
            </a:r>
            <a:r>
              <a:rPr lang="zh-CN" altLang="zh-CN" sz="2400" b="0" dirty="0">
                <a:ea typeface="华文楷体" pitchFamily="2" charset="-122"/>
                <a:cs typeface="Times New Roman" panose="02020603050405020304" pitchFamily="18" charset="0"/>
              </a:rPr>
              <a:t>集合的最短距离</a:t>
            </a:r>
            <a:endParaRPr lang="en-US" altLang="zh-CN" sz="2400" b="0" dirty="0">
              <a:ea typeface="华文楷体" pitchFamily="2" charset="-122"/>
              <a:cs typeface="Times New Roman" panose="02020603050405020304" pitchFamily="18" charset="0"/>
            </a:endParaRPr>
          </a:p>
          <a:p>
            <a:pPr lvl="1"/>
            <a:r>
              <a:rPr lang="en-US" altLang="zh-CN" sz="2400" b="0" dirty="0">
                <a:ea typeface="华文楷体" pitchFamily="2" charset="-122"/>
                <a:cs typeface="Times New Roman" panose="02020603050405020304" pitchFamily="18" charset="0"/>
              </a:rPr>
              <a:t>selected[</a:t>
            </a:r>
            <a:r>
              <a:rPr lang="en-US" altLang="zh-CN" sz="2400" b="0" dirty="0" err="1">
                <a:ea typeface="华文楷体" pitchFamily="2" charset="-122"/>
                <a:cs typeface="Times New Roman" panose="02020603050405020304" pitchFamily="18" charset="0"/>
              </a:rPr>
              <a:t>i</a:t>
            </a:r>
            <a:r>
              <a:rPr lang="en-US" altLang="zh-CN" sz="2400" b="0" dirty="0">
                <a:ea typeface="华文楷体" pitchFamily="2" charset="-122"/>
                <a:cs typeface="Times New Roman" panose="02020603050405020304" pitchFamily="18" charset="0"/>
              </a:rPr>
              <a:t>]</a:t>
            </a:r>
            <a:r>
              <a:rPr lang="zh-CN" altLang="zh-CN" sz="2400" b="0" dirty="0">
                <a:ea typeface="华文楷体" pitchFamily="2" charset="-122"/>
                <a:cs typeface="Times New Roman" panose="02020603050405020304" pitchFamily="18" charset="0"/>
              </a:rPr>
              <a:t>记录了顶点</a:t>
            </a:r>
            <a:r>
              <a:rPr lang="en-US" altLang="zh-CN" sz="2400" b="0" dirty="0" err="1">
                <a:ea typeface="华文楷体" pitchFamily="2" charset="-122"/>
                <a:cs typeface="Times New Roman" panose="02020603050405020304" pitchFamily="18" charset="0"/>
              </a:rPr>
              <a:t>i</a:t>
            </a:r>
            <a:r>
              <a:rPr lang="zh-CN" altLang="zh-CN" sz="2400" b="0" dirty="0">
                <a:ea typeface="华文楷体" pitchFamily="2" charset="-122"/>
                <a:cs typeface="Times New Roman" panose="02020603050405020304" pitchFamily="18" charset="0"/>
              </a:rPr>
              <a:t>是否已经在</a:t>
            </a:r>
            <a:r>
              <a:rPr lang="en-US" altLang="zh-CN" sz="2400" b="0" dirty="0">
                <a:ea typeface="华文楷体" pitchFamily="2" charset="-122"/>
                <a:cs typeface="Times New Roman" panose="02020603050405020304" pitchFamily="18" charset="0"/>
              </a:rPr>
              <a:t>U</a:t>
            </a:r>
            <a:r>
              <a:rPr lang="zh-CN" altLang="zh-CN" sz="2400" b="0" dirty="0">
                <a:ea typeface="华文楷体" pitchFamily="2" charset="-122"/>
                <a:cs typeface="Times New Roman" panose="02020603050405020304" pitchFamily="18" charset="0"/>
              </a:rPr>
              <a:t>集合中</a:t>
            </a:r>
            <a:endParaRPr lang="en-US" altLang="zh-CN" sz="2400" b="0" dirty="0">
              <a:ea typeface="华文楷体" pitchFamily="2" charset="-122"/>
              <a:cs typeface="Times New Roman" panose="02020603050405020304" pitchFamily="18" charset="0"/>
            </a:endParaRPr>
          </a:p>
          <a:p>
            <a:pPr lvl="1"/>
            <a:r>
              <a:rPr lang="en-US" altLang="zh-CN" sz="2400" b="0" dirty="0" err="1">
                <a:ea typeface="华文楷体" pitchFamily="2" charset="-122"/>
                <a:cs typeface="Times New Roman" panose="02020603050405020304" pitchFamily="18" charset="0"/>
              </a:rPr>
              <a:t>treeEdges</a:t>
            </a:r>
            <a:r>
              <a:rPr lang="zh-CN" altLang="zh-CN" sz="2400" b="0" dirty="0">
                <a:ea typeface="华文楷体" pitchFamily="2" charset="-122"/>
                <a:cs typeface="Times New Roman" panose="02020603050405020304" pitchFamily="18" charset="0"/>
              </a:rPr>
              <a:t>数组记录了在</a:t>
            </a:r>
            <a:r>
              <a:rPr lang="en-US" altLang="zh-CN" sz="2400" b="0" dirty="0">
                <a:ea typeface="华文楷体" pitchFamily="2" charset="-122"/>
                <a:cs typeface="Times New Roman" panose="02020603050405020304" pitchFamily="18" charset="0"/>
              </a:rPr>
              <a:t>T</a:t>
            </a:r>
            <a:r>
              <a:rPr lang="zh-CN" altLang="zh-CN" sz="2400" b="0" dirty="0">
                <a:ea typeface="华文楷体" pitchFamily="2" charset="-122"/>
                <a:cs typeface="Times New Roman" panose="02020603050405020304" pitchFamily="18" charset="0"/>
              </a:rPr>
              <a:t>中的每一条边。</a:t>
            </a:r>
            <a:endParaRPr lang="en-US" altLang="zh-CN" sz="24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算法实现：</a:t>
            </a:r>
          </a:p>
        </p:txBody>
      </p:sp>
    </p:spTree>
    <p:extLst>
      <p:ext uri="{BB962C8B-B14F-4D97-AF65-F5344CB8AC3E}">
        <p14:creationId xmlns:p14="http://schemas.microsoft.com/office/powerpoint/2010/main" val="6925967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4563640"/>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程序</a:t>
            </a:r>
            <a:r>
              <a:rPr lang="zh-CN" altLang="zh-CN" sz="2800" b="0" dirty="0">
                <a:solidFill>
                  <a:srgbClr val="00B0F0"/>
                </a:solidFill>
                <a:ea typeface="华文楷体" pitchFamily="2" charset="-122"/>
                <a:cs typeface="Times New Roman" panose="02020603050405020304" pitchFamily="18" charset="0"/>
              </a:rPr>
              <a:t>首先</a:t>
            </a:r>
            <a:r>
              <a:rPr lang="zh-CN" altLang="zh-CN" sz="2800" b="0" dirty="0">
                <a:ea typeface="华文楷体" pitchFamily="2" charset="-122"/>
                <a:cs typeface="Times New Roman" panose="02020603050405020304" pitchFamily="18" charset="0"/>
              </a:rPr>
              <a:t>选择了</a:t>
            </a:r>
            <a:r>
              <a:rPr lang="zh-CN" altLang="zh-CN" sz="2800" b="0" dirty="0">
                <a:solidFill>
                  <a:srgbClr val="00B0F0"/>
                </a:solidFill>
                <a:ea typeface="华文楷体" pitchFamily="2" charset="-122"/>
                <a:cs typeface="Times New Roman" panose="02020603050405020304" pitchFamily="18" charset="0"/>
              </a:rPr>
              <a:t>顶点</a:t>
            </a:r>
            <a:r>
              <a:rPr lang="en-US" altLang="zh-CN" sz="2800" b="0" dirty="0">
                <a:solidFill>
                  <a:srgbClr val="00B0F0"/>
                </a:solidFill>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作为进入</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的第一个顶点或称选择点，只要进入</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的顶点个数没有达到图中顶点总数，进入循环，反复进行以下操作：</a:t>
            </a:r>
            <a:endParaRPr lang="en-US" altLang="zh-CN" sz="2800" b="0" dirty="0">
              <a:ea typeface="华文楷体" pitchFamily="2" charset="-122"/>
              <a:cs typeface="Times New Roman" panose="02020603050405020304" pitchFamily="18" charset="0"/>
            </a:endParaRPr>
          </a:p>
          <a:p>
            <a:pPr lvl="1"/>
            <a:r>
              <a:rPr lang="zh-CN" altLang="zh-CN" sz="2400" b="0" dirty="0">
                <a:ea typeface="华文楷体" pitchFamily="2" charset="-122"/>
                <a:cs typeface="Times New Roman" panose="02020603050405020304" pitchFamily="18" charset="0"/>
              </a:rPr>
              <a:t>沿着</a:t>
            </a:r>
            <a:r>
              <a:rPr lang="zh-CN" altLang="zh-CN" sz="2400" b="0" dirty="0">
                <a:solidFill>
                  <a:schemeClr val="accent1">
                    <a:lumMod val="60000"/>
                    <a:lumOff val="40000"/>
                  </a:schemeClr>
                </a:solidFill>
                <a:ea typeface="华文楷体" pitchFamily="2" charset="-122"/>
                <a:cs typeface="Times New Roman" panose="02020603050405020304" pitchFamily="18" charset="0"/>
              </a:rPr>
              <a:t>选择点</a:t>
            </a:r>
            <a:r>
              <a:rPr lang="zh-CN" altLang="zh-CN" sz="2400" b="0" dirty="0">
                <a:ea typeface="华文楷体" pitchFamily="2" charset="-122"/>
                <a:cs typeface="Times New Roman" panose="02020603050405020304" pitchFamily="18" charset="0"/>
              </a:rPr>
              <a:t>的边表逐个检查各条边，如果边中存储的邻接点未入</a:t>
            </a:r>
            <a:r>
              <a:rPr lang="en-US" altLang="zh-CN" sz="2400" b="0" dirty="0">
                <a:ea typeface="华文楷体" pitchFamily="2" charset="-122"/>
                <a:cs typeface="Times New Roman" panose="02020603050405020304" pitchFamily="18" charset="0"/>
              </a:rPr>
              <a:t>U</a:t>
            </a:r>
            <a:r>
              <a:rPr lang="zh-CN" altLang="zh-CN" sz="2400" b="0" dirty="0">
                <a:ea typeface="华文楷体" pitchFamily="2" charset="-122"/>
                <a:cs typeface="Times New Roman" panose="02020603050405020304" pitchFamily="18" charset="0"/>
              </a:rPr>
              <a:t>且</a:t>
            </a:r>
            <a:r>
              <a:rPr lang="zh-CN" altLang="zh-CN" sz="2400" b="0" u="sng" dirty="0">
                <a:ea typeface="华文楷体" pitchFamily="2" charset="-122"/>
                <a:cs typeface="Times New Roman" panose="02020603050405020304" pitchFamily="18" charset="0"/>
              </a:rPr>
              <a:t>邻接点的</a:t>
            </a:r>
            <a:r>
              <a:rPr lang="en-US" altLang="zh-CN" sz="2400" b="0" u="sng" dirty="0" err="1">
                <a:ea typeface="华文楷体" pitchFamily="2" charset="-122"/>
                <a:cs typeface="Times New Roman" panose="02020603050405020304" pitchFamily="18" charset="0"/>
              </a:rPr>
              <a:t>dist</a:t>
            </a:r>
            <a:r>
              <a:rPr lang="zh-CN" altLang="zh-CN" sz="2400" b="0" u="sng" dirty="0">
                <a:ea typeface="华文楷体" pitchFamily="2" charset="-122"/>
                <a:cs typeface="Times New Roman" panose="02020603050405020304" pitchFamily="18" charset="0"/>
              </a:rPr>
              <a:t>值</a:t>
            </a:r>
            <a:r>
              <a:rPr lang="zh-CN" altLang="zh-CN" sz="2400" b="0" dirty="0">
                <a:solidFill>
                  <a:srgbClr val="00B0F0"/>
                </a:solidFill>
                <a:ea typeface="华文楷体" pitchFamily="2" charset="-122"/>
                <a:cs typeface="Times New Roman" panose="02020603050405020304" pitchFamily="18" charset="0"/>
              </a:rPr>
              <a:t>大于</a:t>
            </a:r>
            <a:r>
              <a:rPr lang="zh-CN" altLang="zh-CN" sz="2400" b="0" u="sng" dirty="0">
                <a:ea typeface="华文楷体" pitchFamily="2" charset="-122"/>
                <a:cs typeface="Times New Roman" panose="02020603050405020304" pitchFamily="18" charset="0"/>
              </a:rPr>
              <a:t>这条边的权值</a:t>
            </a:r>
            <a:r>
              <a:rPr lang="zh-CN" altLang="zh-CN" sz="2400" b="0" dirty="0">
                <a:ea typeface="华文楷体" pitchFamily="2" charset="-122"/>
                <a:cs typeface="Times New Roman" panose="02020603050405020304" pitchFamily="18" charset="0"/>
              </a:rPr>
              <a:t>，用该边权值</a:t>
            </a:r>
            <a:r>
              <a:rPr lang="zh-CN" altLang="zh-CN" sz="2400" b="0" dirty="0">
                <a:solidFill>
                  <a:srgbClr val="00B0F0"/>
                </a:solidFill>
                <a:ea typeface="华文楷体" pitchFamily="2" charset="-122"/>
                <a:cs typeface="Times New Roman" panose="02020603050405020304" pitchFamily="18" charset="0"/>
              </a:rPr>
              <a:t>刷新</a:t>
            </a:r>
            <a:r>
              <a:rPr lang="zh-CN" altLang="zh-CN" sz="2400" b="0" dirty="0">
                <a:ea typeface="华文楷体" pitchFamily="2" charset="-122"/>
                <a:cs typeface="Times New Roman" panose="02020603050405020304" pitchFamily="18" charset="0"/>
              </a:rPr>
              <a:t>邻接点的</a:t>
            </a:r>
            <a:r>
              <a:rPr lang="en-US" altLang="zh-CN" sz="2400" b="0" dirty="0" err="1">
                <a:ea typeface="华文楷体" pitchFamily="2" charset="-122"/>
                <a:cs typeface="Times New Roman" panose="02020603050405020304" pitchFamily="18" charset="0"/>
              </a:rPr>
              <a:t>dist</a:t>
            </a:r>
            <a:r>
              <a:rPr lang="zh-CN" altLang="zh-CN" sz="2400" b="0" dirty="0">
                <a:ea typeface="华文楷体" pitchFamily="2" charset="-122"/>
                <a:cs typeface="Times New Roman" panose="02020603050405020304" pitchFamily="18" charset="0"/>
              </a:rPr>
              <a:t>。</a:t>
            </a:r>
            <a:endParaRPr lang="en-US" altLang="zh-CN" sz="2400" b="0" dirty="0">
              <a:ea typeface="华文楷体" pitchFamily="2" charset="-122"/>
              <a:cs typeface="Times New Roman" panose="02020603050405020304" pitchFamily="18" charset="0"/>
            </a:endParaRPr>
          </a:p>
          <a:p>
            <a:pPr lvl="1"/>
            <a:r>
              <a:rPr lang="zh-CN" altLang="zh-CN" sz="2400" b="0" dirty="0">
                <a:ea typeface="华文楷体" pitchFamily="2" charset="-122"/>
                <a:cs typeface="Times New Roman" panose="02020603050405020304" pitchFamily="18" charset="0"/>
              </a:rPr>
              <a:t>在所有未入</a:t>
            </a:r>
            <a:r>
              <a:rPr lang="en-US" altLang="zh-CN" sz="2400" b="0" dirty="0">
                <a:ea typeface="华文楷体" pitchFamily="2" charset="-122"/>
                <a:cs typeface="Times New Roman" panose="02020603050405020304" pitchFamily="18" charset="0"/>
              </a:rPr>
              <a:t>U</a:t>
            </a:r>
            <a:r>
              <a:rPr lang="zh-CN" altLang="zh-CN" sz="2400" b="0" dirty="0">
                <a:ea typeface="华文楷体" pitchFamily="2" charset="-122"/>
                <a:cs typeface="Times New Roman" panose="02020603050405020304" pitchFamily="18" charset="0"/>
              </a:rPr>
              <a:t>的顶点中找到</a:t>
            </a:r>
            <a:r>
              <a:rPr lang="en-US" altLang="zh-CN" sz="2400" b="0" dirty="0" err="1">
                <a:ea typeface="华文楷体" pitchFamily="2" charset="-122"/>
                <a:cs typeface="Times New Roman" panose="02020603050405020304" pitchFamily="18" charset="0"/>
              </a:rPr>
              <a:t>dist</a:t>
            </a:r>
            <a:r>
              <a:rPr lang="zh-CN" altLang="zh-CN" sz="2400" b="0" dirty="0">
                <a:solidFill>
                  <a:srgbClr val="00B0F0"/>
                </a:solidFill>
                <a:ea typeface="华文楷体" pitchFamily="2" charset="-122"/>
                <a:cs typeface="Times New Roman" panose="02020603050405020304" pitchFamily="18" charset="0"/>
              </a:rPr>
              <a:t>最小</a:t>
            </a:r>
            <a:r>
              <a:rPr lang="zh-CN" altLang="zh-CN" sz="2400" b="0" dirty="0">
                <a:ea typeface="华文楷体" pitchFamily="2" charset="-122"/>
                <a:cs typeface="Times New Roman" panose="02020603050405020304" pitchFamily="18" charset="0"/>
              </a:rPr>
              <a:t>的顶点作为</a:t>
            </a:r>
            <a:r>
              <a:rPr lang="zh-CN" altLang="zh-CN" sz="2400" b="0" dirty="0">
                <a:solidFill>
                  <a:srgbClr val="00B0F0"/>
                </a:solidFill>
                <a:ea typeface="华文楷体" pitchFamily="2" charset="-122"/>
                <a:cs typeface="Times New Roman" panose="02020603050405020304" pitchFamily="18" charset="0"/>
              </a:rPr>
              <a:t>新</a:t>
            </a:r>
            <a:r>
              <a:rPr lang="zh-CN" altLang="zh-CN" sz="2400" b="0" dirty="0">
                <a:ea typeface="华文楷体" pitchFamily="2" charset="-122"/>
                <a:cs typeface="Times New Roman" panose="02020603050405020304" pitchFamily="18" charset="0"/>
              </a:rPr>
              <a:t>的选择点，选择点的源顶点和选择点之间的边并入</a:t>
            </a:r>
            <a:r>
              <a:rPr lang="en-US" altLang="zh-CN" sz="2400" b="0" dirty="0">
                <a:ea typeface="华文楷体" pitchFamily="2" charset="-122"/>
                <a:cs typeface="Times New Roman" panose="02020603050405020304" pitchFamily="18" charset="0"/>
              </a:rPr>
              <a:t>T</a:t>
            </a:r>
            <a:r>
              <a:rPr lang="zh-CN" altLang="zh-CN" sz="2400" b="0" dirty="0">
                <a:ea typeface="华文楷体" pitchFamily="2" charset="-122"/>
                <a:cs typeface="Times New Roman" panose="02020603050405020304" pitchFamily="18" charset="0"/>
              </a:rPr>
              <a:t>，选择点并入</a:t>
            </a:r>
            <a:r>
              <a:rPr lang="en-US" altLang="zh-CN" sz="2400" b="0" dirty="0">
                <a:ea typeface="华文楷体" pitchFamily="2" charset="-122"/>
                <a:cs typeface="Times New Roman" panose="02020603050405020304" pitchFamily="18" charset="0"/>
              </a:rPr>
              <a:t>U</a:t>
            </a:r>
            <a:r>
              <a:rPr lang="zh-CN" altLang="en-US" sz="2400" b="0" dirty="0">
                <a:ea typeface="华文楷体" pitchFamily="2" charset="-122"/>
                <a:cs typeface="Times New Roman" panose="02020603050405020304" pitchFamily="18" charset="0"/>
              </a:rPr>
              <a:t>；</a:t>
            </a:r>
            <a:r>
              <a:rPr lang="zh-CN" altLang="zh-CN" sz="2400" b="0" dirty="0">
                <a:ea typeface="华文楷体" pitchFamily="2" charset="-122"/>
                <a:cs typeface="Times New Roman" panose="02020603050405020304" pitchFamily="18" charset="0"/>
              </a:rPr>
              <a:t>进入</a:t>
            </a:r>
            <a:r>
              <a:rPr lang="en-US" altLang="zh-CN" sz="2400" b="0" dirty="0">
                <a:ea typeface="华文楷体" pitchFamily="2" charset="-122"/>
                <a:cs typeface="Times New Roman" panose="02020603050405020304" pitchFamily="18" charset="0"/>
              </a:rPr>
              <a:t>U</a:t>
            </a:r>
            <a:r>
              <a:rPr lang="zh-CN" altLang="zh-CN" sz="2400" b="0" dirty="0">
                <a:ea typeface="华文楷体" pitchFamily="2" charset="-122"/>
                <a:cs typeface="Times New Roman" panose="02020603050405020304" pitchFamily="18" charset="0"/>
              </a:rPr>
              <a:t>的顶点个数</a:t>
            </a:r>
            <a:r>
              <a:rPr lang="zh-CN" altLang="zh-CN" sz="2400" b="0" dirty="0">
                <a:solidFill>
                  <a:schemeClr val="accent1">
                    <a:lumMod val="60000"/>
                    <a:lumOff val="40000"/>
                  </a:schemeClr>
                </a:solidFill>
                <a:ea typeface="华文楷体" pitchFamily="2" charset="-122"/>
                <a:cs typeface="Times New Roman" panose="02020603050405020304" pitchFamily="18" charset="0"/>
              </a:rPr>
              <a:t>计数</a:t>
            </a:r>
            <a:r>
              <a:rPr lang="zh-CN" altLang="zh-CN" sz="2400" b="0" dirty="0">
                <a:ea typeface="华文楷体" pitchFamily="2" charset="-122"/>
                <a:cs typeface="Times New Roman" panose="02020603050405020304" pitchFamily="18" charset="0"/>
              </a:rPr>
              <a:t>并检查是否达到顶点总数，未达到则再次进入循环操作。</a:t>
            </a:r>
            <a:endParaRPr lang="en-US" altLang="zh-CN" sz="24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t>Prim</a:t>
            </a:r>
            <a:r>
              <a:rPr lang="zh-CN" altLang="en-US" dirty="0"/>
              <a:t>算法实现：</a:t>
            </a:r>
          </a:p>
        </p:txBody>
      </p:sp>
    </p:spTree>
    <p:extLst>
      <p:ext uri="{BB962C8B-B14F-4D97-AF65-F5344CB8AC3E}">
        <p14:creationId xmlns:p14="http://schemas.microsoft.com/office/powerpoint/2010/main" val="382954045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8067857" cy="4961207"/>
          </a:xfrm>
        </p:spPr>
        <p:txBody>
          <a:bodyPr>
            <a:noAutofit/>
          </a:bodyPr>
          <a:lstStyle/>
          <a:p>
            <a:pPr marL="0" indent="0">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edgeType</a:t>
            </a:r>
            <a:r>
              <a:rPr lang="en-US" altLang="zh-CN" sz="2800" b="0" dirty="0">
                <a:ea typeface="华文楷体" panose="02010600040101010101" pitchFamily="2" charset="-122"/>
                <a:cs typeface="Times New Roman" panose="02020603050405020304" pitchFamily="18" charset="0"/>
              </a:rPr>
              <a:t>&gt;</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err="1">
                <a:ea typeface="华文楷体" panose="02010600040101010101" pitchFamily="2" charset="-122"/>
                <a:cs typeface="Times New Roman" panose="02020603050405020304" pitchFamily="18" charset="0"/>
              </a:rPr>
              <a:t>struct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primNode</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from; //</a:t>
            </a:r>
            <a:r>
              <a:rPr lang="zh-CN" altLang="en-US" sz="2800" b="0" dirty="0">
                <a:ea typeface="华文楷体" panose="02010600040101010101" pitchFamily="2" charset="-122"/>
                <a:cs typeface="Times New Roman" panose="02020603050405020304" pitchFamily="18" charset="0"/>
              </a:rPr>
              <a:t>边的一个邻接点</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to;   //</a:t>
            </a:r>
            <a:r>
              <a:rPr lang="zh-CN" altLang="en-US" sz="2800" b="0" dirty="0">
                <a:ea typeface="华文楷体" panose="02010600040101010101" pitchFamily="2" charset="-122"/>
                <a:cs typeface="Times New Roman" panose="02020603050405020304" pitchFamily="18" charset="0"/>
              </a:rPr>
              <a:t>边的另外一个邻接点</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edgeType</a:t>
            </a:r>
            <a:r>
              <a:rPr lang="en-US" altLang="zh-CN" sz="2800" b="0" dirty="0">
                <a:ea typeface="华文楷体" panose="02010600040101010101" pitchFamily="2" charset="-122"/>
                <a:cs typeface="Times New Roman" panose="02020603050405020304" pitchFamily="18" charset="0"/>
              </a:rPr>
              <a:t> weight; //</a:t>
            </a:r>
            <a:r>
              <a:rPr lang="zh-CN" altLang="en-US" sz="2800" b="0" dirty="0">
                <a:ea typeface="华文楷体" panose="02010600040101010101" pitchFamily="2" charset="-122"/>
                <a:cs typeface="Times New Roman" panose="02020603050405020304" pitchFamily="18" charset="0"/>
              </a:rPr>
              <a:t>边的权值</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t>Prim</a:t>
            </a:r>
            <a:r>
              <a:rPr lang="zh-CN" altLang="en-US" dirty="0"/>
              <a:t>算法实现：</a:t>
            </a:r>
          </a:p>
        </p:txBody>
      </p:sp>
    </p:spTree>
    <p:extLst>
      <p:ext uri="{BB962C8B-B14F-4D97-AF65-F5344CB8AC3E}">
        <p14:creationId xmlns:p14="http://schemas.microsoft.com/office/powerpoint/2010/main" val="428410567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664341"/>
            <a:ext cx="11347770" cy="582218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&gt;::Prim() 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*source;  //</a:t>
            </a:r>
            <a:r>
              <a:rPr lang="zh-CN" altLang="zh-CN" b="0" dirty="0">
                <a:ea typeface="华文楷体" panose="02010600040101010101" pitchFamily="2" charset="-122"/>
                <a:cs typeface="Times New Roman" panose="02020603050405020304" pitchFamily="18" charset="0"/>
              </a:rPr>
              <a:t>记录源顶点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记录顶点到</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集合中的距离</a:t>
            </a:r>
          </a:p>
          <a:p>
            <a:pPr marL="0" indent="0">
              <a:buNone/>
            </a:pPr>
            <a:r>
              <a:rPr lang="en-US" altLang="zh-CN" b="0" dirty="0">
                <a:ea typeface="华文楷体" panose="02010600040101010101" pitchFamily="2" charset="-122"/>
                <a:cs typeface="Times New Roman" panose="02020603050405020304" pitchFamily="18" charset="0"/>
              </a:rPr>
              <a:t>    bool *selected; //</a:t>
            </a:r>
            <a:r>
              <a:rPr lang="zh-CN" altLang="zh-CN" b="0" dirty="0">
                <a:ea typeface="华文楷体" panose="02010600040101010101" pitchFamily="2" charset="-122"/>
                <a:cs typeface="Times New Roman" panose="02020603050405020304" pitchFamily="18" charset="0"/>
              </a:rPr>
              <a:t>记录顶点是否已经到</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中</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primNode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最小生成树中的边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sum; //</a:t>
            </a:r>
            <a:r>
              <a:rPr lang="zh-CN" altLang="zh-CN" b="0" dirty="0">
                <a:ea typeface="华文楷体" panose="02010600040101010101" pitchFamily="2" charset="-122"/>
                <a:cs typeface="Times New Roman" panose="02020603050405020304" pitchFamily="18" charset="0"/>
              </a:rPr>
              <a:t>最小生成树的权值和</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记录集合</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中顶点的个数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min; //</a:t>
            </a:r>
            <a:r>
              <a:rPr lang="zh-CN" altLang="zh-CN" b="0" dirty="0">
                <a:ea typeface="华文楷体" panose="02010600040101010101" pitchFamily="2" charset="-122"/>
                <a:cs typeface="Times New Roman" panose="02020603050405020304" pitchFamily="18" charset="0"/>
              </a:rPr>
              <a:t>选出当前</a:t>
            </a:r>
            <a:r>
              <a:rPr lang="en-US" altLang="zh-CN" b="0" dirty="0">
                <a:ea typeface="华文楷体" panose="02010600040101010101" pitchFamily="2" charset="-122"/>
                <a:cs typeface="Times New Roman" panose="02020603050405020304" pitchFamily="18" charset="0"/>
              </a:rPr>
              <a:t>W</a:t>
            </a:r>
            <a:r>
              <a:rPr lang="zh-CN" altLang="zh-CN" b="0" dirty="0">
                <a:ea typeface="华文楷体" panose="02010600040101010101" pitchFamily="2" charset="-122"/>
                <a:cs typeface="Times New Roman" panose="02020603050405020304" pitchFamily="18" charset="0"/>
              </a:rPr>
              <a:t>中离集合</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最短的顶点下标</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a:t>
            </a:r>
            <a:r>
              <a:rPr lang="en-US" altLang="zh-CN" b="0" dirty="0" err="1">
                <a:ea typeface="华文楷体" panose="02010600040101010101" pitchFamily="2" charset="-122"/>
                <a:cs typeface="Times New Roman" panose="02020603050405020304" pitchFamily="18" charset="0"/>
              </a:rPr>
              <a:t>selVert</a:t>
            </a:r>
            <a:r>
              <a:rPr lang="zh-CN" altLang="en-US"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1540891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684219"/>
            <a:ext cx="6557109" cy="5796094"/>
          </a:xfrm>
        </p:spPr>
        <p:txBody>
          <a:bodyPr>
            <a:no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创建动态空间</a:t>
            </a:r>
          </a:p>
          <a:p>
            <a:pPr marL="0" indent="0">
              <a:buNone/>
            </a:pPr>
            <a:r>
              <a:rPr lang="en-US" altLang="zh-CN" b="0" dirty="0">
                <a:ea typeface="华文楷体" panose="02010600040101010101" pitchFamily="2" charset="-122"/>
                <a:cs typeface="Times New Roman" panose="02020603050405020304" pitchFamily="18" charset="0"/>
              </a:rPr>
              <a:t>    source = new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selected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primNode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&gt;[verts-1];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source[</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]=9999; //</a:t>
            </a:r>
            <a:r>
              <a:rPr lang="zh-CN" altLang="zh-CN" b="0" dirty="0">
                <a:ea typeface="华文楷体" panose="02010600040101010101" pitchFamily="2" charset="-122"/>
                <a:cs typeface="Times New Roman" panose="02020603050405020304" pitchFamily="18" charset="0"/>
              </a:rPr>
              <a:t>用一个很大的值表示无穷大</a:t>
            </a:r>
          </a:p>
          <a:p>
            <a:pPr marL="0" indent="0">
              <a:buNone/>
            </a:pPr>
            <a:r>
              <a:rPr lang="en-US" altLang="zh-CN" b="0" dirty="0">
                <a:ea typeface="华文楷体" panose="02010600040101010101" pitchFamily="2" charset="-122"/>
                <a:cs typeface="Times New Roman" panose="02020603050405020304" pitchFamily="18" charset="0"/>
              </a:rPr>
              <a:t>        selected[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false;    }</a:t>
            </a:r>
            <a:endParaRPr lang="zh-CN" altLang="zh-CN" b="0" dirty="0">
              <a:ea typeface="华文楷体" panose="02010600040101010101" pitchFamily="2" charset="-122"/>
              <a:cs typeface="Times New Roman" panose="02020603050405020304" pitchFamily="18" charset="0"/>
            </a:endParaRPr>
          </a:p>
        </p:txBody>
      </p:sp>
      <p:sp>
        <p:nvSpPr>
          <p:cNvPr id="3" name="Rectangle 3"/>
          <p:cNvSpPr txBox="1">
            <a:spLocks noChangeArrowheads="1"/>
          </p:cNvSpPr>
          <p:nvPr/>
        </p:nvSpPr>
        <p:spPr>
          <a:xfrm>
            <a:off x="6957391" y="1467829"/>
            <a:ext cx="4933718" cy="501248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选中一个顶点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chemeClr val="accent1">
                    <a:lumMod val="60000"/>
                    <a:lumOff val="40000"/>
                  </a:schemeClr>
                </a:solidFill>
                <a:ea typeface="华文楷体" panose="02010600040101010101" pitchFamily="2" charset="-122"/>
                <a:cs typeface="Times New Roman" panose="02020603050405020304" pitchFamily="18" charset="0"/>
              </a:rPr>
              <a:t>selVert</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 = 0;</a:t>
            </a:r>
            <a:endParaRPr lang="zh-CN" altLang="zh-CN"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source[0]=0;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[0]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selected[0]=true;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&lt;verts)   //</a:t>
            </a:r>
            <a:r>
              <a:rPr lang="zh-CN" altLang="en-US" b="0" dirty="0">
                <a:ea typeface="华文楷体" panose="02010600040101010101" pitchFamily="2" charset="-122"/>
                <a:cs typeface="Times New Roman" panose="02020603050405020304" pitchFamily="18" charset="0"/>
              </a:rPr>
              <a:t> 外循环</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957391" y="1467829"/>
            <a:ext cx="0" cy="53901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96688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91" y="1439593"/>
            <a:ext cx="11188744" cy="498108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检查</a:t>
            </a:r>
            <a:r>
              <a:rPr lang="en-US" altLang="zh-CN" b="0" dirty="0" err="1">
                <a:ea typeface="华文楷体" panose="02010600040101010101" pitchFamily="2" charset="-122"/>
                <a:cs typeface="Times New Roman" panose="02020603050405020304" pitchFamily="18" charset="0"/>
              </a:rPr>
              <a:t>selVert</a:t>
            </a:r>
            <a:r>
              <a:rPr lang="zh-CN" altLang="zh-CN" b="0" dirty="0">
                <a:ea typeface="华文楷体" panose="02010600040101010101" pitchFamily="2" charset="-122"/>
                <a:cs typeface="Times New Roman" panose="02020603050405020304" pitchFamily="18" charset="0"/>
              </a:rPr>
              <a:t>的所有仍在</a:t>
            </a:r>
            <a:r>
              <a:rPr lang="en-US" altLang="zh-CN" b="0" dirty="0">
                <a:ea typeface="华文楷体" panose="02010600040101010101" pitchFamily="2" charset="-122"/>
                <a:cs typeface="Times New Roman" panose="02020603050405020304" pitchFamily="18" charset="0"/>
              </a:rPr>
              <a:t>W</a:t>
            </a:r>
            <a:r>
              <a:rPr lang="zh-CN" altLang="zh-CN" b="0" dirty="0">
                <a:ea typeface="华文楷体" panose="02010600040101010101" pitchFamily="2" charset="-122"/>
                <a:cs typeface="Times New Roman" panose="02020603050405020304" pitchFamily="18" charset="0"/>
              </a:rPr>
              <a:t>中的邻接点，如有需要查新它的信息</a:t>
            </a:r>
          </a:p>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selVert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(!selected[p-&gt;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]&amp;&amp;(</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highlight>
                  <a:srgbClr val="FFFF00"/>
                </a:highlight>
                <a:ea typeface="华文楷体" panose="02010600040101010101" pitchFamily="2" charset="-122"/>
                <a:cs typeface="Times New Roman" panose="02020603050405020304" pitchFamily="18" charset="0"/>
              </a:rPr>
              <a:t>&gt;</a:t>
            </a: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p-&gt;weight))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source[p-&gt;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selVert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p-&gt;weight;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7506204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500" y="863124"/>
            <a:ext cx="11188744" cy="498108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选择</a:t>
            </a:r>
            <a:r>
              <a:rPr lang="en-US" altLang="zh-CN" b="0" dirty="0">
                <a:ea typeface="华文楷体" panose="02010600040101010101" pitchFamily="2" charset="-122"/>
                <a:cs typeface="Times New Roman" panose="02020603050405020304" pitchFamily="18" charset="0"/>
              </a:rPr>
              <a:t>W</a:t>
            </a:r>
            <a:r>
              <a:rPr lang="zh-CN" altLang="zh-CN" b="0" dirty="0">
                <a:ea typeface="华文楷体" panose="02010600040101010101" pitchFamily="2" charset="-122"/>
                <a:cs typeface="Times New Roman" panose="02020603050405020304" pitchFamily="18" charset="0"/>
              </a:rPr>
              <a:t>中离</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最近的顶点，即</a:t>
            </a:r>
            <a:r>
              <a:rPr lang="en-US" altLang="zh-CN" b="0" dirty="0" err="1">
                <a:ea typeface="华文楷体" panose="02010600040101010101" pitchFamily="2" charset="-122"/>
                <a:cs typeface="Times New Roman" panose="02020603050405020304" pitchFamily="18" charset="0"/>
              </a:rPr>
              <a:t>dist</a:t>
            </a:r>
            <a:r>
              <a:rPr lang="zh-CN" altLang="zh-CN" b="0" dirty="0">
                <a:ea typeface="华文楷体" panose="02010600040101010101" pitchFamily="2" charset="-122"/>
                <a:cs typeface="Times New Roman" panose="02020603050405020304" pitchFamily="18" charset="0"/>
              </a:rPr>
              <a:t>最小的值</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(!selected[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min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(j=i+1;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(!selected[j] &amp;&amp;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[j]&lt;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[min]) min =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12060822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500" y="863124"/>
            <a:ext cx="11188744" cy="4981086"/>
          </a:xfrm>
        </p:spPr>
        <p:txBody>
          <a:bodyPr>
            <a:noAutofit/>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将最近的顶点并入</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并将对应的边并于最小生成树</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selVert</a:t>
            </a:r>
            <a:r>
              <a:rPr lang="en-US" altLang="zh-CN" b="0" dirty="0">
                <a:ea typeface="华文楷体" panose="02010600040101010101" pitchFamily="2" charset="-122"/>
                <a:cs typeface="Times New Roman" panose="02020603050405020304" pitchFamily="18" charset="0"/>
              </a:rPr>
              <a:t> = 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selected[min]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[cnt-1].from = source[min];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[cnt-1].to = 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treeEdges</a:t>
            </a:r>
            <a:r>
              <a:rPr lang="en-US" altLang="zh-CN" b="0" dirty="0">
                <a:ea typeface="华文楷体" panose="02010600040101010101" pitchFamily="2" charset="-122"/>
                <a:cs typeface="Times New Roman" panose="02020603050405020304" pitchFamily="18" charset="0"/>
              </a:rPr>
              <a:t>[cnt-1].weight =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[min];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9589749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43532" y="752659"/>
            <a:ext cx="11162884"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Prim</a:t>
            </a:r>
            <a:r>
              <a:rPr lang="zh-CN" altLang="en-US" dirty="0">
                <a:latin typeface="华文楷体" panose="02010600040101010101" pitchFamily="2" charset="-122"/>
                <a:ea typeface="华文楷体" panose="02010600040101010101" pitchFamily="2" charset="-122"/>
              </a:rPr>
              <a:t>算法性能分析：</a:t>
            </a:r>
          </a:p>
        </p:txBody>
      </p:sp>
      <mc:AlternateContent xmlns:mc="http://schemas.openxmlformats.org/markup-compatibility/2006" xmlns:a14="http://schemas.microsoft.com/office/drawing/2010/main">
        <mc:Choice Requires="a14">
          <p:sp>
            <p:nvSpPr>
              <p:cNvPr id="3" name="Rectangle 3"/>
              <p:cNvSpPr>
                <a:spLocks noChangeArrowheads="1"/>
              </p:cNvSpPr>
              <p:nvPr/>
            </p:nvSpPr>
            <p:spPr bwMode="auto">
              <a:xfrm>
                <a:off x="243532" y="1873066"/>
                <a:ext cx="11246102" cy="35394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程序中，外循环体每执行一次找到一个选择点，共执行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次。</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indent="0"/>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外循环体内有两个串行操作：</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971550" lvl="1" indent="-514350">
                  <a:buFont typeface="+mj-lt"/>
                  <a:buAutoNum type="arabicPeriod"/>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沿着当前选择点遍历其边表一遍，当整个外循环执行完毕时共访问边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次，总时间消耗为</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n+e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971550" lvl="1" indent="-514350">
                  <a:buFont typeface="+mj-lt"/>
                  <a:buAutoNum type="arabicPeriod"/>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中选择</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dist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最小的顶点，时间消耗为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，当整个外循环执行完毕时共访问边</a:t>
                </a:r>
                <a14:m>
                  <m:oMath xmlns:m="http://schemas.openxmlformats.org/officeDocument/2006/math">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次，总时间消耗为</a:t>
                </a:r>
                <a14:m>
                  <m:oMath xmlns:m="http://schemas.openxmlformats.org/officeDocument/2006/math">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故</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Prim</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算法的时间复杂度为</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Rectangle 3"/>
              <p:cNvSpPr>
                <a:spLocks noRot="1" noChangeAspect="1" noMove="1" noResize="1" noEditPoints="1" noAdjustHandles="1" noChangeArrowheads="1" noChangeShapeType="1" noTextEdit="1"/>
              </p:cNvSpPr>
              <p:nvPr/>
            </p:nvSpPr>
            <p:spPr bwMode="auto">
              <a:xfrm>
                <a:off x="243532" y="1873066"/>
                <a:ext cx="11246102" cy="3539430"/>
              </a:xfrm>
              <a:prstGeom prst="rect">
                <a:avLst/>
              </a:prstGeom>
              <a:blipFill>
                <a:blip r:embed="rId3"/>
                <a:stretch>
                  <a:fillRect l="-976" t="-154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 name="椭圆 1"/>
          <p:cNvSpPr/>
          <p:nvPr/>
        </p:nvSpPr>
        <p:spPr>
          <a:xfrm>
            <a:off x="11658600" y="6386513"/>
            <a:ext cx="142875" cy="2143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52052648-9B53-498C-8129-FD31B35155BF}"/>
              </a:ext>
            </a:extLst>
          </p:cNvPr>
          <p:cNvSpPr txBox="1"/>
          <p:nvPr/>
        </p:nvSpPr>
        <p:spPr>
          <a:xfrm>
            <a:off x="6450904" y="5089330"/>
            <a:ext cx="4801314" cy="646331"/>
          </a:xfrm>
          <a:prstGeom prst="rect">
            <a:avLst/>
          </a:prstGeom>
          <a:noFill/>
        </p:spPr>
        <p:txBody>
          <a:bodyPr wrap="none" rtlCol="0">
            <a:spAutoFit/>
          </a:bodyPr>
          <a:lstStyle/>
          <a:p>
            <a:r>
              <a:rPr lang="zh-CN" altLang="en-US" sz="3600" dirty="0">
                <a:solidFill>
                  <a:srgbClr val="FF0000"/>
                </a:solidFill>
              </a:rPr>
              <a:t>思考：性能改进方案？</a:t>
            </a:r>
          </a:p>
        </p:txBody>
      </p:sp>
    </p:spTree>
    <p:extLst>
      <p:ext uri="{BB962C8B-B14F-4D97-AF65-F5344CB8AC3E}">
        <p14:creationId xmlns:p14="http://schemas.microsoft.com/office/powerpoint/2010/main" val="367322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43532" y="752659"/>
            <a:ext cx="11162884"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Prim</a:t>
            </a:r>
            <a:r>
              <a:rPr lang="zh-CN" altLang="en-US" dirty="0">
                <a:latin typeface="华文楷体" panose="02010600040101010101" pitchFamily="2" charset="-122"/>
                <a:ea typeface="华文楷体" panose="02010600040101010101" pitchFamily="2" charset="-122"/>
              </a:rPr>
              <a:t>算法改进</a:t>
            </a:r>
          </a:p>
        </p:txBody>
      </p:sp>
      <mc:AlternateContent xmlns:mc="http://schemas.openxmlformats.org/markup-compatibility/2006" xmlns:a14="http://schemas.microsoft.com/office/drawing/2010/main">
        <mc:Choice Requires="a14">
          <p:sp>
            <p:nvSpPr>
              <p:cNvPr id="3" name="Rectangle 3"/>
              <p:cNvSpPr>
                <a:spLocks noChangeArrowheads="1"/>
              </p:cNvSpPr>
              <p:nvPr/>
            </p:nvSpPr>
            <p:spPr bwMode="auto">
              <a:xfrm>
                <a:off x="160314" y="966789"/>
                <a:ext cx="11246102" cy="310854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1"/>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一个改进思路</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在查找</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dist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最小值时，使用最小化堆</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indent="0"/>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914400" lvl="1"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建堆的时间为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，建堆</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放</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在外循环之外</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914400" lvl="1"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取小顶的时间为</a:t>
                </a:r>
                <a14:m>
                  <m:oMath xmlns:m="http://schemas.openxmlformats.org/officeDocument/2006/math">
                    <m:func>
                      <m:funcPr>
                        <m:ctrlPr>
                          <a:rPr lang="zh-CN" altLang="zh-CN" sz="2800" i="1">
                            <a:latin typeface="Cambria Math" panose="02040503050406030204" pitchFamily="18" charset="0"/>
                          </a:rPr>
                        </m:ctrlPr>
                      </m:funcPr>
                      <m:fName>
                        <m:sSub>
                          <m:sSubPr>
                            <m:ctrlPr>
                              <a:rPr lang="zh-CN" altLang="zh-CN" sz="2800" i="1">
                                <a:latin typeface="Cambria Math" panose="02040503050406030204" pitchFamily="18" charset="0"/>
                              </a:rPr>
                            </m:ctrlPr>
                          </m:sSubPr>
                          <m:e>
                            <m:r>
                              <m:rPr>
                                <m:sty m:val="p"/>
                              </m:rPr>
                              <a:rPr lang="en-US" altLang="zh-CN" sz="2800">
                                <a:latin typeface="Cambria Math" panose="02040503050406030204" pitchFamily="18" charset="0"/>
                              </a:rPr>
                              <m:t>log</m:t>
                            </m:r>
                          </m:e>
                          <m:sub>
                            <m:r>
                              <a:rPr lang="en-US" altLang="zh-CN" sz="2800">
                                <a:latin typeface="Cambria Math" panose="02040503050406030204" pitchFamily="18" charset="0"/>
                              </a:rPr>
                              <m:t>2</m:t>
                            </m:r>
                          </m:sub>
                        </m:sSub>
                      </m:fName>
                      <m:e>
                        <m:r>
                          <a:rPr lang="en-US" altLang="zh-CN" sz="2800">
                            <a:latin typeface="Cambria Math" panose="02040503050406030204" pitchFamily="18" charset="0"/>
                          </a:rPr>
                          <m:t>𝑛</m:t>
                        </m:r>
                      </m:e>
                    </m:func>
                  </m:oMath>
                </a14:m>
                <a:endParaRPr lang="en-US" altLang="zh-CN" sz="2800" dirty="0">
                  <a:latin typeface="Times New Roman" panose="02020603050405020304" pitchFamily="18" charset="0"/>
                </a:endParaRPr>
              </a:p>
              <a:p>
                <a:pPr lvl="1"/>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lvl="1"/>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算法时间复杂度可达</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r>
                          <a:rPr lang="en-US" altLang="zh-CN" sz="2800">
                            <a:latin typeface="Cambria Math" panose="02040503050406030204" pitchFamily="18" charset="0"/>
                          </a:rPr>
                          <m:t>𝑛</m:t>
                        </m:r>
                        <m:func>
                          <m:funcPr>
                            <m:ctrlPr>
                              <a:rPr lang="zh-CN" altLang="zh-CN" sz="2800" i="1">
                                <a:latin typeface="Cambria Math" panose="02040503050406030204" pitchFamily="18" charset="0"/>
                              </a:rPr>
                            </m:ctrlPr>
                          </m:funcPr>
                          <m:fName>
                            <m:sSub>
                              <m:sSubPr>
                                <m:ctrlPr>
                                  <a:rPr lang="zh-CN" altLang="zh-CN" sz="2800" i="1">
                                    <a:latin typeface="Cambria Math" panose="02040503050406030204" pitchFamily="18" charset="0"/>
                                  </a:rPr>
                                </m:ctrlPr>
                              </m:sSubPr>
                              <m:e>
                                <m:r>
                                  <m:rPr>
                                    <m:sty m:val="p"/>
                                  </m:rPr>
                                  <a:rPr lang="en-US" altLang="zh-CN" sz="2800">
                                    <a:latin typeface="Cambria Math" panose="02040503050406030204" pitchFamily="18" charset="0"/>
                                  </a:rPr>
                                  <m:t>log</m:t>
                                </m:r>
                              </m:e>
                              <m:sub>
                                <m:r>
                                  <a:rPr lang="en-US" altLang="zh-CN" sz="2800">
                                    <a:latin typeface="Cambria Math" panose="02040503050406030204" pitchFamily="18" charset="0"/>
                                  </a:rPr>
                                  <m:t>2</m:t>
                                </m:r>
                              </m:sub>
                            </m:sSub>
                          </m:fName>
                          <m:e>
                            <m:r>
                              <a:rPr lang="en-US" altLang="zh-CN" sz="2800">
                                <a:latin typeface="Cambria Math" panose="02040503050406030204" pitchFamily="18" charset="0"/>
                              </a:rPr>
                              <m:t>𝑛</m:t>
                            </m:r>
                          </m:e>
                        </m:func>
                      </m:e>
                    </m:d>
                  </m:oMath>
                </a14:m>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Rectangle 3"/>
              <p:cNvSpPr>
                <a:spLocks noRot="1" noChangeAspect="1" noMove="1" noResize="1" noEditPoints="1" noAdjustHandles="1" noChangeArrowheads="1" noChangeShapeType="1" noTextEdit="1"/>
              </p:cNvSpPr>
              <p:nvPr/>
            </p:nvSpPr>
            <p:spPr bwMode="auto">
              <a:xfrm>
                <a:off x="160314" y="966789"/>
                <a:ext cx="11246102" cy="3108543"/>
              </a:xfrm>
              <a:prstGeom prst="rect">
                <a:avLst/>
              </a:prstGeom>
              <a:blipFill>
                <a:blip r:embed="rId3"/>
                <a:stretch>
                  <a:fillRect l="-921" b="-490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 name="椭圆 1"/>
          <p:cNvSpPr/>
          <p:nvPr/>
        </p:nvSpPr>
        <p:spPr>
          <a:xfrm>
            <a:off x="11658600" y="6386513"/>
            <a:ext cx="142875" cy="2143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8027624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en-US" altLang="zh-CN" sz="2800" dirty="0">
                <a:ea typeface="华文楷体" pitchFamily="2" charset="-122"/>
                <a:cs typeface="Times New Roman" panose="02020603050405020304" pitchFamily="18" charset="0"/>
              </a:rPr>
              <a:t>Prim</a:t>
            </a:r>
            <a:r>
              <a:rPr lang="zh-CN" altLang="zh-CN" sz="2800" dirty="0">
                <a:ea typeface="华文楷体" pitchFamily="2" charset="-122"/>
                <a:cs typeface="Times New Roman" panose="02020603050405020304" pitchFamily="18" charset="0"/>
              </a:rPr>
              <a:t> </a:t>
            </a:r>
            <a:r>
              <a:rPr lang="en-US" altLang="zh-CN" sz="2800" dirty="0">
                <a:ea typeface="华文楷体" panose="02010600040101010101" pitchFamily="2" charset="-122"/>
                <a:cs typeface="Times New Roman" panose="02020603050405020304" pitchFamily="18" charset="0"/>
              </a:rPr>
              <a:t>(</a:t>
            </a:r>
            <a:r>
              <a:rPr lang="zh-CN" altLang="zh-CN" sz="2800" dirty="0">
                <a:ea typeface="华文楷体" pitchFamily="2" charset="-122"/>
                <a:cs typeface="Times New Roman" panose="02020603050405020304" pitchFamily="18" charset="0"/>
              </a:rPr>
              <a:t>普里姆</a:t>
            </a:r>
            <a:r>
              <a:rPr lang="en-US" altLang="zh-CN" sz="2800" dirty="0">
                <a:ea typeface="华文楷体" panose="02010600040101010101" pitchFamily="2" charset="-122"/>
                <a:cs typeface="Times New Roman" panose="02020603050405020304" pitchFamily="18" charset="0"/>
              </a:rPr>
              <a:t>)</a:t>
            </a:r>
            <a:r>
              <a:rPr lang="zh-CN" altLang="en-US" sz="2800" dirty="0">
                <a:ea typeface="华文楷体" pitchFamily="2" charset="-122"/>
                <a:cs typeface="Times New Roman" panose="02020603050405020304" pitchFamily="18" charset="0"/>
              </a:rPr>
              <a:t>算法</a:t>
            </a:r>
            <a:endParaRPr lang="en-US" altLang="zh-CN" sz="2800" dirty="0">
              <a:ea typeface="华文楷体" pitchFamily="2" charset="-122"/>
              <a:cs typeface="Times New Roman" panose="02020603050405020304" pitchFamily="18" charset="0"/>
            </a:endParaRPr>
          </a:p>
          <a:p>
            <a:pPr>
              <a:lnSpc>
                <a:spcPct val="115000"/>
              </a:lnSpc>
              <a:buFont typeface="Wingdings" panose="05000000000000000000" pitchFamily="2" charset="2"/>
              <a:buChar char="n"/>
              <a:defRPr/>
            </a:pPr>
            <a:r>
              <a:rPr lang="en-US" altLang="zh-CN" sz="2800" dirty="0">
                <a:solidFill>
                  <a:srgbClr val="FF0000"/>
                </a:solidFill>
                <a:ea typeface="华文楷体" pitchFamily="2" charset="-122"/>
                <a:cs typeface="Times New Roman" panose="02020603050405020304" pitchFamily="18" charset="0"/>
              </a:rPr>
              <a:t> </a:t>
            </a:r>
            <a:r>
              <a:rPr lang="en-US" altLang="zh-CN" sz="2800" b="0" dirty="0" err="1">
                <a:solidFill>
                  <a:srgbClr val="FF0000"/>
                </a:solidFill>
                <a:ea typeface="华文楷体" panose="02010600040101010101" pitchFamily="2" charset="-122"/>
                <a:cs typeface="Times New Roman" panose="02020603050405020304" pitchFamily="18" charset="0"/>
              </a:rPr>
              <a:t>Kruscal</a:t>
            </a:r>
            <a:r>
              <a:rPr lang="en-US" altLang="zh-CN" sz="2800" b="0" dirty="0">
                <a:solidFill>
                  <a:srgbClr val="FF0000"/>
                </a:solidFill>
                <a:ea typeface="华文楷体" panose="02010600040101010101" pitchFamily="2" charset="-122"/>
                <a:cs typeface="Times New Roman" panose="02020603050405020304" pitchFamily="18" charset="0"/>
              </a:rPr>
              <a:t> </a:t>
            </a:r>
            <a:r>
              <a:rPr lang="en-US" altLang="zh-CN" sz="2800" dirty="0">
                <a:solidFill>
                  <a:srgbClr val="FF0000"/>
                </a:solidFill>
                <a:ea typeface="华文楷体" panose="02010600040101010101" pitchFamily="2" charset="-122"/>
                <a:cs typeface="Times New Roman" panose="02020603050405020304" pitchFamily="18" charset="0"/>
              </a:rPr>
              <a:t>(</a:t>
            </a:r>
            <a:r>
              <a:rPr lang="zh-CN" altLang="zh-CN" sz="2800" dirty="0">
                <a:solidFill>
                  <a:srgbClr val="FF0000"/>
                </a:solidFill>
                <a:ea typeface="华文楷体" pitchFamily="2" charset="-122"/>
                <a:cs typeface="Times New Roman" panose="02020603050405020304" pitchFamily="18" charset="0"/>
              </a:rPr>
              <a:t>克鲁斯卡尔</a:t>
            </a:r>
            <a:r>
              <a:rPr lang="en-US" altLang="zh-CN" sz="2800" dirty="0">
                <a:solidFill>
                  <a:srgbClr val="FF0000"/>
                </a:solidFill>
                <a:ea typeface="华文楷体" panose="02010600040101010101" pitchFamily="2" charset="-122"/>
                <a:cs typeface="Times New Roman" panose="02020603050405020304" pitchFamily="18" charset="0"/>
              </a:rPr>
              <a:t>)</a:t>
            </a:r>
            <a:r>
              <a:rPr lang="zh-CN" altLang="en-US" sz="2800" dirty="0">
                <a:solidFill>
                  <a:srgbClr val="FF0000"/>
                </a:solidFill>
                <a:ea typeface="华文楷体" pitchFamily="2" charset="-122"/>
                <a:cs typeface="Times New Roman" panose="02020603050405020304" pitchFamily="18" charset="0"/>
              </a:rPr>
              <a:t>算法</a:t>
            </a:r>
            <a:endParaRPr lang="en-US" altLang="zh-CN" sz="2800" dirty="0">
              <a:solidFill>
                <a:srgbClr val="FF0000"/>
              </a:solidFill>
              <a:ea typeface="华文楷体" pitchFamily="2" charset="-122"/>
              <a:cs typeface="Times New Roman" panose="02020603050405020304" pitchFamily="18" charset="0"/>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最小代价生成树：</a:t>
            </a:r>
          </a:p>
        </p:txBody>
      </p:sp>
    </p:spTree>
    <p:extLst>
      <p:ext uri="{BB962C8B-B14F-4D97-AF65-F5344CB8AC3E}">
        <p14:creationId xmlns:p14="http://schemas.microsoft.com/office/powerpoint/2010/main" val="364947166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598618"/>
            <a:ext cx="11327893" cy="2456547"/>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普里姆算法着眼于</a:t>
            </a:r>
            <a:r>
              <a:rPr lang="zh-CN" altLang="zh-CN" sz="2800" b="0" dirty="0">
                <a:solidFill>
                  <a:srgbClr val="00B0F0"/>
                </a:solidFill>
                <a:latin typeface="华文楷体" pitchFamily="2" charset="-122"/>
                <a:ea typeface="华文楷体" pitchFamily="2" charset="-122"/>
              </a:rPr>
              <a:t>顶点</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克鲁斯卡尔算法着眼于</a:t>
            </a:r>
            <a:r>
              <a:rPr lang="zh-CN" altLang="zh-CN" sz="2800" b="0" dirty="0">
                <a:solidFill>
                  <a:srgbClr val="00B0F0"/>
                </a:solidFill>
                <a:latin typeface="华文楷体" pitchFamily="2" charset="-122"/>
                <a:ea typeface="华文楷体" pitchFamily="2" charset="-122"/>
              </a:rPr>
              <a:t>边</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普里姆算法每次找距离最小的顶点，克鲁斯卡尔算法每次找</a:t>
            </a:r>
            <a:r>
              <a:rPr lang="zh-CN" altLang="zh-CN" sz="2800" b="0" dirty="0">
                <a:solidFill>
                  <a:srgbClr val="00B0F0"/>
                </a:solidFill>
                <a:latin typeface="华文楷体" pitchFamily="2" charset="-122"/>
                <a:ea typeface="华文楷体" pitchFamily="2" charset="-122"/>
              </a:rPr>
              <a:t>权值最小的边</a:t>
            </a:r>
            <a:r>
              <a:rPr lang="zh-CN" altLang="zh-CN" sz="2800" b="0" dirty="0">
                <a:latin typeface="华文楷体" pitchFamily="2" charset="-122"/>
                <a:ea typeface="华文楷体" pitchFamily="2" charset="-122"/>
              </a:rPr>
              <a:t>，然后以是否在已选择边形成的图中</a:t>
            </a:r>
            <a:r>
              <a:rPr lang="zh-CN" altLang="zh-CN" sz="2800" b="0" dirty="0">
                <a:solidFill>
                  <a:srgbClr val="FF0000"/>
                </a:solidFill>
                <a:latin typeface="华文楷体" pitchFamily="2" charset="-122"/>
                <a:ea typeface="华文楷体" pitchFamily="2" charset="-122"/>
              </a:rPr>
              <a:t>造成回路</a:t>
            </a:r>
            <a:r>
              <a:rPr lang="zh-CN" altLang="zh-CN" sz="2800" b="0" dirty="0">
                <a:latin typeface="华文楷体" pitchFamily="2" charset="-122"/>
                <a:ea typeface="华文楷体" pitchFamily="2" charset="-122"/>
              </a:rPr>
              <a:t>来判断它是否能加入最小代价生成树</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en-US" altLang="zh-CN" dirty="0" err="1"/>
              <a:t>Kruscal</a:t>
            </a:r>
            <a:r>
              <a:rPr lang="zh-CN" altLang="en-US" dirty="0"/>
              <a:t>算法：</a:t>
            </a:r>
            <a:r>
              <a:rPr lang="zh-CN" altLang="zh-CN" dirty="0">
                <a:latin typeface="华文楷体" pitchFamily="2" charset="-122"/>
                <a:ea typeface="华文楷体" pitchFamily="2" charset="-122"/>
              </a:rPr>
              <a:t>克鲁斯卡尔算法着眼于边</a:t>
            </a:r>
            <a:endParaRPr lang="zh-CN" altLang="en-US" dirty="0"/>
          </a:p>
        </p:txBody>
      </p:sp>
    </p:spTree>
    <p:extLst>
      <p:ext uri="{BB962C8B-B14F-4D97-AF65-F5344CB8AC3E}">
        <p14:creationId xmlns:p14="http://schemas.microsoft.com/office/powerpoint/2010/main" val="34177350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598618"/>
            <a:ext cx="11327893" cy="4802182"/>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对于一个无向连通图</a:t>
            </a:r>
            <a:r>
              <a:rPr lang="en-US" altLang="zh-CN" sz="2800" b="0" dirty="0">
                <a:ea typeface="华文楷体" pitchFamily="2" charset="-122"/>
                <a:cs typeface="Times New Roman" panose="02020603050405020304" pitchFamily="18" charset="0"/>
              </a:rPr>
              <a:t>G={V, E}</a:t>
            </a:r>
            <a:r>
              <a:rPr lang="zh-CN" altLang="zh-CN" sz="2800" b="0" dirty="0">
                <a:ea typeface="华文楷体" pitchFamily="2" charset="-122"/>
                <a:cs typeface="Times New Roman" panose="02020603050405020304" pitchFamily="18" charset="0"/>
              </a:rPr>
              <a:t>，其中</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是顶点的集合，</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是边的集合。算法开始时，令最小代价生成树</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φ</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，此时</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仅由图</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的</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个顶点构成，</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不包含图</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的任何一条边。</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最初这</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个顶点各自构成一个连通分量，共计</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个连通分量。</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算法是在图</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中选择</a:t>
            </a:r>
            <a:r>
              <a:rPr lang="zh-CN" altLang="zh-CN" sz="2800" b="0" dirty="0">
                <a:solidFill>
                  <a:schemeClr val="accent1">
                    <a:lumMod val="60000"/>
                    <a:lumOff val="40000"/>
                  </a:schemeClr>
                </a:solidFill>
                <a:ea typeface="华文楷体" pitchFamily="2" charset="-122"/>
                <a:cs typeface="Times New Roman" panose="02020603050405020304" pitchFamily="18" charset="0"/>
              </a:rPr>
              <a:t>权值最小</a:t>
            </a:r>
            <a:r>
              <a:rPr lang="zh-CN" altLang="zh-CN" sz="2800" b="0" dirty="0">
                <a:ea typeface="华文楷体" pitchFamily="2" charset="-122"/>
                <a:cs typeface="Times New Roman" panose="02020603050405020304" pitchFamily="18" charset="0"/>
              </a:rPr>
              <a:t>的边，如果该边加入</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后会使已有的图</a:t>
            </a:r>
            <a:r>
              <a:rPr lang="zh-CN" altLang="zh-CN" sz="2800" b="0" dirty="0">
                <a:solidFill>
                  <a:srgbClr val="FF0000"/>
                </a:solidFill>
                <a:ea typeface="华文楷体" pitchFamily="2" charset="-122"/>
                <a:cs typeface="Times New Roman" panose="02020603050405020304" pitchFamily="18" charset="0"/>
              </a:rPr>
              <a:t>形成回路</a:t>
            </a:r>
            <a:r>
              <a:rPr lang="zh-CN" altLang="zh-CN" sz="2800" b="0" dirty="0">
                <a:ea typeface="华文楷体" pitchFamily="2" charset="-122"/>
                <a:cs typeface="Times New Roman" panose="02020603050405020304" pitchFamily="18" charset="0"/>
              </a:rPr>
              <a:t>则</a:t>
            </a:r>
            <a:r>
              <a:rPr lang="zh-CN" altLang="zh-CN" sz="2800" b="0" dirty="0">
                <a:solidFill>
                  <a:srgbClr val="FF0000"/>
                </a:solidFill>
                <a:ea typeface="华文楷体" pitchFamily="2" charset="-122"/>
                <a:cs typeface="Times New Roman" panose="02020603050405020304" pitchFamily="18" charset="0"/>
              </a:rPr>
              <a:t>放弃</a:t>
            </a:r>
            <a:r>
              <a:rPr lang="zh-CN" altLang="zh-CN" sz="2800" b="0" dirty="0">
                <a:ea typeface="华文楷体" pitchFamily="2" charset="-122"/>
                <a:cs typeface="Times New Roman" panose="02020603050405020304" pitchFamily="18" charset="0"/>
              </a:rPr>
              <a:t>该边，否则将其并入</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反复循环，直到</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中边的条数达到</a:t>
            </a:r>
            <a:r>
              <a:rPr lang="en-US" altLang="zh-CN" sz="2800" b="0" dirty="0">
                <a:ea typeface="华文楷体" pitchFamily="2" charset="-122"/>
                <a:cs typeface="Times New Roman" panose="02020603050405020304" pitchFamily="18" charset="0"/>
              </a:rPr>
              <a:t>n-1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en-US" altLang="zh-CN" dirty="0" err="1"/>
              <a:t>Kruscal</a:t>
            </a:r>
            <a:r>
              <a:rPr lang="zh-CN" altLang="en-US" dirty="0"/>
              <a:t>算法思想：</a:t>
            </a:r>
          </a:p>
        </p:txBody>
      </p:sp>
    </p:spTree>
    <p:extLst>
      <p:ext uri="{BB962C8B-B14F-4D97-AF65-F5344CB8AC3E}">
        <p14:creationId xmlns:p14="http://schemas.microsoft.com/office/powerpoint/2010/main" val="145125421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606189" cy="607867"/>
          </a:xfrm>
        </p:spPr>
        <p:txBody>
          <a:bodyPr>
            <a:noAutofit/>
          </a:bodyPr>
          <a:lstStyle/>
          <a:p>
            <a:pPr marL="0" indent="0">
              <a:buNone/>
            </a:pPr>
            <a:r>
              <a:rPr lang="zh-CN" altLang="zh-CN" sz="2800" b="0" dirty="0">
                <a:ea typeface="华文楷体" pitchFamily="2" charset="-122"/>
                <a:cs typeface="Times New Roman" panose="02020603050405020304" pitchFamily="18" charset="0"/>
              </a:rPr>
              <a:t>对一个无向连通图</a:t>
            </a:r>
            <a:r>
              <a:rPr lang="en-US" altLang="zh-CN" sz="2800" b="0" dirty="0">
                <a:ea typeface="华文楷体" pitchFamily="2" charset="-122"/>
                <a:cs typeface="Times New Roman" panose="02020603050405020304" pitchFamily="18" charset="0"/>
              </a:rPr>
              <a:t>G = { V, E }</a:t>
            </a:r>
            <a:r>
              <a:rPr lang="zh-CN" altLang="zh-CN" sz="2800" b="0" dirty="0">
                <a:ea typeface="华文楷体" pitchFamily="2" charset="-122"/>
                <a:cs typeface="Times New Roman" panose="02020603050405020304" pitchFamily="18" charset="0"/>
              </a:rPr>
              <a:t>，用</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表示最小生成树中边集合</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itchFamily="2" charset="-122"/>
                <a:ea typeface="华文楷体" pitchFamily="2" charset="-122"/>
              </a:rPr>
              <a:t>克鲁斯卡尔算法</a:t>
            </a:r>
            <a:r>
              <a:rPr lang="zh-CN" altLang="en-US" dirty="0">
                <a:latin typeface="华文楷体" pitchFamily="2" charset="-122"/>
                <a:ea typeface="华文楷体" pitchFamily="2" charset="-122"/>
              </a:rPr>
              <a:t>示例</a:t>
            </a:r>
            <a:endParaRPr lang="zh-CN" altLang="en-US" dirty="0"/>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138237" y="2305878"/>
            <a:ext cx="8979797" cy="3896139"/>
          </a:xfrm>
          <a:prstGeom prst="rect">
            <a:avLst/>
          </a:prstGeom>
          <a:noFill/>
          <a:ln>
            <a:noFill/>
          </a:ln>
        </p:spPr>
      </p:pic>
    </p:spTree>
    <p:extLst>
      <p:ext uri="{BB962C8B-B14F-4D97-AF65-F5344CB8AC3E}">
        <p14:creationId xmlns:p14="http://schemas.microsoft.com/office/powerpoint/2010/main" val="384564862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606189" cy="607867"/>
          </a:xfrm>
        </p:spPr>
        <p:txBody>
          <a:bodyPr>
            <a:noAutofit/>
          </a:bodyPr>
          <a:lstStyle/>
          <a:p>
            <a:pPr marL="0" indent="0">
              <a:buNone/>
            </a:pPr>
            <a:r>
              <a:rPr lang="zh-CN" altLang="zh-CN" sz="2800" b="0" dirty="0">
                <a:ea typeface="华文楷体" pitchFamily="2" charset="-122"/>
                <a:cs typeface="Times New Roman" panose="02020603050405020304" pitchFamily="18" charset="0"/>
              </a:rPr>
              <a:t>对一个无向连通图</a:t>
            </a:r>
            <a:r>
              <a:rPr lang="en-US" altLang="zh-CN" sz="2800" b="0" dirty="0">
                <a:ea typeface="华文楷体" pitchFamily="2" charset="-122"/>
                <a:cs typeface="Times New Roman" panose="02020603050405020304" pitchFamily="18" charset="0"/>
              </a:rPr>
              <a:t>G = { V, E }</a:t>
            </a:r>
            <a:r>
              <a:rPr lang="zh-CN" altLang="zh-CN" sz="2800" b="0" dirty="0">
                <a:ea typeface="华文楷体" pitchFamily="2" charset="-122"/>
                <a:cs typeface="Times New Roman" panose="02020603050405020304" pitchFamily="18" charset="0"/>
              </a:rPr>
              <a:t>，用</a:t>
            </a:r>
            <a:r>
              <a:rPr lang="en-US" altLang="zh-CN" sz="2800" b="0" dirty="0">
                <a:ea typeface="华文楷体" pitchFamily="2" charset="-122"/>
                <a:cs typeface="Times New Roman" panose="02020603050405020304" pitchFamily="18" charset="0"/>
              </a:rPr>
              <a:t>MST</a:t>
            </a:r>
            <a:r>
              <a:rPr lang="zh-CN" altLang="zh-CN" sz="2800" b="0" dirty="0">
                <a:ea typeface="华文楷体" pitchFamily="2" charset="-122"/>
                <a:cs typeface="Times New Roman" panose="02020603050405020304" pitchFamily="18" charset="0"/>
              </a:rPr>
              <a:t>表示最小生成树中边集合</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itchFamily="2" charset="-122"/>
                <a:ea typeface="华文楷体" pitchFamily="2" charset="-122"/>
              </a:rPr>
              <a:t>克鲁斯卡尔算法</a:t>
            </a:r>
            <a:r>
              <a:rPr lang="zh-CN" altLang="en-US" dirty="0">
                <a:latin typeface="华文楷体" pitchFamily="2" charset="-122"/>
                <a:ea typeface="华文楷体" pitchFamily="2" charset="-122"/>
              </a:rPr>
              <a:t>示例</a:t>
            </a:r>
            <a:endParaRPr lang="zh-CN" altLang="en-US" dirty="0"/>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3054441" y="2166730"/>
            <a:ext cx="8238711" cy="4094922"/>
          </a:xfrm>
          <a:prstGeom prst="rect">
            <a:avLst/>
          </a:prstGeom>
          <a:noFill/>
          <a:ln>
            <a:noFill/>
          </a:ln>
        </p:spPr>
      </p:pic>
      <p:pic>
        <p:nvPicPr>
          <p:cNvPr id="2" name="图片 1"/>
          <p:cNvPicPr>
            <a:picLocks noChangeAspect="1"/>
          </p:cNvPicPr>
          <p:nvPr/>
        </p:nvPicPr>
        <p:blipFill>
          <a:blip r:embed="rId4"/>
          <a:stretch>
            <a:fillRect/>
          </a:stretch>
        </p:blipFill>
        <p:spPr>
          <a:xfrm>
            <a:off x="0" y="2542554"/>
            <a:ext cx="2452159" cy="3601072"/>
          </a:xfrm>
          <a:prstGeom prst="rect">
            <a:avLst/>
          </a:prstGeom>
        </p:spPr>
      </p:pic>
    </p:spTree>
    <p:extLst>
      <p:ext uri="{BB962C8B-B14F-4D97-AF65-F5344CB8AC3E}">
        <p14:creationId xmlns:p14="http://schemas.microsoft.com/office/powerpoint/2010/main" val="28231149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itchFamily="2" charset="-122"/>
                <a:ea typeface="华文楷体" pitchFamily="2" charset="-122"/>
              </a:rPr>
              <a:t>克鲁斯卡尔算法</a:t>
            </a:r>
            <a:r>
              <a:rPr lang="zh-CN" altLang="en-US" dirty="0">
                <a:latin typeface="华文楷体" pitchFamily="2" charset="-122"/>
                <a:ea typeface="华文楷体" pitchFamily="2" charset="-122"/>
              </a:rPr>
              <a:t>的实施过程：</a:t>
            </a:r>
            <a:endParaRPr lang="zh-CN" altLang="en-US" dirty="0"/>
          </a:p>
        </p:txBody>
      </p:sp>
      <p:pic>
        <p:nvPicPr>
          <p:cNvPr id="2" name="图片 1"/>
          <p:cNvPicPr>
            <a:picLocks noChangeAspect="1"/>
          </p:cNvPicPr>
          <p:nvPr/>
        </p:nvPicPr>
        <p:blipFill>
          <a:blip r:embed="rId3"/>
          <a:stretch>
            <a:fillRect/>
          </a:stretch>
        </p:blipFill>
        <p:spPr>
          <a:xfrm>
            <a:off x="1314449" y="1419715"/>
            <a:ext cx="7358064" cy="5310094"/>
          </a:xfrm>
          <a:prstGeom prst="rect">
            <a:avLst/>
          </a:prstGeom>
        </p:spPr>
      </p:pic>
    </p:spTree>
    <p:extLst>
      <p:ext uri="{BB962C8B-B14F-4D97-AF65-F5344CB8AC3E}">
        <p14:creationId xmlns:p14="http://schemas.microsoft.com/office/powerpoint/2010/main" val="20625909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420159" y="1638374"/>
                <a:ext cx="11162883" cy="4822060"/>
              </a:xfrm>
            </p:spPr>
            <p:txBody>
              <a:bodyPr>
                <a:noAutofit/>
              </a:bodyPr>
              <a:lstStyle/>
              <a:p>
                <a:pPr marL="0" indent="0">
                  <a:buNone/>
                </a:pPr>
                <a:r>
                  <a:rPr lang="zh-CN" altLang="zh-CN" b="0" dirty="0">
                    <a:ea typeface="华文楷体" pitchFamily="2" charset="-122"/>
                    <a:cs typeface="Times New Roman" panose="02020603050405020304" pitchFamily="18" charset="0"/>
                  </a:rPr>
                  <a:t>求最小权值的边可以借助最小化堆来实现。</a:t>
                </a:r>
                <a:endParaRPr lang="en-US" altLang="zh-CN" b="0" dirty="0">
                  <a:ea typeface="华文楷体" pitchFamily="2" charset="-122"/>
                  <a:cs typeface="Times New Roman" panose="02020603050405020304" pitchFamily="18" charset="0"/>
                </a:endParaRPr>
              </a:p>
              <a:p>
                <a:pPr marL="0" indent="0">
                  <a:buNone/>
                </a:pPr>
                <a:r>
                  <a:rPr lang="zh-CN" altLang="zh-CN" b="0" dirty="0">
                    <a:ea typeface="华文楷体" pitchFamily="2" charset="-122"/>
                    <a:cs typeface="Times New Roman" panose="02020603050405020304" pitchFamily="18" charset="0"/>
                  </a:rPr>
                  <a:t>如果图中边的条数为</a:t>
                </a:r>
                <a:r>
                  <a:rPr lang="en-US" altLang="zh-CN" b="0" dirty="0">
                    <a:ea typeface="华文楷体" pitchFamily="2" charset="-122"/>
                    <a:cs typeface="Times New Roman" panose="02020603050405020304" pitchFamily="18" charset="0"/>
                  </a:rPr>
                  <a:t>e</a:t>
                </a:r>
                <a:r>
                  <a:rPr lang="zh-CN" altLang="zh-CN" b="0" dirty="0">
                    <a:ea typeface="华文楷体" pitchFamily="2" charset="-122"/>
                    <a:cs typeface="Times New Roman" panose="02020603050405020304" pitchFamily="18" charset="0"/>
                  </a:rPr>
                  <a:t>，那么建堆的时间代价为</a:t>
                </a:r>
                <a14:m>
                  <m:oMath xmlns:m="http://schemas.openxmlformats.org/officeDocument/2006/math">
                    <m:r>
                      <m:rPr>
                        <m:sty m:val="p"/>
                      </m:rPr>
                      <a:rPr lang="en-US" altLang="zh-CN" b="0">
                        <a:latin typeface="Cambria Math" panose="02040503050406030204" pitchFamily="18" charset="0"/>
                        <a:ea typeface="华文楷体" pitchFamily="2" charset="-122"/>
                      </a:rPr>
                      <m:t>O</m:t>
                    </m:r>
                    <m:r>
                      <a:rPr lang="en-US" altLang="zh-CN" b="0">
                        <a:latin typeface="Cambria Math" panose="02040503050406030204" pitchFamily="18" charset="0"/>
                        <a:ea typeface="华文楷体" pitchFamily="2" charset="-122"/>
                      </a:rPr>
                      <m:t>(</m:t>
                    </m:r>
                    <m:r>
                      <m:rPr>
                        <m:sty m:val="p"/>
                      </m:rPr>
                      <a:rPr lang="en-US" altLang="zh-CN" b="0">
                        <a:latin typeface="Cambria Math" panose="02040503050406030204" pitchFamily="18" charset="0"/>
                        <a:ea typeface="华文楷体" pitchFamily="2" charset="-122"/>
                      </a:rPr>
                      <m:t>e</m:t>
                    </m:r>
                    <m:r>
                      <a:rPr lang="en-US" altLang="zh-CN" b="0">
                        <a:latin typeface="Cambria Math" panose="02040503050406030204" pitchFamily="18" charset="0"/>
                        <a:ea typeface="华文楷体" pitchFamily="2" charset="-122"/>
                      </a:rPr>
                      <m:t>)</m:t>
                    </m:r>
                  </m:oMath>
                </a14:m>
                <a:r>
                  <a:rPr lang="zh-CN" altLang="zh-CN" b="0" dirty="0">
                    <a:ea typeface="华文楷体" pitchFamily="2" charset="-122"/>
                    <a:cs typeface="Times New Roman" panose="02020603050405020304" pitchFamily="18" charset="0"/>
                  </a:rPr>
                  <a:t>；找最小边即从堆中删除一个根结点，时间代价是</a:t>
                </a:r>
                <a14:m>
                  <m:oMath xmlns:m="http://schemas.openxmlformats.org/officeDocument/2006/math">
                    <m:r>
                      <m:rPr>
                        <m:sty m:val="p"/>
                      </m:rPr>
                      <a:rPr lang="en-US" altLang="zh-CN" b="0">
                        <a:latin typeface="Cambria Math" panose="02040503050406030204" pitchFamily="18" charset="0"/>
                        <a:ea typeface="华文楷体" pitchFamily="2" charset="-122"/>
                      </a:rPr>
                      <m:t>O</m:t>
                    </m:r>
                    <m:r>
                      <a:rPr lang="en-US" altLang="zh-CN" b="0">
                        <a:latin typeface="Cambria Math" panose="02040503050406030204" pitchFamily="18" charset="0"/>
                        <a:ea typeface="华文楷体" pitchFamily="2" charset="-122"/>
                      </a:rPr>
                      <m:t>(</m:t>
                    </m:r>
                    <m:func>
                      <m:funcPr>
                        <m:ctrlPr>
                          <a:rPr lang="zh-CN" altLang="zh-CN" b="0" i="1">
                            <a:latin typeface="Cambria Math" panose="02040503050406030204" pitchFamily="18" charset="0"/>
                            <a:ea typeface="华文楷体" pitchFamily="2" charset="-122"/>
                          </a:rPr>
                        </m:ctrlPr>
                      </m:funcPr>
                      <m:fName>
                        <m:sSub>
                          <m:sSubPr>
                            <m:ctrlPr>
                              <a:rPr lang="zh-CN" altLang="zh-CN" b="0" i="1">
                                <a:latin typeface="Cambria Math" panose="02040503050406030204" pitchFamily="18" charset="0"/>
                                <a:ea typeface="华文楷体" pitchFamily="2" charset="-122"/>
                              </a:rPr>
                            </m:ctrlPr>
                          </m:sSubPr>
                          <m:e>
                            <m:r>
                              <m:rPr>
                                <m:sty m:val="p"/>
                              </m:rPr>
                              <a:rPr lang="en-US" altLang="zh-CN" b="0">
                                <a:latin typeface="Cambria Math" panose="02040503050406030204" pitchFamily="18" charset="0"/>
                                <a:ea typeface="华文楷体" pitchFamily="2" charset="-122"/>
                              </a:rPr>
                              <m:t>log</m:t>
                            </m:r>
                          </m:e>
                          <m:sub>
                            <m:r>
                              <a:rPr lang="en-US" altLang="zh-CN" b="0">
                                <a:latin typeface="Cambria Math" panose="02040503050406030204" pitchFamily="18" charset="0"/>
                                <a:ea typeface="华文楷体" pitchFamily="2" charset="-122"/>
                              </a:rPr>
                              <m:t>2</m:t>
                            </m:r>
                          </m:sub>
                        </m:sSub>
                      </m:fName>
                      <m:e>
                        <m:r>
                          <a:rPr lang="en-US" altLang="zh-CN" b="0">
                            <a:latin typeface="Cambria Math" panose="02040503050406030204" pitchFamily="18" charset="0"/>
                            <a:ea typeface="华文楷体" pitchFamily="2" charset="-122"/>
                          </a:rPr>
                          <m:t>𝑒</m:t>
                        </m:r>
                      </m:e>
                    </m:func>
                    <m:r>
                      <a:rPr lang="en-US" altLang="zh-CN" b="0">
                        <a:latin typeface="Cambria Math" panose="02040503050406030204" pitchFamily="18" charset="0"/>
                        <a:ea typeface="华文楷体" pitchFamily="2" charset="-122"/>
                      </a:rPr>
                      <m:t>)</m:t>
                    </m:r>
                  </m:oMath>
                </a14:m>
                <a:r>
                  <a:rPr lang="zh-CN" altLang="zh-CN" b="0" dirty="0">
                    <a:ea typeface="华文楷体" pitchFamily="2" charset="-122"/>
                    <a:cs typeface="Times New Roman" panose="02020603050405020304" pitchFamily="18" charset="0"/>
                  </a:rPr>
                  <a:t>；</a:t>
                </a:r>
                <a:endParaRPr lang="en-US" altLang="zh-CN" b="0" dirty="0">
                  <a:ea typeface="华文楷体" pitchFamily="2" charset="-122"/>
                  <a:cs typeface="Times New Roman" panose="02020603050405020304" pitchFamily="18" charset="0"/>
                </a:endParaRPr>
              </a:p>
              <a:p>
                <a:pPr marL="0" indent="0">
                  <a:buNone/>
                </a:pPr>
                <a:r>
                  <a:rPr lang="zh-CN" altLang="zh-CN" b="0" dirty="0">
                    <a:ea typeface="华文楷体" pitchFamily="2" charset="-122"/>
                    <a:cs typeface="Times New Roman" panose="02020603050405020304" pitchFamily="18" charset="0"/>
                  </a:rPr>
                  <a:t>当找到最小边后需要检查边的两个连通分量标志，如果不在一个连通分量里面，</a:t>
                </a:r>
                <a:r>
                  <a:rPr lang="zh-CN" altLang="en-US" b="0" dirty="0">
                    <a:ea typeface="华文楷体" pitchFamily="2" charset="-122"/>
                    <a:cs typeface="Times New Roman" panose="02020603050405020304" pitchFamily="18" charset="0"/>
                  </a:rPr>
                  <a:t>才可以加入，检查的</a:t>
                </a:r>
                <a:r>
                  <a:rPr lang="zh-CN" altLang="zh-CN" b="0" dirty="0">
                    <a:ea typeface="华文楷体" pitchFamily="2" charset="-122"/>
                    <a:cs typeface="Times New Roman" panose="02020603050405020304" pitchFamily="18" charset="0"/>
                  </a:rPr>
                  <a:t>时间代价是</a:t>
                </a:r>
                <a14:m>
                  <m:oMath xmlns:m="http://schemas.openxmlformats.org/officeDocument/2006/math">
                    <m:r>
                      <m:rPr>
                        <m:sty m:val="p"/>
                      </m:rPr>
                      <a:rPr lang="en-US" altLang="zh-CN" b="0">
                        <a:latin typeface="Cambria Math" panose="02040503050406030204" pitchFamily="18" charset="0"/>
                        <a:ea typeface="华文楷体" pitchFamily="2" charset="-122"/>
                      </a:rPr>
                      <m:t>O</m:t>
                    </m:r>
                    <m:r>
                      <a:rPr lang="en-US" altLang="zh-CN" b="0">
                        <a:latin typeface="Cambria Math" panose="02040503050406030204" pitchFamily="18" charset="0"/>
                        <a:ea typeface="华文楷体" pitchFamily="2" charset="-122"/>
                      </a:rPr>
                      <m:t>(</m:t>
                    </m:r>
                    <m:r>
                      <a:rPr lang="en-US" altLang="zh-CN" b="0" i="1">
                        <a:latin typeface="Cambria Math" panose="02040503050406030204" pitchFamily="18" charset="0"/>
                        <a:ea typeface="华文楷体" pitchFamily="2" charset="-122"/>
                      </a:rPr>
                      <m:t>1</m:t>
                    </m:r>
                    <m:r>
                      <a:rPr lang="en-US" altLang="zh-CN" b="0">
                        <a:latin typeface="Cambria Math" panose="02040503050406030204" pitchFamily="18" charset="0"/>
                        <a:ea typeface="华文楷体" pitchFamily="2" charset="-122"/>
                      </a:rPr>
                      <m:t>)</m:t>
                    </m:r>
                  </m:oMath>
                </a14:m>
                <a:r>
                  <a:rPr lang="zh-CN" altLang="en-US" b="0" dirty="0">
                    <a:ea typeface="华文楷体" pitchFamily="2" charset="-122"/>
                    <a:cs typeface="Times New Roman" panose="02020603050405020304" pitchFamily="18" charset="0"/>
                  </a:rPr>
                  <a:t>，两个连通分量的合并时间为</a:t>
                </a:r>
                <a:r>
                  <a:rPr lang="en-US" altLang="zh-CN" b="0" dirty="0">
                    <a:ea typeface="华文楷体" pitchFamily="2" charset="-122"/>
                    <a:cs typeface="Times New Roman" panose="02020603050405020304" pitchFamily="18" charset="0"/>
                  </a:rPr>
                  <a:t>O(n)</a:t>
                </a:r>
                <a:r>
                  <a:rPr lang="zh-CN" altLang="zh-CN" b="0" dirty="0">
                    <a:ea typeface="华文楷体" pitchFamily="2" charset="-122"/>
                    <a:cs typeface="Times New Roman" panose="02020603050405020304" pitchFamily="18" charset="0"/>
                  </a:rPr>
                  <a:t>。</a:t>
                </a:r>
                <a:endParaRPr lang="en-US" altLang="zh-CN" b="0" dirty="0">
                  <a:ea typeface="华文楷体" pitchFamily="2" charset="-122"/>
                  <a:cs typeface="Times New Roman" panose="02020603050405020304" pitchFamily="18" charset="0"/>
                </a:endParaRPr>
              </a:p>
              <a:p>
                <a:pPr marL="0" indent="0">
                  <a:buNone/>
                </a:pPr>
                <a:r>
                  <a:rPr lang="zh-CN" altLang="zh-CN" b="0" dirty="0">
                    <a:ea typeface="华文楷体" pitchFamily="2" charset="-122"/>
                    <a:cs typeface="Times New Roman" panose="02020603050405020304" pitchFamily="18" charset="0"/>
                  </a:rPr>
                  <a:t>尽管最小生成树中只含有</a:t>
                </a:r>
                <a:r>
                  <a:rPr lang="en-US" altLang="zh-CN" b="0" dirty="0">
                    <a:ea typeface="华文楷体" pitchFamily="2" charset="-122"/>
                    <a:cs typeface="Times New Roman" panose="02020603050405020304" pitchFamily="18" charset="0"/>
                  </a:rPr>
                  <a:t>n-1</a:t>
                </a:r>
                <a:r>
                  <a:rPr lang="zh-CN" altLang="zh-CN" b="0" dirty="0">
                    <a:ea typeface="华文楷体" pitchFamily="2" charset="-122"/>
                    <a:cs typeface="Times New Roman" panose="02020603050405020304" pitchFamily="18" charset="0"/>
                  </a:rPr>
                  <a:t>条边，但可能要检查到所有的边，所有边都可能从堆中作为最小值被删除，其中</a:t>
                </a:r>
                <a:r>
                  <a:rPr lang="en-US" altLang="zh-CN" b="0" dirty="0">
                    <a:ea typeface="华文楷体" pitchFamily="2" charset="-122"/>
                    <a:cs typeface="Times New Roman" panose="02020603050405020304" pitchFamily="18" charset="0"/>
                  </a:rPr>
                  <a:t>n-1</a:t>
                </a:r>
                <a:r>
                  <a:rPr lang="zh-CN" altLang="zh-CN" b="0" dirty="0">
                    <a:ea typeface="华文楷体" pitchFamily="2" charset="-122"/>
                    <a:cs typeface="Times New Roman" panose="02020603050405020304" pitchFamily="18" charset="0"/>
                  </a:rPr>
                  <a:t>条边的加入</a:t>
                </a:r>
                <a:r>
                  <a:rPr lang="zh-CN" altLang="en-US" b="0" dirty="0">
                    <a:ea typeface="华文楷体" pitchFamily="2" charset="-122"/>
                    <a:cs typeface="Times New Roman" panose="02020603050405020304" pitchFamily="18" charset="0"/>
                  </a:rPr>
                  <a:t>都</a:t>
                </a:r>
                <a:r>
                  <a:rPr lang="zh-CN" altLang="zh-CN" b="0" dirty="0">
                    <a:ea typeface="华文楷体" pitchFamily="2" charset="-122"/>
                    <a:cs typeface="Times New Roman" panose="02020603050405020304" pitchFamily="18" charset="0"/>
                  </a:rPr>
                  <a:t>需要修改顶点的连通分量标志。</a:t>
                </a:r>
                <a:endParaRPr lang="en-US" altLang="zh-CN" b="0" dirty="0">
                  <a:ea typeface="华文楷体" pitchFamily="2" charset="-122"/>
                  <a:cs typeface="Times New Roman" panose="02020603050405020304" pitchFamily="18" charset="0"/>
                </a:endParaRPr>
              </a:p>
              <a:p>
                <a:pPr marL="0" indent="0">
                  <a:buNone/>
                </a:pPr>
                <a:r>
                  <a:rPr lang="zh-CN" altLang="zh-CN" b="0" dirty="0">
                    <a:ea typeface="华文楷体" pitchFamily="2" charset="-122"/>
                    <a:cs typeface="Times New Roman" panose="02020603050405020304" pitchFamily="18" charset="0"/>
                  </a:rPr>
                  <a:t>所以总的时间是：</a:t>
                </a:r>
                <a14:m>
                  <m:oMath xmlns:m="http://schemas.openxmlformats.org/officeDocument/2006/math">
                    <m:r>
                      <m:rPr>
                        <m:sty m:val="p"/>
                      </m:rPr>
                      <a:rPr lang="en-US" altLang="zh-CN" b="0">
                        <a:latin typeface="Cambria Math" panose="02040503050406030204" pitchFamily="18" charset="0"/>
                        <a:ea typeface="华文楷体" pitchFamily="2" charset="-122"/>
                      </a:rPr>
                      <m:t>O</m:t>
                    </m:r>
                    <m:r>
                      <a:rPr lang="en-US" altLang="zh-CN" b="0">
                        <a:latin typeface="Cambria Math" panose="02040503050406030204" pitchFamily="18" charset="0"/>
                        <a:ea typeface="华文楷体" pitchFamily="2" charset="-122"/>
                      </a:rPr>
                      <m:t>(</m:t>
                    </m:r>
                    <m:r>
                      <m:rPr>
                        <m:sty m:val="p"/>
                      </m:rPr>
                      <a:rPr lang="en-US" altLang="zh-CN" b="0">
                        <a:latin typeface="Cambria Math" panose="02040503050406030204" pitchFamily="18" charset="0"/>
                        <a:ea typeface="华文楷体" pitchFamily="2" charset="-122"/>
                      </a:rPr>
                      <m:t>e</m:t>
                    </m:r>
                    <m:r>
                      <a:rPr lang="en-US" altLang="zh-CN" b="0">
                        <a:latin typeface="Cambria Math" panose="02040503050406030204" pitchFamily="18" charset="0"/>
                        <a:ea typeface="华文楷体" pitchFamily="2" charset="-122"/>
                      </a:rPr>
                      <m:t>)</m:t>
                    </m:r>
                  </m:oMath>
                </a14:m>
                <a:r>
                  <a:rPr lang="en-US" altLang="zh-CN" b="0" dirty="0">
                    <a:ea typeface="华文楷体" pitchFamily="2" charset="-122"/>
                    <a:cs typeface="Times New Roman" panose="02020603050405020304" pitchFamily="18" charset="0"/>
                  </a:rPr>
                  <a:t> +</a:t>
                </a:r>
                <a14:m>
                  <m:oMath xmlns:m="http://schemas.openxmlformats.org/officeDocument/2006/math">
                    <m:r>
                      <m:rPr>
                        <m:sty m:val="p"/>
                      </m:rPr>
                      <a:rPr lang="en-US" altLang="zh-CN" b="0">
                        <a:latin typeface="Cambria Math" panose="02040503050406030204" pitchFamily="18" charset="0"/>
                        <a:ea typeface="华文楷体" pitchFamily="2" charset="-122"/>
                      </a:rPr>
                      <m:t>O</m:t>
                    </m:r>
                    <m:r>
                      <a:rPr lang="en-US" altLang="zh-CN" b="0">
                        <a:latin typeface="Cambria Math" panose="02040503050406030204" pitchFamily="18" charset="0"/>
                        <a:ea typeface="华文楷体" pitchFamily="2" charset="-122"/>
                      </a:rPr>
                      <m:t>((</m:t>
                    </m:r>
                    <m:r>
                      <m:rPr>
                        <m:sty m:val="p"/>
                      </m:rPr>
                      <a:rPr lang="en-US" altLang="zh-CN" b="0">
                        <a:latin typeface="Cambria Math" panose="02040503050406030204" pitchFamily="18" charset="0"/>
                        <a:ea typeface="华文楷体" pitchFamily="2" charset="-122"/>
                      </a:rPr>
                      <m:t>n</m:t>
                    </m:r>
                    <m:r>
                      <a:rPr lang="zh-CN" altLang="en-US" b="0">
                        <a:latin typeface="Cambria Math" panose="02040503050406030204" pitchFamily="18" charset="0"/>
                        <a:ea typeface="华文楷体" pitchFamily="2" charset="-122"/>
                      </a:rPr>
                      <m:t>−</m:t>
                    </m:r>
                    <m:r>
                      <a:rPr lang="en-US" altLang="zh-CN" b="0">
                        <a:latin typeface="Cambria Math" panose="02040503050406030204" pitchFamily="18" charset="0"/>
                        <a:ea typeface="华文楷体" pitchFamily="2" charset="-122"/>
                      </a:rPr>
                      <m:t>1)</m:t>
                    </m:r>
                    <m:func>
                      <m:funcPr>
                        <m:ctrlPr>
                          <a:rPr lang="zh-CN" altLang="zh-CN" b="0" i="1">
                            <a:latin typeface="Cambria Math" panose="02040503050406030204" pitchFamily="18" charset="0"/>
                            <a:ea typeface="华文楷体" pitchFamily="2" charset="-122"/>
                          </a:rPr>
                        </m:ctrlPr>
                      </m:funcPr>
                      <m:fName>
                        <m:sSub>
                          <m:sSubPr>
                            <m:ctrlPr>
                              <a:rPr lang="zh-CN" altLang="zh-CN" b="0" i="1">
                                <a:latin typeface="Cambria Math" panose="02040503050406030204" pitchFamily="18" charset="0"/>
                                <a:ea typeface="华文楷体" pitchFamily="2" charset="-122"/>
                              </a:rPr>
                            </m:ctrlPr>
                          </m:sSubPr>
                          <m:e>
                            <m:r>
                              <m:rPr>
                                <m:sty m:val="p"/>
                              </m:rPr>
                              <a:rPr lang="en-US" altLang="zh-CN" b="0">
                                <a:latin typeface="Cambria Math" panose="02040503050406030204" pitchFamily="18" charset="0"/>
                                <a:ea typeface="华文楷体" pitchFamily="2" charset="-122"/>
                              </a:rPr>
                              <m:t>log</m:t>
                            </m:r>
                          </m:e>
                          <m:sub>
                            <m:r>
                              <a:rPr lang="en-US" altLang="zh-CN" b="0">
                                <a:latin typeface="Cambria Math" panose="02040503050406030204" pitchFamily="18" charset="0"/>
                                <a:ea typeface="华文楷体" pitchFamily="2" charset="-122"/>
                              </a:rPr>
                              <m:t>2</m:t>
                            </m:r>
                          </m:sub>
                        </m:sSub>
                      </m:fName>
                      <m:e>
                        <m:r>
                          <a:rPr lang="en-US" altLang="zh-CN" b="0">
                            <a:latin typeface="Cambria Math" panose="02040503050406030204" pitchFamily="18" charset="0"/>
                            <a:ea typeface="华文楷体" pitchFamily="2" charset="-122"/>
                          </a:rPr>
                          <m:t>𝑒</m:t>
                        </m:r>
                      </m:e>
                    </m:func>
                    <m:r>
                      <a:rPr lang="en-US" altLang="zh-CN" b="0">
                        <a:latin typeface="Cambria Math" panose="02040503050406030204" pitchFamily="18" charset="0"/>
                        <a:ea typeface="华文楷体" pitchFamily="2" charset="-122"/>
                      </a:rPr>
                      <m:t>)</m:t>
                    </m:r>
                  </m:oMath>
                </a14:m>
                <a:r>
                  <a:rPr lang="en-US" altLang="zh-CN" b="0" dirty="0">
                    <a:ea typeface="华文楷体" pitchFamily="2" charset="-122"/>
                    <a:cs typeface="Times New Roman" panose="02020603050405020304" pitchFamily="18" charset="0"/>
                  </a:rPr>
                  <a:t>)+ </a:t>
                </a:r>
                <a14:m>
                  <m:oMath xmlns:m="http://schemas.openxmlformats.org/officeDocument/2006/math">
                    <m:r>
                      <m:rPr>
                        <m:sty m:val="p"/>
                      </m:rPr>
                      <a:rPr lang="en-US" altLang="zh-CN" b="0">
                        <a:latin typeface="Cambria Math" panose="02040503050406030204" pitchFamily="18" charset="0"/>
                        <a:ea typeface="华文楷体" pitchFamily="2" charset="-122"/>
                      </a:rPr>
                      <m:t>O</m:t>
                    </m:r>
                    <m:r>
                      <a:rPr lang="en-US" altLang="zh-CN" b="0">
                        <a:latin typeface="Cambria Math" panose="02040503050406030204" pitchFamily="18" charset="0"/>
                        <a:ea typeface="华文楷体" pitchFamily="2" charset="-122"/>
                      </a:rPr>
                      <m:t>(</m:t>
                    </m:r>
                    <m:sSup>
                      <m:sSupPr>
                        <m:ctrlPr>
                          <a:rPr lang="zh-CN" altLang="zh-CN" b="0" i="1">
                            <a:latin typeface="Cambria Math" panose="02040503050406030204" pitchFamily="18" charset="0"/>
                            <a:ea typeface="华文楷体" pitchFamily="2" charset="-122"/>
                          </a:rPr>
                        </m:ctrlPr>
                      </m:sSupPr>
                      <m:e>
                        <m:r>
                          <a:rPr lang="en-US" altLang="zh-CN" b="0">
                            <a:latin typeface="Cambria Math" panose="02040503050406030204" pitchFamily="18" charset="0"/>
                            <a:ea typeface="华文楷体" pitchFamily="2" charset="-122"/>
                          </a:rPr>
                          <m:t>𝑛</m:t>
                        </m:r>
                      </m:e>
                      <m:sup>
                        <m:r>
                          <a:rPr lang="en-US" altLang="zh-CN" b="0">
                            <a:latin typeface="Cambria Math" panose="02040503050406030204" pitchFamily="18" charset="0"/>
                            <a:ea typeface="华文楷体" pitchFamily="2" charset="-122"/>
                          </a:rPr>
                          <m:t>2</m:t>
                        </m:r>
                      </m:sup>
                    </m:sSup>
                    <m:r>
                      <a:rPr lang="en-US" altLang="zh-CN" b="0">
                        <a:latin typeface="Cambria Math" panose="02040503050406030204" pitchFamily="18" charset="0"/>
                        <a:ea typeface="华文楷体" pitchFamily="2" charset="-122"/>
                      </a:rPr>
                      <m:t>)</m:t>
                    </m:r>
                    <m:r>
                      <a:rPr lang="zh-CN" altLang="en-US" b="0" i="1">
                        <a:latin typeface="Cambria Math" panose="02040503050406030204" pitchFamily="18" charset="0"/>
                        <a:ea typeface="华文楷体" pitchFamily="2" charset="-122"/>
                      </a:rPr>
                      <m:t>。时间复杂度</m:t>
                    </m:r>
                  </m:oMath>
                </a14:m>
                <a:r>
                  <a:rPr lang="zh-CN" altLang="en-US" b="0" dirty="0">
                    <a:ea typeface="华文楷体" pitchFamily="2" charset="-122"/>
                    <a:cs typeface="Times New Roman" panose="02020603050405020304" pitchFamily="18" charset="0"/>
                  </a:rPr>
                  <a:t>为</a:t>
                </a:r>
                <a:r>
                  <a:rPr lang="en-US" altLang="zh-CN" b="0" dirty="0">
                    <a:ea typeface="华文楷体" pitchFamily="2" charset="-122"/>
                    <a:cs typeface="Times New Roman" panose="02020603050405020304" pitchFamily="18" charset="0"/>
                  </a:rPr>
                  <a:t> </a:t>
                </a:r>
                <a14:m>
                  <m:oMath xmlns:m="http://schemas.openxmlformats.org/officeDocument/2006/math">
                    <m:r>
                      <m:rPr>
                        <m:sty m:val="p"/>
                      </m:rPr>
                      <a:rPr lang="en-US" altLang="zh-CN" b="0">
                        <a:latin typeface="Cambria Math" panose="02040503050406030204" pitchFamily="18" charset="0"/>
                        <a:ea typeface="华文楷体" pitchFamily="2" charset="-122"/>
                      </a:rPr>
                      <m:t>O</m:t>
                    </m:r>
                    <m:r>
                      <a:rPr lang="en-US" altLang="zh-CN" b="0">
                        <a:latin typeface="Cambria Math" panose="02040503050406030204" pitchFamily="18" charset="0"/>
                        <a:ea typeface="华文楷体" pitchFamily="2" charset="-122"/>
                      </a:rPr>
                      <m:t>(</m:t>
                    </m:r>
                    <m:sSup>
                      <m:sSupPr>
                        <m:ctrlPr>
                          <a:rPr lang="zh-CN" altLang="zh-CN" b="0" i="1">
                            <a:latin typeface="Cambria Math" panose="02040503050406030204" pitchFamily="18" charset="0"/>
                            <a:ea typeface="华文楷体" pitchFamily="2" charset="-122"/>
                          </a:rPr>
                        </m:ctrlPr>
                      </m:sSupPr>
                      <m:e>
                        <m:r>
                          <a:rPr lang="en-US" altLang="zh-CN" b="0">
                            <a:latin typeface="Cambria Math" panose="02040503050406030204" pitchFamily="18" charset="0"/>
                            <a:ea typeface="华文楷体" pitchFamily="2" charset="-122"/>
                          </a:rPr>
                          <m:t>𝑛</m:t>
                        </m:r>
                      </m:e>
                      <m:sup>
                        <m:r>
                          <a:rPr lang="en-US" altLang="zh-CN" b="0">
                            <a:latin typeface="Cambria Math" panose="02040503050406030204" pitchFamily="18" charset="0"/>
                            <a:ea typeface="华文楷体" pitchFamily="2" charset="-122"/>
                          </a:rPr>
                          <m:t>2</m:t>
                        </m:r>
                      </m:sup>
                    </m:sSup>
                    <m:r>
                      <a:rPr lang="en-US" altLang="zh-CN" b="0">
                        <a:latin typeface="Cambria Math" panose="02040503050406030204" pitchFamily="18" charset="0"/>
                        <a:ea typeface="华文楷体" pitchFamily="2" charset="-122"/>
                      </a:rPr>
                      <m:t>)</m:t>
                    </m:r>
                  </m:oMath>
                </a14:m>
                <a:r>
                  <a:rPr lang="zh-CN" altLang="zh-CN" b="0" dirty="0">
                    <a:ea typeface="华文楷体" pitchFamily="2" charset="-122"/>
                    <a:cs typeface="Times New Roman" panose="02020603050405020304" pitchFamily="18" charset="0"/>
                  </a:rPr>
                  <a:t>。</a:t>
                </a: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420159" y="1638374"/>
                <a:ext cx="11162883" cy="4822060"/>
              </a:xfrm>
              <a:blipFill>
                <a:blip r:embed="rId3"/>
                <a:stretch>
                  <a:fillRect l="-874" r="-765"/>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420159" y="734268"/>
            <a:ext cx="11162884" cy="574183"/>
          </a:xfrm>
        </p:spPr>
        <p:txBody>
          <a:bodyPr/>
          <a:lstStyle/>
          <a:p>
            <a:pPr marL="838200" indent="-838200">
              <a:defRPr/>
            </a:pPr>
            <a:r>
              <a:rPr lang="en-US" altLang="zh-CN" dirty="0" err="1"/>
              <a:t>Kruscal</a:t>
            </a:r>
            <a:r>
              <a:rPr lang="zh-CN" altLang="en-US" dirty="0"/>
              <a:t>算法性能分析：</a:t>
            </a:r>
          </a:p>
        </p:txBody>
      </p:sp>
      <p:sp>
        <p:nvSpPr>
          <p:cNvPr id="2" name="椭圆 1"/>
          <p:cNvSpPr/>
          <p:nvPr/>
        </p:nvSpPr>
        <p:spPr>
          <a:xfrm>
            <a:off x="11701463" y="6460434"/>
            <a:ext cx="142875" cy="1546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6305637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2">
            <a:extLst>
              <a:ext uri="{FF2B5EF4-FFF2-40B4-BE49-F238E27FC236}">
                <a16:creationId xmlns:a16="http://schemas.microsoft.com/office/drawing/2014/main" id="{6D00AE4C-3C0E-4D90-8831-3D063BC1DE1F}"/>
              </a:ext>
            </a:extLst>
          </p:cNvPr>
          <p:cNvSpPr>
            <a:spLocks noGrp="1" noChangeArrowheads="1"/>
          </p:cNvSpPr>
          <p:nvPr>
            <p:ph type="title"/>
          </p:nvPr>
        </p:nvSpPr>
        <p:spPr/>
        <p:txBody>
          <a:bodyPr>
            <a:normAutofit/>
          </a:bodyPr>
          <a:lstStyle/>
          <a:p>
            <a:pPr eaLnBrk="1" hangingPunct="1">
              <a:defRPr/>
            </a:pPr>
            <a:r>
              <a:rPr lang="zh-CN" altLang="en-US" dirty="0"/>
              <a:t>算法的正确性</a:t>
            </a:r>
          </a:p>
        </p:txBody>
      </p:sp>
      <p:sp>
        <p:nvSpPr>
          <p:cNvPr id="2" name="Rectangle 3">
            <a:extLst>
              <a:ext uri="{FF2B5EF4-FFF2-40B4-BE49-F238E27FC236}">
                <a16:creationId xmlns:a16="http://schemas.microsoft.com/office/drawing/2014/main" id="{C11CAA70-5E62-4B1B-B462-773181B2AA42}"/>
              </a:ext>
            </a:extLst>
          </p:cNvPr>
          <p:cNvSpPr>
            <a:spLocks noGrp="1" noChangeArrowheads="1"/>
          </p:cNvSpPr>
          <p:nvPr>
            <p:ph type="body" idx="1"/>
          </p:nvPr>
        </p:nvSpPr>
        <p:spPr/>
        <p:txBody>
          <a:bodyPr>
            <a:normAutofit/>
          </a:bodyPr>
          <a:lstStyle/>
          <a:p>
            <a:pPr marL="0" indent="0">
              <a:buNone/>
            </a:pPr>
            <a:r>
              <a:rPr lang="zh-CN" altLang="en-US" sz="2800" b="0" dirty="0">
                <a:latin typeface="Times New Roman" panose="02020603050405020304" pitchFamily="18" charset="0"/>
                <a:ea typeface="华文楷体" pitchFamily="2" charset="-122"/>
                <a:cs typeface="Times New Roman" panose="02020603050405020304" pitchFamily="18" charset="0"/>
              </a:rPr>
              <a:t>定理</a:t>
            </a:r>
            <a:r>
              <a:rPr lang="en-US" altLang="zh-CN" sz="2800" b="0" dirty="0">
                <a:latin typeface="Times New Roman" panose="02020603050405020304" pitchFamily="18" charset="0"/>
                <a:ea typeface="华文楷体" pitchFamily="2" charset="-122"/>
                <a:cs typeface="Times New Roman" panose="02020603050405020304" pitchFamily="18" charset="0"/>
              </a:rPr>
              <a:t>5.1</a:t>
            </a:r>
            <a:r>
              <a:rPr lang="zh-CN" altLang="en-US" sz="2800" b="0" dirty="0">
                <a:latin typeface="Times New Roman" panose="02020603050405020304" pitchFamily="18" charset="0"/>
                <a:ea typeface="华文楷体" pitchFamily="2" charset="-122"/>
                <a:cs typeface="Times New Roman" panose="02020603050405020304" pitchFamily="18" charset="0"/>
              </a:rPr>
              <a:t>：假设 </a:t>
            </a:r>
            <a:r>
              <a:rPr lang="en-US" altLang="zh-CN" sz="2800" b="0" dirty="0">
                <a:latin typeface="Times New Roman" panose="02020603050405020304" pitchFamily="18" charset="0"/>
                <a:ea typeface="华文楷体" pitchFamily="2" charset="-122"/>
                <a:cs typeface="Times New Roman" panose="02020603050405020304" pitchFamily="18" charset="0"/>
              </a:rPr>
              <a:t>G = {V,  E } </a:t>
            </a:r>
            <a:r>
              <a:rPr lang="zh-CN" altLang="en-US" sz="2800" b="0" dirty="0">
                <a:latin typeface="Times New Roman" panose="02020603050405020304" pitchFamily="18" charset="0"/>
                <a:ea typeface="华文楷体" pitchFamily="2" charset="-122"/>
                <a:cs typeface="Times New Roman" panose="02020603050405020304" pitchFamily="18" charset="0"/>
              </a:rPr>
              <a:t>是一个连通图，</a:t>
            </a:r>
            <a:r>
              <a:rPr lang="en-US" altLang="zh-CN" sz="2800" b="0" dirty="0">
                <a:latin typeface="Times New Roman" panose="02020603050405020304" pitchFamily="18" charset="0"/>
                <a:ea typeface="华文楷体" pitchFamily="2" charset="-122"/>
                <a:cs typeface="Times New Roman" panose="02020603050405020304" pitchFamily="18" charset="0"/>
              </a:rPr>
              <a:t>U </a:t>
            </a:r>
            <a:r>
              <a:rPr lang="zh-CN" altLang="en-US" sz="2800" b="0" dirty="0">
                <a:latin typeface="Times New Roman" panose="02020603050405020304" pitchFamily="18" charset="0"/>
                <a:ea typeface="华文楷体" pitchFamily="2" charset="-122"/>
                <a:cs typeface="Times New Roman" panose="02020603050405020304" pitchFamily="18" charset="0"/>
              </a:rPr>
              <a:t>是顶点集合 </a:t>
            </a:r>
            <a:r>
              <a:rPr lang="en-US" altLang="zh-CN" sz="2800" b="0" dirty="0">
                <a:latin typeface="Times New Roman" panose="02020603050405020304" pitchFamily="18" charset="0"/>
                <a:ea typeface="华文楷体" pitchFamily="2" charset="-122"/>
                <a:cs typeface="Times New Roman" panose="02020603050405020304" pitchFamily="18" charset="0"/>
              </a:rPr>
              <a:t>V </a:t>
            </a:r>
            <a:r>
              <a:rPr lang="zh-CN" altLang="en-US" sz="2800" b="0" dirty="0">
                <a:latin typeface="Times New Roman" panose="02020603050405020304" pitchFamily="18" charset="0"/>
                <a:ea typeface="华文楷体" pitchFamily="2" charset="-122"/>
                <a:cs typeface="Times New Roman" panose="02020603050405020304" pitchFamily="18" charset="0"/>
              </a:rPr>
              <a:t>的一个非空子集。若 </a:t>
            </a:r>
            <a:r>
              <a:rPr lang="en-US" altLang="zh-CN" sz="2800" b="0" dirty="0">
                <a:latin typeface="Times New Roman" panose="02020603050405020304" pitchFamily="18" charset="0"/>
                <a:ea typeface="华文楷体" pitchFamily="2" charset="-122"/>
                <a:cs typeface="Times New Roman" panose="02020603050405020304" pitchFamily="18" charset="0"/>
              </a:rPr>
              <a:t>( u, v ) </a:t>
            </a:r>
            <a:r>
              <a:rPr lang="zh-CN" altLang="en-US" sz="2800" b="0" dirty="0">
                <a:latin typeface="Times New Roman" panose="02020603050405020304" pitchFamily="18" charset="0"/>
                <a:ea typeface="华文楷体" pitchFamily="2" charset="-122"/>
                <a:cs typeface="Times New Roman" panose="02020603050405020304" pitchFamily="18" charset="0"/>
              </a:rPr>
              <a:t>是一条代价最小的边，且 </a:t>
            </a:r>
            <a:r>
              <a:rPr lang="en-US" altLang="zh-CN" sz="2800" b="0" dirty="0">
                <a:latin typeface="Times New Roman" panose="02020603050405020304" pitchFamily="18" charset="0"/>
                <a:ea typeface="华文楷体" pitchFamily="2" charset="-122"/>
                <a:cs typeface="Times New Roman" panose="02020603050405020304" pitchFamily="18" charset="0"/>
              </a:rPr>
              <a:t>u ∈U , v ∈ V</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U</a:t>
            </a:r>
            <a:r>
              <a:rPr lang="zh-CN" altLang="en-US" sz="2800" b="0" dirty="0">
                <a:latin typeface="Times New Roman" panose="02020603050405020304" pitchFamily="18" charset="0"/>
                <a:ea typeface="华文楷体" pitchFamily="2" charset="-122"/>
                <a:cs typeface="Times New Roman" panose="02020603050405020304" pitchFamily="18" charset="0"/>
              </a:rPr>
              <a:t>，则必存在一棵包括边 </a:t>
            </a:r>
            <a:r>
              <a:rPr lang="en-US" altLang="zh-CN" sz="2800" b="0" dirty="0">
                <a:latin typeface="Times New Roman" panose="02020603050405020304" pitchFamily="18" charset="0"/>
                <a:ea typeface="华文楷体" pitchFamily="2" charset="-122"/>
                <a:cs typeface="Times New Roman" panose="02020603050405020304" pitchFamily="18" charset="0"/>
              </a:rPr>
              <a:t>( u, v ) </a:t>
            </a:r>
            <a:r>
              <a:rPr lang="zh-CN" altLang="en-US" sz="2800" b="0" dirty="0">
                <a:latin typeface="Times New Roman" panose="02020603050405020304" pitchFamily="18" charset="0"/>
                <a:ea typeface="华文楷体" pitchFamily="2" charset="-122"/>
                <a:cs typeface="Times New Roman" panose="02020603050405020304" pitchFamily="18" charset="0"/>
              </a:rPr>
              <a:t>在内的最小生成树。</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Rectangle 2">
            <a:extLst>
              <a:ext uri="{FF2B5EF4-FFF2-40B4-BE49-F238E27FC236}">
                <a16:creationId xmlns:a16="http://schemas.microsoft.com/office/drawing/2014/main" id="{D990DC5F-23BA-4C12-A159-622B7CB4BEFD}"/>
              </a:ext>
            </a:extLst>
          </p:cNvPr>
          <p:cNvSpPr>
            <a:spLocks noGrp="1" noChangeArrowheads="1"/>
          </p:cNvSpPr>
          <p:nvPr>
            <p:ph type="title"/>
          </p:nvPr>
        </p:nvSpPr>
        <p:spPr>
          <a:xfrm>
            <a:off x="550863" y="477012"/>
            <a:ext cx="7772400" cy="1143000"/>
          </a:xfrm>
        </p:spPr>
        <p:txBody>
          <a:bodyPr/>
          <a:lstStyle/>
          <a:p>
            <a:pPr eaLnBrk="1" hangingPunct="1">
              <a:defRPr/>
            </a:pPr>
            <a:r>
              <a:rPr lang="zh-CN" altLang="en-US" dirty="0"/>
              <a:t>定理的证明</a:t>
            </a:r>
          </a:p>
        </p:txBody>
      </p:sp>
      <p:sp>
        <p:nvSpPr>
          <p:cNvPr id="2" name="Rectangle 3">
            <a:extLst>
              <a:ext uri="{FF2B5EF4-FFF2-40B4-BE49-F238E27FC236}">
                <a16:creationId xmlns:a16="http://schemas.microsoft.com/office/drawing/2014/main" id="{E5CC9ABC-C5C3-4F71-8448-B991D4D49BD6}"/>
              </a:ext>
            </a:extLst>
          </p:cNvPr>
          <p:cNvSpPr>
            <a:spLocks noGrp="1" noChangeArrowheads="1"/>
          </p:cNvSpPr>
          <p:nvPr>
            <p:ph type="body" idx="1"/>
          </p:nvPr>
        </p:nvSpPr>
        <p:spPr>
          <a:xfrm>
            <a:off x="550863" y="1341438"/>
            <a:ext cx="11233150" cy="5327650"/>
          </a:xfrm>
        </p:spPr>
        <p:txBody>
          <a:bodyPr/>
          <a:lstStyle/>
          <a:p>
            <a:pPr eaLnBrk="1" hangingPunct="1">
              <a:lnSpc>
                <a:spcPct val="9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用反证法证明。</a:t>
            </a:r>
          </a:p>
          <a:p>
            <a:pPr eaLnBrk="1" hangingPunct="1">
              <a:lnSpc>
                <a:spcPct val="90000"/>
              </a:lnSpc>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假定在图 </a:t>
            </a:r>
            <a:r>
              <a:rPr lang="en-US" altLang="zh-CN" sz="2800" b="0" dirty="0">
                <a:latin typeface="Times New Roman" panose="02020603050405020304" pitchFamily="18" charset="0"/>
                <a:ea typeface="华文楷体" pitchFamily="2" charset="-122"/>
                <a:cs typeface="Times New Roman" panose="02020603050405020304" pitchFamily="18" charset="0"/>
              </a:rPr>
              <a:t>G = {V</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E } </a:t>
            </a:r>
            <a:r>
              <a:rPr lang="zh-CN" altLang="en-US" sz="2800" b="0" dirty="0">
                <a:latin typeface="Times New Roman" panose="02020603050405020304" pitchFamily="18" charset="0"/>
                <a:ea typeface="华文楷体" pitchFamily="2" charset="-122"/>
                <a:cs typeface="Times New Roman" panose="02020603050405020304" pitchFamily="18" charset="0"/>
              </a:rPr>
              <a:t>中，存在一棵不包括代价最小的边  </a:t>
            </a:r>
            <a:r>
              <a:rPr lang="en-US" altLang="zh-CN" sz="2800" b="0" dirty="0">
                <a:latin typeface="Times New Roman" panose="02020603050405020304" pitchFamily="18" charset="0"/>
                <a:ea typeface="华文楷体" pitchFamily="2" charset="-122"/>
                <a:cs typeface="Times New Roman" panose="02020603050405020304" pitchFamily="18" charset="0"/>
              </a:rPr>
              <a:t>( u, v ) </a:t>
            </a:r>
            <a:r>
              <a:rPr lang="zh-CN" altLang="en-US" sz="2800" b="0" dirty="0">
                <a:latin typeface="Times New Roman" panose="02020603050405020304" pitchFamily="18" charset="0"/>
                <a:ea typeface="华文楷体" pitchFamily="2" charset="-122"/>
                <a:cs typeface="Times New Roman" panose="02020603050405020304" pitchFamily="18" charset="0"/>
              </a:rPr>
              <a:t>在内的最小生成树，设其为 </a:t>
            </a:r>
            <a:r>
              <a:rPr lang="en-US" altLang="zh-CN" sz="2800" b="0" dirty="0">
                <a:latin typeface="Times New Roman" panose="02020603050405020304" pitchFamily="18" charset="0"/>
                <a:ea typeface="华文楷体" pitchFamily="2" charset="-122"/>
                <a:cs typeface="Times New Roman" panose="02020603050405020304" pitchFamily="18" charset="0"/>
              </a:rPr>
              <a:t>T</a:t>
            </a:r>
            <a:r>
              <a:rPr lang="zh-CN" altLang="en-US" sz="2800" b="0" dirty="0">
                <a:latin typeface="Times New Roman" panose="02020603050405020304" pitchFamily="18" charset="0"/>
                <a:ea typeface="华文楷体" pitchFamily="2" charset="-122"/>
                <a:cs typeface="Times New Roman" panose="02020603050405020304" pitchFamily="18" charset="0"/>
              </a:rPr>
              <a:t>。将边</a:t>
            </a:r>
            <a:r>
              <a:rPr lang="en-US" altLang="zh-CN" sz="2800" b="0" dirty="0">
                <a:latin typeface="Times New Roman" panose="02020603050405020304" pitchFamily="18" charset="0"/>
                <a:ea typeface="华文楷体" pitchFamily="2" charset="-122"/>
                <a:cs typeface="Times New Roman" panose="02020603050405020304" pitchFamily="18" charset="0"/>
              </a:rPr>
              <a:t>( u, v ) </a:t>
            </a:r>
            <a:r>
              <a:rPr lang="zh-CN" altLang="en-US" sz="2800" b="0" dirty="0">
                <a:latin typeface="Times New Roman" panose="02020603050405020304" pitchFamily="18" charset="0"/>
                <a:ea typeface="华文楷体" pitchFamily="2" charset="-122"/>
                <a:cs typeface="Times New Roman" panose="02020603050405020304" pitchFamily="18" charset="0"/>
              </a:rPr>
              <a:t>添加到树 </a:t>
            </a:r>
            <a:r>
              <a:rPr lang="en-US" altLang="zh-CN" sz="2800" b="0" dirty="0">
                <a:latin typeface="Times New Roman" panose="02020603050405020304" pitchFamily="18" charset="0"/>
                <a:ea typeface="华文楷体" pitchFamily="2" charset="-122"/>
                <a:cs typeface="Times New Roman" panose="02020603050405020304" pitchFamily="18" charset="0"/>
              </a:rPr>
              <a:t>T </a:t>
            </a:r>
            <a:r>
              <a:rPr lang="zh-CN" altLang="en-US" sz="2800" b="0" dirty="0">
                <a:latin typeface="Times New Roman" panose="02020603050405020304" pitchFamily="18" charset="0"/>
                <a:ea typeface="华文楷体" pitchFamily="2" charset="-122"/>
                <a:cs typeface="Times New Roman" panose="02020603050405020304" pitchFamily="18" charset="0"/>
              </a:rPr>
              <a:t>，由于顶点 </a:t>
            </a:r>
            <a:r>
              <a:rPr lang="en-US" altLang="zh-CN" sz="2800" b="0" dirty="0">
                <a:latin typeface="Times New Roman" panose="02020603050405020304" pitchFamily="18" charset="0"/>
                <a:ea typeface="华文楷体" pitchFamily="2" charset="-122"/>
                <a:cs typeface="Times New Roman" panose="02020603050405020304" pitchFamily="18" charset="0"/>
              </a:rPr>
              <a:t>u, v </a:t>
            </a:r>
            <a:r>
              <a:rPr lang="zh-CN" altLang="en-US" sz="2800" b="0" dirty="0">
                <a:latin typeface="Times New Roman" panose="02020603050405020304" pitchFamily="18" charset="0"/>
                <a:ea typeface="华文楷体" pitchFamily="2" charset="-122"/>
                <a:cs typeface="Times New Roman" panose="02020603050405020304" pitchFamily="18" charset="0"/>
              </a:rPr>
              <a:t>本来就是连通的，现在又增加了一条新的通路，所以便形成了一条包含边 </a:t>
            </a:r>
            <a:r>
              <a:rPr lang="en-US" altLang="zh-CN" sz="2800" b="0" dirty="0">
                <a:latin typeface="Times New Roman" panose="02020603050405020304" pitchFamily="18" charset="0"/>
                <a:ea typeface="华文楷体" pitchFamily="2" charset="-122"/>
                <a:cs typeface="Times New Roman" panose="02020603050405020304" pitchFamily="18" charset="0"/>
              </a:rPr>
              <a:t>( u, v ) </a:t>
            </a:r>
            <a:r>
              <a:rPr lang="zh-CN" altLang="en-US" sz="2800" b="0" dirty="0">
                <a:latin typeface="Times New Roman" panose="02020603050405020304" pitchFamily="18" charset="0"/>
                <a:ea typeface="华文楷体" pitchFamily="2" charset="-122"/>
                <a:cs typeface="Times New Roman" panose="02020603050405020304" pitchFamily="18" charset="0"/>
              </a:rPr>
              <a:t>的回路。因此，必定存在另一条边  </a:t>
            </a:r>
            <a:r>
              <a:rPr lang="en-US" altLang="zh-CN" sz="2800" b="0" dirty="0">
                <a:latin typeface="Times New Roman" panose="02020603050405020304" pitchFamily="18" charset="0"/>
                <a:ea typeface="华文楷体" pitchFamily="2" charset="-122"/>
                <a:cs typeface="Times New Roman" panose="02020603050405020304" pitchFamily="18" charset="0"/>
              </a:rPr>
              <a:t>( u‘</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v‘  )</a:t>
            </a:r>
            <a:r>
              <a:rPr lang="zh-CN" altLang="en-US" sz="2800" b="0" dirty="0">
                <a:latin typeface="Times New Roman" panose="02020603050405020304" pitchFamily="18" charset="0"/>
                <a:ea typeface="华文楷体" pitchFamily="2" charset="-122"/>
                <a:cs typeface="Times New Roman" panose="02020603050405020304" pitchFamily="18" charset="0"/>
              </a:rPr>
              <a:t>，且 </a:t>
            </a:r>
            <a:r>
              <a:rPr lang="en-US" altLang="zh-CN" sz="2800" b="0" dirty="0">
                <a:latin typeface="Times New Roman" panose="02020603050405020304" pitchFamily="18" charset="0"/>
                <a:ea typeface="华文楷体" pitchFamily="2" charset="-122"/>
                <a:cs typeface="Times New Roman" panose="02020603050405020304" pitchFamily="18" charset="0"/>
              </a:rPr>
              <a:t>u’ ∈ U , v ‘ ∈V - U</a:t>
            </a:r>
            <a:r>
              <a:rPr lang="zh-CN" altLang="en-US" sz="2800" b="0" dirty="0">
                <a:latin typeface="Times New Roman" panose="02020603050405020304" pitchFamily="18" charset="0"/>
                <a:ea typeface="华文楷体" pitchFamily="2" charset="-122"/>
                <a:cs typeface="Times New Roman" panose="02020603050405020304" pitchFamily="18" charset="0"/>
              </a:rPr>
              <a:t>。为了消除上述的回路，可以将边 </a:t>
            </a:r>
            <a:r>
              <a:rPr lang="en-US" altLang="zh-CN" sz="2800" b="0" dirty="0">
                <a:latin typeface="Times New Roman" panose="02020603050405020304" pitchFamily="18" charset="0"/>
                <a:ea typeface="华文楷体" pitchFamily="2" charset="-122"/>
                <a:cs typeface="Times New Roman" panose="02020603050405020304" pitchFamily="18" charset="0"/>
              </a:rPr>
              <a:t>( u‘</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v‘ ) </a:t>
            </a:r>
            <a:r>
              <a:rPr lang="zh-CN" altLang="en-US" sz="2800" b="0" dirty="0">
                <a:latin typeface="Times New Roman" panose="02020603050405020304" pitchFamily="18" charset="0"/>
                <a:ea typeface="华文楷体" pitchFamily="2" charset="-122"/>
                <a:cs typeface="Times New Roman" panose="02020603050405020304" pitchFamily="18" charset="0"/>
              </a:rPr>
              <a:t>删除。记为 </a:t>
            </a:r>
            <a:r>
              <a:rPr lang="en-US" altLang="zh-CN" sz="2800" b="0" dirty="0">
                <a:latin typeface="Times New Roman" panose="02020603050405020304" pitchFamily="18" charset="0"/>
                <a:ea typeface="华文楷体" pitchFamily="2" charset="-122"/>
                <a:cs typeface="Times New Roman" panose="02020603050405020304" pitchFamily="18" charset="0"/>
              </a:rPr>
              <a:t>T‘</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T</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err="1">
                <a:latin typeface="Times New Roman" panose="02020603050405020304" pitchFamily="18" charset="0"/>
                <a:ea typeface="华文楷体" pitchFamily="2" charset="-122"/>
                <a:cs typeface="Times New Roman" panose="02020603050405020304" pitchFamily="18" charset="0"/>
              </a:rPr>
              <a:t>u,v</a:t>
            </a:r>
            <a:r>
              <a:rPr lang="en-US" altLang="zh-CN" sz="2800" b="0" dirty="0">
                <a:latin typeface="Times New Roman" panose="02020603050405020304" pitchFamily="18" charset="0"/>
                <a:ea typeface="华文楷体" pitchFamily="2" charset="-122"/>
                <a:cs typeface="Times New Roman" panose="02020603050405020304" pitchFamily="18" charset="0"/>
              </a:rPr>
              <a:t>)</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 u‘</a:t>
            </a:r>
            <a:r>
              <a:rPr lang="zh-CN" altLang="en-US" sz="2800" b="0" dirty="0">
                <a:latin typeface="Times New Roman" panose="02020603050405020304" pitchFamily="18" charset="0"/>
                <a:ea typeface="华文楷体" pitchFamily="2" charset="-122"/>
                <a:cs typeface="Times New Roman" panose="02020603050405020304" pitchFamily="18" charset="0"/>
              </a:rPr>
              <a:t>，</a:t>
            </a:r>
            <a:r>
              <a:rPr lang="en-US" altLang="zh-CN" sz="2800" b="0" dirty="0">
                <a:latin typeface="Times New Roman" panose="02020603050405020304" pitchFamily="18" charset="0"/>
                <a:ea typeface="华文楷体" pitchFamily="2" charset="-122"/>
                <a:cs typeface="Times New Roman" panose="02020603050405020304" pitchFamily="18" charset="0"/>
              </a:rPr>
              <a:t>v‘ )</a:t>
            </a:r>
            <a:r>
              <a:rPr lang="zh-CN" altLang="en-US" sz="2800" b="0" dirty="0">
                <a:latin typeface="Times New Roman" panose="02020603050405020304" pitchFamily="18" charset="0"/>
                <a:ea typeface="华文楷体" pitchFamily="2" charset="-122"/>
                <a:cs typeface="Times New Roman" panose="02020603050405020304" pitchFamily="18" charset="0"/>
              </a:rPr>
              <a:t>。 </a:t>
            </a:r>
            <a:r>
              <a:rPr lang="en-US" altLang="zh-CN" sz="2800" b="0" dirty="0">
                <a:latin typeface="Times New Roman" panose="02020603050405020304" pitchFamily="18" charset="0"/>
                <a:ea typeface="华文楷体" pitchFamily="2" charset="-122"/>
                <a:cs typeface="Times New Roman" panose="02020603050405020304" pitchFamily="18" charset="0"/>
              </a:rPr>
              <a:t>T‘ </a:t>
            </a:r>
            <a:r>
              <a:rPr lang="zh-CN" altLang="en-US" sz="2800" b="0" dirty="0">
                <a:latin typeface="Times New Roman" panose="02020603050405020304" pitchFamily="18" charset="0"/>
                <a:ea typeface="华文楷体" pitchFamily="2" charset="-122"/>
                <a:cs typeface="Times New Roman" panose="02020603050405020304" pitchFamily="18" charset="0"/>
              </a:rPr>
              <a:t>仍然包含 </a:t>
            </a:r>
            <a:r>
              <a:rPr lang="en-US" altLang="zh-CN" sz="2800" b="0" dirty="0">
                <a:latin typeface="Times New Roman" panose="02020603050405020304" pitchFamily="18" charset="0"/>
                <a:ea typeface="华文楷体" pitchFamily="2" charset="-122"/>
                <a:cs typeface="Times New Roman" panose="02020603050405020304" pitchFamily="18" charset="0"/>
              </a:rPr>
              <a:t>V </a:t>
            </a:r>
            <a:r>
              <a:rPr lang="zh-CN" altLang="en-US" sz="2800" b="0" dirty="0">
                <a:latin typeface="Times New Roman" panose="02020603050405020304" pitchFamily="18" charset="0"/>
                <a:ea typeface="华文楷体" pitchFamily="2" charset="-122"/>
                <a:cs typeface="Times New Roman" panose="02020603050405020304" pitchFamily="18" charset="0"/>
              </a:rPr>
              <a:t>的所有的顶点，而且这些顶点之间仍然是连通的，而且代价比</a:t>
            </a:r>
            <a:r>
              <a:rPr lang="en-US" altLang="zh-CN" sz="2800" b="0" dirty="0">
                <a:latin typeface="Times New Roman" panose="02020603050405020304" pitchFamily="18" charset="0"/>
                <a:ea typeface="华文楷体" pitchFamily="2" charset="-122"/>
                <a:cs typeface="Times New Roman" panose="02020603050405020304" pitchFamily="18" charset="0"/>
              </a:rPr>
              <a:t>T</a:t>
            </a:r>
            <a:r>
              <a:rPr lang="zh-CN" altLang="en-US" sz="2800" b="0" dirty="0">
                <a:latin typeface="Times New Roman" panose="02020603050405020304" pitchFamily="18" charset="0"/>
                <a:ea typeface="华文楷体" pitchFamily="2" charset="-122"/>
                <a:cs typeface="Times New Roman" panose="02020603050405020304" pitchFamily="18" charset="0"/>
              </a:rPr>
              <a:t>小。所以新的生成树 </a:t>
            </a:r>
            <a:r>
              <a:rPr lang="en-US" altLang="zh-CN" sz="2800" b="0" dirty="0">
                <a:latin typeface="Times New Roman" panose="02020603050405020304" pitchFamily="18" charset="0"/>
                <a:ea typeface="华文楷体" pitchFamily="2" charset="-122"/>
                <a:cs typeface="Times New Roman" panose="02020603050405020304" pitchFamily="18" charset="0"/>
              </a:rPr>
              <a:t>T ‘ </a:t>
            </a:r>
            <a:r>
              <a:rPr lang="zh-CN" altLang="en-US" sz="2800" b="0" dirty="0">
                <a:latin typeface="Times New Roman" panose="02020603050405020304" pitchFamily="18" charset="0"/>
                <a:ea typeface="华文楷体" pitchFamily="2" charset="-122"/>
                <a:cs typeface="Times New Roman" panose="02020603050405020304" pitchFamily="18" charset="0"/>
              </a:rPr>
              <a:t>将是代价最小的树。和原假设矛盾，原命题得证。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最短路径</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118273981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30399" y="2735372"/>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ea typeface="华文楷体" pitchFamily="2" charset="-122"/>
                <a:cs typeface="Times New Roman" panose="02020603050405020304" pitchFamily="18" charset="0"/>
              </a:rPr>
              <a:t>单源最短路径（</a:t>
            </a:r>
            <a:r>
              <a:rPr lang="en-US" altLang="zh-CN" sz="2800" dirty="0">
                <a:solidFill>
                  <a:srgbClr val="FF0000"/>
                </a:solidFill>
                <a:ea typeface="华文楷体" pitchFamily="2" charset="-122"/>
                <a:cs typeface="Times New Roman" panose="02020603050405020304" pitchFamily="18" charset="0"/>
              </a:rPr>
              <a:t> </a:t>
            </a:r>
            <a:r>
              <a:rPr lang="en-US" altLang="zh-CN" sz="2800" dirty="0" err="1">
                <a:solidFill>
                  <a:srgbClr val="FF0000"/>
                </a:solidFill>
                <a:ea typeface="华文楷体" pitchFamily="2" charset="-122"/>
                <a:cs typeface="Times New Roman" panose="02020603050405020304" pitchFamily="18" charset="0"/>
              </a:rPr>
              <a:t>Dijkstra</a:t>
            </a:r>
            <a:r>
              <a:rPr lang="en-US" altLang="zh-CN" sz="2800" dirty="0">
                <a:solidFill>
                  <a:srgbClr val="FF0000"/>
                </a:solidFill>
                <a:ea typeface="华文楷体" pitchFamily="2" charset="-122"/>
                <a:cs typeface="Times New Roman" panose="02020603050405020304" pitchFamily="18" charset="0"/>
              </a:rPr>
              <a:t> </a:t>
            </a:r>
            <a:r>
              <a:rPr lang="zh-CN" altLang="en-US" sz="2800" dirty="0">
                <a:solidFill>
                  <a:srgbClr val="FF0000"/>
                </a:solidFill>
                <a:ea typeface="华文楷体" pitchFamily="2" charset="-122"/>
                <a:cs typeface="Times New Roman" panose="02020603050405020304" pitchFamily="18" charset="0"/>
              </a:rPr>
              <a:t>算法）</a:t>
            </a:r>
            <a:endParaRPr lang="en-US" altLang="zh-CN" sz="2800" dirty="0">
              <a:solidFill>
                <a:srgbClr val="FF0000"/>
              </a:solidFill>
              <a:ea typeface="华文楷体" pitchFamily="2" charset="-122"/>
              <a:cs typeface="Times New Roman" panose="02020603050405020304" pitchFamily="18" charset="0"/>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ea typeface="华文楷体" pitchFamily="2" charset="-122"/>
                <a:cs typeface="Times New Roman" panose="02020603050405020304" pitchFamily="18" charset="0"/>
              </a:rPr>
              <a:t>顶点对间最短路径（</a:t>
            </a:r>
            <a:r>
              <a:rPr lang="en-US" altLang="zh-CN" sz="2800" dirty="0">
                <a:ea typeface="华文楷体" pitchFamily="2" charset="-122"/>
                <a:cs typeface="Times New Roman" panose="02020603050405020304" pitchFamily="18" charset="0"/>
              </a:rPr>
              <a:t> </a:t>
            </a:r>
            <a:r>
              <a:rPr lang="en-US" altLang="zh-CN" sz="2800" dirty="0">
                <a:cs typeface="Times New Roman" panose="02020603050405020304" pitchFamily="18" charset="0"/>
              </a:rPr>
              <a:t>Floyd</a:t>
            </a:r>
            <a:r>
              <a:rPr lang="en-US" altLang="zh-CN" sz="2800" dirty="0">
                <a:ea typeface="华文楷体" pitchFamily="2" charset="-122"/>
                <a:cs typeface="Times New Roman" panose="02020603050405020304" pitchFamily="18" charset="0"/>
              </a:rPr>
              <a:t> </a:t>
            </a:r>
            <a:r>
              <a:rPr lang="zh-CN" altLang="en-US" sz="2800" dirty="0">
                <a:ea typeface="华文楷体" pitchFamily="2" charset="-122"/>
                <a:cs typeface="Times New Roman" panose="02020603050405020304" pitchFamily="18" charset="0"/>
              </a:rPr>
              <a:t>算法）</a:t>
            </a:r>
            <a:endParaRPr lang="en-US" altLang="zh-CN" sz="2800" dirty="0">
              <a:ea typeface="华文楷体" pitchFamily="2" charset="-122"/>
              <a:cs typeface="Times New Roman" panose="02020603050405020304" pitchFamily="18" charset="0"/>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最短路径：</a:t>
            </a:r>
          </a:p>
        </p:txBody>
      </p:sp>
    </p:spTree>
    <p:extLst>
      <p:ext uri="{BB962C8B-B14F-4D97-AF65-F5344CB8AC3E}">
        <p14:creationId xmlns:p14="http://schemas.microsoft.com/office/powerpoint/2010/main" val="305110917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已知加权有向图</a:t>
            </a:r>
            <a:r>
              <a:rPr lang="en-US" altLang="zh-CN" sz="2800" b="0" dirty="0">
                <a:ea typeface="华文楷体" pitchFamily="2" charset="-122"/>
                <a:cs typeface="Times New Roman" panose="02020603050405020304" pitchFamily="18" charset="0"/>
              </a:rPr>
              <a:t>G = { V, E }</a:t>
            </a:r>
            <a:r>
              <a:rPr lang="zh-CN" altLang="zh-CN" sz="2800" b="0" dirty="0">
                <a:ea typeface="华文楷体" pitchFamily="2" charset="-122"/>
                <a:cs typeface="Times New Roman" panose="02020603050405020304" pitchFamily="18" charset="0"/>
              </a:rPr>
              <a:t>中每条边有一个权值，且权值为</a:t>
            </a:r>
            <a:r>
              <a:rPr lang="zh-CN" altLang="zh-CN" sz="2800" b="0" dirty="0">
                <a:solidFill>
                  <a:schemeClr val="accent1">
                    <a:lumMod val="60000"/>
                    <a:lumOff val="40000"/>
                  </a:schemeClr>
                </a:solidFill>
                <a:ea typeface="华文楷体" pitchFamily="2" charset="-122"/>
                <a:cs typeface="Times New Roman" panose="02020603050405020304" pitchFamily="18" charset="0"/>
              </a:rPr>
              <a:t>非负</a:t>
            </a:r>
            <a:r>
              <a:rPr lang="zh-CN" altLang="zh-CN" sz="2800" b="0" dirty="0">
                <a:ea typeface="华文楷体" pitchFamily="2" charset="-122"/>
                <a:cs typeface="Times New Roman" panose="02020603050405020304" pitchFamily="18" charset="0"/>
              </a:rPr>
              <a:t>值，其中</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中的一个顶点作为源点。要求找出从源点出发到达其它各个顶点的最短路径，即到达各个顶点时所经过的路径上各条边的权值之和最小，这就是</a:t>
            </a:r>
            <a:r>
              <a:rPr lang="zh-CN" altLang="zh-CN" sz="2800" dirty="0">
                <a:ea typeface="华文楷体" pitchFamily="2" charset="-122"/>
                <a:cs typeface="Times New Roman" panose="02020603050405020304" pitchFamily="18" charset="0"/>
              </a:rPr>
              <a:t>单源最短路径问题</a:t>
            </a:r>
            <a:r>
              <a:rPr lang="zh-CN" altLang="zh-CN" sz="2800" b="0" dirty="0">
                <a:ea typeface="华文楷体" pitchFamily="2" charset="-122"/>
                <a:cs typeface="Times New Roman" panose="02020603050405020304" pitchFamily="18" charset="0"/>
              </a:rPr>
              <a:t>。</a:t>
            </a: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求解单源最短路径常用的算法是</a:t>
            </a:r>
            <a:r>
              <a:rPr lang="en-US" altLang="zh-CN" sz="2800" dirty="0" err="1">
                <a:ea typeface="华文楷体" pitchFamily="2" charset="-122"/>
                <a:cs typeface="Times New Roman" panose="02020603050405020304" pitchFamily="18" charset="0"/>
              </a:rPr>
              <a:t>Dijkstra</a:t>
            </a:r>
            <a:r>
              <a:rPr lang="en-US" altLang="zh-CN" sz="2800" dirty="0">
                <a:ea typeface="华文楷体" pitchFamily="2" charset="-122"/>
                <a:cs typeface="Times New Roman" panose="02020603050405020304" pitchFamily="18" charset="0"/>
              </a:rPr>
              <a:t> </a:t>
            </a:r>
            <a:r>
              <a:rPr lang="zh-CN" altLang="zh-CN" sz="2800" dirty="0">
                <a:ea typeface="华文楷体" pitchFamily="2" charset="-122"/>
                <a:cs typeface="Times New Roman" panose="02020603050405020304" pitchFamily="18" charset="0"/>
              </a:rPr>
              <a:t>算法</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zh-CN" dirty="0">
                <a:latin typeface="华文楷体" pitchFamily="2" charset="-122"/>
                <a:ea typeface="华文楷体" pitchFamily="2" charset="-122"/>
              </a:rPr>
              <a:t>单源最短路径问题</a:t>
            </a:r>
            <a:r>
              <a:rPr lang="zh-CN" altLang="en-US" dirty="0"/>
              <a:t>：</a:t>
            </a:r>
          </a:p>
        </p:txBody>
      </p:sp>
    </p:spTree>
    <p:extLst>
      <p:ext uri="{BB962C8B-B14F-4D97-AF65-F5344CB8AC3E}">
        <p14:creationId xmlns:p14="http://schemas.microsoft.com/office/powerpoint/2010/main" val="309482429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59" y="1787463"/>
            <a:ext cx="11321910" cy="3170300"/>
          </a:xfrm>
        </p:spPr>
        <p:txBody>
          <a:bodyPr>
            <a:normAutofit/>
          </a:bodyPr>
          <a:lstStyle/>
          <a:p>
            <a:pPr marL="0" indent="0">
              <a:buNone/>
            </a:pPr>
            <a:r>
              <a:rPr lang="zh-CN" altLang="zh-CN" sz="2800" b="0" dirty="0">
                <a:ea typeface="华文楷体" pitchFamily="2" charset="-122"/>
                <a:cs typeface="Times New Roman" panose="02020603050405020304" pitchFamily="18" charset="0"/>
              </a:rPr>
              <a:t>每个顶点设置一个距离标签，标识源点到该顶点的最短距离；</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设置一个顶点集合</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，作为</a:t>
            </a:r>
            <a:r>
              <a:rPr lang="zh-CN" altLang="zh-CN" sz="2800" b="0" dirty="0">
                <a:solidFill>
                  <a:schemeClr val="accent1">
                    <a:lumMod val="60000"/>
                    <a:lumOff val="40000"/>
                  </a:schemeClr>
                </a:solidFill>
                <a:ea typeface="华文楷体" pitchFamily="2" charset="-122"/>
                <a:cs typeface="Times New Roman" panose="02020603050405020304" pitchFamily="18" charset="0"/>
              </a:rPr>
              <a:t>已经确定</a:t>
            </a:r>
            <a:r>
              <a:rPr lang="zh-CN" altLang="zh-CN" sz="2800" b="0" dirty="0">
                <a:ea typeface="华文楷体" pitchFamily="2" charset="-122"/>
                <a:cs typeface="Times New Roman" panose="02020603050405020304" pitchFamily="18" charset="0"/>
              </a:rPr>
              <a:t>最短路径的顶点集合。</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solidFill>
                  <a:schemeClr val="accent1">
                    <a:lumMod val="60000"/>
                    <a:lumOff val="40000"/>
                  </a:schemeClr>
                </a:solidFill>
                <a:ea typeface="华文楷体" pitchFamily="2" charset="-122"/>
                <a:cs typeface="Times New Roman" panose="02020603050405020304" pitchFamily="18" charset="0"/>
              </a:rPr>
              <a:t>初始</a:t>
            </a:r>
            <a:r>
              <a:rPr lang="zh-CN" altLang="zh-CN" sz="2800" b="0" dirty="0">
                <a:ea typeface="华文楷体" pitchFamily="2" charset="-122"/>
                <a:cs typeface="Times New Roman" panose="02020603050405020304" pitchFamily="18" charset="0"/>
              </a:rPr>
              <a:t>时，</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置为空且将每个顶点到源点的距离标签置为</a:t>
            </a:r>
            <a:r>
              <a:rPr lang="zh-CN" altLang="zh-CN" sz="2800" b="0" dirty="0">
                <a:solidFill>
                  <a:schemeClr val="accent1">
                    <a:lumMod val="60000"/>
                    <a:lumOff val="40000"/>
                  </a:schemeClr>
                </a:solidFill>
                <a:ea typeface="华文楷体" pitchFamily="2" charset="-122"/>
                <a:cs typeface="Times New Roman" panose="02020603050405020304" pitchFamily="18" charset="0"/>
              </a:rPr>
              <a:t>无穷大</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将源点放入</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中，源点的距离标签设置为</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，现在以源点作为当前顶点，循环做以下操作：</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Dijkstra</a:t>
            </a:r>
            <a:r>
              <a:rPr lang="en-US" altLang="zh-CN" dirty="0">
                <a:latin typeface="Times New Roman" panose="02020603050405020304" pitchFamily="18" charset="0"/>
                <a:ea typeface="华文楷体" pitchFamily="2" charset="-122"/>
                <a:cs typeface="Times New Roman" panose="02020603050405020304" pitchFamily="18" charset="0"/>
              </a:rPr>
              <a:t> </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思想：</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6946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6" y="1558863"/>
            <a:ext cx="11851354" cy="3656075"/>
          </a:xfrm>
        </p:spPr>
        <p:txBody>
          <a:bodyPr>
            <a:normAutofit fontScale="92500" lnSpcReduction="10000"/>
          </a:bodyPr>
          <a:lstStyle/>
          <a:p>
            <a:pPr marL="0" indent="0">
              <a:buNone/>
            </a:pPr>
            <a:r>
              <a:rPr lang="zh-CN" altLang="zh-CN" sz="2800" b="0" dirty="0">
                <a:ea typeface="华文楷体" pitchFamily="2" charset="-122"/>
                <a:cs typeface="Times New Roman" panose="02020603050405020304" pitchFamily="18" charset="0"/>
              </a:rPr>
              <a:t>沿当前顶点射出的各条边找到其每个邻接点，如有邻接点</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，如果</a:t>
            </a:r>
            <a:r>
              <a:rPr lang="zh-CN" altLang="zh-CN" sz="2800" b="0" u="sng" dirty="0">
                <a:ea typeface="华文楷体" pitchFamily="2" charset="-122"/>
                <a:cs typeface="Times New Roman" panose="02020603050405020304" pitchFamily="18" charset="0"/>
              </a:rPr>
              <a:t>当前顶点的距离</a:t>
            </a:r>
            <a:r>
              <a:rPr lang="zh-CN" altLang="zh-CN" sz="2800" b="0" dirty="0">
                <a:ea typeface="华文楷体" pitchFamily="2" charset="-122"/>
                <a:cs typeface="Times New Roman" panose="02020603050405020304" pitchFamily="18" charset="0"/>
              </a:rPr>
              <a:t>标签</a:t>
            </a:r>
            <a:r>
              <a:rPr lang="zh-CN" altLang="zh-CN" sz="2800" b="0" dirty="0">
                <a:solidFill>
                  <a:schemeClr val="accent1">
                    <a:lumMod val="60000"/>
                    <a:lumOff val="40000"/>
                  </a:schemeClr>
                </a:solidFill>
                <a:ea typeface="华文楷体" pitchFamily="2" charset="-122"/>
                <a:cs typeface="Times New Roman" panose="02020603050405020304" pitchFamily="18" charset="0"/>
              </a:rPr>
              <a:t>加上</a:t>
            </a:r>
            <a:r>
              <a:rPr lang="zh-CN" altLang="zh-CN" sz="2800" b="0" u="sng" dirty="0">
                <a:ea typeface="华文楷体" pitchFamily="2" charset="-122"/>
                <a:cs typeface="Times New Roman" panose="02020603050405020304" pitchFamily="18" charset="0"/>
              </a:rPr>
              <a:t>其到达顶点</a:t>
            </a:r>
            <a:r>
              <a:rPr lang="en-US" altLang="zh-CN" sz="2800" b="0" u="sng" dirty="0">
                <a:ea typeface="华文楷体" pitchFamily="2" charset="-122"/>
                <a:cs typeface="Times New Roman" panose="02020603050405020304" pitchFamily="18" charset="0"/>
              </a:rPr>
              <a:t>A</a:t>
            </a:r>
            <a:r>
              <a:rPr lang="zh-CN" altLang="zh-CN" sz="2800" b="0" u="sng" dirty="0">
                <a:ea typeface="华文楷体" pitchFamily="2" charset="-122"/>
                <a:cs typeface="Times New Roman" panose="02020603050405020304" pitchFamily="18" charset="0"/>
              </a:rPr>
              <a:t>的边的权值</a:t>
            </a:r>
            <a:r>
              <a:rPr lang="zh-CN" altLang="zh-CN" sz="2800" b="0" dirty="0">
                <a:solidFill>
                  <a:srgbClr val="FF0000"/>
                </a:solidFill>
                <a:ea typeface="华文楷体" pitchFamily="2" charset="-122"/>
                <a:cs typeface="Times New Roman" panose="02020603050405020304" pitchFamily="18" charset="0"/>
              </a:rPr>
              <a:t>小于</a:t>
            </a:r>
            <a:r>
              <a:rPr lang="zh-CN" altLang="zh-CN" sz="2800" b="0" u="sng" dirty="0">
                <a:ea typeface="华文楷体" pitchFamily="2" charset="-122"/>
                <a:cs typeface="Times New Roman" panose="02020603050405020304" pitchFamily="18" charset="0"/>
              </a:rPr>
              <a:t>顶点</a:t>
            </a:r>
            <a:r>
              <a:rPr lang="en-US" altLang="zh-CN" sz="2800" b="0" u="sng" dirty="0">
                <a:ea typeface="华文楷体" pitchFamily="2" charset="-122"/>
                <a:cs typeface="Times New Roman" panose="02020603050405020304" pitchFamily="18" charset="0"/>
              </a:rPr>
              <a:t>A</a:t>
            </a:r>
            <a:r>
              <a:rPr lang="zh-CN" altLang="zh-CN" sz="2800" b="0" u="sng" dirty="0">
                <a:ea typeface="华文楷体" pitchFamily="2" charset="-122"/>
                <a:cs typeface="Times New Roman" panose="02020603050405020304" pitchFamily="18" charset="0"/>
              </a:rPr>
              <a:t>上的距离</a:t>
            </a:r>
            <a:r>
              <a:rPr lang="zh-CN" altLang="zh-CN" sz="2800" b="0" dirty="0">
                <a:ea typeface="华文楷体" pitchFamily="2" charset="-122"/>
                <a:cs typeface="Times New Roman" panose="02020603050405020304" pitchFamily="18" charset="0"/>
              </a:rPr>
              <a:t>标签，则用当前顶点的距离标签加上边的权值</a:t>
            </a:r>
            <a:r>
              <a:rPr lang="zh-CN" altLang="zh-CN" sz="2800" b="0" dirty="0">
                <a:solidFill>
                  <a:schemeClr val="accent1">
                    <a:lumMod val="60000"/>
                    <a:lumOff val="40000"/>
                  </a:schemeClr>
                </a:solidFill>
                <a:ea typeface="华文楷体" pitchFamily="2" charset="-122"/>
                <a:cs typeface="Times New Roman" panose="02020603050405020304" pitchFamily="18" charset="0"/>
              </a:rPr>
              <a:t>刷新顶点</a:t>
            </a:r>
            <a:r>
              <a:rPr lang="en-US" altLang="zh-CN" sz="2800" b="0" dirty="0">
                <a:solidFill>
                  <a:schemeClr val="accent1">
                    <a:lumMod val="60000"/>
                    <a:lumOff val="40000"/>
                  </a:schemeClr>
                </a:solidFill>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上的距离标签；</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下一步，在</a:t>
            </a:r>
            <a:r>
              <a:rPr lang="en-US" altLang="zh-CN" sz="2800" b="0" dirty="0">
                <a:ea typeface="华文楷体" pitchFamily="2" charset="-122"/>
                <a:cs typeface="Times New Roman" panose="02020603050405020304" pitchFamily="18" charset="0"/>
              </a:rPr>
              <a:t>V-S</a:t>
            </a:r>
            <a:r>
              <a:rPr lang="zh-CN" altLang="zh-CN" sz="2800" b="0" dirty="0">
                <a:ea typeface="华文楷体" pitchFamily="2" charset="-122"/>
                <a:cs typeface="Times New Roman" panose="02020603050405020304" pitchFamily="18" charset="0"/>
              </a:rPr>
              <a:t>集合中找到</a:t>
            </a:r>
            <a:r>
              <a:rPr lang="zh-CN" altLang="zh-CN" sz="2800" b="0" dirty="0">
                <a:solidFill>
                  <a:schemeClr val="accent1">
                    <a:lumMod val="60000"/>
                    <a:lumOff val="40000"/>
                  </a:schemeClr>
                </a:solidFill>
                <a:ea typeface="华文楷体" pitchFamily="2" charset="-122"/>
                <a:cs typeface="Times New Roman" panose="02020603050405020304" pitchFamily="18" charset="0"/>
              </a:rPr>
              <a:t>距离</a:t>
            </a:r>
            <a:r>
              <a:rPr lang="zh-CN" altLang="zh-CN" sz="2800" b="0" dirty="0">
                <a:ea typeface="华文楷体" pitchFamily="2" charset="-122"/>
                <a:cs typeface="Times New Roman" panose="02020603050405020304" pitchFamily="18" charset="0"/>
              </a:rPr>
              <a:t>标签</a:t>
            </a:r>
            <a:r>
              <a:rPr lang="zh-CN" altLang="zh-CN" sz="2800" b="0" dirty="0">
                <a:solidFill>
                  <a:schemeClr val="accent1">
                    <a:lumMod val="60000"/>
                    <a:lumOff val="40000"/>
                  </a:schemeClr>
                </a:solidFill>
                <a:ea typeface="华文楷体" pitchFamily="2" charset="-122"/>
                <a:cs typeface="Times New Roman" panose="02020603050405020304" pitchFamily="18" charset="0"/>
              </a:rPr>
              <a:t>最小</a:t>
            </a:r>
            <a:r>
              <a:rPr lang="zh-CN" altLang="zh-CN" sz="2800" b="0" dirty="0">
                <a:ea typeface="华文楷体" pitchFamily="2" charset="-122"/>
                <a:cs typeface="Times New Roman" panose="02020603050405020304" pitchFamily="18" charset="0"/>
              </a:rPr>
              <a:t>的顶点，将该顶点放入</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中，并以它为当前顶点，再次进入循环。</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当所有顶点都进入</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时，循环结束。</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每个顶点上的距离标签即源点到这个顶点的最短距离。</a:t>
            </a: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Dijkstra</a:t>
            </a:r>
            <a:r>
              <a:rPr lang="en-US" altLang="zh-CN" dirty="0">
                <a:latin typeface="Times New Roman" panose="02020603050405020304" pitchFamily="18" charset="0"/>
                <a:ea typeface="华文楷体" pitchFamily="2" charset="-122"/>
                <a:cs typeface="Times New Roman" panose="02020603050405020304" pitchFamily="18" charset="0"/>
              </a:rPr>
              <a:t> </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思想：</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91030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Dijkstra</a:t>
            </a:r>
            <a:r>
              <a:rPr lang="en-US" altLang="zh-CN" dirty="0">
                <a:latin typeface="Times New Roman" panose="02020603050405020304" pitchFamily="18" charset="0"/>
                <a:ea typeface="华文楷体" pitchFamily="2" charset="-122"/>
                <a:cs typeface="Times New Roman" panose="02020603050405020304" pitchFamily="18" charset="0"/>
              </a:rPr>
              <a:t> </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示例：</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353667" y="1806437"/>
            <a:ext cx="3522594" cy="4037772"/>
          </a:xfrm>
          <a:prstGeom prst="rect">
            <a:avLst/>
          </a:prstGeom>
          <a:noFill/>
          <a:ln>
            <a:noFill/>
          </a:ln>
        </p:spPr>
      </p:pic>
      <p:pic>
        <p:nvPicPr>
          <p:cNvPr id="6" name="图片 5"/>
          <p:cNvPicPr/>
          <p:nvPr/>
        </p:nvPicPr>
        <p:blipFill>
          <a:blip r:embed="rId4">
            <a:extLst>
              <a:ext uri="{28A0092B-C50C-407E-A947-70E740481C1C}">
                <a14:useLocalDpi xmlns:a14="http://schemas.microsoft.com/office/drawing/2010/main" val="0"/>
              </a:ext>
            </a:extLst>
          </a:blip>
          <a:srcRect/>
          <a:stretch>
            <a:fillRect/>
          </a:stretch>
        </p:blipFill>
        <p:spPr bwMode="auto">
          <a:xfrm>
            <a:off x="4049368" y="1806437"/>
            <a:ext cx="7778198" cy="4196798"/>
          </a:xfrm>
          <a:prstGeom prst="rect">
            <a:avLst/>
          </a:prstGeom>
          <a:noFill/>
          <a:ln>
            <a:noFill/>
          </a:ln>
        </p:spPr>
      </p:pic>
    </p:spTree>
    <p:extLst>
      <p:ext uri="{BB962C8B-B14F-4D97-AF65-F5344CB8AC3E}">
        <p14:creationId xmlns:p14="http://schemas.microsoft.com/office/powerpoint/2010/main" val="39925288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Dijkstra</a:t>
            </a:r>
            <a:r>
              <a:rPr lang="en-US" altLang="zh-CN" dirty="0">
                <a:latin typeface="Times New Roman" panose="02020603050405020304" pitchFamily="18" charset="0"/>
                <a:ea typeface="华文楷体" pitchFamily="2" charset="-122"/>
                <a:cs typeface="Times New Roman" panose="02020603050405020304" pitchFamily="18" charset="0"/>
              </a:rPr>
              <a:t> </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示例：</a:t>
            </a:r>
            <a:endParaRPr lang="zh-CN" altLang="en-US" dirty="0">
              <a:latin typeface="Times New Roman" panose="02020603050405020304" pitchFamily="18" charset="0"/>
              <a:cs typeface="Times New Roman" panose="02020603050405020304" pitchFamily="18" charset="0"/>
            </a:endParaRP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1557544" y="1583842"/>
            <a:ext cx="8779151" cy="4260367"/>
          </a:xfrm>
          <a:prstGeom prst="rect">
            <a:avLst/>
          </a:prstGeom>
          <a:noFill/>
          <a:ln>
            <a:noFill/>
          </a:ln>
        </p:spPr>
      </p:pic>
    </p:spTree>
    <p:extLst>
      <p:ext uri="{BB962C8B-B14F-4D97-AF65-F5344CB8AC3E}">
        <p14:creationId xmlns:p14="http://schemas.microsoft.com/office/powerpoint/2010/main" val="83588887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Dijkstra</a:t>
            </a:r>
            <a:r>
              <a:rPr lang="en-US" altLang="zh-CN" dirty="0">
                <a:latin typeface="Times New Roman" panose="02020603050405020304" pitchFamily="18" charset="0"/>
                <a:ea typeface="华文楷体" pitchFamily="2" charset="-122"/>
                <a:cs typeface="Times New Roman" panose="02020603050405020304" pitchFamily="18" charset="0"/>
              </a:rPr>
              <a:t> </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示例：</a:t>
            </a:r>
            <a:endParaRPr lang="zh-CN" altLang="en-US" dirty="0">
              <a:latin typeface="Times New Roman" panose="02020603050405020304" pitchFamily="18" charset="0"/>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391202" y="1793806"/>
            <a:ext cx="8743720" cy="3891378"/>
          </a:xfrm>
          <a:prstGeom prst="rect">
            <a:avLst/>
          </a:prstGeom>
          <a:noFill/>
          <a:ln>
            <a:noFill/>
          </a:ln>
        </p:spPr>
      </p:pic>
    </p:spTree>
    <p:extLst>
      <p:ext uri="{BB962C8B-B14F-4D97-AF65-F5344CB8AC3E}">
        <p14:creationId xmlns:p14="http://schemas.microsoft.com/office/powerpoint/2010/main" val="92519305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3" y="1538984"/>
            <a:ext cx="11287320" cy="4663033"/>
          </a:xfrm>
        </p:spPr>
        <p:txBody>
          <a:bodyPr>
            <a:noAutofit/>
          </a:bodyPr>
          <a:lstStyle/>
          <a:p>
            <a:pPr marL="0" indent="0">
              <a:buNone/>
            </a:pPr>
            <a:r>
              <a:rPr lang="zh-CN" altLang="zh-CN" sz="2800" b="0" dirty="0">
                <a:ea typeface="华文楷体" pitchFamily="2" charset="-122"/>
                <a:cs typeface="Times New Roman" panose="02020603050405020304" pitchFamily="18" charset="0"/>
              </a:rPr>
              <a:t>最初</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中只有源点</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，而自源点</a:t>
            </a:r>
            <a:r>
              <a:rPr lang="en-US" altLang="zh-CN" sz="2800" b="0" dirty="0">
                <a:ea typeface="华文楷体" pitchFamily="2" charset="-122"/>
                <a:cs typeface="Times New Roman" panose="02020603050405020304" pitchFamily="18" charset="0"/>
              </a:rPr>
              <a:t>E </a:t>
            </a:r>
            <a:r>
              <a:rPr lang="zh-CN" altLang="zh-CN" sz="2800" b="0" dirty="0">
                <a:ea typeface="华文楷体" pitchFamily="2" charset="-122"/>
                <a:cs typeface="Times New Roman" panose="02020603050405020304" pitchFamily="18" charset="0"/>
              </a:rPr>
              <a:t>出发到达</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F</a:t>
            </a:r>
            <a:r>
              <a:rPr lang="zh-CN" altLang="zh-CN" sz="2800" b="0" dirty="0">
                <a:ea typeface="华文楷体" pitchFamily="2" charset="-122"/>
                <a:cs typeface="Times New Roman" panose="02020603050405020304" pitchFamily="18" charset="0"/>
              </a:rPr>
              <a:t>的最短路径距离分别为</a:t>
            </a:r>
            <a:r>
              <a:rPr lang="en-US" altLang="zh-CN" sz="2800" b="0" dirty="0">
                <a:ea typeface="华文楷体" pitchFamily="2" charset="-122"/>
                <a:cs typeface="Times New Roman" panose="02020603050405020304" pitchFamily="18" charset="0"/>
              </a:rPr>
              <a:t>5</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10</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80</a:t>
            </a:r>
            <a:r>
              <a:rPr lang="zh-CN" altLang="zh-CN" sz="2800" b="0" dirty="0">
                <a:ea typeface="华文楷体" pitchFamily="2" charset="-122"/>
                <a:cs typeface="Times New Roman" panose="02020603050405020304" pitchFamily="18" charset="0"/>
              </a:rPr>
              <a:t>，其中</a:t>
            </a:r>
            <a:r>
              <a:rPr lang="en-US" altLang="zh-CN" sz="2800" b="0" dirty="0">
                <a:ea typeface="华文楷体" pitchFamily="2" charset="-122"/>
                <a:cs typeface="Times New Roman" panose="02020603050405020304" pitchFamily="18" charset="0"/>
              </a:rPr>
              <a:t>5</a:t>
            </a:r>
            <a:r>
              <a:rPr lang="zh-CN" altLang="zh-CN" sz="2800" b="0" dirty="0">
                <a:ea typeface="华文楷体" pitchFamily="2" charset="-122"/>
                <a:cs typeface="Times New Roman" panose="02020603050405020304" pitchFamily="18" charset="0"/>
              </a:rPr>
              <a:t>最短，由此确定了源点</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到顶点</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的最终最短路径距离就是</a:t>
            </a:r>
            <a:r>
              <a:rPr lang="en-US" altLang="zh-CN" sz="2800" b="0" dirty="0">
                <a:ea typeface="华文楷体" pitchFamily="2" charset="-122"/>
                <a:cs typeface="Times New Roman" panose="02020603050405020304" pitchFamily="18" charset="0"/>
              </a:rPr>
              <a:t>5</a:t>
            </a:r>
            <a:r>
              <a:rPr lang="zh-CN" altLang="zh-CN" sz="2800" b="0" dirty="0">
                <a:ea typeface="华文楷体" pitchFamily="2" charset="-122"/>
                <a:cs typeface="Times New Roman" panose="02020603050405020304" pitchFamily="18" charset="0"/>
              </a:rPr>
              <a:t>，将顶点</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并入顶点集</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，以后就不再考虑为</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计算新的距离。</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为什么</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现在的最短距离就是最终源点到它的最短距离？有没有另外一条经过</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F</a:t>
            </a:r>
            <a:r>
              <a:rPr lang="zh-CN" altLang="zh-CN" sz="2800" b="0" dirty="0">
                <a:ea typeface="华文楷体" pitchFamily="2" charset="-122"/>
                <a:cs typeface="Times New Roman" panose="02020603050405020304" pitchFamily="18" charset="0"/>
              </a:rPr>
              <a:t>之一并到达</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的路径长度小于</a:t>
            </a:r>
            <a:r>
              <a:rPr lang="en-US" altLang="zh-CN" sz="2800" b="0" dirty="0">
                <a:ea typeface="华文楷体" pitchFamily="2" charset="-122"/>
                <a:cs typeface="Times New Roman" panose="02020603050405020304" pitchFamily="18" charset="0"/>
              </a:rPr>
              <a:t>5</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由此可以看出，</a:t>
            </a:r>
            <a:r>
              <a:rPr lang="en-US" altLang="zh-CN" sz="2800" b="0" dirty="0" err="1">
                <a:ea typeface="华文楷体" pitchFamily="2" charset="-122"/>
                <a:cs typeface="Times New Roman" panose="02020603050405020304" pitchFamily="18" charset="0"/>
              </a:rPr>
              <a:t>Dijikstra</a:t>
            </a:r>
            <a:r>
              <a:rPr lang="zh-CN" altLang="en-US" sz="2800" b="0" dirty="0">
                <a:ea typeface="华文楷体" pitchFamily="2" charset="-122"/>
                <a:cs typeface="Times New Roman" panose="02020603050405020304" pitchFamily="18" charset="0"/>
              </a:rPr>
              <a:t>算法是一个贪心算法。</a:t>
            </a:r>
            <a:r>
              <a:rPr lang="zh-CN" altLang="zh-CN" sz="2800" b="0" dirty="0">
                <a:ea typeface="华文楷体" pitchFamily="2" charset="-122"/>
                <a:cs typeface="Times New Roman" panose="02020603050405020304" pitchFamily="18" charset="0"/>
              </a:rPr>
              <a:t>算法正确的条件是边上</a:t>
            </a:r>
            <a:r>
              <a:rPr lang="zh-CN" altLang="zh-CN" sz="2800" b="0" dirty="0">
                <a:solidFill>
                  <a:srgbClr val="FF0000"/>
                </a:solidFill>
                <a:ea typeface="华文楷体" pitchFamily="2" charset="-122"/>
                <a:cs typeface="Times New Roman" panose="02020603050405020304" pitchFamily="18" charset="0"/>
              </a:rPr>
              <a:t>不带负的权值</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Dijkstra</a:t>
            </a:r>
            <a:r>
              <a:rPr lang="en-US" altLang="zh-CN" dirty="0">
                <a:latin typeface="Times New Roman" panose="02020603050405020304" pitchFamily="18" charset="0"/>
                <a:ea typeface="华文楷体" pitchFamily="2" charset="-122"/>
                <a:cs typeface="Times New Roman" panose="02020603050405020304" pitchFamily="18" charset="0"/>
              </a:rPr>
              <a:t> </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中的问题：</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033781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Dijikstra</a:t>
            </a:r>
            <a:r>
              <a:rPr lang="zh-CN" altLang="en-US" dirty="0">
                <a:latin typeface="Times New Roman" panose="02020603050405020304" pitchFamily="18" charset="0"/>
                <a:ea typeface="华文楷体" pitchFamily="2" charset="-122"/>
                <a:cs typeface="Times New Roman" panose="02020603050405020304" pitchFamily="18" charset="0"/>
              </a:rPr>
              <a:t>算法实现：</a:t>
            </a:r>
            <a:endParaRPr lang="zh-CN" altLang="en-US"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27619801-3E7A-47C6-9733-7C7299C7FC2F}"/>
              </a:ext>
            </a:extLst>
          </p:cNvPr>
          <p:cNvSpPr/>
          <p:nvPr/>
        </p:nvSpPr>
        <p:spPr>
          <a:xfrm>
            <a:off x="499672" y="2025743"/>
            <a:ext cx="6096000" cy="1077218"/>
          </a:xfrm>
          <a:prstGeom prst="rect">
            <a:avLst/>
          </a:prstGeom>
        </p:spPr>
        <p:txBody>
          <a:bodyPr>
            <a:spAutoFit/>
          </a:bodyPr>
          <a:lstStyle/>
          <a:p>
            <a:pPr>
              <a:buFont typeface="Wingdings" panose="05000000000000000000" pitchFamily="2" charset="2"/>
              <a:buChar char="Ø"/>
            </a:pPr>
            <a:r>
              <a:rPr lang="zh-CN" altLang="en-US" sz="3200" dirty="0">
                <a:solidFill>
                  <a:srgbClr val="FF0000"/>
                </a:solidFill>
                <a:ea typeface="华文楷体" pitchFamily="2" charset="-122"/>
                <a:cs typeface="Times New Roman" panose="02020603050405020304" pitchFamily="18" charset="0"/>
              </a:rPr>
              <a:t>邻接矩阵</a:t>
            </a:r>
            <a:endParaRPr lang="zh-CN" altLang="zh-CN" sz="3200" dirty="0">
              <a:solidFill>
                <a:srgbClr val="FF0000"/>
              </a:solidFill>
              <a:ea typeface="华文楷体" pitchFamily="2" charset="-122"/>
              <a:cs typeface="Times New Roman" panose="02020603050405020304" pitchFamily="18" charset="0"/>
            </a:endParaRPr>
          </a:p>
          <a:p>
            <a:pPr>
              <a:buFont typeface="Wingdings" panose="05000000000000000000" pitchFamily="2" charset="2"/>
              <a:buChar char="Ø"/>
            </a:pPr>
            <a:r>
              <a:rPr lang="zh-CN" altLang="en-US" sz="3200" dirty="0">
                <a:ea typeface="华文楷体" pitchFamily="2" charset="-122"/>
                <a:cs typeface="Times New Roman" panose="02020603050405020304" pitchFamily="18" charset="0"/>
              </a:rPr>
              <a:t>邻接表</a:t>
            </a:r>
            <a:endParaRPr lang="zh-CN" altLang="en-US" sz="3200" dirty="0"/>
          </a:p>
        </p:txBody>
      </p:sp>
    </p:spTree>
    <p:extLst>
      <p:ext uri="{BB962C8B-B14F-4D97-AF65-F5344CB8AC3E}">
        <p14:creationId xmlns:p14="http://schemas.microsoft.com/office/powerpoint/2010/main" val="155453842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9"/>
            <a:ext cx="11162883" cy="1880078"/>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当图中边带有权值时，可以用</a:t>
            </a:r>
            <a:r>
              <a:rPr lang="zh-CN" altLang="zh-CN" sz="2800" dirty="0">
                <a:ea typeface="华文楷体" pitchFamily="2" charset="-122"/>
                <a:cs typeface="Times New Roman" panose="02020603050405020304" pitchFamily="18" charset="0"/>
              </a:rPr>
              <a:t>加权邻接矩阵</a:t>
            </a:r>
            <a:r>
              <a:rPr lang="zh-CN" altLang="zh-CN" sz="2800" b="0" dirty="0">
                <a:ea typeface="华文楷体" pitchFamily="2" charset="-122"/>
                <a:cs typeface="Times New Roman" panose="02020603050405020304" pitchFamily="18" charset="0"/>
              </a:rPr>
              <a:t>表示加权有向图或无向图。</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如果顶点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有一条有向边且它的权值为</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，可令</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][j]=w</a:t>
            </a:r>
            <a:r>
              <a:rPr lang="zh-CN" altLang="zh-CN" sz="2800" b="0" dirty="0">
                <a:ea typeface="华文楷体" pitchFamily="2" charset="-122"/>
                <a:cs typeface="Times New Roman" panose="02020603050405020304" pitchFamily="18" charset="0"/>
              </a:rPr>
              <a:t>；如果顶点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没有边相连，可令</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∞；主对角线上的元素依然有</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462443" y="3359427"/>
            <a:ext cx="7555396" cy="2969866"/>
          </a:xfrm>
          <a:prstGeom prst="rect">
            <a:avLst/>
          </a:prstGeom>
          <a:noFill/>
          <a:ln>
            <a:noFill/>
          </a:ln>
        </p:spPr>
      </p:pic>
    </p:spTree>
    <p:extLst>
      <p:ext uri="{BB962C8B-B14F-4D97-AF65-F5344CB8AC3E}">
        <p14:creationId xmlns:p14="http://schemas.microsoft.com/office/powerpoint/2010/main" val="125239656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604706"/>
            <a:ext cx="11447161" cy="605451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 20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edges;   //</a:t>
            </a:r>
            <a:r>
              <a:rPr lang="zh-CN" altLang="zh-CN" b="0" dirty="0">
                <a:ea typeface="华文楷体" panose="02010600040101010101" pitchFamily="2" charset="-122"/>
                <a:cs typeface="Times New Roman" panose="02020603050405020304" pitchFamily="18" charset="0"/>
              </a:rPr>
              <a:t>图的实际顶点数和实际边数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图顶点的最大可能数量</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verType</a:t>
            </a:r>
            <a:r>
              <a:rPr lang="en-US" altLang="zh-CN"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verList</a:t>
            </a: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保存顶点数据的一维数组</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edgeType</a:t>
            </a:r>
            <a:r>
              <a:rPr lang="en-US" altLang="zh-CN" dirty="0">
                <a:ea typeface="华文楷体" panose="02010600040101010101" pitchFamily="2" charset="-122"/>
                <a:cs typeface="Times New Roman" panose="02020603050405020304" pitchFamily="18" charset="0"/>
              </a:rPr>
              <a:t> **</a:t>
            </a:r>
            <a:r>
              <a:rPr lang="en-US" altLang="zh-CN" dirty="0" err="1">
                <a:ea typeface="华文楷体" panose="02010600040101010101" pitchFamily="2" charset="-122"/>
                <a:cs typeface="Times New Roman" panose="02020603050405020304" pitchFamily="18" charset="0"/>
              </a:rPr>
              <a:t>edgeMatrix</a:t>
            </a: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保存邻接矩阵内容的二维数组</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无边的标志</a:t>
            </a:r>
            <a:r>
              <a:rPr lang="zh-CN" altLang="en-US" b="0" dirty="0">
                <a:ea typeface="华文楷体" panose="02010600040101010101" pitchFamily="2" charset="-122"/>
                <a:cs typeface="Times New Roman" panose="02020603050405020304" pitchFamily="18" charset="0"/>
              </a:rPr>
              <a:t>，无穷大</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directed;          //</a:t>
            </a:r>
            <a:r>
              <a:rPr lang="zh-CN" altLang="zh-CN" b="0" dirty="0">
                <a:ea typeface="华文楷体" panose="02010600040101010101" pitchFamily="2" charset="-122"/>
                <a:cs typeface="Times New Roman" panose="02020603050405020304" pitchFamily="18" charset="0"/>
              </a:rPr>
              <a:t>有向图为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，无向图为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437AFA80-53F9-4E34-8E99-80BBED4F3CD6}"/>
              </a:ext>
            </a:extLst>
          </p:cNvPr>
          <p:cNvSpPr txBox="1"/>
          <p:nvPr/>
        </p:nvSpPr>
        <p:spPr>
          <a:xfrm>
            <a:off x="9820405" y="3958225"/>
            <a:ext cx="933269" cy="523220"/>
          </a:xfrm>
          <a:prstGeom prst="rect">
            <a:avLst/>
          </a:prstGeom>
          <a:noFill/>
        </p:spPr>
        <p:txBody>
          <a:bodyPr wrap="none" rtlCol="0">
            <a:spAutoFit/>
          </a:bodyPr>
          <a:lstStyle/>
          <a:p>
            <a:r>
              <a:rPr lang="en-US" altLang="zh-CN" sz="2800" dirty="0">
                <a:solidFill>
                  <a:srgbClr val="FF0000"/>
                </a:solidFill>
              </a:rPr>
              <a:t>P131</a:t>
            </a:r>
            <a:endParaRPr lang="zh-CN" altLang="en-US" sz="2800" dirty="0">
              <a:solidFill>
                <a:srgbClr val="FF0000"/>
              </a:solidFill>
            </a:endParaRPr>
          </a:p>
        </p:txBody>
      </p:sp>
    </p:spTree>
    <p:extLst>
      <p:ext uri="{BB962C8B-B14F-4D97-AF65-F5344CB8AC3E}">
        <p14:creationId xmlns:p14="http://schemas.microsoft.com/office/powerpoint/2010/main" val="121428109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2" y="1538984"/>
            <a:ext cx="5503563" cy="4941328"/>
          </a:xfrm>
        </p:spPr>
        <p:txBody>
          <a:bodyPr>
            <a:normAutofit lnSpcReduction="10000"/>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struct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DijkstraNode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source; //</a:t>
            </a:r>
            <a:r>
              <a:rPr lang="zh-CN" altLang="zh-CN" b="0" dirty="0">
                <a:ea typeface="华文楷体" panose="02010600040101010101" pitchFamily="2" charset="-122"/>
                <a:cs typeface="Times New Roman" panose="02020603050405020304" pitchFamily="18" charset="0"/>
              </a:rPr>
              <a:t>当前最短路径上前一顶点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当前最短路径距离</a:t>
            </a:r>
          </a:p>
          <a:p>
            <a:pPr marL="0" indent="0">
              <a:buNone/>
            </a:pPr>
            <a:r>
              <a:rPr lang="en-US" altLang="zh-CN" b="0" dirty="0">
                <a:ea typeface="华文楷体" panose="02010600040101010101" pitchFamily="2" charset="-122"/>
                <a:cs typeface="Times New Roman" panose="02020603050405020304" pitchFamily="18" charset="0"/>
              </a:rPr>
              <a:t>    bool selected; </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顶点是否已经在</a:t>
            </a:r>
            <a:r>
              <a:rPr lang="en-US" altLang="zh-CN" b="0" dirty="0">
                <a:ea typeface="华文楷体" panose="02010600040101010101" pitchFamily="2" charset="-122"/>
                <a:cs typeface="Times New Roman" panose="02020603050405020304" pitchFamily="18" charset="0"/>
              </a:rPr>
              <a:t>S</a:t>
            </a:r>
            <a:r>
              <a:rPr lang="zh-CN" altLang="zh-CN" b="0" dirty="0">
                <a:ea typeface="华文楷体" panose="02010600040101010101" pitchFamily="2" charset="-122"/>
                <a:cs typeface="Times New Roman" panose="02020603050405020304" pitchFamily="18" charset="0"/>
              </a:rPr>
              <a:t>中的标志</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a:t>
            </a:r>
            <a:endParaRPr lang="zh-CN" altLang="zh-CN"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en-US" altLang="zh-CN" dirty="0" err="1">
                <a:latin typeface="Times New Roman" panose="02020603050405020304" pitchFamily="18" charset="0"/>
                <a:ea typeface="华文楷体" pitchFamily="2" charset="-122"/>
                <a:cs typeface="Times New Roman" panose="02020603050405020304" pitchFamily="18" charset="0"/>
              </a:rPr>
              <a:t>Dijikstra</a:t>
            </a:r>
            <a:r>
              <a:rPr lang="zh-CN" altLang="en-US" dirty="0">
                <a:latin typeface="Times New Roman" panose="02020603050405020304" pitchFamily="18" charset="0"/>
                <a:ea typeface="华文楷体" pitchFamily="2" charset="-122"/>
                <a:cs typeface="Times New Roman" panose="02020603050405020304" pitchFamily="18" charset="0"/>
              </a:rPr>
              <a:t>算法实现：</a:t>
            </a:r>
            <a:endParaRPr lang="zh-CN" altLang="en-US" dirty="0">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a:xfrm>
            <a:off x="6072854" y="1328329"/>
            <a:ext cx="5774589" cy="494132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Dijkstra</a:t>
            </a:r>
            <a:r>
              <a:rPr lang="en-US" altLang="zh-CN" b="0" dirty="0">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start) </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DijkstraNode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记录集合</a:t>
            </a:r>
            <a:r>
              <a:rPr lang="en-US" altLang="zh-CN" b="0" dirty="0">
                <a:ea typeface="华文楷体" panose="02010600040101010101" pitchFamily="2" charset="-122"/>
                <a:cs typeface="Times New Roman" panose="02020603050405020304" pitchFamily="18" charset="0"/>
              </a:rPr>
              <a:t>U</a:t>
            </a:r>
            <a:r>
              <a:rPr lang="zh-CN" altLang="zh-CN" b="0" dirty="0">
                <a:ea typeface="华文楷体" panose="02010600040101010101" pitchFamily="2" charset="-122"/>
                <a:cs typeface="Times New Roman" panose="02020603050405020304" pitchFamily="18" charset="0"/>
              </a:rPr>
              <a:t>中顶点的个数</a:t>
            </a: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min; //</a:t>
            </a:r>
            <a:r>
              <a:rPr lang="zh-CN" altLang="zh-CN" b="0" dirty="0">
                <a:ea typeface="华文楷体" panose="02010600040101010101" pitchFamily="2" charset="-122"/>
                <a:cs typeface="Times New Roman" panose="02020603050405020304" pitchFamily="18" charset="0"/>
              </a:rPr>
              <a:t>选出的当前离集合最短的顶点</a:t>
            </a: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3" name="直接连接符 2"/>
          <p:cNvCxnSpPr/>
          <p:nvPr/>
        </p:nvCxnSpPr>
        <p:spPr>
          <a:xfrm>
            <a:off x="5941968" y="1328329"/>
            <a:ext cx="61267" cy="55296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55012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21376" y="1328329"/>
            <a:ext cx="6298695" cy="4941328"/>
          </a:xfrm>
        </p:spPr>
        <p:txBody>
          <a:bodyPr>
            <a:normAutofit lnSpcReduction="10000"/>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查找起始点下标</a:t>
            </a:r>
          </a:p>
          <a:p>
            <a:pPr marL="0" indent="0">
              <a:lnSpc>
                <a:spcPct val="140000"/>
              </a:lnSpc>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p>
          <a:p>
            <a:pPr marL="0" indent="0">
              <a:lnSpc>
                <a:spcPct val="140000"/>
              </a:lnSpc>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start)   break;</a:t>
            </a:r>
            <a:endParaRPr lang="zh-CN"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a:t>
            </a:r>
            <a:endParaRPr lang="zh-CN" altLang="zh-CN" b="0" dirty="0">
              <a:ea typeface="华文楷体" panose="02010600040101010101" pitchFamily="2" charset="-122"/>
              <a:cs typeface="Times New Roman" panose="02020603050405020304" pitchFamily="18" charset="0"/>
            </a:endParaRP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创建空间并初始化</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数组</a:t>
            </a:r>
          </a:p>
          <a:p>
            <a:pPr marL="0" indent="0">
              <a:lnSpc>
                <a:spcPct val="140000"/>
              </a:lnSpc>
              <a:buNone/>
            </a:pP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    </a:t>
            </a:r>
            <a:r>
              <a:rPr lang="en-US" altLang="zh-CN" b="0" dirty="0" err="1">
                <a:solidFill>
                  <a:schemeClr val="accent1">
                    <a:lumMod val="60000"/>
                    <a:lumOff val="40000"/>
                  </a:schemeClr>
                </a:solidFill>
                <a:ea typeface="华文楷体" panose="02010600040101010101" pitchFamily="2" charset="-122"/>
                <a:cs typeface="Times New Roman" panose="02020603050405020304" pitchFamily="18" charset="0"/>
              </a:rPr>
              <a:t>startInt</a:t>
            </a:r>
            <a:r>
              <a:rPr lang="en-US" altLang="zh-CN" b="0" dirty="0">
                <a:solidFill>
                  <a:schemeClr val="accent1">
                    <a:lumMod val="60000"/>
                    <a:lumOff val="40000"/>
                  </a:schemeClr>
                </a:solidFill>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DijkstraNode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dirty="0">
              <a:ea typeface="华文楷体" panose="02010600040101010101" pitchFamily="2" charset="-122"/>
              <a:cs typeface="Times New Roman" panose="02020603050405020304" pitchFamily="18" charset="0"/>
            </a:endParaRPr>
          </a:p>
        </p:txBody>
      </p:sp>
      <p:sp>
        <p:nvSpPr>
          <p:cNvPr id="4" name="Rectangle 3"/>
          <p:cNvSpPr txBox="1">
            <a:spLocks noChangeArrowheads="1"/>
          </p:cNvSpPr>
          <p:nvPr/>
        </p:nvSpPr>
        <p:spPr>
          <a:xfrm>
            <a:off x="6935880" y="734267"/>
            <a:ext cx="4434485" cy="578580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p>
          <a:p>
            <a:pPr marL="0" indent="0">
              <a:lnSpc>
                <a:spcPct val="140000"/>
              </a:lnSpc>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].source = -1;   </a:t>
            </a: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p>
          <a:p>
            <a:pPr marL="0" indent="0">
              <a:lnSpc>
                <a:spcPct val="140000"/>
              </a:lnSpc>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].selected = false;    } </a:t>
            </a:r>
            <a:r>
              <a:rPr lang="en-US" altLang="zh-CN"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从下标为</a:t>
            </a:r>
            <a:r>
              <a:rPr lang="en-US" altLang="zh-CN" b="0" dirty="0" err="1">
                <a:ea typeface="华文楷体" panose="02010600040101010101" pitchFamily="2" charset="-122"/>
                <a:cs typeface="Times New Roman" panose="02020603050405020304" pitchFamily="18" charset="0"/>
              </a:rPr>
              <a:t>startInt</a:t>
            </a:r>
            <a:r>
              <a:rPr lang="zh-CN" altLang="zh-CN" b="0" dirty="0">
                <a:ea typeface="华文楷体" panose="02010600040101010101" pitchFamily="2" charset="-122"/>
                <a:cs typeface="Times New Roman" panose="02020603050405020304" pitchFamily="18" charset="0"/>
              </a:rPr>
              <a:t>的点开始</a:t>
            </a:r>
          </a:p>
          <a:p>
            <a:pPr marL="0" indent="0">
              <a:buNone/>
            </a:pPr>
            <a:r>
              <a:rPr lang="en-US" altLang="zh-CN" b="0" dirty="0">
                <a:ea typeface="华文楷体" panose="02010600040101010101" pitchFamily="2" charset="-122"/>
                <a:cs typeface="Times New Roman" panose="02020603050405020304" pitchFamily="18" charset="0"/>
              </a:rPr>
              <a:t>    min = </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].source = </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startInt</a:t>
            </a:r>
            <a:r>
              <a:rPr lang="en-US" altLang="zh-CN" b="0" dirty="0">
                <a:ea typeface="华文楷体" panose="02010600040101010101" pitchFamily="2" charset="-122"/>
                <a:cs typeface="Times New Roman" panose="02020603050405020304" pitchFamily="18" charset="0"/>
              </a:rPr>
              <a:t>].selected = true;</a:t>
            </a:r>
            <a:endParaRPr lang="zh-CN" altLang="zh-CN" b="0" dirty="0">
              <a:ea typeface="华文楷体" panose="02010600040101010101" pitchFamily="2" charset="-122"/>
              <a:cs typeface="Times New Roman" panose="02020603050405020304" pitchFamily="18" charset="0"/>
            </a:endParaRPr>
          </a:p>
        </p:txBody>
      </p:sp>
      <p:cxnSp>
        <p:nvCxnSpPr>
          <p:cNvPr id="3" name="直接连接符 2"/>
          <p:cNvCxnSpPr/>
          <p:nvPr/>
        </p:nvCxnSpPr>
        <p:spPr>
          <a:xfrm>
            <a:off x="6697342" y="1328329"/>
            <a:ext cx="61267" cy="55296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867899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82358" y="644461"/>
            <a:ext cx="11427284" cy="6213539"/>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根据</a:t>
            </a:r>
            <a:r>
              <a:rPr lang="en-US" altLang="zh-CN" b="0" dirty="0">
                <a:ea typeface="华文楷体" panose="02010600040101010101" pitchFamily="2" charset="-122"/>
                <a:cs typeface="Times New Roman" panose="02020603050405020304" pitchFamily="18" charset="0"/>
              </a:rPr>
              <a:t>min</a:t>
            </a:r>
            <a:r>
              <a:rPr lang="zh-CN" altLang="zh-CN" b="0" dirty="0">
                <a:ea typeface="华文楷体" panose="02010600040101010101" pitchFamily="2" charset="-122"/>
                <a:cs typeface="Times New Roman" panose="02020603050405020304" pitchFamily="18" charset="0"/>
              </a:rPr>
              <a:t>顶点发出的边，判断是否修正相邻顶点的最短距离</a:t>
            </a: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00B0F0"/>
                </a:solidFill>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[min][j]==0) continue;       //</a:t>
            </a:r>
            <a:r>
              <a:rPr lang="zh-CN" altLang="zh-CN" b="0" dirty="0">
                <a:ea typeface="华文楷体" panose="02010600040101010101" pitchFamily="2" charset="-122"/>
                <a:cs typeface="Times New Roman" panose="02020603050405020304" pitchFamily="18" charset="0"/>
              </a:rPr>
              <a:t>对角线元素</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[j].selected) continue;                 //</a:t>
            </a:r>
            <a:r>
              <a:rPr lang="zh-CN" altLang="zh-CN" b="0" dirty="0">
                <a:ea typeface="华文楷体" panose="02010600040101010101" pitchFamily="2" charset="-122"/>
                <a:cs typeface="Times New Roman" panose="02020603050405020304" pitchFamily="18" charset="0"/>
              </a:rPr>
              <a:t>已经加入集合</a:t>
            </a:r>
            <a:r>
              <a:rPr lang="en-US" altLang="zh-CN" b="0" dirty="0">
                <a:ea typeface="华文楷体" panose="02010600040101010101" pitchFamily="2" charset="-122"/>
                <a:cs typeface="Times New Roman" panose="02020603050405020304" pitchFamily="18" charset="0"/>
              </a:rPr>
              <a:t>S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[min][j]==</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continue;      //</a:t>
            </a:r>
            <a:r>
              <a:rPr lang="zh-CN" altLang="zh-CN" b="0" dirty="0">
                <a:ea typeface="华文楷体" panose="02010600040101010101" pitchFamily="2" charset="-122"/>
                <a:cs typeface="Times New Roman" panose="02020603050405020304" pitchFamily="18" charset="0"/>
              </a:rPr>
              <a:t>无边</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u="sng" dirty="0" err="1">
                <a:ea typeface="华文楷体" panose="02010600040101010101" pitchFamily="2" charset="-122"/>
                <a:cs typeface="Times New Roman" panose="02020603050405020304" pitchFamily="18" charset="0"/>
              </a:rPr>
              <a:t>DList</a:t>
            </a:r>
            <a:r>
              <a:rPr lang="en-US" altLang="zh-CN" b="0" u="sng" dirty="0">
                <a:ea typeface="华文楷体" panose="02010600040101010101" pitchFamily="2" charset="-122"/>
                <a:cs typeface="Times New Roman" panose="02020603050405020304" pitchFamily="18" charset="0"/>
              </a:rPr>
              <a:t>[min].</a:t>
            </a:r>
            <a:r>
              <a:rPr lang="en-US" altLang="zh-CN" b="0" u="sng" dirty="0" err="1">
                <a:ea typeface="华文楷体" panose="02010600040101010101" pitchFamily="2" charset="-122"/>
                <a:cs typeface="Times New Roman" panose="02020603050405020304" pitchFamily="18" charset="0"/>
              </a:rPr>
              <a:t>dist</a:t>
            </a:r>
            <a:r>
              <a:rPr lang="en-US" altLang="zh-CN" b="0" u="sng"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 </a:t>
            </a:r>
            <a:r>
              <a:rPr lang="en-US" altLang="zh-CN" b="0" u="sng" dirty="0" err="1">
                <a:ea typeface="华文楷体" panose="02010600040101010101" pitchFamily="2" charset="-122"/>
                <a:cs typeface="Times New Roman" panose="02020603050405020304" pitchFamily="18" charset="0"/>
              </a:rPr>
              <a:t>edgeMatrix</a:t>
            </a:r>
            <a:r>
              <a:rPr lang="en-US" altLang="zh-CN" b="0" u="sng" dirty="0">
                <a:ea typeface="华文楷体" panose="02010600040101010101" pitchFamily="2" charset="-122"/>
                <a:cs typeface="Times New Roman" panose="02020603050405020304" pitchFamily="18" charset="0"/>
              </a:rPr>
              <a:t>[min][j] </a:t>
            </a:r>
            <a:r>
              <a:rPr lang="en-US" altLang="zh-CN" sz="3200" b="0" dirty="0">
                <a:solidFill>
                  <a:srgbClr val="FF0000"/>
                </a:solidFill>
                <a:ea typeface="华文楷体" panose="02010600040101010101" pitchFamily="2" charset="-122"/>
                <a:cs typeface="Times New Roman" panose="02020603050405020304" pitchFamily="18" charset="0"/>
              </a:rPr>
              <a:t>&lt; </a:t>
            </a:r>
            <a:r>
              <a:rPr lang="en-US" altLang="zh-CN" b="0" u="sng" dirty="0" err="1">
                <a:ea typeface="华文楷体" panose="02010600040101010101" pitchFamily="2" charset="-122"/>
                <a:cs typeface="Times New Roman" panose="02020603050405020304" pitchFamily="18" charset="0"/>
              </a:rPr>
              <a:t>DList</a:t>
            </a:r>
            <a:r>
              <a:rPr lang="en-US" altLang="zh-CN" b="0" u="sng" dirty="0">
                <a:ea typeface="华文楷体" panose="02010600040101010101" pitchFamily="2" charset="-122"/>
                <a:cs typeface="Times New Roman" panose="02020603050405020304" pitchFamily="18" charset="0"/>
              </a:rPr>
              <a:t>[j].</a:t>
            </a:r>
            <a:r>
              <a:rPr lang="en-US" altLang="zh-CN" b="0" u="sng"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[min].</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[min][j];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[j].source = min;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00B0F0"/>
                </a:solidFill>
                <a:ea typeface="华文楷体" panose="02010600040101010101" pitchFamily="2" charset="-122"/>
                <a:cs typeface="Times New Roman" panose="02020603050405020304" pitchFamily="18" charset="0"/>
              </a:rPr>
              <a:t>}</a:t>
            </a:r>
            <a:endParaRPr lang="zh-CN" altLang="zh-CN" b="0" dirty="0">
              <a:solidFill>
                <a:srgbClr val="00B0F0"/>
              </a:solidFill>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8851450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00892" y="763730"/>
                <a:ext cx="11427284" cy="577621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搜索当前距离标签最小的顶点</a:t>
                </a:r>
              </a:p>
              <a:p>
                <a:pPr marL="0" indent="0">
                  <a:buNone/>
                </a:pPr>
                <a:r>
                  <a:rPr lang="en-US" altLang="zh-CN" b="0" dirty="0">
                    <a:ea typeface="华文楷体" panose="02010600040101010101" pitchFamily="2" charset="-122"/>
                    <a:cs typeface="Times New Roman" panose="02020603050405020304" pitchFamily="18" charset="0"/>
                  </a:rPr>
                  <a:t>        min = -1;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].selected)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min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dist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此时</a:t>
                </a:r>
                <a:r>
                  <a:rPr lang="en-US" altLang="zh-CN" b="0" dirty="0">
                    <a:ea typeface="华文楷体" panose="02010600040101010101" pitchFamily="2" charset="-122"/>
                    <a:cs typeface="Times New Roman" panose="02020603050405020304" pitchFamily="18" charset="0"/>
                  </a:rPr>
                  <a:t>min</a:t>
                </a:r>
                <a:r>
                  <a:rPr lang="zh-CN" altLang="zh-CN" b="0" dirty="0">
                    <a:ea typeface="华文楷体" panose="02010600040101010101" pitchFamily="2" charset="-122"/>
                    <a:cs typeface="Times New Roman" panose="02020603050405020304" pitchFamily="18" charset="0"/>
                  </a:rPr>
                  <a:t>一定为某个顶点的下标，如果仍然为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表示该无相图不连通</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将顶点</a:t>
                </a:r>
                <a:r>
                  <a:rPr lang="en-US" altLang="zh-CN" b="0" dirty="0">
                    <a:ea typeface="华文楷体" panose="02010600040101010101" pitchFamily="2" charset="-122"/>
                    <a:cs typeface="Times New Roman" panose="02020603050405020304" pitchFamily="18" charset="0"/>
                  </a:rPr>
                  <a:t>min</a:t>
                </a:r>
                <a:r>
                  <a:rPr lang="zh-CN" altLang="zh-CN" b="0" dirty="0">
                    <a:ea typeface="华文楷体" panose="02010600040101010101" pitchFamily="2" charset="-122"/>
                    <a:cs typeface="Times New Roman" panose="02020603050405020304" pitchFamily="18" charset="0"/>
                  </a:rPr>
                  <a:t>加入集合</a:t>
                </a:r>
                <a:r>
                  <a:rPr lang="en-US" altLang="zh-CN" b="0" dirty="0">
                    <a:ea typeface="华文楷体" panose="02010600040101010101" pitchFamily="2" charset="-122"/>
                    <a:cs typeface="Times New Roman" panose="02020603050405020304" pitchFamily="18" charset="0"/>
                  </a:rPr>
                  <a:t>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DList</a:t>
                </a:r>
                <a:r>
                  <a:rPr lang="en-US" altLang="zh-CN" b="0" dirty="0">
                    <a:ea typeface="华文楷体" panose="02010600040101010101" pitchFamily="2" charset="-122"/>
                    <a:cs typeface="Times New Roman" panose="02020603050405020304" pitchFamily="18" charset="0"/>
                  </a:rPr>
                  <a:t>[min].selected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en-US" b="0" dirty="0">
                    <a:ea typeface="华文楷体" pitchFamily="2" charset="-122"/>
                    <a:cs typeface="Times New Roman" panose="02020603050405020304" pitchFamily="18" charset="0"/>
                  </a:rPr>
                  <a:t>如果</a:t>
                </a:r>
                <a:r>
                  <a:rPr lang="zh-CN" altLang="zh-CN" b="0" dirty="0">
                    <a:ea typeface="华文楷体" pitchFamily="2" charset="-122"/>
                    <a:cs typeface="Times New Roman" panose="02020603050405020304" pitchFamily="18" charset="0"/>
                  </a:rPr>
                  <a:t>图用邻接矩阵来存储，可以看出时间复杂度为</a:t>
                </a:r>
                <a14:m>
                  <m:oMath xmlns:m="http://schemas.openxmlformats.org/officeDocument/2006/math">
                    <m:r>
                      <m:rPr>
                        <m:sty m:val="p"/>
                      </m:rPr>
                      <a:rPr lang="en-US" altLang="zh-CN" b="0" smtClean="0">
                        <a:solidFill>
                          <a:srgbClr val="00B0F0"/>
                        </a:solidFill>
                        <a:latin typeface="Cambria Math" panose="02040503050406030204" pitchFamily="18" charset="0"/>
                        <a:ea typeface="华文楷体" pitchFamily="2" charset="-122"/>
                      </a:rPr>
                      <m:t>O</m:t>
                    </m:r>
                    <m:d>
                      <m:dPr>
                        <m:ctrlPr>
                          <a:rPr lang="zh-CN" altLang="zh-CN" b="0" i="1">
                            <a:solidFill>
                              <a:srgbClr val="00B0F0"/>
                            </a:solidFill>
                            <a:latin typeface="Cambria Math" panose="02040503050406030204" pitchFamily="18" charset="0"/>
                            <a:ea typeface="华文楷体" pitchFamily="2" charset="-122"/>
                          </a:rPr>
                        </m:ctrlPr>
                      </m:dPr>
                      <m:e>
                        <m:sSup>
                          <m:sSupPr>
                            <m:ctrlPr>
                              <a:rPr lang="zh-CN" altLang="zh-CN" b="0" i="1">
                                <a:solidFill>
                                  <a:srgbClr val="00B0F0"/>
                                </a:solidFill>
                                <a:latin typeface="Cambria Math" panose="02040503050406030204" pitchFamily="18" charset="0"/>
                                <a:ea typeface="华文楷体" pitchFamily="2" charset="-122"/>
                              </a:rPr>
                            </m:ctrlPr>
                          </m:sSupPr>
                          <m:e>
                            <m:r>
                              <a:rPr lang="en-US" altLang="zh-CN" b="0">
                                <a:solidFill>
                                  <a:srgbClr val="00B0F0"/>
                                </a:solidFill>
                                <a:latin typeface="Cambria Math" panose="02040503050406030204" pitchFamily="18" charset="0"/>
                                <a:ea typeface="华文楷体" pitchFamily="2" charset="-122"/>
                              </a:rPr>
                              <m:t>𝑛</m:t>
                            </m:r>
                          </m:e>
                          <m:sup>
                            <m:r>
                              <a:rPr lang="en-US" altLang="zh-CN" b="0">
                                <a:solidFill>
                                  <a:srgbClr val="00B0F0"/>
                                </a:solidFill>
                                <a:latin typeface="Cambria Math" panose="02040503050406030204" pitchFamily="18" charset="0"/>
                                <a:ea typeface="华文楷体" pitchFamily="2" charset="-122"/>
                              </a:rPr>
                              <m:t>2</m:t>
                            </m:r>
                          </m:sup>
                        </m:sSup>
                      </m:e>
                    </m:d>
                  </m:oMath>
                </a14:m>
                <a:r>
                  <a:rPr lang="zh-CN" altLang="zh-CN" b="0" dirty="0">
                    <a:ea typeface="华文楷体" pitchFamily="2" charset="-122"/>
                    <a:cs typeface="Times New Roman" panose="02020603050405020304" pitchFamily="18" charset="0"/>
                  </a:rPr>
                  <a:t>。</a:t>
                </a:r>
              </a:p>
              <a:p>
                <a:pPr marL="0" indent="0">
                  <a:buNone/>
                </a:pPr>
                <a:endParaRPr lang="zh-CN" altLang="zh-CN" b="0" dirty="0"/>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00892" y="763730"/>
                <a:ext cx="11427284" cy="5776218"/>
              </a:xfrm>
              <a:blipFill>
                <a:blip r:embed="rId3"/>
                <a:stretch>
                  <a:fillRect t="-211"/>
                </a:stretch>
              </a:blipFill>
            </p:spPr>
            <p:txBody>
              <a:bodyPr/>
              <a:lstStyle/>
              <a:p>
                <a:r>
                  <a:rPr lang="zh-CN" altLang="en-US">
                    <a:noFill/>
                  </a:rPr>
                  <a:t> </a:t>
                </a:r>
              </a:p>
            </p:txBody>
          </p:sp>
        </mc:Fallback>
      </mc:AlternateContent>
      <p:sp>
        <p:nvSpPr>
          <p:cNvPr id="2" name="椭圆 1"/>
          <p:cNvSpPr/>
          <p:nvPr/>
        </p:nvSpPr>
        <p:spPr>
          <a:xfrm>
            <a:off x="11728176" y="6400800"/>
            <a:ext cx="144737" cy="2428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720346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3" y="1538984"/>
            <a:ext cx="10999220" cy="2961579"/>
          </a:xfrm>
        </p:spPr>
        <p:txBody>
          <a:bodyPr>
            <a:normAutofit fontScale="92500"/>
          </a:bodyPr>
          <a:lstStyle/>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无权图的最短路径，</a:t>
            </a:r>
            <a:r>
              <a:rPr lang="zh-CN" altLang="zh-CN" sz="2800" b="0" dirty="0">
                <a:ea typeface="华文楷体" pitchFamily="2" charset="-122"/>
                <a:cs typeface="Times New Roman" panose="02020603050405020304" pitchFamily="18" charset="0"/>
              </a:rPr>
              <a:t>一般定义为路径上经过的边的条数最少。</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方法一：</a:t>
            </a:r>
            <a:r>
              <a:rPr lang="zh-CN" altLang="zh-CN" sz="2800" b="0" dirty="0">
                <a:ea typeface="华文楷体" pitchFamily="2" charset="-122"/>
                <a:cs typeface="Times New Roman" panose="02020603050405020304" pitchFamily="18" charset="0"/>
              </a:rPr>
              <a:t>将每一条边的权值都视作</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，用上述的</a:t>
            </a:r>
            <a:r>
              <a:rPr lang="en-US" altLang="zh-CN" sz="2800" b="0" dirty="0" err="1">
                <a:ea typeface="华文楷体" pitchFamily="2" charset="-122"/>
                <a:cs typeface="Times New Roman" panose="02020603050405020304" pitchFamily="18" charset="0"/>
              </a:rPr>
              <a:t>Dijkstra</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算法就可以求出；</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方法二：</a:t>
            </a:r>
            <a:r>
              <a:rPr lang="zh-CN" altLang="zh-CN" sz="2800" b="0" dirty="0">
                <a:ea typeface="华文楷体" pitchFamily="2" charset="-122"/>
                <a:cs typeface="Times New Roman" panose="02020603050405020304" pitchFamily="18" charset="0"/>
              </a:rPr>
              <a:t>从源点出发，使用</a:t>
            </a:r>
            <a:r>
              <a:rPr lang="zh-CN" altLang="zh-CN" sz="2800" b="0" dirty="0">
                <a:solidFill>
                  <a:srgbClr val="00B0F0"/>
                </a:solidFill>
                <a:ea typeface="华文楷体" pitchFamily="2" charset="-122"/>
                <a:cs typeface="Times New Roman" panose="02020603050405020304" pitchFamily="18" charset="0"/>
              </a:rPr>
              <a:t>广度优先</a:t>
            </a:r>
            <a:r>
              <a:rPr lang="zh-CN" altLang="zh-CN" sz="2800" b="0" dirty="0">
                <a:ea typeface="华文楷体" pitchFamily="2" charset="-122"/>
                <a:cs typeface="Times New Roman" panose="02020603050405020304" pitchFamily="18" charset="0"/>
              </a:rPr>
              <a:t>遍历的方法遍历顶点，顶点遍历时就是其获得最短距离的机会，其最短距离为遍历时其</a:t>
            </a:r>
            <a:r>
              <a:rPr lang="zh-CN" altLang="zh-CN" sz="2800" b="0" u="sng" dirty="0">
                <a:ea typeface="华文楷体" pitchFamily="2" charset="-122"/>
                <a:cs typeface="Times New Roman" panose="02020603050405020304" pitchFamily="18" charset="0"/>
              </a:rPr>
              <a:t>直接前驱顶点的最短距离</a:t>
            </a:r>
            <a:r>
              <a:rPr lang="en-US" altLang="zh-CN" sz="2800" b="0" u="sng" dirty="0">
                <a:ea typeface="华文楷体" pitchFamily="2" charset="-122"/>
                <a:cs typeface="Times New Roman" panose="02020603050405020304" pitchFamily="18" charset="0"/>
              </a:rPr>
              <a:t> </a:t>
            </a:r>
            <a:r>
              <a:rPr lang="en-US" altLang="zh-CN" sz="2800" b="0" dirty="0">
                <a:ea typeface="华文楷体" pitchFamily="2" charset="-122"/>
                <a:cs typeface="Times New Roman" panose="02020603050405020304" pitchFamily="18" charset="0"/>
              </a:rPr>
              <a:t>+ </a:t>
            </a:r>
            <a:r>
              <a:rPr lang="en-US" altLang="zh-CN" sz="2800" b="0" u="sng"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zh-CN" altLang="en-US" dirty="0">
                <a:latin typeface="华文楷体" pitchFamily="2" charset="-122"/>
                <a:ea typeface="华文楷体" pitchFamily="2" charset="-122"/>
              </a:rPr>
              <a:t>特殊情况：无权图</a:t>
            </a:r>
            <a:endParaRPr lang="zh-CN" altLang="en-US" dirty="0"/>
          </a:p>
        </p:txBody>
      </p:sp>
    </p:spTree>
    <p:extLst>
      <p:ext uri="{BB962C8B-B14F-4D97-AF65-F5344CB8AC3E}">
        <p14:creationId xmlns:p14="http://schemas.microsoft.com/office/powerpoint/2010/main" val="39431789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1" name="Rectangle 2">
            <a:extLst>
              <a:ext uri="{FF2B5EF4-FFF2-40B4-BE49-F238E27FC236}">
                <a16:creationId xmlns:a16="http://schemas.microsoft.com/office/drawing/2014/main" id="{FF68E9CB-DE68-4C4E-AB65-D4CD5C9D9677}"/>
              </a:ext>
            </a:extLst>
          </p:cNvPr>
          <p:cNvSpPr>
            <a:spLocks noGrp="1" noChangeArrowheads="1"/>
          </p:cNvSpPr>
          <p:nvPr>
            <p:ph type="title"/>
          </p:nvPr>
        </p:nvSpPr>
        <p:spPr>
          <a:xfrm>
            <a:off x="695325" y="602272"/>
            <a:ext cx="7772400" cy="1143000"/>
          </a:xfrm>
        </p:spPr>
        <p:txBody>
          <a:bodyPr>
            <a:normAutofit/>
          </a:bodyPr>
          <a:lstStyle/>
          <a:p>
            <a:pPr marL="838200" indent="-838200">
              <a:defRPr/>
            </a:pPr>
            <a:r>
              <a:rPr lang="zh-CN" altLang="en-US" dirty="0">
                <a:latin typeface="Times New Roman" panose="02020603050405020304" pitchFamily="18" charset="0"/>
                <a:ea typeface="华文楷体" pitchFamily="2" charset="-122"/>
                <a:cs typeface="Times New Roman" panose="02020603050405020304" pitchFamily="18" charset="0"/>
              </a:rPr>
              <a:t>无权图的单源最短路径</a:t>
            </a:r>
          </a:p>
        </p:txBody>
      </p:sp>
      <p:sp>
        <p:nvSpPr>
          <p:cNvPr id="2" name="Rectangle 3">
            <a:extLst>
              <a:ext uri="{FF2B5EF4-FFF2-40B4-BE49-F238E27FC236}">
                <a16:creationId xmlns:a16="http://schemas.microsoft.com/office/drawing/2014/main" id="{1A1C5B06-B4EE-4A24-B836-C054820AF03D}"/>
              </a:ext>
            </a:extLst>
          </p:cNvPr>
          <p:cNvSpPr>
            <a:spLocks noGrp="1" noChangeArrowheads="1"/>
          </p:cNvSpPr>
          <p:nvPr>
            <p:ph type="body" idx="1"/>
          </p:nvPr>
        </p:nvSpPr>
        <p:spPr>
          <a:xfrm>
            <a:off x="695325" y="1557338"/>
            <a:ext cx="10872788" cy="5300662"/>
          </a:xfrm>
        </p:spPr>
        <p:txBody>
          <a:bodyPr/>
          <a:lstStyle/>
          <a:p>
            <a:pPr eaLnBrk="1" hangingPunct="1">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采用广度优先搜索，它按层处理一层的所有结点：离起始结点最近的结点最先处理，距离最远的最晚处理。</a:t>
            </a:r>
          </a:p>
          <a:p>
            <a:pPr eaLnBrk="1" hangingPunct="1">
              <a:buFont typeface="Wingdings" panose="05000000000000000000" pitchFamily="2" charset="2"/>
              <a:buChar char="Ø"/>
            </a:pPr>
            <a:r>
              <a:rPr lang="zh-CN" altLang="en-US" sz="2800" b="0" dirty="0">
                <a:latin typeface="Times New Roman" panose="02020603050405020304" pitchFamily="18" charset="0"/>
                <a:ea typeface="华文楷体" pitchFamily="2" charset="-122"/>
                <a:cs typeface="Times New Roman" panose="02020603050405020304" pitchFamily="18" charset="0"/>
              </a:rPr>
              <a:t>具体过程：</a:t>
            </a:r>
          </a:p>
          <a:p>
            <a:pPr lvl="1" eaLnBrk="1" hangingPunct="1">
              <a:buFont typeface="Wingdings" panose="05000000000000000000" pitchFamily="2" charset="2"/>
              <a:buChar char="l"/>
            </a:pPr>
            <a:r>
              <a:rPr lang="zh-CN" altLang="en-US" sz="2400" b="0" dirty="0">
                <a:latin typeface="Times New Roman" panose="02020603050405020304" pitchFamily="18" charset="0"/>
                <a:ea typeface="华文楷体" pitchFamily="2" charset="-122"/>
                <a:cs typeface="Times New Roman" panose="02020603050405020304" pitchFamily="18" charset="0"/>
              </a:rPr>
              <a:t>从</a:t>
            </a:r>
            <a:r>
              <a:rPr lang="en-US" altLang="zh-CN" sz="2400" b="0" dirty="0">
                <a:latin typeface="Times New Roman" panose="02020603050405020304" pitchFamily="18" charset="0"/>
                <a:ea typeface="华文楷体" pitchFamily="2" charset="-122"/>
                <a:cs typeface="Times New Roman" panose="02020603050405020304" pitchFamily="18" charset="0"/>
              </a:rPr>
              <a:t>S</a:t>
            </a:r>
            <a:r>
              <a:rPr lang="zh-CN" altLang="en-US" sz="2400" b="0" dirty="0">
                <a:latin typeface="Times New Roman" panose="02020603050405020304" pitchFamily="18" charset="0"/>
                <a:ea typeface="华文楷体" pitchFamily="2" charset="-122"/>
                <a:cs typeface="Times New Roman" panose="02020603050405020304" pitchFamily="18" charset="0"/>
              </a:rPr>
              <a:t>到</a:t>
            </a:r>
            <a:r>
              <a:rPr lang="en-US" altLang="zh-CN" sz="2400" b="0" dirty="0">
                <a:latin typeface="Times New Roman" panose="02020603050405020304" pitchFamily="18" charset="0"/>
                <a:ea typeface="华文楷体" pitchFamily="2" charset="-122"/>
                <a:cs typeface="Times New Roman" panose="02020603050405020304" pitchFamily="18" charset="0"/>
              </a:rPr>
              <a:t>S</a:t>
            </a:r>
            <a:r>
              <a:rPr lang="zh-CN" altLang="en-US" sz="2400" b="0" dirty="0">
                <a:latin typeface="Times New Roman" panose="02020603050405020304" pitchFamily="18" charset="0"/>
                <a:ea typeface="华文楷体" pitchFamily="2" charset="-122"/>
                <a:cs typeface="Times New Roman" panose="02020603050405020304" pitchFamily="18" charset="0"/>
              </a:rPr>
              <a:t>的最短路径为</a:t>
            </a:r>
            <a:r>
              <a:rPr lang="en-US" altLang="zh-CN" sz="2400" b="0" dirty="0">
                <a:latin typeface="Times New Roman" panose="02020603050405020304" pitchFamily="18" charset="0"/>
                <a:ea typeface="华文楷体" pitchFamily="2" charset="-122"/>
                <a:cs typeface="Times New Roman" panose="02020603050405020304" pitchFamily="18" charset="0"/>
              </a:rPr>
              <a:t>0</a:t>
            </a:r>
          </a:p>
          <a:p>
            <a:pPr lvl="1" eaLnBrk="1" hangingPunct="1">
              <a:buFont typeface="Wingdings" panose="05000000000000000000" pitchFamily="2" charset="2"/>
              <a:buChar char="l"/>
            </a:pPr>
            <a:r>
              <a:rPr lang="zh-CN" altLang="en-US" sz="2400" b="0" dirty="0">
                <a:latin typeface="Times New Roman" panose="02020603050405020304" pitchFamily="18" charset="0"/>
                <a:ea typeface="华文楷体" pitchFamily="2" charset="-122"/>
                <a:cs typeface="Times New Roman" panose="02020603050405020304" pitchFamily="18" charset="0"/>
              </a:rPr>
              <a:t>通过搜索</a:t>
            </a:r>
            <a:r>
              <a:rPr lang="en-US" altLang="zh-CN" sz="2400" b="0" dirty="0">
                <a:latin typeface="Times New Roman" panose="02020603050405020304" pitchFamily="18" charset="0"/>
                <a:ea typeface="华文楷体" pitchFamily="2" charset="-122"/>
                <a:cs typeface="Times New Roman" panose="02020603050405020304" pitchFamily="18" charset="0"/>
              </a:rPr>
              <a:t>S</a:t>
            </a:r>
            <a:r>
              <a:rPr lang="zh-CN" altLang="en-US" sz="2400" b="0" dirty="0">
                <a:latin typeface="Times New Roman" panose="02020603050405020304" pitchFamily="18" charset="0"/>
                <a:ea typeface="华文楷体" pitchFamily="2" charset="-122"/>
                <a:cs typeface="Times New Roman" panose="02020603050405020304" pitchFamily="18" charset="0"/>
              </a:rPr>
              <a:t>的所有邻接结点就能找到离</a:t>
            </a:r>
            <a:r>
              <a:rPr lang="en-US" altLang="zh-CN" sz="2400" b="0" dirty="0">
                <a:latin typeface="Times New Roman" panose="02020603050405020304" pitchFamily="18" charset="0"/>
                <a:ea typeface="华文楷体" pitchFamily="2" charset="-122"/>
                <a:cs typeface="Times New Roman" panose="02020603050405020304" pitchFamily="18" charset="0"/>
              </a:rPr>
              <a:t>S</a:t>
            </a:r>
            <a:r>
              <a:rPr lang="zh-CN" altLang="en-US" sz="2400" b="0" dirty="0">
                <a:latin typeface="Times New Roman" panose="02020603050405020304" pitchFamily="18" charset="0"/>
                <a:ea typeface="华文楷体" pitchFamily="2" charset="-122"/>
                <a:cs typeface="Times New Roman" panose="02020603050405020304" pitchFamily="18" charset="0"/>
              </a:rPr>
              <a:t>距离为</a:t>
            </a:r>
            <a:r>
              <a:rPr lang="en-US" altLang="zh-CN" sz="2400" b="0" dirty="0">
                <a:latin typeface="Times New Roman" panose="02020603050405020304" pitchFamily="18" charset="0"/>
                <a:ea typeface="华文楷体" pitchFamily="2" charset="-122"/>
                <a:cs typeface="Times New Roman" panose="02020603050405020304" pitchFamily="18" charset="0"/>
              </a:rPr>
              <a:t>1</a:t>
            </a:r>
            <a:r>
              <a:rPr lang="zh-CN" altLang="en-US" sz="2400" b="0" dirty="0">
                <a:latin typeface="Times New Roman" panose="02020603050405020304" pitchFamily="18" charset="0"/>
                <a:ea typeface="华文楷体" pitchFamily="2" charset="-122"/>
                <a:cs typeface="Times New Roman" panose="02020603050405020304" pitchFamily="18" charset="0"/>
              </a:rPr>
              <a:t>的所有结点</a:t>
            </a:r>
          </a:p>
          <a:p>
            <a:pPr lvl="1" eaLnBrk="1" hangingPunct="1">
              <a:buFont typeface="Wingdings" panose="05000000000000000000" pitchFamily="2" charset="2"/>
              <a:buChar char="l"/>
            </a:pPr>
            <a:r>
              <a:rPr lang="zh-CN" altLang="en-US" sz="2400" b="0" dirty="0">
                <a:latin typeface="Times New Roman" panose="02020603050405020304" pitchFamily="18" charset="0"/>
                <a:ea typeface="华文楷体" pitchFamily="2" charset="-122"/>
                <a:cs typeface="Times New Roman" panose="02020603050405020304" pitchFamily="18" charset="0"/>
              </a:rPr>
              <a:t>搜索离</a:t>
            </a:r>
            <a:r>
              <a:rPr lang="en-US" altLang="zh-CN" sz="2400" b="0" dirty="0">
                <a:latin typeface="Times New Roman" panose="02020603050405020304" pitchFamily="18" charset="0"/>
                <a:ea typeface="华文楷体" pitchFamily="2" charset="-122"/>
                <a:cs typeface="Times New Roman" panose="02020603050405020304" pitchFamily="18" charset="0"/>
              </a:rPr>
              <a:t>S</a:t>
            </a:r>
            <a:r>
              <a:rPr lang="zh-CN" altLang="en-US" sz="2400" b="0" dirty="0">
                <a:latin typeface="Times New Roman" panose="02020603050405020304" pitchFamily="18" charset="0"/>
                <a:ea typeface="华文楷体" pitchFamily="2" charset="-122"/>
                <a:cs typeface="Times New Roman" panose="02020603050405020304" pitchFamily="18" charset="0"/>
              </a:rPr>
              <a:t>距离为</a:t>
            </a:r>
            <a:r>
              <a:rPr lang="en-US" altLang="zh-CN" sz="2400" b="0" dirty="0">
                <a:latin typeface="Times New Roman" panose="02020603050405020304" pitchFamily="18" charset="0"/>
                <a:ea typeface="华文楷体" pitchFamily="2" charset="-122"/>
                <a:cs typeface="Times New Roman" panose="02020603050405020304" pitchFamily="18" charset="0"/>
              </a:rPr>
              <a:t>1</a:t>
            </a:r>
            <a:r>
              <a:rPr lang="zh-CN" altLang="en-US" sz="2400" b="0" dirty="0">
                <a:latin typeface="Times New Roman" panose="02020603050405020304" pitchFamily="18" charset="0"/>
                <a:ea typeface="华文楷体" pitchFamily="2" charset="-122"/>
                <a:cs typeface="Times New Roman" panose="02020603050405020304" pitchFamily="18" charset="0"/>
              </a:rPr>
              <a:t>的所有结点的邻接结点就能找到距离为</a:t>
            </a:r>
            <a:r>
              <a:rPr lang="en-US" altLang="zh-CN" sz="2400" b="0" dirty="0">
                <a:latin typeface="Times New Roman" panose="02020603050405020304" pitchFamily="18" charset="0"/>
                <a:ea typeface="华文楷体" pitchFamily="2" charset="-122"/>
                <a:cs typeface="Times New Roman" panose="02020603050405020304" pitchFamily="18" charset="0"/>
              </a:rPr>
              <a:t>2</a:t>
            </a:r>
            <a:r>
              <a:rPr lang="zh-CN" altLang="en-US" sz="2400" b="0" dirty="0">
                <a:latin typeface="Times New Roman" panose="02020603050405020304" pitchFamily="18" charset="0"/>
                <a:ea typeface="华文楷体" pitchFamily="2" charset="-122"/>
                <a:cs typeface="Times New Roman" panose="02020603050405020304" pitchFamily="18" charset="0"/>
              </a:rPr>
              <a:t>的节点</a:t>
            </a:r>
          </a:p>
          <a:p>
            <a:pPr lvl="1" eaLnBrk="1" hangingPunct="1">
              <a:buFont typeface="Wingdings" panose="05000000000000000000" pitchFamily="2" charset="2"/>
              <a:buChar char="l"/>
            </a:pPr>
            <a:r>
              <a:rPr lang="zh-CN" altLang="en-US" sz="2400" b="0" dirty="0">
                <a:latin typeface="Times New Roman" panose="02020603050405020304" pitchFamily="18" charset="0"/>
                <a:ea typeface="华文楷体" pitchFamily="2" charset="-122"/>
                <a:cs typeface="Times New Roman" panose="02020603050405020304" pitchFamily="18" charset="0"/>
              </a:rPr>
              <a:t>重复上述过程，直到所有节点都访问到为止</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5">
            <a:extLst>
              <a:ext uri="{FF2B5EF4-FFF2-40B4-BE49-F238E27FC236}">
                <a16:creationId xmlns:a16="http://schemas.microsoft.com/office/drawing/2014/main" id="{83844DA1-49C1-4204-8FDF-D0BEF52DA056}"/>
              </a:ext>
            </a:extLst>
          </p:cNvPr>
          <p:cNvSpPr txBox="1">
            <a:spLocks noChangeArrowheads="1"/>
          </p:cNvSpPr>
          <p:nvPr/>
        </p:nvSpPr>
        <p:spPr bwMode="auto">
          <a:xfrm>
            <a:off x="696913" y="869015"/>
            <a:ext cx="53276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marL="838200" indent="-838200">
              <a:lnSpc>
                <a:spcPct val="90000"/>
              </a:lnSpc>
              <a:spcBef>
                <a:spcPct val="0"/>
              </a:spcBef>
              <a:buClrTx/>
              <a:buSzTx/>
              <a:buNone/>
              <a:defRPr/>
            </a:pPr>
            <a:r>
              <a:rPr lang="zh-CN" altLang="en-US" dirty="0">
                <a:solidFill>
                  <a:schemeClr val="accent1"/>
                </a:solidFill>
                <a:ea typeface="华文楷体" pitchFamily="2" charset="-122"/>
                <a:cs typeface="Times New Roman" panose="02020603050405020304" pitchFamily="18" charset="0"/>
              </a:rPr>
              <a:t>找</a:t>
            </a:r>
            <a:r>
              <a:rPr lang="en-US" altLang="zh-CN" dirty="0">
                <a:solidFill>
                  <a:schemeClr val="accent1"/>
                </a:solidFill>
                <a:ea typeface="华文楷体" pitchFamily="2" charset="-122"/>
                <a:cs typeface="Times New Roman" panose="02020603050405020304" pitchFamily="18" charset="0"/>
              </a:rPr>
              <a:t>v2</a:t>
            </a:r>
            <a:r>
              <a:rPr lang="zh-CN" altLang="en-US" dirty="0">
                <a:solidFill>
                  <a:schemeClr val="accent1"/>
                </a:solidFill>
                <a:ea typeface="华文楷体" pitchFamily="2" charset="-122"/>
                <a:cs typeface="Times New Roman" panose="02020603050405020304" pitchFamily="18" charset="0"/>
              </a:rPr>
              <a:t>到其他节点的最短距离</a:t>
            </a:r>
          </a:p>
        </p:txBody>
      </p:sp>
      <p:grpSp>
        <p:nvGrpSpPr>
          <p:cNvPr id="197635" name="Group 78">
            <a:extLst>
              <a:ext uri="{FF2B5EF4-FFF2-40B4-BE49-F238E27FC236}">
                <a16:creationId xmlns:a16="http://schemas.microsoft.com/office/drawing/2014/main" id="{5957F218-159B-4076-92E8-BC033AC5C3EA}"/>
              </a:ext>
            </a:extLst>
          </p:cNvPr>
          <p:cNvGrpSpPr>
            <a:grpSpLocks/>
          </p:cNvGrpSpPr>
          <p:nvPr/>
        </p:nvGrpSpPr>
        <p:grpSpPr bwMode="auto">
          <a:xfrm>
            <a:off x="2368550" y="2157413"/>
            <a:ext cx="7464425" cy="4295775"/>
            <a:chOff x="295" y="890"/>
            <a:chExt cx="2222" cy="1315"/>
          </a:xfrm>
        </p:grpSpPr>
        <p:sp>
          <p:nvSpPr>
            <p:cNvPr id="197643" name="Oval 79">
              <a:extLst>
                <a:ext uri="{FF2B5EF4-FFF2-40B4-BE49-F238E27FC236}">
                  <a16:creationId xmlns:a16="http://schemas.microsoft.com/office/drawing/2014/main" id="{1DDD42A6-1B5F-42F5-B0AE-5C12D1F230FB}"/>
                </a:ext>
              </a:extLst>
            </p:cNvPr>
            <p:cNvSpPr>
              <a:spLocks noChangeArrowheads="1"/>
            </p:cNvSpPr>
            <p:nvPr/>
          </p:nvSpPr>
          <p:spPr bwMode="auto">
            <a:xfrm>
              <a:off x="295" y="1344"/>
              <a:ext cx="317" cy="27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a:t>V</a:t>
              </a:r>
              <a:r>
                <a:rPr lang="en-US" altLang="zh-CN" baseline="-10000"/>
                <a:t>2</a:t>
              </a:r>
            </a:p>
          </p:txBody>
        </p:sp>
        <p:sp>
          <p:nvSpPr>
            <p:cNvPr id="197644" name="Oval 80">
              <a:extLst>
                <a:ext uri="{FF2B5EF4-FFF2-40B4-BE49-F238E27FC236}">
                  <a16:creationId xmlns:a16="http://schemas.microsoft.com/office/drawing/2014/main" id="{C13669E0-6427-40ED-9E45-B2F2BC2917B6}"/>
                </a:ext>
              </a:extLst>
            </p:cNvPr>
            <p:cNvSpPr>
              <a:spLocks noChangeArrowheads="1"/>
            </p:cNvSpPr>
            <p:nvPr/>
          </p:nvSpPr>
          <p:spPr bwMode="auto">
            <a:xfrm>
              <a:off x="839" y="890"/>
              <a:ext cx="317" cy="27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a:t>V</a:t>
              </a:r>
              <a:r>
                <a:rPr lang="en-US" altLang="zh-CN" baseline="-10000"/>
                <a:t>0</a:t>
              </a:r>
            </a:p>
          </p:txBody>
        </p:sp>
        <p:sp>
          <p:nvSpPr>
            <p:cNvPr id="197645" name="Oval 81">
              <a:extLst>
                <a:ext uri="{FF2B5EF4-FFF2-40B4-BE49-F238E27FC236}">
                  <a16:creationId xmlns:a16="http://schemas.microsoft.com/office/drawing/2014/main" id="{8086050D-E7AD-4880-B11B-22032A557D6F}"/>
                </a:ext>
              </a:extLst>
            </p:cNvPr>
            <p:cNvSpPr>
              <a:spLocks noChangeArrowheads="1"/>
            </p:cNvSpPr>
            <p:nvPr/>
          </p:nvSpPr>
          <p:spPr bwMode="auto">
            <a:xfrm>
              <a:off x="748" y="1933"/>
              <a:ext cx="317" cy="27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a:t>V</a:t>
              </a:r>
              <a:r>
                <a:rPr lang="en-US" altLang="zh-CN" baseline="-10000"/>
                <a:t>5</a:t>
              </a:r>
            </a:p>
          </p:txBody>
        </p:sp>
        <p:sp>
          <p:nvSpPr>
            <p:cNvPr id="197646" name="Oval 82">
              <a:extLst>
                <a:ext uri="{FF2B5EF4-FFF2-40B4-BE49-F238E27FC236}">
                  <a16:creationId xmlns:a16="http://schemas.microsoft.com/office/drawing/2014/main" id="{E0D86586-68FC-4DFD-8B01-2018600A4AD4}"/>
                </a:ext>
              </a:extLst>
            </p:cNvPr>
            <p:cNvSpPr>
              <a:spLocks noChangeArrowheads="1"/>
            </p:cNvSpPr>
            <p:nvPr/>
          </p:nvSpPr>
          <p:spPr bwMode="auto">
            <a:xfrm>
              <a:off x="1791" y="890"/>
              <a:ext cx="317" cy="27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a:t>V</a:t>
              </a:r>
              <a:r>
                <a:rPr lang="en-US" altLang="zh-CN" baseline="-10000"/>
                <a:t>1</a:t>
              </a:r>
            </a:p>
          </p:txBody>
        </p:sp>
        <p:sp>
          <p:nvSpPr>
            <p:cNvPr id="197647" name="Oval 83">
              <a:extLst>
                <a:ext uri="{FF2B5EF4-FFF2-40B4-BE49-F238E27FC236}">
                  <a16:creationId xmlns:a16="http://schemas.microsoft.com/office/drawing/2014/main" id="{BAF7F3A5-FE25-4C6D-84B8-AAAB54CEE896}"/>
                </a:ext>
              </a:extLst>
            </p:cNvPr>
            <p:cNvSpPr>
              <a:spLocks noChangeArrowheads="1"/>
            </p:cNvSpPr>
            <p:nvPr/>
          </p:nvSpPr>
          <p:spPr bwMode="auto">
            <a:xfrm>
              <a:off x="1292" y="1389"/>
              <a:ext cx="317" cy="27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a:t>V</a:t>
              </a:r>
              <a:r>
                <a:rPr lang="en-US" altLang="zh-CN" baseline="-10000"/>
                <a:t>3</a:t>
              </a:r>
            </a:p>
          </p:txBody>
        </p:sp>
        <p:sp>
          <p:nvSpPr>
            <p:cNvPr id="197648" name="Oval 84">
              <a:extLst>
                <a:ext uri="{FF2B5EF4-FFF2-40B4-BE49-F238E27FC236}">
                  <a16:creationId xmlns:a16="http://schemas.microsoft.com/office/drawing/2014/main" id="{F5FCB9AC-2922-44A9-8D31-58B337D1F541}"/>
                </a:ext>
              </a:extLst>
            </p:cNvPr>
            <p:cNvSpPr>
              <a:spLocks noChangeArrowheads="1"/>
            </p:cNvSpPr>
            <p:nvPr/>
          </p:nvSpPr>
          <p:spPr bwMode="auto">
            <a:xfrm>
              <a:off x="2200" y="1389"/>
              <a:ext cx="317" cy="27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a:t>V</a:t>
              </a:r>
              <a:r>
                <a:rPr lang="en-US" altLang="zh-CN" baseline="-10000"/>
                <a:t>4</a:t>
              </a:r>
            </a:p>
          </p:txBody>
        </p:sp>
        <p:sp>
          <p:nvSpPr>
            <p:cNvPr id="197649" name="Oval 85">
              <a:extLst>
                <a:ext uri="{FF2B5EF4-FFF2-40B4-BE49-F238E27FC236}">
                  <a16:creationId xmlns:a16="http://schemas.microsoft.com/office/drawing/2014/main" id="{198ED547-3E73-478A-B115-D3AC1FE73817}"/>
                </a:ext>
              </a:extLst>
            </p:cNvPr>
            <p:cNvSpPr>
              <a:spLocks noChangeArrowheads="1"/>
            </p:cNvSpPr>
            <p:nvPr/>
          </p:nvSpPr>
          <p:spPr bwMode="auto">
            <a:xfrm>
              <a:off x="1791" y="1933"/>
              <a:ext cx="317" cy="27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a:t>V</a:t>
              </a:r>
              <a:r>
                <a:rPr lang="en-US" altLang="zh-CN" baseline="-10000"/>
                <a:t>6</a:t>
              </a:r>
            </a:p>
          </p:txBody>
        </p:sp>
        <p:sp>
          <p:nvSpPr>
            <p:cNvPr id="197650" name="Line 86">
              <a:extLst>
                <a:ext uri="{FF2B5EF4-FFF2-40B4-BE49-F238E27FC236}">
                  <a16:creationId xmlns:a16="http://schemas.microsoft.com/office/drawing/2014/main" id="{18AF4026-11B8-47EE-9753-AA4400B7F088}"/>
                </a:ext>
              </a:extLst>
            </p:cNvPr>
            <p:cNvSpPr>
              <a:spLocks noChangeShapeType="1"/>
            </p:cNvSpPr>
            <p:nvPr/>
          </p:nvSpPr>
          <p:spPr bwMode="auto">
            <a:xfrm flipV="1">
              <a:off x="567" y="1117"/>
              <a:ext cx="317" cy="2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1" name="Line 87">
              <a:extLst>
                <a:ext uri="{FF2B5EF4-FFF2-40B4-BE49-F238E27FC236}">
                  <a16:creationId xmlns:a16="http://schemas.microsoft.com/office/drawing/2014/main" id="{78114C5B-F210-4CA4-A1CD-7F6F5C1534EE}"/>
                </a:ext>
              </a:extLst>
            </p:cNvPr>
            <p:cNvSpPr>
              <a:spLocks noChangeShapeType="1"/>
            </p:cNvSpPr>
            <p:nvPr/>
          </p:nvSpPr>
          <p:spPr bwMode="auto">
            <a:xfrm>
              <a:off x="1156" y="1026"/>
              <a:ext cx="63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2" name="Line 88">
              <a:extLst>
                <a:ext uri="{FF2B5EF4-FFF2-40B4-BE49-F238E27FC236}">
                  <a16:creationId xmlns:a16="http://schemas.microsoft.com/office/drawing/2014/main" id="{7C27DB5A-BE6F-41DE-8DBA-3A754022169D}"/>
                </a:ext>
              </a:extLst>
            </p:cNvPr>
            <p:cNvSpPr>
              <a:spLocks noChangeShapeType="1"/>
            </p:cNvSpPr>
            <p:nvPr/>
          </p:nvSpPr>
          <p:spPr bwMode="auto">
            <a:xfrm>
              <a:off x="521" y="1616"/>
              <a:ext cx="272" cy="3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3" name="Line 89">
              <a:extLst>
                <a:ext uri="{FF2B5EF4-FFF2-40B4-BE49-F238E27FC236}">
                  <a16:creationId xmlns:a16="http://schemas.microsoft.com/office/drawing/2014/main" id="{3C69C88D-8609-41DE-83F1-2235F08ABF53}"/>
                </a:ext>
              </a:extLst>
            </p:cNvPr>
            <p:cNvSpPr>
              <a:spLocks noChangeShapeType="1"/>
            </p:cNvSpPr>
            <p:nvPr/>
          </p:nvSpPr>
          <p:spPr bwMode="auto">
            <a:xfrm>
              <a:off x="1066" y="1162"/>
              <a:ext cx="272" cy="2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4" name="Line 90">
              <a:extLst>
                <a:ext uri="{FF2B5EF4-FFF2-40B4-BE49-F238E27FC236}">
                  <a16:creationId xmlns:a16="http://schemas.microsoft.com/office/drawing/2014/main" id="{1DA5ADDD-A09A-4C8B-9A18-51BE3B873274}"/>
                </a:ext>
              </a:extLst>
            </p:cNvPr>
            <p:cNvSpPr>
              <a:spLocks noChangeShapeType="1"/>
            </p:cNvSpPr>
            <p:nvPr/>
          </p:nvSpPr>
          <p:spPr bwMode="auto">
            <a:xfrm flipH="1">
              <a:off x="1565" y="1117"/>
              <a:ext cx="272" cy="2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5" name="Line 91">
              <a:extLst>
                <a:ext uri="{FF2B5EF4-FFF2-40B4-BE49-F238E27FC236}">
                  <a16:creationId xmlns:a16="http://schemas.microsoft.com/office/drawing/2014/main" id="{A3E0BC3D-6408-4FB3-BFCE-F589272F4483}"/>
                </a:ext>
              </a:extLst>
            </p:cNvPr>
            <p:cNvSpPr>
              <a:spLocks noChangeShapeType="1"/>
            </p:cNvSpPr>
            <p:nvPr/>
          </p:nvSpPr>
          <p:spPr bwMode="auto">
            <a:xfrm>
              <a:off x="2064" y="1117"/>
              <a:ext cx="226" cy="2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6" name="Line 92">
              <a:extLst>
                <a:ext uri="{FF2B5EF4-FFF2-40B4-BE49-F238E27FC236}">
                  <a16:creationId xmlns:a16="http://schemas.microsoft.com/office/drawing/2014/main" id="{ED25FC6A-88DC-4405-9BBC-08745CEB7EFC}"/>
                </a:ext>
              </a:extLst>
            </p:cNvPr>
            <p:cNvSpPr>
              <a:spLocks noChangeShapeType="1"/>
            </p:cNvSpPr>
            <p:nvPr/>
          </p:nvSpPr>
          <p:spPr bwMode="auto">
            <a:xfrm flipH="1">
              <a:off x="612" y="1525"/>
              <a:ext cx="63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7" name="Line 93">
              <a:extLst>
                <a:ext uri="{FF2B5EF4-FFF2-40B4-BE49-F238E27FC236}">
                  <a16:creationId xmlns:a16="http://schemas.microsoft.com/office/drawing/2014/main" id="{B617C971-63ED-4C73-9CF4-C085DB2BE1CC}"/>
                </a:ext>
              </a:extLst>
            </p:cNvPr>
            <p:cNvSpPr>
              <a:spLocks noChangeShapeType="1"/>
            </p:cNvSpPr>
            <p:nvPr/>
          </p:nvSpPr>
          <p:spPr bwMode="auto">
            <a:xfrm flipH="1">
              <a:off x="975" y="1616"/>
              <a:ext cx="363" cy="31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8" name="Line 94">
              <a:extLst>
                <a:ext uri="{FF2B5EF4-FFF2-40B4-BE49-F238E27FC236}">
                  <a16:creationId xmlns:a16="http://schemas.microsoft.com/office/drawing/2014/main" id="{F780E048-0248-4BE9-989A-0AEE90DDB218}"/>
                </a:ext>
              </a:extLst>
            </p:cNvPr>
            <p:cNvSpPr>
              <a:spLocks noChangeShapeType="1"/>
            </p:cNvSpPr>
            <p:nvPr/>
          </p:nvSpPr>
          <p:spPr bwMode="auto">
            <a:xfrm>
              <a:off x="1565" y="1616"/>
              <a:ext cx="317" cy="31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59" name="Line 95">
              <a:extLst>
                <a:ext uri="{FF2B5EF4-FFF2-40B4-BE49-F238E27FC236}">
                  <a16:creationId xmlns:a16="http://schemas.microsoft.com/office/drawing/2014/main" id="{C5E94AE8-D88E-48D0-8E68-DCD86EA56009}"/>
                </a:ext>
              </a:extLst>
            </p:cNvPr>
            <p:cNvSpPr>
              <a:spLocks noChangeShapeType="1"/>
            </p:cNvSpPr>
            <p:nvPr/>
          </p:nvSpPr>
          <p:spPr bwMode="auto">
            <a:xfrm>
              <a:off x="1610" y="1525"/>
              <a:ext cx="59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60" name="Line 96">
              <a:extLst>
                <a:ext uri="{FF2B5EF4-FFF2-40B4-BE49-F238E27FC236}">
                  <a16:creationId xmlns:a16="http://schemas.microsoft.com/office/drawing/2014/main" id="{BB3DD47F-BB6D-4EF5-8A58-DE53D26766C1}"/>
                </a:ext>
              </a:extLst>
            </p:cNvPr>
            <p:cNvSpPr>
              <a:spLocks noChangeShapeType="1"/>
            </p:cNvSpPr>
            <p:nvPr/>
          </p:nvSpPr>
          <p:spPr bwMode="auto">
            <a:xfrm flipH="1">
              <a:off x="2064" y="1616"/>
              <a:ext cx="226" cy="31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7661" name="Line 97">
              <a:extLst>
                <a:ext uri="{FF2B5EF4-FFF2-40B4-BE49-F238E27FC236}">
                  <a16:creationId xmlns:a16="http://schemas.microsoft.com/office/drawing/2014/main" id="{3BF5D4C9-3639-457E-8731-66FB127F5B5C}"/>
                </a:ext>
              </a:extLst>
            </p:cNvPr>
            <p:cNvSpPr>
              <a:spLocks noChangeShapeType="1"/>
            </p:cNvSpPr>
            <p:nvPr/>
          </p:nvSpPr>
          <p:spPr bwMode="auto">
            <a:xfrm flipH="1">
              <a:off x="1066" y="2069"/>
              <a:ext cx="7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215586" name="Text Box 98">
            <a:extLst>
              <a:ext uri="{FF2B5EF4-FFF2-40B4-BE49-F238E27FC236}">
                <a16:creationId xmlns:a16="http://schemas.microsoft.com/office/drawing/2014/main" id="{EE8FA9FC-9BD7-495E-A882-3F5AE595DD6D}"/>
              </a:ext>
            </a:extLst>
          </p:cNvPr>
          <p:cNvSpPr txBox="1">
            <a:spLocks noChangeArrowheads="1"/>
          </p:cNvSpPr>
          <p:nvPr/>
        </p:nvSpPr>
        <p:spPr bwMode="auto">
          <a:xfrm>
            <a:off x="2566988" y="2997200"/>
            <a:ext cx="758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a:t>0</a:t>
            </a:r>
          </a:p>
        </p:txBody>
      </p:sp>
      <p:sp>
        <p:nvSpPr>
          <p:cNvPr id="1215587" name="Text Box 99">
            <a:extLst>
              <a:ext uri="{FF2B5EF4-FFF2-40B4-BE49-F238E27FC236}">
                <a16:creationId xmlns:a16="http://schemas.microsoft.com/office/drawing/2014/main" id="{E4005A0D-CDEF-4C52-9E80-ADE38B57BDA9}"/>
              </a:ext>
            </a:extLst>
          </p:cNvPr>
          <p:cNvSpPr txBox="1">
            <a:spLocks noChangeArrowheads="1"/>
          </p:cNvSpPr>
          <p:nvPr/>
        </p:nvSpPr>
        <p:spPr bwMode="auto">
          <a:xfrm>
            <a:off x="4440238" y="1484313"/>
            <a:ext cx="758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a:t>1</a:t>
            </a:r>
          </a:p>
        </p:txBody>
      </p:sp>
      <p:sp>
        <p:nvSpPr>
          <p:cNvPr id="1215588" name="Text Box 100">
            <a:extLst>
              <a:ext uri="{FF2B5EF4-FFF2-40B4-BE49-F238E27FC236}">
                <a16:creationId xmlns:a16="http://schemas.microsoft.com/office/drawing/2014/main" id="{452F72FC-1734-4033-B699-F94B2BEA2341}"/>
              </a:ext>
            </a:extLst>
          </p:cNvPr>
          <p:cNvSpPr txBox="1">
            <a:spLocks noChangeArrowheads="1"/>
          </p:cNvSpPr>
          <p:nvPr/>
        </p:nvSpPr>
        <p:spPr bwMode="auto">
          <a:xfrm>
            <a:off x="3359150" y="5661025"/>
            <a:ext cx="758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a:t>1</a:t>
            </a:r>
          </a:p>
        </p:txBody>
      </p:sp>
      <p:sp>
        <p:nvSpPr>
          <p:cNvPr id="1215589" name="Text Box 101">
            <a:extLst>
              <a:ext uri="{FF2B5EF4-FFF2-40B4-BE49-F238E27FC236}">
                <a16:creationId xmlns:a16="http://schemas.microsoft.com/office/drawing/2014/main" id="{FE133F54-7C1D-467D-90C1-44AE332AF238}"/>
              </a:ext>
            </a:extLst>
          </p:cNvPr>
          <p:cNvSpPr txBox="1">
            <a:spLocks noChangeArrowheads="1"/>
          </p:cNvSpPr>
          <p:nvPr/>
        </p:nvSpPr>
        <p:spPr bwMode="auto">
          <a:xfrm>
            <a:off x="8183563" y="1628775"/>
            <a:ext cx="7588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a:t>2</a:t>
            </a:r>
          </a:p>
        </p:txBody>
      </p:sp>
      <p:sp>
        <p:nvSpPr>
          <p:cNvPr id="1215590" name="Text Box 102">
            <a:extLst>
              <a:ext uri="{FF2B5EF4-FFF2-40B4-BE49-F238E27FC236}">
                <a16:creationId xmlns:a16="http://schemas.microsoft.com/office/drawing/2014/main" id="{6DA5104B-31B0-410C-80C6-5CE161B53994}"/>
              </a:ext>
            </a:extLst>
          </p:cNvPr>
          <p:cNvSpPr txBox="1">
            <a:spLocks noChangeArrowheads="1"/>
          </p:cNvSpPr>
          <p:nvPr/>
        </p:nvSpPr>
        <p:spPr bwMode="auto">
          <a:xfrm>
            <a:off x="6024563" y="3141663"/>
            <a:ext cx="7604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a:t>2</a:t>
            </a:r>
          </a:p>
        </p:txBody>
      </p:sp>
      <p:sp>
        <p:nvSpPr>
          <p:cNvPr id="1215591" name="Text Box 103">
            <a:extLst>
              <a:ext uri="{FF2B5EF4-FFF2-40B4-BE49-F238E27FC236}">
                <a16:creationId xmlns:a16="http://schemas.microsoft.com/office/drawing/2014/main" id="{6BBC00C4-2679-4057-9A22-42D08C6ECC04}"/>
              </a:ext>
            </a:extLst>
          </p:cNvPr>
          <p:cNvSpPr txBox="1">
            <a:spLocks noChangeArrowheads="1"/>
          </p:cNvSpPr>
          <p:nvPr/>
        </p:nvSpPr>
        <p:spPr bwMode="auto">
          <a:xfrm>
            <a:off x="9551988" y="3141663"/>
            <a:ext cx="758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a:t>3</a:t>
            </a:r>
          </a:p>
        </p:txBody>
      </p:sp>
      <p:sp>
        <p:nvSpPr>
          <p:cNvPr id="1215592" name="Text Box 104">
            <a:extLst>
              <a:ext uri="{FF2B5EF4-FFF2-40B4-BE49-F238E27FC236}">
                <a16:creationId xmlns:a16="http://schemas.microsoft.com/office/drawing/2014/main" id="{04681032-8E67-4670-992B-C3D00EA99EEC}"/>
              </a:ext>
            </a:extLst>
          </p:cNvPr>
          <p:cNvSpPr txBox="1">
            <a:spLocks noChangeArrowheads="1"/>
          </p:cNvSpPr>
          <p:nvPr/>
        </p:nvSpPr>
        <p:spPr bwMode="auto">
          <a:xfrm>
            <a:off x="8466138" y="5564188"/>
            <a:ext cx="758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5586"/>
                                        </p:tgtEl>
                                        <p:attrNameLst>
                                          <p:attrName>style.visibility</p:attrName>
                                        </p:attrNameLst>
                                      </p:cBhvr>
                                      <p:to>
                                        <p:strVal val="visible"/>
                                      </p:to>
                                    </p:set>
                                    <p:animEffect transition="in" filter="blinds(horizontal)">
                                      <p:cBhvr>
                                        <p:cTn id="7" dur="500"/>
                                        <p:tgtEl>
                                          <p:spTgt spid="1215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15587"/>
                                        </p:tgtEl>
                                        <p:attrNameLst>
                                          <p:attrName>style.visibility</p:attrName>
                                        </p:attrNameLst>
                                      </p:cBhvr>
                                      <p:to>
                                        <p:strVal val="visible"/>
                                      </p:to>
                                    </p:set>
                                    <p:animEffect transition="in" filter="blinds(horizontal)">
                                      <p:cBhvr>
                                        <p:cTn id="12" dur="500"/>
                                        <p:tgtEl>
                                          <p:spTgt spid="121558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15588"/>
                                        </p:tgtEl>
                                        <p:attrNameLst>
                                          <p:attrName>style.visibility</p:attrName>
                                        </p:attrNameLst>
                                      </p:cBhvr>
                                      <p:to>
                                        <p:strVal val="visible"/>
                                      </p:to>
                                    </p:set>
                                    <p:animEffect transition="in" filter="blinds(horizontal)">
                                      <p:cBhvr>
                                        <p:cTn id="15" dur="500"/>
                                        <p:tgtEl>
                                          <p:spTgt spid="121558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215590"/>
                                        </p:tgtEl>
                                        <p:attrNameLst>
                                          <p:attrName>style.visibility</p:attrName>
                                        </p:attrNameLst>
                                      </p:cBhvr>
                                      <p:to>
                                        <p:strVal val="visible"/>
                                      </p:to>
                                    </p:set>
                                    <p:animEffect transition="in" filter="blinds(horizontal)">
                                      <p:cBhvr>
                                        <p:cTn id="20" dur="500"/>
                                        <p:tgtEl>
                                          <p:spTgt spid="1215590"/>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215589"/>
                                        </p:tgtEl>
                                        <p:attrNameLst>
                                          <p:attrName>style.visibility</p:attrName>
                                        </p:attrNameLst>
                                      </p:cBhvr>
                                      <p:to>
                                        <p:strVal val="visible"/>
                                      </p:to>
                                    </p:set>
                                    <p:animEffect transition="in" filter="blinds(horizontal)">
                                      <p:cBhvr>
                                        <p:cTn id="23" dur="500"/>
                                        <p:tgtEl>
                                          <p:spTgt spid="121558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215592"/>
                                        </p:tgtEl>
                                        <p:attrNameLst>
                                          <p:attrName>style.visibility</p:attrName>
                                        </p:attrNameLst>
                                      </p:cBhvr>
                                      <p:to>
                                        <p:strVal val="visible"/>
                                      </p:to>
                                    </p:set>
                                    <p:animEffect transition="in" filter="blinds(horizontal)">
                                      <p:cBhvr>
                                        <p:cTn id="28" dur="500"/>
                                        <p:tgtEl>
                                          <p:spTgt spid="121559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215591"/>
                                        </p:tgtEl>
                                        <p:attrNameLst>
                                          <p:attrName>style.visibility</p:attrName>
                                        </p:attrNameLst>
                                      </p:cBhvr>
                                      <p:to>
                                        <p:strVal val="visible"/>
                                      </p:to>
                                    </p:set>
                                    <p:animEffect transition="in" filter="blinds(horizontal)">
                                      <p:cBhvr>
                                        <p:cTn id="31" dur="500"/>
                                        <p:tgtEl>
                                          <p:spTgt spid="1215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5586" grpId="0"/>
      <p:bldP spid="1215587" grpId="0"/>
      <p:bldP spid="1215588" grpId="0"/>
      <p:bldP spid="1215589" grpId="0"/>
      <p:bldP spid="1215590" grpId="0"/>
      <p:bldP spid="1215591" grpId="0"/>
      <p:bldP spid="1215592"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Rectangle 2">
            <a:extLst>
              <a:ext uri="{FF2B5EF4-FFF2-40B4-BE49-F238E27FC236}">
                <a16:creationId xmlns:a16="http://schemas.microsoft.com/office/drawing/2014/main" id="{61E97373-367F-4C88-B146-783F30DABADA}"/>
              </a:ext>
            </a:extLst>
          </p:cNvPr>
          <p:cNvSpPr>
            <a:spLocks noGrp="1" noChangeArrowheads="1"/>
          </p:cNvSpPr>
          <p:nvPr>
            <p:ph type="title"/>
          </p:nvPr>
        </p:nvSpPr>
        <p:spPr>
          <a:xfrm>
            <a:off x="845007" y="488514"/>
            <a:ext cx="7772400" cy="1143000"/>
          </a:xfrm>
        </p:spPr>
        <p:txBody>
          <a:bodyPr/>
          <a:lstStyle/>
          <a:p>
            <a:pPr eaLnBrk="1" hangingPunct="1">
              <a:defRPr/>
            </a:pPr>
            <a:r>
              <a:rPr lang="zh-CN" altLang="en-US" dirty="0"/>
              <a:t>伪代码</a:t>
            </a:r>
          </a:p>
        </p:txBody>
      </p:sp>
      <p:sp>
        <p:nvSpPr>
          <p:cNvPr id="2" name="Rectangle 3">
            <a:extLst>
              <a:ext uri="{FF2B5EF4-FFF2-40B4-BE49-F238E27FC236}">
                <a16:creationId xmlns:a16="http://schemas.microsoft.com/office/drawing/2014/main" id="{1492DD1B-B39E-46B7-B6FD-59691720B826}"/>
              </a:ext>
            </a:extLst>
          </p:cNvPr>
          <p:cNvSpPr>
            <a:spLocks noGrp="1" noChangeArrowheads="1"/>
          </p:cNvSpPr>
          <p:nvPr>
            <p:ph type="body" idx="1"/>
          </p:nvPr>
        </p:nvSpPr>
        <p:spPr>
          <a:xfrm>
            <a:off x="1271588" y="1316386"/>
            <a:ext cx="9720262" cy="5516562"/>
          </a:xfrm>
        </p:spPr>
        <p:txBody>
          <a:bodyPr>
            <a:noAutofit/>
          </a:bodyPr>
          <a:lstStyle/>
          <a:p>
            <a:pPr eaLnBrk="1" hangingPunct="1">
              <a:lnSpc>
                <a:spcPct val="90000"/>
              </a:lnSpc>
              <a:buFontTx/>
              <a:buNone/>
            </a:pPr>
            <a:r>
              <a:rPr lang="en-US" altLang="zh-CN" sz="2200" b="0" dirty="0" err="1">
                <a:latin typeface="Times New Roman" panose="02020603050405020304" pitchFamily="18" charset="0"/>
                <a:cs typeface="Times New Roman" panose="02020603050405020304" pitchFamily="18" charset="0"/>
              </a:rPr>
              <a:t>unweightedShortDistance</a:t>
            </a:r>
            <a:r>
              <a:rPr lang="en-US" altLang="zh-CN" sz="2200" b="0" dirty="0">
                <a:latin typeface="Times New Roman" panose="02020603050405020304" pitchFamily="18" charset="0"/>
                <a:cs typeface="Times New Roman" panose="02020603050405020304" pitchFamily="18" charset="0"/>
              </a:rPr>
              <a:t>(start)</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for </a:t>
            </a:r>
            <a:r>
              <a:rPr lang="zh-CN" altLang="en-US" sz="2200" b="0" dirty="0">
                <a:latin typeface="Times New Roman" panose="02020603050405020304" pitchFamily="18" charset="0"/>
                <a:cs typeface="Times New Roman" panose="02020603050405020304" pitchFamily="18" charset="0"/>
              </a:rPr>
              <a:t>（每个结点</a:t>
            </a:r>
            <a:r>
              <a:rPr lang="en-US" altLang="zh-CN" sz="2200" b="0" dirty="0">
                <a:latin typeface="Times New Roman" panose="02020603050405020304" pitchFamily="18" charset="0"/>
                <a:cs typeface="Times New Roman" panose="02020603050405020304" pitchFamily="18" charset="0"/>
              </a:rPr>
              <a:t>v</a:t>
            </a:r>
            <a:r>
              <a:rPr lang="zh-CN" altLang="en-US" sz="2200" b="0" dirty="0">
                <a:latin typeface="Times New Roman" panose="02020603050405020304" pitchFamily="18" charset="0"/>
                <a:cs typeface="Times New Roman" panose="02020603050405020304" pitchFamily="18" charset="0"/>
              </a:rPr>
              <a:t>） </a:t>
            </a:r>
            <a:r>
              <a:rPr lang="en-US" altLang="zh-CN" sz="2200" b="0" dirty="0">
                <a:latin typeface="Times New Roman" panose="02020603050405020304" pitchFamily="18" charset="0"/>
                <a:cs typeface="Times New Roman" panose="02020603050405020304" pitchFamily="18" charset="0"/>
              </a:rPr>
              <a:t>distance(v) = </a:t>
            </a:r>
            <a:r>
              <a:rPr lang="zh-CN" altLang="en-US" sz="2200" b="0" dirty="0">
                <a:latin typeface="Times New Roman" panose="02020603050405020304" pitchFamily="18" charset="0"/>
                <a:cs typeface="Times New Roman" panose="02020603050405020304" pitchFamily="18" charset="0"/>
              </a:rPr>
              <a:t>无穷大；</a:t>
            </a:r>
          </a:p>
          <a:p>
            <a:pPr eaLnBrk="1" hangingPunct="1">
              <a:lnSpc>
                <a:spcPct val="90000"/>
              </a:lnSpc>
              <a:buFontTx/>
              <a:buNone/>
            </a:pPr>
            <a:r>
              <a:rPr lang="zh-CN" altLang="en-US" sz="2200" b="0" dirty="0">
                <a:latin typeface="Times New Roman" panose="02020603050405020304" pitchFamily="18" charset="0"/>
                <a:cs typeface="Times New Roman" panose="02020603050405020304" pitchFamily="18" charset="0"/>
              </a:rPr>
              <a:t>     </a:t>
            </a:r>
            <a:r>
              <a:rPr lang="en-US" altLang="zh-CN" sz="2200" b="0" dirty="0">
                <a:latin typeface="Times New Roman" panose="02020603050405020304" pitchFamily="18" charset="0"/>
                <a:cs typeface="Times New Roman" panose="02020603050405020304" pitchFamily="18" charset="0"/>
              </a:rPr>
              <a:t>distance[start] = 0;</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start</a:t>
            </a:r>
            <a:r>
              <a:rPr lang="zh-CN" altLang="en-US" sz="2200" b="0" dirty="0">
                <a:latin typeface="Times New Roman" panose="02020603050405020304" pitchFamily="18" charset="0"/>
                <a:cs typeface="Times New Roman" panose="02020603050405020304" pitchFamily="18" charset="0"/>
              </a:rPr>
              <a:t>入队</a:t>
            </a:r>
            <a:r>
              <a:rPr lang="en-US" altLang="zh-CN" sz="2200" b="0" dirty="0">
                <a:latin typeface="Times New Roman" panose="02020603050405020304" pitchFamily="18" charset="0"/>
                <a:cs typeface="Times New Roman" panose="02020603050405020304" pitchFamily="18" charset="0"/>
              </a:rPr>
              <a:t>;</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while  </a:t>
            </a:r>
            <a:r>
              <a:rPr lang="zh-CN" altLang="en-US" sz="2200" b="0" dirty="0">
                <a:latin typeface="Times New Roman" panose="02020603050405020304" pitchFamily="18" charset="0"/>
                <a:cs typeface="Times New Roman" panose="02020603050405020304" pitchFamily="18" charset="0"/>
              </a:rPr>
              <a:t>（队列非空） </a:t>
            </a:r>
            <a:r>
              <a:rPr lang="en-US" altLang="zh-CN" sz="2200" b="0" dirty="0">
                <a:latin typeface="Times New Roman" panose="02020603050405020304" pitchFamily="18" charset="0"/>
                <a:cs typeface="Times New Roman" panose="02020603050405020304" pitchFamily="18" charset="0"/>
              </a:rPr>
              <a:t>{</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a:t>
            </a:r>
            <a:r>
              <a:rPr lang="zh-CN" altLang="en-US" sz="2200" b="0" dirty="0">
                <a:latin typeface="Times New Roman" panose="02020603050405020304" pitchFamily="18" charset="0"/>
                <a:cs typeface="Times New Roman" panose="02020603050405020304" pitchFamily="18" charset="0"/>
              </a:rPr>
              <a:t>取出队头元素存入</a:t>
            </a:r>
            <a:r>
              <a:rPr lang="en-US" altLang="zh-CN" sz="2200" b="0" dirty="0">
                <a:latin typeface="Times New Roman" panose="02020603050405020304" pitchFamily="18" charset="0"/>
                <a:cs typeface="Times New Roman" panose="02020603050405020304" pitchFamily="18" charset="0"/>
              </a:rPr>
              <a:t>u</a:t>
            </a:r>
            <a:r>
              <a:rPr lang="zh-CN" altLang="en-US" sz="2200" b="0" dirty="0">
                <a:latin typeface="Times New Roman" panose="02020603050405020304" pitchFamily="18" charset="0"/>
                <a:cs typeface="Times New Roman" panose="02020603050405020304" pitchFamily="18" charset="0"/>
              </a:rPr>
              <a:t>；</a:t>
            </a:r>
          </a:p>
          <a:p>
            <a:pPr eaLnBrk="1" hangingPunct="1">
              <a:lnSpc>
                <a:spcPct val="90000"/>
              </a:lnSpc>
              <a:buFontTx/>
              <a:buNone/>
            </a:pPr>
            <a:r>
              <a:rPr lang="zh-CN" altLang="en-US" sz="2200" b="0" dirty="0">
                <a:latin typeface="Times New Roman" panose="02020603050405020304" pitchFamily="18" charset="0"/>
                <a:cs typeface="Times New Roman" panose="02020603050405020304" pitchFamily="18" charset="0"/>
              </a:rPr>
              <a:t>           </a:t>
            </a:r>
            <a:r>
              <a:rPr lang="en-US" altLang="zh-CN" sz="2200" b="0" dirty="0">
                <a:latin typeface="Times New Roman" panose="02020603050405020304" pitchFamily="18" charset="0"/>
                <a:cs typeface="Times New Roman" panose="02020603050405020304" pitchFamily="18" charset="0"/>
              </a:rPr>
              <a:t>for (u</a:t>
            </a:r>
            <a:r>
              <a:rPr lang="zh-CN" altLang="en-US" sz="2200" b="0" dirty="0">
                <a:latin typeface="Times New Roman" panose="02020603050405020304" pitchFamily="18" charset="0"/>
                <a:cs typeface="Times New Roman" panose="02020603050405020304" pitchFamily="18" charset="0"/>
              </a:rPr>
              <a:t>的每一个邻接点</a:t>
            </a:r>
            <a:r>
              <a:rPr lang="en-US" altLang="zh-CN" sz="2200" b="0" dirty="0">
                <a:latin typeface="Times New Roman" panose="02020603050405020304" pitchFamily="18" charset="0"/>
                <a:cs typeface="Times New Roman" panose="02020603050405020304" pitchFamily="18" charset="0"/>
              </a:rPr>
              <a:t>v)</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if</a:t>
            </a:r>
            <a:r>
              <a:rPr lang="zh-CN" altLang="en-US" sz="2200" b="0" dirty="0">
                <a:latin typeface="Times New Roman" panose="02020603050405020304" pitchFamily="18" charset="0"/>
                <a:cs typeface="Times New Roman" panose="02020603050405020304" pitchFamily="18" charset="0"/>
              </a:rPr>
              <a:t>（</a:t>
            </a:r>
            <a:r>
              <a:rPr lang="en-US" altLang="zh-CN" sz="2200" b="0" dirty="0">
                <a:latin typeface="Times New Roman" panose="02020603050405020304" pitchFamily="18" charset="0"/>
                <a:cs typeface="Times New Roman" panose="02020603050405020304" pitchFamily="18" charset="0"/>
              </a:rPr>
              <a:t>distance[v]== </a:t>
            </a:r>
            <a:r>
              <a:rPr lang="zh-CN" altLang="en-US" sz="2200" b="0" dirty="0">
                <a:latin typeface="Times New Roman" panose="02020603050405020304" pitchFamily="18" charset="0"/>
                <a:cs typeface="Times New Roman" panose="02020603050405020304" pitchFamily="18" charset="0"/>
              </a:rPr>
              <a:t>无穷大）</a:t>
            </a:r>
            <a:r>
              <a:rPr lang="en-US" altLang="zh-CN" sz="2200" b="0" dirty="0">
                <a:latin typeface="Times New Roman" panose="02020603050405020304" pitchFamily="18" charset="0"/>
                <a:cs typeface="Times New Roman" panose="02020603050405020304" pitchFamily="18" charset="0"/>
              </a:rPr>
              <a:t>{</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distance[v]= distance[u] + 1</a:t>
            </a:r>
            <a:r>
              <a:rPr lang="zh-CN" altLang="en-US" sz="2200" b="0" dirty="0">
                <a:latin typeface="Times New Roman" panose="02020603050405020304" pitchFamily="18" charset="0"/>
                <a:cs typeface="Times New Roman" panose="02020603050405020304" pitchFamily="18" charset="0"/>
              </a:rPr>
              <a:t>；</a:t>
            </a:r>
          </a:p>
          <a:p>
            <a:pPr eaLnBrk="1" hangingPunct="1">
              <a:lnSpc>
                <a:spcPct val="90000"/>
              </a:lnSpc>
              <a:buFontTx/>
              <a:buNone/>
            </a:pPr>
            <a:r>
              <a:rPr lang="zh-CN" altLang="en-US" sz="2200" b="0" dirty="0">
                <a:latin typeface="Times New Roman" panose="02020603050405020304" pitchFamily="18" charset="0"/>
                <a:cs typeface="Times New Roman" panose="02020603050405020304" pitchFamily="18" charset="0"/>
              </a:rPr>
              <a:t>                      </a:t>
            </a:r>
            <a:r>
              <a:rPr lang="en-US" altLang="zh-CN" sz="2200" b="0" dirty="0">
                <a:latin typeface="Times New Roman" panose="02020603050405020304" pitchFamily="18" charset="0"/>
                <a:cs typeface="Times New Roman" panose="02020603050405020304" pitchFamily="18" charset="0"/>
              </a:rPr>
              <a:t>source[v] = u</a:t>
            </a:r>
            <a:r>
              <a:rPr lang="zh-CN" altLang="en-US" sz="2200" b="0" dirty="0">
                <a:latin typeface="Times New Roman" panose="02020603050405020304" pitchFamily="18" charset="0"/>
                <a:cs typeface="Times New Roman" panose="02020603050405020304" pitchFamily="18" charset="0"/>
              </a:rPr>
              <a:t>；</a:t>
            </a:r>
          </a:p>
          <a:p>
            <a:pPr eaLnBrk="1" hangingPunct="1">
              <a:lnSpc>
                <a:spcPct val="90000"/>
              </a:lnSpc>
              <a:buFontTx/>
              <a:buNone/>
            </a:pPr>
            <a:r>
              <a:rPr lang="zh-CN" altLang="en-US" sz="2200" b="0" dirty="0">
                <a:latin typeface="Times New Roman" panose="02020603050405020304" pitchFamily="18" charset="0"/>
                <a:cs typeface="Times New Roman" panose="02020603050405020304" pitchFamily="18" charset="0"/>
              </a:rPr>
              <a:t>                      </a:t>
            </a:r>
            <a:r>
              <a:rPr lang="en-US" altLang="zh-CN" sz="2200" b="0" dirty="0">
                <a:latin typeface="Times New Roman" panose="02020603050405020304" pitchFamily="18" charset="0"/>
                <a:cs typeface="Times New Roman" panose="02020603050405020304" pitchFamily="18" charset="0"/>
              </a:rPr>
              <a:t>v</a:t>
            </a:r>
            <a:r>
              <a:rPr lang="zh-CN" altLang="en-US" sz="2200" b="0" dirty="0">
                <a:latin typeface="Times New Roman" panose="02020603050405020304" pitchFamily="18" charset="0"/>
                <a:cs typeface="Times New Roman" panose="02020603050405020304" pitchFamily="18" charset="0"/>
              </a:rPr>
              <a:t>入队；  </a:t>
            </a:r>
            <a:r>
              <a:rPr lang="en-US" altLang="zh-CN" sz="2200" b="0" dirty="0">
                <a:latin typeface="Times New Roman" panose="02020603050405020304" pitchFamily="18" charset="0"/>
                <a:cs typeface="Times New Roman" panose="02020603050405020304" pitchFamily="18" charset="0"/>
              </a:rPr>
              <a:t>}</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a:t>
            </a:r>
          </a:p>
          <a:p>
            <a:pPr eaLnBrk="1" hangingPunct="1">
              <a:lnSpc>
                <a:spcPct val="90000"/>
              </a:lnSpc>
              <a:buFontTx/>
              <a:buNone/>
            </a:pPr>
            <a:r>
              <a:rPr lang="en-US" altLang="zh-CN" sz="2200" b="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9672" y="1715132"/>
            <a:ext cx="7369219" cy="4190304"/>
          </a:xfrm>
        </p:spPr>
        <p:txBody>
          <a:bodyPr>
            <a:normAutofit/>
          </a:bodyPr>
          <a:lstStyle/>
          <a:p>
            <a:pPr marL="0" indent="0">
              <a:buNone/>
            </a:pPr>
            <a:r>
              <a:rPr lang="zh-CN" altLang="zh-CN" sz="2800" b="0" dirty="0">
                <a:ea typeface="华文楷体" pitchFamily="2" charset="-122"/>
                <a:cs typeface="Times New Roman" panose="02020603050405020304" pitchFamily="18" charset="0"/>
              </a:rPr>
              <a:t>假如图中边带有负权值，如图</a:t>
            </a:r>
            <a:r>
              <a:rPr lang="en-US" altLang="zh-CN" sz="2800" b="0" dirty="0">
                <a:ea typeface="华文楷体" pitchFamily="2" charset="-122"/>
                <a:cs typeface="Times New Roman" panose="02020603050405020304" pitchFamily="18" charset="0"/>
              </a:rPr>
              <a:t>G23</a:t>
            </a:r>
            <a:r>
              <a:rPr lang="zh-CN" altLang="zh-CN" sz="2800" b="0" dirty="0">
                <a:ea typeface="华文楷体" pitchFamily="2" charset="-122"/>
                <a:cs typeface="Times New Roman" panose="02020603050405020304" pitchFamily="18" charset="0"/>
              </a:rPr>
              <a:t>中边</a:t>
            </a:r>
            <a:r>
              <a:rPr lang="en-US" altLang="zh-CN" sz="2800" b="0" dirty="0">
                <a:ea typeface="华文楷体" pitchFamily="2" charset="-122"/>
                <a:cs typeface="Times New Roman" panose="02020603050405020304" pitchFamily="18" charset="0"/>
              </a:rPr>
              <a:t>&lt;C,D&gt;</a:t>
            </a:r>
            <a:r>
              <a:rPr lang="zh-CN" altLang="zh-CN" sz="2800" b="0" dirty="0">
                <a:ea typeface="华文楷体" pitchFamily="2" charset="-122"/>
                <a:cs typeface="Times New Roman" panose="02020603050405020304" pitchFamily="18" charset="0"/>
              </a:rPr>
              <a:t>上的权值为</a:t>
            </a:r>
            <a:r>
              <a:rPr lang="en-US" altLang="zh-CN" sz="2800" b="0" dirty="0">
                <a:ea typeface="华文楷体" pitchFamily="2" charset="-122"/>
                <a:cs typeface="Times New Roman" panose="02020603050405020304" pitchFamily="18" charset="0"/>
              </a:rPr>
              <a:t>-8</a:t>
            </a:r>
            <a:r>
              <a:rPr lang="zh-CN" altLang="zh-CN" sz="2800" b="0" dirty="0">
                <a:ea typeface="华文楷体" pitchFamily="2" charset="-122"/>
                <a:cs typeface="Times New Roman" panose="02020603050405020304" pitchFamily="18" charset="0"/>
              </a:rPr>
              <a:t>，从</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到</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的最短路径就是从</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到</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再到</a:t>
            </a:r>
            <a:r>
              <a:rPr lang="en-US" altLang="zh-CN" sz="2800" b="0" dirty="0">
                <a:ea typeface="华文楷体" pitchFamily="2" charset="-122"/>
                <a:cs typeface="Times New Roman" panose="02020603050405020304" pitchFamily="18" charset="0"/>
              </a:rPr>
              <a:t>D</a:t>
            </a:r>
            <a:r>
              <a:rPr lang="zh-CN" altLang="zh-CN" sz="2800" b="0" dirty="0">
                <a:ea typeface="华文楷体" pitchFamily="2" charset="-122"/>
                <a:cs typeface="Times New Roman" panose="02020603050405020304" pitchFamily="18" charset="0"/>
              </a:rPr>
              <a:t>，该路径距离是</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，比</a:t>
            </a:r>
            <a:r>
              <a:rPr lang="en-US" altLang="zh-CN" sz="2800" b="0" dirty="0">
                <a:ea typeface="华文楷体" pitchFamily="2" charset="-122"/>
                <a:cs typeface="Times New Roman" panose="02020603050405020304" pitchFamily="18" charset="0"/>
              </a:rPr>
              <a:t>5</a:t>
            </a:r>
            <a:r>
              <a:rPr lang="zh-CN" altLang="zh-CN" sz="2800" b="0" dirty="0">
                <a:ea typeface="华文楷体" pitchFamily="2" charset="-122"/>
                <a:cs typeface="Times New Roman" panose="02020603050405020304" pitchFamily="18" charset="0"/>
              </a:rPr>
              <a:t>更小。</a:t>
            </a:r>
            <a:r>
              <a:rPr lang="en-US" altLang="zh-CN" sz="2800" b="0" dirty="0" err="1">
                <a:ea typeface="华文楷体" pitchFamily="2" charset="-122"/>
                <a:cs typeface="Times New Roman" panose="02020603050405020304" pitchFamily="18" charset="0"/>
              </a:rPr>
              <a:t>Dijkstra</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算法因是贪心算法就不再正确了，应该如何解决？</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如果图中边不仅带有负的权值，还有环出现，是否有解？</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499672" y="754146"/>
            <a:ext cx="11162884" cy="574183"/>
          </a:xfrm>
        </p:spPr>
        <p:txBody>
          <a:bodyPr/>
          <a:lstStyle/>
          <a:p>
            <a:pPr marL="838200" indent="-838200">
              <a:defRPr/>
            </a:pPr>
            <a:r>
              <a:rPr lang="zh-CN" altLang="en-US" dirty="0">
                <a:latin typeface="华文楷体" pitchFamily="2" charset="-122"/>
                <a:ea typeface="华文楷体" pitchFamily="2" charset="-122"/>
              </a:rPr>
              <a:t>特殊情况：负权值</a:t>
            </a:r>
            <a:endParaRPr lang="zh-CN" altLang="en-US" dirty="0"/>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8139962" y="1538984"/>
            <a:ext cx="3522594" cy="4037772"/>
          </a:xfrm>
          <a:prstGeom prst="rect">
            <a:avLst/>
          </a:prstGeom>
          <a:noFill/>
          <a:ln>
            <a:noFill/>
          </a:ln>
        </p:spPr>
      </p:pic>
    </p:spTree>
    <p:extLst>
      <p:ext uri="{BB962C8B-B14F-4D97-AF65-F5344CB8AC3E}">
        <p14:creationId xmlns:p14="http://schemas.microsoft.com/office/powerpoint/2010/main" val="32835866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Rectangle 2">
            <a:extLst>
              <a:ext uri="{FF2B5EF4-FFF2-40B4-BE49-F238E27FC236}">
                <a16:creationId xmlns:a16="http://schemas.microsoft.com/office/drawing/2014/main" id="{D96C1EC1-72FA-4DAE-B8AA-83557034A6D4}"/>
              </a:ext>
            </a:extLst>
          </p:cNvPr>
          <p:cNvSpPr>
            <a:spLocks noGrp="1" noChangeArrowheads="1"/>
          </p:cNvSpPr>
          <p:nvPr>
            <p:ph type="title"/>
          </p:nvPr>
        </p:nvSpPr>
        <p:spPr/>
        <p:txBody>
          <a:bodyPr>
            <a:normAutofit/>
          </a:bodyPr>
          <a:lstStyle/>
          <a:p>
            <a:pPr marL="838200" indent="-838200">
              <a:defRPr/>
            </a:pPr>
            <a:r>
              <a:rPr lang="zh-CN" altLang="en-US" dirty="0">
                <a:latin typeface="华文楷体" pitchFamily="2" charset="-122"/>
                <a:ea typeface="华文楷体" pitchFamily="2" charset="-122"/>
              </a:rPr>
              <a:t>一个直观的解决方案</a:t>
            </a:r>
          </a:p>
        </p:txBody>
      </p:sp>
      <p:sp>
        <p:nvSpPr>
          <p:cNvPr id="2" name="Rectangle 3">
            <a:extLst>
              <a:ext uri="{FF2B5EF4-FFF2-40B4-BE49-F238E27FC236}">
                <a16:creationId xmlns:a16="http://schemas.microsoft.com/office/drawing/2014/main" id="{944DF2FD-0825-49B0-AD03-D0C0553CF5CF}"/>
              </a:ext>
            </a:extLst>
          </p:cNvPr>
          <p:cNvSpPr>
            <a:spLocks noGrp="1" noChangeArrowheads="1"/>
          </p:cNvSpPr>
          <p:nvPr>
            <p:ph type="body" idx="1"/>
          </p:nvPr>
        </p:nvSpPr>
        <p:spPr/>
        <p:txBody>
          <a:bodyPr/>
          <a:lstStyle/>
          <a:p>
            <a:pPr eaLnBrk="1" hangingPunct="1">
              <a:lnSpc>
                <a:spcPct val="140000"/>
              </a:lnSpc>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cs typeface="楷体_GB2312" pitchFamily="49" charset="-122"/>
              </a:rPr>
              <a:t>对每条边的权值都增加一个常量，使之消除负边，然后再使用</a:t>
            </a:r>
            <a:r>
              <a:rPr lang="en-US" altLang="zh-CN" sz="2800" dirty="0">
                <a:latin typeface="华文楷体" panose="02010600040101010101" pitchFamily="2" charset="-122"/>
                <a:ea typeface="华文楷体" panose="02010600040101010101" pitchFamily="2" charset="-122"/>
                <a:cs typeface="楷体_GB2312" pitchFamily="49" charset="-122"/>
              </a:rPr>
              <a:t>Dijkstra</a:t>
            </a:r>
            <a:r>
              <a:rPr lang="zh-CN" altLang="en-US" sz="2800" dirty="0">
                <a:latin typeface="华文楷体" panose="02010600040101010101" pitchFamily="2" charset="-122"/>
                <a:ea typeface="华文楷体" panose="02010600040101010101" pitchFamily="2" charset="-122"/>
                <a:cs typeface="楷体_GB2312" pitchFamily="49" charset="-122"/>
              </a:rPr>
              <a:t>算法。</a:t>
            </a:r>
            <a:endParaRPr lang="en-US" altLang="zh-CN" sz="2800" dirty="0">
              <a:latin typeface="华文楷体" panose="02010600040101010101" pitchFamily="2" charset="-122"/>
              <a:ea typeface="华文楷体" panose="02010600040101010101" pitchFamily="2" charset="-122"/>
              <a:cs typeface="楷体_GB2312" pitchFamily="49" charset="-122"/>
            </a:endParaRPr>
          </a:p>
          <a:p>
            <a:pPr marL="0" indent="0" eaLnBrk="1" hangingPunct="1">
              <a:lnSpc>
                <a:spcPct val="140000"/>
              </a:lnSpc>
              <a:buNone/>
            </a:pPr>
            <a:endParaRPr lang="en-US" altLang="zh-CN" sz="2800" dirty="0">
              <a:latin typeface="华文楷体" panose="02010600040101010101" pitchFamily="2" charset="-122"/>
              <a:ea typeface="华文楷体" panose="02010600040101010101" pitchFamily="2" charset="-122"/>
              <a:cs typeface="楷体_GB2312" pitchFamily="49" charset="-122"/>
            </a:endParaRPr>
          </a:p>
          <a:p>
            <a:pPr marL="0" indent="0" eaLnBrk="1" hangingPunct="1">
              <a:lnSpc>
                <a:spcPct val="140000"/>
              </a:lnSpc>
              <a:buNone/>
            </a:pPr>
            <a:endParaRPr lang="en-US" altLang="zh-CN" sz="2800" dirty="0">
              <a:latin typeface="华文楷体" panose="02010600040101010101" pitchFamily="2" charset="-122"/>
              <a:ea typeface="华文楷体" panose="02010600040101010101" pitchFamily="2" charset="-122"/>
              <a:cs typeface="楷体_GB2312" pitchFamily="49" charset="-122"/>
            </a:endParaRPr>
          </a:p>
          <a:p>
            <a:pPr marL="0" indent="0" eaLnBrk="1" hangingPunct="1">
              <a:lnSpc>
                <a:spcPct val="140000"/>
              </a:lnSpc>
              <a:buNone/>
            </a:pPr>
            <a:endParaRPr lang="zh-CN" altLang="en-US" sz="2800" dirty="0">
              <a:latin typeface="华文楷体" panose="02010600040101010101" pitchFamily="2" charset="-122"/>
              <a:ea typeface="华文楷体" panose="02010600040101010101" pitchFamily="2" charset="-122"/>
              <a:cs typeface="楷体_GB2312" pitchFamily="49" charset="-122"/>
            </a:endParaRPr>
          </a:p>
          <a:p>
            <a:pPr eaLnBrk="1" hangingPunct="1">
              <a:lnSpc>
                <a:spcPct val="140000"/>
              </a:lnSpc>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cs typeface="楷体_GB2312" pitchFamily="49" charset="-122"/>
              </a:rPr>
              <a:t>问题：经过</a:t>
            </a:r>
            <a:r>
              <a:rPr lang="zh-CN" altLang="en-US" sz="2800" u="sng" dirty="0">
                <a:solidFill>
                  <a:srgbClr val="FF0000"/>
                </a:solidFill>
                <a:latin typeface="华文楷体" panose="02010600040101010101" pitchFamily="2" charset="-122"/>
                <a:ea typeface="华文楷体" panose="02010600040101010101" pitchFamily="2" charset="-122"/>
                <a:cs typeface="楷体_GB2312" pitchFamily="49" charset="-122"/>
              </a:rPr>
              <a:t>边数多</a:t>
            </a:r>
            <a:r>
              <a:rPr lang="zh-CN" altLang="en-US" sz="2800" dirty="0">
                <a:solidFill>
                  <a:srgbClr val="FF0000"/>
                </a:solidFill>
                <a:latin typeface="华文楷体" panose="02010600040101010101" pitchFamily="2" charset="-122"/>
                <a:ea typeface="华文楷体" panose="02010600040101010101" pitchFamily="2" charset="-122"/>
                <a:cs typeface="楷体_GB2312" pitchFamily="49" charset="-122"/>
              </a:rPr>
              <a:t>的路径，权值</a:t>
            </a:r>
            <a:r>
              <a:rPr lang="zh-CN" altLang="en-US" sz="2800" u="sng" dirty="0">
                <a:solidFill>
                  <a:srgbClr val="FF0000"/>
                </a:solidFill>
                <a:latin typeface="华文楷体" panose="02010600040101010101" pitchFamily="2" charset="-122"/>
                <a:ea typeface="华文楷体" panose="02010600040101010101" pitchFamily="2" charset="-122"/>
                <a:cs typeface="楷体_GB2312" pitchFamily="49" charset="-122"/>
              </a:rPr>
              <a:t>增加得也多</a:t>
            </a:r>
            <a:r>
              <a:rPr lang="zh-CN" altLang="en-US" sz="2800" dirty="0">
                <a:solidFill>
                  <a:srgbClr val="FF0000"/>
                </a:solidFill>
                <a:latin typeface="华文楷体" panose="02010600040101010101" pitchFamily="2" charset="-122"/>
                <a:ea typeface="华文楷体" panose="02010600040101010101" pitchFamily="2" charset="-122"/>
                <a:cs typeface="楷体_GB2312" pitchFamily="49" charset="-122"/>
              </a:rPr>
              <a:t>，并不等价</a:t>
            </a:r>
            <a:r>
              <a:rPr lang="zh-CN" altLang="en-US" sz="2800" dirty="0">
                <a:latin typeface="华文楷体" panose="02010600040101010101" pitchFamily="2" charset="-122"/>
                <a:ea typeface="华文楷体" panose="02010600040101010101" pitchFamily="2" charset="-122"/>
                <a:cs typeface="楷体_GB2312" pitchFamily="49" charset="-122"/>
              </a:rPr>
              <a:t>于原问题。</a:t>
            </a:r>
          </a:p>
        </p:txBody>
      </p:sp>
      <p:sp>
        <p:nvSpPr>
          <p:cNvPr id="4" name="思想气泡: 云 3">
            <a:extLst>
              <a:ext uri="{FF2B5EF4-FFF2-40B4-BE49-F238E27FC236}">
                <a16:creationId xmlns:a16="http://schemas.microsoft.com/office/drawing/2014/main" id="{6BDB052D-E998-43A9-A1C5-D42AE6929734}"/>
              </a:ext>
            </a:extLst>
          </p:cNvPr>
          <p:cNvSpPr/>
          <p:nvPr/>
        </p:nvSpPr>
        <p:spPr>
          <a:xfrm>
            <a:off x="7154104" y="2346740"/>
            <a:ext cx="3204920" cy="1082260"/>
          </a:xfrm>
          <a:prstGeom prst="cloudCallout">
            <a:avLst>
              <a:gd name="adj1" fmla="val -20833"/>
              <a:gd name="adj2" fmla="val 140194"/>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a:solidFill>
                  <a:srgbClr val="FF0000"/>
                </a:solidFill>
              </a:rPr>
              <a:t>可行否？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9" name="Rectangle 2">
            <a:extLst>
              <a:ext uri="{FF2B5EF4-FFF2-40B4-BE49-F238E27FC236}">
                <a16:creationId xmlns:a16="http://schemas.microsoft.com/office/drawing/2014/main" id="{03CA0FB9-E067-4684-BB54-4CB460618EB5}"/>
              </a:ext>
            </a:extLst>
          </p:cNvPr>
          <p:cNvSpPr>
            <a:spLocks noGrp="1" noChangeArrowheads="1"/>
          </p:cNvSpPr>
          <p:nvPr>
            <p:ph type="title"/>
          </p:nvPr>
        </p:nvSpPr>
        <p:spPr>
          <a:xfrm>
            <a:off x="588962" y="514590"/>
            <a:ext cx="7772400" cy="1143000"/>
          </a:xfrm>
        </p:spPr>
        <p:txBody>
          <a:bodyPr/>
          <a:lstStyle/>
          <a:p>
            <a:pPr eaLnBrk="1" hangingPunct="1">
              <a:defRPr/>
            </a:pPr>
            <a:r>
              <a:rPr lang="zh-CN" altLang="en-US" dirty="0">
                <a:latin typeface="华文楷体" panose="02010600040101010101" pitchFamily="2" charset="-122"/>
                <a:ea typeface="华文楷体" panose="02010600040101010101" pitchFamily="2" charset="-122"/>
              </a:rPr>
              <a:t>一个可行的解决方案</a:t>
            </a:r>
          </a:p>
        </p:txBody>
      </p:sp>
      <p:sp>
        <p:nvSpPr>
          <p:cNvPr id="2" name="Rectangle 3">
            <a:extLst>
              <a:ext uri="{FF2B5EF4-FFF2-40B4-BE49-F238E27FC236}">
                <a16:creationId xmlns:a16="http://schemas.microsoft.com/office/drawing/2014/main" id="{AD831ECA-18B5-4886-AAD5-774E24E7C4EF}"/>
              </a:ext>
            </a:extLst>
          </p:cNvPr>
          <p:cNvSpPr>
            <a:spLocks noGrp="1" noChangeArrowheads="1"/>
          </p:cNvSpPr>
          <p:nvPr>
            <p:ph type="body" idx="1"/>
          </p:nvPr>
        </p:nvSpPr>
        <p:spPr>
          <a:xfrm>
            <a:off x="588963" y="1368425"/>
            <a:ext cx="11185503" cy="5300663"/>
          </a:xfrm>
        </p:spPr>
        <p:txBody>
          <a:bodyPr>
            <a:normAutofit/>
          </a:bodyPr>
          <a:lstStyle/>
          <a:p>
            <a:pPr eaLnBrk="1" hangingPunct="1">
              <a:lnSpc>
                <a:spcPct val="110000"/>
              </a:lnSpc>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cs typeface="楷体_GB2312" pitchFamily="49" charset="-122"/>
              </a:rPr>
              <a:t>将加权图和非加权图算法组合起来</a:t>
            </a:r>
          </a:p>
          <a:p>
            <a:pPr eaLnBrk="1" hangingPunct="1">
              <a:lnSpc>
                <a:spcPct val="110000"/>
              </a:lnSpc>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cs typeface="楷体_GB2312" pitchFamily="49" charset="-122"/>
              </a:rPr>
              <a:t>思想：放弃</a:t>
            </a:r>
            <a:r>
              <a:rPr lang="en-US" altLang="zh-CN" dirty="0">
                <a:latin typeface="华文楷体" panose="02010600040101010101" pitchFamily="2" charset="-122"/>
                <a:ea typeface="华文楷体" panose="02010600040101010101" pitchFamily="2" charset="-122"/>
                <a:cs typeface="楷体_GB2312" pitchFamily="49" charset="-122"/>
              </a:rPr>
              <a:t>selected</a:t>
            </a:r>
            <a:r>
              <a:rPr lang="zh-CN" altLang="en-US" dirty="0">
                <a:latin typeface="华文楷体" panose="02010600040101010101" pitchFamily="2" charset="-122"/>
                <a:ea typeface="华文楷体" panose="02010600040101010101" pitchFamily="2" charset="-122"/>
                <a:cs typeface="楷体_GB2312" pitchFamily="49" charset="-122"/>
              </a:rPr>
              <a:t>的概念，穷举所有的路径，选择最短的一条。</a:t>
            </a:r>
          </a:p>
          <a:p>
            <a:pPr eaLnBrk="1" hangingPunct="1">
              <a:lnSpc>
                <a:spcPct val="110000"/>
              </a:lnSpc>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cs typeface="楷体_GB2312" pitchFamily="49" charset="-122"/>
              </a:rPr>
              <a:t>实现：利用一个队列</a:t>
            </a:r>
          </a:p>
          <a:p>
            <a:pPr lvl="1" eaLnBrk="1" hangingPunct="1">
              <a:lnSpc>
                <a:spcPct val="110000"/>
              </a:lnSpc>
            </a:pPr>
            <a:r>
              <a:rPr lang="zh-CN" altLang="en-US" sz="2400" dirty="0">
                <a:latin typeface="华文楷体" panose="02010600040101010101" pitchFamily="2" charset="-122"/>
                <a:ea typeface="华文楷体" panose="02010600040101010101" pitchFamily="2" charset="-122"/>
                <a:cs typeface="楷体_GB2312" pitchFamily="49" charset="-122"/>
              </a:rPr>
              <a:t>开始时，将源点</a:t>
            </a:r>
            <a:r>
              <a:rPr lang="en-US" altLang="zh-CN" sz="2400" dirty="0">
                <a:latin typeface="华文楷体" panose="02010600040101010101" pitchFamily="2" charset="-122"/>
                <a:ea typeface="华文楷体" panose="02010600040101010101" pitchFamily="2" charset="-122"/>
                <a:cs typeface="楷体_GB2312" pitchFamily="49" charset="-122"/>
              </a:rPr>
              <a:t>S</a:t>
            </a:r>
            <a:r>
              <a:rPr lang="zh-CN" altLang="en-US" sz="2400" dirty="0">
                <a:latin typeface="华文楷体" panose="02010600040101010101" pitchFamily="2" charset="-122"/>
                <a:ea typeface="华文楷体" panose="02010600040101010101" pitchFamily="2" charset="-122"/>
                <a:cs typeface="楷体_GB2312" pitchFamily="49" charset="-122"/>
              </a:rPr>
              <a:t>放入队列</a:t>
            </a:r>
          </a:p>
          <a:p>
            <a:pPr lvl="1" eaLnBrk="1" hangingPunct="1">
              <a:lnSpc>
                <a:spcPct val="110000"/>
              </a:lnSpc>
            </a:pPr>
            <a:r>
              <a:rPr lang="zh-CN" altLang="en-US" sz="2400" dirty="0">
                <a:latin typeface="华文楷体" panose="02010600040101010101" pitchFamily="2" charset="-122"/>
                <a:ea typeface="华文楷体" panose="02010600040101010101" pitchFamily="2" charset="-122"/>
                <a:cs typeface="楷体_GB2312" pitchFamily="49" charset="-122"/>
              </a:rPr>
              <a:t>重复以下过程，直到队列为空：</a:t>
            </a:r>
          </a:p>
          <a:p>
            <a:pPr lvl="2" eaLnBrk="1" hangingPunct="1">
              <a:lnSpc>
                <a:spcPct val="110000"/>
              </a:lnSpc>
            </a:pPr>
            <a:r>
              <a:rPr lang="zh-CN" altLang="en-US" sz="2400" b="1" dirty="0">
                <a:latin typeface="华文楷体" panose="02010600040101010101" pitchFamily="2" charset="-122"/>
                <a:ea typeface="华文楷体" panose="02010600040101010101" pitchFamily="2" charset="-122"/>
                <a:cs typeface="楷体_GB2312" pitchFamily="49" charset="-122"/>
              </a:rPr>
              <a:t>出队一个节点</a:t>
            </a:r>
            <a:r>
              <a:rPr lang="en-US" altLang="zh-CN" sz="2400" b="1" dirty="0">
                <a:latin typeface="华文楷体" panose="02010600040101010101" pitchFamily="2" charset="-122"/>
                <a:ea typeface="华文楷体" panose="02010600040101010101" pitchFamily="2" charset="-122"/>
                <a:cs typeface="楷体_GB2312" pitchFamily="49" charset="-122"/>
              </a:rPr>
              <a:t>v</a:t>
            </a:r>
          </a:p>
          <a:p>
            <a:pPr lvl="2" eaLnBrk="1" hangingPunct="1">
              <a:lnSpc>
                <a:spcPct val="110000"/>
              </a:lnSpc>
            </a:pPr>
            <a:r>
              <a:rPr lang="zh-CN" altLang="en-US" sz="2400" b="1" dirty="0">
                <a:latin typeface="华文楷体" panose="02010600040101010101" pitchFamily="2" charset="-122"/>
                <a:ea typeface="华文楷体" panose="02010600040101010101" pitchFamily="2" charset="-122"/>
                <a:cs typeface="楷体_GB2312" pitchFamily="49" charset="-122"/>
              </a:rPr>
              <a:t>对</a:t>
            </a:r>
            <a:r>
              <a:rPr lang="en-US" altLang="zh-CN" sz="2400" b="1" dirty="0">
                <a:latin typeface="华文楷体" panose="02010600040101010101" pitchFamily="2" charset="-122"/>
                <a:ea typeface="华文楷体" panose="02010600040101010101" pitchFamily="2" charset="-122"/>
                <a:cs typeface="楷体_GB2312" pitchFamily="49" charset="-122"/>
              </a:rPr>
              <a:t>v</a:t>
            </a:r>
            <a:r>
              <a:rPr lang="zh-CN" altLang="en-US" sz="2400" b="1" dirty="0">
                <a:latin typeface="华文楷体" panose="02010600040101010101" pitchFamily="2" charset="-122"/>
                <a:ea typeface="华文楷体" panose="02010600040101010101" pitchFamily="2" charset="-122"/>
                <a:cs typeface="楷体_GB2312" pitchFamily="49" charset="-122"/>
              </a:rPr>
              <a:t>的所有邻接点</a:t>
            </a:r>
            <a:r>
              <a:rPr lang="en-US" altLang="zh-CN" sz="2400" b="1" dirty="0">
                <a:latin typeface="华文楷体" panose="02010600040101010101" pitchFamily="2" charset="-122"/>
                <a:ea typeface="华文楷体" panose="02010600040101010101" pitchFamily="2" charset="-122"/>
                <a:cs typeface="楷体_GB2312" pitchFamily="49" charset="-122"/>
              </a:rPr>
              <a:t>w</a:t>
            </a:r>
            <a:r>
              <a:rPr lang="zh-CN" altLang="en-US" sz="2400" b="1" dirty="0">
                <a:latin typeface="华文楷体" panose="02010600040101010101" pitchFamily="2" charset="-122"/>
                <a:ea typeface="华文楷体" panose="02010600040101010101" pitchFamily="2" charset="-122"/>
                <a:cs typeface="楷体_GB2312" pitchFamily="49" charset="-122"/>
              </a:rPr>
              <a:t>，如果经过</a:t>
            </a:r>
            <a:r>
              <a:rPr lang="en-US" altLang="zh-CN" sz="2400" b="1" dirty="0">
                <a:latin typeface="华文楷体" panose="02010600040101010101" pitchFamily="2" charset="-122"/>
                <a:ea typeface="华文楷体" panose="02010600040101010101" pitchFamily="2" charset="-122"/>
                <a:cs typeface="楷体_GB2312" pitchFamily="49" charset="-122"/>
              </a:rPr>
              <a:t>v</a:t>
            </a:r>
            <a:r>
              <a:rPr lang="zh-CN" altLang="en-US" sz="2400" b="1" dirty="0">
                <a:latin typeface="华文楷体" panose="02010600040101010101" pitchFamily="2" charset="-122"/>
                <a:ea typeface="华文楷体" panose="02010600040101010101" pitchFamily="2" charset="-122"/>
                <a:cs typeface="楷体_GB2312" pitchFamily="49" charset="-122"/>
              </a:rPr>
              <a:t>到</a:t>
            </a:r>
            <a:r>
              <a:rPr lang="en-US" altLang="zh-CN" sz="2400" b="1" dirty="0">
                <a:latin typeface="华文楷体" panose="02010600040101010101" pitchFamily="2" charset="-122"/>
                <a:ea typeface="华文楷体" panose="02010600040101010101" pitchFamily="2" charset="-122"/>
                <a:cs typeface="楷体_GB2312" pitchFamily="49" charset="-122"/>
              </a:rPr>
              <a:t>w</a:t>
            </a:r>
            <a:r>
              <a:rPr lang="zh-CN" altLang="en-US" sz="2400" b="1" dirty="0">
                <a:latin typeface="华文楷体" panose="02010600040101010101" pitchFamily="2" charset="-122"/>
                <a:ea typeface="华文楷体" panose="02010600040101010101" pitchFamily="2" charset="-122"/>
                <a:cs typeface="楷体_GB2312" pitchFamily="49" charset="-122"/>
              </a:rPr>
              <a:t>的距离比已知的</a:t>
            </a:r>
            <a:r>
              <a:rPr lang="en-US" altLang="zh-CN" sz="2400" b="1" dirty="0">
                <a:latin typeface="华文楷体" panose="02010600040101010101" pitchFamily="2" charset="-122"/>
                <a:ea typeface="华文楷体" panose="02010600040101010101" pitchFamily="2" charset="-122"/>
                <a:cs typeface="楷体_GB2312" pitchFamily="49" charset="-122"/>
              </a:rPr>
              <a:t>s</a:t>
            </a:r>
            <a:r>
              <a:rPr lang="zh-CN" altLang="en-US" sz="2400" b="1" dirty="0">
                <a:latin typeface="华文楷体" panose="02010600040101010101" pitchFamily="2" charset="-122"/>
                <a:ea typeface="华文楷体" panose="02010600040101010101" pitchFamily="2" charset="-122"/>
                <a:cs typeface="楷体_GB2312" pitchFamily="49" charset="-122"/>
              </a:rPr>
              <a:t>到</a:t>
            </a:r>
            <a:r>
              <a:rPr lang="en-US" altLang="zh-CN" sz="2400" b="1" dirty="0">
                <a:latin typeface="华文楷体" panose="02010600040101010101" pitchFamily="2" charset="-122"/>
                <a:ea typeface="华文楷体" panose="02010600040101010101" pitchFamily="2" charset="-122"/>
                <a:cs typeface="楷体_GB2312" pitchFamily="49" charset="-122"/>
              </a:rPr>
              <a:t>w</a:t>
            </a:r>
            <a:r>
              <a:rPr lang="zh-CN" altLang="en-US" sz="2400" b="1" dirty="0">
                <a:latin typeface="华文楷体" panose="02010600040101010101" pitchFamily="2" charset="-122"/>
                <a:ea typeface="华文楷体" panose="02010600040101010101" pitchFamily="2" charset="-122"/>
                <a:cs typeface="楷体_GB2312" pitchFamily="49" charset="-122"/>
              </a:rPr>
              <a:t>的距离短，则更新</a:t>
            </a:r>
            <a:r>
              <a:rPr lang="en-US" altLang="zh-CN" sz="2400" b="1" dirty="0">
                <a:latin typeface="华文楷体" panose="02010600040101010101" pitchFamily="2" charset="-122"/>
                <a:ea typeface="华文楷体" panose="02010600040101010101" pitchFamily="2" charset="-122"/>
                <a:cs typeface="楷体_GB2312" pitchFamily="49" charset="-122"/>
              </a:rPr>
              <a:t>w</a:t>
            </a:r>
            <a:r>
              <a:rPr lang="zh-CN" altLang="en-US" sz="2400" b="1" dirty="0">
                <a:latin typeface="华文楷体" panose="02010600040101010101" pitchFamily="2" charset="-122"/>
                <a:ea typeface="华文楷体" panose="02010600040101010101" pitchFamily="2" charset="-122"/>
                <a:cs typeface="楷体_GB2312" pitchFamily="49" charset="-122"/>
              </a:rPr>
              <a:t>的距离，并将</a:t>
            </a:r>
            <a:r>
              <a:rPr lang="en-US" altLang="zh-CN" sz="2400" b="1" dirty="0">
                <a:latin typeface="华文楷体" panose="02010600040101010101" pitchFamily="2" charset="-122"/>
                <a:ea typeface="华文楷体" panose="02010600040101010101" pitchFamily="2" charset="-122"/>
                <a:cs typeface="楷体_GB2312" pitchFamily="49" charset="-122"/>
              </a:rPr>
              <a:t>w</a:t>
            </a:r>
            <a:r>
              <a:rPr lang="zh-CN" altLang="en-US" sz="2400" b="1" dirty="0">
                <a:latin typeface="华文楷体" panose="02010600040101010101" pitchFamily="2" charset="-122"/>
                <a:ea typeface="华文楷体" panose="02010600040101010101" pitchFamily="2" charset="-122"/>
                <a:cs typeface="楷体_GB2312" pitchFamily="49" charset="-122"/>
              </a:rPr>
              <a:t>入队</a:t>
            </a:r>
          </a:p>
        </p:txBody>
      </p:sp>
      <p:sp>
        <p:nvSpPr>
          <p:cNvPr id="3" name="矩形 2">
            <a:extLst>
              <a:ext uri="{FF2B5EF4-FFF2-40B4-BE49-F238E27FC236}">
                <a16:creationId xmlns:a16="http://schemas.microsoft.com/office/drawing/2014/main" id="{84A72380-86AB-4126-A66B-375E2715996C}"/>
              </a:ext>
            </a:extLst>
          </p:cNvPr>
          <p:cNvSpPr/>
          <p:nvPr/>
        </p:nvSpPr>
        <p:spPr>
          <a:xfrm>
            <a:off x="733806" y="5372169"/>
            <a:ext cx="3467616" cy="679481"/>
          </a:xfrm>
          <a:prstGeom prst="rect">
            <a:avLst/>
          </a:prstGeom>
        </p:spPr>
        <p:txBody>
          <a:bodyPr wrap="none">
            <a:spAutoFit/>
          </a:bodyPr>
          <a:lstStyle/>
          <a:p>
            <a:pPr>
              <a:lnSpc>
                <a:spcPct val="130000"/>
              </a:lnSpc>
            </a:pPr>
            <a:r>
              <a:rPr lang="zh-CN" altLang="en-US" sz="3200" dirty="0">
                <a:latin typeface="楷体_GB2312" pitchFamily="49" charset="-122"/>
                <a:cs typeface="楷体_GB2312" pitchFamily="49" charset="-122"/>
              </a:rPr>
              <a:t>适用于无负环的图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30399" y="2735372"/>
            <a:ext cx="6513626"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ea typeface="华文楷体" pitchFamily="2" charset="-122"/>
                <a:cs typeface="Times New Roman" panose="02020603050405020304" pitchFamily="18" charset="0"/>
              </a:rPr>
              <a:t>单源最短路径（</a:t>
            </a:r>
            <a:r>
              <a:rPr lang="en-US" altLang="zh-CN" sz="2800" dirty="0">
                <a:ea typeface="华文楷体" pitchFamily="2" charset="-122"/>
                <a:cs typeface="Times New Roman" panose="02020603050405020304" pitchFamily="18" charset="0"/>
              </a:rPr>
              <a:t> </a:t>
            </a:r>
            <a:r>
              <a:rPr lang="en-US" altLang="zh-CN" sz="2800" dirty="0" err="1">
                <a:ea typeface="华文楷体" pitchFamily="2" charset="-122"/>
                <a:cs typeface="Times New Roman" panose="02020603050405020304" pitchFamily="18" charset="0"/>
              </a:rPr>
              <a:t>Dijkstra</a:t>
            </a:r>
            <a:r>
              <a:rPr lang="en-US" altLang="zh-CN" sz="2800" dirty="0">
                <a:ea typeface="华文楷体" pitchFamily="2" charset="-122"/>
                <a:cs typeface="Times New Roman" panose="02020603050405020304" pitchFamily="18" charset="0"/>
              </a:rPr>
              <a:t> </a:t>
            </a:r>
            <a:r>
              <a:rPr lang="zh-CN" altLang="en-US" sz="2800" dirty="0">
                <a:ea typeface="华文楷体" pitchFamily="2" charset="-122"/>
                <a:cs typeface="Times New Roman" panose="02020603050405020304" pitchFamily="18" charset="0"/>
              </a:rPr>
              <a:t>算法）</a:t>
            </a:r>
            <a:endParaRPr lang="en-US" altLang="zh-CN" sz="2800" dirty="0">
              <a:ea typeface="华文楷体" pitchFamily="2" charset="-122"/>
              <a:cs typeface="Times New Roman" panose="02020603050405020304" pitchFamily="18" charset="0"/>
            </a:endParaRPr>
          </a:p>
          <a:p>
            <a:pPr>
              <a:lnSpc>
                <a:spcPct val="115000"/>
              </a:lnSpc>
              <a:buFont typeface="Wingdings" panose="05000000000000000000" pitchFamily="2" charset="2"/>
              <a:buChar char="n"/>
              <a:defRPr/>
            </a:pPr>
            <a:r>
              <a:rPr lang="en-US" altLang="zh-CN" sz="2800" dirty="0">
                <a:solidFill>
                  <a:srgbClr val="FF0000"/>
                </a:solidFill>
                <a:ea typeface="华文楷体" pitchFamily="2" charset="-122"/>
                <a:cs typeface="Times New Roman" panose="02020603050405020304" pitchFamily="18" charset="0"/>
              </a:rPr>
              <a:t> </a:t>
            </a:r>
            <a:r>
              <a:rPr lang="zh-CN" altLang="en-US" sz="2800" dirty="0">
                <a:solidFill>
                  <a:srgbClr val="FF0000"/>
                </a:solidFill>
                <a:ea typeface="华文楷体" pitchFamily="2" charset="-122"/>
                <a:cs typeface="Times New Roman" panose="02020603050405020304" pitchFamily="18" charset="0"/>
              </a:rPr>
              <a:t>顶点对间最短路径（</a:t>
            </a:r>
            <a:r>
              <a:rPr lang="en-US" altLang="zh-CN" sz="2800" dirty="0">
                <a:solidFill>
                  <a:srgbClr val="FF0000"/>
                </a:solidFill>
                <a:ea typeface="华文楷体" pitchFamily="2" charset="-122"/>
                <a:cs typeface="Times New Roman" panose="02020603050405020304" pitchFamily="18" charset="0"/>
              </a:rPr>
              <a:t> Floyd </a:t>
            </a:r>
            <a:r>
              <a:rPr lang="zh-CN" altLang="en-US" sz="2800" dirty="0">
                <a:solidFill>
                  <a:srgbClr val="FF0000"/>
                </a:solidFill>
                <a:ea typeface="华文楷体" pitchFamily="2" charset="-122"/>
                <a:cs typeface="Times New Roman" panose="02020603050405020304" pitchFamily="18" charset="0"/>
              </a:rPr>
              <a:t>算法）</a:t>
            </a:r>
            <a:endParaRPr lang="en-US" altLang="zh-CN" sz="2800" dirty="0">
              <a:solidFill>
                <a:srgbClr val="FF0000"/>
              </a:solidFill>
              <a:ea typeface="华文楷体" pitchFamily="2" charset="-122"/>
              <a:cs typeface="Times New Roman" panose="02020603050405020304" pitchFamily="18" charset="0"/>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最短路径：</a:t>
            </a:r>
          </a:p>
        </p:txBody>
      </p:sp>
    </p:spTree>
    <p:extLst>
      <p:ext uri="{BB962C8B-B14F-4D97-AF65-F5344CB8AC3E}">
        <p14:creationId xmlns:p14="http://schemas.microsoft.com/office/powerpoint/2010/main" val="384292812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98010"/>
            <a:ext cx="7670292" cy="4901573"/>
          </a:xfrm>
        </p:spPr>
        <p:txBody>
          <a:bodyPr>
            <a:normAutofit lnSpcReduction="10000"/>
          </a:bodyPr>
          <a:lstStyle/>
          <a:p>
            <a:pPr marL="0" lvl="4" indent="0">
              <a:buNone/>
            </a:pPr>
            <a:r>
              <a:rPr lang="zh-CN" altLang="en-US" sz="2800" b="0" dirty="0">
                <a:ea typeface="华文楷体" pitchFamily="2" charset="-122"/>
                <a:cs typeface="Times New Roman" panose="02020603050405020304" pitchFamily="18" charset="0"/>
              </a:rPr>
              <a:t>求</a:t>
            </a:r>
            <a:r>
              <a:rPr lang="zh-CN" altLang="zh-CN" sz="2800" b="0" dirty="0">
                <a:ea typeface="华文楷体" pitchFamily="2" charset="-122"/>
                <a:cs typeface="Times New Roman" panose="02020603050405020304" pitchFamily="18" charset="0"/>
              </a:rPr>
              <a:t>任意两个顶点</a:t>
            </a:r>
            <a:r>
              <a:rPr lang="zh-CN" altLang="en-US" sz="2800" b="0" dirty="0">
                <a:ea typeface="华文楷体" pitchFamily="2" charset="-122"/>
                <a:cs typeface="Times New Roman" panose="02020603050405020304" pitchFamily="18" charset="0"/>
              </a:rPr>
              <a:t>对</a:t>
            </a:r>
            <a:r>
              <a:rPr lang="zh-CN" altLang="zh-CN" sz="2800" b="0" dirty="0">
                <a:ea typeface="华文楷体" pitchFamily="2" charset="-122"/>
                <a:cs typeface="Times New Roman" panose="02020603050405020304" pitchFamily="18" charset="0"/>
              </a:rPr>
              <a:t>间的最短路径称</a:t>
            </a:r>
            <a:r>
              <a:rPr lang="zh-CN" altLang="zh-CN" sz="2800" dirty="0">
                <a:ea typeface="华文楷体" pitchFamily="2" charset="-122"/>
                <a:cs typeface="Times New Roman" panose="02020603050405020304" pitchFamily="18" charset="0"/>
              </a:rPr>
              <a:t>所有顶点对之间的最短距离问题</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dirty="0">
                <a:ea typeface="华文楷体" pitchFamily="2" charset="-122"/>
                <a:cs typeface="Times New Roman" panose="02020603050405020304" pitchFamily="18" charset="0"/>
              </a:rPr>
              <a:t>算法的思想</a:t>
            </a:r>
            <a:r>
              <a:rPr lang="zh-CN" altLang="en-US" sz="2800" dirty="0">
                <a:ea typeface="华文楷体" pitchFamily="2" charset="-122"/>
                <a:cs typeface="Times New Roman" panose="02020603050405020304" pitchFamily="18" charset="0"/>
              </a:rPr>
              <a:t>：</a:t>
            </a:r>
            <a:endParaRPr lang="en-US" altLang="zh-CN" sz="280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对任意两个顶点对</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i,j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，在顶点对之间增加另外一个顶点</a:t>
            </a:r>
            <a:r>
              <a:rPr lang="en-US" altLang="zh-CN" sz="2800" b="0" dirty="0">
                <a:ea typeface="华文楷体" pitchFamily="2" charset="-122"/>
                <a:cs typeface="Times New Roman" panose="02020603050405020304" pitchFamily="18" charset="0"/>
              </a:rPr>
              <a:t>k</a:t>
            </a:r>
            <a:r>
              <a:rPr lang="zh-CN" altLang="zh-CN" sz="2800" b="0" dirty="0">
                <a:ea typeface="华文楷体" pitchFamily="2" charset="-122"/>
                <a:cs typeface="Times New Roman" panose="02020603050405020304" pitchFamily="18" charset="0"/>
              </a:rPr>
              <a:t>，观察增加后的路径</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-k-j</a:t>
            </a:r>
            <a:r>
              <a:rPr lang="zh-CN" altLang="zh-CN" sz="2800" b="0" dirty="0">
                <a:ea typeface="华文楷体" pitchFamily="2" charset="-122"/>
                <a:cs typeface="Times New Roman" panose="02020603050405020304" pitchFamily="18" charset="0"/>
              </a:rPr>
              <a:t>距离是否比原本</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到</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间的距离更小？如果是，就用新的路径、距离替代原本两个顶点间的路径、距离。在图中，如果</a:t>
            </a:r>
            <a:r>
              <a:rPr lang="en-US" altLang="zh-CN" sz="2800" b="0" dirty="0" err="1">
                <a:ea typeface="华文楷体" pitchFamily="2" charset="-122"/>
                <a:cs typeface="Times New Roman" panose="02020603050405020304" pitchFamily="18" charset="0"/>
              </a:rPr>
              <a:t>dist</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i,j</a:t>
            </a:r>
            <a:r>
              <a:rPr lang="en-US" altLang="zh-CN" sz="2800" b="0" dirty="0">
                <a:ea typeface="华文楷体" pitchFamily="2" charset="-122"/>
                <a:cs typeface="Times New Roman" panose="02020603050405020304" pitchFamily="18" charset="0"/>
              </a:rPr>
              <a:t>&gt; </a:t>
            </a:r>
            <a:r>
              <a:rPr lang="zh-CN" altLang="zh-CN" sz="2800" b="0" dirty="0">
                <a:ea typeface="华文楷体" pitchFamily="2" charset="-122"/>
                <a:cs typeface="Times New Roman" panose="02020603050405020304" pitchFamily="18" charset="0"/>
              </a:rPr>
              <a:t>大于 </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dist</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i,k</a:t>
            </a:r>
            <a:r>
              <a:rPr lang="en-US" altLang="zh-CN" sz="2800" b="0" dirty="0">
                <a:ea typeface="华文楷体" pitchFamily="2" charset="-122"/>
                <a:cs typeface="Times New Roman" panose="02020603050405020304" pitchFamily="18" charset="0"/>
              </a:rPr>
              <a:t>&gt; + </a:t>
            </a:r>
            <a:r>
              <a:rPr lang="en-US" altLang="zh-CN" sz="2800" b="0" dirty="0" err="1">
                <a:ea typeface="华文楷体" pitchFamily="2" charset="-122"/>
                <a:cs typeface="Times New Roman" panose="02020603050405020304" pitchFamily="18" charset="0"/>
              </a:rPr>
              <a:t>dist</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k,j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，就用</a:t>
            </a:r>
            <a:r>
              <a:rPr lang="en-US" altLang="zh-CN" sz="2800" b="0" dirty="0" err="1">
                <a:ea typeface="华文楷体" pitchFamily="2" charset="-122"/>
                <a:cs typeface="Times New Roman" panose="02020603050405020304" pitchFamily="18" charset="0"/>
              </a:rPr>
              <a:t>dist</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i,k</a:t>
            </a:r>
            <a:r>
              <a:rPr lang="en-US" altLang="zh-CN" sz="2800" b="0" dirty="0">
                <a:ea typeface="华文楷体" pitchFamily="2" charset="-122"/>
                <a:cs typeface="Times New Roman" panose="02020603050405020304" pitchFamily="18" charset="0"/>
              </a:rPr>
              <a:t>&gt; + </a:t>
            </a:r>
            <a:r>
              <a:rPr lang="en-US" altLang="zh-CN" sz="2800" b="0" dirty="0" err="1">
                <a:ea typeface="华文楷体" pitchFamily="2" charset="-122"/>
                <a:cs typeface="Times New Roman" panose="02020603050405020304" pitchFamily="18" charset="0"/>
              </a:rPr>
              <a:t>dist</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k,j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刷新</a:t>
            </a:r>
            <a:r>
              <a:rPr lang="en-US" altLang="zh-CN" sz="2800" b="0" dirty="0" err="1">
                <a:ea typeface="华文楷体" pitchFamily="2" charset="-122"/>
                <a:cs typeface="Times New Roman" panose="02020603050405020304" pitchFamily="18" charset="0"/>
              </a:rPr>
              <a:t>dist</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i,j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8851109" y="2656286"/>
            <a:ext cx="2970474" cy="2710843"/>
          </a:xfrm>
          <a:prstGeom prst="rect">
            <a:avLst/>
          </a:prstGeom>
          <a:noFill/>
          <a:ln>
            <a:noFill/>
          </a:ln>
        </p:spPr>
      </p:pic>
    </p:spTree>
    <p:extLst>
      <p:ext uri="{BB962C8B-B14F-4D97-AF65-F5344CB8AC3E}">
        <p14:creationId xmlns:p14="http://schemas.microsoft.com/office/powerpoint/2010/main" val="30623286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5446643" y="2891657"/>
            <a:ext cx="6374940" cy="3608533"/>
          </a:xfrm>
          <a:prstGeom prst="rect">
            <a:avLst/>
          </a:prstGeom>
          <a:noFill/>
          <a:ln>
            <a:noFill/>
          </a:ln>
        </p:spPr>
      </p:pic>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算法示例：</a:t>
            </a:r>
          </a:p>
        </p:txBody>
      </p:sp>
      <p:pic>
        <p:nvPicPr>
          <p:cNvPr id="6" name="图片 5"/>
          <p:cNvPicPr/>
          <p:nvPr/>
        </p:nvPicPr>
        <p:blipFill>
          <a:blip r:embed="rId4">
            <a:extLst>
              <a:ext uri="{28A0092B-C50C-407E-A947-70E740481C1C}">
                <a14:useLocalDpi xmlns:a14="http://schemas.microsoft.com/office/drawing/2010/main" val="0"/>
              </a:ext>
            </a:extLst>
          </a:blip>
          <a:srcRect/>
          <a:stretch>
            <a:fillRect/>
          </a:stretch>
        </p:blipFill>
        <p:spPr bwMode="auto">
          <a:xfrm>
            <a:off x="178928" y="1585297"/>
            <a:ext cx="5267715" cy="3000666"/>
          </a:xfrm>
          <a:prstGeom prst="rect">
            <a:avLst/>
          </a:prstGeom>
          <a:noFill/>
          <a:ln>
            <a:noFill/>
          </a:ln>
        </p:spPr>
      </p:pic>
      <p:cxnSp>
        <p:nvCxnSpPr>
          <p:cNvPr id="3" name="直接连接符 2">
            <a:extLst>
              <a:ext uri="{FF2B5EF4-FFF2-40B4-BE49-F238E27FC236}">
                <a16:creationId xmlns:a16="http://schemas.microsoft.com/office/drawing/2014/main" id="{B7693479-BF28-4151-BAC5-82F6990B2579}"/>
              </a:ext>
            </a:extLst>
          </p:cNvPr>
          <p:cNvCxnSpPr/>
          <p:nvPr/>
        </p:nvCxnSpPr>
        <p:spPr>
          <a:xfrm>
            <a:off x="5661764" y="3466578"/>
            <a:ext cx="2542784" cy="0"/>
          </a:xfrm>
          <a:prstGeom prst="line">
            <a:avLst/>
          </a:prstGeom>
          <a:ln>
            <a:solidFill>
              <a:srgbClr val="3F6EAA"/>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8ECB22C8-6E36-4D71-AD67-54BF426C5BE1}"/>
              </a:ext>
            </a:extLst>
          </p:cNvPr>
          <p:cNvCxnSpPr/>
          <p:nvPr/>
        </p:nvCxnSpPr>
        <p:spPr>
          <a:xfrm>
            <a:off x="5912285" y="3093929"/>
            <a:ext cx="0" cy="19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E6F453F-4DBD-40AD-BF98-D12F7B8817F9}"/>
              </a:ext>
            </a:extLst>
          </p:cNvPr>
          <p:cNvCxnSpPr/>
          <p:nvPr/>
        </p:nvCxnSpPr>
        <p:spPr>
          <a:xfrm>
            <a:off x="5774499" y="3206663"/>
            <a:ext cx="2279737" cy="1841326"/>
          </a:xfrm>
          <a:prstGeom prst="line">
            <a:avLst/>
          </a:prstGeom>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AE18049D-AE87-4069-ACE4-837A96B8D39E}"/>
              </a:ext>
            </a:extLst>
          </p:cNvPr>
          <p:cNvSpPr/>
          <p:nvPr/>
        </p:nvSpPr>
        <p:spPr>
          <a:xfrm>
            <a:off x="9457152" y="4096011"/>
            <a:ext cx="325675" cy="3131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1B306693-7621-4503-8DCA-A09419D9FFDA}"/>
              </a:ext>
            </a:extLst>
          </p:cNvPr>
          <p:cNvSpPr/>
          <p:nvPr/>
        </p:nvSpPr>
        <p:spPr>
          <a:xfrm>
            <a:off x="9459240" y="4561561"/>
            <a:ext cx="325675" cy="3131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E276E88A-8B85-4C41-8AA9-B408288D3C92}"/>
              </a:ext>
            </a:extLst>
          </p:cNvPr>
          <p:cNvSpPr/>
          <p:nvPr/>
        </p:nvSpPr>
        <p:spPr>
          <a:xfrm>
            <a:off x="6302688" y="4110625"/>
            <a:ext cx="325675" cy="313151"/>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31112EC5-60EB-4B84-8BB2-CA0AFD29B4DD}"/>
              </a:ext>
            </a:extLst>
          </p:cNvPr>
          <p:cNvSpPr/>
          <p:nvPr/>
        </p:nvSpPr>
        <p:spPr>
          <a:xfrm>
            <a:off x="6342354" y="4563649"/>
            <a:ext cx="325675" cy="313151"/>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670041C7-AD21-4A5F-8EE2-8E6A046DF75C}"/>
              </a:ext>
            </a:extLst>
          </p:cNvPr>
          <p:cNvSpPr/>
          <p:nvPr/>
        </p:nvSpPr>
        <p:spPr>
          <a:xfrm>
            <a:off x="6895586" y="4515633"/>
            <a:ext cx="325675" cy="313151"/>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4DFAC4E1-7E2E-41A0-85DB-E92F42159581}"/>
              </a:ext>
            </a:extLst>
          </p:cNvPr>
          <p:cNvSpPr/>
          <p:nvPr/>
        </p:nvSpPr>
        <p:spPr>
          <a:xfrm>
            <a:off x="6809992" y="3628375"/>
            <a:ext cx="325675" cy="313151"/>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25326CC9-AF97-45B9-A378-BC4B3929EB37}"/>
              </a:ext>
            </a:extLst>
          </p:cNvPr>
          <p:cNvSpPr/>
          <p:nvPr/>
        </p:nvSpPr>
        <p:spPr>
          <a:xfrm>
            <a:off x="7538588" y="3642989"/>
            <a:ext cx="325675" cy="313151"/>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A4E6E6E6-8AB5-4A3B-B801-24D7DC090F97}"/>
              </a:ext>
            </a:extLst>
          </p:cNvPr>
          <p:cNvSpPr/>
          <p:nvPr/>
        </p:nvSpPr>
        <p:spPr>
          <a:xfrm>
            <a:off x="7540676" y="4083487"/>
            <a:ext cx="325675" cy="313151"/>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635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P spid="17" grpId="0" animBg="1"/>
      <p:bldP spid="18"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算法示例：</a:t>
            </a: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1732125" y="1568366"/>
            <a:ext cx="7928710" cy="4037303"/>
          </a:xfrm>
          <a:prstGeom prst="rect">
            <a:avLst/>
          </a:prstGeom>
          <a:noFill/>
          <a:ln>
            <a:noFill/>
          </a:ln>
        </p:spPr>
      </p:pic>
    </p:spTree>
    <p:extLst>
      <p:ext uri="{BB962C8B-B14F-4D97-AF65-F5344CB8AC3E}">
        <p14:creationId xmlns:p14="http://schemas.microsoft.com/office/powerpoint/2010/main" val="248925079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算法实现：</a:t>
            </a:r>
          </a:p>
        </p:txBody>
      </p:sp>
      <p:sp>
        <p:nvSpPr>
          <p:cNvPr id="2" name="文本框 1"/>
          <p:cNvSpPr txBox="1"/>
          <p:nvPr/>
        </p:nvSpPr>
        <p:spPr>
          <a:xfrm>
            <a:off x="658699" y="1530626"/>
            <a:ext cx="11162884" cy="4401205"/>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&gt;::Floyd()</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i,j,k</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记录顶点</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间的最短距离</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**pre;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pre[</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记录顶点对</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的最短路径中的中介顶点</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创建动态数组</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floyd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path</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pre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90136758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en-US" altLang="zh-CN" dirty="0"/>
              <a:t>Floyd</a:t>
            </a:r>
            <a:r>
              <a:rPr lang="zh-CN" altLang="en-US" dirty="0"/>
              <a:t>算法实现：</a:t>
            </a:r>
          </a:p>
        </p:txBody>
      </p:sp>
      <p:sp>
        <p:nvSpPr>
          <p:cNvPr id="2" name="文本框 1"/>
          <p:cNvSpPr txBox="1"/>
          <p:nvPr/>
        </p:nvSpPr>
        <p:spPr>
          <a:xfrm>
            <a:off x="658699" y="1530626"/>
            <a:ext cx="11162884" cy="4832092"/>
          </a:xfrm>
          <a:prstGeom prst="rect">
            <a:avLst/>
          </a:prstGeom>
          <a:noFill/>
        </p:spPr>
        <p:txBody>
          <a:bodyPr wrap="square" rtlCol="0">
            <a:spAutoFit/>
          </a:bodyPr>
          <a:lstStyle/>
          <a:p>
            <a:r>
              <a:rPr lang="en-US" altLang="zh-CN" sz="24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pre[</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初始化数组</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floyd</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path</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pre[</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 = -1;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97262238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0891" y="755374"/>
            <a:ext cx="11162884" cy="5816977"/>
          </a:xfrm>
          <a:prstGeom prst="rect">
            <a:avLst/>
          </a:prstGeom>
          <a:noFill/>
        </p:spPr>
        <p:txBody>
          <a:bodyPr wrap="square" rtlCol="0">
            <a:spAutoFit/>
          </a:bodyPr>
          <a:lstStyle/>
          <a:p>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迭代计算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数组</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(k=0; k&lt;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 continue;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避开加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((j==k)||(j==</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continue;//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避开加</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A[j][j]</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][k]+A[k][j]))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][k]+A[k][j];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pre[</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5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69612340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1558863"/>
            <a:ext cx="11407406" cy="488169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时间代价主要取决于迭代计算数组</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，时间复杂度为</a:t>
            </a:r>
            <a:r>
              <a:rPr lang="en-US" altLang="zh-CN" sz="2800" b="0" dirty="0">
                <a:ea typeface="华文楷体" pitchFamily="2" charset="-122"/>
                <a:cs typeface="Times New Roman" panose="02020603050405020304" pitchFamily="18" charset="0"/>
              </a:rPr>
              <a:t>O(n</a:t>
            </a:r>
            <a:r>
              <a:rPr lang="en-US" altLang="zh-CN" sz="2800" b="0" baseline="30000" dirty="0">
                <a:ea typeface="华文楷体" pitchFamily="2" charset="-122"/>
                <a:cs typeface="Times New Roman" panose="02020603050405020304" pitchFamily="18" charset="0"/>
              </a:rPr>
              <a:t>3</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，和将各个顶点逐次作为源点，多次调用求单源最短路径的</a:t>
            </a:r>
            <a:r>
              <a:rPr lang="en-US" altLang="zh-CN" sz="2800" b="0" dirty="0" err="1">
                <a:ea typeface="华文楷体" pitchFamily="2" charset="-122"/>
                <a:cs typeface="Times New Roman" panose="02020603050405020304" pitchFamily="18" charset="0"/>
              </a:rPr>
              <a:t>Dijkstra</a:t>
            </a:r>
            <a:r>
              <a:rPr lang="zh-CN" altLang="zh-CN" sz="2800" b="0" dirty="0">
                <a:ea typeface="华文楷体" pitchFamily="2" charset="-122"/>
                <a:cs typeface="Times New Roman" panose="02020603050405020304" pitchFamily="18" charset="0"/>
              </a:rPr>
              <a:t>算法的时间代价是一样的，但是</a:t>
            </a:r>
            <a:r>
              <a:rPr lang="en-US" altLang="zh-CN" sz="2800" b="0" dirty="0">
                <a:ea typeface="华文楷体" pitchFamily="2" charset="-122"/>
                <a:cs typeface="Times New Roman" panose="02020603050405020304" pitchFamily="18" charset="0"/>
              </a:rPr>
              <a:t>Floyd</a:t>
            </a:r>
            <a:r>
              <a:rPr lang="zh-CN" altLang="zh-CN" sz="2800" b="0" dirty="0">
                <a:ea typeface="华文楷体" pitchFamily="2" charset="-122"/>
                <a:cs typeface="Times New Roman" panose="02020603050405020304" pitchFamily="18" charset="0"/>
              </a:rPr>
              <a:t>算法形式上更简单些。</a:t>
            </a: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求单源最短路径的</a:t>
            </a:r>
            <a:r>
              <a:rPr lang="en-US" altLang="zh-CN" sz="2800" b="0" dirty="0" err="1">
                <a:ea typeface="华文楷体" pitchFamily="2" charset="-122"/>
                <a:cs typeface="Times New Roman" panose="02020603050405020304" pitchFamily="18" charset="0"/>
              </a:rPr>
              <a:t>Dijkstra</a:t>
            </a:r>
            <a:r>
              <a:rPr lang="zh-CN" altLang="zh-CN" sz="2800" b="0" dirty="0">
                <a:ea typeface="华文楷体" pitchFamily="2" charset="-122"/>
                <a:cs typeface="Times New Roman" panose="02020603050405020304" pitchFamily="18" charset="0"/>
              </a:rPr>
              <a:t>算法，是一个贪心算法。一旦一个顶点的距离最短，就将之作为最终源点到该顶点的最短距离，所以</a:t>
            </a:r>
            <a:r>
              <a:rPr lang="en-US" altLang="zh-CN" sz="2800" b="0" dirty="0" err="1">
                <a:ea typeface="华文楷体" pitchFamily="2" charset="-122"/>
                <a:cs typeface="Times New Roman" panose="02020603050405020304" pitchFamily="18" charset="0"/>
              </a:rPr>
              <a:t>Dijkstra</a:t>
            </a:r>
            <a:r>
              <a:rPr lang="zh-CN" altLang="zh-CN" sz="2800" b="0" dirty="0">
                <a:ea typeface="华文楷体" pitchFamily="2" charset="-122"/>
                <a:cs typeface="Times New Roman" panose="02020603050405020304" pitchFamily="18" charset="0"/>
              </a:rPr>
              <a:t>算法不支持边上带有负权值的情况。</a:t>
            </a:r>
            <a:r>
              <a:rPr lang="en-US" altLang="zh-CN" sz="2800" b="0" dirty="0">
                <a:ea typeface="华文楷体" pitchFamily="2" charset="-122"/>
                <a:cs typeface="Times New Roman" panose="02020603050405020304" pitchFamily="18" charset="0"/>
              </a:rPr>
              <a:t>Floyd</a:t>
            </a:r>
            <a:r>
              <a:rPr lang="zh-CN" altLang="zh-CN" sz="2800" b="0" dirty="0">
                <a:ea typeface="华文楷体" pitchFamily="2" charset="-122"/>
                <a:cs typeface="Times New Roman" panose="02020603050405020304" pitchFamily="18" charset="0"/>
              </a:rPr>
              <a:t>算法可以允许带有负权值的边</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但</a:t>
            </a:r>
            <a:r>
              <a:rPr lang="zh-CN" altLang="zh-CN" sz="2800" b="0" dirty="0">
                <a:solidFill>
                  <a:srgbClr val="FF0000"/>
                </a:solidFill>
                <a:ea typeface="华文楷体" pitchFamily="2" charset="-122"/>
                <a:cs typeface="Times New Roman" panose="02020603050405020304" pitchFamily="18" charset="0"/>
              </a:rPr>
              <a:t>不允许</a:t>
            </a:r>
            <a:r>
              <a:rPr lang="zh-CN" altLang="zh-CN" sz="2800" b="0" dirty="0">
                <a:ea typeface="华文楷体" pitchFamily="2" charset="-122"/>
                <a:cs typeface="Times New Roman" panose="02020603050405020304" pitchFamily="18" charset="0"/>
              </a:rPr>
              <a:t>带有</a:t>
            </a:r>
            <a:r>
              <a:rPr lang="zh-CN" altLang="zh-CN" sz="2800" b="0" dirty="0">
                <a:solidFill>
                  <a:schemeClr val="accent1">
                    <a:lumMod val="60000"/>
                    <a:lumOff val="40000"/>
                  </a:schemeClr>
                </a:solidFill>
                <a:ea typeface="华文楷体" pitchFamily="2" charset="-122"/>
                <a:cs typeface="Times New Roman" panose="02020603050405020304" pitchFamily="18" charset="0"/>
              </a:rPr>
              <a:t>负权值的边</a:t>
            </a:r>
            <a:r>
              <a:rPr lang="zh-CN" altLang="zh-CN" sz="2800" b="0" dirty="0">
                <a:ea typeface="华文楷体" pitchFamily="2" charset="-122"/>
                <a:cs typeface="Times New Roman" panose="02020603050405020304" pitchFamily="18" charset="0"/>
              </a:rPr>
              <a:t>出现在</a:t>
            </a:r>
            <a:r>
              <a:rPr lang="zh-CN" altLang="zh-CN" sz="2800" b="0" dirty="0">
                <a:solidFill>
                  <a:schemeClr val="accent1">
                    <a:lumMod val="60000"/>
                    <a:lumOff val="40000"/>
                  </a:schemeClr>
                </a:solidFill>
                <a:ea typeface="华文楷体" pitchFamily="2" charset="-122"/>
                <a:cs typeface="Times New Roman" panose="02020603050405020304" pitchFamily="18" charset="0"/>
              </a:rPr>
              <a:t>回路</a:t>
            </a:r>
            <a:r>
              <a:rPr lang="zh-CN" altLang="zh-CN" sz="2800" b="0" dirty="0">
                <a:ea typeface="华文楷体" pitchFamily="2" charset="-122"/>
                <a:cs typeface="Times New Roman" panose="02020603050405020304" pitchFamily="18" charset="0"/>
              </a:rPr>
              <a:t>中</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en-US" altLang="zh-CN" dirty="0"/>
              <a:t>Floyd</a:t>
            </a:r>
            <a:r>
              <a:rPr lang="zh-CN" altLang="en-US" dirty="0"/>
              <a:t>算法分析：</a:t>
            </a:r>
          </a:p>
        </p:txBody>
      </p:sp>
    </p:spTree>
    <p:extLst>
      <p:ext uri="{BB962C8B-B14F-4D97-AF65-F5344CB8AC3E}">
        <p14:creationId xmlns:p14="http://schemas.microsoft.com/office/powerpoint/2010/main" val="221730862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normAutofit/>
          </a:bodyPr>
          <a:lstStyle/>
          <a:p>
            <a:pPr marL="838200" indent="-838200">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带负权值的边不在回路中情况：</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2674352" y="1765438"/>
            <a:ext cx="6455714" cy="4178162"/>
          </a:xfrm>
          <a:prstGeom prst="rect">
            <a:avLst/>
          </a:prstGeom>
          <a:noFill/>
          <a:ln>
            <a:noFill/>
          </a:ln>
        </p:spPr>
      </p:pic>
      <p:sp>
        <p:nvSpPr>
          <p:cNvPr id="3" name="文本框 2"/>
          <p:cNvSpPr txBox="1"/>
          <p:nvPr/>
        </p:nvSpPr>
        <p:spPr>
          <a:xfrm>
            <a:off x="483606" y="5943600"/>
            <a:ext cx="11328438" cy="523220"/>
          </a:xfrm>
          <a:prstGeom prst="rect">
            <a:avLst/>
          </a:prstGeom>
          <a:noFill/>
        </p:spPr>
        <p:txBody>
          <a:bodyPr wrap="square" rtlCol="0">
            <a:spAutoFit/>
          </a:bodyPr>
          <a:lstStyle/>
          <a:p>
            <a:r>
              <a:rPr lang="en-US" altLang="zh-CN" sz="2800" dirty="0">
                <a:latin typeface="Times New Roman" panose="02020603050405020304" pitchFamily="18" charset="0"/>
                <a:ea typeface="华文楷体" pitchFamily="2" charset="-122"/>
                <a:cs typeface="Times New Roman" panose="02020603050405020304" pitchFamily="18" charset="0"/>
              </a:rPr>
              <a:t>Floyd</a:t>
            </a:r>
            <a:r>
              <a:rPr lang="zh-CN" altLang="en-US" sz="2800" dirty="0">
                <a:latin typeface="Times New Roman" panose="02020603050405020304" pitchFamily="18" charset="0"/>
                <a:ea typeface="华文楷体" pitchFamily="2" charset="-122"/>
                <a:cs typeface="Times New Roman" panose="02020603050405020304" pitchFamily="18" charset="0"/>
              </a:rPr>
              <a:t>算法</a:t>
            </a:r>
            <a:r>
              <a:rPr lang="zh-CN" altLang="en-US"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允许</a:t>
            </a:r>
            <a:r>
              <a:rPr lang="zh-CN" altLang="en-US" sz="2800" dirty="0">
                <a:latin typeface="Times New Roman" panose="02020603050405020304" pitchFamily="18" charset="0"/>
                <a:ea typeface="华文楷体" pitchFamily="2" charset="-122"/>
                <a:cs typeface="Times New Roman" panose="02020603050405020304" pitchFamily="18" charset="0"/>
              </a:rPr>
              <a:t>不在回路中</a:t>
            </a:r>
            <a:r>
              <a:rPr lang="zh-CN" altLang="en-US" sz="2800" b="1" dirty="0">
                <a:latin typeface="Times New Roman" panose="02020603050405020304" pitchFamily="18" charset="0"/>
                <a:ea typeface="华文楷体" pitchFamily="2" charset="-122"/>
                <a:cs typeface="Times New Roman" panose="02020603050405020304" pitchFamily="18" charset="0"/>
              </a:rPr>
              <a:t>带负权值的边</a:t>
            </a:r>
            <a:r>
              <a:rPr lang="zh-CN" altLang="en-US" sz="2800" dirty="0">
                <a:latin typeface="Times New Roman" panose="02020603050405020304" pitchFamily="18" charset="0"/>
                <a:ea typeface="华文楷体" pitchFamily="2" charset="-122"/>
                <a:cs typeface="Times New Roman" panose="02020603050405020304" pitchFamily="18" charset="0"/>
              </a:rPr>
              <a:t>出现</a:t>
            </a:r>
            <a:r>
              <a:rPr lang="zh-CN" altLang="en-US" sz="2800" b="1" dirty="0">
                <a:latin typeface="Times New Roman" panose="02020603050405020304" pitchFamily="18" charset="0"/>
                <a:ea typeface="华文楷体" pitchFamily="2" charset="-122"/>
                <a:cs typeface="Times New Roman" panose="02020603050405020304" pitchFamily="18" charset="0"/>
              </a:rPr>
              <a:t>。</a:t>
            </a:r>
            <a:endParaRPr lang="zh-CN" altLang="en-US" sz="2800" dirty="0">
              <a:latin typeface="Times New Roman" panose="02020603050405020304" pitchFamily="18" charset="0"/>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283914647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normAutofit/>
          </a:bodyPr>
          <a:lstStyle/>
          <a:p>
            <a:pPr marL="838200" indent="-838200">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带负权值的边出现在回路中：</a:t>
            </a:r>
          </a:p>
        </p:txBody>
      </p:sp>
      <p:sp>
        <p:nvSpPr>
          <p:cNvPr id="6" name="文本框 5"/>
          <p:cNvSpPr txBox="1"/>
          <p:nvPr/>
        </p:nvSpPr>
        <p:spPr>
          <a:xfrm>
            <a:off x="831365" y="5650502"/>
            <a:ext cx="10730157" cy="523220"/>
          </a:xfrm>
          <a:prstGeom prst="rect">
            <a:avLst/>
          </a:prstGeom>
          <a:noFill/>
        </p:spPr>
        <p:txBody>
          <a:bodyPr wrap="square" rtlCol="0">
            <a:spAutoFit/>
          </a:bodyPr>
          <a:lstStyle/>
          <a:p>
            <a:r>
              <a:rPr lang="en-US" altLang="zh-CN" sz="2800" dirty="0">
                <a:latin typeface="Times New Roman" panose="02020603050405020304" pitchFamily="18" charset="0"/>
                <a:ea typeface="华文楷体" pitchFamily="2" charset="-122"/>
                <a:cs typeface="Times New Roman" panose="02020603050405020304" pitchFamily="18" charset="0"/>
              </a:rPr>
              <a:t>Floyd</a:t>
            </a:r>
            <a:r>
              <a:rPr lang="zh-CN" altLang="en-US" sz="2800" dirty="0">
                <a:latin typeface="Times New Roman" panose="02020603050405020304" pitchFamily="18" charset="0"/>
                <a:ea typeface="华文楷体" pitchFamily="2" charset="-122"/>
                <a:cs typeface="Times New Roman" panose="02020603050405020304" pitchFamily="18" charset="0"/>
              </a:rPr>
              <a:t>算法</a:t>
            </a:r>
            <a:r>
              <a:rPr lang="zh-CN" altLang="en-US" sz="2800" b="1" dirty="0">
                <a:solidFill>
                  <a:srgbClr val="FF0000"/>
                </a:solidFill>
                <a:latin typeface="Times New Roman" panose="02020603050405020304" pitchFamily="18" charset="0"/>
                <a:ea typeface="华文楷体" pitchFamily="2" charset="-122"/>
                <a:cs typeface="Times New Roman" panose="02020603050405020304" pitchFamily="18" charset="0"/>
              </a:rPr>
              <a:t>支持</a:t>
            </a:r>
            <a:r>
              <a:rPr lang="zh-CN" altLang="en-US" sz="2800" b="1" dirty="0">
                <a:latin typeface="Times New Roman" panose="02020603050405020304" pitchFamily="18" charset="0"/>
                <a:ea typeface="华文楷体" pitchFamily="2" charset="-122"/>
                <a:cs typeface="Times New Roman" panose="02020603050405020304" pitchFamily="18" charset="0"/>
              </a:rPr>
              <a:t>权值和为非负的环</a:t>
            </a:r>
            <a:r>
              <a:rPr lang="zh-CN" altLang="en-US" sz="2800" dirty="0">
                <a:latin typeface="Times New Roman" panose="02020603050405020304" pitchFamily="18" charset="0"/>
                <a:ea typeface="华文楷体" pitchFamily="2" charset="-122"/>
                <a:cs typeface="Times New Roman" panose="02020603050405020304" pitchFamily="18" charset="0"/>
              </a:rPr>
              <a:t>。</a:t>
            </a:r>
          </a:p>
        </p:txBody>
      </p:sp>
      <p:sp>
        <p:nvSpPr>
          <p:cNvPr id="2" name="椭圆 1"/>
          <p:cNvSpPr/>
          <p:nvPr/>
        </p:nvSpPr>
        <p:spPr>
          <a:xfrm>
            <a:off x="11601450" y="5980396"/>
            <a:ext cx="214313" cy="2428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BAFBF5E-ED3B-4204-B171-9A34E534CB71}"/>
              </a:ext>
            </a:extLst>
          </p:cNvPr>
          <p:cNvSpPr txBox="1"/>
          <p:nvPr/>
        </p:nvSpPr>
        <p:spPr>
          <a:xfrm>
            <a:off x="170455" y="1552495"/>
            <a:ext cx="3057247" cy="954107"/>
          </a:xfrm>
          <a:prstGeom prst="rect">
            <a:avLst/>
          </a:prstGeom>
          <a:noFill/>
        </p:spPr>
        <p:txBody>
          <a:bodyPr wrap="none" rtlCol="0">
            <a:spAutoFit/>
          </a:bodyPr>
          <a:lstStyle/>
          <a:p>
            <a:r>
              <a:rPr lang="zh-CN" altLang="en-US" sz="2800" dirty="0">
                <a:solidFill>
                  <a:schemeClr val="accent1">
                    <a:lumMod val="60000"/>
                    <a:lumOff val="40000"/>
                  </a:schemeClr>
                </a:solidFill>
              </a:rPr>
              <a:t>情况</a:t>
            </a:r>
            <a:r>
              <a:rPr lang="en-US" altLang="zh-CN" sz="2800" dirty="0">
                <a:solidFill>
                  <a:schemeClr val="accent1">
                    <a:lumMod val="60000"/>
                    <a:lumOff val="40000"/>
                  </a:schemeClr>
                </a:solidFill>
              </a:rPr>
              <a:t>1</a:t>
            </a:r>
            <a:r>
              <a:rPr lang="zh-CN" altLang="en-US" sz="2800" dirty="0">
                <a:solidFill>
                  <a:schemeClr val="accent1">
                    <a:lumMod val="60000"/>
                    <a:lumOff val="40000"/>
                  </a:schemeClr>
                </a:solidFill>
              </a:rPr>
              <a:t>：</a:t>
            </a:r>
            <a:endParaRPr lang="en-US" altLang="zh-CN" sz="2800" dirty="0">
              <a:solidFill>
                <a:schemeClr val="accent1">
                  <a:lumMod val="60000"/>
                  <a:lumOff val="40000"/>
                </a:schemeClr>
              </a:solidFill>
            </a:endParaRPr>
          </a:p>
          <a:p>
            <a:r>
              <a:rPr lang="zh-CN" altLang="en-US" sz="2800" dirty="0">
                <a:solidFill>
                  <a:schemeClr val="accent1">
                    <a:lumMod val="60000"/>
                    <a:lumOff val="40000"/>
                  </a:schemeClr>
                </a:solidFill>
              </a:rPr>
              <a:t>回路权值和为非负</a:t>
            </a:r>
          </a:p>
        </p:txBody>
      </p:sp>
      <p:pic>
        <p:nvPicPr>
          <p:cNvPr id="7" name="图片 6">
            <a:extLst>
              <a:ext uri="{FF2B5EF4-FFF2-40B4-BE49-F238E27FC236}">
                <a16:creationId xmlns:a16="http://schemas.microsoft.com/office/drawing/2014/main" id="{C159A7B5-FDFC-4943-802A-0AB420D86CC4}"/>
              </a:ext>
            </a:extLst>
          </p:cNvPr>
          <p:cNvPicPr>
            <a:picLocks noChangeAspect="1"/>
          </p:cNvPicPr>
          <p:nvPr/>
        </p:nvPicPr>
        <p:blipFill>
          <a:blip r:embed="rId3"/>
          <a:stretch>
            <a:fillRect/>
          </a:stretch>
        </p:blipFill>
        <p:spPr>
          <a:xfrm>
            <a:off x="3259767" y="1392607"/>
            <a:ext cx="6724650" cy="4248150"/>
          </a:xfrm>
          <a:prstGeom prst="rect">
            <a:avLst/>
          </a:prstGeom>
        </p:spPr>
      </p:pic>
    </p:spTree>
    <p:extLst>
      <p:ext uri="{BB962C8B-B14F-4D97-AF65-F5344CB8AC3E}">
        <p14:creationId xmlns:p14="http://schemas.microsoft.com/office/powerpoint/2010/main" val="353878118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845532"/>
            <a:ext cx="11162884" cy="574183"/>
          </a:xfrm>
        </p:spPr>
        <p:txBody>
          <a:bodyPr>
            <a:normAutofit/>
          </a:bodyPr>
          <a:lstStyle/>
          <a:p>
            <a:pPr marL="838200" indent="-838200">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带负权值的边出现在回路中：</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777835" y="1356146"/>
            <a:ext cx="6743853" cy="4283835"/>
          </a:xfrm>
          <a:prstGeom prst="rect">
            <a:avLst/>
          </a:prstGeom>
          <a:noFill/>
          <a:ln>
            <a:noFill/>
          </a:ln>
        </p:spPr>
      </p:pic>
      <p:sp>
        <p:nvSpPr>
          <p:cNvPr id="6" name="文本框 5"/>
          <p:cNvSpPr txBox="1"/>
          <p:nvPr/>
        </p:nvSpPr>
        <p:spPr>
          <a:xfrm>
            <a:off x="831365" y="5650502"/>
            <a:ext cx="10730157" cy="954107"/>
          </a:xfrm>
          <a:prstGeom prst="rect">
            <a:avLst/>
          </a:prstGeom>
          <a:noFill/>
        </p:spPr>
        <p:txBody>
          <a:bodyPr wrap="square" rtlCol="0">
            <a:spAutoFit/>
          </a:bodyPr>
          <a:lstStyle/>
          <a:p>
            <a:r>
              <a:rPr lang="en-US" altLang="zh-CN" sz="2800" dirty="0">
                <a:latin typeface="Times New Roman" panose="02020603050405020304" pitchFamily="18" charset="0"/>
                <a:ea typeface="华文楷体" pitchFamily="2" charset="-122"/>
                <a:cs typeface="Times New Roman" panose="02020603050405020304" pitchFamily="18" charset="0"/>
              </a:rPr>
              <a:t>Floyd</a:t>
            </a:r>
            <a:r>
              <a:rPr lang="zh-CN" altLang="en-US" sz="2800" dirty="0">
                <a:latin typeface="Times New Roman" panose="02020603050405020304" pitchFamily="18" charset="0"/>
                <a:ea typeface="华文楷体" pitchFamily="2" charset="-122"/>
                <a:cs typeface="Times New Roman" panose="02020603050405020304" pitchFamily="18" charset="0"/>
              </a:rPr>
              <a:t>算法</a:t>
            </a:r>
            <a:r>
              <a:rPr lang="zh-CN" altLang="en-US" sz="2800" b="1" dirty="0">
                <a:solidFill>
                  <a:srgbClr val="FF0000"/>
                </a:solidFill>
                <a:latin typeface="Times New Roman" panose="02020603050405020304" pitchFamily="18" charset="0"/>
                <a:ea typeface="华文楷体" pitchFamily="2" charset="-122"/>
                <a:cs typeface="Times New Roman" panose="02020603050405020304" pitchFamily="18" charset="0"/>
              </a:rPr>
              <a:t>不支持</a:t>
            </a:r>
            <a:r>
              <a:rPr lang="zh-CN" altLang="en-US" sz="2800" b="1" dirty="0">
                <a:latin typeface="Times New Roman" panose="02020603050405020304" pitchFamily="18" charset="0"/>
                <a:ea typeface="华文楷体" pitchFamily="2" charset="-122"/>
                <a:cs typeface="Times New Roman" panose="02020603050405020304" pitchFamily="18" charset="0"/>
              </a:rPr>
              <a:t>权值和为负值的环</a:t>
            </a:r>
            <a:r>
              <a:rPr lang="zh-CN" altLang="en-US" sz="2800" dirty="0">
                <a:latin typeface="Times New Roman" panose="02020603050405020304" pitchFamily="18" charset="0"/>
                <a:ea typeface="华文楷体" pitchFamily="2" charset="-122"/>
                <a:cs typeface="Times New Roman" panose="02020603050405020304" pitchFamily="18" charset="0"/>
              </a:rPr>
              <a:t>。我们只要围着这个环兜圈子，权值和就不断变短，最短路径问题是没有意义的。</a:t>
            </a:r>
          </a:p>
        </p:txBody>
      </p:sp>
      <p:sp>
        <p:nvSpPr>
          <p:cNvPr id="2" name="椭圆 1"/>
          <p:cNvSpPr/>
          <p:nvPr/>
        </p:nvSpPr>
        <p:spPr>
          <a:xfrm>
            <a:off x="11601450" y="5980396"/>
            <a:ext cx="214313" cy="2428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889823CE-D7D0-4EE8-8CFD-FB08CE215D40}"/>
              </a:ext>
            </a:extLst>
          </p:cNvPr>
          <p:cNvSpPr/>
          <p:nvPr/>
        </p:nvSpPr>
        <p:spPr>
          <a:xfrm>
            <a:off x="6250488" y="3369502"/>
            <a:ext cx="425885" cy="3632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82170C3-3509-4A5A-9EF9-B834DEC9CDCC}"/>
              </a:ext>
            </a:extLst>
          </p:cNvPr>
          <p:cNvSpPr txBox="1"/>
          <p:nvPr/>
        </p:nvSpPr>
        <p:spPr>
          <a:xfrm>
            <a:off x="8722959" y="3883069"/>
            <a:ext cx="2760692" cy="523220"/>
          </a:xfrm>
          <a:prstGeom prst="rect">
            <a:avLst/>
          </a:prstGeom>
          <a:noFill/>
        </p:spPr>
        <p:txBody>
          <a:bodyPr wrap="none" rtlCol="0">
            <a:spAutoFit/>
          </a:bodyPr>
          <a:lstStyle/>
          <a:p>
            <a:r>
              <a:rPr lang="en-US" altLang="zh-CN" sz="2800" dirty="0">
                <a:solidFill>
                  <a:srgbClr val="FF0000"/>
                </a:solidFill>
              </a:rPr>
              <a:t>0-&gt;1-&gt;2-&gt;0-&gt;1</a:t>
            </a:r>
            <a:endParaRPr lang="zh-CN" altLang="en-US" sz="2800" dirty="0">
              <a:solidFill>
                <a:srgbClr val="FF0000"/>
              </a:solidFill>
            </a:endParaRPr>
          </a:p>
        </p:txBody>
      </p:sp>
      <p:sp>
        <p:nvSpPr>
          <p:cNvPr id="8" name="文本框 7">
            <a:extLst>
              <a:ext uri="{FF2B5EF4-FFF2-40B4-BE49-F238E27FC236}">
                <a16:creationId xmlns:a16="http://schemas.microsoft.com/office/drawing/2014/main" id="{DBAFBF5E-ED3B-4204-B171-9A34E534CB71}"/>
              </a:ext>
            </a:extLst>
          </p:cNvPr>
          <p:cNvSpPr txBox="1"/>
          <p:nvPr/>
        </p:nvSpPr>
        <p:spPr>
          <a:xfrm>
            <a:off x="170455" y="1552495"/>
            <a:ext cx="2698175" cy="954107"/>
          </a:xfrm>
          <a:prstGeom prst="rect">
            <a:avLst/>
          </a:prstGeom>
          <a:noFill/>
        </p:spPr>
        <p:txBody>
          <a:bodyPr wrap="none" rtlCol="0">
            <a:spAutoFit/>
          </a:bodyPr>
          <a:lstStyle/>
          <a:p>
            <a:r>
              <a:rPr lang="zh-CN" altLang="en-US" sz="2800" dirty="0">
                <a:solidFill>
                  <a:schemeClr val="accent1">
                    <a:lumMod val="60000"/>
                    <a:lumOff val="40000"/>
                  </a:schemeClr>
                </a:solidFill>
              </a:rPr>
              <a:t>情况</a:t>
            </a:r>
            <a:r>
              <a:rPr lang="en-US" altLang="zh-CN" sz="2800" dirty="0">
                <a:solidFill>
                  <a:schemeClr val="accent1">
                    <a:lumMod val="60000"/>
                    <a:lumOff val="40000"/>
                  </a:schemeClr>
                </a:solidFill>
              </a:rPr>
              <a:t>2</a:t>
            </a:r>
            <a:r>
              <a:rPr lang="zh-CN" altLang="en-US" sz="2800" dirty="0">
                <a:solidFill>
                  <a:schemeClr val="accent1">
                    <a:lumMod val="60000"/>
                    <a:lumOff val="40000"/>
                  </a:schemeClr>
                </a:solidFill>
              </a:rPr>
              <a:t>：</a:t>
            </a:r>
            <a:endParaRPr lang="en-US" altLang="zh-CN" sz="2800" dirty="0">
              <a:solidFill>
                <a:schemeClr val="accent1">
                  <a:lumMod val="60000"/>
                  <a:lumOff val="40000"/>
                </a:schemeClr>
              </a:solidFill>
            </a:endParaRPr>
          </a:p>
          <a:p>
            <a:r>
              <a:rPr lang="zh-CN" altLang="en-US" sz="2800" dirty="0">
                <a:solidFill>
                  <a:schemeClr val="accent1">
                    <a:lumMod val="60000"/>
                    <a:lumOff val="40000"/>
                  </a:schemeClr>
                </a:solidFill>
              </a:rPr>
              <a:t>回路权值和为负</a:t>
            </a:r>
          </a:p>
        </p:txBody>
      </p:sp>
    </p:spTree>
    <p:extLst>
      <p:ext uri="{BB962C8B-B14F-4D97-AF65-F5344CB8AC3E}">
        <p14:creationId xmlns:p14="http://schemas.microsoft.com/office/powerpoint/2010/main" val="4137673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solidFill>
                  <a:srgbClr val="FF0000"/>
                </a:solidFill>
                <a:latin typeface="华文楷体" pitchFamily="2" charset="-122"/>
                <a:ea typeface="华文楷体" pitchFamily="2" charset="-122"/>
              </a:rPr>
              <a:t>AOV</a:t>
            </a:r>
            <a:r>
              <a:rPr lang="zh-CN" altLang="en-US" sz="2800" dirty="0">
                <a:solidFill>
                  <a:srgbClr val="FF0000"/>
                </a:solidFill>
                <a:latin typeface="华文楷体" pitchFamily="2" charset="-122"/>
                <a:ea typeface="华文楷体" pitchFamily="2" charset="-122"/>
              </a:rPr>
              <a:t>网和</a:t>
            </a:r>
            <a:r>
              <a:rPr lang="en-US" altLang="zh-CN" sz="2800" dirty="0">
                <a:solidFill>
                  <a:srgbClr val="FF0000"/>
                </a:solidFill>
                <a:latin typeface="华文楷体" pitchFamily="2" charset="-122"/>
                <a:ea typeface="华文楷体" pitchFamily="2" charset="-122"/>
              </a:rPr>
              <a:t>AOE</a:t>
            </a:r>
            <a:r>
              <a:rPr lang="zh-CN" altLang="en-US" sz="2800" dirty="0">
                <a:solidFill>
                  <a:srgbClr val="FF0000"/>
                </a:solidFill>
                <a:latin typeface="华文楷体" pitchFamily="2" charset="-122"/>
                <a:ea typeface="华文楷体" pitchFamily="2" charset="-122"/>
              </a:rPr>
              <a:t>网</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89425602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328330"/>
            <a:ext cx="10910448" cy="5271254"/>
          </a:xfrm>
        </p:spPr>
        <p:txBody>
          <a:bodyPr>
            <a:normAutofit/>
          </a:bodyPr>
          <a:lstStyle/>
          <a:p>
            <a:pPr marL="0" indent="0">
              <a:buNone/>
            </a:pPr>
            <a:r>
              <a:rPr lang="zh-CN" altLang="zh-CN" sz="2800" b="0" dirty="0">
                <a:ea typeface="华文楷体" pitchFamily="2" charset="-122"/>
                <a:cs typeface="Times New Roman" panose="02020603050405020304" pitchFamily="18" charset="0"/>
              </a:rPr>
              <a:t>有向无环图的应用通常分为两种：一种是</a:t>
            </a:r>
            <a:r>
              <a:rPr lang="en-US" altLang="zh-CN" sz="2800" b="0" dirty="0">
                <a:ea typeface="华文楷体" pitchFamily="2" charset="-122"/>
                <a:cs typeface="Times New Roman" panose="02020603050405020304" pitchFamily="18" charset="0"/>
              </a:rPr>
              <a:t>AOV(Activity On Vertex </a:t>
            </a:r>
            <a:r>
              <a:rPr lang="en-US" altLang="zh-CN" sz="2800" b="0" dirty="0" err="1">
                <a:ea typeface="华文楷体" pitchFamily="2" charset="-122"/>
                <a:cs typeface="Times New Roman" panose="02020603050405020304" pitchFamily="18" charset="0"/>
              </a:rPr>
              <a:t>NetWork</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网，一种是</a:t>
            </a:r>
            <a:r>
              <a:rPr lang="en-US" altLang="zh-CN" sz="2800" b="0" dirty="0">
                <a:ea typeface="华文楷体" pitchFamily="2" charset="-122"/>
                <a:cs typeface="Times New Roman" panose="02020603050405020304" pitchFamily="18" charset="0"/>
              </a:rPr>
              <a:t>AOE(Activity on Edge Network)</a:t>
            </a:r>
            <a:r>
              <a:rPr lang="zh-CN" altLang="zh-CN" sz="2800" b="0" dirty="0">
                <a:ea typeface="华文楷体" pitchFamily="2" charset="-122"/>
                <a:cs typeface="Times New Roman" panose="02020603050405020304" pitchFamily="18" charset="0"/>
              </a:rPr>
              <a:t>网。</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AOV</a:t>
            </a:r>
            <a:r>
              <a:rPr lang="zh-CN" altLang="zh-CN" sz="2800" b="0" dirty="0">
                <a:ea typeface="华文楷体" pitchFamily="2" charset="-122"/>
                <a:cs typeface="Times New Roman" panose="02020603050405020304" pitchFamily="18" charset="0"/>
              </a:rPr>
              <a:t>网将活动赋予</a:t>
            </a:r>
            <a:r>
              <a:rPr lang="zh-CN" altLang="zh-CN" sz="2800" b="0" dirty="0">
                <a:solidFill>
                  <a:schemeClr val="accent1">
                    <a:lumMod val="60000"/>
                    <a:lumOff val="40000"/>
                  </a:schemeClr>
                </a:solidFill>
                <a:ea typeface="华文楷体" pitchFamily="2" charset="-122"/>
                <a:cs typeface="Times New Roman" panose="02020603050405020304" pitchFamily="18" charset="0"/>
              </a:rPr>
              <a:t>顶点</a:t>
            </a:r>
            <a:r>
              <a:rPr lang="zh-CN" altLang="zh-CN" sz="2800" b="0" dirty="0">
                <a:ea typeface="华文楷体" pitchFamily="2" charset="-122"/>
                <a:cs typeface="Times New Roman" panose="02020603050405020304" pitchFamily="18" charset="0"/>
              </a:rPr>
              <a:t>之上，顶点间的</a:t>
            </a:r>
            <a:r>
              <a:rPr lang="zh-CN" altLang="zh-CN" sz="2800" b="0" dirty="0">
                <a:solidFill>
                  <a:schemeClr val="accent1">
                    <a:lumMod val="60000"/>
                    <a:lumOff val="40000"/>
                  </a:schemeClr>
                </a:solidFill>
                <a:ea typeface="华文楷体" pitchFamily="2" charset="-122"/>
                <a:cs typeface="Times New Roman" panose="02020603050405020304" pitchFamily="18" charset="0"/>
              </a:rPr>
              <a:t>有向边</a:t>
            </a:r>
            <a:r>
              <a:rPr lang="zh-CN" altLang="zh-CN" sz="2800" b="0" dirty="0">
                <a:ea typeface="华文楷体" pitchFamily="2" charset="-122"/>
                <a:cs typeface="Times New Roman" panose="02020603050405020304" pitchFamily="18" charset="0"/>
              </a:rPr>
              <a:t>表示活动发生的</a:t>
            </a:r>
            <a:r>
              <a:rPr lang="zh-CN" altLang="zh-CN" sz="2800" b="0" dirty="0">
                <a:solidFill>
                  <a:schemeClr val="accent1">
                    <a:lumMod val="60000"/>
                    <a:lumOff val="40000"/>
                  </a:schemeClr>
                </a:solidFill>
                <a:ea typeface="华文楷体" pitchFamily="2" charset="-122"/>
                <a:cs typeface="Times New Roman" panose="02020603050405020304" pitchFamily="18" charset="0"/>
              </a:rPr>
              <a:t>先后</a:t>
            </a:r>
            <a:r>
              <a:rPr lang="zh-CN" altLang="zh-CN" sz="2800" b="0" dirty="0">
                <a:ea typeface="华文楷体" pitchFamily="2" charset="-122"/>
                <a:cs typeface="Times New Roman" panose="02020603050405020304" pitchFamily="18" charset="0"/>
              </a:rPr>
              <a:t>顺序，表达了活动之间的前后关系。</a:t>
            </a:r>
            <a:r>
              <a:rPr lang="en-US" altLang="zh-CN" sz="2800" b="0" dirty="0">
                <a:ea typeface="华文楷体" pitchFamily="2" charset="-122"/>
                <a:cs typeface="Times New Roman" panose="02020603050405020304" pitchFamily="18" charset="0"/>
              </a:rPr>
              <a:t> AOV</a:t>
            </a:r>
            <a:r>
              <a:rPr lang="zh-CN" altLang="zh-CN" sz="2800" b="0" dirty="0">
                <a:ea typeface="华文楷体" pitchFamily="2" charset="-122"/>
                <a:cs typeface="Times New Roman" panose="02020603050405020304" pitchFamily="18" charset="0"/>
              </a:rPr>
              <a:t>网的一个典型应用是课程的先修关</a:t>
            </a:r>
            <a:r>
              <a:rPr lang="zh-CN" altLang="en-US" sz="2800" b="0" dirty="0">
                <a:ea typeface="华文楷体" pitchFamily="2" charset="-122"/>
                <a:cs typeface="Times New Roman" panose="02020603050405020304" pitchFamily="18" charset="0"/>
              </a:rPr>
              <a:t>系。</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网将活动赋予</a:t>
            </a:r>
            <a:r>
              <a:rPr lang="zh-CN" altLang="zh-CN" sz="2800" b="0" dirty="0">
                <a:solidFill>
                  <a:schemeClr val="accent1">
                    <a:lumMod val="60000"/>
                    <a:lumOff val="40000"/>
                  </a:schemeClr>
                </a:solidFill>
                <a:ea typeface="华文楷体" pitchFamily="2" charset="-122"/>
                <a:cs typeface="Times New Roman" panose="02020603050405020304" pitchFamily="18" charset="0"/>
              </a:rPr>
              <a:t>边</a:t>
            </a:r>
            <a:r>
              <a:rPr lang="zh-CN" altLang="zh-CN" sz="2800" b="0" dirty="0">
                <a:ea typeface="华文楷体" pitchFamily="2" charset="-122"/>
                <a:cs typeface="Times New Roman" panose="02020603050405020304" pitchFamily="18" charset="0"/>
              </a:rPr>
              <a:t>之上，</a:t>
            </a:r>
            <a:r>
              <a:rPr lang="zh-CN" altLang="zh-CN" sz="2800" b="0" dirty="0">
                <a:solidFill>
                  <a:schemeClr val="accent1">
                    <a:lumMod val="60000"/>
                    <a:lumOff val="40000"/>
                  </a:schemeClr>
                </a:solidFill>
                <a:ea typeface="华文楷体" pitchFamily="2" charset="-122"/>
                <a:cs typeface="Times New Roman" panose="02020603050405020304" pitchFamily="18" charset="0"/>
              </a:rPr>
              <a:t>顶点</a:t>
            </a:r>
            <a:r>
              <a:rPr lang="zh-CN" altLang="zh-CN" sz="2800" b="0" dirty="0">
                <a:ea typeface="华文楷体" pitchFamily="2" charset="-122"/>
                <a:cs typeface="Times New Roman" panose="02020603050405020304" pitchFamily="18" charset="0"/>
              </a:rPr>
              <a:t>表达了活动发生后到达的某种</a:t>
            </a:r>
            <a:r>
              <a:rPr lang="zh-CN" altLang="zh-CN" sz="2800" b="0" dirty="0">
                <a:solidFill>
                  <a:schemeClr val="accent1">
                    <a:lumMod val="60000"/>
                    <a:lumOff val="40000"/>
                  </a:schemeClr>
                </a:solidFill>
                <a:ea typeface="华文楷体" pitchFamily="2" charset="-122"/>
                <a:cs typeface="Times New Roman" panose="02020603050405020304" pitchFamily="18" charset="0"/>
              </a:rPr>
              <a:t>状态</a:t>
            </a:r>
            <a:r>
              <a:rPr lang="zh-CN" altLang="zh-CN" sz="2800" b="0" dirty="0">
                <a:ea typeface="华文楷体" pitchFamily="2" charset="-122"/>
                <a:cs typeface="Times New Roman" panose="02020603050405020304" pitchFamily="18" charset="0"/>
              </a:rPr>
              <a:t>或事件。某个状态或事件既意味着</a:t>
            </a:r>
            <a:r>
              <a:rPr lang="zh-CN" altLang="zh-CN" sz="2800" b="0" dirty="0">
                <a:solidFill>
                  <a:schemeClr val="accent1">
                    <a:lumMod val="60000"/>
                    <a:lumOff val="40000"/>
                  </a:schemeClr>
                </a:solidFill>
                <a:ea typeface="华文楷体" pitchFamily="2" charset="-122"/>
                <a:cs typeface="Times New Roman" panose="02020603050405020304" pitchFamily="18" charset="0"/>
              </a:rPr>
              <a:t>前面</a:t>
            </a:r>
            <a:r>
              <a:rPr lang="zh-CN" altLang="zh-CN" sz="2800" b="0" dirty="0">
                <a:ea typeface="华文楷体" pitchFamily="2" charset="-122"/>
                <a:cs typeface="Times New Roman" panose="02020603050405020304" pitchFamily="18" charset="0"/>
              </a:rPr>
              <a:t>所有的</a:t>
            </a:r>
            <a:r>
              <a:rPr lang="zh-CN" altLang="zh-CN" sz="2800" b="0" dirty="0">
                <a:solidFill>
                  <a:schemeClr val="accent1">
                    <a:lumMod val="60000"/>
                    <a:lumOff val="40000"/>
                  </a:schemeClr>
                </a:solidFill>
                <a:ea typeface="华文楷体" pitchFamily="2" charset="-122"/>
                <a:cs typeface="Times New Roman" panose="02020603050405020304" pitchFamily="18" charset="0"/>
              </a:rPr>
              <a:t>活动结束</a:t>
            </a:r>
            <a:r>
              <a:rPr lang="zh-CN" altLang="zh-CN" sz="2800" b="0" dirty="0">
                <a:ea typeface="华文楷体" pitchFamily="2" charset="-122"/>
                <a:cs typeface="Times New Roman" panose="02020603050405020304" pitchFamily="18" charset="0"/>
              </a:rPr>
              <a:t>，也意味着</a:t>
            </a:r>
            <a:r>
              <a:rPr lang="zh-CN" altLang="zh-CN" sz="2800" b="0" dirty="0">
                <a:solidFill>
                  <a:schemeClr val="accent1">
                    <a:lumMod val="60000"/>
                    <a:lumOff val="40000"/>
                  </a:schemeClr>
                </a:solidFill>
                <a:ea typeface="华文楷体" pitchFamily="2" charset="-122"/>
                <a:cs typeface="Times New Roman" panose="02020603050405020304" pitchFamily="18" charset="0"/>
              </a:rPr>
              <a:t>后面</a:t>
            </a:r>
            <a:r>
              <a:rPr lang="zh-CN" altLang="zh-CN" sz="2800" b="0" dirty="0">
                <a:ea typeface="华文楷体" pitchFamily="2" charset="-122"/>
                <a:cs typeface="Times New Roman" panose="02020603050405020304" pitchFamily="18" charset="0"/>
              </a:rPr>
              <a:t>的活动</a:t>
            </a:r>
            <a:r>
              <a:rPr lang="zh-CN" altLang="zh-CN" sz="2800" b="0" dirty="0">
                <a:solidFill>
                  <a:schemeClr val="accent1">
                    <a:lumMod val="60000"/>
                    <a:lumOff val="40000"/>
                  </a:schemeClr>
                </a:solidFill>
                <a:ea typeface="华文楷体" pitchFamily="2" charset="-122"/>
                <a:cs typeface="Times New Roman" panose="02020603050405020304" pitchFamily="18" charset="0"/>
              </a:rPr>
              <a:t>可以开始</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网的一个典型应用是工程问题。</a:t>
            </a:r>
          </a:p>
        </p:txBody>
      </p:sp>
      <p:sp>
        <p:nvSpPr>
          <p:cNvPr id="8194" name="Rectangle 2"/>
          <p:cNvSpPr>
            <a:spLocks noGrp="1" noRot="1" noChangeArrowheads="1"/>
          </p:cNvSpPr>
          <p:nvPr>
            <p:ph type="title"/>
          </p:nvPr>
        </p:nvSpPr>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AOV</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网和</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AOE</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网：</a:t>
            </a:r>
          </a:p>
        </p:txBody>
      </p:sp>
    </p:spTree>
    <p:extLst>
      <p:ext uri="{BB962C8B-B14F-4D97-AF65-F5344CB8AC3E}">
        <p14:creationId xmlns:p14="http://schemas.microsoft.com/office/powerpoint/2010/main" val="302620796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30562" y="2721085"/>
            <a:ext cx="5856401"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a:t>
            </a:r>
            <a:r>
              <a:rPr lang="en-US" altLang="zh-CN" sz="2800" dirty="0">
                <a:solidFill>
                  <a:srgbClr val="FF0000"/>
                </a:solidFill>
                <a:latin typeface="华文楷体" pitchFamily="2" charset="-122"/>
                <a:ea typeface="华文楷体" pitchFamily="2" charset="-122"/>
              </a:rPr>
              <a:t>AOV</a:t>
            </a:r>
            <a:r>
              <a:rPr lang="zh-CN" altLang="en-US" sz="2800" dirty="0">
                <a:solidFill>
                  <a:srgbClr val="FF0000"/>
                </a:solidFill>
                <a:latin typeface="华文楷体" pitchFamily="2" charset="-122"/>
                <a:ea typeface="华文楷体" pitchFamily="2" charset="-122"/>
              </a:rPr>
              <a:t>网）拓扑排序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网）关键路径</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en-US" altLang="zh-CN" sz="3200" b="1" dirty="0">
                <a:latin typeface="华文楷体" pitchFamily="2" charset="-122"/>
                <a:ea typeface="华文楷体" pitchFamily="2" charset="-122"/>
              </a:rPr>
              <a:t>AOV</a:t>
            </a:r>
            <a:r>
              <a:rPr lang="zh-CN" altLang="en-US" sz="3200" b="1" dirty="0">
                <a:latin typeface="华文楷体" pitchFamily="2" charset="-122"/>
                <a:ea typeface="华文楷体" pitchFamily="2" charset="-122"/>
              </a:rPr>
              <a:t>网和</a:t>
            </a:r>
            <a:r>
              <a:rPr lang="en-US" altLang="zh-CN" sz="3200" b="1" dirty="0">
                <a:latin typeface="华文楷体" pitchFamily="2" charset="-122"/>
                <a:ea typeface="华文楷体" pitchFamily="2" charset="-122"/>
              </a:rPr>
              <a:t>AOE</a:t>
            </a:r>
            <a:r>
              <a:rPr lang="zh-CN" altLang="en-US" sz="3200" b="1" dirty="0">
                <a:latin typeface="华文楷体" pitchFamily="2" charset="-122"/>
                <a:ea typeface="华文楷体" pitchFamily="2" charset="-122"/>
              </a:rPr>
              <a:t>网：</a:t>
            </a:r>
          </a:p>
        </p:txBody>
      </p:sp>
    </p:spTree>
    <p:extLst>
      <p:ext uri="{BB962C8B-B14F-4D97-AF65-F5344CB8AC3E}">
        <p14:creationId xmlns:p14="http://schemas.microsoft.com/office/powerpoint/2010/main" val="25260638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98011"/>
            <a:ext cx="10439360" cy="2445364"/>
          </a:xfrm>
        </p:spPr>
        <p:txBody>
          <a:bodyPr>
            <a:normAutofit/>
          </a:bodyPr>
          <a:lstStyle/>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AOV</a:t>
            </a:r>
            <a:r>
              <a:rPr lang="zh-CN" altLang="zh-CN" sz="2800" b="0" dirty="0">
                <a:ea typeface="华文楷体" pitchFamily="2" charset="-122"/>
                <a:cs typeface="Times New Roman" panose="02020603050405020304" pitchFamily="18" charset="0"/>
              </a:rPr>
              <a:t>网将活动赋予顶点之上，顶点间的有向边表示活动发生的先后顺序，表达了活动之间的前后关系。</a:t>
            </a:r>
            <a:r>
              <a:rPr lang="en-US" altLang="zh-CN" sz="2800" b="0" dirty="0">
                <a:ea typeface="华文楷体" pitchFamily="2" charset="-122"/>
                <a:cs typeface="Times New Roman" panose="02020603050405020304" pitchFamily="18" charset="0"/>
              </a:rPr>
              <a:t> AOV</a:t>
            </a:r>
            <a:r>
              <a:rPr lang="zh-CN" altLang="zh-CN" sz="2800" b="0" dirty="0">
                <a:ea typeface="华文楷体" pitchFamily="2" charset="-122"/>
                <a:cs typeface="Times New Roman" panose="02020603050405020304" pitchFamily="18" charset="0"/>
              </a:rPr>
              <a:t>网的一个典型应用是课程的先修关</a:t>
            </a:r>
            <a:r>
              <a:rPr lang="zh-CN" altLang="en-US" sz="2800" b="0" dirty="0">
                <a:ea typeface="华文楷体" pitchFamily="2" charset="-122"/>
                <a:cs typeface="Times New Roman" panose="02020603050405020304" pitchFamily="18" charset="0"/>
              </a:rPr>
              <a:t>系。</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AOV</a:t>
            </a:r>
            <a:r>
              <a:rPr lang="zh-CN" altLang="en-US" dirty="0"/>
              <a:t>网：</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4384480" y="3049505"/>
            <a:ext cx="4065058" cy="3265570"/>
          </a:xfrm>
          <a:prstGeom prst="rect">
            <a:avLst/>
          </a:prstGeom>
          <a:noFill/>
          <a:ln>
            <a:noFill/>
          </a:ln>
        </p:spPr>
      </p:pic>
    </p:spTree>
    <p:extLst>
      <p:ext uri="{BB962C8B-B14F-4D97-AF65-F5344CB8AC3E}">
        <p14:creationId xmlns:p14="http://schemas.microsoft.com/office/powerpoint/2010/main" val="172033537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en-US" dirty="0"/>
              <a:t>偏序和全序关系：</a:t>
            </a:r>
          </a:p>
        </p:txBody>
      </p:sp>
      <mc:AlternateContent xmlns:mc="http://schemas.openxmlformats.org/markup-compatibility/2006" xmlns:a14="http://schemas.microsoft.com/office/drawing/2010/main">
        <mc:Choice Requires="a14">
          <p:sp>
            <p:nvSpPr>
              <p:cNvPr id="2" name="文本框 1"/>
              <p:cNvSpPr txBox="1"/>
              <p:nvPr/>
            </p:nvSpPr>
            <p:spPr>
              <a:xfrm>
                <a:off x="361745" y="1624426"/>
                <a:ext cx="11199778" cy="4647426"/>
              </a:xfrm>
              <a:prstGeom prst="rect">
                <a:avLst/>
              </a:prstGeom>
              <a:noFill/>
            </p:spPr>
            <p:txBody>
              <a:bodyPr wrap="square" rtlCol="0">
                <a:spAutoFit/>
              </a:bodyPr>
              <a:lstStyle/>
              <a:p>
                <a:pPr marL="357188" indent="-357188">
                  <a:buFont typeface="Wingdings" panose="05000000000000000000" pitchFamily="2" charset="2"/>
                  <a:buChar char="Ø"/>
                </a:pPr>
                <a:r>
                  <a:rPr lang="zh-CN" altLang="en-US" sz="2800" dirty="0">
                    <a:latin typeface="Times New Roman" panose="02020603050405020304" pitchFamily="18" charset="0"/>
                    <a:ea typeface="华文楷体" pitchFamily="2" charset="-122"/>
                    <a:cs typeface="Times New Roman" panose="02020603050405020304" pitchFamily="18" charset="0"/>
                  </a:rPr>
                  <a:t>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是集合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a:t>
                </a:r>
                <a:r>
                  <a:rPr lang="zh-CN" altLang="zh-CN" sz="2800" b="1" dirty="0">
                    <a:latin typeface="Times New Roman" panose="02020603050405020304" pitchFamily="18" charset="0"/>
                    <a:ea typeface="华文楷体" pitchFamily="2" charset="-122"/>
                    <a:cs typeface="Times New Roman" panose="02020603050405020304" pitchFamily="18" charset="0"/>
                  </a:rPr>
                  <a:t>偏序关系</a:t>
                </a:r>
                <a:r>
                  <a:rPr lang="zh-CN" altLang="en-US" sz="2800" b="1" dirty="0">
                    <a:latin typeface="Times New Roman" panose="02020603050405020304" pitchFamily="18" charset="0"/>
                    <a:ea typeface="华文楷体" pitchFamily="2" charset="-122"/>
                    <a:cs typeface="Times New Roman" panose="02020603050405020304" pitchFamily="18" charset="0"/>
                  </a:rPr>
                  <a:t>，</a:t>
                </a:r>
                <a:r>
                  <a:rPr lang="zh-CN" altLang="zh-CN" sz="2800" dirty="0">
                    <a:latin typeface="Times New Roman" panose="02020603050405020304" pitchFamily="18" charset="0"/>
                    <a:ea typeface="华文楷体" pitchFamily="2" charset="-122"/>
                    <a:cs typeface="Times New Roman" panose="02020603050405020304" pitchFamily="18" charset="0"/>
                  </a:rPr>
                  <a:t>若关系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有如下特点： </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971550" lvl="1" indent="-514350">
                  <a:buFont typeface="+mj-lt"/>
                  <a:buAutoNum type="arabicPeriod"/>
                </a:pPr>
                <a:r>
                  <a:rPr lang="zh-CN" altLang="en-US" sz="2400" dirty="0">
                    <a:latin typeface="Times New Roman" panose="02020603050405020304" pitchFamily="18" charset="0"/>
                    <a:ea typeface="华文楷体" pitchFamily="2" charset="-122"/>
                    <a:cs typeface="Times New Roman" panose="02020603050405020304" pitchFamily="18" charset="0"/>
                  </a:rPr>
                  <a:t>自反性：对任意</a:t>
                </a:r>
                <a:r>
                  <a:rPr lang="en-US" altLang="zh-CN" sz="2400" i="1" dirty="0">
                    <a:latin typeface="Times New Roman" panose="02020603050405020304" pitchFamily="18" charset="0"/>
                    <a:ea typeface="华文楷体" pitchFamily="2" charset="-122"/>
                    <a:cs typeface="Times New Roman" panose="02020603050405020304" pitchFamily="18" charset="0"/>
                  </a:rPr>
                  <a:t>a</a:t>
                </a:r>
                <a:r>
                  <a:rPr lang="zh-CN" altLang="zh-CN" sz="2400" dirty="0">
                    <a:latin typeface="Times New Roman" panose="02020603050405020304" pitchFamily="18" charset="0"/>
                    <a:ea typeface="华文楷体" pitchFamily="2" charset="-122"/>
                    <a:cs typeface="Times New Roman" panose="02020603050405020304" pitchFamily="18" charset="0"/>
                  </a:rPr>
                  <a:t> ∈</a:t>
                </a:r>
                <a:r>
                  <a:rPr lang="en-US" altLang="zh-CN" sz="2400" dirty="0">
                    <a:latin typeface="Times New Roman" panose="02020603050405020304" pitchFamily="18" charset="0"/>
                    <a:ea typeface="华文楷体" pitchFamily="2" charset="-122"/>
                    <a:cs typeface="Times New Roman" panose="02020603050405020304" pitchFamily="18" charset="0"/>
                  </a:rPr>
                  <a:t>X</a:t>
                </a:r>
                <a:r>
                  <a:rPr lang="zh-CN" altLang="en-US" sz="2400" dirty="0">
                    <a:latin typeface="Times New Roman" panose="02020603050405020304" pitchFamily="18" charset="0"/>
                    <a:ea typeface="华文楷体" pitchFamily="2" charset="-122"/>
                    <a:cs typeface="Times New Roman" panose="02020603050405020304" pitchFamily="18" charset="0"/>
                  </a:rPr>
                  <a:t>，有</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en-US" altLang="zh-CN" sz="2400" dirty="0" err="1">
                    <a:latin typeface="Times New Roman" panose="02020603050405020304" pitchFamily="18" charset="0"/>
                    <a:ea typeface="华文楷体" pitchFamily="2" charset="-122"/>
                    <a:cs typeface="Times New Roman" panose="02020603050405020304" pitchFamily="18" charset="0"/>
                  </a:rPr>
                  <a:t>R</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zh-CN" altLang="en-US" sz="2400" dirty="0">
                    <a:latin typeface="Times New Roman" panose="02020603050405020304" pitchFamily="18" charset="0"/>
                    <a:ea typeface="华文楷体" pitchFamily="2" charset="-122"/>
                    <a:cs typeface="Times New Roman" panose="02020603050405020304" pitchFamily="18" charset="0"/>
                  </a:rPr>
                  <a:t>；</a:t>
                </a:r>
                <a:endParaRPr lang="en-US" altLang="zh-CN" sz="2400" dirty="0">
                  <a:latin typeface="Times New Roman" panose="02020603050405020304" pitchFamily="18" charset="0"/>
                  <a:ea typeface="华文楷体" pitchFamily="2" charset="-122"/>
                  <a:cs typeface="Times New Roman" panose="02020603050405020304" pitchFamily="18" charset="0"/>
                </a:endParaRPr>
              </a:p>
              <a:p>
                <a:pPr marL="971550" lvl="1" indent="-514350">
                  <a:buFont typeface="+mj-lt"/>
                  <a:buAutoNum type="arabicPeriod"/>
                </a:pPr>
                <a:r>
                  <a:rPr lang="zh-CN" altLang="en-US" sz="2400" dirty="0">
                    <a:latin typeface="Times New Roman" panose="02020603050405020304" pitchFamily="18" charset="0"/>
                    <a:ea typeface="华文楷体" pitchFamily="2" charset="-122"/>
                    <a:cs typeface="Times New Roman" panose="02020603050405020304" pitchFamily="18" charset="0"/>
                  </a:rPr>
                  <a:t>反对称性：对任意</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en-US" altLang="zh-CN" sz="2400" dirty="0" err="1">
                    <a:latin typeface="Times New Roman" panose="02020603050405020304" pitchFamily="18" charset="0"/>
                    <a:ea typeface="华文楷体" pitchFamily="2" charset="-122"/>
                    <a:cs typeface="Times New Roman" panose="02020603050405020304" pitchFamily="18" charset="0"/>
                  </a:rPr>
                  <a:t>,</a:t>
                </a:r>
                <a:r>
                  <a:rPr lang="en-US" altLang="zh-CN" sz="2400" i="1" dirty="0" err="1">
                    <a:latin typeface="Times New Roman" panose="02020603050405020304" pitchFamily="18" charset="0"/>
                    <a:ea typeface="华文楷体" pitchFamily="2" charset="-122"/>
                    <a:cs typeface="Times New Roman" panose="02020603050405020304" pitchFamily="18" charset="0"/>
                  </a:rPr>
                  <a:t>b</a:t>
                </a:r>
                <a:r>
                  <a:rPr lang="zh-CN" altLang="zh-CN" sz="2400" dirty="0">
                    <a:latin typeface="Times New Roman" panose="02020603050405020304" pitchFamily="18" charset="0"/>
                    <a:ea typeface="华文楷体" pitchFamily="2" charset="-122"/>
                    <a:cs typeface="Times New Roman" panose="02020603050405020304" pitchFamily="18" charset="0"/>
                  </a:rPr>
                  <a:t> ∈</a:t>
                </a:r>
                <a:r>
                  <a:rPr lang="en-US" altLang="zh-CN" sz="2400" dirty="0">
                    <a:latin typeface="Times New Roman" panose="02020603050405020304" pitchFamily="18" charset="0"/>
                    <a:ea typeface="华文楷体" pitchFamily="2" charset="-122"/>
                    <a:cs typeface="Times New Roman" panose="02020603050405020304" pitchFamily="18" charset="0"/>
                  </a:rPr>
                  <a:t>X</a:t>
                </a:r>
                <a:r>
                  <a:rPr lang="zh-CN" altLang="en-US" sz="2400" dirty="0">
                    <a:latin typeface="Times New Roman" panose="02020603050405020304" pitchFamily="18" charset="0"/>
                    <a:ea typeface="华文楷体" pitchFamily="2" charset="-122"/>
                    <a:cs typeface="Times New Roman" panose="02020603050405020304" pitchFamily="18" charset="0"/>
                  </a:rPr>
                  <a:t>，若</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en-US" altLang="zh-CN" sz="2400" dirty="0" err="1">
                    <a:latin typeface="Times New Roman" panose="02020603050405020304" pitchFamily="18" charset="0"/>
                    <a:ea typeface="华文楷体" pitchFamily="2" charset="-122"/>
                    <a:cs typeface="Times New Roman" panose="02020603050405020304" pitchFamily="18" charset="0"/>
                  </a:rPr>
                  <a:t>R</a:t>
                </a:r>
                <a:r>
                  <a:rPr lang="en-US" altLang="zh-CN" sz="2400" i="1" dirty="0" err="1">
                    <a:latin typeface="Times New Roman" panose="02020603050405020304" pitchFamily="18" charset="0"/>
                    <a:ea typeface="华文楷体" pitchFamily="2" charset="-122"/>
                    <a:cs typeface="Times New Roman" panose="02020603050405020304" pitchFamily="18" charset="0"/>
                  </a:rPr>
                  <a:t>b</a:t>
                </a:r>
                <a:r>
                  <a:rPr lang="zh-CN" altLang="en-US" sz="2400" dirty="0">
                    <a:latin typeface="Times New Roman" panose="02020603050405020304" pitchFamily="18" charset="0"/>
                    <a:ea typeface="华文楷体" pitchFamily="2" charset="-122"/>
                    <a:cs typeface="Times New Roman" panose="02020603050405020304" pitchFamily="18" charset="0"/>
                  </a:rPr>
                  <a:t>，且</a:t>
                </a:r>
                <a:r>
                  <a:rPr lang="en-US" altLang="zh-CN" sz="2400" i="1" dirty="0" err="1">
                    <a:latin typeface="Times New Roman" panose="02020603050405020304" pitchFamily="18" charset="0"/>
                    <a:ea typeface="华文楷体" pitchFamily="2" charset="-122"/>
                    <a:cs typeface="Times New Roman" panose="02020603050405020304" pitchFamily="18" charset="0"/>
                  </a:rPr>
                  <a:t>b</a:t>
                </a:r>
                <a:r>
                  <a:rPr lang="en-US" altLang="zh-CN" sz="2400" dirty="0" err="1">
                    <a:latin typeface="Times New Roman" panose="02020603050405020304" pitchFamily="18" charset="0"/>
                    <a:ea typeface="华文楷体" pitchFamily="2" charset="-122"/>
                    <a:cs typeface="Times New Roman" panose="02020603050405020304" pitchFamily="18" charset="0"/>
                  </a:rPr>
                  <a:t>R</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zh-CN" altLang="en-US" sz="2400" dirty="0">
                    <a:latin typeface="Times New Roman" panose="02020603050405020304" pitchFamily="18" charset="0"/>
                    <a:ea typeface="华文楷体" pitchFamily="2" charset="-122"/>
                    <a:cs typeface="Times New Roman" panose="02020603050405020304" pitchFamily="18" charset="0"/>
                  </a:rPr>
                  <a:t>，则</a:t>
                </a:r>
                <a:r>
                  <a:rPr lang="en-US" altLang="zh-CN" sz="2400" i="1" dirty="0">
                    <a:latin typeface="Times New Roman" panose="02020603050405020304" pitchFamily="18" charset="0"/>
                    <a:ea typeface="华文楷体" pitchFamily="2" charset="-122"/>
                    <a:cs typeface="Times New Roman" panose="02020603050405020304" pitchFamily="18" charset="0"/>
                  </a:rPr>
                  <a:t>a</a:t>
                </a:r>
                <a:r>
                  <a:rPr lang="en-US" altLang="zh-CN" sz="2400" dirty="0">
                    <a:latin typeface="Times New Roman" panose="02020603050405020304" pitchFamily="18" charset="0"/>
                    <a:ea typeface="华文楷体" pitchFamily="2" charset="-122"/>
                    <a:cs typeface="Times New Roman" panose="02020603050405020304" pitchFamily="18" charset="0"/>
                  </a:rPr>
                  <a:t>=</a:t>
                </a:r>
                <a:r>
                  <a:rPr lang="en-US" altLang="zh-CN" sz="2400" i="1" dirty="0">
                    <a:latin typeface="Times New Roman" panose="02020603050405020304" pitchFamily="18" charset="0"/>
                    <a:ea typeface="华文楷体" pitchFamily="2" charset="-122"/>
                    <a:cs typeface="Times New Roman" panose="02020603050405020304" pitchFamily="18" charset="0"/>
                  </a:rPr>
                  <a:t>b</a:t>
                </a:r>
                <a:r>
                  <a:rPr lang="zh-CN" altLang="en-US" sz="2400" dirty="0">
                    <a:latin typeface="Times New Roman" panose="02020603050405020304" pitchFamily="18" charset="0"/>
                    <a:ea typeface="华文楷体" pitchFamily="2" charset="-122"/>
                    <a:cs typeface="Times New Roman" panose="02020603050405020304" pitchFamily="18" charset="0"/>
                  </a:rPr>
                  <a:t>；</a:t>
                </a:r>
                <a:endParaRPr lang="en-US" altLang="zh-CN" sz="2400" dirty="0">
                  <a:latin typeface="Times New Roman" panose="02020603050405020304" pitchFamily="18" charset="0"/>
                  <a:ea typeface="华文楷体" pitchFamily="2" charset="-122"/>
                  <a:cs typeface="Times New Roman" panose="02020603050405020304" pitchFamily="18" charset="0"/>
                </a:endParaRPr>
              </a:p>
              <a:p>
                <a:pPr marL="971550" lvl="1" indent="-514350">
                  <a:buFont typeface="+mj-lt"/>
                  <a:buAutoNum type="arabicPeriod"/>
                </a:pPr>
                <a:r>
                  <a:rPr lang="zh-CN" altLang="en-US" sz="2400" dirty="0">
                    <a:latin typeface="Times New Roman" panose="02020603050405020304" pitchFamily="18" charset="0"/>
                    <a:ea typeface="华文楷体" pitchFamily="2" charset="-122"/>
                    <a:cs typeface="Times New Roman" panose="02020603050405020304" pitchFamily="18" charset="0"/>
                  </a:rPr>
                  <a:t>传递性：对任意</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en-US" altLang="zh-CN" sz="2400" dirty="0" err="1">
                    <a:latin typeface="Times New Roman" panose="02020603050405020304" pitchFamily="18" charset="0"/>
                    <a:ea typeface="华文楷体" pitchFamily="2" charset="-122"/>
                    <a:cs typeface="Times New Roman" panose="02020603050405020304" pitchFamily="18" charset="0"/>
                  </a:rPr>
                  <a:t>,</a:t>
                </a:r>
                <a:r>
                  <a:rPr lang="en-US" altLang="zh-CN" sz="2400" i="1" dirty="0" err="1">
                    <a:latin typeface="Times New Roman" panose="02020603050405020304" pitchFamily="18" charset="0"/>
                    <a:ea typeface="华文楷体" pitchFamily="2" charset="-122"/>
                    <a:cs typeface="Times New Roman" panose="02020603050405020304" pitchFamily="18" charset="0"/>
                  </a:rPr>
                  <a:t>b</a:t>
                </a:r>
                <a:r>
                  <a:rPr lang="en-US" altLang="zh-CN" sz="2400" dirty="0" err="1">
                    <a:latin typeface="Times New Roman" panose="02020603050405020304" pitchFamily="18" charset="0"/>
                    <a:ea typeface="华文楷体" pitchFamily="2" charset="-122"/>
                    <a:cs typeface="Times New Roman" panose="02020603050405020304" pitchFamily="18" charset="0"/>
                  </a:rPr>
                  <a:t>,</a:t>
                </a:r>
                <a:r>
                  <a:rPr lang="en-US" altLang="zh-CN" sz="2400" i="1" dirty="0" err="1">
                    <a:latin typeface="Times New Roman" panose="02020603050405020304" pitchFamily="18" charset="0"/>
                    <a:ea typeface="华文楷体" pitchFamily="2" charset="-122"/>
                    <a:cs typeface="Times New Roman" panose="02020603050405020304" pitchFamily="18" charset="0"/>
                  </a:rPr>
                  <a:t>c</a:t>
                </a:r>
                <a:r>
                  <a:rPr lang="zh-CN" altLang="zh-CN" sz="2400" dirty="0">
                    <a:latin typeface="Times New Roman" panose="02020603050405020304" pitchFamily="18" charset="0"/>
                    <a:ea typeface="华文楷体" pitchFamily="2" charset="-122"/>
                    <a:cs typeface="Times New Roman" panose="02020603050405020304" pitchFamily="18" charset="0"/>
                  </a:rPr>
                  <a:t> ∈</a:t>
                </a:r>
                <a:r>
                  <a:rPr lang="en-US" altLang="zh-CN" sz="2400" dirty="0">
                    <a:latin typeface="Times New Roman" panose="02020603050405020304" pitchFamily="18" charset="0"/>
                    <a:ea typeface="华文楷体" pitchFamily="2" charset="-122"/>
                    <a:cs typeface="Times New Roman" panose="02020603050405020304" pitchFamily="18" charset="0"/>
                  </a:rPr>
                  <a:t>X</a:t>
                </a:r>
                <a:r>
                  <a:rPr lang="zh-CN" altLang="en-US" sz="2400" dirty="0">
                    <a:latin typeface="Times New Roman" panose="02020603050405020304" pitchFamily="18" charset="0"/>
                    <a:ea typeface="华文楷体" pitchFamily="2" charset="-122"/>
                    <a:cs typeface="Times New Roman" panose="02020603050405020304" pitchFamily="18" charset="0"/>
                  </a:rPr>
                  <a:t>，若</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en-US" altLang="zh-CN" sz="2400" dirty="0" err="1">
                    <a:latin typeface="Times New Roman" panose="02020603050405020304" pitchFamily="18" charset="0"/>
                    <a:ea typeface="华文楷体" pitchFamily="2" charset="-122"/>
                    <a:cs typeface="Times New Roman" panose="02020603050405020304" pitchFamily="18" charset="0"/>
                  </a:rPr>
                  <a:t>R</a:t>
                </a:r>
                <a:r>
                  <a:rPr lang="en-US" altLang="zh-CN" sz="2400" i="1" dirty="0" err="1">
                    <a:latin typeface="Times New Roman" panose="02020603050405020304" pitchFamily="18" charset="0"/>
                    <a:ea typeface="华文楷体" pitchFamily="2" charset="-122"/>
                    <a:cs typeface="Times New Roman" panose="02020603050405020304" pitchFamily="18" charset="0"/>
                  </a:rPr>
                  <a:t>b</a:t>
                </a:r>
                <a:r>
                  <a:rPr lang="zh-CN" altLang="en-US" sz="2400" dirty="0">
                    <a:latin typeface="Times New Roman" panose="02020603050405020304" pitchFamily="18" charset="0"/>
                    <a:ea typeface="华文楷体" pitchFamily="2" charset="-122"/>
                    <a:cs typeface="Times New Roman" panose="02020603050405020304" pitchFamily="18" charset="0"/>
                  </a:rPr>
                  <a:t>，且</a:t>
                </a:r>
                <a:r>
                  <a:rPr lang="en-US" altLang="zh-CN" sz="2400" i="1" dirty="0" err="1">
                    <a:latin typeface="Times New Roman" panose="02020603050405020304" pitchFamily="18" charset="0"/>
                    <a:ea typeface="华文楷体" pitchFamily="2" charset="-122"/>
                    <a:cs typeface="Times New Roman" panose="02020603050405020304" pitchFamily="18" charset="0"/>
                  </a:rPr>
                  <a:t>b</a:t>
                </a:r>
                <a:r>
                  <a:rPr lang="en-US" altLang="zh-CN" sz="2400" dirty="0" err="1">
                    <a:latin typeface="Times New Roman" panose="02020603050405020304" pitchFamily="18" charset="0"/>
                    <a:ea typeface="华文楷体" pitchFamily="2" charset="-122"/>
                    <a:cs typeface="Times New Roman" panose="02020603050405020304" pitchFamily="18" charset="0"/>
                  </a:rPr>
                  <a:t>R</a:t>
                </a:r>
                <a:r>
                  <a:rPr lang="en-US" altLang="zh-CN" sz="2400" i="1" dirty="0" err="1">
                    <a:latin typeface="Times New Roman" panose="02020603050405020304" pitchFamily="18" charset="0"/>
                    <a:ea typeface="华文楷体" pitchFamily="2" charset="-122"/>
                    <a:cs typeface="Times New Roman" panose="02020603050405020304" pitchFamily="18" charset="0"/>
                  </a:rPr>
                  <a:t>c</a:t>
                </a:r>
                <a:r>
                  <a:rPr lang="zh-CN" altLang="en-US" sz="2400" dirty="0">
                    <a:latin typeface="Times New Roman" panose="02020603050405020304" pitchFamily="18" charset="0"/>
                    <a:ea typeface="华文楷体" pitchFamily="2" charset="-122"/>
                    <a:cs typeface="Times New Roman" panose="02020603050405020304" pitchFamily="18" charset="0"/>
                  </a:rPr>
                  <a:t>，则</a:t>
                </a:r>
                <a:r>
                  <a:rPr lang="en-US" altLang="zh-CN" sz="2400" i="1" dirty="0" err="1">
                    <a:latin typeface="Times New Roman" panose="02020603050405020304" pitchFamily="18" charset="0"/>
                    <a:ea typeface="华文楷体" pitchFamily="2" charset="-122"/>
                    <a:cs typeface="Times New Roman" panose="02020603050405020304" pitchFamily="18" charset="0"/>
                  </a:rPr>
                  <a:t>a</a:t>
                </a:r>
                <a:r>
                  <a:rPr lang="en-US" altLang="zh-CN" sz="2400" dirty="0" err="1">
                    <a:latin typeface="Times New Roman" panose="02020603050405020304" pitchFamily="18" charset="0"/>
                    <a:ea typeface="华文楷体" pitchFamily="2" charset="-122"/>
                    <a:cs typeface="Times New Roman" panose="02020603050405020304" pitchFamily="18" charset="0"/>
                  </a:rPr>
                  <a:t>R</a:t>
                </a:r>
                <a:r>
                  <a:rPr lang="en-US" altLang="zh-CN" sz="2400" i="1" dirty="0" err="1">
                    <a:latin typeface="Times New Roman" panose="02020603050405020304" pitchFamily="18" charset="0"/>
                    <a:ea typeface="华文楷体" pitchFamily="2" charset="-122"/>
                    <a:cs typeface="Times New Roman" panose="02020603050405020304" pitchFamily="18" charset="0"/>
                  </a:rPr>
                  <a:t>c</a:t>
                </a:r>
                <a:r>
                  <a:rPr lang="zh-CN" altLang="en-US" sz="2400" i="1" dirty="0">
                    <a:latin typeface="Times New Roman" panose="02020603050405020304" pitchFamily="18" charset="0"/>
                    <a:ea typeface="华文楷体" pitchFamily="2" charset="-122"/>
                    <a:cs typeface="Times New Roman" panose="02020603050405020304" pitchFamily="18" charset="0"/>
                  </a:rPr>
                  <a:t>。</a:t>
                </a:r>
                <a:endParaRPr lang="en-US" altLang="zh-CN" sz="24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indent="-357188">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若关系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是集合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a:t>
                </a:r>
                <a:r>
                  <a:rPr lang="zh-CN" altLang="en-US" sz="2800" dirty="0">
                    <a:latin typeface="Times New Roman" panose="02020603050405020304" pitchFamily="18" charset="0"/>
                    <a:ea typeface="华文楷体" pitchFamily="2" charset="-122"/>
                    <a:cs typeface="Times New Roman" panose="02020603050405020304" pitchFamily="18" charset="0"/>
                  </a:rPr>
                  <a:t>的</a:t>
                </a:r>
                <a:r>
                  <a:rPr lang="zh-CN" altLang="zh-CN" sz="2800" dirty="0">
                    <a:latin typeface="Times New Roman" panose="02020603050405020304" pitchFamily="18" charset="0"/>
                    <a:ea typeface="华文楷体" pitchFamily="2" charset="-122"/>
                    <a:cs typeface="Times New Roman" panose="02020603050405020304" pitchFamily="18" charset="0"/>
                  </a:rPr>
                  <a:t>偏序关系，且对于每个</a:t>
                </a:r>
                <a:r>
                  <a:rPr lang="en-US" altLang="zh-CN" sz="2800" i="1" dirty="0">
                    <a:latin typeface="Times New Roman" panose="02020603050405020304" pitchFamily="18" charset="0"/>
                    <a:ea typeface="华文楷体" pitchFamily="2" charset="-122"/>
                    <a:cs typeface="Times New Roman" panose="02020603050405020304" pitchFamily="18" charset="0"/>
                  </a:rPr>
                  <a:t>a</a:t>
                </a:r>
                <a:r>
                  <a:rPr lang="en-US" altLang="zh-CN" sz="2800" dirty="0">
                    <a:latin typeface="Times New Roman" panose="02020603050405020304" pitchFamily="18" charset="0"/>
                    <a:ea typeface="华文楷体" pitchFamily="2" charset="-122"/>
                    <a:cs typeface="Times New Roman" panose="02020603050405020304" pitchFamily="18" charset="0"/>
                  </a:rPr>
                  <a:t>, </a:t>
                </a:r>
                <a:r>
                  <a:rPr lang="en-US" altLang="zh-CN" sz="2800" i="1" dirty="0">
                    <a:latin typeface="Times New Roman" panose="02020603050405020304" pitchFamily="18" charset="0"/>
                    <a:ea typeface="华文楷体" pitchFamily="2" charset="-122"/>
                    <a:cs typeface="Times New Roman" panose="02020603050405020304" pitchFamily="18" charset="0"/>
                  </a:rPr>
                  <a:t>b</a:t>
                </a:r>
                <a:r>
                  <a:rPr lang="zh-CN" altLang="zh-CN" sz="2800" dirty="0">
                    <a:latin typeface="Times New Roman" panose="02020603050405020304" pitchFamily="18" charset="0"/>
                    <a:ea typeface="华文楷体" pitchFamily="2" charset="-122"/>
                    <a:cs typeface="Times New Roman" panose="02020603050405020304" pitchFamily="18" charset="0"/>
                  </a:rPr>
                  <a:t>∈</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，必有</a:t>
                </a:r>
                <a:r>
                  <a:rPr lang="en-US" altLang="zh-CN" sz="2800" i="1" dirty="0" err="1">
                    <a:latin typeface="Times New Roman" panose="02020603050405020304" pitchFamily="18" charset="0"/>
                    <a:ea typeface="华文楷体" pitchFamily="2" charset="-122"/>
                    <a:cs typeface="Times New Roman" panose="02020603050405020304" pitchFamily="18" charset="0"/>
                  </a:rPr>
                  <a:t>a</a:t>
                </a:r>
                <a:r>
                  <a:rPr lang="en-US" altLang="zh-CN" sz="2800" dirty="0" err="1">
                    <a:latin typeface="Times New Roman" panose="02020603050405020304" pitchFamily="18" charset="0"/>
                    <a:ea typeface="华文楷体" pitchFamily="2" charset="-122"/>
                    <a:cs typeface="Times New Roman" panose="02020603050405020304" pitchFamily="18" charset="0"/>
                  </a:rPr>
                  <a:t>R</a:t>
                </a:r>
                <a:r>
                  <a:rPr lang="en-US" altLang="zh-CN" sz="2800" i="1" dirty="0" err="1">
                    <a:latin typeface="Times New Roman" panose="02020603050405020304" pitchFamily="18" charset="0"/>
                    <a:ea typeface="华文楷体" pitchFamily="2" charset="-122"/>
                    <a:cs typeface="Times New Roman" panose="02020603050405020304" pitchFamily="18" charset="0"/>
                  </a:rPr>
                  <a:t>b</a:t>
                </a:r>
                <a:r>
                  <a:rPr lang="zh-CN" altLang="zh-CN" sz="2800" dirty="0">
                    <a:latin typeface="Times New Roman" panose="02020603050405020304" pitchFamily="18" charset="0"/>
                    <a:ea typeface="华文楷体" pitchFamily="2" charset="-122"/>
                    <a:cs typeface="Times New Roman" panose="02020603050405020304" pitchFamily="18" charset="0"/>
                  </a:rPr>
                  <a:t>或</a:t>
                </a:r>
                <a:r>
                  <a:rPr lang="en-US" altLang="zh-CN" sz="2800" i="1" dirty="0" err="1">
                    <a:latin typeface="Times New Roman" panose="02020603050405020304" pitchFamily="18" charset="0"/>
                    <a:ea typeface="华文楷体" pitchFamily="2" charset="-122"/>
                    <a:cs typeface="Times New Roman" panose="02020603050405020304" pitchFamily="18" charset="0"/>
                  </a:rPr>
                  <a:t>b</a:t>
                </a:r>
                <a:r>
                  <a:rPr lang="en-US" altLang="zh-CN" sz="2800" dirty="0" err="1">
                    <a:latin typeface="Times New Roman" panose="02020603050405020304" pitchFamily="18" charset="0"/>
                    <a:ea typeface="华文楷体" pitchFamily="2" charset="-122"/>
                    <a:cs typeface="Times New Roman" panose="02020603050405020304" pitchFamily="18" charset="0"/>
                  </a:rPr>
                  <a:t>R</a:t>
                </a:r>
                <a:r>
                  <a:rPr lang="en-US" altLang="zh-CN" sz="2800" i="1" dirty="0" err="1">
                    <a:latin typeface="Times New Roman" panose="02020603050405020304" pitchFamily="18" charset="0"/>
                    <a:ea typeface="华文楷体" pitchFamily="2" charset="-122"/>
                    <a:cs typeface="Times New Roman" panose="02020603050405020304" pitchFamily="18" charset="0"/>
                  </a:rPr>
                  <a:t>a</a:t>
                </a:r>
                <a:r>
                  <a:rPr lang="zh-CN" altLang="en-US" sz="2800" dirty="0">
                    <a:latin typeface="Times New Roman" panose="02020603050405020304" pitchFamily="18" charset="0"/>
                    <a:ea typeface="华文楷体" pitchFamily="2" charset="-122"/>
                    <a:cs typeface="Times New Roman" panose="02020603050405020304" pitchFamily="18" charset="0"/>
                  </a:rPr>
                  <a:t>（完全性），</a:t>
                </a:r>
                <a:r>
                  <a:rPr lang="zh-CN" altLang="zh-CN" sz="2800" dirty="0">
                    <a:latin typeface="Times New Roman" panose="02020603050405020304" pitchFamily="18" charset="0"/>
                    <a:ea typeface="华文楷体" pitchFamily="2" charset="-122"/>
                    <a:cs typeface="Times New Roman" panose="02020603050405020304" pitchFamily="18" charset="0"/>
                  </a:rPr>
                  <a:t>就称</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是集合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a:t>
                </a:r>
                <a:r>
                  <a:rPr lang="zh-CN" altLang="zh-CN" sz="2800" b="1" dirty="0">
                    <a:latin typeface="Times New Roman" panose="02020603050405020304" pitchFamily="18" charset="0"/>
                    <a:ea typeface="华文楷体" pitchFamily="2" charset="-122"/>
                    <a:cs typeface="Times New Roman" panose="02020603050405020304" pitchFamily="18" charset="0"/>
                  </a:rPr>
                  <a:t>全序关系</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a:r>
                  <a:rPr lang="zh-CN" altLang="en-US" sz="2800" dirty="0">
                    <a:latin typeface="Times New Roman" panose="02020603050405020304" pitchFamily="18" charset="0"/>
                    <a:ea typeface="华文楷体" pitchFamily="2" charset="-122"/>
                    <a:cs typeface="Times New Roman" panose="02020603050405020304" pitchFamily="18" charset="0"/>
                  </a:rPr>
                  <a:t>例：实数轴上的实数集合，以及集合上的</a:t>
                </a:r>
                <a14:m>
                  <m:oMath xmlns:m="http://schemas.openxmlformats.org/officeDocument/2006/math">
                    <m:r>
                      <a:rPr lang="zh-CN" altLang="en-US" sz="2800" i="1" smtClean="0">
                        <a:latin typeface="Cambria Math" panose="02040503050406030204" pitchFamily="18" charset="0"/>
                        <a:ea typeface="华文楷体" pitchFamily="2" charset="-122"/>
                      </a:rPr>
                      <m:t>≤</m:t>
                    </m:r>
                    <m:r>
                      <a:rPr lang="zh-CN" altLang="en-US" sz="2800" i="1">
                        <a:latin typeface="Cambria Math" panose="02040503050406030204" pitchFamily="18" charset="0"/>
                        <a:ea typeface="华文楷体" pitchFamily="2" charset="-122"/>
                      </a:rPr>
                      <m:t>关系</m:t>
                    </m:r>
                    <m:r>
                      <a:rPr lang="zh-CN" altLang="en-US" sz="2800" i="1" smtClean="0">
                        <a:latin typeface="Cambria Math" panose="02040503050406030204" pitchFamily="18" charset="0"/>
                        <a:ea typeface="华文楷体" pitchFamily="2" charset="-122"/>
                      </a:rPr>
                      <m:t>，</m:t>
                    </m:r>
                  </m:oMath>
                </a14:m>
                <a:r>
                  <a:rPr lang="zh-CN" altLang="en-US" sz="2800" dirty="0">
                    <a:latin typeface="Times New Roman" panose="02020603050405020304" pitchFamily="18" charset="0"/>
                    <a:ea typeface="华文楷体" pitchFamily="2" charset="-122"/>
                    <a:cs typeface="Times New Roman" panose="02020603050405020304" pitchFamily="18" charset="0"/>
                  </a:rPr>
                  <a:t>是实数集合上的全序关系。</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indent="-357188">
                  <a:buFont typeface="Wingdings" panose="05000000000000000000" pitchFamily="2" charset="2"/>
                  <a:buChar char="Ø"/>
                </a:pP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61745" y="1624426"/>
                <a:ext cx="11199778" cy="4647426"/>
              </a:xfrm>
              <a:prstGeom prst="rect">
                <a:avLst/>
              </a:prstGeom>
              <a:blipFill>
                <a:blip r:embed="rId3"/>
                <a:stretch>
                  <a:fillRect l="-925" t="-1573" r="-8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146216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拓扑</a:t>
            </a:r>
            <a:r>
              <a:rPr lang="zh-CN" altLang="en-US" dirty="0">
                <a:latin typeface="华文楷体" panose="02010600040101010101" pitchFamily="2" charset="-122"/>
                <a:ea typeface="华文楷体" panose="02010600040101010101" pitchFamily="2" charset="-122"/>
              </a:rPr>
              <a:t>序列和拓扑</a:t>
            </a:r>
            <a:r>
              <a:rPr lang="zh-CN" altLang="zh-CN" dirty="0">
                <a:latin typeface="华文楷体" panose="02010600040101010101" pitchFamily="2" charset="-122"/>
                <a:ea typeface="华文楷体" panose="02010600040101010101" pitchFamily="2" charset="-122"/>
              </a:rPr>
              <a:t>排序</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2" name="文本框 1"/>
              <p:cNvSpPr txBox="1"/>
              <p:nvPr/>
            </p:nvSpPr>
            <p:spPr>
              <a:xfrm>
                <a:off x="435481" y="1853026"/>
                <a:ext cx="10643544" cy="3143233"/>
              </a:xfrm>
              <a:prstGeom prst="rect">
                <a:avLst/>
              </a:prstGeom>
              <a:noFill/>
            </p:spPr>
            <p:txBody>
              <a:bodyPr wrap="square" rtlCol="0">
                <a:spAutoFit/>
              </a:bodyPr>
              <a:lstStyle/>
              <a:p>
                <a:pPr marL="357188" indent="-357188">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对集合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上的一个偏序关系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，通过将集合中原本不满足</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关系的所有</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元素对</a:t>
                </a:r>
                <a:r>
                  <a:rPr lang="zh-CN" altLang="zh-CN" sz="2800" dirty="0">
                    <a:latin typeface="Times New Roman" panose="02020603050405020304" pitchFamily="18" charset="0"/>
                    <a:ea typeface="华文楷体" pitchFamily="2" charset="-122"/>
                    <a:cs typeface="Times New Roman" panose="02020603050405020304" pitchFamily="18" charset="0"/>
                  </a:rPr>
                  <a:t>人为地补充设定拥有</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关系，从而将</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改变为集合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上的一个全序关系，并按照此全序关系将元素排成一个线性序列。</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indent="-357188">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在这个线性序列</a:t>
                </a:r>
                <a14:m>
                  <m:oMath xmlns:m="http://schemas.openxmlformats.org/officeDocument/2006/math">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1</m:t>
                        </m:r>
                      </m:sub>
                    </m:sSub>
                    <m:r>
                      <a:rPr lang="zh-CN" altLang="zh-CN" sz="2800">
                        <a:latin typeface="Cambria Math" panose="02040503050406030204" pitchFamily="18" charset="0"/>
                        <a:ea typeface="华文楷体" pitchFamily="2" charset="-122"/>
                      </a:rPr>
                      <m:t>、</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2</m:t>
                        </m:r>
                      </m:sub>
                    </m:sSub>
                    <m:r>
                      <a:rPr lang="zh-CN" altLang="zh-CN" sz="2800">
                        <a:latin typeface="Cambria Math" panose="02040503050406030204" pitchFamily="18" charset="0"/>
                        <a:ea typeface="华文楷体" pitchFamily="2" charset="-122"/>
                      </a:rPr>
                      <m:t>、</m:t>
                    </m:r>
                    <m:r>
                      <a:rPr lang="en-US" altLang="zh-CN" sz="2800">
                        <a:latin typeface="Cambria Math" panose="02040503050406030204" pitchFamily="18" charset="0"/>
                        <a:ea typeface="华文楷体" pitchFamily="2" charset="-122"/>
                      </a:rPr>
                      <m:t>…</m:t>
                    </m:r>
                    <m:r>
                      <a:rPr lang="zh-CN" altLang="zh-CN" sz="2800">
                        <a:latin typeface="Cambria Math" panose="02040503050406030204" pitchFamily="18" charset="0"/>
                        <a:ea typeface="华文楷体" pitchFamily="2" charset="-122"/>
                      </a:rPr>
                      <m:t>、</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𝑛</m:t>
                        </m:r>
                      </m:sub>
                    </m:sSub>
                  </m:oMath>
                </a14:m>
                <a:r>
                  <a:rPr lang="zh-CN" altLang="zh-CN" sz="2800" dirty="0">
                    <a:latin typeface="Times New Roman" panose="02020603050405020304" pitchFamily="18" charset="0"/>
                    <a:ea typeface="华文楷体" pitchFamily="2" charset="-122"/>
                    <a:cs typeface="Times New Roman" panose="02020603050405020304" pitchFamily="18" charset="0"/>
                  </a:rPr>
                  <a:t>中，如果</a:t>
                </a:r>
                <a:r>
                  <a:rPr lang="zh-CN" altLang="en-US" sz="2800" dirty="0">
                    <a:latin typeface="Times New Roman" panose="02020603050405020304" pitchFamily="18" charset="0"/>
                    <a:ea typeface="华文楷体" pitchFamily="2" charset="-122"/>
                    <a:cs typeface="Times New Roman" panose="02020603050405020304" pitchFamily="18" charset="0"/>
                  </a:rPr>
                  <a:t>偏序</a:t>
                </a:r>
                <a14:m>
                  <m:oMath xmlns:m="http://schemas.openxmlformats.org/officeDocument/2006/math">
                    <m:r>
                      <a:rPr lang="zh-CN" altLang="en-US" sz="2800" i="1" dirty="0">
                        <a:latin typeface="Cambria Math" panose="02040503050406030204" pitchFamily="18" charset="0"/>
                        <a:ea typeface="华文楷体" pitchFamily="2" charset="-122"/>
                      </a:rPr>
                      <m:t>关系</m:t>
                    </m:r>
                    <m:r>
                      <a:rPr lang="zh-CN" altLang="en-US" sz="2800" i="1" dirty="0" smtClean="0">
                        <a:latin typeface="Cambria Math" panose="02040503050406030204" pitchFamily="18" charset="0"/>
                        <a:ea typeface="华文楷体" pitchFamily="2" charset="-122"/>
                      </a:rPr>
                      <m:t>中</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𝑖</m:t>
                        </m:r>
                      </m:sub>
                    </m:sSub>
                    <m:r>
                      <a:rPr lang="en-US" altLang="zh-CN" sz="2800">
                        <a:latin typeface="Cambria Math" panose="02040503050406030204" pitchFamily="18" charset="0"/>
                        <a:ea typeface="华文楷体" pitchFamily="2" charset="-122"/>
                      </a:rPr>
                      <m:t>𝑅</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𝑗</m:t>
                        </m:r>
                      </m:sub>
                    </m:sSub>
                  </m:oMath>
                </a14:m>
                <a:r>
                  <a:rPr lang="zh-CN" altLang="zh-CN" sz="2800" dirty="0">
                    <a:latin typeface="Times New Roman" panose="02020603050405020304" pitchFamily="18" charset="0"/>
                    <a:ea typeface="华文楷体" pitchFamily="2" charset="-122"/>
                    <a:cs typeface="Times New Roman" panose="02020603050405020304" pitchFamily="18" charset="0"/>
                  </a:rPr>
                  <a:t>，必有个</a:t>
                </a:r>
                <a:r>
                  <a:rPr lang="en-US" altLang="zh-CN" sz="2800" dirty="0" err="1">
                    <a:latin typeface="Times New Roman" panose="02020603050405020304" pitchFamily="18" charset="0"/>
                    <a:ea typeface="华文楷体" pitchFamily="2" charset="-122"/>
                    <a:cs typeface="Times New Roman" panose="02020603050405020304" pitchFamily="18" charset="0"/>
                  </a:rPr>
                  <a:t>i</a:t>
                </a:r>
                <a14:m>
                  <m:oMath xmlns:m="http://schemas.openxmlformats.org/officeDocument/2006/math">
                    <m:r>
                      <a:rPr lang="en-US" altLang="zh-CN" sz="2800">
                        <a:latin typeface="Cambria Math" panose="02040503050406030204" pitchFamily="18" charset="0"/>
                        <a:ea typeface="华文楷体" pitchFamily="2" charset="-122"/>
                      </a:rPr>
                      <m:t>≤</m:t>
                    </m:r>
                    <m:r>
                      <m:rPr>
                        <m:sty m:val="p"/>
                      </m:rPr>
                      <a:rPr lang="en-US" altLang="zh-CN" sz="2800">
                        <a:latin typeface="Cambria Math" panose="02040503050406030204" pitchFamily="18" charset="0"/>
                        <a:ea typeface="华文楷体" pitchFamily="2" charset="-122"/>
                      </a:rPr>
                      <m:t>j</m:t>
                    </m:r>
                  </m:oMath>
                </a14:m>
                <a:r>
                  <a:rPr lang="zh-CN" altLang="zh-CN" sz="2800" dirty="0">
                    <a:latin typeface="Times New Roman" panose="02020603050405020304" pitchFamily="18" charset="0"/>
                    <a:ea typeface="华文楷体" pitchFamily="2" charset="-122"/>
                    <a:cs typeface="Times New Roman" panose="02020603050405020304" pitchFamily="18" charset="0"/>
                  </a:rPr>
                  <a:t>，这个序列称为</a:t>
                </a:r>
                <a:r>
                  <a:rPr lang="zh-CN" altLang="zh-CN" sz="2800" b="1" dirty="0">
                    <a:latin typeface="Times New Roman" panose="02020603050405020304" pitchFamily="18" charset="0"/>
                    <a:ea typeface="华文楷体" pitchFamily="2" charset="-122"/>
                    <a:cs typeface="Times New Roman" panose="02020603050405020304" pitchFamily="18" charset="0"/>
                  </a:rPr>
                  <a:t>拓扑序列</a:t>
                </a:r>
                <a:r>
                  <a:rPr lang="zh-CN" altLang="zh-CN" sz="2800" dirty="0">
                    <a:latin typeface="Times New Roman" panose="02020603050405020304" pitchFamily="18" charset="0"/>
                    <a:ea typeface="华文楷体" pitchFamily="2" charset="-122"/>
                    <a:cs typeface="Times New Roman" panose="02020603050405020304" pitchFamily="18" charset="0"/>
                  </a:rPr>
                  <a:t>，获得拓扑序列的操作称为</a:t>
                </a:r>
                <a:r>
                  <a:rPr lang="zh-CN" altLang="zh-CN" sz="2800" b="1" dirty="0">
                    <a:latin typeface="Times New Roman" panose="02020603050405020304" pitchFamily="18" charset="0"/>
                    <a:ea typeface="华文楷体" pitchFamily="2" charset="-122"/>
                    <a:cs typeface="Times New Roman" panose="02020603050405020304" pitchFamily="18" charset="0"/>
                  </a:rPr>
                  <a:t>拓扑排序</a:t>
                </a:r>
                <a:r>
                  <a:rPr lang="en-US" altLang="zh-CN" sz="2800" dirty="0">
                    <a:latin typeface="Times New Roman" panose="02020603050405020304" pitchFamily="18" charset="0"/>
                    <a:ea typeface="华文楷体" pitchFamily="2" charset="-122"/>
                    <a:cs typeface="Times New Roman" panose="02020603050405020304" pitchFamily="18" charset="0"/>
                  </a:rPr>
                  <a:t>(Topological Sort )</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35481" y="1853026"/>
                <a:ext cx="10643544" cy="3143233"/>
              </a:xfrm>
              <a:prstGeom prst="rect">
                <a:avLst/>
              </a:prstGeom>
              <a:blipFill>
                <a:blip r:embed="rId3"/>
                <a:stretch>
                  <a:fillRect l="-974" t="-2519" b="-4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3295850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t>AOV</a:t>
            </a:r>
            <a:r>
              <a:rPr lang="zh-CN" altLang="en-US" dirty="0"/>
              <a:t>网：</a:t>
            </a:r>
            <a:r>
              <a:rPr lang="zh-CN" altLang="zh-CN" dirty="0"/>
              <a:t>拓扑排序</a:t>
            </a:r>
            <a:r>
              <a:rPr lang="zh-CN" altLang="en-US" dirty="0"/>
              <a:t>问题</a:t>
            </a:r>
          </a:p>
        </p:txBody>
      </p:sp>
      <p:sp>
        <p:nvSpPr>
          <p:cNvPr id="2" name="文本框 1"/>
          <p:cNvSpPr txBox="1"/>
          <p:nvPr/>
        </p:nvSpPr>
        <p:spPr>
          <a:xfrm>
            <a:off x="357832" y="1610139"/>
            <a:ext cx="7395780" cy="4832092"/>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b="1" dirty="0">
                <a:latin typeface="Times New Roman" panose="02020603050405020304" pitchFamily="18" charset="0"/>
                <a:ea typeface="华文楷体" pitchFamily="2" charset="-122"/>
                <a:cs typeface="Times New Roman" panose="02020603050405020304" pitchFamily="18" charset="0"/>
              </a:rPr>
              <a:t>有向无环图</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en-US" altLang="zh-CN" sz="2800" dirty="0">
                <a:latin typeface="Times New Roman" panose="02020603050405020304" pitchFamily="18" charset="0"/>
                <a:ea typeface="华文楷体" pitchFamily="2" charset="-122"/>
                <a:cs typeface="Times New Roman" panose="02020603050405020304" pitchFamily="18" charset="0"/>
              </a:rPr>
              <a:t>DAG</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zh-CN" altLang="zh-CN" sz="2800" dirty="0">
                <a:latin typeface="Times New Roman" panose="02020603050405020304" pitchFamily="18" charset="0"/>
                <a:ea typeface="华文楷体" pitchFamily="2" charset="-122"/>
                <a:cs typeface="Times New Roman" panose="02020603050405020304" pitchFamily="18" charset="0"/>
              </a:rPr>
              <a:t>，反映了计算机专业部分课程的先修关系。图中顶点代表了课程，课程之间用有向边相连，表达了课程间的先修关系，可以看出它是一个偏序关系。</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通过拓扑排序安排一张课程先后次序表，使得所有课程排成一个线性序列。这时的先修关系就是这组课程集合上的一个全序关系，这个线性序列就是原本图中表达的关系的一个拓扑序列。</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7900988" y="2063666"/>
            <a:ext cx="4065058" cy="3265570"/>
          </a:xfrm>
          <a:prstGeom prst="rect">
            <a:avLst/>
          </a:prstGeom>
          <a:noFill/>
          <a:ln>
            <a:noFill/>
          </a:ln>
        </p:spPr>
      </p:pic>
    </p:spTree>
    <p:extLst>
      <p:ext uri="{BB962C8B-B14F-4D97-AF65-F5344CB8AC3E}">
        <p14:creationId xmlns:p14="http://schemas.microsoft.com/office/powerpoint/2010/main" val="289619138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t>AOV</a:t>
            </a:r>
            <a:r>
              <a:rPr lang="zh-CN" altLang="en-US" dirty="0"/>
              <a:t>网：</a:t>
            </a:r>
            <a:r>
              <a:rPr lang="zh-CN" altLang="zh-CN" dirty="0"/>
              <a:t>拓扑排序</a:t>
            </a:r>
            <a:r>
              <a:rPr lang="zh-CN" altLang="en-US" dirty="0"/>
              <a:t>算法</a:t>
            </a:r>
          </a:p>
        </p:txBody>
      </p:sp>
      <p:sp>
        <p:nvSpPr>
          <p:cNvPr id="2" name="文本框 1"/>
          <p:cNvSpPr txBox="1"/>
          <p:nvPr/>
        </p:nvSpPr>
        <p:spPr>
          <a:xfrm>
            <a:off x="357831" y="1610139"/>
            <a:ext cx="11330586" cy="3970318"/>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首先在图中，找到入度为</a:t>
            </a:r>
            <a:r>
              <a:rPr lang="en-US" altLang="zh-CN" sz="2800" dirty="0">
                <a:latin typeface="Times New Roman" panose="02020603050405020304" pitchFamily="18" charset="0"/>
                <a:ea typeface="华文楷体" pitchFamily="2" charset="-122"/>
                <a:cs typeface="Times New Roman" panose="02020603050405020304" pitchFamily="18" charset="0"/>
              </a:rPr>
              <a:t>0</a:t>
            </a:r>
            <a:r>
              <a:rPr lang="zh-CN" altLang="zh-CN" sz="2800" dirty="0">
                <a:latin typeface="Times New Roman" panose="02020603050405020304" pitchFamily="18" charset="0"/>
                <a:ea typeface="华文楷体" pitchFamily="2" charset="-122"/>
                <a:cs typeface="Times New Roman" panose="02020603050405020304" pitchFamily="18" charset="0"/>
              </a:rPr>
              <a:t>的顶点，将这些顶点全部入</a:t>
            </a:r>
            <a:r>
              <a:rPr lang="zh-CN" altLang="en-US"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栈</a:t>
            </a:r>
            <a:r>
              <a:rPr lang="zh-CN" altLang="zh-CN" sz="2800" dirty="0">
                <a:latin typeface="Times New Roman" panose="02020603050405020304" pitchFamily="18" charset="0"/>
                <a:ea typeface="华文楷体" pitchFamily="2" charset="-122"/>
                <a:cs typeface="Times New Roman" panose="02020603050405020304" pitchFamily="18" charset="0"/>
              </a:rPr>
              <a:t>，然后反复循环判断栈是否空，非空则执行以下操作：</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lvl="1"/>
            <a:r>
              <a:rPr lang="zh-CN" altLang="zh-CN" sz="2800" dirty="0">
                <a:latin typeface="Times New Roman" panose="02020603050405020304" pitchFamily="18" charset="0"/>
                <a:ea typeface="华文楷体" pitchFamily="2" charset="-122"/>
                <a:cs typeface="Times New Roman" panose="02020603050405020304" pitchFamily="18" charset="0"/>
              </a:rPr>
              <a:t>顶点出栈</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zh-CN" altLang="zh-CN" sz="2800" dirty="0">
                <a:latin typeface="Times New Roman" panose="02020603050405020304" pitchFamily="18" charset="0"/>
                <a:ea typeface="华文楷体" pitchFamily="2" charset="-122"/>
                <a:cs typeface="Times New Roman" panose="02020603050405020304" pitchFamily="18" charset="0"/>
              </a:rPr>
              <a:t>如果由该顶点射出了</a:t>
            </a:r>
            <a:r>
              <a:rPr lang="en-US" altLang="zh-CN" sz="2800" dirty="0">
                <a:latin typeface="Times New Roman" panose="02020603050405020304" pitchFamily="18" charset="0"/>
                <a:ea typeface="华文楷体" pitchFamily="2" charset="-122"/>
                <a:cs typeface="Times New Roman" panose="02020603050405020304" pitchFamily="18" charset="0"/>
              </a:rPr>
              <a:t>m</a:t>
            </a:r>
            <a:r>
              <a:rPr lang="zh-CN" altLang="zh-CN" sz="2800" dirty="0">
                <a:latin typeface="Times New Roman" panose="02020603050405020304" pitchFamily="18" charset="0"/>
                <a:ea typeface="华文楷体" pitchFamily="2" charset="-122"/>
                <a:cs typeface="Times New Roman" panose="02020603050405020304" pitchFamily="18" charset="0"/>
              </a:rPr>
              <a:t>条有向边，射入的这</a:t>
            </a:r>
            <a:r>
              <a:rPr lang="en-US" altLang="zh-CN" sz="2800" dirty="0">
                <a:latin typeface="Times New Roman" panose="02020603050405020304" pitchFamily="18" charset="0"/>
                <a:ea typeface="华文楷体" pitchFamily="2" charset="-122"/>
                <a:cs typeface="Times New Roman" panose="02020603050405020304" pitchFamily="18" charset="0"/>
              </a:rPr>
              <a:t>m</a:t>
            </a:r>
            <a:r>
              <a:rPr lang="zh-CN" altLang="zh-CN" sz="2800" dirty="0">
                <a:latin typeface="Times New Roman" panose="02020603050405020304" pitchFamily="18" charset="0"/>
                <a:ea typeface="华文楷体" pitchFamily="2" charset="-122"/>
                <a:cs typeface="Times New Roman" panose="02020603050405020304" pitchFamily="18" charset="0"/>
              </a:rPr>
              <a:t>个邻接点的入度减一（相当于该顶点对其</a:t>
            </a:r>
            <a:r>
              <a:rPr lang="en-US" altLang="zh-CN" sz="2800" dirty="0">
                <a:latin typeface="Times New Roman" panose="02020603050405020304" pitchFamily="18" charset="0"/>
                <a:ea typeface="华文楷体" pitchFamily="2" charset="-122"/>
                <a:cs typeface="Times New Roman" panose="02020603050405020304" pitchFamily="18" charset="0"/>
              </a:rPr>
              <a:t>m</a:t>
            </a:r>
            <a:r>
              <a:rPr lang="zh-CN" altLang="zh-CN" sz="2800" dirty="0">
                <a:latin typeface="Times New Roman" panose="02020603050405020304" pitchFamily="18" charset="0"/>
                <a:ea typeface="华文楷体" pitchFamily="2" charset="-122"/>
                <a:cs typeface="Times New Roman" panose="02020603050405020304" pitchFamily="18" charset="0"/>
              </a:rPr>
              <a:t>个邻接顶点的先修约束已经消失），在各邻接点</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入度</a:t>
            </a:r>
            <a:r>
              <a:rPr lang="zh-CN" altLang="zh-CN" sz="2800" dirty="0">
                <a:latin typeface="Times New Roman" panose="02020603050405020304" pitchFamily="18" charset="0"/>
                <a:ea typeface="华文楷体" pitchFamily="2" charset="-122"/>
                <a:cs typeface="Times New Roman" panose="02020603050405020304" pitchFamily="18" charset="0"/>
              </a:rPr>
              <a:t>减一的过程中，一旦发现哪个邻接点的入度变为</a:t>
            </a:r>
            <a:r>
              <a:rPr lang="en-US" altLang="zh-CN" sz="2800" dirty="0">
                <a:latin typeface="Times New Roman" panose="02020603050405020304" pitchFamily="18" charset="0"/>
                <a:ea typeface="华文楷体" pitchFamily="2" charset="-122"/>
                <a:cs typeface="Times New Roman" panose="02020603050405020304" pitchFamily="18" charset="0"/>
              </a:rPr>
              <a:t>0</a:t>
            </a:r>
            <a:r>
              <a:rPr lang="zh-CN" altLang="zh-CN" sz="2800" dirty="0">
                <a:latin typeface="Times New Roman" panose="02020603050405020304" pitchFamily="18" charset="0"/>
                <a:ea typeface="华文楷体" pitchFamily="2" charset="-122"/>
                <a:cs typeface="Times New Roman" panose="02020603050405020304" pitchFamily="18" charset="0"/>
              </a:rPr>
              <a:t>，将它进栈</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zh-CN" altLang="zh-CN" sz="2800" dirty="0">
                <a:latin typeface="Times New Roman" panose="02020603050405020304" pitchFamily="18" charset="0"/>
                <a:ea typeface="华文楷体" pitchFamily="2" charset="-122"/>
                <a:cs typeface="Times New Roman" panose="02020603050405020304" pitchFamily="18" charset="0"/>
              </a:rPr>
              <a:t>然后再次回到循环，直到栈空。</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r>
              <a:rPr lang="zh-CN" altLang="zh-CN" sz="2800" dirty="0">
                <a:latin typeface="Times New Roman" panose="02020603050405020304" pitchFamily="18" charset="0"/>
                <a:ea typeface="华文楷体" pitchFamily="2" charset="-122"/>
                <a:cs typeface="Times New Roman" panose="02020603050405020304" pitchFamily="18" charset="0"/>
              </a:rPr>
              <a:t>在这个方法中，也可以使用</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队列</a:t>
            </a:r>
            <a:r>
              <a:rPr lang="zh-CN" altLang="zh-CN" sz="2800" dirty="0">
                <a:latin typeface="Times New Roman" panose="02020603050405020304" pitchFamily="18" charset="0"/>
                <a:ea typeface="华文楷体" pitchFamily="2" charset="-122"/>
                <a:cs typeface="Times New Roman" panose="02020603050405020304" pitchFamily="18" charset="0"/>
              </a:rPr>
              <a:t>来代替栈。</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58125970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拓扑排序算法示例：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61133" y="1620754"/>
            <a:ext cx="3694641" cy="2871733"/>
          </a:xfrm>
          <a:prstGeom prst="rect">
            <a:avLst/>
          </a:prstGeom>
          <a:noFill/>
          <a:ln>
            <a:noFill/>
          </a:ln>
        </p:spPr>
      </p:pic>
      <p:pic>
        <p:nvPicPr>
          <p:cNvPr id="5" name="图片 4"/>
          <p:cNvPicPr/>
          <p:nvPr/>
        </p:nvPicPr>
        <p:blipFill>
          <a:blip r:embed="rId4">
            <a:extLst>
              <a:ext uri="{28A0092B-C50C-407E-A947-70E740481C1C}">
                <a14:useLocalDpi xmlns:a14="http://schemas.microsoft.com/office/drawing/2010/main" val="0"/>
              </a:ext>
            </a:extLst>
          </a:blip>
          <a:srcRect/>
          <a:stretch>
            <a:fillRect/>
          </a:stretch>
        </p:blipFill>
        <p:spPr bwMode="auto">
          <a:xfrm>
            <a:off x="4058762" y="3137617"/>
            <a:ext cx="7365255" cy="3362574"/>
          </a:xfrm>
          <a:prstGeom prst="rect">
            <a:avLst/>
          </a:prstGeom>
          <a:noFill/>
          <a:ln>
            <a:noFill/>
          </a:ln>
        </p:spPr>
      </p:pic>
    </p:spTree>
    <p:extLst>
      <p:ext uri="{BB962C8B-B14F-4D97-AF65-F5344CB8AC3E}">
        <p14:creationId xmlns:p14="http://schemas.microsoft.com/office/powerpoint/2010/main" val="250606799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466973" y="1892782"/>
            <a:ext cx="8392644" cy="3772521"/>
          </a:xfrm>
          <a:prstGeom prst="rect">
            <a:avLst/>
          </a:prstGeom>
          <a:noFill/>
          <a:ln>
            <a:noFill/>
          </a:ln>
        </p:spPr>
      </p:pic>
    </p:spTree>
    <p:extLst>
      <p:ext uri="{BB962C8B-B14F-4D97-AF65-F5344CB8AC3E}">
        <p14:creationId xmlns:p14="http://schemas.microsoft.com/office/powerpoint/2010/main" val="35065724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923932" y="1890367"/>
            <a:ext cx="7837285" cy="3914085"/>
          </a:xfrm>
          <a:prstGeom prst="rect">
            <a:avLst/>
          </a:prstGeom>
          <a:noFill/>
          <a:ln>
            <a:noFill/>
          </a:ln>
        </p:spPr>
      </p:pic>
    </p:spTree>
    <p:extLst>
      <p:ext uri="{BB962C8B-B14F-4D97-AF65-F5344CB8AC3E}">
        <p14:creationId xmlns:p14="http://schemas.microsoft.com/office/powerpoint/2010/main" val="351196842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711398" y="1530628"/>
            <a:ext cx="7333211" cy="3796746"/>
          </a:xfrm>
          <a:prstGeom prst="rect">
            <a:avLst/>
          </a:prstGeom>
          <a:noFill/>
          <a:ln>
            <a:noFill/>
          </a:ln>
        </p:spPr>
      </p:pic>
      <p:sp>
        <p:nvSpPr>
          <p:cNvPr id="2" name="文本框 1"/>
          <p:cNvSpPr txBox="1"/>
          <p:nvPr/>
        </p:nvSpPr>
        <p:spPr>
          <a:xfrm>
            <a:off x="686733" y="5546035"/>
            <a:ext cx="8726557" cy="954107"/>
          </a:xfrm>
          <a:prstGeom prst="rect">
            <a:avLst/>
          </a:prstGeom>
          <a:noFill/>
        </p:spPr>
        <p:txBody>
          <a:bodyPr wrap="square" rtlCol="0">
            <a:spAutoFit/>
          </a:bodyPr>
          <a:lstStyle/>
          <a:p>
            <a:pPr marL="285750" indent="-285750">
              <a:buFont typeface="Wingdings" panose="05000000000000000000" pitchFamily="2" charset="2"/>
              <a:buChar char="Ø"/>
            </a:pPr>
            <a:r>
              <a:rPr lang="zh-CN" altLang="zh-CN" sz="2800" dirty="0">
                <a:latin typeface="华文楷体" pitchFamily="2" charset="-122"/>
                <a:ea typeface="华文楷体" pitchFamily="2" charset="-122"/>
              </a:rPr>
              <a:t>一个</a:t>
            </a:r>
            <a:r>
              <a:rPr lang="en-US" altLang="zh-CN" sz="2800" dirty="0">
                <a:latin typeface="华文楷体" pitchFamily="2" charset="-122"/>
                <a:ea typeface="华文楷体" pitchFamily="2" charset="-122"/>
              </a:rPr>
              <a:t>AOV</a:t>
            </a:r>
            <a:r>
              <a:rPr lang="zh-CN" altLang="zh-CN" sz="2800" dirty="0">
                <a:latin typeface="华文楷体" pitchFamily="2" charset="-122"/>
                <a:ea typeface="华文楷体" pitchFamily="2" charset="-122"/>
              </a:rPr>
              <a:t>网的拓扑序列不一定唯一</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pPr marL="285750" indent="-285750">
              <a:buFont typeface="Wingdings" panose="05000000000000000000" pitchFamily="2" charset="2"/>
              <a:buChar char="Ø"/>
            </a:pPr>
            <a:r>
              <a:rPr lang="zh-CN" altLang="zh-CN" sz="2800" dirty="0">
                <a:latin typeface="华文楷体" pitchFamily="2" charset="-122"/>
                <a:ea typeface="华文楷体" pitchFamily="2" charset="-122"/>
              </a:rPr>
              <a:t>利用拓扑排序算法可以判断一个有向图是否存在有环</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120165336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58699" y="5951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拓扑排序算法实现：</a:t>
            </a:r>
          </a:p>
        </p:txBody>
      </p:sp>
      <p:sp>
        <p:nvSpPr>
          <p:cNvPr id="2" name="文本框 1"/>
          <p:cNvSpPr txBox="1"/>
          <p:nvPr/>
        </p:nvSpPr>
        <p:spPr>
          <a:xfrm>
            <a:off x="658699" y="1385887"/>
            <a:ext cx="11162884"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topoSort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创建空间并初始化计算每个顶点的入度</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邻接矩阵每一列元素相加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加完入度为零的压栈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05092956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974034"/>
            <a:ext cx="11751962" cy="5262979"/>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逐一处理栈中的元素</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s.isEmpty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射出的边指示的邻接点入度减一，减为零时压栈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4151451" y="5085839"/>
                <a:ext cx="6871453" cy="830997"/>
              </a:xfrm>
              <a:prstGeom prst="rect">
                <a:avLst/>
              </a:prstGeom>
              <a:noFill/>
            </p:spPr>
            <p:txBody>
              <a:bodyPr wrap="square" rtlCol="0">
                <a:spAutoFit/>
              </a:bodyPr>
              <a:lstStyle/>
              <a:p>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算法的时间代价是</a:t>
                </a:r>
                <a14:m>
                  <m:oMath xmlns:m="http://schemas.openxmlformats.org/officeDocument/2006/math">
                    <m:r>
                      <m:rPr>
                        <m:sty m:val="p"/>
                      </m:rPr>
                      <a:rPr lang="en-US" altLang="zh-CN" sz="2400">
                        <a:latin typeface="Cambria Math" panose="02040503050406030204" pitchFamily="18" charset="0"/>
                      </a:rPr>
                      <m:t>O</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a:latin typeface="Cambria Math" panose="02040503050406030204" pitchFamily="18" charset="0"/>
                      </a:rPr>
                      <m:t>)</m:t>
                    </m:r>
                  </m:oMath>
                </a14:m>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如果图用邻接表来存储，时间代价为</a:t>
                </a:r>
                <a14:m>
                  <m:oMath xmlns:m="http://schemas.openxmlformats.org/officeDocument/2006/math">
                    <m:r>
                      <m:rPr>
                        <m:sty m:val="p"/>
                      </m:rPr>
                      <a:rPr lang="en-US" altLang="zh-CN" sz="2400">
                        <a:latin typeface="Cambria Math" panose="02040503050406030204" pitchFamily="18" charset="0"/>
                      </a:rPr>
                      <m:t>O</m:t>
                    </m:r>
                    <m:r>
                      <a:rPr lang="en-US" altLang="zh-CN" sz="2400">
                        <a:latin typeface="Cambria Math" panose="02040503050406030204" pitchFamily="18" charset="0"/>
                      </a:rPr>
                      <m:t>(</m:t>
                    </m:r>
                    <m:r>
                      <m:rPr>
                        <m:sty m:val="p"/>
                      </m:rPr>
                      <a:rPr lang="en-US" altLang="zh-CN" sz="2400">
                        <a:latin typeface="Cambria Math" panose="02040503050406030204" pitchFamily="18" charset="0"/>
                      </a:rPr>
                      <m:t>n</m:t>
                    </m:r>
                    <m:r>
                      <a:rPr lang="en-US" altLang="zh-CN" sz="2400">
                        <a:latin typeface="Cambria Math" panose="02040503050406030204" pitchFamily="18" charset="0"/>
                      </a:rPr>
                      <m:t>+</m:t>
                    </m:r>
                    <m:r>
                      <m:rPr>
                        <m:sty m:val="p"/>
                      </m:rPr>
                      <a:rPr lang="en-US" altLang="zh-CN" sz="2400">
                        <a:latin typeface="Cambria Math" panose="02040503050406030204" pitchFamily="18" charset="0"/>
                      </a:rPr>
                      <m:t>e</m:t>
                    </m:r>
                    <m:r>
                      <a:rPr lang="en-US" altLang="zh-CN" sz="2400">
                        <a:latin typeface="Cambria Math" panose="02040503050406030204" pitchFamily="18" charset="0"/>
                      </a:rPr>
                      <m:t>)</m:t>
                    </m:r>
                  </m:oMath>
                </a14:m>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151451" y="5085839"/>
                <a:ext cx="6871453" cy="830997"/>
              </a:xfrm>
              <a:prstGeom prst="rect">
                <a:avLst/>
              </a:prstGeom>
              <a:blipFill>
                <a:blip r:embed="rId3"/>
                <a:stretch>
                  <a:fillRect l="-1331" t="-5109" b="-16058"/>
                </a:stretch>
              </a:blipFill>
            </p:spPr>
            <p:txBody>
              <a:bodyPr/>
              <a:lstStyle/>
              <a:p>
                <a:r>
                  <a:rPr lang="zh-CN" altLang="en-US">
                    <a:noFill/>
                  </a:rPr>
                  <a:t> </a:t>
                </a:r>
              </a:p>
            </p:txBody>
          </p:sp>
        </mc:Fallback>
      </mc:AlternateContent>
      <p:sp>
        <p:nvSpPr>
          <p:cNvPr id="3" name="椭圆 2"/>
          <p:cNvSpPr/>
          <p:nvPr/>
        </p:nvSpPr>
        <p:spPr>
          <a:xfrm>
            <a:off x="11315700" y="6237013"/>
            <a:ext cx="200025" cy="3066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0092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30562" y="2721085"/>
            <a:ext cx="5856401"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a:t>
            </a: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网）拓扑排序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a:t>
            </a:r>
            <a:r>
              <a:rPr lang="en-US" altLang="zh-CN" sz="2800" dirty="0">
                <a:solidFill>
                  <a:srgbClr val="FF0000"/>
                </a:solidFill>
                <a:latin typeface="华文楷体" pitchFamily="2" charset="-122"/>
                <a:ea typeface="华文楷体" pitchFamily="2" charset="-122"/>
              </a:rPr>
              <a:t>AOE</a:t>
            </a:r>
            <a:r>
              <a:rPr lang="zh-CN" altLang="en-US" sz="2800" dirty="0">
                <a:solidFill>
                  <a:srgbClr val="FF0000"/>
                </a:solidFill>
                <a:latin typeface="华文楷体" pitchFamily="2" charset="-122"/>
                <a:ea typeface="华文楷体" pitchFamily="2" charset="-122"/>
              </a:rPr>
              <a:t>网）关键路径</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en-US" altLang="zh-CN" sz="3200" b="1" dirty="0">
                <a:latin typeface="Times New Roman" panose="02020603050405020304" pitchFamily="18" charset="0"/>
                <a:ea typeface="华文楷体" pitchFamily="2" charset="-122"/>
                <a:cs typeface="Times New Roman" panose="02020603050405020304" pitchFamily="18" charset="0"/>
              </a:rPr>
              <a:t>AOV</a:t>
            </a:r>
            <a:r>
              <a:rPr lang="zh-CN" altLang="en-US" sz="3200" b="1" dirty="0">
                <a:latin typeface="Times New Roman" panose="02020603050405020304" pitchFamily="18" charset="0"/>
                <a:ea typeface="华文楷体" pitchFamily="2" charset="-122"/>
                <a:cs typeface="Times New Roman" panose="02020603050405020304" pitchFamily="18" charset="0"/>
              </a:rPr>
              <a:t>网和</a:t>
            </a:r>
            <a:r>
              <a:rPr lang="en-US" altLang="zh-CN" sz="3200" b="1" dirty="0">
                <a:latin typeface="Times New Roman" panose="02020603050405020304" pitchFamily="18" charset="0"/>
                <a:ea typeface="华文楷体" pitchFamily="2" charset="-122"/>
                <a:cs typeface="Times New Roman" panose="02020603050405020304" pitchFamily="18" charset="0"/>
              </a:rPr>
              <a:t>AOE</a:t>
            </a:r>
            <a:r>
              <a:rPr lang="zh-CN" altLang="en-US" sz="3200" b="1" dirty="0">
                <a:latin typeface="Times New Roman" panose="02020603050405020304" pitchFamily="18" charset="0"/>
                <a:ea typeface="华文楷体" pitchFamily="2" charset="-122"/>
                <a:cs typeface="Times New Roman" panose="02020603050405020304" pitchFamily="18" charset="0"/>
              </a:rPr>
              <a:t>网：</a:t>
            </a:r>
          </a:p>
        </p:txBody>
      </p:sp>
    </p:spTree>
    <p:extLst>
      <p:ext uri="{BB962C8B-B14F-4D97-AF65-F5344CB8AC3E}">
        <p14:creationId xmlns:p14="http://schemas.microsoft.com/office/powerpoint/2010/main" val="107049117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455124"/>
            <a:ext cx="10910448" cy="1616690"/>
          </a:xfrm>
        </p:spPr>
        <p:txBody>
          <a:bodyPr>
            <a:normAutofit/>
          </a:bodyPr>
          <a:lstStyle/>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网将活动赋予</a:t>
            </a:r>
            <a:r>
              <a:rPr lang="zh-CN" altLang="zh-CN" sz="2800" b="0" dirty="0">
                <a:solidFill>
                  <a:schemeClr val="accent1">
                    <a:lumMod val="60000"/>
                    <a:lumOff val="40000"/>
                  </a:schemeClr>
                </a:solidFill>
                <a:ea typeface="华文楷体" pitchFamily="2" charset="-122"/>
                <a:cs typeface="Times New Roman" panose="02020603050405020304" pitchFamily="18" charset="0"/>
              </a:rPr>
              <a:t>边</a:t>
            </a:r>
            <a:r>
              <a:rPr lang="zh-CN" altLang="zh-CN" sz="2800" b="0" dirty="0">
                <a:ea typeface="华文楷体" pitchFamily="2" charset="-122"/>
                <a:cs typeface="Times New Roman" panose="02020603050405020304" pitchFamily="18" charset="0"/>
              </a:rPr>
              <a:t>之上，顶点表达了活动发生后到达的某种</a:t>
            </a:r>
            <a:r>
              <a:rPr lang="zh-CN" altLang="zh-CN" sz="2800" b="0" dirty="0">
                <a:solidFill>
                  <a:schemeClr val="accent1">
                    <a:lumMod val="60000"/>
                    <a:lumOff val="40000"/>
                  </a:schemeClr>
                </a:solidFill>
                <a:ea typeface="华文楷体" pitchFamily="2" charset="-122"/>
                <a:cs typeface="Times New Roman" panose="02020603050405020304" pitchFamily="18" charset="0"/>
              </a:rPr>
              <a:t>状态</a:t>
            </a:r>
            <a:r>
              <a:rPr lang="zh-CN" altLang="zh-CN" sz="2800" b="0" dirty="0">
                <a:ea typeface="华文楷体" pitchFamily="2" charset="-122"/>
                <a:cs typeface="Times New Roman" panose="02020603050405020304" pitchFamily="18" charset="0"/>
              </a:rPr>
              <a:t>或事件。某个状态或事件既意味着</a:t>
            </a:r>
            <a:r>
              <a:rPr lang="zh-CN" altLang="zh-CN" sz="2800" b="0" dirty="0">
                <a:solidFill>
                  <a:schemeClr val="accent1">
                    <a:lumMod val="60000"/>
                    <a:lumOff val="40000"/>
                  </a:schemeClr>
                </a:solidFill>
                <a:ea typeface="华文楷体" pitchFamily="2" charset="-122"/>
                <a:cs typeface="Times New Roman" panose="02020603050405020304" pitchFamily="18" charset="0"/>
              </a:rPr>
              <a:t>前面</a:t>
            </a:r>
            <a:r>
              <a:rPr lang="zh-CN" altLang="zh-CN" sz="2800" b="0" dirty="0">
                <a:ea typeface="华文楷体" pitchFamily="2" charset="-122"/>
                <a:cs typeface="Times New Roman" panose="02020603050405020304" pitchFamily="18" charset="0"/>
              </a:rPr>
              <a:t>所有的活动</a:t>
            </a:r>
            <a:r>
              <a:rPr lang="zh-CN" altLang="zh-CN" sz="2800" b="0" dirty="0">
                <a:solidFill>
                  <a:schemeClr val="accent1">
                    <a:lumMod val="60000"/>
                    <a:lumOff val="40000"/>
                  </a:schemeClr>
                </a:solidFill>
                <a:ea typeface="华文楷体" pitchFamily="2" charset="-122"/>
                <a:cs typeface="Times New Roman" panose="02020603050405020304" pitchFamily="18" charset="0"/>
              </a:rPr>
              <a:t>结束</a:t>
            </a:r>
            <a:r>
              <a:rPr lang="zh-CN" altLang="zh-CN" sz="2800" b="0" dirty="0">
                <a:ea typeface="华文楷体" pitchFamily="2" charset="-122"/>
                <a:cs typeface="Times New Roman" panose="02020603050405020304" pitchFamily="18" charset="0"/>
              </a:rPr>
              <a:t>，也意味着</a:t>
            </a:r>
            <a:r>
              <a:rPr lang="zh-CN" altLang="zh-CN" sz="2800" b="0" dirty="0">
                <a:solidFill>
                  <a:schemeClr val="accent1">
                    <a:lumMod val="60000"/>
                    <a:lumOff val="40000"/>
                  </a:schemeClr>
                </a:solidFill>
                <a:ea typeface="华文楷体" pitchFamily="2" charset="-122"/>
                <a:cs typeface="Times New Roman" panose="02020603050405020304" pitchFamily="18" charset="0"/>
              </a:rPr>
              <a:t>后面</a:t>
            </a:r>
            <a:r>
              <a:rPr lang="zh-CN" altLang="zh-CN" sz="2800" b="0" dirty="0">
                <a:ea typeface="华文楷体" pitchFamily="2" charset="-122"/>
                <a:cs typeface="Times New Roman" panose="02020603050405020304" pitchFamily="18" charset="0"/>
              </a:rPr>
              <a:t>的活动</a:t>
            </a:r>
            <a:r>
              <a:rPr lang="zh-CN" altLang="zh-CN" sz="2800" b="0" dirty="0">
                <a:solidFill>
                  <a:srgbClr val="FF0000"/>
                </a:solidFill>
                <a:ea typeface="华文楷体" pitchFamily="2" charset="-122"/>
                <a:cs typeface="Times New Roman" panose="02020603050405020304" pitchFamily="18" charset="0"/>
              </a:rPr>
              <a:t>可以</a:t>
            </a:r>
            <a:r>
              <a:rPr lang="zh-CN" altLang="zh-CN" sz="2800" b="0" dirty="0">
                <a:solidFill>
                  <a:schemeClr val="accent1">
                    <a:lumMod val="60000"/>
                    <a:lumOff val="40000"/>
                  </a:schemeClr>
                </a:solidFill>
                <a:ea typeface="华文楷体" pitchFamily="2" charset="-122"/>
                <a:cs typeface="Times New Roman" panose="02020603050405020304" pitchFamily="18" charset="0"/>
              </a:rPr>
              <a:t>开始</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网的一个典型应用是工程问题。</a:t>
            </a:r>
          </a:p>
        </p:txBody>
      </p:sp>
      <p:sp>
        <p:nvSpPr>
          <p:cNvPr id="8194" name="Rectangle 2"/>
          <p:cNvSpPr>
            <a:spLocks noGrp="1" noRot="1" noChangeArrowheads="1"/>
          </p:cNvSpPr>
          <p:nvPr>
            <p:ph type="title"/>
          </p:nvPr>
        </p:nvSpPr>
        <p:spPr/>
        <p:txBody>
          <a:bodyPr/>
          <a:lstStyle/>
          <a:p>
            <a:pPr marL="838200" indent="-838200">
              <a:defRPr/>
            </a:pPr>
            <a:r>
              <a:rPr lang="en-US" altLang="zh-CN" dirty="0">
                <a:latin typeface="华文楷体" panose="02010600040101010101" pitchFamily="2" charset="-122"/>
                <a:ea typeface="华文楷体" panose="02010600040101010101" pitchFamily="2" charset="-122"/>
              </a:rPr>
              <a:t>AOE</a:t>
            </a:r>
            <a:r>
              <a:rPr lang="zh-CN" altLang="en-US" dirty="0">
                <a:latin typeface="华文楷体" panose="02010600040101010101" pitchFamily="2" charset="-122"/>
                <a:ea typeface="华文楷体" panose="02010600040101010101" pitchFamily="2" charset="-122"/>
              </a:rPr>
              <a:t>网：</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986121" y="3371852"/>
            <a:ext cx="4255604" cy="2842066"/>
          </a:xfrm>
          <a:prstGeom prst="rect">
            <a:avLst/>
          </a:prstGeom>
          <a:noFill/>
          <a:ln>
            <a:noFill/>
          </a:ln>
        </p:spPr>
      </p:pic>
    </p:spTree>
    <p:extLst>
      <p:ext uri="{BB962C8B-B14F-4D97-AF65-F5344CB8AC3E}">
        <p14:creationId xmlns:p14="http://schemas.microsoft.com/office/powerpoint/2010/main" val="336499763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AOE</a:t>
            </a:r>
            <a:r>
              <a:rPr lang="zh-CN" altLang="en-US" dirty="0">
                <a:latin typeface="华文楷体" panose="02010600040101010101" pitchFamily="2" charset="-122"/>
                <a:ea typeface="华文楷体" panose="02010600040101010101" pitchFamily="2" charset="-122"/>
              </a:rPr>
              <a:t>网：关键路径问题</a:t>
            </a:r>
          </a:p>
        </p:txBody>
      </p:sp>
      <p:sp>
        <p:nvSpPr>
          <p:cNvPr id="2" name="文本框 1"/>
          <p:cNvSpPr txBox="1"/>
          <p:nvPr/>
        </p:nvSpPr>
        <p:spPr>
          <a:xfrm>
            <a:off x="357831" y="1610139"/>
            <a:ext cx="11330586" cy="4401205"/>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一个工程通常由若干个子工程构成。</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大多子工程在开始实施时既要有</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前期</a:t>
            </a:r>
            <a:r>
              <a:rPr lang="zh-CN" altLang="zh-CN" sz="2800" dirty="0">
                <a:latin typeface="Times New Roman" panose="02020603050405020304" pitchFamily="18" charset="0"/>
                <a:ea typeface="华文楷体" pitchFamily="2" charset="-122"/>
                <a:cs typeface="Times New Roman" panose="02020603050405020304" pitchFamily="18" charset="0"/>
              </a:rPr>
              <a:t>子工程</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完成</a:t>
            </a:r>
            <a:r>
              <a:rPr lang="zh-CN" altLang="zh-CN" sz="2800" dirty="0">
                <a:latin typeface="Times New Roman" panose="02020603050405020304" pitchFamily="18" charset="0"/>
                <a:ea typeface="华文楷体" pitchFamily="2" charset="-122"/>
                <a:cs typeface="Times New Roman" panose="02020603050405020304" pitchFamily="18" charset="0"/>
              </a:rPr>
              <a:t>为条件，自身也需要</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一定的时间</a:t>
            </a:r>
            <a:r>
              <a:rPr lang="zh-CN" altLang="zh-CN" sz="2800" dirty="0">
                <a:latin typeface="Times New Roman" panose="02020603050405020304" pitchFamily="18" charset="0"/>
                <a:ea typeface="华文楷体" pitchFamily="2" charset="-122"/>
                <a:cs typeface="Times New Roman" panose="02020603050405020304" pitchFamily="18" charset="0"/>
              </a:rPr>
              <a:t>来完成。</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如何根据这些信息求得工程的总工期？在整个工程项目中哪些子工程是</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关键的子工程</a:t>
            </a:r>
            <a:r>
              <a:rPr lang="zh-CN" altLang="zh-CN" sz="2800" dirty="0">
                <a:latin typeface="Times New Roman" panose="02020603050405020304" pitchFamily="18" charset="0"/>
                <a:ea typeface="华文楷体" pitchFamily="2" charset="-122"/>
                <a:cs typeface="Times New Roman" panose="02020603050405020304" pitchFamily="18" charset="0"/>
              </a:rPr>
              <a:t>？所有的关键子工程必须在</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可以开始时</a:t>
            </a:r>
            <a:r>
              <a:rPr lang="zh-CN" altLang="zh-CN" sz="2800" dirty="0">
                <a:solidFill>
                  <a:srgbClr val="FF0000"/>
                </a:solidFill>
                <a:latin typeface="Times New Roman" panose="02020603050405020304" pitchFamily="18" charset="0"/>
                <a:ea typeface="华文楷体" pitchFamily="2" charset="-122"/>
                <a:cs typeface="Times New Roman" panose="02020603050405020304" pitchFamily="18" charset="0"/>
              </a:rPr>
              <a:t>马上</a:t>
            </a:r>
            <a:r>
              <a:rPr lang="zh-CN" altLang="zh-CN" sz="2800" dirty="0">
                <a:latin typeface="Times New Roman" panose="02020603050405020304" pitchFamily="18" charset="0"/>
                <a:ea typeface="华文楷体" pitchFamily="2" charset="-122"/>
                <a:cs typeface="Times New Roman" panose="02020603050405020304" pitchFamily="18" charset="0"/>
              </a:rPr>
              <a:t>开始，中间不得拖延工期，必须按照计划如期完成，否则将影响整个工程工期。每个不是关键子工程的工程有多少时间余量？这些问题都是工程施工前要精心计算的。</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关键子工程</a:t>
            </a:r>
            <a:r>
              <a:rPr lang="zh-CN" altLang="en-US" sz="2800" dirty="0">
                <a:latin typeface="Times New Roman" panose="02020603050405020304" pitchFamily="18" charset="0"/>
                <a:ea typeface="华文楷体" pitchFamily="2" charset="-122"/>
                <a:cs typeface="Times New Roman" panose="02020603050405020304" pitchFamily="18" charset="0"/>
              </a:rPr>
              <a:t>即</a:t>
            </a:r>
            <a:r>
              <a:rPr lang="zh-CN" altLang="en-US" sz="2800" b="1" dirty="0">
                <a:latin typeface="Times New Roman" panose="02020603050405020304" pitchFamily="18" charset="0"/>
                <a:ea typeface="华文楷体" pitchFamily="2" charset="-122"/>
                <a:cs typeface="Times New Roman" panose="02020603050405020304" pitchFamily="18" charset="0"/>
              </a:rPr>
              <a:t>关键活动</a:t>
            </a:r>
            <a:r>
              <a:rPr lang="zh-CN" altLang="zh-CN" sz="2800" dirty="0">
                <a:latin typeface="Times New Roman" panose="02020603050405020304" pitchFamily="18" charset="0"/>
                <a:ea typeface="华文楷体" pitchFamily="2" charset="-122"/>
                <a:cs typeface="Times New Roman" panose="02020603050405020304" pitchFamily="18" charset="0"/>
              </a:rPr>
              <a:t>会形成一条从总体工程开始和完工之间的路径，这条路径便是</a:t>
            </a:r>
            <a:r>
              <a:rPr lang="zh-CN" altLang="zh-CN" sz="2800" b="1" dirty="0">
                <a:latin typeface="Times New Roman" panose="02020603050405020304" pitchFamily="18" charset="0"/>
                <a:ea typeface="华文楷体" pitchFamily="2" charset="-122"/>
                <a:cs typeface="Times New Roman" panose="02020603050405020304" pitchFamily="18" charset="0"/>
              </a:rPr>
              <a:t>关键路径</a:t>
            </a:r>
            <a:r>
              <a:rPr lang="zh-CN" altLang="zh-CN" sz="2800" dirty="0">
                <a:latin typeface="Times New Roman" panose="02020603050405020304" pitchFamily="18" charset="0"/>
                <a:ea typeface="华文楷体" pitchFamily="2" charset="-122"/>
                <a:cs typeface="Times New Roman" panose="02020603050405020304" pitchFamily="18" charset="0"/>
              </a:rPr>
              <a:t>。</a:t>
            </a:r>
          </a:p>
        </p:txBody>
      </p:sp>
    </p:spTree>
    <p:extLst>
      <p:ext uri="{BB962C8B-B14F-4D97-AF65-F5344CB8AC3E}">
        <p14:creationId xmlns:p14="http://schemas.microsoft.com/office/powerpoint/2010/main" val="232381901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利用</a:t>
            </a:r>
            <a:r>
              <a:rPr lang="en-US" altLang="zh-CN" dirty="0">
                <a:latin typeface="华文楷体" panose="02010600040101010101" pitchFamily="2" charset="-122"/>
                <a:ea typeface="华文楷体" panose="02010600040101010101" pitchFamily="2" charset="-122"/>
              </a:rPr>
              <a:t>AOE</a:t>
            </a:r>
            <a:r>
              <a:rPr lang="zh-CN" altLang="zh-CN" dirty="0">
                <a:latin typeface="华文楷体" panose="02010600040101010101" pitchFamily="2" charset="-122"/>
                <a:ea typeface="华文楷体" panose="02010600040101010101" pitchFamily="2" charset="-122"/>
              </a:rPr>
              <a:t>网求工程中的关键活动</a:t>
            </a:r>
            <a:r>
              <a:rPr lang="zh-CN" altLang="en-US" dirty="0">
                <a:latin typeface="华文楷体" panose="02010600040101010101" pitchFamily="2" charset="-122"/>
                <a:ea typeface="华文楷体" panose="02010600040101010101" pitchFamily="2" charset="-122"/>
              </a:rPr>
              <a:t>的方法：</a:t>
            </a:r>
          </a:p>
        </p:txBody>
      </p:sp>
      <p:sp>
        <p:nvSpPr>
          <p:cNvPr id="2" name="文本框 1"/>
          <p:cNvSpPr txBox="1"/>
          <p:nvPr/>
        </p:nvSpPr>
        <p:spPr>
          <a:xfrm>
            <a:off x="159048" y="1649895"/>
            <a:ext cx="12032952" cy="2246769"/>
          </a:xfrm>
          <a:prstGeom prst="rect">
            <a:avLst/>
          </a:prstGeom>
          <a:noFill/>
        </p:spPr>
        <p:txBody>
          <a:bodyPr wrap="square" rtlCol="0">
            <a:spAutoFit/>
          </a:bodyPr>
          <a:lstStyle/>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顶点事件的最早发生时间</a:t>
            </a:r>
            <a:r>
              <a:rPr lang="zh-CN" altLang="zh-CN" sz="2800" dirty="0">
                <a:latin typeface="华文楷体" pitchFamily="2" charset="-122"/>
                <a:ea typeface="华文楷体" pitchFamily="2" charset="-122"/>
              </a:rPr>
              <a:t>，即从起点到达顶点所需要的</a:t>
            </a:r>
            <a:r>
              <a:rPr lang="zh-CN" altLang="zh-CN" sz="2800" dirty="0">
                <a:solidFill>
                  <a:schemeClr val="accent1">
                    <a:lumMod val="60000"/>
                    <a:lumOff val="40000"/>
                  </a:schemeClr>
                </a:solidFill>
                <a:latin typeface="华文楷体" pitchFamily="2" charset="-122"/>
                <a:ea typeface="华文楷体" pitchFamily="2" charset="-122"/>
              </a:rPr>
              <a:t>最短</a:t>
            </a:r>
            <a:r>
              <a:rPr lang="zh-CN" altLang="zh-CN" sz="2800" dirty="0">
                <a:latin typeface="华文楷体" pitchFamily="2" charset="-122"/>
                <a:ea typeface="华文楷体" pitchFamily="2" charset="-122"/>
              </a:rPr>
              <a:t>时间。</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顶点事件的最迟发生时间</a:t>
            </a:r>
            <a:r>
              <a:rPr lang="zh-CN" altLang="zh-CN" sz="2800" dirty="0">
                <a:latin typeface="华文楷体" pitchFamily="2" charset="-122"/>
                <a:ea typeface="华文楷体" pitchFamily="2" charset="-122"/>
              </a:rPr>
              <a:t>，即从起点到达顶点所能</a:t>
            </a:r>
            <a:r>
              <a:rPr lang="zh-CN" altLang="zh-CN" sz="2800" dirty="0">
                <a:solidFill>
                  <a:schemeClr val="accent1">
                    <a:lumMod val="60000"/>
                    <a:lumOff val="40000"/>
                  </a:schemeClr>
                </a:solidFill>
                <a:latin typeface="华文楷体" pitchFamily="2" charset="-122"/>
                <a:ea typeface="华文楷体" pitchFamily="2" charset="-122"/>
              </a:rPr>
              <a:t>容忍的最长</a:t>
            </a:r>
            <a:r>
              <a:rPr lang="zh-CN" altLang="zh-CN" sz="2800" dirty="0">
                <a:latin typeface="华文楷体" pitchFamily="2" charset="-122"/>
                <a:ea typeface="华文楷体" pitchFamily="2" charset="-122"/>
              </a:rPr>
              <a:t>时间。</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活动的最早</a:t>
            </a:r>
            <a:r>
              <a:rPr lang="zh-CN" altLang="en-US" sz="2800" b="1" dirty="0">
                <a:latin typeface="华文楷体" pitchFamily="2" charset="-122"/>
                <a:ea typeface="华文楷体" pitchFamily="2" charset="-122"/>
              </a:rPr>
              <a:t>开始</a:t>
            </a:r>
            <a:r>
              <a:rPr lang="zh-CN" altLang="zh-CN" sz="2800" b="1" dirty="0">
                <a:latin typeface="华文楷体" pitchFamily="2" charset="-122"/>
                <a:ea typeface="华文楷体" pitchFamily="2" charset="-122"/>
              </a:rPr>
              <a:t>时间</a:t>
            </a:r>
            <a:r>
              <a:rPr lang="zh-CN" altLang="zh-CN" sz="2800" dirty="0">
                <a:latin typeface="华文楷体" pitchFamily="2" charset="-122"/>
                <a:ea typeface="华文楷体" pitchFamily="2" charset="-122"/>
              </a:rPr>
              <a:t>，即每个边表示的活动最早何时能开始。</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活动的最迟</a:t>
            </a:r>
            <a:r>
              <a:rPr lang="zh-CN" altLang="en-US" sz="2800" b="1" dirty="0">
                <a:latin typeface="华文楷体" pitchFamily="2" charset="-122"/>
                <a:ea typeface="华文楷体" pitchFamily="2" charset="-122"/>
              </a:rPr>
              <a:t>开始</a:t>
            </a:r>
            <a:r>
              <a:rPr lang="zh-CN" altLang="zh-CN" sz="2800" b="1" dirty="0">
                <a:latin typeface="华文楷体" pitchFamily="2" charset="-122"/>
                <a:ea typeface="华文楷体" pitchFamily="2" charset="-122"/>
              </a:rPr>
              <a:t>时间</a:t>
            </a:r>
            <a:r>
              <a:rPr lang="zh-CN" altLang="zh-CN" sz="2800" dirty="0">
                <a:latin typeface="华文楷体" pitchFamily="2" charset="-122"/>
                <a:ea typeface="华文楷体" pitchFamily="2" charset="-122"/>
              </a:rPr>
              <a:t>，即每个边表示的活动最晚何时必须开始。</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当某活动的</a:t>
            </a:r>
            <a:r>
              <a:rPr lang="zh-CN" altLang="zh-CN" sz="2800" dirty="0">
                <a:solidFill>
                  <a:schemeClr val="accent1">
                    <a:lumMod val="60000"/>
                    <a:lumOff val="40000"/>
                  </a:schemeClr>
                </a:solidFill>
                <a:latin typeface="华文楷体" pitchFamily="2" charset="-122"/>
                <a:ea typeface="华文楷体" pitchFamily="2" charset="-122"/>
              </a:rPr>
              <a:t>最早</a:t>
            </a:r>
            <a:r>
              <a:rPr lang="zh-CN" altLang="en-US" sz="2800" dirty="0">
                <a:latin typeface="华文楷体" pitchFamily="2" charset="-122"/>
                <a:ea typeface="华文楷体" pitchFamily="2" charset="-122"/>
              </a:rPr>
              <a:t>开始</a:t>
            </a:r>
            <a:r>
              <a:rPr lang="zh-CN" altLang="zh-CN" sz="2800" dirty="0">
                <a:latin typeface="华文楷体" pitchFamily="2" charset="-122"/>
                <a:ea typeface="华文楷体" pitchFamily="2" charset="-122"/>
              </a:rPr>
              <a:t>时间和</a:t>
            </a:r>
            <a:r>
              <a:rPr lang="zh-CN" altLang="zh-CN" sz="2800" dirty="0">
                <a:solidFill>
                  <a:schemeClr val="accent1">
                    <a:lumMod val="60000"/>
                    <a:lumOff val="40000"/>
                  </a:schemeClr>
                </a:solidFill>
                <a:latin typeface="华文楷体" pitchFamily="2" charset="-122"/>
                <a:ea typeface="华文楷体" pitchFamily="2" charset="-122"/>
              </a:rPr>
              <a:t>最迟</a:t>
            </a:r>
            <a:r>
              <a:rPr lang="zh-CN" altLang="en-US" sz="2800" dirty="0">
                <a:latin typeface="华文楷体" pitchFamily="2" charset="-122"/>
                <a:ea typeface="华文楷体" pitchFamily="2" charset="-122"/>
              </a:rPr>
              <a:t>开始</a:t>
            </a:r>
            <a:r>
              <a:rPr lang="zh-CN" altLang="zh-CN" sz="2800" dirty="0">
                <a:latin typeface="华文楷体" pitchFamily="2" charset="-122"/>
                <a:ea typeface="华文楷体" pitchFamily="2" charset="-122"/>
              </a:rPr>
              <a:t>时间相同时，这些活动便是</a:t>
            </a:r>
            <a:r>
              <a:rPr lang="zh-CN" altLang="zh-CN" sz="2800" dirty="0">
                <a:solidFill>
                  <a:schemeClr val="accent1">
                    <a:lumMod val="60000"/>
                    <a:lumOff val="40000"/>
                  </a:schemeClr>
                </a:solidFill>
                <a:latin typeface="华文楷体" pitchFamily="2" charset="-122"/>
                <a:ea typeface="华文楷体" pitchFamily="2" charset="-122"/>
              </a:rPr>
              <a:t>关键</a:t>
            </a:r>
            <a:r>
              <a:rPr lang="zh-CN" altLang="zh-CN" sz="2800" dirty="0">
                <a:latin typeface="华文楷体" pitchFamily="2" charset="-122"/>
                <a:ea typeface="华文楷体" pitchFamily="2" charset="-122"/>
              </a:rPr>
              <a:t>活动。</a:t>
            </a:r>
            <a:endParaRPr lang="zh-CN" altLang="zh-CN" sz="3200" dirty="0">
              <a:latin typeface="华文楷体" pitchFamily="2" charset="-122"/>
              <a:ea typeface="华文楷体" pitchFamily="2" charset="-122"/>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816834" y="3896664"/>
            <a:ext cx="4255604" cy="2842066"/>
          </a:xfrm>
          <a:prstGeom prst="rect">
            <a:avLst/>
          </a:prstGeom>
          <a:noFill/>
          <a:ln>
            <a:noFill/>
          </a:ln>
        </p:spPr>
      </p:pic>
    </p:spTree>
    <p:extLst>
      <p:ext uri="{BB962C8B-B14F-4D97-AF65-F5344CB8AC3E}">
        <p14:creationId xmlns:p14="http://schemas.microsoft.com/office/powerpoint/2010/main" val="236834442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a:t>
            </a:r>
          </a:p>
        </p:txBody>
      </p:sp>
      <p:sp>
        <p:nvSpPr>
          <p:cNvPr id="2" name="文本框 1"/>
          <p:cNvSpPr txBox="1"/>
          <p:nvPr/>
        </p:nvSpPr>
        <p:spPr>
          <a:xfrm>
            <a:off x="357832" y="1550504"/>
            <a:ext cx="11529369" cy="1384995"/>
          </a:xfrm>
          <a:prstGeom prst="rect">
            <a:avLst/>
          </a:prstGeom>
          <a:noFill/>
        </p:spPr>
        <p:txBody>
          <a:bodyPr wrap="square" rtlCol="0">
            <a:spAutoFit/>
          </a:bodyPr>
          <a:lstStyle/>
          <a:p>
            <a:pPr lvl="0"/>
            <a:r>
              <a:rPr lang="zh-CN" altLang="zh-CN" sz="2800" dirty="0">
                <a:latin typeface="华文楷体" pitchFamily="2" charset="-122"/>
                <a:ea typeface="华文楷体" pitchFamily="2" charset="-122"/>
              </a:rPr>
              <a:t>如果一个顶点有若干条边射入，即说明该顶点表示的事件须当从起点到经由这些边到达该顶点的全部路径上的活动</a:t>
            </a:r>
            <a:r>
              <a:rPr lang="zh-CN" altLang="zh-CN" sz="2800" dirty="0">
                <a:solidFill>
                  <a:schemeClr val="accent1">
                    <a:lumMod val="60000"/>
                    <a:lumOff val="40000"/>
                  </a:schemeClr>
                </a:solidFill>
                <a:latin typeface="华文楷体" pitchFamily="2" charset="-122"/>
                <a:ea typeface="华文楷体" pitchFamily="2" charset="-122"/>
              </a:rPr>
              <a:t>都完成</a:t>
            </a:r>
            <a:r>
              <a:rPr lang="zh-CN" altLang="zh-CN" sz="2800" dirty="0">
                <a:latin typeface="华文楷体" pitchFamily="2" charset="-122"/>
                <a:ea typeface="华文楷体" pitchFamily="2" charset="-122"/>
              </a:rPr>
              <a:t>才能发生，因此事件的最早发生时间是最长路径所消耗的时间。 </a:t>
            </a:r>
          </a:p>
        </p:txBody>
      </p:sp>
      <p:sp>
        <p:nvSpPr>
          <p:cNvPr id="7" name="Rectangle 3">
            <a:extLst>
              <a:ext uri="{FF2B5EF4-FFF2-40B4-BE49-F238E27FC236}">
                <a16:creationId xmlns:a16="http://schemas.microsoft.com/office/drawing/2014/main" id="{04634EDF-6472-4630-AACB-8223D3452153}"/>
              </a:ext>
            </a:extLst>
          </p:cNvPr>
          <p:cNvSpPr txBox="1">
            <a:spLocks noChangeArrowheads="1"/>
          </p:cNvSpPr>
          <p:nvPr/>
        </p:nvSpPr>
        <p:spPr>
          <a:xfrm>
            <a:off x="556591" y="5192712"/>
            <a:ext cx="7772400" cy="4114800"/>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cs typeface="楷体_GB2312" pitchFamily="49" charset="-122"/>
            </a:endParaRPr>
          </a:p>
        </p:txBody>
      </p:sp>
      <p:sp>
        <p:nvSpPr>
          <p:cNvPr id="8" name="Oval 4">
            <a:extLst>
              <a:ext uri="{FF2B5EF4-FFF2-40B4-BE49-F238E27FC236}">
                <a16:creationId xmlns:a16="http://schemas.microsoft.com/office/drawing/2014/main" id="{37E0BCF7-C980-4093-B5EC-88EBDA416258}"/>
              </a:ext>
            </a:extLst>
          </p:cNvPr>
          <p:cNvSpPr>
            <a:spLocks noChangeArrowheads="1"/>
          </p:cNvSpPr>
          <p:nvPr/>
        </p:nvSpPr>
        <p:spPr bwMode="auto">
          <a:xfrm>
            <a:off x="910731" y="4514283"/>
            <a:ext cx="503237" cy="431800"/>
          </a:xfrm>
          <a:prstGeom prst="ellipse">
            <a:avLst/>
          </a:prstGeom>
          <a:solidFill>
            <a:srgbClr val="FF99CC"/>
          </a:solidFill>
          <a:ln w="28575">
            <a:solidFill>
              <a:schemeClr val="tx1"/>
            </a:solidFill>
            <a:round/>
            <a:headEnd/>
            <a:tailEnd/>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1</a:t>
            </a:r>
          </a:p>
        </p:txBody>
      </p:sp>
      <p:sp>
        <p:nvSpPr>
          <p:cNvPr id="9" name="Oval 5">
            <a:extLst>
              <a:ext uri="{FF2B5EF4-FFF2-40B4-BE49-F238E27FC236}">
                <a16:creationId xmlns:a16="http://schemas.microsoft.com/office/drawing/2014/main" id="{F9DAEC48-07F5-4C45-A592-D8C6FC74D96D}"/>
              </a:ext>
            </a:extLst>
          </p:cNvPr>
          <p:cNvSpPr>
            <a:spLocks noChangeArrowheads="1"/>
          </p:cNvSpPr>
          <p:nvPr/>
        </p:nvSpPr>
        <p:spPr bwMode="auto">
          <a:xfrm>
            <a:off x="2926856" y="3793558"/>
            <a:ext cx="503237"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u</a:t>
            </a:r>
          </a:p>
        </p:txBody>
      </p:sp>
      <p:sp>
        <p:nvSpPr>
          <p:cNvPr id="10" name="Oval 6">
            <a:extLst>
              <a:ext uri="{FF2B5EF4-FFF2-40B4-BE49-F238E27FC236}">
                <a16:creationId xmlns:a16="http://schemas.microsoft.com/office/drawing/2014/main" id="{DEDE1FF9-E2DE-4780-B7DD-8AAE4CD5EBDD}"/>
              </a:ext>
            </a:extLst>
          </p:cNvPr>
          <p:cNvSpPr>
            <a:spLocks noChangeArrowheads="1"/>
          </p:cNvSpPr>
          <p:nvPr/>
        </p:nvSpPr>
        <p:spPr bwMode="auto">
          <a:xfrm>
            <a:off x="2855418" y="5450908"/>
            <a:ext cx="503238"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w</a:t>
            </a:r>
          </a:p>
        </p:txBody>
      </p:sp>
      <p:sp>
        <p:nvSpPr>
          <p:cNvPr id="11" name="Oval 8">
            <a:extLst>
              <a:ext uri="{FF2B5EF4-FFF2-40B4-BE49-F238E27FC236}">
                <a16:creationId xmlns:a16="http://schemas.microsoft.com/office/drawing/2014/main" id="{930BB185-8145-479D-963E-F0368A144C50}"/>
              </a:ext>
            </a:extLst>
          </p:cNvPr>
          <p:cNvSpPr>
            <a:spLocks noChangeArrowheads="1"/>
          </p:cNvSpPr>
          <p:nvPr/>
        </p:nvSpPr>
        <p:spPr bwMode="auto">
          <a:xfrm>
            <a:off x="2926856" y="4585721"/>
            <a:ext cx="503237"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v</a:t>
            </a:r>
          </a:p>
        </p:txBody>
      </p:sp>
      <p:sp>
        <p:nvSpPr>
          <p:cNvPr id="12" name="Oval 9">
            <a:extLst>
              <a:ext uri="{FF2B5EF4-FFF2-40B4-BE49-F238E27FC236}">
                <a16:creationId xmlns:a16="http://schemas.microsoft.com/office/drawing/2014/main" id="{86FD904C-1CE0-4119-A517-24334FA027B6}"/>
              </a:ext>
            </a:extLst>
          </p:cNvPr>
          <p:cNvSpPr>
            <a:spLocks noChangeArrowheads="1"/>
          </p:cNvSpPr>
          <p:nvPr/>
        </p:nvSpPr>
        <p:spPr bwMode="auto">
          <a:xfrm>
            <a:off x="4942981" y="4587308"/>
            <a:ext cx="503237"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j</a:t>
            </a:r>
          </a:p>
        </p:txBody>
      </p:sp>
      <p:sp>
        <p:nvSpPr>
          <p:cNvPr id="13" name="Line 11">
            <a:extLst>
              <a:ext uri="{FF2B5EF4-FFF2-40B4-BE49-F238E27FC236}">
                <a16:creationId xmlns:a16="http://schemas.microsoft.com/office/drawing/2014/main" id="{C529E029-AC65-4B6D-925C-621887EEFA73}"/>
              </a:ext>
            </a:extLst>
          </p:cNvPr>
          <p:cNvSpPr>
            <a:spLocks noChangeShapeType="1"/>
          </p:cNvSpPr>
          <p:nvPr/>
        </p:nvSpPr>
        <p:spPr bwMode="auto">
          <a:xfrm>
            <a:off x="3431681" y="4011046"/>
            <a:ext cx="1511300" cy="5746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18">
            <a:extLst>
              <a:ext uri="{FF2B5EF4-FFF2-40B4-BE49-F238E27FC236}">
                <a16:creationId xmlns:a16="http://schemas.microsoft.com/office/drawing/2014/main" id="{DB556DF7-0207-459C-AE2E-4F9E83FD2F9E}"/>
              </a:ext>
            </a:extLst>
          </p:cNvPr>
          <p:cNvSpPr>
            <a:spLocks noChangeShapeType="1"/>
          </p:cNvSpPr>
          <p:nvPr/>
        </p:nvSpPr>
        <p:spPr bwMode="auto">
          <a:xfrm>
            <a:off x="3431681" y="4801621"/>
            <a:ext cx="15843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19">
            <a:extLst>
              <a:ext uri="{FF2B5EF4-FFF2-40B4-BE49-F238E27FC236}">
                <a16:creationId xmlns:a16="http://schemas.microsoft.com/office/drawing/2014/main" id="{D8D6C8F5-1A94-43AF-8431-1FE1246B91E9}"/>
              </a:ext>
            </a:extLst>
          </p:cNvPr>
          <p:cNvSpPr>
            <a:spLocks noChangeShapeType="1"/>
          </p:cNvSpPr>
          <p:nvPr/>
        </p:nvSpPr>
        <p:spPr bwMode="auto">
          <a:xfrm flipH="1">
            <a:off x="3358656" y="4946083"/>
            <a:ext cx="1657350" cy="792163"/>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 name="Text Box 21">
            <a:extLst>
              <a:ext uri="{FF2B5EF4-FFF2-40B4-BE49-F238E27FC236}">
                <a16:creationId xmlns:a16="http://schemas.microsoft.com/office/drawing/2014/main" id="{D12A6E19-9B35-4123-8269-271E9147918E}"/>
              </a:ext>
            </a:extLst>
          </p:cNvPr>
          <p:cNvSpPr txBox="1">
            <a:spLocks noChangeArrowheads="1"/>
          </p:cNvSpPr>
          <p:nvPr/>
        </p:nvSpPr>
        <p:spPr bwMode="auto">
          <a:xfrm>
            <a:off x="3071318" y="3434783"/>
            <a:ext cx="215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solidFill>
                  <a:srgbClr val="F60000"/>
                </a:solidFill>
              </a:rPr>
              <a:t>2</a:t>
            </a:r>
          </a:p>
        </p:txBody>
      </p:sp>
      <p:sp>
        <p:nvSpPr>
          <p:cNvPr id="18" name="Text Box 23">
            <a:extLst>
              <a:ext uri="{FF2B5EF4-FFF2-40B4-BE49-F238E27FC236}">
                <a16:creationId xmlns:a16="http://schemas.microsoft.com/office/drawing/2014/main" id="{BA3EB1A8-E986-45DC-A645-83F85FC2E4EA}"/>
              </a:ext>
            </a:extLst>
          </p:cNvPr>
          <p:cNvSpPr txBox="1">
            <a:spLocks noChangeArrowheads="1"/>
          </p:cNvSpPr>
          <p:nvPr/>
        </p:nvSpPr>
        <p:spPr bwMode="auto">
          <a:xfrm>
            <a:off x="2999881" y="4226946"/>
            <a:ext cx="215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solidFill>
                  <a:srgbClr val="F60000"/>
                </a:solidFill>
              </a:rPr>
              <a:t>3</a:t>
            </a:r>
          </a:p>
        </p:txBody>
      </p:sp>
      <p:sp>
        <p:nvSpPr>
          <p:cNvPr id="19" name="Text Box 24">
            <a:extLst>
              <a:ext uri="{FF2B5EF4-FFF2-40B4-BE49-F238E27FC236}">
                <a16:creationId xmlns:a16="http://schemas.microsoft.com/office/drawing/2014/main" id="{6BD8614F-C77A-43D1-8CD3-3E869B09C2CA}"/>
              </a:ext>
            </a:extLst>
          </p:cNvPr>
          <p:cNvSpPr txBox="1">
            <a:spLocks noChangeArrowheads="1"/>
          </p:cNvSpPr>
          <p:nvPr/>
        </p:nvSpPr>
        <p:spPr bwMode="auto">
          <a:xfrm>
            <a:off x="2926856" y="5090546"/>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solidFill>
                  <a:srgbClr val="F60000"/>
                </a:solidFill>
              </a:rPr>
              <a:t>10</a:t>
            </a:r>
          </a:p>
        </p:txBody>
      </p:sp>
      <p:sp>
        <p:nvSpPr>
          <p:cNvPr id="20" name="Text Box 25">
            <a:extLst>
              <a:ext uri="{FF2B5EF4-FFF2-40B4-BE49-F238E27FC236}">
                <a16:creationId xmlns:a16="http://schemas.microsoft.com/office/drawing/2014/main" id="{95630AC7-47DC-4768-AC3A-8DFAE7879407}"/>
              </a:ext>
            </a:extLst>
          </p:cNvPr>
          <p:cNvSpPr txBox="1">
            <a:spLocks noChangeArrowheads="1"/>
          </p:cNvSpPr>
          <p:nvPr/>
        </p:nvSpPr>
        <p:spPr bwMode="auto">
          <a:xfrm>
            <a:off x="4150818" y="4011046"/>
            <a:ext cx="215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t>1</a:t>
            </a:r>
          </a:p>
        </p:txBody>
      </p:sp>
      <p:sp>
        <p:nvSpPr>
          <p:cNvPr id="21" name="Text Box 27">
            <a:extLst>
              <a:ext uri="{FF2B5EF4-FFF2-40B4-BE49-F238E27FC236}">
                <a16:creationId xmlns:a16="http://schemas.microsoft.com/office/drawing/2014/main" id="{C9261AB6-35CF-4846-BAB4-FF1DF84B8304}"/>
              </a:ext>
            </a:extLst>
          </p:cNvPr>
          <p:cNvSpPr txBox="1">
            <a:spLocks noChangeArrowheads="1"/>
          </p:cNvSpPr>
          <p:nvPr/>
        </p:nvSpPr>
        <p:spPr bwMode="auto">
          <a:xfrm>
            <a:off x="4150818" y="4477771"/>
            <a:ext cx="215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t>2</a:t>
            </a:r>
          </a:p>
        </p:txBody>
      </p:sp>
      <p:sp>
        <p:nvSpPr>
          <p:cNvPr id="22" name="Text Box 29">
            <a:extLst>
              <a:ext uri="{FF2B5EF4-FFF2-40B4-BE49-F238E27FC236}">
                <a16:creationId xmlns:a16="http://schemas.microsoft.com/office/drawing/2014/main" id="{F9EE2DF8-408E-4041-9C4E-868772DCDC9D}"/>
              </a:ext>
            </a:extLst>
          </p:cNvPr>
          <p:cNvSpPr txBox="1">
            <a:spLocks noChangeArrowheads="1"/>
          </p:cNvSpPr>
          <p:nvPr/>
        </p:nvSpPr>
        <p:spPr bwMode="auto">
          <a:xfrm>
            <a:off x="4150818" y="4909571"/>
            <a:ext cx="215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t>3</a:t>
            </a:r>
          </a:p>
        </p:txBody>
      </p:sp>
      <p:sp>
        <p:nvSpPr>
          <p:cNvPr id="23" name="Freeform 37">
            <a:extLst>
              <a:ext uri="{FF2B5EF4-FFF2-40B4-BE49-F238E27FC236}">
                <a16:creationId xmlns:a16="http://schemas.microsoft.com/office/drawing/2014/main" id="{5810AC18-A75C-4E17-8273-88799B41C838}"/>
              </a:ext>
            </a:extLst>
          </p:cNvPr>
          <p:cNvSpPr>
            <a:spLocks/>
          </p:cNvSpPr>
          <p:nvPr/>
        </p:nvSpPr>
        <p:spPr bwMode="auto">
          <a:xfrm>
            <a:off x="1318718" y="3850708"/>
            <a:ext cx="1625600" cy="711200"/>
          </a:xfrm>
          <a:custGeom>
            <a:avLst/>
            <a:gdLst>
              <a:gd name="T0" fmla="*/ 0 w 1024"/>
              <a:gd name="T1" fmla="*/ 2147483646 h 448"/>
              <a:gd name="T2" fmla="*/ 2147483646 w 1024"/>
              <a:gd name="T3" fmla="*/ 2147483646 h 448"/>
              <a:gd name="T4" fmla="*/ 2147483646 w 1024"/>
              <a:gd name="T5" fmla="*/ 2147483646 h 448"/>
              <a:gd name="T6" fmla="*/ 2147483646 w 1024"/>
              <a:gd name="T7" fmla="*/ 2147483646 h 448"/>
              <a:gd name="T8" fmla="*/ 2147483646 w 1024"/>
              <a:gd name="T9" fmla="*/ 2147483646 h 448"/>
              <a:gd name="T10" fmla="*/ 2147483646 w 1024"/>
              <a:gd name="T11" fmla="*/ 2147483646 h 448"/>
              <a:gd name="T12" fmla="*/ 2147483646 w 1024"/>
              <a:gd name="T13" fmla="*/ 2147483646 h 448"/>
              <a:gd name="T14" fmla="*/ 2147483646 w 1024"/>
              <a:gd name="T15" fmla="*/ 0 h 448"/>
              <a:gd name="T16" fmla="*/ 2147483646 w 1024"/>
              <a:gd name="T17" fmla="*/ 2147483646 h 448"/>
              <a:gd name="T18" fmla="*/ 2147483646 w 1024"/>
              <a:gd name="T19" fmla="*/ 2147483646 h 448"/>
              <a:gd name="T20" fmla="*/ 2147483646 w 1024"/>
              <a:gd name="T21" fmla="*/ 2147483646 h 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4"/>
              <a:gd name="T34" fmla="*/ 0 h 448"/>
              <a:gd name="T35" fmla="*/ 1024 w 1024"/>
              <a:gd name="T36" fmla="*/ 448 h 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4" h="448">
                <a:moveTo>
                  <a:pt x="0" y="448"/>
                </a:moveTo>
                <a:cubicBezTo>
                  <a:pt x="49" y="373"/>
                  <a:pt x="90" y="246"/>
                  <a:pt x="192" y="238"/>
                </a:cubicBezTo>
                <a:cubicBezTo>
                  <a:pt x="259" y="233"/>
                  <a:pt x="326" y="232"/>
                  <a:pt x="393" y="229"/>
                </a:cubicBezTo>
                <a:cubicBezTo>
                  <a:pt x="448" y="226"/>
                  <a:pt x="502" y="223"/>
                  <a:pt x="557" y="220"/>
                </a:cubicBezTo>
                <a:cubicBezTo>
                  <a:pt x="566" y="163"/>
                  <a:pt x="578" y="107"/>
                  <a:pt x="603" y="55"/>
                </a:cubicBezTo>
                <a:cubicBezTo>
                  <a:pt x="643" y="68"/>
                  <a:pt x="636" y="88"/>
                  <a:pt x="676" y="101"/>
                </a:cubicBezTo>
                <a:cubicBezTo>
                  <a:pt x="697" y="92"/>
                  <a:pt x="722" y="88"/>
                  <a:pt x="740" y="73"/>
                </a:cubicBezTo>
                <a:cubicBezTo>
                  <a:pt x="763" y="53"/>
                  <a:pt x="795" y="0"/>
                  <a:pt x="795" y="0"/>
                </a:cubicBezTo>
                <a:cubicBezTo>
                  <a:pt x="804" y="6"/>
                  <a:pt x="815" y="10"/>
                  <a:pt x="822" y="18"/>
                </a:cubicBezTo>
                <a:cubicBezTo>
                  <a:pt x="837" y="37"/>
                  <a:pt x="823" y="66"/>
                  <a:pt x="859" y="73"/>
                </a:cubicBezTo>
                <a:cubicBezTo>
                  <a:pt x="904" y="82"/>
                  <a:pt x="970" y="82"/>
                  <a:pt x="1024" y="82"/>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Freeform 39">
            <a:extLst>
              <a:ext uri="{FF2B5EF4-FFF2-40B4-BE49-F238E27FC236}">
                <a16:creationId xmlns:a16="http://schemas.microsoft.com/office/drawing/2014/main" id="{796BF9E6-2753-4A2A-9A08-74165087071D}"/>
              </a:ext>
            </a:extLst>
          </p:cNvPr>
          <p:cNvSpPr>
            <a:spLocks/>
          </p:cNvSpPr>
          <p:nvPr/>
        </p:nvSpPr>
        <p:spPr bwMode="auto">
          <a:xfrm>
            <a:off x="1404443" y="4533333"/>
            <a:ext cx="1509713" cy="276225"/>
          </a:xfrm>
          <a:custGeom>
            <a:avLst/>
            <a:gdLst>
              <a:gd name="T0" fmla="*/ 0 w 951"/>
              <a:gd name="T1" fmla="*/ 2147483646 h 174"/>
              <a:gd name="T2" fmla="*/ 2147483646 w 951"/>
              <a:gd name="T3" fmla="*/ 2147483646 h 174"/>
              <a:gd name="T4" fmla="*/ 2147483646 w 951"/>
              <a:gd name="T5" fmla="*/ 2147483646 h 174"/>
              <a:gd name="T6" fmla="*/ 2147483646 w 951"/>
              <a:gd name="T7" fmla="*/ 2147483646 h 174"/>
              <a:gd name="T8" fmla="*/ 2147483646 w 951"/>
              <a:gd name="T9" fmla="*/ 2147483646 h 174"/>
              <a:gd name="T10" fmla="*/ 2147483646 w 951"/>
              <a:gd name="T11" fmla="*/ 2147483646 h 174"/>
              <a:gd name="T12" fmla="*/ 2147483646 w 951"/>
              <a:gd name="T13" fmla="*/ 2147483646 h 174"/>
              <a:gd name="T14" fmla="*/ 2147483646 w 951"/>
              <a:gd name="T15" fmla="*/ 2147483646 h 174"/>
              <a:gd name="T16" fmla="*/ 2147483646 w 951"/>
              <a:gd name="T17" fmla="*/ 2147483646 h 174"/>
              <a:gd name="T18" fmla="*/ 2147483646 w 951"/>
              <a:gd name="T19" fmla="*/ 2147483646 h 1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51"/>
              <a:gd name="T31" fmla="*/ 0 h 174"/>
              <a:gd name="T32" fmla="*/ 951 w 951"/>
              <a:gd name="T33" fmla="*/ 174 h 1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51" h="174">
                <a:moveTo>
                  <a:pt x="0" y="174"/>
                </a:moveTo>
                <a:cubicBezTo>
                  <a:pt x="18" y="156"/>
                  <a:pt x="37" y="137"/>
                  <a:pt x="55" y="119"/>
                </a:cubicBezTo>
                <a:cubicBezTo>
                  <a:pt x="73" y="101"/>
                  <a:pt x="104" y="108"/>
                  <a:pt x="128" y="100"/>
                </a:cubicBezTo>
                <a:cubicBezTo>
                  <a:pt x="217" y="70"/>
                  <a:pt x="311" y="53"/>
                  <a:pt x="403" y="36"/>
                </a:cubicBezTo>
                <a:cubicBezTo>
                  <a:pt x="493" y="0"/>
                  <a:pt x="487" y="10"/>
                  <a:pt x="613" y="18"/>
                </a:cubicBezTo>
                <a:cubicBezTo>
                  <a:pt x="675" y="39"/>
                  <a:pt x="728" y="74"/>
                  <a:pt x="787" y="100"/>
                </a:cubicBezTo>
                <a:cubicBezTo>
                  <a:pt x="796" y="104"/>
                  <a:pt x="805" y="106"/>
                  <a:pt x="814" y="110"/>
                </a:cubicBezTo>
                <a:cubicBezTo>
                  <a:pt x="824" y="115"/>
                  <a:pt x="832" y="124"/>
                  <a:pt x="842" y="128"/>
                </a:cubicBezTo>
                <a:cubicBezTo>
                  <a:pt x="859" y="136"/>
                  <a:pt x="896" y="146"/>
                  <a:pt x="896" y="146"/>
                </a:cubicBezTo>
                <a:cubicBezTo>
                  <a:pt x="941" y="135"/>
                  <a:pt x="924" y="146"/>
                  <a:pt x="951" y="119"/>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Freeform 41">
            <a:extLst>
              <a:ext uri="{FF2B5EF4-FFF2-40B4-BE49-F238E27FC236}">
                <a16:creationId xmlns:a16="http://schemas.microsoft.com/office/drawing/2014/main" id="{8A5893B8-D3CB-4C41-AB5C-7F3EA1CDB9FE}"/>
              </a:ext>
            </a:extLst>
          </p:cNvPr>
          <p:cNvSpPr>
            <a:spLocks/>
          </p:cNvSpPr>
          <p:nvPr/>
        </p:nvSpPr>
        <p:spPr bwMode="auto">
          <a:xfrm>
            <a:off x="1347293" y="4925446"/>
            <a:ext cx="1538288" cy="633412"/>
          </a:xfrm>
          <a:custGeom>
            <a:avLst/>
            <a:gdLst>
              <a:gd name="T0" fmla="*/ 0 w 969"/>
              <a:gd name="T1" fmla="*/ 0 h 399"/>
              <a:gd name="T2" fmla="*/ 2147483646 w 969"/>
              <a:gd name="T3" fmla="*/ 2147483646 h 399"/>
              <a:gd name="T4" fmla="*/ 2147483646 w 969"/>
              <a:gd name="T5" fmla="*/ 2147483646 h 399"/>
              <a:gd name="T6" fmla="*/ 2147483646 w 969"/>
              <a:gd name="T7" fmla="*/ 2147483646 h 399"/>
              <a:gd name="T8" fmla="*/ 2147483646 w 969"/>
              <a:gd name="T9" fmla="*/ 2147483646 h 399"/>
              <a:gd name="T10" fmla="*/ 2147483646 w 969"/>
              <a:gd name="T11" fmla="*/ 2147483646 h 399"/>
              <a:gd name="T12" fmla="*/ 2147483646 w 969"/>
              <a:gd name="T13" fmla="*/ 2147483646 h 399"/>
              <a:gd name="T14" fmla="*/ 2147483646 w 969"/>
              <a:gd name="T15" fmla="*/ 2147483646 h 399"/>
              <a:gd name="T16" fmla="*/ 2147483646 w 969"/>
              <a:gd name="T17" fmla="*/ 2147483646 h 399"/>
              <a:gd name="T18" fmla="*/ 2147483646 w 969"/>
              <a:gd name="T19" fmla="*/ 2147483646 h 399"/>
              <a:gd name="T20" fmla="*/ 2147483646 w 969"/>
              <a:gd name="T21" fmla="*/ 2147483646 h 3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69"/>
              <a:gd name="T34" fmla="*/ 0 h 399"/>
              <a:gd name="T35" fmla="*/ 969 w 969"/>
              <a:gd name="T36" fmla="*/ 399 h 3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69" h="399">
                <a:moveTo>
                  <a:pt x="0" y="0"/>
                </a:moveTo>
                <a:cubicBezTo>
                  <a:pt x="98" y="39"/>
                  <a:pt x="174" y="167"/>
                  <a:pt x="238" y="247"/>
                </a:cubicBezTo>
                <a:cubicBezTo>
                  <a:pt x="270" y="287"/>
                  <a:pt x="306" y="330"/>
                  <a:pt x="356" y="347"/>
                </a:cubicBezTo>
                <a:cubicBezTo>
                  <a:pt x="440" y="268"/>
                  <a:pt x="308" y="399"/>
                  <a:pt x="384" y="301"/>
                </a:cubicBezTo>
                <a:cubicBezTo>
                  <a:pt x="403" y="277"/>
                  <a:pt x="440" y="278"/>
                  <a:pt x="466" y="274"/>
                </a:cubicBezTo>
                <a:cubicBezTo>
                  <a:pt x="540" y="238"/>
                  <a:pt x="624" y="250"/>
                  <a:pt x="704" y="237"/>
                </a:cubicBezTo>
                <a:cubicBezTo>
                  <a:pt x="769" y="215"/>
                  <a:pt x="796" y="238"/>
                  <a:pt x="841" y="283"/>
                </a:cubicBezTo>
                <a:cubicBezTo>
                  <a:pt x="849" y="291"/>
                  <a:pt x="850" y="305"/>
                  <a:pt x="859" y="311"/>
                </a:cubicBezTo>
                <a:cubicBezTo>
                  <a:pt x="875" y="321"/>
                  <a:pt x="896" y="323"/>
                  <a:pt x="914" y="329"/>
                </a:cubicBezTo>
                <a:cubicBezTo>
                  <a:pt x="923" y="332"/>
                  <a:pt x="942" y="338"/>
                  <a:pt x="942" y="338"/>
                </a:cubicBezTo>
                <a:cubicBezTo>
                  <a:pt x="964" y="371"/>
                  <a:pt x="955" y="355"/>
                  <a:pt x="969" y="384"/>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43">
            <a:extLst>
              <a:ext uri="{FF2B5EF4-FFF2-40B4-BE49-F238E27FC236}">
                <a16:creationId xmlns:a16="http://schemas.microsoft.com/office/drawing/2014/main" id="{ED82E783-523F-4340-890E-0FF85806F344}"/>
              </a:ext>
            </a:extLst>
          </p:cNvPr>
          <p:cNvSpPr>
            <a:spLocks/>
          </p:cNvSpPr>
          <p:nvPr/>
        </p:nvSpPr>
        <p:spPr bwMode="auto">
          <a:xfrm>
            <a:off x="1186956" y="5012758"/>
            <a:ext cx="1639887" cy="749300"/>
          </a:xfrm>
          <a:custGeom>
            <a:avLst/>
            <a:gdLst>
              <a:gd name="T0" fmla="*/ 0 w 1033"/>
              <a:gd name="T1" fmla="*/ 0 h 472"/>
              <a:gd name="T2" fmla="*/ 2147483646 w 1033"/>
              <a:gd name="T3" fmla="*/ 2147483646 h 472"/>
              <a:gd name="T4" fmla="*/ 2147483646 w 1033"/>
              <a:gd name="T5" fmla="*/ 2147483646 h 472"/>
              <a:gd name="T6" fmla="*/ 2147483646 w 1033"/>
              <a:gd name="T7" fmla="*/ 2147483646 h 472"/>
              <a:gd name="T8" fmla="*/ 2147483646 w 1033"/>
              <a:gd name="T9" fmla="*/ 2147483646 h 472"/>
              <a:gd name="T10" fmla="*/ 2147483646 w 1033"/>
              <a:gd name="T11" fmla="*/ 2147483646 h 472"/>
              <a:gd name="T12" fmla="*/ 2147483646 w 1033"/>
              <a:gd name="T13" fmla="*/ 2147483646 h 472"/>
              <a:gd name="T14" fmla="*/ 0 60000 65536"/>
              <a:gd name="T15" fmla="*/ 0 60000 65536"/>
              <a:gd name="T16" fmla="*/ 0 60000 65536"/>
              <a:gd name="T17" fmla="*/ 0 60000 65536"/>
              <a:gd name="T18" fmla="*/ 0 60000 65536"/>
              <a:gd name="T19" fmla="*/ 0 60000 65536"/>
              <a:gd name="T20" fmla="*/ 0 60000 65536"/>
              <a:gd name="T21" fmla="*/ 0 w 1033"/>
              <a:gd name="T22" fmla="*/ 0 h 472"/>
              <a:gd name="T23" fmla="*/ 1033 w 1033"/>
              <a:gd name="T24" fmla="*/ 472 h 4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33" h="472">
                <a:moveTo>
                  <a:pt x="0" y="0"/>
                </a:moveTo>
                <a:cubicBezTo>
                  <a:pt x="10" y="49"/>
                  <a:pt x="34" y="87"/>
                  <a:pt x="64" y="128"/>
                </a:cubicBezTo>
                <a:cubicBezTo>
                  <a:pt x="84" y="188"/>
                  <a:pt x="87" y="243"/>
                  <a:pt x="156" y="265"/>
                </a:cubicBezTo>
                <a:cubicBezTo>
                  <a:pt x="189" y="287"/>
                  <a:pt x="220" y="293"/>
                  <a:pt x="256" y="310"/>
                </a:cubicBezTo>
                <a:cubicBezTo>
                  <a:pt x="319" y="339"/>
                  <a:pt x="379" y="379"/>
                  <a:pt x="448" y="393"/>
                </a:cubicBezTo>
                <a:cubicBezTo>
                  <a:pt x="618" y="426"/>
                  <a:pt x="786" y="423"/>
                  <a:pt x="960" y="429"/>
                </a:cubicBezTo>
                <a:cubicBezTo>
                  <a:pt x="989" y="472"/>
                  <a:pt x="968" y="457"/>
                  <a:pt x="1033" y="457"/>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 name="Text Box 45">
            <a:extLst>
              <a:ext uri="{FF2B5EF4-FFF2-40B4-BE49-F238E27FC236}">
                <a16:creationId xmlns:a16="http://schemas.microsoft.com/office/drawing/2014/main" id="{61D35E8D-BC7E-47D9-8050-264CAF8372F0}"/>
              </a:ext>
            </a:extLst>
          </p:cNvPr>
          <p:cNvSpPr txBox="1">
            <a:spLocks noChangeArrowheads="1"/>
          </p:cNvSpPr>
          <p:nvPr/>
        </p:nvSpPr>
        <p:spPr bwMode="auto">
          <a:xfrm>
            <a:off x="5158881" y="4153921"/>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400">
                <a:solidFill>
                  <a:srgbClr val="F60000"/>
                </a:solidFill>
              </a:rPr>
              <a:t>13</a:t>
            </a:r>
          </a:p>
        </p:txBody>
      </p:sp>
      <p:sp>
        <p:nvSpPr>
          <p:cNvPr id="29" name="Text Box 47">
            <a:extLst>
              <a:ext uri="{FF2B5EF4-FFF2-40B4-BE49-F238E27FC236}">
                <a16:creationId xmlns:a16="http://schemas.microsoft.com/office/drawing/2014/main" id="{DC759627-01D9-4054-B1E4-7538FCFE850F}"/>
              </a:ext>
            </a:extLst>
          </p:cNvPr>
          <p:cNvSpPr txBox="1">
            <a:spLocks noChangeArrowheads="1"/>
          </p:cNvSpPr>
          <p:nvPr/>
        </p:nvSpPr>
        <p:spPr bwMode="auto">
          <a:xfrm>
            <a:off x="679652" y="6009622"/>
            <a:ext cx="50465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en-US" altLang="zh-CN" sz="2800" b="0" dirty="0"/>
              <a:t>Max{ </a:t>
            </a:r>
            <a:r>
              <a:rPr lang="en-US" altLang="zh-CN" sz="2800" b="0" dirty="0" err="1"/>
              <a:t>ve</a:t>
            </a:r>
            <a:r>
              <a:rPr lang="en-US" altLang="zh-CN" sz="2800" b="0" dirty="0"/>
              <a:t>(u)+1,ve(v)+2,ve(w)+3 }</a:t>
            </a:r>
          </a:p>
        </p:txBody>
      </p:sp>
      <p:sp>
        <p:nvSpPr>
          <p:cNvPr id="6" name="矩形 5">
            <a:extLst>
              <a:ext uri="{FF2B5EF4-FFF2-40B4-BE49-F238E27FC236}">
                <a16:creationId xmlns:a16="http://schemas.microsoft.com/office/drawing/2014/main" id="{17C8B4BA-C38A-4662-9A52-74606D702EAA}"/>
              </a:ext>
            </a:extLst>
          </p:cNvPr>
          <p:cNvSpPr/>
          <p:nvPr/>
        </p:nvSpPr>
        <p:spPr>
          <a:xfrm>
            <a:off x="574744" y="3117787"/>
            <a:ext cx="3910366" cy="369332"/>
          </a:xfrm>
          <a:prstGeom prst="rect">
            <a:avLst/>
          </a:prstGeom>
        </p:spPr>
        <p:txBody>
          <a:bodyPr wrap="none">
            <a:spAutoFit/>
          </a:bodyPr>
          <a:lstStyle/>
          <a:p>
            <a:r>
              <a:rPr lang="en-US" altLang="zh-CN" b="1" dirty="0" err="1">
                <a:latin typeface="楷体_GB2312" pitchFamily="49" charset="-122"/>
                <a:cs typeface="楷体_GB2312" pitchFamily="49" charset="-122"/>
              </a:rPr>
              <a:t>ve</a:t>
            </a:r>
            <a:r>
              <a:rPr lang="en-US" altLang="zh-CN" b="1" dirty="0">
                <a:latin typeface="楷体_GB2312" pitchFamily="49" charset="-122"/>
                <a:cs typeface="楷体_GB2312" pitchFamily="49" charset="-122"/>
              </a:rPr>
              <a:t>(j)</a:t>
            </a:r>
            <a:r>
              <a:rPr lang="zh-CN" altLang="en-US" b="1" dirty="0">
                <a:latin typeface="楷体_GB2312" pitchFamily="49" charset="-122"/>
                <a:cs typeface="楷体_GB2312" pitchFamily="49" charset="-122"/>
              </a:rPr>
              <a:t>表示事件顶点</a:t>
            </a:r>
            <a:r>
              <a:rPr lang="en-US" altLang="zh-CN" b="1" dirty="0" err="1">
                <a:cs typeface="楷体_GB2312" pitchFamily="49" charset="-122"/>
              </a:rPr>
              <a:t>Vj</a:t>
            </a:r>
            <a:r>
              <a:rPr lang="zh-CN" altLang="en-US" b="1" dirty="0">
                <a:cs typeface="楷体_GB2312" pitchFamily="49" charset="-122"/>
              </a:rPr>
              <a:t>的最早发生时间</a:t>
            </a:r>
          </a:p>
        </p:txBody>
      </p:sp>
      <p:pic>
        <p:nvPicPr>
          <p:cNvPr id="31" name="图片 30">
            <a:extLst>
              <a:ext uri="{FF2B5EF4-FFF2-40B4-BE49-F238E27FC236}">
                <a16:creationId xmlns:a16="http://schemas.microsoft.com/office/drawing/2014/main" id="{AE08A15D-1993-4C6E-A0E0-B51674A5507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17221" y="2807144"/>
            <a:ext cx="4255604" cy="2842066"/>
          </a:xfrm>
          <a:prstGeom prst="rect">
            <a:avLst/>
          </a:prstGeom>
          <a:noFill/>
          <a:ln>
            <a:noFill/>
          </a:ln>
        </p:spPr>
      </p:pic>
      <p:sp>
        <p:nvSpPr>
          <p:cNvPr id="30" name="矩形 29">
            <a:extLst>
              <a:ext uri="{FF2B5EF4-FFF2-40B4-BE49-F238E27FC236}">
                <a16:creationId xmlns:a16="http://schemas.microsoft.com/office/drawing/2014/main" id="{2E6A965B-E056-4A3C-AAF7-AC5C52884603}"/>
              </a:ext>
            </a:extLst>
          </p:cNvPr>
          <p:cNvSpPr/>
          <p:nvPr/>
        </p:nvSpPr>
        <p:spPr>
          <a:xfrm>
            <a:off x="7201866" y="6032364"/>
            <a:ext cx="3970959" cy="523220"/>
          </a:xfrm>
          <a:prstGeom prst="rect">
            <a:avLst/>
          </a:prstGeom>
        </p:spPr>
        <p:txBody>
          <a:bodyPr wrap="none">
            <a:spAutoFit/>
          </a:bodyPr>
          <a:lstStyle/>
          <a:p>
            <a:r>
              <a:rPr lang="zh-CN" altLang="en-US" sz="2800" dirty="0">
                <a:solidFill>
                  <a:srgbClr val="FF0000"/>
                </a:solidFill>
              </a:rPr>
              <a:t>顶点</a:t>
            </a:r>
            <a:r>
              <a:rPr lang="en-US" altLang="zh-CN" sz="2800" dirty="0">
                <a:solidFill>
                  <a:srgbClr val="FF0000"/>
                </a:solidFill>
              </a:rPr>
              <a:t>B</a:t>
            </a:r>
            <a:r>
              <a:rPr lang="zh-CN" altLang="en-US" sz="2800" dirty="0">
                <a:solidFill>
                  <a:srgbClr val="FF0000"/>
                </a:solidFill>
              </a:rPr>
              <a:t>的最早发生时间？</a:t>
            </a:r>
          </a:p>
        </p:txBody>
      </p:sp>
    </p:spTree>
    <p:extLst>
      <p:ext uri="{BB962C8B-B14F-4D97-AF65-F5344CB8AC3E}">
        <p14:creationId xmlns:p14="http://schemas.microsoft.com/office/powerpoint/2010/main" val="311965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580942" y="1903136"/>
            <a:ext cx="9014171" cy="3682655"/>
          </a:xfrm>
          <a:prstGeom prst="rect">
            <a:avLst/>
          </a:prstGeom>
          <a:noFill/>
          <a:ln>
            <a:noFill/>
          </a:ln>
        </p:spPr>
      </p:pic>
      <p:cxnSp>
        <p:nvCxnSpPr>
          <p:cNvPr id="3" name="直接连接符 2">
            <a:extLst>
              <a:ext uri="{FF2B5EF4-FFF2-40B4-BE49-F238E27FC236}">
                <a16:creationId xmlns:a16="http://schemas.microsoft.com/office/drawing/2014/main" id="{14A41BAD-9F17-4E41-A3EB-878EE3673A6C}"/>
              </a:ext>
            </a:extLst>
          </p:cNvPr>
          <p:cNvCxnSpPr/>
          <p:nvPr/>
        </p:nvCxnSpPr>
        <p:spPr>
          <a:xfrm>
            <a:off x="6864263" y="2968668"/>
            <a:ext cx="275573"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11BA146A-7683-4578-8CF6-8ACB6F9B787E}"/>
              </a:ext>
            </a:extLst>
          </p:cNvPr>
          <p:cNvSpPr txBox="1"/>
          <p:nvPr/>
        </p:nvSpPr>
        <p:spPr>
          <a:xfrm>
            <a:off x="1580942" y="5724395"/>
            <a:ext cx="2149948" cy="369332"/>
          </a:xfrm>
          <a:prstGeom prst="rect">
            <a:avLst/>
          </a:prstGeom>
          <a:noFill/>
        </p:spPr>
        <p:txBody>
          <a:bodyPr wrap="none" rtlCol="0">
            <a:spAutoFit/>
          </a:bodyPr>
          <a:lstStyle/>
          <a:p>
            <a:r>
              <a:rPr lang="zh-CN" altLang="en-US" dirty="0">
                <a:solidFill>
                  <a:srgbClr val="FF0000"/>
                </a:solidFill>
              </a:rPr>
              <a:t>选择入度为</a:t>
            </a:r>
            <a:r>
              <a:rPr lang="en-US" altLang="zh-CN" dirty="0">
                <a:solidFill>
                  <a:srgbClr val="FF0000"/>
                </a:solidFill>
              </a:rPr>
              <a:t>0</a:t>
            </a:r>
            <a:r>
              <a:rPr lang="zh-CN" altLang="en-US" dirty="0">
                <a:solidFill>
                  <a:srgbClr val="FF0000"/>
                </a:solidFill>
              </a:rPr>
              <a:t>的顶点</a:t>
            </a:r>
          </a:p>
        </p:txBody>
      </p:sp>
    </p:spTree>
    <p:extLst>
      <p:ext uri="{BB962C8B-B14F-4D97-AF65-F5344CB8AC3E}">
        <p14:creationId xmlns:p14="http://schemas.microsoft.com/office/powerpoint/2010/main" val="287725333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542635" y="1949310"/>
            <a:ext cx="8297103" cy="3715993"/>
          </a:xfrm>
          <a:prstGeom prst="rect">
            <a:avLst/>
          </a:prstGeom>
          <a:noFill/>
          <a:ln>
            <a:noFill/>
          </a:ln>
        </p:spPr>
      </p:pic>
      <p:cxnSp>
        <p:nvCxnSpPr>
          <p:cNvPr id="3" name="直接连接符 2">
            <a:extLst>
              <a:ext uri="{FF2B5EF4-FFF2-40B4-BE49-F238E27FC236}">
                <a16:creationId xmlns:a16="http://schemas.microsoft.com/office/drawing/2014/main" id="{7430FFFF-0612-40A5-92F0-CF16B0E4ACFA}"/>
              </a:ext>
            </a:extLst>
          </p:cNvPr>
          <p:cNvCxnSpPr/>
          <p:nvPr/>
        </p:nvCxnSpPr>
        <p:spPr>
          <a:xfrm>
            <a:off x="2617940" y="4597052"/>
            <a:ext cx="3006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A092E75B-76E4-4C59-BCF5-F77065454DDC}"/>
              </a:ext>
            </a:extLst>
          </p:cNvPr>
          <p:cNvCxnSpPr/>
          <p:nvPr/>
        </p:nvCxnSpPr>
        <p:spPr>
          <a:xfrm>
            <a:off x="7390356" y="3429000"/>
            <a:ext cx="25052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601960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582392" y="1930263"/>
            <a:ext cx="8456129" cy="3894068"/>
          </a:xfrm>
          <a:prstGeom prst="rect">
            <a:avLst/>
          </a:prstGeom>
          <a:noFill/>
          <a:ln>
            <a:noFill/>
          </a:ln>
        </p:spPr>
      </p:pic>
      <p:cxnSp>
        <p:nvCxnSpPr>
          <p:cNvPr id="3" name="直接连接符 2">
            <a:extLst>
              <a:ext uri="{FF2B5EF4-FFF2-40B4-BE49-F238E27FC236}">
                <a16:creationId xmlns:a16="http://schemas.microsoft.com/office/drawing/2014/main" id="{FA1795C4-2AD5-4DC9-A377-85FA6E082F15}"/>
              </a:ext>
            </a:extLst>
          </p:cNvPr>
          <p:cNvCxnSpPr/>
          <p:nvPr/>
        </p:nvCxnSpPr>
        <p:spPr>
          <a:xfrm>
            <a:off x="8530224" y="2818356"/>
            <a:ext cx="3006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9626E41A-32AB-4131-91BC-5913537E6C8F}"/>
              </a:ext>
            </a:extLst>
          </p:cNvPr>
          <p:cNvCxnSpPr/>
          <p:nvPr/>
        </p:nvCxnSpPr>
        <p:spPr>
          <a:xfrm>
            <a:off x="2970766" y="5814164"/>
            <a:ext cx="30062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960812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562515" y="1911210"/>
            <a:ext cx="8495885" cy="3932999"/>
          </a:xfrm>
          <a:prstGeom prst="rect">
            <a:avLst/>
          </a:prstGeom>
          <a:noFill/>
          <a:ln>
            <a:noFill/>
          </a:ln>
        </p:spPr>
      </p:pic>
      <p:cxnSp>
        <p:nvCxnSpPr>
          <p:cNvPr id="3" name="直接连接符 2">
            <a:extLst>
              <a:ext uri="{FF2B5EF4-FFF2-40B4-BE49-F238E27FC236}">
                <a16:creationId xmlns:a16="http://schemas.microsoft.com/office/drawing/2014/main" id="{F753541C-B00D-409C-BD5B-03BB852D313F}"/>
              </a:ext>
            </a:extLst>
          </p:cNvPr>
          <p:cNvCxnSpPr/>
          <p:nvPr/>
        </p:nvCxnSpPr>
        <p:spPr>
          <a:xfrm>
            <a:off x="4196219" y="5649238"/>
            <a:ext cx="35072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20621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a:t>
            </a:r>
          </a:p>
        </p:txBody>
      </p:sp>
      <p:sp>
        <p:nvSpPr>
          <p:cNvPr id="2" name="文本框 1"/>
          <p:cNvSpPr txBox="1"/>
          <p:nvPr/>
        </p:nvSpPr>
        <p:spPr>
          <a:xfrm>
            <a:off x="357832" y="1458566"/>
            <a:ext cx="11316426" cy="1815882"/>
          </a:xfrm>
          <a:prstGeom prst="rect">
            <a:avLst/>
          </a:prstGeom>
          <a:noFill/>
        </p:spPr>
        <p:txBody>
          <a:bodyPr wrap="square" rtlCol="0">
            <a:spAutoFit/>
          </a:bodyPr>
          <a:lstStyle/>
          <a:p>
            <a:pPr lvl="0"/>
            <a:r>
              <a:rPr lang="zh-CN" altLang="zh-CN" sz="2800" dirty="0">
                <a:latin typeface="Times New Roman" panose="02020603050405020304" pitchFamily="18" charset="0"/>
                <a:ea typeface="华文楷体" pitchFamily="2" charset="-122"/>
                <a:cs typeface="Times New Roman" panose="02020603050405020304" pitchFamily="18" charset="0"/>
              </a:rPr>
              <a:t>如果一个工程终点的最早时间</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已知</a:t>
            </a:r>
            <a:r>
              <a:rPr lang="zh-CN" altLang="zh-CN" sz="2800" dirty="0">
                <a:latin typeface="Times New Roman" panose="02020603050405020304" pitchFamily="18" charset="0"/>
                <a:ea typeface="华文楷体" pitchFamily="2" charset="-122"/>
                <a:cs typeface="Times New Roman" panose="02020603050405020304" pitchFamily="18" charset="0"/>
              </a:rPr>
              <a:t>，这个最早时间就是工程需要的总的</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最短工期</a:t>
            </a:r>
            <a:r>
              <a:rPr lang="zh-CN" altLang="en-US"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a:t>
            </a:r>
            <a:r>
              <a:rPr lang="zh-CN" altLang="zh-CN" sz="2800" dirty="0">
                <a:latin typeface="Times New Roman" panose="02020603050405020304" pitchFamily="18" charset="0"/>
                <a:ea typeface="华文楷体" pitchFamily="2" charset="-122"/>
                <a:cs typeface="Times New Roman" panose="02020603050405020304" pitchFamily="18" charset="0"/>
              </a:rPr>
              <a:t>为了达到这个工期目标，可以</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设定</a:t>
            </a:r>
            <a:r>
              <a:rPr lang="zh-CN" altLang="zh-CN" sz="2800" dirty="0">
                <a:latin typeface="Times New Roman" panose="02020603050405020304" pitchFamily="18" charset="0"/>
                <a:ea typeface="华文楷体" pitchFamily="2" charset="-122"/>
                <a:cs typeface="Times New Roman" panose="02020603050405020304" pitchFamily="18" charset="0"/>
              </a:rPr>
              <a:t>这个时间就是终点事件的</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最迟发生时间</a:t>
            </a:r>
            <a:r>
              <a:rPr lang="zh-CN" altLang="zh-CN" sz="2800" dirty="0">
                <a:latin typeface="Times New Roman" panose="02020603050405020304" pitchFamily="18" charset="0"/>
                <a:ea typeface="华文楷体" pitchFamily="2" charset="-122"/>
                <a:cs typeface="Times New Roman" panose="02020603050405020304" pitchFamily="18" charset="0"/>
              </a:rPr>
              <a:t>，然后对余下的顶点</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倒推</a:t>
            </a:r>
            <a:r>
              <a:rPr lang="zh-CN" altLang="zh-CN" sz="2800" dirty="0">
                <a:latin typeface="Times New Roman" panose="02020603050405020304" pitchFamily="18" charset="0"/>
                <a:ea typeface="华文楷体" pitchFamily="2" charset="-122"/>
                <a:cs typeface="Times New Roman" panose="02020603050405020304" pitchFamily="18" charset="0"/>
              </a:rPr>
              <a:t>回去，可以获得其余顶点事件的最迟发生时间。</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6545746" y="3274448"/>
            <a:ext cx="4255604" cy="2842066"/>
          </a:xfrm>
          <a:prstGeom prst="rect">
            <a:avLst/>
          </a:prstGeom>
          <a:noFill/>
          <a:ln>
            <a:noFill/>
          </a:ln>
        </p:spPr>
      </p:pic>
      <p:sp>
        <p:nvSpPr>
          <p:cNvPr id="8" name="Oval 4">
            <a:extLst>
              <a:ext uri="{FF2B5EF4-FFF2-40B4-BE49-F238E27FC236}">
                <a16:creationId xmlns:a16="http://schemas.microsoft.com/office/drawing/2014/main" id="{5202DE6D-8AB7-40C6-ACAE-C288F6CF17D3}"/>
              </a:ext>
            </a:extLst>
          </p:cNvPr>
          <p:cNvSpPr>
            <a:spLocks noChangeArrowheads="1"/>
          </p:cNvSpPr>
          <p:nvPr/>
        </p:nvSpPr>
        <p:spPr bwMode="auto">
          <a:xfrm>
            <a:off x="1248933" y="4499626"/>
            <a:ext cx="503237"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i</a:t>
            </a:r>
          </a:p>
        </p:txBody>
      </p:sp>
      <p:sp>
        <p:nvSpPr>
          <p:cNvPr id="9" name="Oval 5">
            <a:extLst>
              <a:ext uri="{FF2B5EF4-FFF2-40B4-BE49-F238E27FC236}">
                <a16:creationId xmlns:a16="http://schemas.microsoft.com/office/drawing/2014/main" id="{4E9E2F1A-493A-47DE-BBAF-153445FB5820}"/>
              </a:ext>
            </a:extLst>
          </p:cNvPr>
          <p:cNvSpPr>
            <a:spLocks noChangeArrowheads="1"/>
          </p:cNvSpPr>
          <p:nvPr/>
        </p:nvSpPr>
        <p:spPr bwMode="auto">
          <a:xfrm>
            <a:off x="3265058" y="3778901"/>
            <a:ext cx="503237"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u</a:t>
            </a:r>
          </a:p>
        </p:txBody>
      </p:sp>
      <p:sp>
        <p:nvSpPr>
          <p:cNvPr id="10" name="Oval 6">
            <a:extLst>
              <a:ext uri="{FF2B5EF4-FFF2-40B4-BE49-F238E27FC236}">
                <a16:creationId xmlns:a16="http://schemas.microsoft.com/office/drawing/2014/main" id="{8074BB06-2BB0-4F02-A097-E55D186BD4E8}"/>
              </a:ext>
            </a:extLst>
          </p:cNvPr>
          <p:cNvSpPr>
            <a:spLocks noChangeArrowheads="1"/>
          </p:cNvSpPr>
          <p:nvPr/>
        </p:nvSpPr>
        <p:spPr bwMode="auto">
          <a:xfrm>
            <a:off x="3193620" y="5436251"/>
            <a:ext cx="503238"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w</a:t>
            </a:r>
          </a:p>
        </p:txBody>
      </p:sp>
      <p:sp>
        <p:nvSpPr>
          <p:cNvPr id="11" name="Oval 7">
            <a:extLst>
              <a:ext uri="{FF2B5EF4-FFF2-40B4-BE49-F238E27FC236}">
                <a16:creationId xmlns:a16="http://schemas.microsoft.com/office/drawing/2014/main" id="{7698A293-B611-4D40-8B3E-611E878BF70D}"/>
              </a:ext>
            </a:extLst>
          </p:cNvPr>
          <p:cNvSpPr>
            <a:spLocks noChangeArrowheads="1"/>
          </p:cNvSpPr>
          <p:nvPr/>
        </p:nvSpPr>
        <p:spPr bwMode="auto">
          <a:xfrm>
            <a:off x="3265058" y="4571064"/>
            <a:ext cx="503237" cy="4318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v</a:t>
            </a:r>
          </a:p>
        </p:txBody>
      </p:sp>
      <p:sp>
        <p:nvSpPr>
          <p:cNvPr id="12" name="Oval 8">
            <a:extLst>
              <a:ext uri="{FF2B5EF4-FFF2-40B4-BE49-F238E27FC236}">
                <a16:creationId xmlns:a16="http://schemas.microsoft.com/office/drawing/2014/main" id="{CCCB0A04-77EE-4F6B-8E35-9C37A30D2C2F}"/>
              </a:ext>
            </a:extLst>
          </p:cNvPr>
          <p:cNvSpPr>
            <a:spLocks noChangeArrowheads="1"/>
          </p:cNvSpPr>
          <p:nvPr/>
        </p:nvSpPr>
        <p:spPr bwMode="auto">
          <a:xfrm>
            <a:off x="5281183" y="4571064"/>
            <a:ext cx="503237" cy="431800"/>
          </a:xfrm>
          <a:prstGeom prst="ellipse">
            <a:avLst/>
          </a:prstGeom>
          <a:solidFill>
            <a:srgbClr val="FF99FF"/>
          </a:solidFill>
          <a:ln w="28575">
            <a:solidFill>
              <a:schemeClr val="tx1"/>
            </a:solidFill>
            <a:round/>
            <a:headEnd/>
            <a:tailEnd/>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t>V</a:t>
            </a:r>
            <a:r>
              <a:rPr lang="en-US" altLang="zh-CN" sz="2400" b="0" baseline="-10000"/>
              <a:t>n</a:t>
            </a:r>
          </a:p>
        </p:txBody>
      </p:sp>
      <p:sp>
        <p:nvSpPr>
          <p:cNvPr id="13" name="Text Box 12">
            <a:extLst>
              <a:ext uri="{FF2B5EF4-FFF2-40B4-BE49-F238E27FC236}">
                <a16:creationId xmlns:a16="http://schemas.microsoft.com/office/drawing/2014/main" id="{B7B3AD2F-FD2B-4501-BDAD-3D8546D8EAB8}"/>
              </a:ext>
            </a:extLst>
          </p:cNvPr>
          <p:cNvSpPr txBox="1">
            <a:spLocks noChangeArrowheads="1"/>
          </p:cNvSpPr>
          <p:nvPr/>
        </p:nvSpPr>
        <p:spPr bwMode="auto">
          <a:xfrm>
            <a:off x="3265058" y="3420126"/>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solidFill>
                  <a:schemeClr val="tx2"/>
                </a:solidFill>
              </a:rPr>
              <a:t>5</a:t>
            </a:r>
          </a:p>
        </p:txBody>
      </p:sp>
      <p:sp>
        <p:nvSpPr>
          <p:cNvPr id="14" name="Text Box 13">
            <a:extLst>
              <a:ext uri="{FF2B5EF4-FFF2-40B4-BE49-F238E27FC236}">
                <a16:creationId xmlns:a16="http://schemas.microsoft.com/office/drawing/2014/main" id="{65386964-9940-4ABE-875F-E06439152DDB}"/>
              </a:ext>
            </a:extLst>
          </p:cNvPr>
          <p:cNvSpPr txBox="1">
            <a:spLocks noChangeArrowheads="1"/>
          </p:cNvSpPr>
          <p:nvPr/>
        </p:nvSpPr>
        <p:spPr bwMode="auto">
          <a:xfrm>
            <a:off x="2472895" y="3851926"/>
            <a:ext cx="215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t>1</a:t>
            </a:r>
          </a:p>
        </p:txBody>
      </p:sp>
      <p:sp>
        <p:nvSpPr>
          <p:cNvPr id="15" name="Text Box 14">
            <a:extLst>
              <a:ext uri="{FF2B5EF4-FFF2-40B4-BE49-F238E27FC236}">
                <a16:creationId xmlns:a16="http://schemas.microsoft.com/office/drawing/2014/main" id="{70249A09-7651-46B6-810D-CD564F4052C0}"/>
              </a:ext>
            </a:extLst>
          </p:cNvPr>
          <p:cNvSpPr txBox="1">
            <a:spLocks noChangeArrowheads="1"/>
          </p:cNvSpPr>
          <p:nvPr/>
        </p:nvSpPr>
        <p:spPr bwMode="auto">
          <a:xfrm>
            <a:off x="3338083" y="4212289"/>
            <a:ext cx="215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solidFill>
                  <a:schemeClr val="tx2"/>
                </a:solidFill>
              </a:rPr>
              <a:t>6</a:t>
            </a:r>
          </a:p>
        </p:txBody>
      </p:sp>
      <p:sp>
        <p:nvSpPr>
          <p:cNvPr id="16" name="Text Box 15">
            <a:extLst>
              <a:ext uri="{FF2B5EF4-FFF2-40B4-BE49-F238E27FC236}">
                <a16:creationId xmlns:a16="http://schemas.microsoft.com/office/drawing/2014/main" id="{6E4BD813-B27B-40A9-9088-65F3495C6E57}"/>
              </a:ext>
            </a:extLst>
          </p:cNvPr>
          <p:cNvSpPr txBox="1">
            <a:spLocks noChangeArrowheads="1"/>
          </p:cNvSpPr>
          <p:nvPr/>
        </p:nvSpPr>
        <p:spPr bwMode="auto">
          <a:xfrm>
            <a:off x="3265058" y="5075889"/>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solidFill>
                  <a:schemeClr val="tx2"/>
                </a:solidFill>
              </a:rPr>
              <a:t>11</a:t>
            </a:r>
          </a:p>
        </p:txBody>
      </p:sp>
      <p:sp>
        <p:nvSpPr>
          <p:cNvPr id="17" name="Text Box 23">
            <a:extLst>
              <a:ext uri="{FF2B5EF4-FFF2-40B4-BE49-F238E27FC236}">
                <a16:creationId xmlns:a16="http://schemas.microsoft.com/office/drawing/2014/main" id="{691D4AA9-57BC-4C4F-B405-2634FA51FC11}"/>
              </a:ext>
            </a:extLst>
          </p:cNvPr>
          <p:cNvSpPr txBox="1">
            <a:spLocks noChangeArrowheads="1"/>
          </p:cNvSpPr>
          <p:nvPr/>
        </p:nvSpPr>
        <p:spPr bwMode="auto">
          <a:xfrm>
            <a:off x="2401458" y="4428189"/>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t>2</a:t>
            </a:r>
          </a:p>
        </p:txBody>
      </p:sp>
      <p:sp>
        <p:nvSpPr>
          <p:cNvPr id="18" name="Text Box 24">
            <a:extLst>
              <a:ext uri="{FF2B5EF4-FFF2-40B4-BE49-F238E27FC236}">
                <a16:creationId xmlns:a16="http://schemas.microsoft.com/office/drawing/2014/main" id="{5A5FE166-0E15-4325-871E-6F8E7B2EEF69}"/>
              </a:ext>
            </a:extLst>
          </p:cNvPr>
          <p:cNvSpPr txBox="1">
            <a:spLocks noChangeArrowheads="1"/>
          </p:cNvSpPr>
          <p:nvPr/>
        </p:nvSpPr>
        <p:spPr bwMode="auto">
          <a:xfrm>
            <a:off x="5497083" y="4139264"/>
            <a:ext cx="504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400">
                <a:solidFill>
                  <a:schemeClr val="tx2"/>
                </a:solidFill>
              </a:rPr>
              <a:t>23</a:t>
            </a:r>
          </a:p>
        </p:txBody>
      </p:sp>
      <p:sp>
        <p:nvSpPr>
          <p:cNvPr id="19" name="Line 25">
            <a:extLst>
              <a:ext uri="{FF2B5EF4-FFF2-40B4-BE49-F238E27FC236}">
                <a16:creationId xmlns:a16="http://schemas.microsoft.com/office/drawing/2014/main" id="{4AB629F6-C9E8-41E6-9DE1-6D3AF42135E3}"/>
              </a:ext>
            </a:extLst>
          </p:cNvPr>
          <p:cNvSpPr>
            <a:spLocks noChangeShapeType="1"/>
          </p:cNvSpPr>
          <p:nvPr/>
        </p:nvSpPr>
        <p:spPr bwMode="auto">
          <a:xfrm flipV="1">
            <a:off x="1753758" y="3996389"/>
            <a:ext cx="1511300" cy="647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6">
            <a:extLst>
              <a:ext uri="{FF2B5EF4-FFF2-40B4-BE49-F238E27FC236}">
                <a16:creationId xmlns:a16="http://schemas.microsoft.com/office/drawing/2014/main" id="{7010F5F5-C17A-48DC-815F-8219D4335955}"/>
              </a:ext>
            </a:extLst>
          </p:cNvPr>
          <p:cNvSpPr>
            <a:spLocks noChangeShapeType="1"/>
          </p:cNvSpPr>
          <p:nvPr/>
        </p:nvSpPr>
        <p:spPr bwMode="auto">
          <a:xfrm>
            <a:off x="1753758" y="4786964"/>
            <a:ext cx="14398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7">
            <a:extLst>
              <a:ext uri="{FF2B5EF4-FFF2-40B4-BE49-F238E27FC236}">
                <a16:creationId xmlns:a16="http://schemas.microsoft.com/office/drawing/2014/main" id="{88FD8EB2-EAD8-4BF7-A28D-B8D524FC0A8F}"/>
              </a:ext>
            </a:extLst>
          </p:cNvPr>
          <p:cNvSpPr>
            <a:spLocks noChangeShapeType="1"/>
          </p:cNvSpPr>
          <p:nvPr/>
        </p:nvSpPr>
        <p:spPr bwMode="auto">
          <a:xfrm>
            <a:off x="1680733" y="4931426"/>
            <a:ext cx="1439862" cy="647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Text Box 28">
            <a:extLst>
              <a:ext uri="{FF2B5EF4-FFF2-40B4-BE49-F238E27FC236}">
                <a16:creationId xmlns:a16="http://schemas.microsoft.com/office/drawing/2014/main" id="{82836A0F-DAB2-4D3A-A200-458C4FD36561}"/>
              </a:ext>
            </a:extLst>
          </p:cNvPr>
          <p:cNvSpPr txBox="1">
            <a:spLocks noChangeArrowheads="1"/>
          </p:cNvSpPr>
          <p:nvPr/>
        </p:nvSpPr>
        <p:spPr bwMode="auto">
          <a:xfrm>
            <a:off x="2401458" y="4966351"/>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000"/>
              <a:t>4</a:t>
            </a:r>
          </a:p>
        </p:txBody>
      </p:sp>
      <p:sp>
        <p:nvSpPr>
          <p:cNvPr id="23" name="Freeform 29">
            <a:extLst>
              <a:ext uri="{FF2B5EF4-FFF2-40B4-BE49-F238E27FC236}">
                <a16:creationId xmlns:a16="http://schemas.microsoft.com/office/drawing/2014/main" id="{87F37861-AB3E-4D83-BE6E-2CFFEE9629C1}"/>
              </a:ext>
            </a:extLst>
          </p:cNvPr>
          <p:cNvSpPr>
            <a:spLocks/>
          </p:cNvSpPr>
          <p:nvPr/>
        </p:nvSpPr>
        <p:spPr bwMode="auto">
          <a:xfrm>
            <a:off x="3754008" y="3885264"/>
            <a:ext cx="1670050" cy="735012"/>
          </a:xfrm>
          <a:custGeom>
            <a:avLst/>
            <a:gdLst>
              <a:gd name="T0" fmla="*/ 0 w 1052"/>
              <a:gd name="T1" fmla="*/ 2147483646 h 463"/>
              <a:gd name="T2" fmla="*/ 2147483646 w 1052"/>
              <a:gd name="T3" fmla="*/ 2147483646 h 463"/>
              <a:gd name="T4" fmla="*/ 2147483646 w 1052"/>
              <a:gd name="T5" fmla="*/ 2147483646 h 463"/>
              <a:gd name="T6" fmla="*/ 2147483646 w 1052"/>
              <a:gd name="T7" fmla="*/ 2147483646 h 463"/>
              <a:gd name="T8" fmla="*/ 2147483646 w 1052"/>
              <a:gd name="T9" fmla="*/ 2147483646 h 463"/>
              <a:gd name="T10" fmla="*/ 2147483646 w 1052"/>
              <a:gd name="T11" fmla="*/ 2147483646 h 463"/>
              <a:gd name="T12" fmla="*/ 2147483646 w 1052"/>
              <a:gd name="T13" fmla="*/ 2147483646 h 463"/>
              <a:gd name="T14" fmla="*/ 2147483646 w 1052"/>
              <a:gd name="T15" fmla="*/ 2147483646 h 463"/>
              <a:gd name="T16" fmla="*/ 0 60000 65536"/>
              <a:gd name="T17" fmla="*/ 0 60000 65536"/>
              <a:gd name="T18" fmla="*/ 0 60000 65536"/>
              <a:gd name="T19" fmla="*/ 0 60000 65536"/>
              <a:gd name="T20" fmla="*/ 0 60000 65536"/>
              <a:gd name="T21" fmla="*/ 0 60000 65536"/>
              <a:gd name="T22" fmla="*/ 0 60000 65536"/>
              <a:gd name="T23" fmla="*/ 0 60000 65536"/>
              <a:gd name="T24" fmla="*/ 0 w 1052"/>
              <a:gd name="T25" fmla="*/ 0 h 463"/>
              <a:gd name="T26" fmla="*/ 1052 w 1052"/>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52" h="463">
                <a:moveTo>
                  <a:pt x="0" y="6"/>
                </a:moveTo>
                <a:cubicBezTo>
                  <a:pt x="188" y="23"/>
                  <a:pt x="379" y="0"/>
                  <a:pt x="567" y="24"/>
                </a:cubicBezTo>
                <a:cubicBezTo>
                  <a:pt x="589" y="27"/>
                  <a:pt x="592" y="61"/>
                  <a:pt x="604" y="79"/>
                </a:cubicBezTo>
                <a:cubicBezTo>
                  <a:pt x="645" y="141"/>
                  <a:pt x="647" y="132"/>
                  <a:pt x="704" y="143"/>
                </a:cubicBezTo>
                <a:cubicBezTo>
                  <a:pt x="738" y="211"/>
                  <a:pt x="791" y="253"/>
                  <a:pt x="860" y="280"/>
                </a:cubicBezTo>
                <a:cubicBezTo>
                  <a:pt x="889" y="309"/>
                  <a:pt x="913" y="322"/>
                  <a:pt x="951" y="335"/>
                </a:cubicBezTo>
                <a:cubicBezTo>
                  <a:pt x="976" y="372"/>
                  <a:pt x="963" y="385"/>
                  <a:pt x="1006" y="399"/>
                </a:cubicBezTo>
                <a:cubicBezTo>
                  <a:pt x="1044" y="458"/>
                  <a:pt x="1026" y="439"/>
                  <a:pt x="1052" y="463"/>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Freeform 30">
            <a:extLst>
              <a:ext uri="{FF2B5EF4-FFF2-40B4-BE49-F238E27FC236}">
                <a16:creationId xmlns:a16="http://schemas.microsoft.com/office/drawing/2014/main" id="{09BA89D3-6CD8-40CE-B319-CBDF3CF4D929}"/>
              </a:ext>
            </a:extLst>
          </p:cNvPr>
          <p:cNvSpPr>
            <a:spLocks/>
          </p:cNvSpPr>
          <p:nvPr/>
        </p:nvSpPr>
        <p:spPr bwMode="auto">
          <a:xfrm>
            <a:off x="3768295" y="4794901"/>
            <a:ext cx="1495425" cy="347663"/>
          </a:xfrm>
          <a:custGeom>
            <a:avLst/>
            <a:gdLst>
              <a:gd name="T0" fmla="*/ 0 w 942"/>
              <a:gd name="T1" fmla="*/ 2147483646 h 219"/>
              <a:gd name="T2" fmla="*/ 2147483646 w 942"/>
              <a:gd name="T3" fmla="*/ 2147483646 h 219"/>
              <a:gd name="T4" fmla="*/ 2147483646 w 942"/>
              <a:gd name="T5" fmla="*/ 2147483646 h 219"/>
              <a:gd name="T6" fmla="*/ 2147483646 w 942"/>
              <a:gd name="T7" fmla="*/ 2147483646 h 219"/>
              <a:gd name="T8" fmla="*/ 2147483646 w 942"/>
              <a:gd name="T9" fmla="*/ 0 h 219"/>
              <a:gd name="T10" fmla="*/ 2147483646 w 942"/>
              <a:gd name="T11" fmla="*/ 2147483646 h 219"/>
              <a:gd name="T12" fmla="*/ 2147483646 w 942"/>
              <a:gd name="T13" fmla="*/ 2147483646 h 219"/>
              <a:gd name="T14" fmla="*/ 2147483646 w 942"/>
              <a:gd name="T15" fmla="*/ 2147483646 h 219"/>
              <a:gd name="T16" fmla="*/ 2147483646 w 942"/>
              <a:gd name="T17" fmla="*/ 2147483646 h 2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2"/>
              <a:gd name="T28" fmla="*/ 0 h 219"/>
              <a:gd name="T29" fmla="*/ 942 w 942"/>
              <a:gd name="T30" fmla="*/ 219 h 2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2" h="219">
                <a:moveTo>
                  <a:pt x="0" y="54"/>
                </a:moveTo>
                <a:cubicBezTo>
                  <a:pt x="5" y="55"/>
                  <a:pt x="74" y="70"/>
                  <a:pt x="83" y="73"/>
                </a:cubicBezTo>
                <a:cubicBezTo>
                  <a:pt x="172" y="106"/>
                  <a:pt x="237" y="177"/>
                  <a:pt x="320" y="219"/>
                </a:cubicBezTo>
                <a:cubicBezTo>
                  <a:pt x="526" y="175"/>
                  <a:pt x="400" y="218"/>
                  <a:pt x="476" y="146"/>
                </a:cubicBezTo>
                <a:cubicBezTo>
                  <a:pt x="511" y="74"/>
                  <a:pt x="594" y="24"/>
                  <a:pt x="668" y="0"/>
                </a:cubicBezTo>
                <a:cubicBezTo>
                  <a:pt x="686" y="3"/>
                  <a:pt x="707" y="0"/>
                  <a:pt x="723" y="9"/>
                </a:cubicBezTo>
                <a:cubicBezTo>
                  <a:pt x="731" y="14"/>
                  <a:pt x="726" y="29"/>
                  <a:pt x="732" y="36"/>
                </a:cubicBezTo>
                <a:cubicBezTo>
                  <a:pt x="739" y="44"/>
                  <a:pt x="750" y="48"/>
                  <a:pt x="759" y="54"/>
                </a:cubicBezTo>
                <a:cubicBezTo>
                  <a:pt x="932" y="45"/>
                  <a:pt x="885" y="84"/>
                  <a:pt x="942" y="27"/>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Freeform 31">
            <a:extLst>
              <a:ext uri="{FF2B5EF4-FFF2-40B4-BE49-F238E27FC236}">
                <a16:creationId xmlns:a16="http://schemas.microsoft.com/office/drawing/2014/main" id="{1D03CE0D-616B-4172-8E8D-8819E8CA29FD}"/>
              </a:ext>
            </a:extLst>
          </p:cNvPr>
          <p:cNvSpPr>
            <a:spLocks/>
          </p:cNvSpPr>
          <p:nvPr/>
        </p:nvSpPr>
        <p:spPr bwMode="auto">
          <a:xfrm>
            <a:off x="3696858" y="4982226"/>
            <a:ext cx="1700212" cy="812800"/>
          </a:xfrm>
          <a:custGeom>
            <a:avLst/>
            <a:gdLst>
              <a:gd name="T0" fmla="*/ 0 w 1071"/>
              <a:gd name="T1" fmla="*/ 2147483646 h 512"/>
              <a:gd name="T2" fmla="*/ 2147483646 w 1071"/>
              <a:gd name="T3" fmla="*/ 2147483646 h 512"/>
              <a:gd name="T4" fmla="*/ 2147483646 w 1071"/>
              <a:gd name="T5" fmla="*/ 2147483646 h 512"/>
              <a:gd name="T6" fmla="*/ 2147483646 w 1071"/>
              <a:gd name="T7" fmla="*/ 2147483646 h 512"/>
              <a:gd name="T8" fmla="*/ 2147483646 w 1071"/>
              <a:gd name="T9" fmla="*/ 2147483646 h 512"/>
              <a:gd name="T10" fmla="*/ 2147483646 w 1071"/>
              <a:gd name="T11" fmla="*/ 2147483646 h 512"/>
              <a:gd name="T12" fmla="*/ 2147483646 w 1071"/>
              <a:gd name="T13" fmla="*/ 2147483646 h 512"/>
              <a:gd name="T14" fmla="*/ 2147483646 w 1071"/>
              <a:gd name="T15" fmla="*/ 2147483646 h 512"/>
              <a:gd name="T16" fmla="*/ 2147483646 w 1071"/>
              <a:gd name="T17" fmla="*/ 2147483646 h 512"/>
              <a:gd name="T18" fmla="*/ 2147483646 w 1071"/>
              <a:gd name="T19" fmla="*/ 0 h 5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71"/>
              <a:gd name="T31" fmla="*/ 0 h 512"/>
              <a:gd name="T32" fmla="*/ 1071 w 1071"/>
              <a:gd name="T33" fmla="*/ 512 h 5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71" h="512">
                <a:moveTo>
                  <a:pt x="0" y="448"/>
                </a:moveTo>
                <a:cubicBezTo>
                  <a:pt x="103" y="512"/>
                  <a:pt x="229" y="493"/>
                  <a:pt x="338" y="448"/>
                </a:cubicBezTo>
                <a:cubicBezTo>
                  <a:pt x="437" y="349"/>
                  <a:pt x="316" y="463"/>
                  <a:pt x="411" y="394"/>
                </a:cubicBezTo>
                <a:cubicBezTo>
                  <a:pt x="422" y="386"/>
                  <a:pt x="427" y="374"/>
                  <a:pt x="438" y="366"/>
                </a:cubicBezTo>
                <a:cubicBezTo>
                  <a:pt x="510" y="314"/>
                  <a:pt x="439" y="393"/>
                  <a:pt x="521" y="311"/>
                </a:cubicBezTo>
                <a:cubicBezTo>
                  <a:pt x="554" y="278"/>
                  <a:pt x="572" y="246"/>
                  <a:pt x="612" y="220"/>
                </a:cubicBezTo>
                <a:cubicBezTo>
                  <a:pt x="667" y="225"/>
                  <a:pt x="780" y="241"/>
                  <a:pt x="832" y="220"/>
                </a:cubicBezTo>
                <a:cubicBezTo>
                  <a:pt x="860" y="209"/>
                  <a:pt x="896" y="156"/>
                  <a:pt x="896" y="156"/>
                </a:cubicBezTo>
                <a:cubicBezTo>
                  <a:pt x="920" y="82"/>
                  <a:pt x="978" y="49"/>
                  <a:pt x="1051" y="37"/>
                </a:cubicBezTo>
                <a:cubicBezTo>
                  <a:pt x="1071" y="7"/>
                  <a:pt x="1069" y="21"/>
                  <a:pt x="1069" y="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32">
            <a:extLst>
              <a:ext uri="{FF2B5EF4-FFF2-40B4-BE49-F238E27FC236}">
                <a16:creationId xmlns:a16="http://schemas.microsoft.com/office/drawing/2014/main" id="{DEEFA8CF-B09B-4C1A-8288-7EBFFAA31D49}"/>
              </a:ext>
            </a:extLst>
          </p:cNvPr>
          <p:cNvSpPr>
            <a:spLocks/>
          </p:cNvSpPr>
          <p:nvPr/>
        </p:nvSpPr>
        <p:spPr bwMode="auto">
          <a:xfrm>
            <a:off x="3623833" y="5026676"/>
            <a:ext cx="1958975" cy="1073150"/>
          </a:xfrm>
          <a:custGeom>
            <a:avLst/>
            <a:gdLst>
              <a:gd name="T0" fmla="*/ 0 w 1234"/>
              <a:gd name="T1" fmla="*/ 2147483646 h 676"/>
              <a:gd name="T2" fmla="*/ 2147483646 w 1234"/>
              <a:gd name="T3" fmla="*/ 2147483646 h 676"/>
              <a:gd name="T4" fmla="*/ 2147483646 w 1234"/>
              <a:gd name="T5" fmla="*/ 2147483646 h 676"/>
              <a:gd name="T6" fmla="*/ 2147483646 w 1234"/>
              <a:gd name="T7" fmla="*/ 2147483646 h 676"/>
              <a:gd name="T8" fmla="*/ 2147483646 w 1234"/>
              <a:gd name="T9" fmla="*/ 2147483646 h 676"/>
              <a:gd name="T10" fmla="*/ 2147483646 w 1234"/>
              <a:gd name="T11" fmla="*/ 2147483646 h 676"/>
              <a:gd name="T12" fmla="*/ 2147483646 w 1234"/>
              <a:gd name="T13" fmla="*/ 2147483646 h 676"/>
              <a:gd name="T14" fmla="*/ 2147483646 w 1234"/>
              <a:gd name="T15" fmla="*/ 2147483646 h 676"/>
              <a:gd name="T16" fmla="*/ 2147483646 w 1234"/>
              <a:gd name="T17" fmla="*/ 2147483646 h 676"/>
              <a:gd name="T18" fmla="*/ 2147483646 w 1234"/>
              <a:gd name="T19" fmla="*/ 2147483646 h 676"/>
              <a:gd name="T20" fmla="*/ 2147483646 w 1234"/>
              <a:gd name="T21" fmla="*/ 2147483646 h 676"/>
              <a:gd name="T22" fmla="*/ 2147483646 w 1234"/>
              <a:gd name="T23" fmla="*/ 2147483646 h 676"/>
              <a:gd name="T24" fmla="*/ 2147483646 w 1234"/>
              <a:gd name="T25" fmla="*/ 2147483646 h 676"/>
              <a:gd name="T26" fmla="*/ 2147483646 w 1234"/>
              <a:gd name="T27" fmla="*/ 2147483646 h 676"/>
              <a:gd name="T28" fmla="*/ 2147483646 w 1234"/>
              <a:gd name="T29" fmla="*/ 2147483646 h 676"/>
              <a:gd name="T30" fmla="*/ 2147483646 w 1234"/>
              <a:gd name="T31" fmla="*/ 2147483646 h 676"/>
              <a:gd name="T32" fmla="*/ 2147483646 w 1234"/>
              <a:gd name="T33" fmla="*/ 0 h 6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34"/>
              <a:gd name="T52" fmla="*/ 0 h 676"/>
              <a:gd name="T53" fmla="*/ 1234 w 1234"/>
              <a:gd name="T54" fmla="*/ 676 h 6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34" h="676">
                <a:moveTo>
                  <a:pt x="0" y="548"/>
                </a:moveTo>
                <a:cubicBezTo>
                  <a:pt x="101" y="569"/>
                  <a:pt x="61" y="558"/>
                  <a:pt x="119" y="576"/>
                </a:cubicBezTo>
                <a:cubicBezTo>
                  <a:pt x="170" y="610"/>
                  <a:pt x="224" y="628"/>
                  <a:pt x="283" y="640"/>
                </a:cubicBezTo>
                <a:cubicBezTo>
                  <a:pt x="313" y="659"/>
                  <a:pt x="341" y="665"/>
                  <a:pt x="375" y="676"/>
                </a:cubicBezTo>
                <a:cubicBezTo>
                  <a:pt x="390" y="673"/>
                  <a:pt x="406" y="673"/>
                  <a:pt x="420" y="667"/>
                </a:cubicBezTo>
                <a:cubicBezTo>
                  <a:pt x="438" y="659"/>
                  <a:pt x="449" y="640"/>
                  <a:pt x="466" y="631"/>
                </a:cubicBezTo>
                <a:cubicBezTo>
                  <a:pt x="490" y="618"/>
                  <a:pt x="516" y="609"/>
                  <a:pt x="539" y="594"/>
                </a:cubicBezTo>
                <a:cubicBezTo>
                  <a:pt x="548" y="588"/>
                  <a:pt x="557" y="580"/>
                  <a:pt x="567" y="576"/>
                </a:cubicBezTo>
                <a:cubicBezTo>
                  <a:pt x="585" y="568"/>
                  <a:pt x="622" y="558"/>
                  <a:pt x="622" y="558"/>
                </a:cubicBezTo>
                <a:cubicBezTo>
                  <a:pt x="676" y="501"/>
                  <a:pt x="770" y="511"/>
                  <a:pt x="841" y="503"/>
                </a:cubicBezTo>
                <a:cubicBezTo>
                  <a:pt x="882" y="478"/>
                  <a:pt x="913" y="449"/>
                  <a:pt x="951" y="420"/>
                </a:cubicBezTo>
                <a:cubicBezTo>
                  <a:pt x="957" y="408"/>
                  <a:pt x="962" y="395"/>
                  <a:pt x="969" y="384"/>
                </a:cubicBezTo>
                <a:cubicBezTo>
                  <a:pt x="983" y="362"/>
                  <a:pt x="1015" y="320"/>
                  <a:pt x="1015" y="320"/>
                </a:cubicBezTo>
                <a:cubicBezTo>
                  <a:pt x="1033" y="264"/>
                  <a:pt x="1011" y="229"/>
                  <a:pt x="1070" y="210"/>
                </a:cubicBezTo>
                <a:cubicBezTo>
                  <a:pt x="1096" y="184"/>
                  <a:pt x="1131" y="150"/>
                  <a:pt x="1152" y="119"/>
                </a:cubicBezTo>
                <a:cubicBezTo>
                  <a:pt x="1177" y="82"/>
                  <a:pt x="1187" y="54"/>
                  <a:pt x="1225" y="27"/>
                </a:cubicBezTo>
                <a:cubicBezTo>
                  <a:pt x="1228" y="18"/>
                  <a:pt x="1234" y="0"/>
                  <a:pt x="1234" y="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Text Box 33">
            <a:extLst>
              <a:ext uri="{FF2B5EF4-FFF2-40B4-BE49-F238E27FC236}">
                <a16:creationId xmlns:a16="http://schemas.microsoft.com/office/drawing/2014/main" id="{64D8A3C9-1A3D-411B-AB31-F4B23F467EA0}"/>
              </a:ext>
            </a:extLst>
          </p:cNvPr>
          <p:cNvSpPr txBox="1">
            <a:spLocks noChangeArrowheads="1"/>
          </p:cNvSpPr>
          <p:nvPr/>
        </p:nvSpPr>
        <p:spPr bwMode="auto">
          <a:xfrm>
            <a:off x="1025043" y="6155388"/>
            <a:ext cx="45640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0"/>
              </a:spcBef>
              <a:buClrTx/>
              <a:buSzTx/>
              <a:buFontTx/>
              <a:buNone/>
            </a:pPr>
            <a:r>
              <a:rPr lang="en-US" altLang="zh-CN" sz="2800" b="0" dirty="0"/>
              <a:t>Min{ </a:t>
            </a:r>
            <a:r>
              <a:rPr lang="en-US" altLang="zh-CN" sz="2800" b="0" dirty="0" err="1"/>
              <a:t>vl</a:t>
            </a:r>
            <a:r>
              <a:rPr lang="en-US" altLang="zh-CN" sz="2800" b="0" dirty="0"/>
              <a:t>(u)-1,vl(v)-2,vl(w)-4 }</a:t>
            </a:r>
          </a:p>
        </p:txBody>
      </p:sp>
      <p:sp>
        <p:nvSpPr>
          <p:cNvPr id="28" name="Text Box 34">
            <a:extLst>
              <a:ext uri="{FF2B5EF4-FFF2-40B4-BE49-F238E27FC236}">
                <a16:creationId xmlns:a16="http://schemas.microsoft.com/office/drawing/2014/main" id="{D47FC8C9-6463-4684-9B0C-877B0A54CE18}"/>
              </a:ext>
            </a:extLst>
          </p:cNvPr>
          <p:cNvSpPr txBox="1">
            <a:spLocks noChangeArrowheads="1"/>
          </p:cNvSpPr>
          <p:nvPr/>
        </p:nvSpPr>
        <p:spPr bwMode="auto">
          <a:xfrm>
            <a:off x="1104470" y="3996389"/>
            <a:ext cx="504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en-US" altLang="zh-CN" sz="2800">
                <a:solidFill>
                  <a:schemeClr val="tx2"/>
                </a:solidFill>
              </a:rPr>
              <a:t>4</a:t>
            </a:r>
          </a:p>
        </p:txBody>
      </p:sp>
      <p:sp>
        <p:nvSpPr>
          <p:cNvPr id="3" name="矩形 2">
            <a:extLst>
              <a:ext uri="{FF2B5EF4-FFF2-40B4-BE49-F238E27FC236}">
                <a16:creationId xmlns:a16="http://schemas.microsoft.com/office/drawing/2014/main" id="{1004813B-4A2B-4B9A-A76B-6CE201AE9C7A}"/>
              </a:ext>
            </a:extLst>
          </p:cNvPr>
          <p:cNvSpPr/>
          <p:nvPr/>
        </p:nvSpPr>
        <p:spPr>
          <a:xfrm>
            <a:off x="417333" y="3183879"/>
            <a:ext cx="3823483" cy="369332"/>
          </a:xfrm>
          <a:prstGeom prst="rect">
            <a:avLst/>
          </a:prstGeom>
        </p:spPr>
        <p:txBody>
          <a:bodyPr wrap="none">
            <a:spAutoFit/>
          </a:bodyPr>
          <a:lstStyle/>
          <a:p>
            <a:r>
              <a:rPr lang="en-US" altLang="zh-CN" b="1" dirty="0" err="1">
                <a:latin typeface="楷体_GB2312" pitchFamily="49" charset="-122"/>
                <a:cs typeface="楷体_GB2312" pitchFamily="49" charset="-122"/>
              </a:rPr>
              <a:t>vl</a:t>
            </a:r>
            <a:r>
              <a:rPr lang="en-US" altLang="zh-CN" b="1" dirty="0">
                <a:latin typeface="楷体_GB2312" pitchFamily="49" charset="-122"/>
                <a:cs typeface="楷体_GB2312" pitchFamily="49" charset="-122"/>
              </a:rPr>
              <a:t>(</a:t>
            </a:r>
            <a:r>
              <a:rPr lang="en-US" altLang="zh-CN" b="1" dirty="0" err="1">
                <a:latin typeface="楷体_GB2312" pitchFamily="49" charset="-122"/>
                <a:cs typeface="楷体_GB2312" pitchFamily="49" charset="-122"/>
              </a:rPr>
              <a:t>i</a:t>
            </a:r>
            <a:r>
              <a:rPr lang="en-US" altLang="zh-CN" b="1" dirty="0">
                <a:latin typeface="楷体_GB2312" pitchFamily="49" charset="-122"/>
                <a:cs typeface="楷体_GB2312" pitchFamily="49" charset="-122"/>
              </a:rPr>
              <a:t>)</a:t>
            </a:r>
            <a:r>
              <a:rPr lang="zh-CN" altLang="en-US" b="1" dirty="0">
                <a:latin typeface="楷体_GB2312" pitchFamily="49" charset="-122"/>
                <a:cs typeface="楷体_GB2312" pitchFamily="49" charset="-122"/>
              </a:rPr>
              <a:t>表示事件顶点</a:t>
            </a:r>
            <a:r>
              <a:rPr lang="en-US" altLang="zh-CN" b="1" dirty="0">
                <a:cs typeface="楷体_GB2312" pitchFamily="49" charset="-122"/>
              </a:rPr>
              <a:t>Vi</a:t>
            </a:r>
            <a:r>
              <a:rPr lang="zh-CN" altLang="en-US" b="1" dirty="0">
                <a:cs typeface="楷体_GB2312" pitchFamily="49" charset="-122"/>
              </a:rPr>
              <a:t>的最迟发生时间</a:t>
            </a:r>
          </a:p>
        </p:txBody>
      </p:sp>
      <p:sp>
        <p:nvSpPr>
          <p:cNvPr id="30" name="矩形 29">
            <a:extLst>
              <a:ext uri="{FF2B5EF4-FFF2-40B4-BE49-F238E27FC236}">
                <a16:creationId xmlns:a16="http://schemas.microsoft.com/office/drawing/2014/main" id="{21EA54E3-16C5-4D7F-8410-BB73437258D7}"/>
              </a:ext>
            </a:extLst>
          </p:cNvPr>
          <p:cNvSpPr/>
          <p:nvPr/>
        </p:nvSpPr>
        <p:spPr>
          <a:xfrm>
            <a:off x="7201866" y="6032364"/>
            <a:ext cx="4036682" cy="523220"/>
          </a:xfrm>
          <a:prstGeom prst="rect">
            <a:avLst/>
          </a:prstGeom>
        </p:spPr>
        <p:txBody>
          <a:bodyPr wrap="none">
            <a:spAutoFit/>
          </a:bodyPr>
          <a:lstStyle/>
          <a:p>
            <a:r>
              <a:rPr lang="zh-CN" altLang="en-US" sz="2800" dirty="0">
                <a:solidFill>
                  <a:srgbClr val="FF0000"/>
                </a:solidFill>
              </a:rPr>
              <a:t>顶点</a:t>
            </a:r>
            <a:r>
              <a:rPr lang="en-US" altLang="zh-CN" sz="2800" dirty="0">
                <a:solidFill>
                  <a:srgbClr val="FF0000"/>
                </a:solidFill>
              </a:rPr>
              <a:t>B</a:t>
            </a:r>
            <a:r>
              <a:rPr lang="zh-CN" altLang="en-US" sz="2800" dirty="0">
                <a:solidFill>
                  <a:srgbClr val="FF0000"/>
                </a:solidFill>
              </a:rPr>
              <a:t>的最迟发生时间？</a:t>
            </a:r>
          </a:p>
        </p:txBody>
      </p:sp>
      <p:sp>
        <p:nvSpPr>
          <p:cNvPr id="29" name="文本框 28">
            <a:extLst>
              <a:ext uri="{FF2B5EF4-FFF2-40B4-BE49-F238E27FC236}">
                <a16:creationId xmlns:a16="http://schemas.microsoft.com/office/drawing/2014/main" id="{BF2FD306-DE44-4E5A-86C2-06ED718DAD4A}"/>
              </a:ext>
            </a:extLst>
          </p:cNvPr>
          <p:cNvSpPr txBox="1"/>
          <p:nvPr/>
        </p:nvSpPr>
        <p:spPr>
          <a:xfrm>
            <a:off x="10622071" y="4248801"/>
            <a:ext cx="697627" cy="707886"/>
          </a:xfrm>
          <a:prstGeom prst="rect">
            <a:avLst/>
          </a:prstGeom>
          <a:noFill/>
        </p:spPr>
        <p:txBody>
          <a:bodyPr wrap="none" rtlCol="0">
            <a:spAutoFit/>
          </a:bodyPr>
          <a:lstStyle/>
          <a:p>
            <a:r>
              <a:rPr lang="zh-CN" altLang="en-US" sz="2000" b="1" dirty="0">
                <a:solidFill>
                  <a:schemeClr val="accent1">
                    <a:lumMod val="60000"/>
                    <a:lumOff val="40000"/>
                  </a:schemeClr>
                </a:solidFill>
              </a:rPr>
              <a:t>工期</a:t>
            </a:r>
            <a:endParaRPr lang="en-US" altLang="zh-CN" sz="2000" b="1" dirty="0">
              <a:solidFill>
                <a:schemeClr val="accent1">
                  <a:lumMod val="60000"/>
                  <a:lumOff val="40000"/>
                </a:schemeClr>
              </a:solidFill>
            </a:endParaRPr>
          </a:p>
          <a:p>
            <a:r>
              <a:rPr lang="en-US" altLang="zh-CN" sz="2000" b="1" dirty="0">
                <a:solidFill>
                  <a:schemeClr val="accent1">
                    <a:lumMod val="60000"/>
                    <a:lumOff val="40000"/>
                  </a:schemeClr>
                </a:solidFill>
              </a:rPr>
              <a:t>17</a:t>
            </a:r>
            <a:endParaRPr lang="zh-CN" altLang="en-US" sz="2000" b="1" dirty="0">
              <a:solidFill>
                <a:schemeClr val="accent1">
                  <a:lumMod val="60000"/>
                  <a:lumOff val="40000"/>
                </a:schemeClr>
              </a:solidFill>
            </a:endParaRPr>
          </a:p>
        </p:txBody>
      </p:sp>
    </p:spTree>
    <p:extLst>
      <p:ext uri="{BB962C8B-B14F-4D97-AF65-F5344CB8AC3E}">
        <p14:creationId xmlns:p14="http://schemas.microsoft.com/office/powerpoint/2010/main" val="121047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 calcmode="lin" valueType="num">
                                      <p:cBhvr additive="base">
                                        <p:cTn id="11"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29"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353378" y="1850747"/>
            <a:ext cx="8526117" cy="4033217"/>
          </a:xfrm>
          <a:prstGeom prst="rect">
            <a:avLst/>
          </a:prstGeom>
          <a:noFill/>
          <a:ln>
            <a:noFill/>
          </a:ln>
        </p:spPr>
      </p:pic>
      <p:sp>
        <p:nvSpPr>
          <p:cNvPr id="2" name="文本框 1"/>
          <p:cNvSpPr txBox="1"/>
          <p:nvPr/>
        </p:nvSpPr>
        <p:spPr>
          <a:xfrm>
            <a:off x="357832" y="6053948"/>
            <a:ext cx="11486506" cy="461665"/>
          </a:xfrm>
          <a:prstGeom prst="rect">
            <a:avLst/>
          </a:prstGeom>
          <a:noFill/>
        </p:spPr>
        <p:txBody>
          <a:bodyPr wrap="square" rtlCol="0">
            <a:spAutoFit/>
          </a:bodyPr>
          <a:lstStyle/>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顶点计算顺序选</a:t>
            </a:r>
            <a:r>
              <a:rPr lang="zh-CN" altLang="en-US"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出度为</a:t>
            </a:r>
            <a:r>
              <a:rPr lang="en-US"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的顶点，</a:t>
            </a:r>
            <a:r>
              <a:rPr lang="zh-CN" altLang="en-US"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或</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直接用计算最早发生时间时顶点计算顺序的</a:t>
            </a:r>
            <a:r>
              <a:rPr lang="zh-CN" altLang="en-US"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逆序</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 name="文本框 2">
            <a:extLst>
              <a:ext uri="{FF2B5EF4-FFF2-40B4-BE49-F238E27FC236}">
                <a16:creationId xmlns:a16="http://schemas.microsoft.com/office/drawing/2014/main" id="{53E9E2D6-E26A-41F1-9412-C35FD3F1EBDA}"/>
              </a:ext>
            </a:extLst>
          </p:cNvPr>
          <p:cNvSpPr txBox="1"/>
          <p:nvPr/>
        </p:nvSpPr>
        <p:spPr>
          <a:xfrm>
            <a:off x="8328991" y="6383607"/>
            <a:ext cx="1285929" cy="369332"/>
          </a:xfrm>
          <a:prstGeom prst="rect">
            <a:avLst/>
          </a:prstGeom>
          <a:noFill/>
        </p:spPr>
        <p:txBody>
          <a:bodyPr wrap="none" rtlCol="0">
            <a:spAutoFit/>
          </a:bodyPr>
          <a:lstStyle/>
          <a:p>
            <a:r>
              <a:rPr lang="en-US" altLang="zh-CN" dirty="0">
                <a:solidFill>
                  <a:schemeClr val="accent1">
                    <a:lumMod val="60000"/>
                    <a:lumOff val="40000"/>
                  </a:schemeClr>
                </a:solidFill>
              </a:rPr>
              <a:t>CAEBFGDH</a:t>
            </a:r>
            <a:endParaRPr lang="zh-CN" altLang="en-US" dirty="0">
              <a:solidFill>
                <a:schemeClr val="accent1">
                  <a:lumMod val="60000"/>
                  <a:lumOff val="40000"/>
                </a:schemeClr>
              </a:solidFill>
            </a:endParaRPr>
          </a:p>
        </p:txBody>
      </p:sp>
      <p:cxnSp>
        <p:nvCxnSpPr>
          <p:cNvPr id="6" name="直接连接符 5">
            <a:extLst>
              <a:ext uri="{FF2B5EF4-FFF2-40B4-BE49-F238E27FC236}">
                <a16:creationId xmlns:a16="http://schemas.microsoft.com/office/drawing/2014/main" id="{B829A854-1D79-4927-A539-8ABA14C7A61F}"/>
              </a:ext>
            </a:extLst>
          </p:cNvPr>
          <p:cNvCxnSpPr>
            <a:cxnSpLocks/>
          </p:cNvCxnSpPr>
          <p:nvPr/>
        </p:nvCxnSpPr>
        <p:spPr>
          <a:xfrm>
            <a:off x="8793271" y="5461348"/>
            <a:ext cx="23799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730226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求</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顶点事件的最</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迟</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发生时间</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325424" y="2022406"/>
            <a:ext cx="8434802" cy="3841681"/>
          </a:xfrm>
          <a:prstGeom prst="rect">
            <a:avLst/>
          </a:prstGeom>
          <a:noFill/>
          <a:ln>
            <a:noFill/>
          </a:ln>
        </p:spPr>
      </p:pic>
      <p:cxnSp>
        <p:nvCxnSpPr>
          <p:cNvPr id="3" name="直接连接符 2">
            <a:extLst>
              <a:ext uri="{FF2B5EF4-FFF2-40B4-BE49-F238E27FC236}">
                <a16:creationId xmlns:a16="http://schemas.microsoft.com/office/drawing/2014/main" id="{60517474-D5E3-4606-ACA2-A5B604F73FA8}"/>
              </a:ext>
            </a:extLst>
          </p:cNvPr>
          <p:cNvCxnSpPr/>
          <p:nvPr/>
        </p:nvCxnSpPr>
        <p:spPr>
          <a:xfrm>
            <a:off x="4496844" y="2730674"/>
            <a:ext cx="2254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23138EB-75A5-465B-84B6-E33D9E1A7E7C}"/>
              </a:ext>
            </a:extLst>
          </p:cNvPr>
          <p:cNvCxnSpPr/>
          <p:nvPr/>
        </p:nvCxnSpPr>
        <p:spPr>
          <a:xfrm>
            <a:off x="7603298" y="5323562"/>
            <a:ext cx="23799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76071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449456" y="1923843"/>
            <a:ext cx="8151744" cy="3741462"/>
          </a:xfrm>
          <a:prstGeom prst="rect">
            <a:avLst/>
          </a:prstGeom>
          <a:noFill/>
          <a:ln>
            <a:noFill/>
          </a:ln>
        </p:spPr>
      </p:pic>
      <p:cxnSp>
        <p:nvCxnSpPr>
          <p:cNvPr id="3" name="直接连接符 2">
            <a:extLst>
              <a:ext uri="{FF2B5EF4-FFF2-40B4-BE49-F238E27FC236}">
                <a16:creationId xmlns:a16="http://schemas.microsoft.com/office/drawing/2014/main" id="{BBC787BB-8FAC-475E-8369-19724DCF707C}"/>
              </a:ext>
            </a:extLst>
          </p:cNvPr>
          <p:cNvCxnSpPr/>
          <p:nvPr/>
        </p:nvCxnSpPr>
        <p:spPr>
          <a:xfrm>
            <a:off x="3582443" y="3319397"/>
            <a:ext cx="2880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4899A1B-3246-4137-AA65-6A3D1E2F32EF}"/>
              </a:ext>
            </a:extLst>
          </p:cNvPr>
          <p:cNvCxnSpPr/>
          <p:nvPr/>
        </p:nvCxnSpPr>
        <p:spPr>
          <a:xfrm>
            <a:off x="6951945" y="4359057"/>
            <a:ext cx="25052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60375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312793" y="1900029"/>
            <a:ext cx="8666093" cy="4103205"/>
          </a:xfrm>
          <a:prstGeom prst="rect">
            <a:avLst/>
          </a:prstGeom>
          <a:noFill/>
          <a:ln>
            <a:noFill/>
          </a:ln>
        </p:spPr>
      </p:pic>
      <p:cxnSp>
        <p:nvCxnSpPr>
          <p:cNvPr id="3" name="直接连接符 2">
            <a:extLst>
              <a:ext uri="{FF2B5EF4-FFF2-40B4-BE49-F238E27FC236}">
                <a16:creationId xmlns:a16="http://schemas.microsoft.com/office/drawing/2014/main" id="{47276C47-8AF6-4114-A0BA-4007D81622CD}"/>
              </a:ext>
            </a:extLst>
          </p:cNvPr>
          <p:cNvCxnSpPr/>
          <p:nvPr/>
        </p:nvCxnSpPr>
        <p:spPr>
          <a:xfrm>
            <a:off x="2254685" y="2918564"/>
            <a:ext cx="22546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239074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早和最迟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示例汇总：</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027914" y="1537261"/>
            <a:ext cx="4645094" cy="4702450"/>
          </a:xfrm>
          <a:prstGeom prst="rect">
            <a:avLst/>
          </a:prstGeom>
          <a:noFill/>
          <a:ln>
            <a:noFill/>
          </a:ln>
        </p:spPr>
      </p:pic>
    </p:spTree>
    <p:extLst>
      <p:ext uri="{BB962C8B-B14F-4D97-AF65-F5344CB8AC3E}">
        <p14:creationId xmlns:p14="http://schemas.microsoft.com/office/powerpoint/2010/main" val="357694842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求活动</a:t>
            </a:r>
            <a:r>
              <a:rPr lang="zh-CN" altLang="zh-CN" dirty="0">
                <a:latin typeface="华文楷体" panose="02010600040101010101" pitchFamily="2" charset="-122"/>
                <a:ea typeface="华文楷体" panose="02010600040101010101" pitchFamily="2" charset="-122"/>
              </a:rPr>
              <a:t>的</a:t>
            </a:r>
            <a:r>
              <a:rPr lang="zh-CN" altLang="en-US" dirty="0">
                <a:latin typeface="华文楷体" panose="02010600040101010101" pitchFamily="2" charset="-122"/>
                <a:ea typeface="华文楷体" panose="02010600040101010101" pitchFamily="2" charset="-122"/>
              </a:rPr>
              <a:t>最早和</a:t>
            </a:r>
            <a:r>
              <a:rPr lang="zh-CN" altLang="zh-CN" dirty="0">
                <a:latin typeface="华文楷体" panose="02010600040101010101" pitchFamily="2" charset="-122"/>
                <a:ea typeface="华文楷体" panose="02010600040101010101" pitchFamily="2" charset="-122"/>
              </a:rPr>
              <a:t>最</a:t>
            </a:r>
            <a:r>
              <a:rPr lang="zh-CN" altLang="en-US" dirty="0">
                <a:latin typeface="华文楷体" panose="02010600040101010101" pitchFamily="2" charset="-122"/>
                <a:ea typeface="华文楷体" panose="02010600040101010101" pitchFamily="2" charset="-122"/>
              </a:rPr>
              <a:t>迟开始</a:t>
            </a:r>
            <a:r>
              <a:rPr lang="zh-CN" altLang="zh-CN" dirty="0">
                <a:latin typeface="华文楷体" panose="02010600040101010101" pitchFamily="2" charset="-122"/>
                <a:ea typeface="华文楷体" panose="02010600040101010101" pitchFamily="2" charset="-122"/>
              </a:rPr>
              <a:t>时间</a:t>
            </a:r>
            <a:r>
              <a:rPr lang="zh-CN" altLang="en-US" dirty="0">
                <a:latin typeface="华文楷体" panose="02010600040101010101" pitchFamily="2" charset="-122"/>
                <a:ea typeface="华文楷体" panose="02010600040101010101" pitchFamily="2" charset="-122"/>
              </a:rPr>
              <a:t>：</a:t>
            </a:r>
          </a:p>
        </p:txBody>
      </p:sp>
      <p:sp>
        <p:nvSpPr>
          <p:cNvPr id="2" name="文本框 1"/>
          <p:cNvSpPr txBox="1"/>
          <p:nvPr/>
        </p:nvSpPr>
        <p:spPr>
          <a:xfrm>
            <a:off x="357832" y="1632926"/>
            <a:ext cx="5585768" cy="3970318"/>
          </a:xfrm>
          <a:prstGeom prst="rect">
            <a:avLst/>
          </a:prstGeom>
          <a:noFill/>
        </p:spPr>
        <p:txBody>
          <a:bodyPr wrap="square" rtlCol="0">
            <a:spAutoFit/>
          </a:bodyPr>
          <a:lstStyle/>
          <a:p>
            <a:pPr lvl="0"/>
            <a:r>
              <a:rPr lang="zh-CN" altLang="zh-CN" sz="2800" dirty="0">
                <a:latin typeface="Times New Roman" panose="02020603050405020304" pitchFamily="18" charset="0"/>
                <a:ea typeface="华文楷体" pitchFamily="2" charset="-122"/>
                <a:cs typeface="Times New Roman" panose="02020603050405020304" pitchFamily="18" charset="0"/>
              </a:rPr>
              <a:t>对于</a:t>
            </a:r>
            <a:r>
              <a:rPr lang="en-US" altLang="zh-CN" sz="2800" dirty="0">
                <a:latin typeface="Times New Roman" panose="02020603050405020304" pitchFamily="18" charset="0"/>
                <a:ea typeface="华文楷体" pitchFamily="2" charset="-122"/>
                <a:cs typeface="Times New Roman" panose="02020603050405020304" pitchFamily="18" charset="0"/>
              </a:rPr>
              <a:t>AOE</a:t>
            </a:r>
            <a:r>
              <a:rPr lang="zh-CN" altLang="zh-CN" sz="2800" dirty="0">
                <a:latin typeface="Times New Roman" panose="02020603050405020304" pitchFamily="18" charset="0"/>
                <a:ea typeface="华文楷体" pitchFamily="2" charset="-122"/>
                <a:cs typeface="Times New Roman" panose="02020603050405020304" pitchFamily="18" charset="0"/>
              </a:rPr>
              <a:t>网中的一个活动</a:t>
            </a:r>
            <a:r>
              <a:rPr lang="en-US" altLang="zh-CN" sz="2800" dirty="0">
                <a:latin typeface="Times New Roman" panose="02020603050405020304" pitchFamily="18" charset="0"/>
                <a:ea typeface="华文楷体" pitchFamily="2" charset="-122"/>
                <a:cs typeface="Times New Roman" panose="02020603050405020304" pitchFamily="18" charset="0"/>
              </a:rPr>
              <a:t>&lt;</a:t>
            </a:r>
            <a:r>
              <a:rPr lang="en-US" altLang="zh-CN" sz="2800" dirty="0" err="1">
                <a:latin typeface="Times New Roman" panose="02020603050405020304" pitchFamily="18" charset="0"/>
                <a:ea typeface="华文楷体" pitchFamily="2" charset="-122"/>
                <a:cs typeface="Times New Roman" panose="02020603050405020304" pitchFamily="18" charset="0"/>
              </a:rPr>
              <a:t>u,v</a:t>
            </a:r>
            <a:r>
              <a:rPr lang="en-US" altLang="zh-CN" sz="2800" dirty="0">
                <a:latin typeface="Times New Roman" panose="02020603050405020304" pitchFamily="18" charset="0"/>
                <a:ea typeface="华文楷体" pitchFamily="2" charset="-122"/>
                <a:cs typeface="Times New Roman" panose="02020603050405020304" pitchFamily="18" charset="0"/>
              </a:rPr>
              <a:t>&gt;</a:t>
            </a:r>
            <a:r>
              <a:rPr lang="zh-CN" altLang="zh-CN" sz="2800" dirty="0">
                <a:latin typeface="Times New Roman" panose="02020603050405020304" pitchFamily="18" charset="0"/>
                <a:ea typeface="华文楷体" pitchFamily="2" charset="-122"/>
                <a:cs typeface="Times New Roman" panose="02020603050405020304" pitchFamily="18" charset="0"/>
              </a:rPr>
              <a:t>，一旦顶点</a:t>
            </a:r>
            <a:r>
              <a:rPr lang="en-US" altLang="zh-CN" sz="2800" dirty="0">
                <a:latin typeface="Times New Roman" panose="02020603050405020304" pitchFamily="18" charset="0"/>
                <a:ea typeface="华文楷体" pitchFamily="2" charset="-122"/>
                <a:cs typeface="Times New Roman" panose="02020603050405020304" pitchFamily="18" charset="0"/>
              </a:rPr>
              <a:t>u</a:t>
            </a:r>
            <a:r>
              <a:rPr lang="zh-CN" altLang="zh-CN" sz="2800" dirty="0">
                <a:latin typeface="Times New Roman" panose="02020603050405020304" pitchFamily="18" charset="0"/>
                <a:ea typeface="华文楷体" pitchFamily="2" charset="-122"/>
                <a:cs typeface="Times New Roman" panose="02020603050405020304" pitchFamily="18" charset="0"/>
              </a:rPr>
              <a:t>事件发生，由</a:t>
            </a:r>
            <a:r>
              <a:rPr lang="en-US" altLang="zh-CN" sz="2800" dirty="0">
                <a:latin typeface="Times New Roman" panose="02020603050405020304" pitchFamily="18" charset="0"/>
                <a:ea typeface="华文楷体" pitchFamily="2" charset="-122"/>
                <a:cs typeface="Times New Roman" panose="02020603050405020304" pitchFamily="18" charset="0"/>
              </a:rPr>
              <a:t>u</a:t>
            </a:r>
            <a:r>
              <a:rPr lang="zh-CN" altLang="zh-CN" sz="2800" dirty="0">
                <a:latin typeface="Times New Roman" panose="02020603050405020304" pitchFamily="18" charset="0"/>
                <a:ea typeface="华文楷体" pitchFamily="2" charset="-122"/>
                <a:cs typeface="Times New Roman" panose="02020603050405020304" pitchFamily="18" charset="0"/>
              </a:rPr>
              <a:t>射出的边</a:t>
            </a:r>
            <a:r>
              <a:rPr lang="en-US" altLang="zh-CN" sz="2800" dirty="0">
                <a:latin typeface="Times New Roman" panose="02020603050405020304" pitchFamily="18" charset="0"/>
                <a:ea typeface="华文楷体" pitchFamily="2" charset="-122"/>
                <a:cs typeface="Times New Roman" panose="02020603050405020304" pitchFamily="18" charset="0"/>
              </a:rPr>
              <a:t>&lt;</a:t>
            </a:r>
            <a:r>
              <a:rPr lang="en-US" altLang="zh-CN" sz="2800" dirty="0" err="1">
                <a:latin typeface="Times New Roman" panose="02020603050405020304" pitchFamily="18" charset="0"/>
                <a:ea typeface="华文楷体" pitchFamily="2" charset="-122"/>
                <a:cs typeface="Times New Roman" panose="02020603050405020304" pitchFamily="18" charset="0"/>
              </a:rPr>
              <a:t>u,v</a:t>
            </a:r>
            <a:r>
              <a:rPr lang="en-US" altLang="zh-CN" sz="2800" dirty="0">
                <a:latin typeface="Times New Roman" panose="02020603050405020304" pitchFamily="18" charset="0"/>
                <a:ea typeface="华文楷体" pitchFamily="2" charset="-122"/>
                <a:cs typeface="Times New Roman" panose="02020603050405020304" pitchFamily="18" charset="0"/>
              </a:rPr>
              <a:t>&gt;</a:t>
            </a:r>
            <a:r>
              <a:rPr lang="zh-CN" altLang="zh-CN" sz="2800" dirty="0">
                <a:latin typeface="Times New Roman" panose="02020603050405020304" pitchFamily="18" charset="0"/>
                <a:ea typeface="华文楷体" pitchFamily="2" charset="-122"/>
                <a:cs typeface="Times New Roman" panose="02020603050405020304" pitchFamily="18" charset="0"/>
              </a:rPr>
              <a:t>所表示的活动就可以进行了，因此</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活动</a:t>
            </a:r>
            <a:r>
              <a:rPr lang="en-US" altLang="zh-CN" sz="2800" dirty="0">
                <a:latin typeface="Times New Roman" panose="02020603050405020304" pitchFamily="18" charset="0"/>
                <a:ea typeface="华文楷体" pitchFamily="2" charset="-122"/>
                <a:cs typeface="Times New Roman" panose="02020603050405020304" pitchFamily="18" charset="0"/>
              </a:rPr>
              <a:t>&lt;</a:t>
            </a:r>
            <a:r>
              <a:rPr lang="en-US" altLang="zh-CN" sz="2800" dirty="0" err="1">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u</a:t>
            </a:r>
            <a:r>
              <a:rPr lang="en-US" altLang="zh-CN" sz="2800" dirty="0" err="1">
                <a:latin typeface="Times New Roman" panose="02020603050405020304" pitchFamily="18" charset="0"/>
                <a:ea typeface="华文楷体" pitchFamily="2" charset="-122"/>
                <a:cs typeface="Times New Roman" panose="02020603050405020304" pitchFamily="18" charset="0"/>
              </a:rPr>
              <a:t>,v</a:t>
            </a:r>
            <a:r>
              <a:rPr lang="en-US" altLang="zh-CN" sz="2800" dirty="0">
                <a:latin typeface="Times New Roman" panose="02020603050405020304" pitchFamily="18" charset="0"/>
                <a:ea typeface="华文楷体" pitchFamily="2" charset="-122"/>
                <a:cs typeface="Times New Roman" panose="02020603050405020304" pitchFamily="18" charset="0"/>
              </a:rPr>
              <a:t>&gt;</a:t>
            </a:r>
            <a:r>
              <a:rPr lang="zh-CN" altLang="zh-CN" sz="2800" dirty="0">
                <a:latin typeface="Times New Roman" panose="02020603050405020304" pitchFamily="18" charset="0"/>
                <a:ea typeface="华文楷体" pitchFamily="2" charset="-122"/>
                <a:cs typeface="Times New Roman" panose="02020603050405020304" pitchFamily="18" charset="0"/>
              </a:rPr>
              <a:t>的</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最早</a:t>
            </a:r>
            <a:r>
              <a:rPr lang="zh-CN" altLang="zh-CN" sz="2800" dirty="0">
                <a:latin typeface="Times New Roman" panose="02020603050405020304" pitchFamily="18" charset="0"/>
                <a:ea typeface="华文楷体" pitchFamily="2" charset="-122"/>
                <a:cs typeface="Times New Roman" panose="02020603050405020304" pitchFamily="18" charset="0"/>
              </a:rPr>
              <a:t>发生时间是顶点</a:t>
            </a:r>
            <a:r>
              <a:rPr lang="en-US"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u</a:t>
            </a:r>
            <a:r>
              <a:rPr lang="zh-CN" altLang="zh-CN" sz="2800" dirty="0">
                <a:latin typeface="Times New Roman" panose="02020603050405020304" pitchFamily="18" charset="0"/>
                <a:ea typeface="华文楷体" pitchFamily="2" charset="-122"/>
                <a:cs typeface="Times New Roman" panose="02020603050405020304" pitchFamily="18" charset="0"/>
              </a:rPr>
              <a:t>事件的</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最早</a:t>
            </a:r>
            <a:r>
              <a:rPr lang="zh-CN" altLang="zh-CN" sz="2800" dirty="0">
                <a:latin typeface="Times New Roman" panose="02020603050405020304" pitchFamily="18" charset="0"/>
                <a:ea typeface="华文楷体" pitchFamily="2" charset="-122"/>
                <a:cs typeface="Times New Roman" panose="02020603050405020304" pitchFamily="18" charset="0"/>
              </a:rPr>
              <a:t>发生时间。</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lvl="0"/>
            <a:endParaRPr lang="en-US" altLang="zh-CN" sz="2800" dirty="0">
              <a:latin typeface="Times New Roman" panose="02020603050405020304" pitchFamily="18" charset="0"/>
              <a:ea typeface="华文楷体" pitchFamily="2" charset="-122"/>
              <a:cs typeface="Times New Roman" panose="02020603050405020304" pitchFamily="18" charset="0"/>
            </a:endParaRPr>
          </a:p>
          <a:p>
            <a:pPr lvl="0"/>
            <a:r>
              <a:rPr lang="zh-CN" altLang="zh-CN" sz="2800" dirty="0">
                <a:latin typeface="Times New Roman" panose="02020603050405020304" pitchFamily="18" charset="0"/>
                <a:ea typeface="华文楷体" pitchFamily="2" charset="-122"/>
                <a:cs typeface="Times New Roman" panose="02020603050405020304" pitchFamily="18" charset="0"/>
              </a:rPr>
              <a:t>而活动</a:t>
            </a:r>
            <a:r>
              <a:rPr lang="en-US" altLang="zh-CN" sz="2800" dirty="0">
                <a:latin typeface="Times New Roman" panose="02020603050405020304" pitchFamily="18" charset="0"/>
                <a:ea typeface="华文楷体" pitchFamily="2" charset="-122"/>
                <a:cs typeface="Times New Roman" panose="02020603050405020304" pitchFamily="18" charset="0"/>
              </a:rPr>
              <a:t>&lt;</a:t>
            </a:r>
            <a:r>
              <a:rPr lang="en-US" altLang="zh-CN" sz="2800" dirty="0" err="1">
                <a:latin typeface="Times New Roman" panose="02020603050405020304" pitchFamily="18" charset="0"/>
                <a:ea typeface="华文楷体" pitchFamily="2" charset="-122"/>
                <a:cs typeface="Times New Roman" panose="02020603050405020304" pitchFamily="18" charset="0"/>
              </a:rPr>
              <a:t>u,</a:t>
            </a:r>
            <a:r>
              <a:rPr lang="en-US" altLang="zh-CN" sz="2800" dirty="0" err="1">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v</a:t>
            </a:r>
            <a:r>
              <a:rPr lang="en-US" altLang="zh-CN" sz="2800" dirty="0">
                <a:latin typeface="Times New Roman" panose="02020603050405020304" pitchFamily="18" charset="0"/>
                <a:ea typeface="华文楷体" pitchFamily="2" charset="-122"/>
                <a:cs typeface="Times New Roman" panose="02020603050405020304" pitchFamily="18" charset="0"/>
              </a:rPr>
              <a:t>&gt;</a:t>
            </a:r>
            <a:r>
              <a:rPr lang="zh-CN" altLang="zh-CN" sz="2800" dirty="0">
                <a:latin typeface="Times New Roman" panose="02020603050405020304" pitchFamily="18" charset="0"/>
                <a:ea typeface="华文楷体" pitchFamily="2" charset="-122"/>
                <a:cs typeface="Times New Roman" panose="02020603050405020304" pitchFamily="18" charset="0"/>
              </a:rPr>
              <a:t>的</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最迟</a:t>
            </a:r>
            <a:r>
              <a:rPr lang="zh-CN" altLang="zh-CN" sz="2800" dirty="0">
                <a:latin typeface="Times New Roman" panose="02020603050405020304" pitchFamily="18" charset="0"/>
                <a:ea typeface="华文楷体" pitchFamily="2" charset="-122"/>
                <a:cs typeface="Times New Roman" panose="02020603050405020304" pitchFamily="18" charset="0"/>
              </a:rPr>
              <a:t>进行（发生）时间是顶点</a:t>
            </a:r>
            <a:r>
              <a:rPr lang="en-US"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v</a:t>
            </a:r>
            <a:r>
              <a:rPr lang="zh-CN" altLang="zh-CN" sz="2800" dirty="0">
                <a:latin typeface="Times New Roman" panose="02020603050405020304" pitchFamily="18" charset="0"/>
                <a:ea typeface="华文楷体" pitchFamily="2" charset="-122"/>
                <a:cs typeface="Times New Roman" panose="02020603050405020304" pitchFamily="18" charset="0"/>
              </a:rPr>
              <a:t>事件的</a:t>
            </a:r>
            <a:r>
              <a:rPr lang="zh-CN" altLang="zh-CN" sz="2800" u="sng"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最迟</a:t>
            </a:r>
            <a:r>
              <a:rPr lang="zh-CN" altLang="zh-CN" sz="2800" u="sng" dirty="0">
                <a:latin typeface="Times New Roman" panose="02020603050405020304" pitchFamily="18" charset="0"/>
                <a:ea typeface="华文楷体" pitchFamily="2" charset="-122"/>
                <a:cs typeface="Times New Roman" panose="02020603050405020304" pitchFamily="18" charset="0"/>
              </a:rPr>
              <a:t>发生时间</a:t>
            </a:r>
            <a:r>
              <a:rPr lang="zh-CN" altLang="zh-CN" sz="2800" dirty="0">
                <a:solidFill>
                  <a:srgbClr val="FF0000"/>
                </a:solidFill>
                <a:latin typeface="Times New Roman" panose="02020603050405020304" pitchFamily="18" charset="0"/>
                <a:ea typeface="华文楷体" pitchFamily="2" charset="-122"/>
                <a:cs typeface="Times New Roman" panose="02020603050405020304" pitchFamily="18" charset="0"/>
              </a:rPr>
              <a:t>减去</a:t>
            </a:r>
            <a:r>
              <a:rPr lang="zh-CN" altLang="zh-CN" sz="2800" u="sng" dirty="0">
                <a:latin typeface="Times New Roman" panose="02020603050405020304" pitchFamily="18" charset="0"/>
                <a:ea typeface="华文楷体" pitchFamily="2" charset="-122"/>
                <a:cs typeface="Times New Roman" panose="02020603050405020304" pitchFamily="18" charset="0"/>
              </a:rPr>
              <a:t>边</a:t>
            </a:r>
            <a:r>
              <a:rPr lang="en-US" altLang="zh-CN" sz="2800" u="sng" dirty="0">
                <a:latin typeface="Times New Roman" panose="02020603050405020304" pitchFamily="18" charset="0"/>
                <a:ea typeface="华文楷体" pitchFamily="2" charset="-122"/>
                <a:cs typeface="Times New Roman" panose="02020603050405020304" pitchFamily="18" charset="0"/>
              </a:rPr>
              <a:t>&lt;</a:t>
            </a:r>
            <a:r>
              <a:rPr lang="en-US" altLang="zh-CN" sz="2800" u="sng" dirty="0" err="1">
                <a:latin typeface="Times New Roman" panose="02020603050405020304" pitchFamily="18" charset="0"/>
                <a:ea typeface="华文楷体" pitchFamily="2" charset="-122"/>
                <a:cs typeface="Times New Roman" panose="02020603050405020304" pitchFamily="18" charset="0"/>
              </a:rPr>
              <a:t>u,v</a:t>
            </a:r>
            <a:r>
              <a:rPr lang="en-US" altLang="zh-CN" sz="2800" u="sng" dirty="0">
                <a:latin typeface="Times New Roman" panose="02020603050405020304" pitchFamily="18" charset="0"/>
                <a:ea typeface="华文楷体" pitchFamily="2" charset="-122"/>
                <a:cs typeface="Times New Roman" panose="02020603050405020304" pitchFamily="18" charset="0"/>
              </a:rPr>
              <a:t>&gt;</a:t>
            </a:r>
            <a:r>
              <a:rPr lang="zh-CN" altLang="zh-CN" sz="2800" u="sng" dirty="0">
                <a:latin typeface="Times New Roman" panose="02020603050405020304" pitchFamily="18" charset="0"/>
                <a:ea typeface="华文楷体" pitchFamily="2" charset="-122"/>
                <a:cs typeface="Times New Roman" panose="02020603050405020304" pitchFamily="18" charset="0"/>
              </a:rPr>
              <a:t>的</a:t>
            </a:r>
            <a:r>
              <a:rPr lang="zh-CN" altLang="zh-CN" sz="2800" u="sng"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权值</a:t>
            </a:r>
            <a:r>
              <a:rPr lang="zh-CN" altLang="en-US" sz="2800" dirty="0">
                <a:latin typeface="Times New Roman" panose="02020603050405020304" pitchFamily="18" charset="0"/>
                <a:ea typeface="华文楷体" pitchFamily="2" charset="-122"/>
                <a:cs typeface="Times New Roman" panose="02020603050405020304" pitchFamily="18" charset="0"/>
              </a:rPr>
              <a:t>。</a:t>
            </a:r>
            <a:endParaRPr lang="zh-CN" altLang="zh-CN" sz="3200"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6321908" y="1428051"/>
            <a:ext cx="5028579" cy="5096704"/>
          </a:xfrm>
          <a:prstGeom prst="rect">
            <a:avLst/>
          </a:prstGeom>
          <a:noFill/>
          <a:ln>
            <a:noFill/>
          </a:ln>
        </p:spPr>
      </p:pic>
    </p:spTree>
    <p:extLst>
      <p:ext uri="{BB962C8B-B14F-4D97-AF65-F5344CB8AC3E}">
        <p14:creationId xmlns:p14="http://schemas.microsoft.com/office/powerpoint/2010/main" val="4862472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求关键路径：</a:t>
            </a:r>
          </a:p>
        </p:txBody>
      </p:sp>
      <p:sp>
        <p:nvSpPr>
          <p:cNvPr id="2" name="文本框 1"/>
          <p:cNvSpPr txBox="1"/>
          <p:nvPr/>
        </p:nvSpPr>
        <p:spPr>
          <a:xfrm>
            <a:off x="357832" y="1378235"/>
            <a:ext cx="11500793" cy="1384995"/>
          </a:xfrm>
          <a:prstGeom prst="rect">
            <a:avLst/>
          </a:prstGeom>
          <a:noFill/>
        </p:spPr>
        <p:txBody>
          <a:bodyPr wrap="square" rtlCol="0">
            <a:spAutoFit/>
          </a:bodyPr>
          <a:lstStyle/>
          <a:p>
            <a:pPr marL="457200" lvl="0" indent="-457200">
              <a:buFont typeface="Wingdings" panose="05000000000000000000" pitchFamily="2" charset="2"/>
              <a:buChar char="Ø"/>
            </a:pPr>
            <a:r>
              <a:rPr lang="zh-CN" altLang="zh-CN" sz="2800" dirty="0">
                <a:latin typeface="华文楷体" pitchFamily="2" charset="-122"/>
                <a:ea typeface="华文楷体" pitchFamily="2" charset="-122"/>
              </a:rPr>
              <a:t>当</a:t>
            </a:r>
            <a:r>
              <a:rPr lang="zh-CN" altLang="zh-CN" sz="2800" dirty="0">
                <a:latin typeface="Times New Roman" panose="02020603050405020304" pitchFamily="18" charset="0"/>
                <a:ea typeface="华文楷体" pitchFamily="2" charset="-122"/>
                <a:cs typeface="Times New Roman" panose="02020603050405020304" pitchFamily="18" charset="0"/>
              </a:rPr>
              <a:t>活动的</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最早</a:t>
            </a:r>
            <a:r>
              <a:rPr lang="zh-CN" altLang="zh-CN" sz="2800" dirty="0">
                <a:latin typeface="Times New Roman" panose="02020603050405020304" pitchFamily="18" charset="0"/>
                <a:ea typeface="华文楷体" pitchFamily="2" charset="-122"/>
                <a:cs typeface="Times New Roman" panose="02020603050405020304" pitchFamily="18" charset="0"/>
              </a:rPr>
              <a:t>发生时间和</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最迟</a:t>
            </a:r>
            <a:r>
              <a:rPr lang="zh-CN" altLang="zh-CN" sz="2800" dirty="0">
                <a:latin typeface="Times New Roman" panose="02020603050405020304" pitchFamily="18" charset="0"/>
                <a:ea typeface="华文楷体" pitchFamily="2" charset="-122"/>
                <a:cs typeface="Times New Roman" panose="02020603050405020304" pitchFamily="18" charset="0"/>
              </a:rPr>
              <a:t>发生时间</a:t>
            </a:r>
            <a:r>
              <a:rPr lang="zh-CN" altLang="zh-CN" sz="2800" dirty="0">
                <a:solidFill>
                  <a:schemeClr val="accent1">
                    <a:lumMod val="60000"/>
                    <a:lumOff val="40000"/>
                  </a:schemeClr>
                </a:solidFill>
                <a:latin typeface="Times New Roman" panose="02020603050405020304" pitchFamily="18" charset="0"/>
                <a:ea typeface="华文楷体" pitchFamily="2" charset="-122"/>
                <a:cs typeface="Times New Roman" panose="02020603050405020304" pitchFamily="18" charset="0"/>
              </a:rPr>
              <a:t>一致</a:t>
            </a:r>
            <a:r>
              <a:rPr lang="zh-CN" altLang="zh-CN" sz="2800" dirty="0">
                <a:latin typeface="Times New Roman" panose="02020603050405020304" pitchFamily="18" charset="0"/>
                <a:ea typeface="华文楷体" pitchFamily="2" charset="-122"/>
                <a:cs typeface="Times New Roman" panose="02020603050405020304" pitchFamily="18" charset="0"/>
              </a:rPr>
              <a:t>时，表示该活动为</a:t>
            </a:r>
            <a:r>
              <a:rPr lang="zh-CN" altLang="zh-CN" sz="2800" b="1" dirty="0">
                <a:latin typeface="Times New Roman" panose="02020603050405020304" pitchFamily="18" charset="0"/>
                <a:ea typeface="华文楷体" pitchFamily="2" charset="-122"/>
                <a:cs typeface="Times New Roman" panose="02020603050405020304" pitchFamily="18" charset="0"/>
              </a:rPr>
              <a:t>关键活动</a:t>
            </a:r>
            <a:r>
              <a:rPr lang="zh-CN" altLang="zh-CN" sz="2800" dirty="0">
                <a:latin typeface="Times New Roman" panose="02020603050405020304" pitchFamily="18" charset="0"/>
                <a:ea typeface="华文楷体" pitchFamily="2" charset="-122"/>
                <a:cs typeface="Times New Roman" panose="02020603050405020304" pitchFamily="18" charset="0"/>
              </a:rPr>
              <a:t>，这些关键活动组成的由起点到终点的路径为</a:t>
            </a:r>
            <a:r>
              <a:rPr lang="zh-CN" altLang="zh-CN" sz="2800" b="1" dirty="0">
                <a:latin typeface="Times New Roman" panose="02020603050405020304" pitchFamily="18" charset="0"/>
                <a:ea typeface="华文楷体" pitchFamily="2" charset="-122"/>
                <a:cs typeface="Times New Roman" panose="02020603050405020304" pitchFamily="18" charset="0"/>
              </a:rPr>
              <a:t>关键路径</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lvl="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关键活动在最早发生时间时就必须马上开始，不得延缓</a:t>
            </a:r>
            <a:r>
              <a:rPr lang="zh-CN" altLang="en-US"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304966" y="3048980"/>
            <a:ext cx="5024025" cy="3593617"/>
          </a:xfrm>
          <a:prstGeom prst="rect">
            <a:avLst/>
          </a:prstGeom>
          <a:noFill/>
          <a:ln>
            <a:noFill/>
          </a:ln>
        </p:spPr>
      </p:pic>
    </p:spTree>
    <p:extLst>
      <p:ext uri="{BB962C8B-B14F-4D97-AF65-F5344CB8AC3E}">
        <p14:creationId xmlns:p14="http://schemas.microsoft.com/office/powerpoint/2010/main" val="25636758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8" y="5951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求关键路径的算法实现：</a:t>
            </a:r>
          </a:p>
        </p:txBody>
      </p:sp>
      <p:sp>
        <p:nvSpPr>
          <p:cNvPr id="2" name="文本框 1"/>
          <p:cNvSpPr txBox="1"/>
          <p:nvPr/>
        </p:nvSpPr>
        <p:spPr>
          <a:xfrm>
            <a:off x="320768" y="1169303"/>
            <a:ext cx="12142901" cy="5632311"/>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保存边信息</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keyEdge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u, v;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weight;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early, last;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keyActivity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start,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end)</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事件</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顶点的最早发生时间、最迟发生时间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记录每个活动</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边的最早发生时间、最迟发生时间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s1; //s1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保存入度为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的顶点</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s2; //s2</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保存确定顶点</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最早</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发生时间的</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顶点</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顺序</a:t>
            </a:r>
          </a:p>
        </p:txBody>
      </p:sp>
    </p:spTree>
    <p:extLst>
      <p:ext uri="{BB962C8B-B14F-4D97-AF65-F5344CB8AC3E}">
        <p14:creationId xmlns:p14="http://schemas.microsoft.com/office/powerpoint/2010/main" val="294634375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654976"/>
            <a:ext cx="11751962" cy="5693866"/>
          </a:xfrm>
          <a:prstGeom prst="rect">
            <a:avLst/>
          </a:prstGeom>
          <a:noFill/>
        </p:spPr>
        <p:txBody>
          <a:bodyPr wrap="square" rtlCol="0">
            <a:spAutoFit/>
          </a:bodyPr>
          <a:lstStyle/>
          <a:p>
            <a:r>
              <a:rPr lang="en-US" altLang="zh-CN" sz="2800" dirty="0"/>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 k;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u, v;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创建动态数组空间</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keyEdge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&gt;[edges];</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找到起点和终点的下标</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]==start)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42933870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892272"/>
            <a:ext cx="11751962" cy="5262979"/>
          </a:xfrm>
          <a:prstGeom prst="rect">
            <a:avLst/>
          </a:prstGeom>
          <a:noFill/>
        </p:spPr>
        <p:txBody>
          <a:bodyPr wrap="square" rtlCol="0">
            <a:spAutoFit/>
          </a:bodyPr>
          <a:lstStyle/>
          <a:p>
            <a:r>
              <a:rPr lang="en-US" altLang="zh-CN" sz="28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计算每个顶点的入度，邻接矩阵每一</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列</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有边的元素个数相加</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初始化顶点最早发生时间</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0;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27356713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839" y="639029"/>
            <a:ext cx="12084356" cy="6001643"/>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计算每个顶点的最早发生时间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初始化起点的最早发生时间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0;      s1.push(</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s2.push(</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计算其他顶点的最早发生时间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当终点因为入度为零压栈</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出栈时计算结束</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s1.push(j);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入度为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，进栈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s1.top(); s1.pop();     s2.push(</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当前确定了最早发生时间的顶点入栈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5949472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991663"/>
            <a:ext cx="11751962"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初始化顶点最迟发生时间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按照计算顶点最早发生时间</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逆序</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依次计算顶点最迟发生时间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(!s2.isEmpty())</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j = s2.top(); s2.pop();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修改所有射入顶点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的边的</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箭尾顶点</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22656323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892272"/>
            <a:ext cx="11751962" cy="5632311"/>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建立边信息数组</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k=0;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[k].u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[k].v =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[k].weight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将边的最早发生时间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设置为</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箭尾顶点</a:t>
            </a:r>
            <a:r>
              <a:rPr lang="en-US"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的最早发生时间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将边的最迟发生时间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设置为</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箭头顶点</a:t>
            </a:r>
            <a:r>
              <a:rPr lang="en-US"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的最迟发生时间</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边的权重</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(k=0; k&lt;edges;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u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[k].u;    v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[k].v;</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[k].early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[u];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[k].last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[k].weight;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79366293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40051" y="806547"/>
            <a:ext cx="11751962" cy="5693866"/>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输出关键活动</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关键活动：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(k=0; k&lt;edges; 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[k].early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[k].last)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u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[k].u;</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[k].v;</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[u]&lt;&lt;"-&gt;"&lt;&lt;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&lt;&lt;"early: "&lt;&lt;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[k].early&lt;&lt;"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&lt;&lt;"last: "&lt;&lt;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[k].last;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75769446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求关键路径算法的性能分析：</a:t>
            </a:r>
          </a:p>
        </p:txBody>
      </p:sp>
      <p:cxnSp>
        <p:nvCxnSpPr>
          <p:cNvPr id="5" name="Line 5086"/>
          <p:cNvCxnSpPr>
            <a:cxnSpLocks noChangeShapeType="1"/>
          </p:cNvCxnSpPr>
          <p:nvPr/>
        </p:nvCxnSpPr>
        <p:spPr bwMode="auto">
          <a:xfrm>
            <a:off x="1524000" y="9189720"/>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9" name="文本框 8"/>
              <p:cNvSpPr txBox="1"/>
              <p:nvPr/>
            </p:nvSpPr>
            <p:spPr>
              <a:xfrm>
                <a:off x="357832" y="1793391"/>
                <a:ext cx="11191438" cy="3669851"/>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图用邻接矩阵方法存储时：</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找起点和终点下标花费时间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n</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、计算顶点入度花费时间</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r>
                      <a:rPr lang="zh-CN"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顶点最早发生时间</a:t>
                </a:r>
                <a14:m>
                  <m:oMath xmlns:m="http://schemas.openxmlformats.org/officeDocument/2006/math">
                    <m:r>
                      <a:rPr lang="zh-CN" altLang="zh-CN" sz="2800">
                        <a:latin typeface="Cambria Math" panose="02040503050406030204" pitchFamily="18" charset="0"/>
                      </a:rPr>
                      <m:t>花费时间</m:t>
                    </m:r>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、计算顶点最迟发生时间</a:t>
                </a:r>
                <a14:m>
                  <m:oMath xmlns:m="http://schemas.openxmlformats.org/officeDocument/2006/math">
                    <m:r>
                      <a:rPr lang="zh-CN" altLang="zh-CN" sz="2800">
                        <a:latin typeface="Cambria Math" panose="02040503050406030204" pitchFamily="18" charset="0"/>
                      </a:rPr>
                      <m:t>花费时间</m:t>
                    </m:r>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、建立边信息花费时间</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r>
                      <a:rPr lang="zh-CN"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计算活动的最早</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开始</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时间花费时间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、计算活动的最迟</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开始</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时间花费时间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、输出关键活动花费时间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一般</a:t>
                </a:r>
                <a14:m>
                  <m:oMath xmlns:m="http://schemas.openxmlformats.org/officeDocument/2006/math">
                    <m:r>
                      <m:rPr>
                        <m:sty m:val="p"/>
                      </m:rPr>
                      <a:rPr lang="en-US" altLang="zh-CN" sz="2800">
                        <a:latin typeface="Cambria Math" panose="02040503050406030204" pitchFamily="18" charset="0"/>
                      </a:rPr>
                      <m:t>e</m:t>
                    </m:r>
                  </m:oMath>
                </a14:m>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远小于</a:t>
                </a:r>
                <a14:m>
                  <m:oMath xmlns:m="http://schemas.openxmlformats.org/officeDocument/2006/math">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oMath>
                </a14:m>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所以总的时间代价为</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57832" y="1793391"/>
                <a:ext cx="11191438" cy="3669851"/>
              </a:xfrm>
              <a:prstGeom prst="rect">
                <a:avLst/>
              </a:prstGeom>
              <a:blipFill>
                <a:blip r:embed="rId3"/>
                <a:stretch>
                  <a:fillRect l="-1144" t="-1661" r="-4248" b="-166"/>
                </a:stretch>
              </a:blipFill>
            </p:spPr>
            <p:txBody>
              <a:bodyPr/>
              <a:lstStyle/>
              <a:p>
                <a:r>
                  <a:rPr lang="zh-CN" altLang="en-US">
                    <a:noFill/>
                  </a:rPr>
                  <a:t> </a:t>
                </a:r>
              </a:p>
            </p:txBody>
          </p:sp>
        </mc:Fallback>
      </mc:AlternateContent>
      <p:sp>
        <p:nvSpPr>
          <p:cNvPr id="2" name="椭圆 1"/>
          <p:cNvSpPr/>
          <p:nvPr/>
        </p:nvSpPr>
        <p:spPr>
          <a:xfrm>
            <a:off x="11444288" y="6372225"/>
            <a:ext cx="242887" cy="185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868236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472757" y="746902"/>
            <a:ext cx="116616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p>
        </p:txBody>
      </p:sp>
      <p:cxnSp>
        <p:nvCxnSpPr>
          <p:cNvPr id="5" name="Line 5086"/>
          <p:cNvCxnSpPr>
            <a:cxnSpLocks noChangeShapeType="1"/>
          </p:cNvCxnSpPr>
          <p:nvPr/>
        </p:nvCxnSpPr>
        <p:spPr bwMode="auto">
          <a:xfrm>
            <a:off x="1524000" y="9189720"/>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 name="文本框 8"/>
          <p:cNvSpPr txBox="1"/>
          <p:nvPr/>
        </p:nvSpPr>
        <p:spPr>
          <a:xfrm>
            <a:off x="357832" y="1793391"/>
            <a:ext cx="11191438" cy="3539430"/>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图是一种最一般的数据结构。图中顶点表示元素、边表示元素间关系，图中任何两个元素之间都可能有关联关系。</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元素及元素关系的存储如果按照线性结构、树形结构存储思路，将元素和元素关系统一在一个框架中去考虑，存储会变得异常艰难。现在换种思路：把元素和元素关系的存储分割开来，各自独立存储。如元素值单独存储在一个数组中，而元素之间的关系，如果按照顺序结构存储，可以存储在一个二维数组中；如果按照链式结构存储可以存储在邻接表中，这样存储问题的解决变得简单了。</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51253749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472757" y="746902"/>
            <a:ext cx="116616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p>
        </p:txBody>
      </p:sp>
      <p:cxnSp>
        <p:nvCxnSpPr>
          <p:cNvPr id="5" name="Line 5086"/>
          <p:cNvCxnSpPr>
            <a:cxnSpLocks noChangeShapeType="1"/>
          </p:cNvCxnSpPr>
          <p:nvPr/>
        </p:nvCxnSpPr>
        <p:spPr bwMode="auto">
          <a:xfrm>
            <a:off x="1524000" y="9189720"/>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 name="文本框 8"/>
          <p:cNvSpPr txBox="1"/>
          <p:nvPr/>
        </p:nvSpPr>
        <p:spPr>
          <a:xfrm>
            <a:off x="357832" y="1793391"/>
            <a:ext cx="11191438" cy="2677656"/>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图的遍历算法仍然是其他操作的基础。在遍历算法的基础上可以解决许多复杂的属性类问题，如无向图是否连通、无向图有几个连通分量、有向图是否是强连通图、有向图有几个强连通分量、每个连通分量中顶点有哪些、有向图是否含有环等等。本章讨论了深度优先遍历和广度优先遍历两种典型的算法，它们和二叉树的先序遍历、层次遍历思路相似。</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01899825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472757" y="746902"/>
            <a:ext cx="1166168"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小结</a:t>
            </a:r>
          </a:p>
        </p:txBody>
      </p:sp>
      <p:cxnSp>
        <p:nvCxnSpPr>
          <p:cNvPr id="5" name="Line 5086"/>
          <p:cNvCxnSpPr>
            <a:cxnSpLocks noChangeShapeType="1"/>
          </p:cNvCxnSpPr>
          <p:nvPr/>
        </p:nvCxnSpPr>
        <p:spPr bwMode="auto">
          <a:xfrm>
            <a:off x="1524000" y="9189720"/>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 name="文本框 8"/>
          <p:cNvSpPr txBox="1"/>
          <p:nvPr/>
        </p:nvSpPr>
        <p:spPr>
          <a:xfrm>
            <a:off x="357832" y="1793391"/>
            <a:ext cx="11191438" cy="3108543"/>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图的应用非常广泛，在日常工作和生活中比比皆是。本章详细讨论了对一个图如何求出其最小代价生成树、顶点之间的最短路径、拓扑排序和工程中的关键路径、关键活动。可以看出，利用图结构能解决的问题很多，</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本章讨论的算法多，具体的实现都依托于它的两种存储：邻接矩阵和邻接表方式，这两种方式的具体操作涉及到的都是最基础的数组和单链表操作，因此相对来说算法实现难度并不很大。</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1990622"/>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6-VI主题-蓝" id="{1B918C6D-2D61-4306-88BA-3CA31BAAF13F}" vid="{A734D909-B61D-48C4-8B37-4CE49734400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8204</TotalTime>
  <Words>17100</Words>
  <Application>Microsoft Office PowerPoint</Application>
  <PresentationFormat>宽屏</PresentationFormat>
  <Paragraphs>1458</Paragraphs>
  <Slides>210</Slides>
  <Notes>192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210</vt:i4>
      </vt:variant>
    </vt:vector>
  </HeadingPairs>
  <TitlesOfParts>
    <vt:vector size="223" baseType="lpstr">
      <vt:lpstr>等线</vt:lpstr>
      <vt:lpstr>等线 Light</vt:lpstr>
      <vt:lpstr>黑体</vt:lpstr>
      <vt:lpstr>华文楷体</vt:lpstr>
      <vt:lpstr>楷体_GB2312</vt:lpstr>
      <vt:lpstr>宋体</vt:lpstr>
      <vt:lpstr>微软雅黑</vt:lpstr>
      <vt:lpstr>Arial</vt:lpstr>
      <vt:lpstr>Calibri</vt:lpstr>
      <vt:lpstr>Cambria Math</vt:lpstr>
      <vt:lpstr>Times New Roman</vt:lpstr>
      <vt:lpstr>Wingdings</vt:lpstr>
      <vt:lpstr>2016-VI主题-蓝</vt:lpstr>
      <vt:lpstr>第五章 图</vt:lpstr>
      <vt:lpstr>PowerPoint 演示文稿</vt:lpstr>
      <vt:lpstr>图：</vt:lpstr>
      <vt:lpstr>有向图：</vt:lpstr>
      <vt:lpstr>无向图：</vt:lpstr>
      <vt:lpstr>相关术语：</vt:lpstr>
      <vt:lpstr>相关术语：</vt:lpstr>
      <vt:lpstr>相关术语：</vt:lpstr>
      <vt:lpstr>相关术语：</vt:lpstr>
      <vt:lpstr>相关术语：</vt:lpstr>
      <vt:lpstr>相关术语：</vt:lpstr>
      <vt:lpstr>相关术语：</vt:lpstr>
      <vt:lpstr>相关术语：</vt:lpstr>
      <vt:lpstr>相关术语：</vt:lpstr>
      <vt:lpstr>相关术语：</vt:lpstr>
      <vt:lpstr>相关术语：</vt:lpstr>
      <vt:lpstr>PowerPoint 演示文稿</vt:lpstr>
      <vt:lpstr>PowerPoint 演示文稿</vt:lpstr>
      <vt:lpstr>邻接矩阵：</vt:lpstr>
      <vt:lpstr>PowerPoint 演示文稿</vt:lpstr>
      <vt:lpstr>邻接矩阵：</vt:lpstr>
      <vt:lpstr>邻接矩阵：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邻接表：</vt:lpstr>
      <vt:lpstr>邻接表：</vt:lpstr>
      <vt:lpstr>邻接表：</vt:lpstr>
      <vt:lpstr>另外一种邻接表：顶点表不用数组，用单链表</vt:lpstr>
      <vt:lpstr>逆邻接表：</vt:lpstr>
      <vt:lpstr>逆邻接表：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多重邻接表：</vt:lpstr>
      <vt:lpstr>多重邻接表：</vt:lpstr>
      <vt:lpstr>PowerPoint 演示文稿</vt:lpstr>
      <vt:lpstr>十字链表：</vt:lpstr>
      <vt:lpstr>十字链表：</vt:lpstr>
      <vt:lpstr>PowerPoint 演示文稿</vt:lpstr>
      <vt:lpstr>PowerPoint 演示文稿</vt:lpstr>
      <vt:lpstr>邻接表：</vt:lpstr>
      <vt:lpstr>图的遍历：</vt:lpstr>
      <vt:lpstr>图的遍历：</vt:lpstr>
      <vt:lpstr>PowerPoint 演示文稿</vt:lpstr>
      <vt:lpstr>深度优先遍历 DFS（Deep First Search）：</vt:lpstr>
      <vt:lpstr>PowerPoint 演示文稿</vt:lpstr>
      <vt:lpstr>深度优先遍历的递归算法思想：</vt:lpstr>
      <vt:lpstr>深度优先遍历的递归算法思想：</vt:lpstr>
      <vt:lpstr>深度优先遍历的递归算法实现：</vt:lpstr>
      <vt:lpstr>深度优先遍历的递归算法实现：</vt:lpstr>
      <vt:lpstr>深度优先遍历的递归算法分析：</vt:lpstr>
      <vt:lpstr>深度优先遍历的非递归算法思想：</vt:lpstr>
      <vt:lpstr>深度优先遍历的非递归算法实现：</vt:lpstr>
      <vt:lpstr>深度优先遍历的非递归算法实现：</vt:lpstr>
      <vt:lpstr>深度优先遍历的非递归算法实现：</vt:lpstr>
      <vt:lpstr>深度优先遍历的非递归算法分析：</vt:lpstr>
      <vt:lpstr>深度优先遍历的非递归算法改进：</vt:lpstr>
      <vt:lpstr>深度优先遍历的非递归算法改进：</vt:lpstr>
      <vt:lpstr>PowerPoint 演示文稿</vt:lpstr>
      <vt:lpstr>广度优先遍历 BFS（Breadth First Search）：</vt:lpstr>
      <vt:lpstr>PowerPoint 演示文稿</vt:lpstr>
      <vt:lpstr>广度优先遍历的算法思想：</vt:lpstr>
      <vt:lpstr>广度优先遍历的算法实现：</vt:lpstr>
      <vt:lpstr>PowerPoint 演示文稿</vt:lpstr>
      <vt:lpstr>广度优先遍历的递归算法分析：</vt:lpstr>
      <vt:lpstr>PowerPoint 演示文稿</vt:lpstr>
      <vt:lpstr>PowerPoint 演示文稿</vt:lpstr>
      <vt:lpstr>无向图的连通性和连通分量：</vt:lpstr>
      <vt:lpstr>连通性和连通分量算法实现：</vt:lpstr>
      <vt:lpstr>PowerPoint 演示文稿</vt:lpstr>
      <vt:lpstr>PowerPoint 演示文稿</vt:lpstr>
      <vt:lpstr>有向图的连通性：</vt:lpstr>
      <vt:lpstr>有向图的连通性：</vt:lpstr>
      <vt:lpstr>有向图的连通性：</vt:lpstr>
      <vt:lpstr>PowerPoint 演示文稿</vt:lpstr>
      <vt:lpstr>PowerPoint 演示文稿</vt:lpstr>
      <vt:lpstr>PowerPoint 演示文稿</vt:lpstr>
      <vt:lpstr>欧拉回路：</vt:lpstr>
      <vt:lpstr>七桥问题的抽象</vt:lpstr>
      <vt:lpstr>欧拉的判断 </vt:lpstr>
      <vt:lpstr>欧拉回路和欧拉路径</vt:lpstr>
      <vt:lpstr>基本想法</vt:lpstr>
      <vt:lpstr>PowerPoint 演示文稿</vt:lpstr>
      <vt:lpstr>解决方法</vt:lpstr>
      <vt:lpstr>PowerPoint 演示文稿</vt:lpstr>
      <vt:lpstr>寻找欧拉回路</vt:lpstr>
      <vt:lpstr>TSP问题</vt:lpstr>
      <vt:lpstr>PowerPoint 演示文稿</vt:lpstr>
      <vt:lpstr>连通图的生成树</vt:lpstr>
      <vt:lpstr>生成树应用</vt:lpstr>
      <vt:lpstr>最小代价生成树：</vt:lpstr>
      <vt:lpstr>最小代价生成树：</vt:lpstr>
      <vt:lpstr>最小代价生成树应用</vt:lpstr>
      <vt:lpstr>PowerPoint 演示文稿</vt:lpstr>
      <vt:lpstr>Prim算法：普里姆算法着眼于顶点</vt:lpstr>
      <vt:lpstr>Prim算法：普里姆算法着眼于顶点</vt:lpstr>
      <vt:lpstr>Prim算法：普里姆算法着眼于顶点</vt:lpstr>
      <vt:lpstr>Prim算法实现：</vt:lpstr>
      <vt:lpstr>Prim算法实现：</vt:lpstr>
      <vt:lpstr>Prim算法实现：</vt:lpstr>
      <vt:lpstr>PowerPoint 演示文稿</vt:lpstr>
      <vt:lpstr>PowerPoint 演示文稿</vt:lpstr>
      <vt:lpstr>PowerPoint 演示文稿</vt:lpstr>
      <vt:lpstr>PowerPoint 演示文稿</vt:lpstr>
      <vt:lpstr>PowerPoint 演示文稿</vt:lpstr>
      <vt:lpstr>Prim算法性能分析：</vt:lpstr>
      <vt:lpstr>Prim算法改进</vt:lpstr>
      <vt:lpstr>PowerPoint 演示文稿</vt:lpstr>
      <vt:lpstr>Kruscal算法：克鲁斯卡尔算法着眼于边</vt:lpstr>
      <vt:lpstr>Kruscal算法思想：</vt:lpstr>
      <vt:lpstr>克鲁斯卡尔算法示例</vt:lpstr>
      <vt:lpstr>克鲁斯卡尔算法示例</vt:lpstr>
      <vt:lpstr>克鲁斯卡尔算法的实施过程：</vt:lpstr>
      <vt:lpstr>Kruscal算法性能分析：</vt:lpstr>
      <vt:lpstr>算法的正确性</vt:lpstr>
      <vt:lpstr>定理的证明</vt:lpstr>
      <vt:lpstr>PowerPoint 演示文稿</vt:lpstr>
      <vt:lpstr>PowerPoint 演示文稿</vt:lpstr>
      <vt:lpstr>单源最短路径问题：</vt:lpstr>
      <vt:lpstr>Dijkstra 算法思想：</vt:lpstr>
      <vt:lpstr>Dijkstra 算法思想：</vt:lpstr>
      <vt:lpstr>Dijkstra 算法示例：</vt:lpstr>
      <vt:lpstr>Dijkstra 算法示例：</vt:lpstr>
      <vt:lpstr>Dijkstra 算法示例：</vt:lpstr>
      <vt:lpstr>Dijkstra 算法中的问题：</vt:lpstr>
      <vt:lpstr>Dijikstra算法实现：</vt:lpstr>
      <vt:lpstr>邻接矩阵：</vt:lpstr>
      <vt:lpstr>PowerPoint 演示文稿</vt:lpstr>
      <vt:lpstr>Dijikstra算法实现：</vt:lpstr>
      <vt:lpstr>PowerPoint 演示文稿</vt:lpstr>
      <vt:lpstr>PowerPoint 演示文稿</vt:lpstr>
      <vt:lpstr>PowerPoint 演示文稿</vt:lpstr>
      <vt:lpstr>特殊情况：无权图</vt:lpstr>
      <vt:lpstr>无权图的单源最短路径</vt:lpstr>
      <vt:lpstr>PowerPoint 演示文稿</vt:lpstr>
      <vt:lpstr>伪代码</vt:lpstr>
      <vt:lpstr>特殊情况：负权值</vt:lpstr>
      <vt:lpstr>一个直观的解决方案</vt:lpstr>
      <vt:lpstr>一个可行的解决方案</vt:lpstr>
      <vt:lpstr>PowerPoint 演示文稿</vt:lpstr>
      <vt:lpstr>Floyd算法：</vt:lpstr>
      <vt:lpstr>Floyd算法示例：</vt:lpstr>
      <vt:lpstr>Floyd算法示例：</vt:lpstr>
      <vt:lpstr>Floyd算法实现：</vt:lpstr>
      <vt:lpstr>Floyd算法实现：</vt:lpstr>
      <vt:lpstr>PowerPoint 演示文稿</vt:lpstr>
      <vt:lpstr>Floyd算法分析：</vt:lpstr>
      <vt:lpstr>带负权值的边不在回路中情况：</vt:lpstr>
      <vt:lpstr>带负权值的边出现在回路中：</vt:lpstr>
      <vt:lpstr>带负权值的边出现在回路中：</vt:lpstr>
      <vt:lpstr>PowerPoint 演示文稿</vt:lpstr>
      <vt:lpstr>AOV网和AOE网：</vt:lpstr>
      <vt:lpstr>PowerPoint 演示文稿</vt:lpstr>
      <vt:lpstr>AOV网：</vt:lpstr>
      <vt:lpstr>偏序和全序关系：</vt:lpstr>
      <vt:lpstr>拓扑序列和拓扑排序</vt:lpstr>
      <vt:lpstr>AOV网：拓扑排序问题</vt:lpstr>
      <vt:lpstr>AOV网：拓扑排序算法</vt:lpstr>
      <vt:lpstr>拓扑排序算法示例：</vt:lpstr>
      <vt:lpstr>拓扑排序算法示例：</vt:lpstr>
      <vt:lpstr>拓扑排序算法示例：</vt:lpstr>
      <vt:lpstr>拓扑排序算法示例：</vt:lpstr>
      <vt:lpstr>拓扑排序算法实现：</vt:lpstr>
      <vt:lpstr>PowerPoint 演示文稿</vt:lpstr>
      <vt:lpstr>PowerPoint 演示文稿</vt:lpstr>
      <vt:lpstr>AOE网：</vt:lpstr>
      <vt:lpstr>AOE网：关键路径问题</vt:lpstr>
      <vt:lpstr>利用AOE网求工程中的关键活动的方法：</vt:lpstr>
      <vt:lpstr>求顶点事件的最早发生时间：</vt:lpstr>
      <vt:lpstr>求顶点事件的最早发生时间示例：</vt:lpstr>
      <vt:lpstr>求顶点事件的最早发生时间示例：</vt:lpstr>
      <vt:lpstr>求顶点事件的最早发生时间示例：</vt:lpstr>
      <vt:lpstr>求顶点事件的最早发生时间示例：</vt:lpstr>
      <vt:lpstr>求顶点事件的最迟发生时间：</vt:lpstr>
      <vt:lpstr>求顶点事件的最迟发生时间示例：</vt:lpstr>
      <vt:lpstr>求顶点事件的最迟发生时间示例：</vt:lpstr>
      <vt:lpstr>求顶点事件的最迟发生时间示例：</vt:lpstr>
      <vt:lpstr>求顶点事件的最迟发生时间示例：</vt:lpstr>
      <vt:lpstr>顶点事件的最早和最迟发生时间示例汇总：</vt:lpstr>
      <vt:lpstr>求活动的最早和最迟开始时间：</vt:lpstr>
      <vt:lpstr>求关键路径：</vt:lpstr>
      <vt:lpstr>求关键路径的算法实现：</vt:lpstr>
      <vt:lpstr>PowerPoint 演示文稿</vt:lpstr>
      <vt:lpstr>PowerPoint 演示文稿</vt:lpstr>
      <vt:lpstr>PowerPoint 演示文稿</vt:lpstr>
      <vt:lpstr>PowerPoint 演示文稿</vt:lpstr>
      <vt:lpstr>PowerPoint 演示文稿</vt:lpstr>
      <vt:lpstr>PowerPoint 演示文稿</vt:lpstr>
      <vt:lpstr>求关键路径算法的性能分析：</vt:lpstr>
      <vt:lpstr>小结</vt:lpstr>
      <vt:lpstr>小结</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jie meng</cp:lastModifiedBy>
  <cp:revision>532</cp:revision>
  <dcterms:created xsi:type="dcterms:W3CDTF">2016-04-20T02:59:17Z</dcterms:created>
  <dcterms:modified xsi:type="dcterms:W3CDTF">2023-12-20T07:09:54Z</dcterms:modified>
</cp:coreProperties>
</file>