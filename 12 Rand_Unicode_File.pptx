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50"/>
  </p:handoutMasterIdLst>
  <p:sldIdLst>
    <p:sldId id="256" r:id="rId3"/>
    <p:sldId id="257" r:id="rId5"/>
    <p:sldId id="289" r:id="rId6"/>
    <p:sldId id="296" r:id="rId7"/>
    <p:sldId id="403" r:id="rId8"/>
    <p:sldId id="404" r:id="rId9"/>
    <p:sldId id="405" r:id="rId10"/>
    <p:sldId id="406" r:id="rId11"/>
    <p:sldId id="407" r:id="rId12"/>
    <p:sldId id="355" r:id="rId13"/>
    <p:sldId id="414" r:id="rId14"/>
    <p:sldId id="447" r:id="rId15"/>
    <p:sldId id="448" r:id="rId16"/>
    <p:sldId id="483" r:id="rId17"/>
    <p:sldId id="449" r:id="rId18"/>
    <p:sldId id="451" r:id="rId19"/>
    <p:sldId id="452" r:id="rId20"/>
    <p:sldId id="455" r:id="rId21"/>
    <p:sldId id="453" r:id="rId22"/>
    <p:sldId id="484" r:id="rId23"/>
    <p:sldId id="457" r:id="rId24"/>
    <p:sldId id="356" r:id="rId25"/>
    <p:sldId id="408" r:id="rId26"/>
    <p:sldId id="409" r:id="rId27"/>
    <p:sldId id="410" r:id="rId28"/>
    <p:sldId id="412" r:id="rId29"/>
    <p:sldId id="413" r:id="rId30"/>
    <p:sldId id="416" r:id="rId31"/>
    <p:sldId id="417" r:id="rId32"/>
    <p:sldId id="456" r:id="rId33"/>
    <p:sldId id="424" r:id="rId34"/>
    <p:sldId id="425" r:id="rId35"/>
    <p:sldId id="458" r:id="rId36"/>
    <p:sldId id="427" r:id="rId37"/>
    <p:sldId id="428" r:id="rId38"/>
    <p:sldId id="430" r:id="rId39"/>
    <p:sldId id="431" r:id="rId40"/>
    <p:sldId id="432" r:id="rId41"/>
    <p:sldId id="434" r:id="rId42"/>
    <p:sldId id="433" r:id="rId43"/>
    <p:sldId id="435" r:id="rId44"/>
    <p:sldId id="446" r:id="rId45"/>
    <p:sldId id="436" r:id="rId46"/>
    <p:sldId id="439" r:id="rId47"/>
    <p:sldId id="441" r:id="rId48"/>
    <p:sldId id="450" r:id="rId49"/>
  </p:sldIdLst>
  <p:sldSz cx="9144000" cy="5143500" type="screen16x9"/>
  <p:notesSz cx="6858000" cy="9144000"/>
  <p:embeddedFontLst>
    <p:embeddedFont>
      <p:font typeface="Raleway"/>
      <p:regular r:id="rId54"/>
    </p:embeddedFont>
    <p:embeddedFont>
      <p:font typeface="Source Sans Pro" panose="020B0503030403020204"/>
      <p:regular r:id="rId55"/>
    </p:embeddedFont>
    <p:embeddedFont>
      <p:font typeface="Source Sans Pro" panose="020B0503030403020204" pitchFamily="34" charset="0"/>
      <p:regular r:id="rId56"/>
    </p:embeddedFont>
    <p:embeddedFont>
      <p:font typeface="Raleway" pitchFamily="34" charset="0"/>
      <p:regular r:id="rId57"/>
    </p:embeddedFont>
    <p:embeddedFont>
      <p:font typeface="黑体" panose="02010609060101010101" pitchFamily="49" charset="-122"/>
      <p:regular r:id="rId58"/>
    </p:embeddedFont>
    <p:embeddedFont>
      <p:font typeface="Consolas" panose="020B0609020204030204" pitchFamily="49" charset="0"/>
      <p:regular r:id="rId59"/>
      <p:bold r:id="rId60"/>
      <p:italic r:id="rId61"/>
      <p:boldItalic r:id="rId62"/>
    </p:embeddedFont>
  </p:embeddedFontLst>
  <p:custDataLst>
    <p:tags r:id="rId6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默认节" id="{FA4343E0-B24A-4A78-ACC4-92B04329ADDA}">
          <p14:sldIdLst>
            <p14:sldId id="256"/>
            <p14:sldId id="257"/>
          </p14:sldIdLst>
        </p14:section>
        <p14:section name="Random" id="{F866783A-CD8B-468F-910D-FC913A6F6BFD}">
          <p14:sldIdLst>
            <p14:sldId id="289"/>
            <p14:sldId id="296"/>
            <p14:sldId id="403"/>
            <p14:sldId id="404"/>
            <p14:sldId id="405"/>
            <p14:sldId id="406"/>
            <p14:sldId id="407"/>
          </p14:sldIdLst>
        </p14:section>
        <p14:section name="Unicode" id="{5404BA6B-9FD3-4D27-9BBD-AB6C86DFD7B5}">
          <p14:sldIdLst>
            <p14:sldId id="355"/>
            <p14:sldId id="414"/>
            <p14:sldId id="447"/>
            <p14:sldId id="448"/>
            <p14:sldId id="483"/>
            <p14:sldId id="449"/>
            <p14:sldId id="451"/>
            <p14:sldId id="452"/>
            <p14:sldId id="455"/>
            <p14:sldId id="453"/>
            <p14:sldId id="484"/>
          </p14:sldIdLst>
        </p14:section>
        <p14:section name="File Processing" id="{4B031FF0-8D80-402C-8FBA-60EEADFF5399}">
          <p14:sldIdLst>
            <p14:sldId id="457"/>
            <p14:sldId id="356"/>
            <p14:sldId id="408"/>
            <p14:sldId id="409"/>
            <p14:sldId id="410"/>
            <p14:sldId id="412"/>
            <p14:sldId id="413"/>
            <p14:sldId id="416"/>
            <p14:sldId id="417"/>
            <p14:sldId id="456"/>
            <p14:sldId id="424"/>
            <p14:sldId id="425"/>
            <p14:sldId id="458"/>
            <p14:sldId id="427"/>
            <p14:sldId id="428"/>
            <p14:sldId id="430"/>
            <p14:sldId id="431"/>
            <p14:sldId id="432"/>
            <p14:sldId id="434"/>
            <p14:sldId id="433"/>
            <p14:sldId id="435"/>
            <p14:sldId id="446"/>
            <p14:sldId id="436"/>
            <p14:sldId id="439"/>
            <p14:sldId id="441"/>
            <p14:sldId id="450"/>
          </p14:sldIdLst>
        </p14:section>
      </p14:sectionLst>
    </p:ext>
    <p:ext uri="{EFAFB233-063F-42B5-8137-9DF3F51BA10A}">
      <p15:sldGuideLst xmlns:p15="http://schemas.microsoft.com/office/powerpoint/2012/main">
        <p15:guide id="1" orient="horz" pos="1602"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7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09"/>
    <p:restoredTop sz="94628"/>
  </p:normalViewPr>
  <p:slideViewPr>
    <p:cSldViewPr snapToGrid="0" showGuides="1">
      <p:cViewPr varScale="1">
        <p:scale>
          <a:sx n="153" d="100"/>
          <a:sy n="153" d="100"/>
        </p:scale>
        <p:origin x="880" y="160"/>
      </p:cViewPr>
      <p:guideLst>
        <p:guide orient="horz" pos="160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1.xml"/><Relationship Id="rId62" Type="http://schemas.openxmlformats.org/officeDocument/2006/relationships/font" Target="fonts/font9.fntdata"/><Relationship Id="rId61" Type="http://schemas.openxmlformats.org/officeDocument/2006/relationships/font" Target="fonts/font8.fntdata"/><Relationship Id="rId60" Type="http://schemas.openxmlformats.org/officeDocument/2006/relationships/font" Target="fonts/font7.fntdata"/><Relationship Id="rId6" Type="http://schemas.openxmlformats.org/officeDocument/2006/relationships/slide" Target="slides/slide3.xml"/><Relationship Id="rId59" Type="http://schemas.openxmlformats.org/officeDocument/2006/relationships/font" Target="fonts/font6.fntdata"/><Relationship Id="rId58" Type="http://schemas.openxmlformats.org/officeDocument/2006/relationships/font" Target="fonts/font5.fntdata"/><Relationship Id="rId57" Type="http://schemas.openxmlformats.org/officeDocument/2006/relationships/font" Target="fonts/font4.fntdata"/><Relationship Id="rId56" Type="http://schemas.openxmlformats.org/officeDocument/2006/relationships/font" Target="fonts/font3.fntdata"/><Relationship Id="rId55" Type="http://schemas.openxmlformats.org/officeDocument/2006/relationships/font" Target="fonts/font2.fntdata"/><Relationship Id="rId54" Type="http://schemas.openxmlformats.org/officeDocument/2006/relationships/font" Target="fonts/font1.fntdata"/><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C3311C-1080-4025-A587-3C8245D9CD7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ltLang="zh-CN"/>
              <a:t>https://zh.wikipedia.org/zh-hans/%E6%91%A9%E5%B0%94%E5%AE%9A%E5%BE%8B</a:t>
            </a: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E7B472-84CF-4C91-970E-0A87C7012FE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
        <p:cNvGrpSpPr/>
        <p:nvPr/>
      </p:nvGrpSpPr>
      <p:grpSpPr>
        <a:xfrm>
          <a:off x="0" y="0"/>
          <a:ext cx="0" cy="0"/>
          <a:chOff x="0" y="0"/>
          <a:chExt cx="0" cy="0"/>
        </a:xfrm>
      </p:grpSpPr>
      <p:sp>
        <p:nvSpPr>
          <p:cNvPr id="55" name="Google Shape;55;gc6f9199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c6f9199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gc6f91993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c6f91993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1;p2"/>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atin typeface="Source Sans Pro" panose="020B0503030403020204" pitchFamily="34" charset="0"/>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lvl1pPr lvl="0">
              <a:spcBef>
                <a:spcPts val="0"/>
              </a:spcBef>
              <a:spcAft>
                <a:spcPts val="0"/>
              </a:spcAft>
              <a:buSzPts val="3600"/>
              <a:buNone/>
              <a:defRPr sz="3600">
                <a:latin typeface="Source Sans Pro" panose="020B0503030403020204" pitchFamily="34" charset="0"/>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Source Sans Pro" panose="020B0503030403020204" pitchFamily="34" charset="0"/>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2"/>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latin typeface="Source Sans Pro" panose="020B0503030403020204" pitchFamily="34" charset="0"/>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atin typeface="Source Sans Pro" panose="020B0503030403020204" pitchFamily="34" charset="0"/>
              </a:defRPr>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Source Sans Pro" panose="020B0503030403020204"/>
              <a:buChar char="●"/>
              <a:defRPr sz="1800">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lvl="1"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lvl="2"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lvl="3"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lvl="4"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lvl="5"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lvl="6"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lvl="7"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lvl="8"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lvl="1"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lvl="2"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lvl="3"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lvl="4"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lvl="5"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lvl="6"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lvl="7"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lvl="8"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Source Serif Pro" panose="02040603050405020204" pitchFamily="18" charset="0"/>
          <a:ea typeface="Source Serif Pro" panose="02040603050405020204" pitchFamily="18" charset="0"/>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hyperlink" Target="mailto:chengfan85@gmail.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8.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png"/><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hyperlink" Target="https://en.wikipedia.org/wiki/Unicod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1.png"/><Relationship Id="rId1"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3.png"/><Relationship Id="rId1"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7.png"/><Relationship Id="rId1"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9.png"/><Relationship Id="rId1" Type="http://schemas.openxmlformats.org/officeDocument/2006/relationships/image" Target="../media/image4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3.png"/><Relationship Id="rId1" Type="http://schemas.openxmlformats.org/officeDocument/2006/relationships/image" Target="../media/image5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6.png"/><Relationship Id="rId1" Type="http://schemas.openxmlformats.org/officeDocument/2006/relationships/image" Target="../media/image55.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71.png"/><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3.png"/><Relationship Id="rId1" Type="http://schemas.openxmlformats.org/officeDocument/2006/relationships/image" Target="../media/image7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5.png"/><Relationship Id="rId1" Type="http://schemas.openxmlformats.org/officeDocument/2006/relationships/image" Target="../media/image7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7.png"/><Relationship Id="rId1" Type="http://schemas.openxmlformats.org/officeDocument/2006/relationships/image" Target="../media/image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p>
            <a:pPr marL="0" lvl="0" indent="0" rtl="0">
              <a:spcBef>
                <a:spcPts val="0"/>
              </a:spcBef>
              <a:spcAft>
                <a:spcPts val="0"/>
              </a:spcAft>
              <a:buNone/>
            </a:pPr>
            <a:r>
              <a:rPr lang="en-US" altLang="zh-CN">
                <a:latin typeface="Raleway" pitchFamily="34" charset="0"/>
                <a:ea typeface="Source Sans Pro" panose="020B0503030403020204" pitchFamily="34" charset="0"/>
              </a:rPr>
              <a:t>Introduction to Computation</a:t>
            </a:r>
            <a:endParaRPr>
              <a:latin typeface="Raleway" pitchFamily="34" charset="0"/>
              <a:ea typeface="Source Sans Pro" panose="020B0503030403020204" pitchFamily="34" charset="0"/>
            </a:endParaRPr>
          </a:p>
        </p:txBody>
      </p:sp>
      <p:sp>
        <p:nvSpPr>
          <p:cNvPr id="59" name="Google Shape;59;p13"/>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Autumn, 2023</a:t>
            </a:r>
            <a:endParaRPr lang="en-GB"/>
          </a:p>
        </p:txBody>
      </p:sp>
      <p:sp>
        <p:nvSpPr>
          <p:cNvPr id="4" name="文本框 3"/>
          <p:cNvSpPr txBox="1"/>
          <p:nvPr/>
        </p:nvSpPr>
        <p:spPr>
          <a:xfrm>
            <a:off x="485875" y="2940517"/>
            <a:ext cx="3374642" cy="1754326"/>
          </a:xfrm>
          <a:prstGeom prst="rect">
            <a:avLst/>
          </a:prstGeom>
          <a:noFill/>
        </p:spPr>
        <p:txBody>
          <a:bodyPr wrap="none" rtlCol="0">
            <a:spAutoFit/>
          </a:bodyPr>
          <a:lstStyle/>
          <a:p>
            <a:r>
              <a:rPr lang="en-US" altLang="zh-CN" sz="1800">
                <a:solidFill>
                  <a:schemeClr val="bg1"/>
                </a:solidFill>
                <a:latin typeface="Source Sans Pro" panose="020B0503030403020204" pitchFamily="34" charset="0"/>
                <a:ea typeface="Source Sans Pro" panose="020B0503030403020204" pitchFamily="34" charset="0"/>
              </a:rPr>
              <a:t>Prof. Fan Cheng</a:t>
            </a:r>
            <a:endParaRPr lang="en-US" altLang="zh-CN" sz="1800">
              <a:solidFill>
                <a:schemeClr val="bg1"/>
              </a:solidFill>
              <a:latin typeface="Source Sans Pro" panose="020B0503030403020204" pitchFamily="34" charset="0"/>
              <a:ea typeface="Source Sans Pro" panose="020B0503030403020204" pitchFamily="34" charset="0"/>
            </a:endParaRPr>
          </a:p>
          <a:p>
            <a:endParaRPr lang="en-US" altLang="zh-CN" sz="1800">
              <a:solidFill>
                <a:schemeClr val="bg1"/>
              </a:solidFill>
              <a:latin typeface="Source Sans Pro" panose="020B0503030403020204" pitchFamily="34" charset="0"/>
              <a:ea typeface="Source Sans Pro" panose="020B0503030403020204" pitchFamily="34" charset="0"/>
            </a:endParaRPr>
          </a:p>
          <a:p>
            <a:r>
              <a:rPr lang="en-US" altLang="zh-CN" sz="1800">
                <a:solidFill>
                  <a:schemeClr val="bg1"/>
                </a:solidFill>
                <a:latin typeface="Source Sans Pro" panose="020B0503030403020204" pitchFamily="34" charset="0"/>
                <a:ea typeface="Source Sans Pro" panose="020B0503030403020204" pitchFamily="34" charset="0"/>
              </a:rPr>
              <a:t>Shanghai Jiao</a:t>
            </a:r>
            <a:r>
              <a:rPr lang="zh-CN" altLang="en-US" sz="1800">
                <a:solidFill>
                  <a:schemeClr val="bg1"/>
                </a:solidFill>
                <a:latin typeface="Source Sans Pro" panose="020B0503030403020204" pitchFamily="34" charset="0"/>
              </a:rPr>
              <a:t> </a:t>
            </a:r>
            <a:r>
              <a:rPr lang="en-US" altLang="zh-CN" sz="1800">
                <a:solidFill>
                  <a:schemeClr val="bg1"/>
                </a:solidFill>
                <a:latin typeface="Source Sans Pro" panose="020B0503030403020204" pitchFamily="34" charset="0"/>
                <a:ea typeface="Source Sans Pro" panose="020B0503030403020204" pitchFamily="34" charset="0"/>
              </a:rPr>
              <a:t>Tong</a:t>
            </a:r>
            <a:r>
              <a:rPr lang="zh-CN" altLang="en-US" sz="1800">
                <a:solidFill>
                  <a:schemeClr val="bg1"/>
                </a:solidFill>
                <a:latin typeface="Source Sans Pro" panose="020B0503030403020204" pitchFamily="34" charset="0"/>
              </a:rPr>
              <a:t> </a:t>
            </a:r>
            <a:r>
              <a:rPr lang="en-US" altLang="zh-CN" sz="1800">
                <a:solidFill>
                  <a:schemeClr val="bg1"/>
                </a:solidFill>
                <a:latin typeface="Source Sans Pro" panose="020B0503030403020204" pitchFamily="34" charset="0"/>
                <a:ea typeface="Source Sans Pro" panose="020B0503030403020204" pitchFamily="34" charset="0"/>
              </a:rPr>
              <a:t>University</a:t>
            </a:r>
            <a:endParaRPr lang="en-US" altLang="zh-CN" sz="1800">
              <a:solidFill>
                <a:schemeClr val="bg1"/>
              </a:solidFill>
              <a:latin typeface="Source Sans Pro" panose="020B0503030403020204" pitchFamily="34" charset="0"/>
              <a:ea typeface="Source Sans Pro" panose="020B0503030403020204" pitchFamily="34" charset="0"/>
            </a:endParaRPr>
          </a:p>
          <a:p>
            <a:endParaRPr lang="en-US" altLang="zh-CN" sz="1800">
              <a:solidFill>
                <a:schemeClr val="bg1"/>
              </a:solidFill>
              <a:latin typeface="Source Sans Pro" panose="020B0503030403020204" pitchFamily="34" charset="0"/>
              <a:ea typeface="Source Sans Pro" panose="020B0503030403020204" pitchFamily="34" charset="0"/>
              <a:hlinkClick r:id="rId1"/>
            </a:endParaRPr>
          </a:p>
          <a:p>
            <a:r>
              <a:rPr lang="en-US" altLang="zh-CN" sz="1800">
                <a:solidFill>
                  <a:schemeClr val="bg1"/>
                </a:solidFill>
                <a:latin typeface="Source Sans Pro" panose="020B0503030403020204" pitchFamily="34" charset="0"/>
                <a:ea typeface="Source Sans Pro" panose="020B0503030403020204" pitchFamily="34" charset="0"/>
              </a:rPr>
              <a:t>chengfan85@gmail.com</a:t>
            </a:r>
            <a:endParaRPr lang="en-US" altLang="zh-CN" sz="1800">
              <a:solidFill>
                <a:schemeClr val="bg1"/>
              </a:solidFill>
              <a:latin typeface="Source Sans Pro" panose="020B0503030403020204" pitchFamily="34" charset="0"/>
              <a:ea typeface="Source Sans Pro" panose="020B0503030403020204" pitchFamily="34" charset="0"/>
            </a:endParaRPr>
          </a:p>
          <a:p>
            <a:r>
              <a:rPr lang="en-US" altLang="zh-CN" sz="1800">
                <a:solidFill>
                  <a:schemeClr val="bg1"/>
                </a:solidFill>
                <a:latin typeface="Source Sans Pro" panose="020B0503030403020204" pitchFamily="34" charset="0"/>
                <a:ea typeface="Source Sans Pro" panose="020B0503030403020204" pitchFamily="34" charset="0"/>
              </a:rPr>
              <a:t>https://github.com/ichengfan/itc</a:t>
            </a:r>
            <a:endParaRPr lang="en-US" altLang="zh-CN" sz="1800">
              <a:solidFill>
                <a:schemeClr val="bg1"/>
              </a:solidFill>
              <a:latin typeface="Source Sans Pro" panose="020B0503030403020204" pitchFamily="34" charset="0"/>
              <a:ea typeface="Source Sans Pro" panose="020B0503030403020204" pitchFamily="34"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4393" y="2821214"/>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Premium Vector | Cute green tree python carto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392" y="4038081"/>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Image result for eight que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7927" y="4038079"/>
            <a:ext cx="914399" cy="9144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p:cNvGrpSpPr/>
          <p:nvPr/>
        </p:nvGrpSpPr>
        <p:grpSpPr>
          <a:xfrm>
            <a:off x="6797927" y="2821214"/>
            <a:ext cx="914400" cy="914400"/>
            <a:chOff x="6180217" y="2783700"/>
            <a:chExt cx="914400" cy="914400"/>
          </a:xfrm>
        </p:grpSpPr>
        <p:sp>
          <p:nvSpPr>
            <p:cNvPr id="6" name="文本框 5"/>
            <p:cNvSpPr txBox="1"/>
            <p:nvPr/>
          </p:nvSpPr>
          <p:spPr>
            <a:xfrm>
              <a:off x="6180217" y="2783700"/>
              <a:ext cx="914400" cy="914400"/>
            </a:xfrm>
            <a:prstGeom prst="rect">
              <a:avLst/>
            </a:prstGeom>
            <a:solidFill>
              <a:schemeClr val="bg1"/>
            </a:solidFill>
          </p:spPr>
          <p:txBody>
            <a:bodyPr wrap="square" rtlCol="0">
              <a:spAutoFit/>
            </a:bodyPr>
            <a:lstStyle/>
            <a:p>
              <a:endParaRPr lang="zh-CN" altLang="en-US"/>
            </a:p>
          </p:txBody>
        </p:sp>
        <p:pic>
          <p:nvPicPr>
            <p:cNvPr id="3"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8718" y="2783700"/>
              <a:ext cx="837395" cy="9144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265500" y="1718250"/>
            <a:ext cx="4045200" cy="17070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latin typeface="Raleway" pitchFamily="34" charset="0"/>
                <a:ea typeface="Source Sans Pro" panose="020B0503030403020204" pitchFamily="34" charset="0"/>
              </a:rPr>
              <a:t>Outline</a:t>
            </a:r>
            <a:endParaRPr>
              <a:latin typeface="Raleway" pitchFamily="34" charset="0"/>
              <a:ea typeface="Source Sans Pro" panose="020B0503030403020204" pitchFamily="34" charset="0"/>
            </a:endParaRPr>
          </a:p>
        </p:txBody>
      </p:sp>
      <p:sp>
        <p:nvSpPr>
          <p:cNvPr id="65" name="Google Shape;65;p1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en-US"/>
              <a:t>Rando</a:t>
            </a:r>
            <a:r>
              <a:rPr lang="en-US" altLang="zh-CN"/>
              <a:t>mness</a:t>
            </a:r>
            <a:endParaRPr lang="en-US" altLang="zh-CN"/>
          </a:p>
          <a:p>
            <a:pPr marL="457200" lvl="0" indent="-342900" algn="l" rtl="0">
              <a:spcBef>
                <a:spcPts val="0"/>
              </a:spcBef>
              <a:spcAft>
                <a:spcPts val="0"/>
              </a:spcAft>
              <a:buSzPts val="1800"/>
              <a:buChar char="●"/>
            </a:pPr>
            <a:r>
              <a:rPr lang="en-US"/>
              <a:t>Unicode</a:t>
            </a:r>
            <a:endParaRPr lang="en-US"/>
          </a:p>
          <a:p>
            <a:pPr marL="457200" lvl="0" indent="-342900" algn="l" rtl="0">
              <a:spcBef>
                <a:spcPts val="0"/>
              </a:spcBef>
              <a:spcAft>
                <a:spcPts val="0"/>
              </a:spcAft>
              <a:buSzPts val="1800"/>
              <a:buChar char="●"/>
            </a:pPr>
            <a:r>
              <a:rPr lang="en-US"/>
              <a:t>File processing</a:t>
            </a:r>
            <a:endParaRPr lang="en-US"/>
          </a:p>
        </p:txBody>
      </p:sp>
      <p:sp>
        <p:nvSpPr>
          <p:cNvPr id="4" name="椭圆 3"/>
          <p:cNvSpPr/>
          <p:nvPr/>
        </p:nvSpPr>
        <p:spPr>
          <a:xfrm>
            <a:off x="1785180" y="998621"/>
            <a:ext cx="1005840" cy="1005840"/>
          </a:xfrm>
          <a:prstGeom prst="ellipse">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3600"/>
              <a:t>12</a:t>
            </a:r>
            <a:endParaRPr lang="zh-CN" altLang="en-US"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latin typeface="Raleway" pitchFamily="34" charset="0"/>
                <a:ea typeface="Source Sans Pro" panose="020B0503030403020204" pitchFamily="34" charset="0"/>
              </a:rPr>
              <a:t>Randomness</a:t>
            </a:r>
            <a:endParaRPr>
              <a:latin typeface="Raleway" pitchFamily="34" charset="0"/>
              <a:ea typeface="Source Sans Pro" panose="020B05030304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Random number</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2592816"/>
            <a:ext cx="8520600" cy="2292006"/>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To play a game of chance where the computer needs to throw some dice, pick a number, or flip a coin</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To shuffle a deck of playing cards randomly</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To allow/make an enemy spaceship appear at a random location and start shooting at the player</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To simulate possible rainfall when we make a computerized model for estimating the environmental impact of building a dam</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For encrypting banking sessions on the Internet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tx1"/>
                </a:solidFill>
                <a:latin typeface="Source Sans Pro" panose="020B0503030403020204" pitchFamily="34" charset="0"/>
                <a:ea typeface="Source Sans Pro" panose="020B0503030403020204" pitchFamily="34" charset="0"/>
              </a:rPr>
              <a:t>Integers</a:t>
            </a:r>
            <a:r>
              <a:rPr lang="en-US" altLang="zh-CN" sz="1400" dirty="0">
                <a:solidFill>
                  <a:schemeClr val="bg2"/>
                </a:solidFill>
                <a:latin typeface="Source Sans Pro" panose="020B0503030403020204" pitchFamily="34" charset="0"/>
                <a:ea typeface="Source Sans Pro" panose="020B0503030403020204" pitchFamily="34" charset="0"/>
              </a:rPr>
              <a:t>: uniform distributed, random permutation, random sampling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tx1"/>
                </a:solidFill>
                <a:latin typeface="Source Sans Pro" panose="020B0503030403020204" pitchFamily="34" charset="0"/>
                <a:ea typeface="Source Sans Pro" panose="020B0503030403020204" pitchFamily="34" charset="0"/>
              </a:rPr>
              <a:t>Real numbers</a:t>
            </a:r>
            <a:r>
              <a:rPr lang="en-US" altLang="zh-CN" sz="1400" dirty="0">
                <a:solidFill>
                  <a:schemeClr val="bg2"/>
                </a:solidFill>
                <a:latin typeface="Source Sans Pro" panose="020B0503030403020204" pitchFamily="34" charset="0"/>
                <a:ea typeface="Source Sans Pro" panose="020B0503030403020204" pitchFamily="34" charset="0"/>
              </a:rPr>
              <a:t>: uniform, Gaussian</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4" name="文本框 3"/>
          <p:cNvSpPr txBox="1"/>
          <p:nvPr/>
        </p:nvSpPr>
        <p:spPr>
          <a:xfrm>
            <a:off x="5543586" y="1288726"/>
            <a:ext cx="2858371" cy="784830"/>
          </a:xfrm>
          <a:prstGeom prst="rect">
            <a:avLst/>
          </a:prstGeom>
          <a:noFill/>
        </p:spPr>
        <p:txBody>
          <a:bodyPr wrap="square" rtlCol="0">
            <a:spAutoFit/>
          </a:bodyPr>
          <a:lstStyle/>
          <a:p>
            <a:r>
              <a:rPr lang="en-US" altLang="zh-CN" sz="1500" dirty="0">
                <a:solidFill>
                  <a:schemeClr val="bg2"/>
                </a:solidFill>
                <a:latin typeface="Source Sans Pro" panose="020B0503030403020204" pitchFamily="34" charset="0"/>
                <a:ea typeface="Source Sans Pro" panose="020B0503030403020204" pitchFamily="34" charset="0"/>
              </a:rPr>
              <a:t>“God does not play </a:t>
            </a:r>
            <a:r>
              <a:rPr lang="en-US" altLang="zh-CN" sz="1500" b="1" dirty="0">
                <a:solidFill>
                  <a:schemeClr val="tx1"/>
                </a:solidFill>
                <a:latin typeface="Source Sans Pro" panose="020B0503030403020204" pitchFamily="34" charset="0"/>
                <a:ea typeface="Source Sans Pro" panose="020B0503030403020204" pitchFamily="34" charset="0"/>
              </a:rPr>
              <a:t>dice</a:t>
            </a:r>
            <a:r>
              <a:rPr lang="en-US" altLang="zh-CN" sz="1500" dirty="0">
                <a:solidFill>
                  <a:schemeClr val="bg2"/>
                </a:solidFill>
                <a:latin typeface="Source Sans Pro" panose="020B0503030403020204" pitchFamily="34" charset="0"/>
                <a:ea typeface="Source Sans Pro" panose="020B0503030403020204" pitchFamily="34" charset="0"/>
              </a:rPr>
              <a:t> with the universe.” </a:t>
            </a:r>
            <a:endParaRPr lang="en-US" altLang="zh-CN" sz="1500" dirty="0">
              <a:solidFill>
                <a:schemeClr val="bg2"/>
              </a:solidFill>
              <a:latin typeface="Source Sans Pro" panose="020B0503030403020204" pitchFamily="34" charset="0"/>
              <a:ea typeface="Source Sans Pro" panose="020B0503030403020204" pitchFamily="34" charset="0"/>
            </a:endParaRPr>
          </a:p>
          <a:p>
            <a:pPr algn="r"/>
            <a:r>
              <a:rPr lang="en-US" altLang="zh-CN" sz="1500" dirty="0">
                <a:solidFill>
                  <a:schemeClr val="bg2"/>
                </a:solidFill>
                <a:latin typeface="Source Sans Pro" panose="020B0503030403020204" pitchFamily="34" charset="0"/>
                <a:ea typeface="Source Sans Pro" panose="020B0503030403020204" pitchFamily="34" charset="0"/>
              </a:rPr>
              <a:t>-- Einstein</a:t>
            </a:r>
            <a:endParaRPr lang="en-US" altLang="zh-CN" sz="1500" dirty="0">
              <a:solidFill>
                <a:schemeClr val="bg2"/>
              </a:solidFill>
              <a:latin typeface="Source Sans Pro" panose="020B0503030403020204" pitchFamily="34" charset="0"/>
              <a:ea typeface="Source Sans Pro" panose="020B0503030403020204" pitchFamily="34" charset="0"/>
            </a:endParaRPr>
          </a:p>
        </p:txBody>
      </p:sp>
      <p:sp>
        <p:nvSpPr>
          <p:cNvPr id="5" name="Rectangle 8"/>
          <p:cNvSpPr/>
          <p:nvPr/>
        </p:nvSpPr>
        <p:spPr>
          <a:xfrm>
            <a:off x="6549992" y="4745255"/>
            <a:ext cx="1970932" cy="21179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a:solidFill>
                  <a:schemeClr val="bg2"/>
                </a:solidFill>
                <a:latin typeface="Source Sans Pro" panose="020B0503030403020204" pitchFamily="34" charset="0"/>
                <a:ea typeface="Source Sans Pro" panose="020B0503030403020204" pitchFamily="34" charset="0"/>
              </a:rPr>
              <a:t>import random # </a:t>
            </a:r>
            <a:r>
              <a:rPr lang="en-US" altLang="zh-CN" sz="1200" err="1">
                <a:solidFill>
                  <a:schemeClr val="bg2"/>
                </a:solidFill>
                <a:latin typeface="Source Sans Pro" panose="020B0503030403020204" pitchFamily="34" charset="0"/>
                <a:ea typeface="Source Sans Pro" panose="020B0503030403020204" pitchFamily="34" charset="0"/>
              </a:rPr>
              <a:t>py</a:t>
            </a:r>
            <a:r>
              <a:rPr lang="en-US" altLang="zh-CN" sz="1200">
                <a:solidFill>
                  <a:schemeClr val="bg2"/>
                </a:solidFill>
                <a:latin typeface="Source Sans Pro" panose="020B0503030403020204" pitchFamily="34" charset="0"/>
                <a:ea typeface="Source Sans Pro" panose="020B0503030403020204" pitchFamily="34" charset="0"/>
              </a:rPr>
              <a:t> module</a:t>
            </a:r>
            <a:endParaRPr lang="en-US" altLang="zh-CN" sz="1200">
              <a:solidFill>
                <a:schemeClr val="bg2"/>
              </a:solidFill>
              <a:latin typeface="Source Sans Pro" panose="020B0503030403020204" pitchFamily="34" charset="0"/>
              <a:ea typeface="Source Sans Pro" panose="020B0503030403020204" pitchFamily="34" charset="0"/>
            </a:endParaRPr>
          </a:p>
        </p:txBody>
      </p:sp>
      <p:pic>
        <p:nvPicPr>
          <p:cNvPr id="6" name="Picture 2" descr="Image result for einstein di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5772" y="991557"/>
            <a:ext cx="2070278" cy="15290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28223" y="1173023"/>
            <a:ext cx="1690013" cy="1166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3891" y="4824926"/>
            <a:ext cx="3196204" cy="264240"/>
          </a:xfrm>
          <a:prstGeom prst="rect">
            <a:avLst/>
          </a:prstGeom>
          <a:noFill/>
        </p:spPr>
        <p:txBody>
          <a:bodyPr wrap="square">
            <a:spAutoFit/>
          </a:bodyPr>
          <a:lstStyle/>
          <a:p>
            <a:pPr>
              <a:lnSpc>
                <a:spcPct val="120000"/>
              </a:lnSpc>
            </a:pPr>
            <a:r>
              <a:rPr lang="en-US" altLang="zh-CN" sz="1000" dirty="0">
                <a:solidFill>
                  <a:schemeClr val="bg2"/>
                </a:solidFill>
                <a:latin typeface="Source Sans Pro" panose="020B0503030403020204" pitchFamily="34" charset="0"/>
                <a:ea typeface="Source Sans Pro" panose="020B0503030403020204" pitchFamily="34" charset="0"/>
              </a:rPr>
              <a:t>https://</a:t>
            </a:r>
            <a:r>
              <a:rPr lang="en-US" altLang="zh-CN" sz="1000" dirty="0" err="1">
                <a:solidFill>
                  <a:schemeClr val="bg2"/>
                </a:solidFill>
                <a:latin typeface="Source Sans Pro" panose="020B0503030403020204" pitchFamily="34" charset="0"/>
                <a:ea typeface="Source Sans Pro" panose="020B0503030403020204" pitchFamily="34" charset="0"/>
              </a:rPr>
              <a:t>docs.python.org</a:t>
            </a:r>
            <a:r>
              <a:rPr lang="en-US" altLang="zh-CN" sz="1000" dirty="0">
                <a:solidFill>
                  <a:schemeClr val="bg2"/>
                </a:solidFill>
                <a:latin typeface="Source Sans Pro" panose="020B0503030403020204" pitchFamily="34" charset="0"/>
                <a:ea typeface="Source Sans Pro" panose="020B0503030403020204" pitchFamily="34" charset="0"/>
              </a:rPr>
              <a:t>/3/library/</a:t>
            </a:r>
            <a:r>
              <a:rPr lang="en-US" altLang="zh-CN" sz="1000" dirty="0" err="1">
                <a:solidFill>
                  <a:schemeClr val="bg2"/>
                </a:solidFill>
                <a:latin typeface="Source Sans Pro" panose="020B0503030403020204" pitchFamily="34" charset="0"/>
                <a:ea typeface="Source Sans Pro" panose="020B0503030403020204" pitchFamily="34" charset="0"/>
              </a:rPr>
              <a:t>random.html</a:t>
            </a:r>
            <a:endParaRPr lang="en-US" altLang="zh-CN" sz="1000" dirty="0">
              <a:solidFill>
                <a:schemeClr val="bg2"/>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Random integer</a:t>
            </a:r>
            <a:endParaRPr lang="en-US" altLang="zh-CN">
              <a:latin typeface="Raleway" pitchFamily="34" charset="0"/>
              <a:ea typeface="Source Sans Pro" panose="020B0503030403020204" pitchFamily="34" charset="0"/>
            </a:endParaRPr>
          </a:p>
        </p:txBody>
      </p:sp>
      <p:sp>
        <p:nvSpPr>
          <p:cNvPr id="5" name="Rectangle 8"/>
          <p:cNvSpPr/>
          <p:nvPr/>
        </p:nvSpPr>
        <p:spPr>
          <a:xfrm>
            <a:off x="5527098" y="4599590"/>
            <a:ext cx="3469987" cy="19776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bg2"/>
                </a:solidFill>
                <a:latin typeface="Source Sans Pro" panose="020B0503030403020204" pitchFamily="34" charset="0"/>
                <a:ea typeface="Source Sans Pro" panose="020B0503030403020204" pitchFamily="34" charset="0"/>
              </a:rPr>
              <a:t>As rounds grows, the probability goes to 1/6∼0.166</a:t>
            </a:r>
            <a:endParaRPr lang="en-US" altLang="zh-CN" sz="1200" dirty="0">
              <a:solidFill>
                <a:schemeClr val="bg2"/>
              </a:solidFill>
              <a:latin typeface="Source Sans Pro" panose="020B0503030403020204" pitchFamily="34" charset="0"/>
              <a:ea typeface="Source Sans Pro" panose="020B0503030403020204" pitchFamily="34" charset="0"/>
            </a:endParaRPr>
          </a:p>
        </p:txBody>
      </p:sp>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331841" y="3225307"/>
            <a:ext cx="4665244" cy="570748"/>
          </a:xfrm>
          <a:prstGeom prst="rect">
            <a:avLst/>
          </a:prstGeom>
        </p:spPr>
      </p:pic>
      <p:pic>
        <p:nvPicPr>
          <p:cNvPr id="13" name="图片 12"/>
          <p:cNvPicPr>
            <a:picLocks noChangeAspect="1"/>
          </p:cNvPicPr>
          <p:nvPr/>
        </p:nvPicPr>
        <p:blipFill>
          <a:blip r:embed="rId2"/>
          <a:stretch>
            <a:fillRect/>
          </a:stretch>
        </p:blipFill>
        <p:spPr>
          <a:xfrm>
            <a:off x="559932" y="1461484"/>
            <a:ext cx="5569668" cy="960288"/>
          </a:xfrm>
          <a:prstGeom prst="rect">
            <a:avLst/>
          </a:prstGeom>
        </p:spPr>
      </p:pic>
      <p:sp>
        <p:nvSpPr>
          <p:cNvPr id="4" name="文本框 3"/>
          <p:cNvSpPr txBox="1"/>
          <p:nvPr/>
        </p:nvSpPr>
        <p:spPr>
          <a:xfrm>
            <a:off x="559932" y="1111066"/>
            <a:ext cx="8088747" cy="307777"/>
          </a:xfrm>
          <a:prstGeom prst="rect">
            <a:avLst/>
          </a:prstGeom>
          <a:solidFill>
            <a:srgbClr val="7030A0"/>
          </a:solidFill>
        </p:spPr>
        <p:txBody>
          <a:bodyPr wrap="square" rtlCol="0">
            <a:spAutoFit/>
          </a:bodyPr>
          <a:lstStyle/>
          <a:p>
            <a:r>
              <a:rPr lang="en-US" altLang="zh-CN" dirty="0" err="1">
                <a:solidFill>
                  <a:schemeClr val="bg1"/>
                </a:solidFill>
                <a:latin typeface="Source Sans Pro" panose="020B0503030403020204" pitchFamily="34" charset="0"/>
                <a:ea typeface="Source Sans Pro" panose="020B0503030403020204" pitchFamily="34" charset="0"/>
              </a:rPr>
              <a:t>random.randint</a:t>
            </a:r>
            <a:r>
              <a:rPr lang="en-US" altLang="zh-CN" dirty="0">
                <a:solidFill>
                  <a:schemeClr val="bg1"/>
                </a:solidFill>
                <a:latin typeface="Source Sans Pro" panose="020B0503030403020204" pitchFamily="34" charset="0"/>
                <a:ea typeface="Source Sans Pro" panose="020B0503030403020204" pitchFamily="34" charset="0"/>
              </a:rPr>
              <a:t>(a, b): Return a random integer N such that a &lt;= N &lt;= b</a:t>
            </a:r>
            <a:endParaRPr lang="en-US" altLang="zh-CN" dirty="0">
              <a:solidFill>
                <a:schemeClr val="bg1"/>
              </a:solidFill>
              <a:latin typeface="Source Sans Pro" panose="020B0503030403020204" pitchFamily="34" charset="0"/>
              <a:ea typeface="Source Sans Pro" panose="020B0503030403020204" pitchFamily="34" charset="0"/>
            </a:endParaRPr>
          </a:p>
        </p:txBody>
      </p:sp>
      <p:pic>
        <p:nvPicPr>
          <p:cNvPr id="3" name="Picture 2"/>
          <p:cNvPicPr>
            <a:picLocks noChangeAspect="1"/>
          </p:cNvPicPr>
          <p:nvPr/>
        </p:nvPicPr>
        <p:blipFill>
          <a:blip r:embed="rId3"/>
          <a:stretch>
            <a:fillRect/>
          </a:stretch>
        </p:blipFill>
        <p:spPr>
          <a:xfrm>
            <a:off x="559932" y="2468387"/>
            <a:ext cx="3687965" cy="26553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Random integer(cont’d)</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1540849"/>
          </a:xfrm>
        </p:spPr>
        <p:txBody>
          <a:bodyPr>
            <a:noAutofit/>
          </a:bodyPr>
          <a:lstStyle/>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random.randrange</a:t>
            </a:r>
            <a:r>
              <a:rPr lang="en-US" altLang="zh-CN" sz="1400" dirty="0">
                <a:solidFill>
                  <a:schemeClr val="tx1"/>
                </a:solidFill>
                <a:latin typeface="Source Sans Pro" panose="020B0503030403020204" pitchFamily="34" charset="0"/>
                <a:ea typeface="Source Sans Pro" panose="020B0503030403020204" pitchFamily="34" charset="0"/>
              </a:rPr>
              <a:t>(start, stop, step): </a:t>
            </a:r>
            <a:endParaRPr lang="en-US" altLang="zh-CN" sz="1400" dirty="0">
              <a:solidFill>
                <a:schemeClr val="tx1"/>
              </a:solidFill>
              <a:latin typeface="Source Sans Pro" panose="020B0503030403020204" pitchFamily="34" charset="0"/>
              <a:ea typeface="Source Sans Pro" panose="020B0503030403020204" pitchFamily="34" charset="0"/>
            </a:endParaRPr>
          </a:p>
          <a:p>
            <a:pPr marL="114300" indent="0">
              <a:lnSpc>
                <a:spcPct val="120000"/>
              </a:lnSpc>
              <a:buNone/>
            </a:pPr>
            <a:r>
              <a:rPr lang="en-US" altLang="zh-CN" sz="1400" dirty="0">
                <a:solidFill>
                  <a:schemeClr val="tx1"/>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Return a randomly selected element from</a:t>
            </a:r>
            <a:r>
              <a:rPr lang="en-US" altLang="zh-CN" sz="1400" b="1" dirty="0">
                <a:solidFill>
                  <a:srgbClr val="C00000"/>
                </a:solidFill>
                <a:latin typeface="Source Sans Pro" panose="020B0503030403020204" pitchFamily="34" charset="0"/>
                <a:ea typeface="Source Sans Pro" panose="020B0503030403020204" pitchFamily="34" charset="0"/>
              </a:rPr>
              <a:t> </a:t>
            </a:r>
            <a:r>
              <a:rPr lang="en-US" altLang="zh-CN" sz="1400" b="1" dirty="0">
                <a:solidFill>
                  <a:schemeClr val="tx1"/>
                </a:solidFill>
                <a:latin typeface="Source Sans Pro" panose="020B0503030403020204" pitchFamily="34" charset="0"/>
                <a:ea typeface="Source Sans Pro" panose="020B0503030403020204" pitchFamily="34" charset="0"/>
              </a:rPr>
              <a:t>range(start, stop, step)</a:t>
            </a:r>
            <a:endParaRPr lang="en-US" altLang="zh-CN" sz="1400" b="1" dirty="0">
              <a:solidFill>
                <a:schemeClr val="tx1"/>
              </a:solidFill>
              <a:latin typeface="Source Sans Pro" panose="020B0503030403020204" pitchFamily="34" charset="0"/>
              <a:ea typeface="Source Sans Pro" panose="020B0503030403020204" pitchFamily="34" charset="0"/>
            </a:endParaRPr>
          </a:p>
          <a:p>
            <a:pPr lvl="1">
              <a:lnSpc>
                <a:spcPct val="120000"/>
              </a:lnSpc>
            </a:pPr>
            <a:r>
              <a:rPr lang="en-US" altLang="zh-CN" sz="1200" dirty="0" err="1">
                <a:solidFill>
                  <a:schemeClr val="bg2"/>
                </a:solidFill>
                <a:latin typeface="Source Sans Pro" panose="020B0503030403020204" pitchFamily="34" charset="0"/>
                <a:ea typeface="Source Sans Pro" panose="020B0503030403020204" pitchFamily="34" charset="0"/>
              </a:rPr>
              <a:t>random.randrange</a:t>
            </a:r>
            <a:r>
              <a:rPr lang="en-US" altLang="zh-CN" sz="1200" dirty="0">
                <a:solidFill>
                  <a:schemeClr val="bg2"/>
                </a:solidFill>
                <a:latin typeface="Source Sans Pro" panose="020B0503030403020204" pitchFamily="34" charset="0"/>
                <a:ea typeface="Source Sans Pro" panose="020B0503030403020204" pitchFamily="34" charset="0"/>
              </a:rPr>
              <a:t>(stop)</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Recall: </a:t>
            </a:r>
            <a:r>
              <a:rPr lang="en-US" altLang="zh-CN" sz="1400" b="1" dirty="0">
                <a:solidFill>
                  <a:schemeClr val="tx1"/>
                </a:solidFill>
                <a:latin typeface="Source Sans Pro" panose="020B0503030403020204" pitchFamily="34" charset="0"/>
                <a:ea typeface="Source Sans Pro" panose="020B0503030403020204" pitchFamily="34" charset="0"/>
              </a:rPr>
              <a:t>range(a, b) = [a, b) (b is not included!)</a:t>
            </a:r>
            <a:endParaRPr lang="en-US" altLang="zh-CN" sz="1400" b="1" dirty="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Random.randit</a:t>
            </a:r>
            <a:r>
              <a:rPr lang="en-US" altLang="zh-CN" sz="1400" dirty="0">
                <a:solidFill>
                  <a:schemeClr val="bg2"/>
                </a:solidFill>
                <a:latin typeface="Source Sans Pro" panose="020B0503030403020204" pitchFamily="34" charset="0"/>
                <a:ea typeface="Source Sans Pro" panose="020B0503030403020204" pitchFamily="34" charset="0"/>
              </a:rPr>
              <a:t>(a, b) = </a:t>
            </a:r>
            <a:r>
              <a:rPr lang="en-US" altLang="zh-CN" sz="1400" dirty="0" err="1">
                <a:solidFill>
                  <a:schemeClr val="bg2"/>
                </a:solidFill>
                <a:latin typeface="Source Sans Pro" panose="020B0503030403020204" pitchFamily="34" charset="0"/>
                <a:ea typeface="Source Sans Pro" panose="020B0503030403020204" pitchFamily="34" charset="0"/>
              </a:rPr>
              <a:t>random.randrange</a:t>
            </a:r>
            <a:r>
              <a:rPr lang="en-US" altLang="zh-CN" sz="1400" dirty="0">
                <a:solidFill>
                  <a:schemeClr val="bg2"/>
                </a:solidFill>
                <a:latin typeface="Source Sans Pro" panose="020B0503030403020204" pitchFamily="34" charset="0"/>
                <a:ea typeface="Source Sans Pro" panose="020B0503030403020204" pitchFamily="34" charset="0"/>
              </a:rPr>
              <a:t>(a, b+1)</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zh-CN" altLang="en-US" sz="1500" b="1" dirty="0">
              <a:solidFill>
                <a:schemeClr val="bg2"/>
              </a:solidFill>
              <a:latin typeface="Source Sans Pro" panose="020B0503030403020204" pitchFamily="34" charset="0"/>
            </a:endParaRPr>
          </a:p>
        </p:txBody>
      </p:sp>
      <p:pic>
        <p:nvPicPr>
          <p:cNvPr id="4" name="Picture 3"/>
          <p:cNvPicPr>
            <a:picLocks noChangeAspect="1"/>
          </p:cNvPicPr>
          <p:nvPr/>
        </p:nvPicPr>
        <p:blipFill>
          <a:blip r:embed="rId1"/>
          <a:stretch>
            <a:fillRect/>
          </a:stretch>
        </p:blipFill>
        <p:spPr>
          <a:xfrm>
            <a:off x="854594" y="2545882"/>
            <a:ext cx="4292600" cy="914400"/>
          </a:xfrm>
          <a:prstGeom prst="rect">
            <a:avLst/>
          </a:prstGeom>
        </p:spPr>
      </p:pic>
      <p:pic>
        <p:nvPicPr>
          <p:cNvPr id="7" name="Picture 6" descr="A number on a black background&#10;&#10;Description automatically generated"/>
          <p:cNvPicPr>
            <a:picLocks noChangeAspect="1"/>
          </p:cNvPicPr>
          <p:nvPr/>
        </p:nvPicPr>
        <p:blipFill>
          <a:blip r:embed="rId2"/>
          <a:stretch>
            <a:fillRect/>
          </a:stretch>
        </p:blipFill>
        <p:spPr>
          <a:xfrm>
            <a:off x="6014285" y="2545882"/>
            <a:ext cx="317500" cy="2273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Random floating number</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698" y="1152475"/>
            <a:ext cx="5107589" cy="2438623"/>
          </a:xfrm>
        </p:spPr>
        <p:txBody>
          <a:bodyPr>
            <a:noAutofit/>
          </a:bodyPr>
          <a:lstStyle/>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random.random</a:t>
            </a:r>
            <a:r>
              <a:rPr lang="en-US" altLang="zh-CN" sz="1400" dirty="0">
                <a:solidFill>
                  <a:schemeClr val="tx1"/>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Return the next random floating point number in the range [0.0, 1.0).</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random.uniform</a:t>
            </a:r>
            <a:r>
              <a:rPr lang="en-US" altLang="zh-CN" sz="1400" dirty="0">
                <a:solidFill>
                  <a:schemeClr val="tx1"/>
                </a:solidFill>
                <a:latin typeface="Source Sans Pro" panose="020B0503030403020204" pitchFamily="34" charset="0"/>
                <a:ea typeface="Source Sans Pro" panose="020B0503030403020204" pitchFamily="34" charset="0"/>
              </a:rPr>
              <a:t>(a, b) </a:t>
            </a:r>
            <a:r>
              <a:rPr lang="en-US" altLang="zh-CN" sz="1400" dirty="0">
                <a:solidFill>
                  <a:schemeClr val="bg2"/>
                </a:solidFill>
                <a:latin typeface="Source Sans Pro" panose="020B0503030403020204" pitchFamily="34" charset="0"/>
                <a:ea typeface="Source Sans Pro" panose="020B0503030403020204" pitchFamily="34" charset="0"/>
              </a:rPr>
              <a:t>Return a random floating point number N such that a &lt;= N &lt;= b for a &lt;= b and b &lt;= N &lt;= a for b &lt; a.</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 end-point value b may or may not be included in the range depending on floating-point rounding in the equation a + (b-a) * random()</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5" name="Rectangle 8"/>
          <p:cNvSpPr/>
          <p:nvPr/>
        </p:nvSpPr>
        <p:spPr>
          <a:xfrm>
            <a:off x="5872310" y="1068424"/>
            <a:ext cx="2681625" cy="27473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a:solidFill>
                  <a:schemeClr val="bg2"/>
                </a:solidFill>
                <a:latin typeface="Source Sans Pro" panose="020B0503030403020204" pitchFamily="34" charset="0"/>
                <a:ea typeface="Source Sans Pro" panose="020B0503030403020204" pitchFamily="34" charset="0"/>
              </a:rPr>
              <a:t>Exercise: Compute Pi = </a:t>
            </a:r>
            <a:r>
              <a:rPr lang="en-US" altLang="zh-CN" sz="1200" b="1">
                <a:solidFill>
                  <a:schemeClr val="bg2"/>
                </a:solidFill>
                <a:latin typeface="Source Sans Pro" panose="020B0503030403020204" pitchFamily="34" charset="0"/>
                <a:ea typeface="Source Sans Pro" panose="020B0503030403020204" pitchFamily="34" charset="0"/>
              </a:rPr>
              <a:t>3.14</a:t>
            </a:r>
            <a:r>
              <a:rPr lang="en-US" altLang="zh-CN" sz="1200">
                <a:solidFill>
                  <a:schemeClr val="bg2"/>
                </a:solidFill>
                <a:latin typeface="Source Sans Pro" panose="020B0503030403020204" pitchFamily="34" charset="0"/>
                <a:ea typeface="Source Sans Pro" panose="020B0503030403020204" pitchFamily="34" charset="0"/>
              </a:rPr>
              <a:t>15926≈3.14</a:t>
            </a:r>
            <a:endParaRPr lang="en-US" altLang="zh-CN" sz="1200">
              <a:solidFill>
                <a:schemeClr val="bg2"/>
              </a:solidFill>
              <a:latin typeface="Source Sans Pro" panose="020B0503030403020204"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7079006" y="4103937"/>
                <a:ext cx="1692130" cy="7288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𝜋</m:t>
                      </m:r>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7</m:t>
                          </m:r>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6</m:t>
                              </m:r>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5</m:t>
                                  </m:r>
                                </m:e>
                              </m:rad>
                            </m:e>
                          </m:rad>
                        </m:e>
                      </m:rad>
                    </m:oMath>
                  </m:oMathPara>
                </a14:m>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7079006" y="4103937"/>
                <a:ext cx="1692130" cy="728854"/>
              </a:xfrm>
              <a:prstGeom prst="rect">
                <a:avLst/>
              </a:prstGeom>
              <a:blipFill rotWithShape="1">
                <a:blip r:embed="rId1"/>
                <a:stretch>
                  <a:fillRect l="-2" t="-78" r="30" b="6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flipH="1">
                <a:off x="4966108" y="4103937"/>
                <a:ext cx="1416964" cy="72885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m:rPr>
                          <m:sty m:val="p"/>
                        </m:rPr>
                        <a:rPr lang="en-US" altLang="zh-CN" i="1" smtClean="0">
                          <a:latin typeface="Cambria Math" panose="02040503050406030204" pitchFamily="18" charset="0"/>
                        </a:rPr>
                        <m:t>O</m:t>
                      </m:r>
                      <m:rad>
                        <m:radPr>
                          <m:degHide m:val="on"/>
                          <m:ctrlPr>
                            <a:rPr lang="en-US" altLang="zh-CN" b="0" i="1" smtClean="0">
                              <a:latin typeface="Cambria Math" panose="02040503050406030204" pitchFamily="18" charset="0"/>
                            </a:rPr>
                          </m:ctrlPr>
                        </m:radPr>
                        <m:deg/>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den>
                          </m:f>
                        </m:e>
                      </m:rad>
                      <m:r>
                        <a:rPr lang="en-US" altLang="zh-CN" b="0" i="1" smtClean="0">
                          <a:latin typeface="Cambria Math" panose="02040503050406030204" pitchFamily="18" charset="0"/>
                        </a:rPr>
                        <m:t> </m:t>
                      </m:r>
                    </m:oMath>
                  </m:oMathPara>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flipH="1">
                <a:off x="4966108" y="4103937"/>
                <a:ext cx="1416964" cy="728854"/>
              </a:xfrm>
              <a:prstGeom prst="rect">
                <a:avLst/>
              </a:prstGeom>
              <a:blipFill rotWithShape="1">
                <a:blip r:embed="rId2"/>
                <a:stretch>
                  <a:fillRect l="-29" t="-78" r="4" b="61"/>
                </a:stretch>
              </a:blipFill>
            </p:spPr>
            <p:txBody>
              <a:bodyPr/>
              <a:lstStyle/>
              <a:p>
                <a:r>
                  <a:rPr lang="zh-CN" altLang="en-US">
                    <a:noFill/>
                  </a:rPr>
                  <a:t> </a:t>
                </a:r>
              </a:p>
            </p:txBody>
          </p:sp>
        </mc:Fallback>
      </mc:AlternateContent>
      <p:pic>
        <p:nvPicPr>
          <p:cNvPr id="9" name="图片 8"/>
          <p:cNvPicPr>
            <a:picLocks noChangeAspect="1"/>
          </p:cNvPicPr>
          <p:nvPr/>
        </p:nvPicPr>
        <p:blipFill>
          <a:blip r:embed="rId3"/>
          <a:stretch>
            <a:fillRect/>
          </a:stretch>
        </p:blipFill>
        <p:spPr>
          <a:xfrm>
            <a:off x="5956693" y="1408145"/>
            <a:ext cx="2512858" cy="2370463"/>
          </a:xfrm>
          <a:prstGeom prst="rect">
            <a:avLst/>
          </a:prstGeom>
        </p:spPr>
      </p:pic>
      <p:pic>
        <p:nvPicPr>
          <p:cNvPr id="7" name="Picture 6"/>
          <p:cNvPicPr>
            <a:picLocks noChangeAspect="1"/>
          </p:cNvPicPr>
          <p:nvPr/>
        </p:nvPicPr>
        <p:blipFill>
          <a:blip r:embed="rId4"/>
          <a:stretch>
            <a:fillRect/>
          </a:stretch>
        </p:blipFill>
        <p:spPr>
          <a:xfrm>
            <a:off x="162069" y="3675148"/>
            <a:ext cx="3276600" cy="914400"/>
          </a:xfrm>
          <a:prstGeom prst="rect">
            <a:avLst/>
          </a:prstGeom>
        </p:spPr>
      </p:pic>
      <p:pic>
        <p:nvPicPr>
          <p:cNvPr id="8" name="Picture 7" descr="A black background with white numbers&#10;&#10;Description automatically generated"/>
          <p:cNvPicPr>
            <a:picLocks noChangeAspect="1"/>
          </p:cNvPicPr>
          <p:nvPr/>
        </p:nvPicPr>
        <p:blipFill>
          <a:blip r:embed="rId5"/>
          <a:stretch>
            <a:fillRect/>
          </a:stretch>
        </p:blipFill>
        <p:spPr>
          <a:xfrm>
            <a:off x="3514287" y="3047734"/>
            <a:ext cx="1746472" cy="20957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Seed (</a:t>
            </a:r>
            <a:r>
              <a:rPr lang="zh-CN" altLang="en-US">
                <a:latin typeface="Raleway" pitchFamily="34" charset="0"/>
                <a:ea typeface="Source Sans Pro" panose="020B0503030403020204" pitchFamily="34" charset="0"/>
              </a:rPr>
              <a:t>随机数种子</a:t>
            </a:r>
            <a:r>
              <a:rPr lang="en-US" altLang="zh-CN">
                <a:latin typeface="Raleway" pitchFamily="34" charset="0"/>
                <a:ea typeface="Source Sans Pro" panose="020B0503030403020204" pitchFamily="34" charset="0"/>
              </a:rPr>
              <a:t>)</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4"/>
            <a:ext cx="4539433" cy="3174081"/>
          </a:xfrm>
        </p:spPr>
        <p:txBody>
          <a:bodyPr>
            <a:noAutofit/>
          </a:bodyPr>
          <a:lstStyle/>
          <a:p>
            <a:pPr>
              <a:lnSpc>
                <a:spcPct val="120000"/>
              </a:lnSpc>
            </a:pPr>
            <a:r>
              <a:rPr lang="en-US" altLang="zh-CN" sz="1400">
                <a:solidFill>
                  <a:schemeClr val="bg2"/>
                </a:solidFill>
                <a:latin typeface="Source Sans Pro" panose="020B0503030403020204" pitchFamily="34" charset="0"/>
                <a:ea typeface="Source Sans Pro" panose="020B0503030403020204" pitchFamily="34" charset="0"/>
              </a:rPr>
              <a:t>The</a:t>
            </a:r>
            <a:r>
              <a:rPr lang="en-US" altLang="zh-CN" sz="1400">
                <a:solidFill>
                  <a:schemeClr val="tx1"/>
                </a:solidFill>
                <a:latin typeface="Source Sans Pro" panose="020B0503030403020204" pitchFamily="34" charset="0"/>
                <a:ea typeface="Source Sans Pro" panose="020B0503030403020204" pitchFamily="34" charset="0"/>
              </a:rPr>
              <a:t> </a:t>
            </a:r>
            <a:r>
              <a:rPr lang="en-US" altLang="zh-CN" sz="1400" err="1">
                <a:solidFill>
                  <a:schemeClr val="tx1"/>
                </a:solidFill>
                <a:latin typeface="Source Sans Pro" panose="020B0503030403020204" pitchFamily="34" charset="0"/>
                <a:ea typeface="Source Sans Pro" panose="020B0503030403020204" pitchFamily="34" charset="0"/>
              </a:rPr>
              <a:t>random.seed</a:t>
            </a:r>
            <a:r>
              <a:rPr lang="en-US" altLang="zh-CN" sz="1400">
                <a:solidFill>
                  <a:schemeClr val="tx1"/>
                </a:solidFill>
                <a:latin typeface="Source Sans Pro" panose="020B0503030403020204" pitchFamily="34" charset="0"/>
                <a:ea typeface="Source Sans Pro" panose="020B0503030403020204" pitchFamily="34" charset="0"/>
              </a:rPr>
              <a:t>()</a:t>
            </a:r>
            <a:r>
              <a:rPr lang="en-US" altLang="zh-CN" sz="1400">
                <a:solidFill>
                  <a:schemeClr val="bg2"/>
                </a:solidFill>
                <a:latin typeface="Source Sans Pro" panose="020B0503030403020204" pitchFamily="34" charset="0"/>
                <a:ea typeface="Source Sans Pro" panose="020B0503030403020204" pitchFamily="34" charset="0"/>
              </a:rPr>
              <a:t> method is used to </a:t>
            </a:r>
            <a:r>
              <a:rPr lang="en-US" altLang="zh-CN" sz="1400">
                <a:solidFill>
                  <a:schemeClr val="tx1"/>
                </a:solidFill>
                <a:latin typeface="Source Sans Pro" panose="020B0503030403020204" pitchFamily="34" charset="0"/>
                <a:ea typeface="Source Sans Pro" panose="020B0503030403020204" pitchFamily="34" charset="0"/>
              </a:rPr>
              <a:t>initialize the random number generator</a:t>
            </a:r>
            <a:endParaRPr lang="en-US" altLang="zh-CN" sz="140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a:solidFill>
                  <a:schemeClr val="bg2"/>
                </a:solidFill>
                <a:latin typeface="Source Sans Pro" panose="020B0503030403020204" pitchFamily="34" charset="0"/>
                <a:ea typeface="Source Sans Pro" panose="020B0503030403020204" pitchFamily="34" charset="0"/>
              </a:rPr>
              <a:t>The random number generator needs a number to start with (a seed value), to be able to generate a random number</a:t>
            </a:r>
            <a:endParaRPr lang="en-US" altLang="zh-CN" sz="140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a:solidFill>
                  <a:schemeClr val="bg2"/>
                </a:solidFill>
                <a:latin typeface="Source Sans Pro" panose="020B0503030403020204" pitchFamily="34" charset="0"/>
                <a:ea typeface="Source Sans Pro" panose="020B0503030403020204" pitchFamily="34" charset="0"/>
              </a:rPr>
              <a:t>By default the random number generator </a:t>
            </a:r>
            <a:r>
              <a:rPr lang="en-US" altLang="zh-CN" sz="1400">
                <a:solidFill>
                  <a:schemeClr val="tx1"/>
                </a:solidFill>
                <a:latin typeface="Source Sans Pro" panose="020B0503030403020204" pitchFamily="34" charset="0"/>
                <a:ea typeface="Source Sans Pro" panose="020B0503030403020204" pitchFamily="34" charset="0"/>
              </a:rPr>
              <a:t>uses the current system time</a:t>
            </a:r>
            <a:endParaRPr lang="en-US" altLang="zh-CN" sz="140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a:solidFill>
                  <a:schemeClr val="bg2"/>
                </a:solidFill>
                <a:latin typeface="Source Sans Pro" panose="020B0503030403020204" pitchFamily="34" charset="0"/>
                <a:ea typeface="Source Sans Pro" panose="020B0503030403020204" pitchFamily="34" charset="0"/>
              </a:rPr>
              <a:t>Use the seed() method to customize the start number of the random number generator</a:t>
            </a:r>
            <a:endParaRPr lang="en-US" altLang="zh-CN" sz="140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a:solidFill>
                  <a:schemeClr val="bg2"/>
                </a:solidFill>
                <a:latin typeface="Source Sans Pro" panose="020B0503030403020204" pitchFamily="34" charset="0"/>
                <a:ea typeface="Source Sans Pro" panose="020B0503030403020204" pitchFamily="34" charset="0"/>
              </a:rPr>
              <a:t>If </a:t>
            </a:r>
            <a:r>
              <a:rPr lang="en-US" altLang="zh-CN" sz="1400">
                <a:solidFill>
                  <a:schemeClr val="tx1"/>
                </a:solidFill>
                <a:latin typeface="Source Sans Pro" panose="020B0503030403020204" pitchFamily="34" charset="0"/>
                <a:ea typeface="Source Sans Pro" panose="020B0503030403020204" pitchFamily="34" charset="0"/>
              </a:rPr>
              <a:t>you use the same seed value twic</a:t>
            </a:r>
            <a:r>
              <a:rPr lang="en-US" altLang="zh-CN" sz="1400">
                <a:solidFill>
                  <a:schemeClr val="bg2"/>
                </a:solidFill>
                <a:latin typeface="Source Sans Pro" panose="020B0503030403020204" pitchFamily="34" charset="0"/>
                <a:ea typeface="Source Sans Pro" panose="020B0503030403020204" pitchFamily="34" charset="0"/>
              </a:rPr>
              <a:t>e you will </a:t>
            </a:r>
            <a:r>
              <a:rPr lang="en-US" altLang="zh-CN" sz="1400">
                <a:solidFill>
                  <a:schemeClr val="tx1"/>
                </a:solidFill>
                <a:latin typeface="Source Sans Pro" panose="020B0503030403020204" pitchFamily="34" charset="0"/>
                <a:ea typeface="Source Sans Pro" panose="020B0503030403020204" pitchFamily="34" charset="0"/>
              </a:rPr>
              <a:t>get the same random number twice</a:t>
            </a:r>
            <a:endParaRPr lang="en-US" altLang="zh-CN" sz="1400">
              <a:solidFill>
                <a:schemeClr val="tx1"/>
              </a:solidFill>
              <a:latin typeface="Source Sans Pro" panose="020B0503030403020204" pitchFamily="34" charset="0"/>
              <a:ea typeface="Source Sans Pro" panose="020B0503030403020204" pitchFamily="34" charset="0"/>
            </a:endParaRPr>
          </a:p>
          <a:p>
            <a:pPr>
              <a:lnSpc>
                <a:spcPct val="120000"/>
              </a:lnSpc>
            </a:pPr>
            <a:endParaRPr lang="en-US" altLang="zh-CN" sz="1500">
              <a:solidFill>
                <a:schemeClr val="bg2"/>
              </a:solidFill>
              <a:latin typeface="Source Sans Pro" panose="020B0503030403020204" pitchFamily="34" charset="0"/>
              <a:ea typeface="Source Sans Pro" panose="020B0503030403020204" pitchFamily="34" charset="0"/>
            </a:endParaRPr>
          </a:p>
        </p:txBody>
      </p:sp>
      <p:sp>
        <p:nvSpPr>
          <p:cNvPr id="6" name="TextBox 11"/>
          <p:cNvSpPr txBox="1"/>
          <p:nvPr/>
        </p:nvSpPr>
        <p:spPr>
          <a:xfrm>
            <a:off x="5501964" y="4726372"/>
            <a:ext cx="1760986" cy="307777"/>
          </a:xfrm>
          <a:prstGeom prst="rect">
            <a:avLst/>
          </a:prstGeom>
          <a:noFill/>
        </p:spPr>
        <p:txBody>
          <a:bodyPr wrap="square">
            <a:spAutoFit/>
          </a:bodyPr>
          <a:lstStyle/>
          <a:p>
            <a:r>
              <a:rPr lang="zh-CN" altLang="en-US" dirty="0">
                <a:solidFill>
                  <a:srgbClr val="7030A0"/>
                </a:solidFill>
                <a:latin typeface="黑体" panose="02010609060101010101" pitchFamily="49" charset="-122"/>
                <a:ea typeface="黑体" panose="02010609060101010101" pitchFamily="49" charset="-122"/>
              </a:rPr>
              <a:t>仿真实验</a:t>
            </a:r>
            <a:r>
              <a:rPr lang="zh-CN" altLang="en-US" dirty="0">
                <a:latin typeface="黑体" panose="02010609060101010101" pitchFamily="49" charset="-122"/>
                <a:ea typeface="黑体" panose="02010609060101010101" pitchFamily="49" charset="-122"/>
              </a:rPr>
              <a:t>需要</a:t>
            </a:r>
            <a:endParaRPr lang="en-US" altLang="zh-CN" dirty="0">
              <a:latin typeface="黑体" panose="02010609060101010101" pitchFamily="49" charset="-122"/>
              <a:ea typeface="黑体" panose="02010609060101010101" pitchFamily="49" charset="-122"/>
            </a:endParaRPr>
          </a:p>
        </p:txBody>
      </p:sp>
      <p:pic>
        <p:nvPicPr>
          <p:cNvPr id="5" name="Picture 4"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01964" y="1217452"/>
            <a:ext cx="2819075" cy="2065001"/>
          </a:xfrm>
          <a:prstGeom prst="rect">
            <a:avLst/>
          </a:prstGeom>
        </p:spPr>
      </p:pic>
      <p:pic>
        <p:nvPicPr>
          <p:cNvPr id="7" name="Picture 7"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2127" y="3431480"/>
            <a:ext cx="4338750" cy="11458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Random: choice(), shuffle(), sample()</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4775251" cy="2818999"/>
          </a:xfrm>
        </p:spPr>
        <p:txBody>
          <a:bodyPr>
            <a:noAutofit/>
          </a:bodyPr>
          <a:lstStyle/>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random.choice</a:t>
            </a:r>
            <a:r>
              <a:rPr lang="en-US" altLang="zh-CN" sz="1400" dirty="0">
                <a:solidFill>
                  <a:schemeClr val="bg2"/>
                </a:solidFill>
                <a:latin typeface="Source Sans Pro" panose="020B0503030403020204" pitchFamily="34" charset="0"/>
                <a:ea typeface="Source Sans Pro" panose="020B0503030403020204" pitchFamily="34" charset="0"/>
              </a:rPr>
              <a:t>(): Return a random element from the non-empty sequence seq</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random.choices</a:t>
            </a:r>
            <a:r>
              <a:rPr lang="en-US" altLang="zh-CN" sz="1400" dirty="0">
                <a:solidFill>
                  <a:schemeClr val="bg2"/>
                </a:solidFill>
                <a:latin typeface="Source Sans Pro" panose="020B0503030403020204" pitchFamily="34" charset="0"/>
                <a:ea typeface="Source Sans Pro" panose="020B0503030403020204" pitchFamily="34" charset="0"/>
              </a:rPr>
              <a:t>(population, weights=None, *, </a:t>
            </a:r>
            <a:r>
              <a:rPr lang="en-US" altLang="zh-CN" sz="1400" dirty="0" err="1">
                <a:solidFill>
                  <a:schemeClr val="bg2"/>
                </a:solidFill>
                <a:latin typeface="Source Sans Pro" panose="020B0503030403020204" pitchFamily="34" charset="0"/>
                <a:ea typeface="Source Sans Pro" panose="020B0503030403020204" pitchFamily="34" charset="0"/>
              </a:rPr>
              <a:t>cum_weights</a:t>
            </a:r>
            <a:r>
              <a:rPr lang="en-US" altLang="zh-CN" sz="1400" dirty="0">
                <a:solidFill>
                  <a:schemeClr val="bg2"/>
                </a:solidFill>
                <a:latin typeface="Source Sans Pro" panose="020B0503030403020204" pitchFamily="34" charset="0"/>
                <a:ea typeface="Source Sans Pro" panose="020B0503030403020204" pitchFamily="34" charset="0"/>
              </a:rPr>
              <a:t>=None, k=1): Return a k sized list of elements chosen from the population with replacement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random.shuffle</a:t>
            </a:r>
            <a:r>
              <a:rPr lang="en-US" altLang="zh-CN" sz="1400" dirty="0">
                <a:solidFill>
                  <a:schemeClr val="bg2"/>
                </a:solidFill>
                <a:latin typeface="Source Sans Pro" panose="020B0503030403020204" pitchFamily="34" charset="0"/>
                <a:ea typeface="Source Sans Pro" panose="020B0503030403020204" pitchFamily="34" charset="0"/>
              </a:rPr>
              <a:t>(): Shuffle the sequence x in place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random.sample</a:t>
            </a:r>
            <a:r>
              <a:rPr lang="en-US" altLang="zh-CN" sz="1400" dirty="0">
                <a:solidFill>
                  <a:schemeClr val="bg2"/>
                </a:solidFill>
                <a:latin typeface="Source Sans Pro" panose="020B0503030403020204" pitchFamily="34" charset="0"/>
                <a:ea typeface="Source Sans Pro" panose="020B0503030403020204" pitchFamily="34" charset="0"/>
              </a:rPr>
              <a:t>(): Return a k length list of unique elements chosen from the population sequence or set</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6" name="图片 5"/>
          <p:cNvPicPr>
            <a:picLocks noChangeAspect="1"/>
          </p:cNvPicPr>
          <p:nvPr/>
        </p:nvPicPr>
        <p:blipFill>
          <a:blip r:embed="rId1"/>
          <a:stretch>
            <a:fillRect/>
          </a:stretch>
        </p:blipFill>
        <p:spPr>
          <a:xfrm>
            <a:off x="5218096" y="1320917"/>
            <a:ext cx="3245580" cy="2650557"/>
          </a:xfrm>
          <a:prstGeom prst="rect">
            <a:avLst/>
          </a:prstGeom>
        </p:spPr>
      </p:pic>
      <p:pic>
        <p:nvPicPr>
          <p:cNvPr id="5" name="Picture 4" descr="A black background with white numbers&#10;&#10;Description automatically generated"/>
          <p:cNvPicPr>
            <a:picLocks noChangeAspect="1"/>
          </p:cNvPicPr>
          <p:nvPr/>
        </p:nvPicPr>
        <p:blipFill>
          <a:blip r:embed="rId2"/>
          <a:stretch>
            <a:fillRect/>
          </a:stretch>
        </p:blipFill>
        <p:spPr>
          <a:xfrm>
            <a:off x="5218096" y="4223966"/>
            <a:ext cx="1598340" cy="509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latin typeface="Raleway" pitchFamily="34" charset="0"/>
                <a:ea typeface="Source Sans Pro" panose="020B0503030403020204" pitchFamily="34" charset="0"/>
              </a:rPr>
              <a:t>Unicode</a:t>
            </a:r>
            <a:endParaRPr>
              <a:latin typeface="Raleway" pitchFamily="34" charset="0"/>
              <a:ea typeface="Source Sans Pro" panose="020B0503030403020204" pitchFamily="34" charset="0"/>
            </a:endParaRPr>
          </a:p>
        </p:txBody>
      </p:sp>
      <p:pic>
        <p:nvPicPr>
          <p:cNvPr id="2" name="Picture 4" descr="甲骨文的261个象形字，你认识几个？_文字"/>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35889" y="937274"/>
            <a:ext cx="1896598" cy="15342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解密甲骨文：發現、性質與文字特點| CASE 報科學"/>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3693" y="920205"/>
            <a:ext cx="1896598" cy="15799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Information Coding Standard</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00" y="1068425"/>
            <a:ext cx="8520600" cy="3850060"/>
          </a:xfrm>
        </p:spPr>
        <p:txBody>
          <a:bodyPr numCol="2">
            <a:noAutofit/>
          </a:bodyPr>
          <a:lstStyle/>
          <a:p>
            <a:pPr marL="114300" indent="457200">
              <a:buNone/>
            </a:pPr>
            <a:r>
              <a:rPr lang="en-US" altLang="zh-CN" sz="1400" dirty="0">
                <a:solidFill>
                  <a:schemeClr val="bg2"/>
                </a:solidFill>
              </a:rPr>
              <a:t>Computers can only “understand” binary information {0, 1}. </a:t>
            </a:r>
            <a:endParaRPr lang="en-US" altLang="zh-CN" sz="1400" dirty="0">
              <a:solidFill>
                <a:schemeClr val="bg2"/>
              </a:solidFill>
            </a:endParaRPr>
          </a:p>
          <a:p>
            <a:pPr lvl="1"/>
            <a:r>
              <a:rPr lang="en-US" altLang="zh-CN" sz="1200" dirty="0">
                <a:solidFill>
                  <a:schemeClr val="bg2"/>
                </a:solidFill>
              </a:rPr>
              <a:t>Everything inside is represented as a binary sequence. </a:t>
            </a:r>
            <a:endParaRPr lang="en-US" altLang="zh-CN" sz="1200" dirty="0">
              <a:solidFill>
                <a:schemeClr val="bg2"/>
              </a:solidFill>
            </a:endParaRPr>
          </a:p>
          <a:p>
            <a:pPr lvl="1"/>
            <a:r>
              <a:rPr lang="en-US" altLang="zh-CN" sz="1200" dirty="0">
                <a:solidFill>
                  <a:schemeClr val="bg2"/>
                </a:solidFill>
              </a:rPr>
              <a:t>A binary sequence is of no meaning unless we translate it to the human text</a:t>
            </a:r>
            <a:endParaRPr lang="en-US" altLang="zh-CN" sz="1200" dirty="0">
              <a:solidFill>
                <a:schemeClr val="bg2"/>
              </a:solidFill>
            </a:endParaRPr>
          </a:p>
          <a:p>
            <a:r>
              <a:rPr lang="en-US" altLang="zh-CN" sz="1400" dirty="0">
                <a:solidFill>
                  <a:schemeClr val="bg2"/>
                </a:solidFill>
              </a:rPr>
              <a:t>In program, information could be stored at Memory and Files. </a:t>
            </a:r>
            <a:endParaRPr lang="en-US" altLang="zh-CN" sz="1400" dirty="0">
              <a:solidFill>
                <a:schemeClr val="bg2"/>
              </a:solidFill>
            </a:endParaRPr>
          </a:p>
          <a:p>
            <a:pPr lvl="1"/>
            <a:r>
              <a:rPr lang="en-US" altLang="zh-CN" sz="1200" dirty="0">
                <a:solidFill>
                  <a:schemeClr val="bg2"/>
                </a:solidFill>
              </a:rPr>
              <a:t>Memory information will be erased after the process is finished, while files are permeant. </a:t>
            </a:r>
            <a:endParaRPr lang="en-US" altLang="zh-CN" sz="1200" dirty="0">
              <a:solidFill>
                <a:schemeClr val="bg2"/>
              </a:solidFill>
            </a:endParaRPr>
          </a:p>
          <a:p>
            <a:pPr lvl="1"/>
            <a:r>
              <a:rPr lang="en-US" altLang="zh-CN" sz="1200" dirty="0">
                <a:solidFill>
                  <a:schemeClr val="bg2"/>
                </a:solidFill>
              </a:rPr>
              <a:t>Files are stored as 0, 1 sequences. </a:t>
            </a:r>
            <a:endParaRPr lang="en-US" altLang="zh-CN" sz="1200" dirty="0">
              <a:solidFill>
                <a:schemeClr val="bg2"/>
              </a:solidFill>
            </a:endParaRPr>
          </a:p>
          <a:p>
            <a:pPr lvl="1"/>
            <a:r>
              <a:rPr lang="en-US" altLang="zh-CN" sz="1200" dirty="0">
                <a:solidFill>
                  <a:schemeClr val="bg2"/>
                </a:solidFill>
              </a:rPr>
              <a:t>In principle, we have infinitely many explanation a sequence like 0011011. </a:t>
            </a:r>
            <a:endParaRPr lang="en-US" altLang="zh-CN" sz="1200" dirty="0">
              <a:solidFill>
                <a:schemeClr val="bg2"/>
              </a:solidFill>
            </a:endParaRPr>
          </a:p>
          <a:p>
            <a:pPr lvl="1"/>
            <a:r>
              <a:rPr lang="en-US" altLang="zh-CN" sz="1200" dirty="0">
                <a:solidFill>
                  <a:schemeClr val="bg2"/>
                </a:solidFill>
              </a:rPr>
              <a:t>We need to share  a standard</a:t>
            </a:r>
            <a:endParaRPr lang="en-US" altLang="zh-CN" sz="1200" dirty="0">
              <a:solidFill>
                <a:schemeClr val="bg2"/>
              </a:solidFill>
            </a:endParaRPr>
          </a:p>
          <a:p>
            <a:r>
              <a:rPr lang="en-US" altLang="zh-CN" sz="1400" dirty="0">
                <a:solidFill>
                  <a:schemeClr val="bg2"/>
                </a:solidFill>
              </a:rPr>
              <a:t>ASCII is the standard to represent only English information with only </a:t>
            </a:r>
            <a:r>
              <a:rPr lang="en-US" altLang="zh-CN" sz="1400" dirty="0">
                <a:solidFill>
                  <a:schemeClr val="tx1"/>
                </a:solidFill>
              </a:rPr>
              <a:t>128 characters</a:t>
            </a:r>
            <a:r>
              <a:rPr lang="en-US" altLang="zh-CN" sz="1400" dirty="0">
                <a:solidFill>
                  <a:schemeClr val="bg2"/>
                </a:solidFill>
              </a:rPr>
              <a:t>. </a:t>
            </a:r>
            <a:endParaRPr lang="en-US" altLang="zh-CN" sz="1400" dirty="0">
              <a:solidFill>
                <a:schemeClr val="bg2"/>
              </a:solidFill>
            </a:endParaRPr>
          </a:p>
          <a:p>
            <a:pPr lvl="1"/>
            <a:r>
              <a:rPr lang="en-US" altLang="zh-CN" sz="1200" dirty="0">
                <a:solidFill>
                  <a:schemeClr val="bg2"/>
                </a:solidFill>
              </a:rPr>
              <a:t>We need a standard to process Chinese, Arab, French and so on</a:t>
            </a:r>
            <a:endParaRPr lang="en-US" altLang="zh-CN" sz="1200" dirty="0">
              <a:solidFill>
                <a:schemeClr val="bg2"/>
              </a:solidFill>
            </a:endParaRPr>
          </a:p>
          <a:p>
            <a:r>
              <a:rPr lang="en-US" altLang="zh-CN" sz="1400" dirty="0">
                <a:solidFill>
                  <a:schemeClr val="tx1"/>
                </a:solidFill>
              </a:rPr>
              <a:t>Unicode</a:t>
            </a:r>
            <a:r>
              <a:rPr lang="en-US" altLang="zh-CN" sz="1400" dirty="0">
                <a:solidFill>
                  <a:schemeClr val="bg2"/>
                </a:solidFill>
              </a:rPr>
              <a:t>, formally The Unicode Standard, is a text encoding standard maintained by the Unicode Consortium designed to support the use of text written in all of the world's major writing systems</a:t>
            </a:r>
            <a:endParaRPr lang="en-US" altLang="zh-CN" sz="1400" dirty="0">
              <a:solidFill>
                <a:schemeClr val="bg2"/>
              </a:solidFill>
            </a:endParaRPr>
          </a:p>
        </p:txBody>
      </p:sp>
      <p:sp>
        <p:nvSpPr>
          <p:cNvPr id="4" name="AutoShape 8"/>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3" name="图片 5"/>
          <p:cNvPicPr>
            <a:picLocks noChangeAspect="1"/>
          </p:cNvPicPr>
          <p:nvPr/>
        </p:nvPicPr>
        <p:blipFill>
          <a:blip r:embed="rId1"/>
          <a:stretch>
            <a:fillRect/>
          </a:stretch>
        </p:blipFill>
        <p:spPr>
          <a:xfrm>
            <a:off x="7413911" y="519006"/>
            <a:ext cx="1583909" cy="190069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Unicode and UTF8</a:t>
            </a:r>
            <a:endParaRPr lang="zh-CN" altLang="en-US"/>
          </a:p>
        </p:txBody>
      </p:sp>
      <p:sp>
        <p:nvSpPr>
          <p:cNvPr id="3" name="文本占位符 2"/>
          <p:cNvSpPr>
            <a:spLocks noGrp="1"/>
          </p:cNvSpPr>
          <p:nvPr>
            <p:ph type="body" idx="1"/>
          </p:nvPr>
        </p:nvSpPr>
        <p:spPr>
          <a:xfrm>
            <a:off x="311701" y="1022566"/>
            <a:ext cx="7217240" cy="3832132"/>
          </a:xfrm>
        </p:spPr>
        <p:txBody>
          <a:bodyPr>
            <a:noAutofit/>
          </a:bodyPr>
          <a:lstStyle/>
          <a:p>
            <a:r>
              <a:rPr lang="en-US" altLang="zh-CN" sz="1400" dirty="0">
                <a:solidFill>
                  <a:schemeClr val="bg2"/>
                </a:solidFill>
              </a:rPr>
              <a:t>Version 15.1 of the standard defines </a:t>
            </a:r>
            <a:r>
              <a:rPr lang="en-US" altLang="zh-CN" sz="1400" dirty="0">
                <a:solidFill>
                  <a:schemeClr val="tx1"/>
                </a:solidFill>
              </a:rPr>
              <a:t>149,813 characters </a:t>
            </a:r>
            <a:r>
              <a:rPr lang="en-US" altLang="zh-CN" sz="1400" dirty="0">
                <a:solidFill>
                  <a:schemeClr val="bg2"/>
                </a:solidFill>
              </a:rPr>
              <a:t>and 161 scripts used in </a:t>
            </a:r>
            <a:r>
              <a:rPr lang="zh-CN" altLang="en-US" sz="1400" dirty="0">
                <a:solidFill>
                  <a:schemeClr val="bg2"/>
                </a:solidFill>
              </a:rPr>
              <a:t>       </a:t>
            </a:r>
            <a:r>
              <a:rPr lang="en-US" altLang="zh-CN" sz="1400" dirty="0">
                <a:solidFill>
                  <a:schemeClr val="bg2"/>
                </a:solidFill>
              </a:rPr>
              <a:t>various ordinary, literary, academic, and technical contexts. </a:t>
            </a:r>
            <a:endParaRPr lang="en-US" altLang="zh-CN" sz="1400" dirty="0">
              <a:solidFill>
                <a:schemeClr val="bg2"/>
              </a:solidFill>
            </a:endParaRPr>
          </a:p>
          <a:p>
            <a:pPr lvl="1"/>
            <a:r>
              <a:rPr lang="en-US" altLang="zh-CN" sz="1200" dirty="0">
                <a:solidFill>
                  <a:schemeClr val="bg2"/>
                </a:solidFill>
              </a:rPr>
              <a:t>Moreover, the widespread adoption of Unicode was in large part responsible for the initial popularization of emoji (</a:t>
            </a:r>
            <a:r>
              <a:rPr lang="zh-CN" altLang="en-US" sz="1200" dirty="0">
                <a:solidFill>
                  <a:schemeClr val="bg2"/>
                </a:solidFill>
                <a:latin typeface="黑体" panose="02010609060101010101" pitchFamily="49" charset="-122"/>
                <a:ea typeface="黑体" panose="02010609060101010101" pitchFamily="49" charset="-122"/>
              </a:rPr>
              <a:t>表情符号</a:t>
            </a:r>
            <a:r>
              <a:rPr lang="en-US" altLang="zh-CN" sz="1200" dirty="0">
                <a:solidFill>
                  <a:schemeClr val="bg2"/>
                </a:solidFill>
              </a:rPr>
              <a:t>) outside of Japan. Unicode is ultimately capable of encoding more than 1.1 million characters. </a:t>
            </a:r>
            <a:endParaRPr lang="en-US" altLang="zh-CN" sz="1200" dirty="0">
              <a:solidFill>
                <a:schemeClr val="bg2"/>
              </a:solidFill>
            </a:endParaRPr>
          </a:p>
          <a:p>
            <a:pPr lvl="1"/>
            <a:r>
              <a:rPr lang="en-US" altLang="zh-CN" sz="1200" dirty="0">
                <a:solidFill>
                  <a:schemeClr val="tx1"/>
                </a:solidFill>
              </a:rPr>
              <a:t>The first 128 characters </a:t>
            </a:r>
            <a:r>
              <a:rPr lang="en-US" altLang="zh-CN" sz="1200" dirty="0">
                <a:solidFill>
                  <a:schemeClr val="bg2"/>
                </a:solidFill>
              </a:rPr>
              <a:t>in the Unicode table correspond precisely to the </a:t>
            </a:r>
            <a:r>
              <a:rPr lang="en-US" altLang="zh-CN" sz="1200" dirty="0">
                <a:solidFill>
                  <a:schemeClr val="tx1"/>
                </a:solidFill>
              </a:rPr>
              <a:t>ASCII characters </a:t>
            </a:r>
            <a:r>
              <a:rPr lang="en-US" altLang="zh-CN" sz="1200" dirty="0">
                <a:solidFill>
                  <a:schemeClr val="bg2"/>
                </a:solidFill>
              </a:rPr>
              <a:t>that you’d reasonably expect them to.</a:t>
            </a:r>
            <a:endParaRPr lang="en-US" altLang="zh-CN" sz="1200" dirty="0">
              <a:solidFill>
                <a:schemeClr val="bg2"/>
              </a:solidFill>
            </a:endParaRPr>
          </a:p>
          <a:p>
            <a:r>
              <a:rPr lang="en-US" altLang="zh-CN" sz="1400" b="1" i="0" dirty="0">
                <a:solidFill>
                  <a:srgbClr val="222222"/>
                </a:solidFill>
                <a:effectLst/>
                <a:latin typeface="Source Sans Pro" panose="020B0503030403020204" pitchFamily="34" charset="0"/>
              </a:rPr>
              <a:t>Unicode itself is </a:t>
            </a:r>
            <a:r>
              <a:rPr lang="en-US" altLang="zh-CN" sz="1400" b="1" i="1" dirty="0">
                <a:solidFill>
                  <a:srgbClr val="222222"/>
                </a:solidFill>
                <a:effectLst/>
                <a:latin typeface="Source Sans Pro" panose="020B0503030403020204" pitchFamily="34" charset="0"/>
              </a:rPr>
              <a:t>not</a:t>
            </a:r>
            <a:r>
              <a:rPr lang="en-US" altLang="zh-CN" sz="1400" b="1" i="0" dirty="0">
                <a:solidFill>
                  <a:srgbClr val="222222"/>
                </a:solidFill>
                <a:effectLst/>
                <a:latin typeface="Source Sans Pro" panose="020B0503030403020204" pitchFamily="34" charset="0"/>
              </a:rPr>
              <a:t> an encoding</a:t>
            </a:r>
            <a:r>
              <a:rPr lang="en-US" altLang="zh-CN" sz="1400" b="0" i="0" dirty="0">
                <a:solidFill>
                  <a:srgbClr val="222222"/>
                </a:solidFill>
                <a:effectLst/>
                <a:latin typeface="Source Sans Pro" panose="020B0503030403020204" pitchFamily="34" charset="0"/>
              </a:rPr>
              <a:t>. Rather, Unicode is </a:t>
            </a:r>
            <a:r>
              <a:rPr lang="en-US" altLang="zh-CN" sz="1400" b="1" i="0" dirty="0">
                <a:solidFill>
                  <a:srgbClr val="222222"/>
                </a:solidFill>
                <a:effectLst/>
                <a:latin typeface="Source Sans Pro" panose="020B0503030403020204" pitchFamily="34" charset="0"/>
              </a:rPr>
              <a:t>implemented</a:t>
            </a:r>
            <a:r>
              <a:rPr lang="en-US" altLang="zh-CN" sz="1400" b="0" i="0" dirty="0">
                <a:solidFill>
                  <a:srgbClr val="222222"/>
                </a:solidFill>
                <a:effectLst/>
                <a:latin typeface="Source Sans Pro" panose="020B0503030403020204" pitchFamily="34" charset="0"/>
              </a:rPr>
              <a:t> by different character encodings.</a:t>
            </a:r>
            <a:endParaRPr lang="en-US" altLang="zh-CN" sz="1400" b="0" i="0" dirty="0">
              <a:solidFill>
                <a:srgbClr val="222222"/>
              </a:solidFill>
              <a:effectLst/>
              <a:latin typeface="Source Sans Pro" panose="020B0503030403020204" pitchFamily="34" charset="0"/>
            </a:endParaRPr>
          </a:p>
          <a:p>
            <a:pPr lvl="1"/>
            <a:r>
              <a:rPr lang="en-US" altLang="zh-CN" sz="1200" dirty="0">
                <a:solidFill>
                  <a:schemeClr val="bg2"/>
                </a:solidFill>
              </a:rPr>
              <a:t>Unicode doesn’t tell you how to get actual bits from text—just code points. It doesn’t tell you enough about how to convert text to binary data and vice versa.</a:t>
            </a:r>
            <a:endParaRPr lang="en-US" altLang="zh-CN" sz="1200" dirty="0">
              <a:solidFill>
                <a:schemeClr val="bg2"/>
              </a:solidFill>
            </a:endParaRPr>
          </a:p>
          <a:p>
            <a:pPr lvl="1"/>
            <a:r>
              <a:rPr lang="en-US" altLang="zh-CN" sz="1200" dirty="0">
                <a:solidFill>
                  <a:schemeClr val="bg2"/>
                </a:solidFill>
              </a:rPr>
              <a:t>Unicode is an </a:t>
            </a:r>
            <a:r>
              <a:rPr lang="en-US" altLang="zh-CN" sz="1200" dirty="0">
                <a:solidFill>
                  <a:schemeClr val="tx1"/>
                </a:solidFill>
              </a:rPr>
              <a:t>abstract encoding standard</a:t>
            </a:r>
            <a:r>
              <a:rPr lang="en-US" altLang="zh-CN" sz="1200" dirty="0">
                <a:solidFill>
                  <a:schemeClr val="bg2"/>
                </a:solidFill>
              </a:rPr>
              <a:t>, </a:t>
            </a:r>
            <a:r>
              <a:rPr lang="en-US" altLang="zh-CN" sz="1200" dirty="0">
                <a:solidFill>
                  <a:schemeClr val="tx1"/>
                </a:solidFill>
              </a:rPr>
              <a:t>not an encoding </a:t>
            </a:r>
            <a:endParaRPr lang="en-US" altLang="zh-CN" sz="1200" dirty="0">
              <a:solidFill>
                <a:schemeClr val="tx1"/>
              </a:solidFill>
            </a:endParaRPr>
          </a:p>
          <a:p>
            <a:r>
              <a:rPr lang="en-US" altLang="zh-CN" sz="1400" dirty="0">
                <a:solidFill>
                  <a:schemeClr val="tx1"/>
                </a:solidFill>
              </a:rPr>
              <a:t>UTF-8</a:t>
            </a:r>
            <a:r>
              <a:rPr lang="en-US" altLang="zh-CN" sz="1400" dirty="0">
                <a:solidFill>
                  <a:schemeClr val="bg2"/>
                </a:solidFill>
              </a:rPr>
              <a:t> as well as its lesser-used cousins, UTF-16 and UTF-32, are </a:t>
            </a:r>
            <a:r>
              <a:rPr lang="en-US" altLang="zh-CN" sz="1400" dirty="0">
                <a:solidFill>
                  <a:schemeClr val="tx1"/>
                </a:solidFill>
              </a:rPr>
              <a:t>encoding formats </a:t>
            </a:r>
            <a:r>
              <a:rPr lang="en-US" altLang="zh-CN" sz="1400" dirty="0">
                <a:solidFill>
                  <a:schemeClr val="bg2"/>
                </a:solidFill>
              </a:rPr>
              <a:t>for representing Unicode characters as binary data of one or more bytes per character.</a:t>
            </a:r>
            <a:endParaRPr lang="en-US" altLang="zh-CN" sz="1400" dirty="0">
              <a:solidFill>
                <a:schemeClr val="bg2"/>
              </a:solidFill>
            </a:endParaRPr>
          </a:p>
          <a:p>
            <a:pPr lvl="1"/>
            <a:r>
              <a:rPr lang="en-US" altLang="zh-CN" sz="1200" dirty="0">
                <a:solidFill>
                  <a:schemeClr val="bg2"/>
                </a:solidFill>
                <a:latin typeface="Source Sans Pro" panose="020B0503030403020204" pitchFamily="34" charset="0"/>
                <a:ea typeface="Source Sans Pro" panose="020B0503030403020204" pitchFamily="34" charset="0"/>
              </a:rPr>
              <a:t>Unicode </a:t>
            </a:r>
            <a:r>
              <a:rPr lang="zh-CN" altLang="en-US" sz="1200" dirty="0">
                <a:solidFill>
                  <a:schemeClr val="bg2"/>
                </a:solidFill>
                <a:latin typeface="Source Sans Pro" panose="020B0503030403020204" pitchFamily="34" charset="0"/>
                <a:ea typeface="黑体" panose="02010609060101010101" pitchFamily="49" charset="-122"/>
              </a:rPr>
              <a:t>规定了所有字符的序号，但这个序号不代表编码。譬如学生的序号和学号不是一样的。编码设计是一个复杂的问题，就要考虑时间效率，也要考虑空间占用率</a:t>
            </a:r>
            <a:endParaRPr lang="en-US" altLang="zh-CN" sz="1200" dirty="0">
              <a:solidFill>
                <a:schemeClr val="bg2"/>
              </a:solidFill>
              <a:latin typeface="Source Sans Pro" panose="020B0503030403020204" pitchFamily="34" charset="0"/>
              <a:ea typeface="黑体" panose="02010609060101010101" pitchFamily="49" charset="-122"/>
            </a:endParaRPr>
          </a:p>
          <a:p>
            <a:pPr lvl="1"/>
            <a:endParaRPr lang="zh-CN" altLang="en-US" sz="1200" dirty="0">
              <a:solidFill>
                <a:schemeClr val="bg2"/>
              </a:solidFill>
              <a:latin typeface="Source Sans Pro" panose="020B0503030403020204" pitchFamily="34" charset="0"/>
              <a:ea typeface="黑体" panose="02010609060101010101" pitchFamily="49" charset="-122"/>
            </a:endParaRPr>
          </a:p>
        </p:txBody>
      </p:sp>
      <p:sp>
        <p:nvSpPr>
          <p:cNvPr id="5" name="文本框 4"/>
          <p:cNvSpPr txBox="1"/>
          <p:nvPr/>
        </p:nvSpPr>
        <p:spPr>
          <a:xfrm>
            <a:off x="105877" y="4854698"/>
            <a:ext cx="4466123" cy="246221"/>
          </a:xfrm>
          <a:prstGeom prst="rect">
            <a:avLst/>
          </a:prstGeom>
          <a:noFill/>
        </p:spPr>
        <p:txBody>
          <a:bodyPr wrap="square">
            <a:spAutoFit/>
          </a:bodyPr>
          <a:lstStyle/>
          <a:p>
            <a:r>
              <a:rPr lang="zh-CN" altLang="en-US" sz="1000" dirty="0">
                <a:hlinkClick r:id="rId1"/>
              </a:rPr>
              <a:t>https://en.wikipedia.org/wiki/Unicode</a:t>
            </a:r>
            <a:r>
              <a:rPr lang="zh-CN" altLang="en-US" sz="1000" dirty="0"/>
              <a:t> </a:t>
            </a:r>
            <a:r>
              <a:rPr lang="en-US" altLang="zh-CN" sz="1000" dirty="0"/>
              <a:t>https://</a:t>
            </a:r>
            <a:r>
              <a:rPr lang="en-US" altLang="zh-CN" sz="1000" dirty="0" err="1"/>
              <a:t>home.unicode.org</a:t>
            </a:r>
            <a:r>
              <a:rPr lang="en-US" altLang="zh-CN" sz="1000" dirty="0"/>
              <a:t>/</a:t>
            </a:r>
            <a:endParaRPr lang="zh-CN" altLang="en-US" sz="10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8163" y="2036476"/>
            <a:ext cx="1316576" cy="306444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9956" y="620485"/>
            <a:ext cx="1992990" cy="1182871"/>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7528941" y="1759477"/>
            <a:ext cx="1316576" cy="276999"/>
          </a:xfrm>
          <a:prstGeom prst="rect">
            <a:avLst/>
          </a:prstGeom>
          <a:noFill/>
        </p:spPr>
        <p:txBody>
          <a:bodyPr wrap="square">
            <a:spAutoFit/>
          </a:bodyPr>
          <a:lstStyle/>
          <a:p>
            <a:pPr algn="l"/>
            <a:r>
              <a:rPr lang="en-US" altLang="zh-CN" sz="1200" b="0" i="0">
                <a:solidFill>
                  <a:schemeClr val="bg2"/>
                </a:solidFill>
                <a:effectLst/>
                <a:latin typeface="Source Sans Pro" panose="020B0503030403020204" pitchFamily="34" charset="0"/>
              </a:rPr>
              <a:t>Emoji Frequency</a:t>
            </a:r>
            <a:endParaRPr lang="en-US" altLang="zh-CN" sz="1200" b="0" i="0">
              <a:solidFill>
                <a:schemeClr val="bg2"/>
              </a:solidFill>
              <a:effectLst/>
              <a:latin typeface="Source Sans Pro" panose="020B0503030403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92600"/>
            <a:ext cx="8520600" cy="623400"/>
          </a:xfrm>
        </p:spPr>
        <p:txBody>
          <a:bodyPr>
            <a:normAutofit fontScale="90000"/>
          </a:bodyPr>
          <a:lstStyle/>
          <a:p>
            <a:r>
              <a:rPr lang="en-US" altLang="zh-CN"/>
              <a:t>Bytes and </a:t>
            </a:r>
            <a:r>
              <a:rPr lang="en-US" altLang="zh-CN" err="1"/>
              <a:t>Bytearray</a:t>
            </a:r>
            <a:endParaRPr lang="zh-CN" altLang="en-US"/>
          </a:p>
        </p:txBody>
      </p:sp>
      <p:sp>
        <p:nvSpPr>
          <p:cNvPr id="3" name="文本占位符 2"/>
          <p:cNvSpPr>
            <a:spLocks noGrp="1"/>
          </p:cNvSpPr>
          <p:nvPr>
            <p:ph type="body" idx="1"/>
          </p:nvPr>
        </p:nvSpPr>
        <p:spPr>
          <a:xfrm>
            <a:off x="311700" y="893981"/>
            <a:ext cx="8520600" cy="3354406"/>
          </a:xfrm>
        </p:spPr>
        <p:txBody>
          <a:bodyPr numCol="2">
            <a:noAutofit/>
          </a:bodyPr>
          <a:lstStyle/>
          <a:p>
            <a:r>
              <a:rPr lang="en-US" altLang="zh-CN" sz="1400" dirty="0" err="1">
                <a:solidFill>
                  <a:schemeClr val="tx1"/>
                </a:solidFill>
              </a:rPr>
              <a:t>btxt</a:t>
            </a:r>
            <a:r>
              <a:rPr lang="zh-CN" altLang="en-US" sz="1400" dirty="0">
                <a:solidFill>
                  <a:schemeClr val="tx1"/>
                </a:solidFill>
              </a:rPr>
              <a:t> </a:t>
            </a:r>
            <a:r>
              <a:rPr lang="en-US" altLang="zh-CN" sz="1400" dirty="0">
                <a:solidFill>
                  <a:schemeClr val="tx1"/>
                </a:solidFill>
              </a:rPr>
              <a:t>=</a:t>
            </a:r>
            <a:r>
              <a:rPr lang="zh-CN" altLang="en-US" sz="1400" dirty="0">
                <a:solidFill>
                  <a:schemeClr val="tx1"/>
                </a:solidFill>
              </a:rPr>
              <a:t> </a:t>
            </a:r>
            <a:r>
              <a:rPr lang="en-US" altLang="zh-CN" sz="1400" dirty="0" err="1">
                <a:solidFill>
                  <a:schemeClr val="tx1"/>
                </a:solidFill>
              </a:rPr>
              <a:t>b’hello</a:t>
            </a:r>
            <a:r>
              <a:rPr lang="zh-CN" altLang="en-US" sz="1400" dirty="0">
                <a:solidFill>
                  <a:schemeClr val="tx1"/>
                </a:solidFill>
              </a:rPr>
              <a:t> </a:t>
            </a:r>
            <a:r>
              <a:rPr lang="en-US" altLang="zh-CN" sz="1400" dirty="0">
                <a:solidFill>
                  <a:schemeClr val="tx1"/>
                </a:solidFill>
              </a:rPr>
              <a:t>world’</a:t>
            </a:r>
            <a:endParaRPr lang="en-US" altLang="zh-CN" sz="1400" dirty="0">
              <a:solidFill>
                <a:schemeClr val="tx1"/>
              </a:solidFill>
            </a:endParaRPr>
          </a:p>
          <a:p>
            <a:r>
              <a:rPr lang="en-US" altLang="zh-CN" sz="1400" dirty="0">
                <a:solidFill>
                  <a:schemeClr val="bg2"/>
                </a:solidFill>
              </a:rPr>
              <a:t>Bytes objects are </a:t>
            </a:r>
            <a:r>
              <a:rPr lang="en-US" altLang="zh-CN" sz="1400" dirty="0">
                <a:solidFill>
                  <a:schemeClr val="tx1"/>
                </a:solidFill>
              </a:rPr>
              <a:t>immutable</a:t>
            </a:r>
            <a:r>
              <a:rPr lang="en-US" altLang="zh-CN" sz="1400" dirty="0">
                <a:solidFill>
                  <a:schemeClr val="bg2"/>
                </a:solidFill>
              </a:rPr>
              <a:t> sequences of </a:t>
            </a:r>
            <a:r>
              <a:rPr lang="en-US" altLang="zh-CN" sz="1400" dirty="0">
                <a:solidFill>
                  <a:schemeClr val="tx1"/>
                </a:solidFill>
              </a:rPr>
              <a:t>single bytes.</a:t>
            </a:r>
            <a:r>
              <a:rPr lang="zh-CN" altLang="en-US" sz="1400" dirty="0">
                <a:solidFill>
                  <a:schemeClr val="tx1"/>
                </a:solidFill>
              </a:rPr>
              <a:t> </a:t>
            </a:r>
            <a:r>
              <a:rPr lang="en-US" altLang="zh-CN" sz="1400" dirty="0">
                <a:solidFill>
                  <a:schemeClr val="bg2"/>
                </a:solidFill>
              </a:rPr>
              <a:t>The syntax for bytes literals is largely the same as that for string literals, except that a </a:t>
            </a:r>
            <a:r>
              <a:rPr lang="en-US" altLang="zh-CN" sz="1400" dirty="0">
                <a:solidFill>
                  <a:schemeClr val="tx1"/>
                </a:solidFill>
              </a:rPr>
              <a:t>b prefix is added</a:t>
            </a:r>
            <a:endParaRPr lang="en-US" altLang="zh-CN" sz="1400" dirty="0">
              <a:solidFill>
                <a:schemeClr val="tx1"/>
              </a:solidFill>
            </a:endParaRPr>
          </a:p>
          <a:p>
            <a:r>
              <a:rPr lang="en-US" altLang="zh-CN" sz="1400" dirty="0">
                <a:solidFill>
                  <a:schemeClr val="bg2"/>
                </a:solidFill>
              </a:rPr>
              <a:t>class </a:t>
            </a:r>
            <a:r>
              <a:rPr lang="en-US" altLang="zh-CN" sz="1400" dirty="0">
                <a:solidFill>
                  <a:schemeClr val="tx1"/>
                </a:solidFill>
              </a:rPr>
              <a:t>bytes</a:t>
            </a:r>
            <a:r>
              <a:rPr lang="en-US" altLang="zh-CN" sz="1400" dirty="0">
                <a:solidFill>
                  <a:schemeClr val="bg2"/>
                </a:solidFill>
              </a:rPr>
              <a:t>([source[, encoding[, errors]]])</a:t>
            </a:r>
            <a:endParaRPr lang="en-US" altLang="zh-CN" sz="1400" dirty="0">
              <a:solidFill>
                <a:schemeClr val="bg2"/>
              </a:solidFill>
            </a:endParaRPr>
          </a:p>
          <a:p>
            <a:pPr lvl="1"/>
            <a:r>
              <a:rPr lang="en-US" altLang="zh-CN" sz="1200" dirty="0">
                <a:solidFill>
                  <a:schemeClr val="tx1"/>
                </a:solidFill>
              </a:rPr>
              <a:t>Only ASCII characters are permitted in bytes literals </a:t>
            </a:r>
            <a:r>
              <a:rPr lang="en-US" altLang="zh-CN" sz="1200" dirty="0">
                <a:solidFill>
                  <a:schemeClr val="bg2"/>
                </a:solidFill>
              </a:rPr>
              <a:t>(regardless of the declared source code encoding). Any binary values over 127 must be entered into bytes literals using the appropriate escape sequence.</a:t>
            </a:r>
            <a:r>
              <a:rPr lang="zh-CN" altLang="en-US" sz="1200" dirty="0">
                <a:solidFill>
                  <a:schemeClr val="bg2"/>
                </a:solidFill>
              </a:rPr>
              <a:t> </a:t>
            </a:r>
            <a:r>
              <a:rPr lang="en-US" altLang="zh-CN" sz="1200" dirty="0">
                <a:solidFill>
                  <a:schemeClr val="bg2"/>
                </a:solidFill>
              </a:rPr>
              <a:t>(\b \o \x)</a:t>
            </a:r>
            <a:endParaRPr lang="en-US" altLang="zh-CN" sz="1200" dirty="0">
              <a:solidFill>
                <a:schemeClr val="bg2"/>
              </a:solidFill>
            </a:endParaRPr>
          </a:p>
          <a:p>
            <a:pPr lvl="1"/>
            <a:r>
              <a:rPr lang="en-US" altLang="zh-CN" sz="1200" dirty="0">
                <a:solidFill>
                  <a:schemeClr val="bg2"/>
                </a:solidFill>
              </a:rPr>
              <a:t>As with string literals, bytes literals may also use a r prefix to disable processing of escape sequences</a:t>
            </a:r>
            <a:endParaRPr lang="en-US" altLang="zh-CN" sz="1200" dirty="0">
              <a:solidFill>
                <a:schemeClr val="bg2"/>
              </a:solidFill>
            </a:endParaRPr>
          </a:p>
          <a:p>
            <a:r>
              <a:rPr lang="en-US" altLang="zh-CN" sz="1400" dirty="0">
                <a:solidFill>
                  <a:schemeClr val="bg2"/>
                </a:solidFill>
              </a:rPr>
              <a:t>Since 2 </a:t>
            </a:r>
            <a:r>
              <a:rPr lang="en-US" altLang="zh-CN" sz="1400" dirty="0">
                <a:solidFill>
                  <a:schemeClr val="tx1"/>
                </a:solidFill>
              </a:rPr>
              <a:t>hexadecimal digits </a:t>
            </a:r>
            <a:r>
              <a:rPr lang="en-US" altLang="zh-CN" sz="1400" dirty="0">
                <a:solidFill>
                  <a:schemeClr val="bg2"/>
                </a:solidFill>
              </a:rPr>
              <a:t>correspond precisely to a single byte, hexadecimal numbers are a commonly used format for describing binary data</a:t>
            </a:r>
            <a:endParaRPr lang="en-US" altLang="zh-CN" sz="1400" dirty="0">
              <a:solidFill>
                <a:schemeClr val="bg2"/>
              </a:solidFill>
            </a:endParaRPr>
          </a:p>
          <a:p>
            <a:r>
              <a:rPr lang="en-US" altLang="zh-CN" sz="1400" dirty="0" err="1">
                <a:solidFill>
                  <a:schemeClr val="bg2"/>
                </a:solidFill>
              </a:rPr>
              <a:t>classmethod</a:t>
            </a:r>
            <a:r>
              <a:rPr lang="en-US" altLang="zh-CN" sz="1400" dirty="0">
                <a:solidFill>
                  <a:schemeClr val="bg2"/>
                </a:solidFill>
              </a:rPr>
              <a:t> </a:t>
            </a:r>
            <a:r>
              <a:rPr lang="en-US" altLang="zh-CN" sz="1400" dirty="0" err="1">
                <a:solidFill>
                  <a:schemeClr val="bg2"/>
                </a:solidFill>
              </a:rPr>
              <a:t>fromhex</a:t>
            </a:r>
            <a:r>
              <a:rPr lang="en-US" altLang="zh-CN" sz="1400" dirty="0">
                <a:solidFill>
                  <a:schemeClr val="bg2"/>
                </a:solidFill>
              </a:rPr>
              <a:t>(string)</a:t>
            </a:r>
            <a:endParaRPr lang="en-US" altLang="zh-CN" sz="1400" dirty="0">
              <a:solidFill>
                <a:schemeClr val="bg2"/>
              </a:solidFill>
            </a:endParaRPr>
          </a:p>
          <a:p>
            <a:pPr lvl="1"/>
            <a:r>
              <a:rPr lang="en-US" altLang="zh-CN" sz="1200" dirty="0">
                <a:solidFill>
                  <a:schemeClr val="bg2"/>
                </a:solidFill>
              </a:rPr>
              <a:t>This bytes class method returns a bytes object, decoding the given string object. The string must contain two hexadecimal digits per byte, with ASCII whitespace being ignored</a:t>
            </a:r>
            <a:endParaRPr lang="en-US" altLang="zh-CN" sz="1200" dirty="0">
              <a:solidFill>
                <a:schemeClr val="bg2"/>
              </a:solidFill>
            </a:endParaRPr>
          </a:p>
          <a:p>
            <a:r>
              <a:rPr lang="en-US" altLang="zh-CN" sz="1400" dirty="0">
                <a:solidFill>
                  <a:schemeClr val="bg2"/>
                </a:solidFill>
              </a:rPr>
              <a:t>hex([</a:t>
            </a:r>
            <a:r>
              <a:rPr lang="en-US" altLang="zh-CN" sz="1400" dirty="0" err="1">
                <a:solidFill>
                  <a:schemeClr val="bg2"/>
                </a:solidFill>
              </a:rPr>
              <a:t>sep</a:t>
            </a:r>
            <a:r>
              <a:rPr lang="en-US" altLang="zh-CN" sz="1400" dirty="0">
                <a:solidFill>
                  <a:schemeClr val="bg2"/>
                </a:solidFill>
              </a:rPr>
              <a:t>[, </a:t>
            </a:r>
            <a:r>
              <a:rPr lang="en-US" altLang="zh-CN" sz="1400" dirty="0" err="1">
                <a:solidFill>
                  <a:schemeClr val="bg2"/>
                </a:solidFill>
              </a:rPr>
              <a:t>bytes_per_sep</a:t>
            </a:r>
            <a:r>
              <a:rPr lang="en-US" altLang="zh-CN" sz="1400" dirty="0">
                <a:solidFill>
                  <a:schemeClr val="bg2"/>
                </a:solidFill>
              </a:rPr>
              <a:t>]])</a:t>
            </a:r>
            <a:endParaRPr lang="en-US" altLang="zh-CN" sz="1400" dirty="0">
              <a:solidFill>
                <a:schemeClr val="bg2"/>
              </a:solidFill>
            </a:endParaRPr>
          </a:p>
          <a:p>
            <a:pPr lvl="1"/>
            <a:r>
              <a:rPr lang="en-US" altLang="zh-CN" sz="1200" dirty="0">
                <a:solidFill>
                  <a:schemeClr val="bg2"/>
                </a:solidFill>
              </a:rPr>
              <a:t>Return a string object containing two hexadecimal digits for each byte in the instance</a:t>
            </a:r>
            <a:endParaRPr lang="en-US" altLang="zh-CN" sz="1200" dirty="0">
              <a:solidFill>
                <a:schemeClr val="bg2"/>
              </a:solidFill>
            </a:endParaRPr>
          </a:p>
          <a:p>
            <a:r>
              <a:rPr lang="en-US" altLang="zh-CN" sz="1400" dirty="0" err="1">
                <a:solidFill>
                  <a:schemeClr val="bg2"/>
                </a:solidFill>
              </a:rPr>
              <a:t>bytearray</a:t>
            </a:r>
            <a:r>
              <a:rPr lang="en-US" altLang="zh-CN" sz="1400" dirty="0">
                <a:solidFill>
                  <a:schemeClr val="bg2"/>
                </a:solidFill>
              </a:rPr>
              <a:t> objects are a mutable counterpart to bytes objects</a:t>
            </a:r>
            <a:endParaRPr lang="en-US" altLang="zh-CN" sz="1400" dirty="0">
              <a:solidFill>
                <a:schemeClr val="bg2"/>
              </a:solidFill>
            </a:endParaRPr>
          </a:p>
          <a:p>
            <a:pPr lvl="1"/>
            <a:r>
              <a:rPr lang="en-US" altLang="zh-CN" sz="1200" dirty="0">
                <a:solidFill>
                  <a:schemeClr val="bg2"/>
                </a:solidFill>
              </a:rPr>
              <a:t>class </a:t>
            </a:r>
            <a:r>
              <a:rPr lang="en-US" altLang="zh-CN" sz="1200" dirty="0" err="1">
                <a:solidFill>
                  <a:schemeClr val="bg2"/>
                </a:solidFill>
              </a:rPr>
              <a:t>bytearray</a:t>
            </a:r>
            <a:r>
              <a:rPr lang="en-US" altLang="zh-CN" sz="1200" dirty="0">
                <a:solidFill>
                  <a:schemeClr val="bg2"/>
                </a:solidFill>
              </a:rPr>
              <a:t>([source[, encoding[, errors]]])</a:t>
            </a:r>
            <a:endParaRPr lang="en-US" altLang="zh-CN" sz="1200" dirty="0">
              <a:solidFill>
                <a:schemeClr val="bg2"/>
              </a:solidFill>
            </a:endParaRPr>
          </a:p>
          <a:p>
            <a:r>
              <a:rPr lang="en-US" altLang="zh-CN" sz="1400" dirty="0">
                <a:solidFill>
                  <a:schemeClr val="bg2"/>
                </a:solidFill>
              </a:rPr>
              <a:t>str and bytes have almost </a:t>
            </a:r>
            <a:r>
              <a:rPr lang="en-US" altLang="zh-CN" sz="1400" dirty="0">
                <a:solidFill>
                  <a:schemeClr val="tx1"/>
                </a:solidFill>
              </a:rPr>
              <a:t>identical functionality</a:t>
            </a:r>
            <a:endParaRPr lang="en-US" altLang="zh-CN" sz="1400" dirty="0">
              <a:solidFill>
                <a:schemeClr val="tx1"/>
              </a:solidFill>
            </a:endParaRPr>
          </a:p>
        </p:txBody>
      </p:sp>
      <p:sp>
        <p:nvSpPr>
          <p:cNvPr id="5" name="文本框 4"/>
          <p:cNvSpPr txBox="1"/>
          <p:nvPr/>
        </p:nvSpPr>
        <p:spPr>
          <a:xfrm>
            <a:off x="77002" y="4841126"/>
            <a:ext cx="6092792" cy="246221"/>
          </a:xfrm>
          <a:prstGeom prst="rect">
            <a:avLst/>
          </a:prstGeom>
          <a:noFill/>
        </p:spPr>
        <p:txBody>
          <a:bodyPr wrap="square">
            <a:spAutoFit/>
          </a:bodyPr>
          <a:lstStyle/>
          <a:p>
            <a:r>
              <a:rPr lang="zh-CN" altLang="en-US" sz="1000"/>
              <a:t>https://docs.python.org/3/library/stdtypes.html#binary-sequence-types-bytes-bytearray-memoryview</a:t>
            </a:r>
            <a:endParaRPr lang="zh-CN" altLang="en-US" sz="1000"/>
          </a:p>
        </p:txBody>
      </p:sp>
      <p:sp>
        <p:nvSpPr>
          <p:cNvPr id="6" name="文本框 3"/>
          <p:cNvSpPr txBox="1"/>
          <p:nvPr/>
        </p:nvSpPr>
        <p:spPr>
          <a:xfrm>
            <a:off x="388482" y="628466"/>
            <a:ext cx="8088747" cy="307777"/>
          </a:xfrm>
          <a:prstGeom prst="rect">
            <a:avLst/>
          </a:prstGeom>
          <a:solidFill>
            <a:srgbClr val="7030A0"/>
          </a:solidFill>
        </p:spPr>
        <p:txBody>
          <a:bodyPr wrap="square" rtlCol="0">
            <a:spAutoFit/>
          </a:bodyPr>
          <a:lstStyle/>
          <a:p>
            <a:r>
              <a:rPr lang="en-US" altLang="zh-CN">
                <a:solidFill>
                  <a:schemeClr val="bg1"/>
                </a:solidFill>
                <a:latin typeface="Source Sans Pro" panose="020B0503030403020204" pitchFamily="34" charset="0"/>
                <a:ea typeface="Source Sans Pro" panose="020B0503030403020204" pitchFamily="34" charset="0"/>
              </a:rPr>
              <a:t>The core built-in types for manipulating binary data are bytes and </a:t>
            </a:r>
            <a:r>
              <a:rPr lang="en-US" altLang="zh-CN" err="1">
                <a:solidFill>
                  <a:schemeClr val="bg1"/>
                </a:solidFill>
                <a:latin typeface="Source Sans Pro" panose="020B0503030403020204" pitchFamily="34" charset="0"/>
                <a:ea typeface="Source Sans Pro" panose="020B0503030403020204" pitchFamily="34" charset="0"/>
              </a:rPr>
              <a:t>bytearray</a:t>
            </a:r>
            <a:r>
              <a:rPr lang="en-US" altLang="zh-CN">
                <a:solidFill>
                  <a:schemeClr val="bg1"/>
                </a:solidFill>
                <a:latin typeface="Source Sans Pro" panose="020B0503030403020204" pitchFamily="34" charset="0"/>
                <a:ea typeface="Source Sans Pro" panose="020B0503030403020204" pitchFamily="34" charset="0"/>
              </a:rPr>
              <a:t> </a:t>
            </a:r>
            <a:endParaRPr lang="en-US" altLang="zh-CN">
              <a:solidFill>
                <a:schemeClr val="bg1"/>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92600"/>
            <a:ext cx="8520600" cy="623400"/>
          </a:xfrm>
        </p:spPr>
        <p:txBody>
          <a:bodyPr>
            <a:normAutofit fontScale="90000"/>
          </a:bodyPr>
          <a:lstStyle/>
          <a:p>
            <a:r>
              <a:rPr lang="en-US" altLang="zh-CN"/>
              <a:t>Bytes and </a:t>
            </a:r>
            <a:r>
              <a:rPr lang="en-US" altLang="zh-CN" err="1"/>
              <a:t>Bytearray</a:t>
            </a:r>
            <a:endParaRPr lang="zh-CN" altLang="en-US"/>
          </a:p>
        </p:txBody>
      </p:sp>
      <p:sp>
        <p:nvSpPr>
          <p:cNvPr id="3" name="文本占位符 2"/>
          <p:cNvSpPr>
            <a:spLocks noGrp="1"/>
          </p:cNvSpPr>
          <p:nvPr>
            <p:ph type="body" idx="1"/>
          </p:nvPr>
        </p:nvSpPr>
        <p:spPr>
          <a:xfrm>
            <a:off x="311700" y="893981"/>
            <a:ext cx="8520600" cy="3354406"/>
          </a:xfrm>
        </p:spPr>
        <p:txBody>
          <a:bodyPr numCol="2">
            <a:noAutofit/>
          </a:bodyPr>
          <a:lstStyle/>
          <a:p>
            <a:r>
              <a:rPr sz="1400">
                <a:solidFill>
                  <a:schemeClr val="tx1"/>
                </a:solidFill>
              </a:rPr>
              <a:t>btxt = b'你好世界'</a:t>
            </a:r>
            <a:endParaRPr sz="1400">
              <a:solidFill>
                <a:schemeClr val="tx1"/>
              </a:solidFill>
            </a:endParaRPr>
          </a:p>
          <a:p>
            <a:r>
              <a:rPr sz="1400">
                <a:solidFill>
                  <a:schemeClr val="tx1"/>
                </a:solidFill>
              </a:rPr>
              <a:t>Bytes 对象是单个字节的不可变序列。bytes 文本的语法与字符串文本的语法大致相同，只是添加了 b 前缀</a:t>
            </a:r>
            <a:endParaRPr sz="1400">
              <a:solidFill>
                <a:schemeClr val="tx1"/>
              </a:solidFill>
            </a:endParaRPr>
          </a:p>
          <a:p>
            <a:r>
              <a:rPr sz="1400">
                <a:solidFill>
                  <a:schemeClr val="tx1"/>
                </a:solidFill>
              </a:rPr>
              <a:t>类字节（[源代码[， 编码[， 错误]]]）</a:t>
            </a:r>
            <a:endParaRPr sz="1400">
              <a:solidFill>
                <a:schemeClr val="tx1"/>
              </a:solidFill>
            </a:endParaRPr>
          </a:p>
          <a:p>
            <a:r>
              <a:rPr sz="1400">
                <a:solidFill>
                  <a:schemeClr val="tx1"/>
                </a:solidFill>
              </a:rPr>
              <a:t>字节文本中只允许使用 ASCII 字符（无论声明的源代码编码如何）。任何超过 127 的二进制值都必须使用适当的转义序列输入到字节文本中。（b o x）</a:t>
            </a:r>
            <a:endParaRPr sz="1400">
              <a:solidFill>
                <a:schemeClr val="tx1"/>
              </a:solidFill>
            </a:endParaRPr>
          </a:p>
          <a:p>
            <a:r>
              <a:rPr sz="1400">
                <a:solidFill>
                  <a:schemeClr val="tx1"/>
                </a:solidFill>
              </a:rPr>
              <a:t>与字符串文本一样，字节文本也可以使用 r 前缀来禁用转义序列的处理</a:t>
            </a:r>
            <a:endParaRPr sz="1400">
              <a:solidFill>
                <a:schemeClr val="tx1"/>
              </a:solidFill>
            </a:endParaRPr>
          </a:p>
          <a:p>
            <a:r>
              <a:rPr lang="en-US" altLang="zh-CN" sz="1400" dirty="0"/>
              <a:t>由于 2 个十六进制数字精确对应于单个字节，因此十六进制数是描述二进制数据的常用格式</a:t>
            </a:r>
            <a:endParaRPr lang="en-US" altLang="zh-CN" sz="1400" dirty="0"/>
          </a:p>
          <a:p>
            <a:r>
              <a:rPr lang="en-US" altLang="zh-CN" sz="1400" dirty="0"/>
              <a:t>ClassMethod fromHex（String）</a:t>
            </a:r>
            <a:endParaRPr lang="en-US" altLang="zh-CN" sz="1400" dirty="0"/>
          </a:p>
          <a:p>
            <a:r>
              <a:rPr lang="en-US" altLang="zh-CN" sz="1400" dirty="0"/>
              <a:t>此 bytes 类方法返回一个 bytes 对象，对给定的字符串对象进行解码。字符串必须包含每个字节两个十六进制数字，并忽略 ASCII 空格</a:t>
            </a:r>
            <a:endParaRPr lang="en-US" altLang="zh-CN" sz="1400" dirty="0"/>
          </a:p>
          <a:p>
            <a:r>
              <a:rPr lang="en-US" altLang="zh-CN" sz="1400" dirty="0"/>
              <a:t>十六进制（[sep[， bytes_per_sep]]）</a:t>
            </a:r>
            <a:endParaRPr lang="en-US" altLang="zh-CN" sz="1400" dirty="0"/>
          </a:p>
          <a:p>
            <a:r>
              <a:rPr lang="en-US" altLang="zh-CN" sz="1400" dirty="0"/>
              <a:t>返回一个字符串对象，该对象包含实例中每个字节的两个十六进制数字</a:t>
            </a:r>
            <a:endParaRPr lang="en-US" altLang="zh-CN" sz="1400" dirty="0"/>
          </a:p>
          <a:p>
            <a:r>
              <a:rPr lang="en-US" altLang="zh-CN" sz="1400" dirty="0"/>
              <a:t>ByteArray 对象是 bytes 对象的可变对应对象</a:t>
            </a:r>
            <a:endParaRPr lang="en-US" altLang="zh-CN" sz="1400" dirty="0"/>
          </a:p>
          <a:p>
            <a:r>
              <a:rPr lang="en-US" altLang="zh-CN" sz="1400" dirty="0"/>
              <a:t>类 ByteArray（[源代码[， 编码[， 错误]]]）</a:t>
            </a:r>
            <a:endParaRPr lang="en-US" altLang="zh-CN" sz="1400" dirty="0"/>
          </a:p>
          <a:p>
            <a:r>
              <a:rPr lang="en-US" altLang="zh-CN" sz="1400" dirty="0"/>
              <a:t>str 和 bytes 具有几乎相同的功能</a:t>
            </a:r>
            <a:endParaRPr lang="en-US" altLang="zh-CN" sz="1400" dirty="0"/>
          </a:p>
        </p:txBody>
      </p:sp>
      <p:sp>
        <p:nvSpPr>
          <p:cNvPr id="5" name="文本框 4"/>
          <p:cNvSpPr txBox="1"/>
          <p:nvPr/>
        </p:nvSpPr>
        <p:spPr>
          <a:xfrm>
            <a:off x="77002" y="4841126"/>
            <a:ext cx="6092792" cy="246221"/>
          </a:xfrm>
          <a:prstGeom prst="rect">
            <a:avLst/>
          </a:prstGeom>
          <a:noFill/>
        </p:spPr>
        <p:txBody>
          <a:bodyPr wrap="square">
            <a:spAutoFit/>
          </a:bodyPr>
          <a:lstStyle/>
          <a:p>
            <a:r>
              <a:rPr lang="zh-CN" altLang="en-US" sz="1000"/>
              <a:t>https://docs.python.org/3/library/stdtypes.html#binary-sequence-types-bytes-bytearray-memoryview</a:t>
            </a:r>
            <a:endParaRPr lang="zh-CN" altLang="en-US" sz="1000"/>
          </a:p>
        </p:txBody>
      </p:sp>
      <p:sp>
        <p:nvSpPr>
          <p:cNvPr id="6" name="文本框 3"/>
          <p:cNvSpPr txBox="1"/>
          <p:nvPr/>
        </p:nvSpPr>
        <p:spPr>
          <a:xfrm>
            <a:off x="388482" y="628466"/>
            <a:ext cx="8088747" cy="307777"/>
          </a:xfrm>
          <a:prstGeom prst="rect">
            <a:avLst/>
          </a:prstGeom>
          <a:solidFill>
            <a:srgbClr val="7030A0"/>
          </a:solidFill>
        </p:spPr>
        <p:txBody>
          <a:bodyPr wrap="square" rtlCol="0">
            <a:spAutoFit/>
          </a:bodyPr>
          <a:lstStyle/>
          <a:p>
            <a:r>
              <a:rPr lang="en-US" altLang="zh-CN">
                <a:solidFill>
                  <a:schemeClr val="bg1"/>
                </a:solidFill>
                <a:latin typeface="Source Sans Pro" panose="020B0503030403020204" pitchFamily="34" charset="0"/>
                <a:ea typeface="Source Sans Pro" panose="020B0503030403020204" pitchFamily="34" charset="0"/>
              </a:rPr>
              <a:t>The core built-in types for manipulating binary data are bytes and </a:t>
            </a:r>
            <a:r>
              <a:rPr lang="en-US" altLang="zh-CN" err="1">
                <a:solidFill>
                  <a:schemeClr val="bg1"/>
                </a:solidFill>
                <a:latin typeface="Source Sans Pro" panose="020B0503030403020204" pitchFamily="34" charset="0"/>
                <a:ea typeface="Source Sans Pro" panose="020B0503030403020204" pitchFamily="34" charset="0"/>
              </a:rPr>
              <a:t>bytearray</a:t>
            </a:r>
            <a:r>
              <a:rPr lang="en-US" altLang="zh-CN">
                <a:solidFill>
                  <a:schemeClr val="bg1"/>
                </a:solidFill>
                <a:latin typeface="Source Sans Pro" panose="020B0503030403020204" pitchFamily="34" charset="0"/>
                <a:ea typeface="Source Sans Pro" panose="020B0503030403020204" pitchFamily="34" charset="0"/>
              </a:rPr>
              <a:t> </a:t>
            </a:r>
            <a:endParaRPr lang="en-US" altLang="zh-CN">
              <a:solidFill>
                <a:schemeClr val="bg1"/>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Bytes Examples</a:t>
            </a:r>
            <a:endParaRPr lang="zh-CN" altLang="en-US"/>
          </a:p>
        </p:txBody>
      </p:sp>
      <p:sp>
        <p:nvSpPr>
          <p:cNvPr id="10" name="文本占位符 2"/>
          <p:cNvSpPr>
            <a:spLocks noGrp="1"/>
          </p:cNvSpPr>
          <p:nvPr>
            <p:ph type="body" idx="1"/>
          </p:nvPr>
        </p:nvSpPr>
        <p:spPr>
          <a:xfrm>
            <a:off x="383889" y="1461482"/>
            <a:ext cx="4731937" cy="2133553"/>
          </a:xfrm>
        </p:spPr>
        <p:txBody>
          <a:bodyPr>
            <a:noAutofit/>
          </a:bodyPr>
          <a:lstStyle/>
          <a:p>
            <a:r>
              <a:rPr lang="en-US" altLang="zh-CN" sz="1400" dirty="0">
                <a:solidFill>
                  <a:schemeClr val="bg2"/>
                </a:solidFill>
              </a:rPr>
              <a:t>Python 3’s str type is meant to represent </a:t>
            </a:r>
            <a:r>
              <a:rPr lang="en-US" altLang="zh-CN" sz="1400" dirty="0">
                <a:solidFill>
                  <a:schemeClr val="tx1"/>
                </a:solidFill>
              </a:rPr>
              <a:t>human-readable text</a:t>
            </a:r>
            <a:r>
              <a:rPr lang="en-US" altLang="zh-CN" sz="1400" dirty="0">
                <a:solidFill>
                  <a:schemeClr val="bg2"/>
                </a:solidFill>
              </a:rPr>
              <a:t> and can contain any </a:t>
            </a:r>
            <a:r>
              <a:rPr lang="en-US" altLang="zh-CN" sz="1400" dirty="0">
                <a:solidFill>
                  <a:schemeClr val="tx1"/>
                </a:solidFill>
              </a:rPr>
              <a:t>Unicode character</a:t>
            </a:r>
            <a:endParaRPr lang="en-US" altLang="zh-CN" sz="1400" dirty="0">
              <a:solidFill>
                <a:schemeClr val="tx1"/>
              </a:solidFill>
            </a:endParaRPr>
          </a:p>
          <a:p>
            <a:r>
              <a:rPr lang="en-US" altLang="zh-CN" sz="1400" dirty="0">
                <a:solidFill>
                  <a:schemeClr val="bg2"/>
                </a:solidFill>
              </a:rPr>
              <a:t>The bytes type, conversely, represents binary data, or sequences of raw bytes, that </a:t>
            </a:r>
            <a:r>
              <a:rPr lang="en-US" altLang="zh-CN" sz="1400" dirty="0">
                <a:solidFill>
                  <a:schemeClr val="tx1"/>
                </a:solidFill>
              </a:rPr>
              <a:t>do not intrinsically have an encoding attached </a:t>
            </a:r>
            <a:r>
              <a:rPr lang="en-US" altLang="zh-CN" sz="1400" dirty="0">
                <a:solidFill>
                  <a:schemeClr val="bg2"/>
                </a:solidFill>
              </a:rPr>
              <a:t>to it.</a:t>
            </a:r>
            <a:endParaRPr lang="en-US" altLang="zh-CN" sz="1400" dirty="0">
              <a:solidFill>
                <a:schemeClr val="bg2"/>
              </a:solidFill>
            </a:endParaRPr>
          </a:p>
          <a:p>
            <a:r>
              <a:rPr lang="en-US" altLang="zh-CN" sz="1400" dirty="0">
                <a:solidFill>
                  <a:schemeClr val="bg2"/>
                </a:solidFill>
              </a:rPr>
              <a:t>In .encode() and .decode(), the encoding parameter is "utf-8" by default, though it’s generally safer and more unambiguous to specify it</a:t>
            </a:r>
            <a:r>
              <a:rPr lang="en-US" altLang="zh-CN" sz="1400" dirty="0">
                <a:solidFill>
                  <a:srgbClr val="FF0000"/>
                </a:solidFill>
              </a:rPr>
              <a:t>(encode</a:t>
            </a:r>
            <a:r>
              <a:rPr lang="zh-CN" altLang="en-US" sz="1400" dirty="0">
                <a:solidFill>
                  <a:srgbClr val="FF0000"/>
                </a:solidFill>
              </a:rPr>
              <a:t>变成</a:t>
            </a:r>
            <a:r>
              <a:rPr lang="en-US" altLang="zh-CN" sz="1400" dirty="0">
                <a:solidFill>
                  <a:srgbClr val="FF0000"/>
                </a:solidFill>
              </a:rPr>
              <a:t>16</a:t>
            </a:r>
            <a:r>
              <a:rPr lang="zh-CN" altLang="en-US" sz="1400" dirty="0">
                <a:solidFill>
                  <a:srgbClr val="FF0000"/>
                </a:solidFill>
              </a:rPr>
              <a:t>进制编码，</a:t>
            </a:r>
            <a:r>
              <a:rPr lang="en-US" altLang="zh-CN" sz="1400" dirty="0">
                <a:solidFill>
                  <a:srgbClr val="FF0000"/>
                </a:solidFill>
              </a:rPr>
              <a:t>decode</a:t>
            </a:r>
            <a:r>
              <a:rPr lang="zh-CN" altLang="en-US" sz="1400" dirty="0">
                <a:solidFill>
                  <a:srgbClr val="FF0000"/>
                </a:solidFill>
              </a:rPr>
              <a:t>变成</a:t>
            </a:r>
            <a:r>
              <a:rPr lang="en-US" altLang="zh-CN" sz="1400" dirty="0">
                <a:solidFill>
                  <a:srgbClr val="FF0000"/>
                </a:solidFill>
              </a:rPr>
              <a:t>string.)</a:t>
            </a:r>
            <a:endParaRPr lang="en-US" altLang="zh-CN" sz="1400" dirty="0">
              <a:solidFill>
                <a:srgbClr val="FF0000"/>
              </a:solidFill>
            </a:endParaRPr>
          </a:p>
        </p:txBody>
      </p:sp>
      <p:sp>
        <p:nvSpPr>
          <p:cNvPr id="11" name="文本框 3"/>
          <p:cNvSpPr txBox="1"/>
          <p:nvPr/>
        </p:nvSpPr>
        <p:spPr>
          <a:xfrm>
            <a:off x="559932" y="1111066"/>
            <a:ext cx="8088747" cy="307777"/>
          </a:xfrm>
          <a:prstGeom prst="rect">
            <a:avLst/>
          </a:prstGeom>
          <a:solidFill>
            <a:srgbClr val="7030A0"/>
          </a:solidFill>
        </p:spPr>
        <p:txBody>
          <a:bodyPr wrap="square" rtlCol="0">
            <a:spAutoFit/>
          </a:bodyPr>
          <a:lstStyle/>
          <a:p>
            <a:r>
              <a:rPr lang="en-US" altLang="zh-CN">
                <a:solidFill>
                  <a:schemeClr val="bg1"/>
                </a:solidFill>
                <a:latin typeface="Source Sans Pro" panose="020B0503030403020204" pitchFamily="34" charset="0"/>
                <a:ea typeface="Source Sans Pro" panose="020B0503030403020204" pitchFamily="34" charset="0"/>
              </a:rPr>
              <a:t>str—bytes: encode()—decode()</a:t>
            </a:r>
            <a:endParaRPr lang="en-US" altLang="zh-CN">
              <a:solidFill>
                <a:schemeClr val="bg1"/>
              </a:solidFill>
              <a:latin typeface="Source Sans Pro" panose="020B0503030403020204" pitchFamily="34" charset="0"/>
              <a:ea typeface="Source Sans Pro" panose="020B0503030403020204" pitchFamily="34" charset="0"/>
            </a:endParaRPr>
          </a:p>
        </p:txBody>
      </p:sp>
      <p:pic>
        <p:nvPicPr>
          <p:cNvPr id="13" name="图片 12"/>
          <p:cNvPicPr>
            <a:picLocks noChangeAspect="1"/>
          </p:cNvPicPr>
          <p:nvPr/>
        </p:nvPicPr>
        <p:blipFill>
          <a:blip r:embed="rId1"/>
          <a:stretch>
            <a:fillRect/>
          </a:stretch>
        </p:blipFill>
        <p:spPr>
          <a:xfrm>
            <a:off x="5623255" y="1442230"/>
            <a:ext cx="3441061" cy="3281012"/>
          </a:xfrm>
          <a:prstGeom prst="rect">
            <a:avLst/>
          </a:prstGeom>
        </p:spPr>
      </p:pic>
      <p:pic>
        <p:nvPicPr>
          <p:cNvPr id="3" name="Picture 2"/>
          <p:cNvPicPr>
            <a:picLocks noChangeAspect="1"/>
          </p:cNvPicPr>
          <p:nvPr/>
        </p:nvPicPr>
        <p:blipFill>
          <a:blip r:embed="rId2"/>
          <a:stretch>
            <a:fillRect/>
          </a:stretch>
        </p:blipFill>
        <p:spPr>
          <a:xfrm>
            <a:off x="187325" y="3786505"/>
            <a:ext cx="4498340" cy="1299210"/>
          </a:xfrm>
          <a:prstGeom prst="rect">
            <a:avLst/>
          </a:prstGeom>
        </p:spPr>
      </p:pic>
      <p:sp>
        <p:nvSpPr>
          <p:cNvPr id="7" name="Rectangle 8"/>
          <p:cNvSpPr/>
          <p:nvPr/>
        </p:nvSpPr>
        <p:spPr>
          <a:xfrm>
            <a:off x="6278910" y="4817445"/>
            <a:ext cx="2129750" cy="20946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a:solidFill>
                  <a:schemeClr val="bg2"/>
                </a:solidFill>
                <a:latin typeface="Source Sans Pro" panose="020B0503030403020204" pitchFamily="34" charset="0"/>
                <a:ea typeface="Source Sans Pro" panose="020B0503030403020204" pitchFamily="34" charset="0"/>
              </a:rPr>
              <a:t>bytes</a:t>
            </a:r>
            <a:r>
              <a:rPr lang="zh-CN" altLang="en-US" sz="1200">
                <a:solidFill>
                  <a:schemeClr val="bg2"/>
                </a:solidFill>
                <a:latin typeface="Source Sans Pro" panose="020B0503030403020204" pitchFamily="34" charset="0"/>
                <a:ea typeface="黑体" panose="02010609060101010101" pitchFamily="49" charset="-122"/>
              </a:rPr>
              <a:t>给计算机看，</a:t>
            </a:r>
            <a:r>
              <a:rPr lang="en-US" altLang="zh-CN" sz="1200">
                <a:solidFill>
                  <a:schemeClr val="bg2"/>
                </a:solidFill>
                <a:latin typeface="Source Sans Pro" panose="020B0503030403020204" pitchFamily="34" charset="0"/>
                <a:ea typeface="Source Sans Pro" panose="020B0503030403020204" pitchFamily="34" charset="0"/>
              </a:rPr>
              <a:t>str</a:t>
            </a:r>
            <a:r>
              <a:rPr lang="zh-CN" altLang="en-US" sz="1200">
                <a:solidFill>
                  <a:schemeClr val="bg2"/>
                </a:solidFill>
                <a:latin typeface="Source Sans Pro" panose="020B0503030403020204" pitchFamily="34" charset="0"/>
                <a:ea typeface="黑体" panose="02010609060101010101" pitchFamily="49" charset="-122"/>
              </a:rPr>
              <a:t>给人看</a:t>
            </a:r>
            <a:endParaRPr lang="zh-CN" altLang="en-US" sz="1200">
              <a:solidFill>
                <a:schemeClr val="bg2"/>
              </a:solidFill>
              <a:latin typeface="Source Sans Pro" panose="020B0503030403020204" pitchFamily="34" charset="0"/>
              <a:ea typeface="黑体" panose="02010609060101010101" pitchFamily="49" charset="-122"/>
            </a:endParaRPr>
          </a:p>
        </p:txBody>
      </p:sp>
      <p:sp>
        <p:nvSpPr>
          <p:cNvPr id="4" name="文本框 3"/>
          <p:cNvSpPr txBox="1"/>
          <p:nvPr/>
        </p:nvSpPr>
        <p:spPr>
          <a:xfrm>
            <a:off x="2976245" y="44450"/>
            <a:ext cx="6074410" cy="953135"/>
          </a:xfrm>
          <a:prstGeom prst="rect">
            <a:avLst/>
          </a:prstGeom>
          <a:noFill/>
        </p:spPr>
        <p:txBody>
          <a:bodyPr wrap="square" rtlCol="0">
            <a:spAutoFit/>
          </a:bodyPr>
          <a:p>
            <a:r>
              <a:rPr lang="zh-CN" altLang="en-US"/>
              <a:t>Python 3 的 str 类型旨在表示人类可读的文本，可以包含任何 Unicode 字符</a:t>
            </a:r>
            <a:endParaRPr lang="zh-CN" altLang="en-US"/>
          </a:p>
          <a:p>
            <a:r>
              <a:rPr lang="zh-CN" altLang="en-US"/>
              <a:t>相反，bytes 类型表示二进制数据或原始字节序列，它们本质上没有附加编码。在 .encode（） 和 .decode（） 中，编码参数默认为“utf-8”，尽管指定它通常更安全、更明确</a:t>
            </a:r>
            <a:endParaRPr lang="zh-CN" altLang="en-US"/>
          </a:p>
        </p:txBody>
      </p:sp>
      <p:pic>
        <p:nvPicPr>
          <p:cNvPr id="6" name="图片 5" descr="3b31393936353534373bcecabac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70150" y="3197225"/>
            <a:ext cx="506095" cy="5060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UTF8</a:t>
            </a:r>
            <a:endParaRPr lang="zh-CN" altLang="en-US"/>
          </a:p>
        </p:txBody>
      </p:sp>
      <p:sp>
        <p:nvSpPr>
          <p:cNvPr id="3" name="文本占位符 2"/>
          <p:cNvSpPr>
            <a:spLocks noGrp="1"/>
          </p:cNvSpPr>
          <p:nvPr>
            <p:ph type="body" idx="1"/>
          </p:nvPr>
        </p:nvSpPr>
        <p:spPr>
          <a:xfrm>
            <a:off x="311700" y="1152475"/>
            <a:ext cx="8520600" cy="1630693"/>
          </a:xfrm>
        </p:spPr>
        <p:txBody>
          <a:bodyPr>
            <a:noAutofit/>
          </a:bodyPr>
          <a:lstStyle/>
          <a:p>
            <a:r>
              <a:rPr lang="en-US" altLang="zh-CN" sz="1400" dirty="0">
                <a:solidFill>
                  <a:schemeClr val="bg2"/>
                </a:solidFill>
              </a:rPr>
              <a:t>In </a:t>
            </a:r>
            <a:r>
              <a:rPr lang="en-US" altLang="zh-CN" sz="1400" dirty="0">
                <a:solidFill>
                  <a:schemeClr val="tx1"/>
                </a:solidFill>
              </a:rPr>
              <a:t>Latin-1</a:t>
            </a:r>
            <a:r>
              <a:rPr lang="en-US" altLang="zh-CN" sz="1400" dirty="0">
                <a:solidFill>
                  <a:schemeClr val="bg2"/>
                </a:solidFill>
              </a:rPr>
              <a:t>, character codes above 127 are assigned to accented and otherwise special characters.</a:t>
            </a:r>
            <a:endParaRPr lang="en-US" altLang="zh-CN" sz="1400" dirty="0">
              <a:solidFill>
                <a:schemeClr val="bg2"/>
              </a:solidFill>
            </a:endParaRPr>
          </a:p>
          <a:p>
            <a:r>
              <a:rPr lang="en-US" altLang="zh-CN" sz="1400" dirty="0">
                <a:solidFill>
                  <a:schemeClr val="tx1"/>
                </a:solidFill>
              </a:rPr>
              <a:t>UTF-8</a:t>
            </a:r>
            <a:r>
              <a:rPr lang="en-US" altLang="zh-CN" sz="1400" dirty="0">
                <a:solidFill>
                  <a:schemeClr val="bg2"/>
                </a:solidFill>
              </a:rPr>
              <a:t> encoding: Character codes less than 128 are represented as a single byte; codes between 128 and 0x7ff (2047) are turned into </a:t>
            </a:r>
            <a:r>
              <a:rPr lang="en-US" altLang="zh-CN" sz="1400" dirty="0">
                <a:solidFill>
                  <a:schemeClr val="tx1"/>
                </a:solidFill>
              </a:rPr>
              <a:t>2 bytes</a:t>
            </a:r>
            <a:r>
              <a:rPr lang="en-US" altLang="zh-CN" sz="1400" dirty="0">
                <a:solidFill>
                  <a:schemeClr val="bg2"/>
                </a:solidFill>
              </a:rPr>
              <a:t>, where each byte has a value between 128 and 255; and codes above 0x7ff are turned into </a:t>
            </a:r>
            <a:r>
              <a:rPr lang="en-US" altLang="zh-CN" sz="1400" dirty="0">
                <a:solidFill>
                  <a:schemeClr val="tx1"/>
                </a:solidFill>
              </a:rPr>
              <a:t>3- or 4-byte </a:t>
            </a:r>
            <a:r>
              <a:rPr lang="en-US" altLang="zh-CN" sz="1400" dirty="0">
                <a:solidFill>
                  <a:schemeClr val="bg2"/>
                </a:solidFill>
              </a:rPr>
              <a:t>sequences having values between 128 and 255. </a:t>
            </a:r>
            <a:endParaRPr lang="en-US" altLang="zh-CN" sz="1400" dirty="0">
              <a:solidFill>
                <a:schemeClr val="bg2"/>
              </a:solidFill>
            </a:endParaRPr>
          </a:p>
          <a:p>
            <a:r>
              <a:rPr lang="en-US" altLang="zh-CN" sz="1400" dirty="0">
                <a:solidFill>
                  <a:schemeClr val="tx1"/>
                </a:solidFill>
              </a:rPr>
              <a:t>UTF-16</a:t>
            </a:r>
            <a:r>
              <a:rPr lang="en-US" altLang="zh-CN" sz="1400" dirty="0">
                <a:solidFill>
                  <a:schemeClr val="bg2"/>
                </a:solidFill>
              </a:rPr>
              <a:t> and </a:t>
            </a:r>
            <a:r>
              <a:rPr lang="en-US" altLang="zh-CN" sz="1400" dirty="0">
                <a:solidFill>
                  <a:schemeClr val="tx1"/>
                </a:solidFill>
              </a:rPr>
              <a:t>UTF-32</a:t>
            </a:r>
            <a:r>
              <a:rPr lang="en-US" altLang="zh-CN" sz="1400" dirty="0">
                <a:solidFill>
                  <a:schemeClr val="bg2"/>
                </a:solidFill>
              </a:rPr>
              <a:t> format text with a fixed-size 2</a:t>
            </a:r>
            <a:r>
              <a:rPr lang="zh-CN" altLang="en-US" sz="1400" dirty="0">
                <a:solidFill>
                  <a:schemeClr val="bg2"/>
                </a:solidFill>
              </a:rPr>
              <a:t> </a:t>
            </a:r>
            <a:r>
              <a:rPr lang="en-US" altLang="zh-CN" sz="1400" dirty="0">
                <a:solidFill>
                  <a:schemeClr val="bg2"/>
                </a:solidFill>
              </a:rPr>
              <a:t>or</a:t>
            </a:r>
            <a:r>
              <a:rPr lang="zh-CN" altLang="en-US" sz="1400" dirty="0">
                <a:solidFill>
                  <a:schemeClr val="bg2"/>
                </a:solidFill>
              </a:rPr>
              <a:t> </a:t>
            </a:r>
            <a:r>
              <a:rPr lang="en-US" altLang="zh-CN" sz="1400" dirty="0">
                <a:solidFill>
                  <a:schemeClr val="bg2"/>
                </a:solidFill>
              </a:rPr>
              <a:t>4</a:t>
            </a:r>
            <a:r>
              <a:rPr lang="zh-CN" altLang="en-US" sz="1400" dirty="0">
                <a:solidFill>
                  <a:schemeClr val="bg2"/>
                </a:solidFill>
              </a:rPr>
              <a:t> </a:t>
            </a:r>
            <a:r>
              <a:rPr lang="en-US" altLang="zh-CN" sz="1400" dirty="0">
                <a:solidFill>
                  <a:schemeClr val="bg2"/>
                </a:solidFill>
              </a:rPr>
              <a:t>bytes and 4 bytes per each character scheme, respectively, even for characters that could otherwise fit in a single byte.</a:t>
            </a:r>
            <a:endParaRPr lang="zh-CN" altLang="en-US" sz="1400" dirty="0">
              <a:solidFill>
                <a:schemeClr val="bg2"/>
              </a:solidFill>
            </a:endParaRPr>
          </a:p>
        </p:txBody>
      </p:sp>
      <p:pic>
        <p:nvPicPr>
          <p:cNvPr id="5" name="图片 4"/>
          <p:cNvPicPr>
            <a:picLocks noChangeAspect="1"/>
          </p:cNvPicPr>
          <p:nvPr/>
        </p:nvPicPr>
        <p:blipFill>
          <a:blip r:embed="rId1"/>
          <a:stretch>
            <a:fillRect/>
          </a:stretch>
        </p:blipFill>
        <p:spPr>
          <a:xfrm>
            <a:off x="105510" y="2783168"/>
            <a:ext cx="5958851" cy="2254995"/>
          </a:xfrm>
          <a:prstGeom prst="rect">
            <a:avLst/>
          </a:prstGeom>
        </p:spPr>
      </p:pic>
      <p:pic>
        <p:nvPicPr>
          <p:cNvPr id="6" name="Picture 5" descr="A black background with white text&#10;&#10;Description automatically generated"/>
          <p:cNvPicPr>
            <a:picLocks noChangeAspect="1"/>
          </p:cNvPicPr>
          <p:nvPr/>
        </p:nvPicPr>
        <p:blipFill>
          <a:blip r:embed="rId2"/>
          <a:stretch>
            <a:fillRect/>
          </a:stretch>
        </p:blipFill>
        <p:spPr>
          <a:xfrm>
            <a:off x="6161243" y="2783168"/>
            <a:ext cx="2877247" cy="717274"/>
          </a:xfrm>
          <a:prstGeom prst="rect">
            <a:avLst/>
          </a:prstGeom>
        </p:spPr>
      </p:pic>
      <p:sp>
        <p:nvSpPr>
          <p:cNvPr id="7" name="TextBox 6"/>
          <p:cNvSpPr txBox="1"/>
          <p:nvPr/>
        </p:nvSpPr>
        <p:spPr>
          <a:xfrm>
            <a:off x="6161242" y="3560835"/>
            <a:ext cx="2877247" cy="1477328"/>
          </a:xfrm>
          <a:prstGeom prst="rect">
            <a:avLst/>
          </a:prstGeom>
          <a:noFill/>
        </p:spPr>
        <p:txBody>
          <a:bodyPr wrap="square">
            <a:spAutoFit/>
          </a:bodyPr>
          <a:lstStyle/>
          <a:p>
            <a:r>
              <a:rPr lang="en-US" sz="1000" dirty="0"/>
              <a:t>\</a:t>
            </a:r>
            <a:r>
              <a:rPr lang="en-US" sz="1000" dirty="0" err="1"/>
              <a:t>xff</a:t>
            </a:r>
            <a:r>
              <a:rPr lang="en-US" sz="1000" dirty="0"/>
              <a:t>\</a:t>
            </a:r>
            <a:r>
              <a:rPr lang="en-US" sz="1000" dirty="0" err="1"/>
              <a:t>xfe</a:t>
            </a:r>
            <a:r>
              <a:rPr lang="en-US" sz="1000" dirty="0"/>
              <a:t> thing is the byte order mark</a:t>
            </a:r>
            <a:r>
              <a:rPr lang="zh-CN" altLang="en-US" sz="1000" dirty="0"/>
              <a:t> </a:t>
            </a:r>
            <a:r>
              <a:rPr lang="en-US" altLang="zh-CN" sz="1000" dirty="0"/>
              <a:t>(BOM)</a:t>
            </a:r>
            <a:r>
              <a:rPr lang="en-US" sz="1000" dirty="0"/>
              <a:t>, used to indicate the endianness</a:t>
            </a:r>
            <a:r>
              <a:rPr lang="zh-CN" altLang="en-US" sz="1000" dirty="0"/>
              <a:t> </a:t>
            </a:r>
            <a:r>
              <a:rPr lang="en-US" altLang="zh-CN" sz="1000" dirty="0"/>
              <a:t>(</a:t>
            </a:r>
            <a:r>
              <a:rPr lang="zh-CN" altLang="en-US" sz="1000" dirty="0"/>
              <a:t>大小端</a:t>
            </a:r>
            <a:r>
              <a:rPr lang="en-US" altLang="zh-CN" sz="1000" dirty="0"/>
              <a:t>)</a:t>
            </a:r>
            <a:r>
              <a:rPr lang="en-US" sz="1000" dirty="0"/>
              <a:t> of the data.</a:t>
            </a:r>
            <a:endParaRPr lang="en-US" sz="1000" dirty="0"/>
          </a:p>
          <a:p>
            <a:endParaRPr lang="en-US" sz="1000" dirty="0"/>
          </a:p>
          <a:p>
            <a:r>
              <a:rPr lang="en-US" sz="1000" dirty="0"/>
              <a:t>B</a:t>
            </a:r>
            <a:r>
              <a:rPr lang="en-US" sz="1000" dirty="0"/>
              <a:t>ig</a:t>
            </a:r>
            <a:r>
              <a:rPr lang="zh-CN" altLang="en-US" sz="1000" dirty="0"/>
              <a:t> </a:t>
            </a:r>
            <a:r>
              <a:rPr lang="en-US" altLang="zh-CN" sz="1000" dirty="0"/>
              <a:t>endian</a:t>
            </a:r>
            <a:r>
              <a:rPr lang="zh-CN" altLang="en-US" sz="1000" dirty="0"/>
              <a:t> </a:t>
            </a:r>
            <a:r>
              <a:rPr lang="en-US" altLang="zh-CN" sz="1000" dirty="0"/>
              <a:t>and</a:t>
            </a:r>
            <a:r>
              <a:rPr lang="zh-CN" altLang="en-US" sz="1000" dirty="0"/>
              <a:t> </a:t>
            </a:r>
            <a:r>
              <a:rPr lang="en-US" altLang="zh-CN" sz="1000" dirty="0"/>
              <a:t>little</a:t>
            </a:r>
            <a:r>
              <a:rPr lang="zh-CN" altLang="en-US" sz="1000" dirty="0"/>
              <a:t> </a:t>
            </a:r>
            <a:r>
              <a:rPr lang="en-US" altLang="zh-CN" sz="1000" dirty="0"/>
              <a:t>endian:</a:t>
            </a:r>
            <a:r>
              <a:rPr lang="zh-CN" altLang="en-US" sz="1000" dirty="0"/>
              <a:t> </a:t>
            </a:r>
            <a:r>
              <a:rPr lang="en-US" altLang="zh-CN" sz="1000" dirty="0"/>
              <a:t>Big-endian is an order in which the "big end" (most significant value in the sequence) is stored first, at the lowest storage address. Little-endian is an order in which the "little end" (least significant value in the sequence) is stored first.</a:t>
            </a:r>
            <a:endParaRPr lang="en-US" sz="1000" dirty="0"/>
          </a:p>
        </p:txBody>
      </p:sp>
      <p:sp>
        <p:nvSpPr>
          <p:cNvPr id="4" name="文本框 3"/>
          <p:cNvSpPr txBox="1"/>
          <p:nvPr/>
        </p:nvSpPr>
        <p:spPr>
          <a:xfrm>
            <a:off x="1172210" y="29845"/>
            <a:ext cx="7901305" cy="1383665"/>
          </a:xfrm>
          <a:prstGeom prst="rect">
            <a:avLst/>
          </a:prstGeom>
          <a:noFill/>
        </p:spPr>
        <p:txBody>
          <a:bodyPr wrap="square" rtlCol="0">
            <a:spAutoFit/>
          </a:bodyPr>
          <a:p>
            <a:r>
              <a:rPr lang="zh-CN" altLang="en-US"/>
              <a:t>在 Latin-1 中，高于 127 的字符代码分配给重音字符和其他特殊字符。</a:t>
            </a:r>
            <a:endParaRPr lang="zh-CN" altLang="en-US"/>
          </a:p>
          <a:p>
            <a:r>
              <a:rPr lang="zh-CN" altLang="en-US"/>
              <a:t>UTF-8 编码：小于 128 的字符代码表示为单个字节;128 和 0x7ff （2047） 之间的代码转换为 2 个字节，其中每个字节的值介于 128 和 255 之间;高于 0x7ff 的代码将转换为值介于 128 和 255 之间的 3 字节或 4 字节序列。</a:t>
            </a:r>
            <a:endParaRPr lang="zh-CN" altLang="en-US"/>
          </a:p>
          <a:p>
            <a:r>
              <a:rPr lang="zh-CN" altLang="en-US"/>
              <a:t>UTF-16 和 UTF-32 格式文本，每个字符方案分别具有固定大小的 2 或 4 个字节和 4 个字节，即使对于本来可以容纳在单个字节中的字符也是如此。</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Coding Unicode Strings</a:t>
            </a:r>
            <a:endParaRPr lang="zh-CN" altLang="en-US"/>
          </a:p>
        </p:txBody>
      </p:sp>
      <p:sp>
        <p:nvSpPr>
          <p:cNvPr id="3" name="文本占位符 2"/>
          <p:cNvSpPr>
            <a:spLocks noGrp="1"/>
          </p:cNvSpPr>
          <p:nvPr>
            <p:ph type="body" idx="1"/>
          </p:nvPr>
        </p:nvSpPr>
        <p:spPr/>
        <p:txBody>
          <a:bodyPr numCol="2">
            <a:normAutofit/>
          </a:bodyPr>
          <a:lstStyle/>
          <a:p>
            <a:r>
              <a:rPr lang="en-US" altLang="zh-CN" sz="1400" dirty="0">
                <a:solidFill>
                  <a:schemeClr val="bg2"/>
                </a:solidFill>
              </a:rPr>
              <a:t>To code arbitrary Unicode characters in your strings, some of which you might not even be able to type on your keyboard, Python string literals support both </a:t>
            </a:r>
            <a:r>
              <a:rPr lang="en-US" altLang="zh-CN" sz="1400" dirty="0">
                <a:solidFill>
                  <a:schemeClr val="tx1"/>
                </a:solidFill>
              </a:rPr>
              <a:t>"\</a:t>
            </a:r>
            <a:r>
              <a:rPr lang="en-US" altLang="zh-CN" sz="1400" dirty="0" err="1">
                <a:solidFill>
                  <a:schemeClr val="tx1"/>
                </a:solidFill>
              </a:rPr>
              <a:t>xNN</a:t>
            </a:r>
            <a:r>
              <a:rPr lang="en-US" altLang="zh-CN" sz="1400" dirty="0">
                <a:solidFill>
                  <a:schemeClr val="tx1"/>
                </a:solidFill>
              </a:rPr>
              <a:t>" hex byte value escapes </a:t>
            </a:r>
            <a:r>
              <a:rPr lang="en-US" altLang="zh-CN" sz="1400" dirty="0">
                <a:solidFill>
                  <a:schemeClr val="bg2"/>
                </a:solidFill>
              </a:rPr>
              <a:t>and </a:t>
            </a:r>
            <a:r>
              <a:rPr lang="en-US" altLang="zh-CN" sz="1400" dirty="0">
                <a:solidFill>
                  <a:schemeClr val="tx1"/>
                </a:solidFill>
              </a:rPr>
              <a:t>"\</a:t>
            </a:r>
            <a:r>
              <a:rPr lang="en-US" altLang="zh-CN" sz="1400" dirty="0" err="1">
                <a:solidFill>
                  <a:schemeClr val="tx1"/>
                </a:solidFill>
              </a:rPr>
              <a:t>u</a:t>
            </a:r>
            <a:r>
              <a:rPr lang="en-US" altLang="zh-CN" sz="1400" dirty="0" err="1">
                <a:solidFill>
                  <a:srgbClr val="00B050"/>
                </a:solidFill>
              </a:rPr>
              <a:t>NNNN</a:t>
            </a:r>
            <a:r>
              <a:rPr lang="en-US" altLang="zh-CN" sz="1400" dirty="0">
                <a:solidFill>
                  <a:schemeClr val="tx1"/>
                </a:solidFill>
              </a:rPr>
              <a:t>" </a:t>
            </a:r>
            <a:r>
              <a:rPr lang="en-US" altLang="zh-CN" sz="1400" dirty="0">
                <a:solidFill>
                  <a:schemeClr val="bg2"/>
                </a:solidFill>
              </a:rPr>
              <a:t>and </a:t>
            </a:r>
            <a:r>
              <a:rPr lang="en-US" altLang="zh-CN" sz="1400" dirty="0">
                <a:solidFill>
                  <a:schemeClr val="tx1"/>
                </a:solidFill>
              </a:rPr>
              <a:t>"\U</a:t>
            </a:r>
            <a:r>
              <a:rPr lang="en-US" altLang="zh-CN" sz="1400" dirty="0">
                <a:solidFill>
                  <a:srgbClr val="0070C0"/>
                </a:solidFill>
              </a:rPr>
              <a:t>NNNN</a:t>
            </a:r>
            <a:r>
              <a:rPr lang="en-US" altLang="zh-CN" sz="1400" dirty="0">
                <a:solidFill>
                  <a:srgbClr val="00B050"/>
                </a:solidFill>
              </a:rPr>
              <a:t>NNNN</a:t>
            </a:r>
            <a:r>
              <a:rPr lang="en-US" altLang="zh-CN" sz="1400" dirty="0">
                <a:solidFill>
                  <a:schemeClr val="bg2"/>
                </a:solidFill>
              </a:rPr>
              <a:t>" </a:t>
            </a:r>
            <a:r>
              <a:rPr lang="en-US" altLang="zh-CN" sz="1400" dirty="0">
                <a:solidFill>
                  <a:schemeClr val="tx1"/>
                </a:solidFill>
              </a:rPr>
              <a:t>Unicode escapes </a:t>
            </a:r>
            <a:r>
              <a:rPr lang="en-US" altLang="zh-CN" sz="1400" dirty="0">
                <a:solidFill>
                  <a:schemeClr val="bg2"/>
                </a:solidFill>
              </a:rPr>
              <a:t>in string literals. </a:t>
            </a:r>
            <a:endParaRPr lang="en-US" altLang="zh-CN" sz="1400" dirty="0">
              <a:solidFill>
                <a:schemeClr val="bg2"/>
              </a:solidFill>
            </a:endParaRPr>
          </a:p>
          <a:p>
            <a:r>
              <a:rPr lang="en-US" altLang="zh-CN" sz="1400" dirty="0">
                <a:solidFill>
                  <a:schemeClr val="bg2"/>
                </a:solidFill>
              </a:rPr>
              <a:t>In Unicode escapes, the first form gives four hex digits to encode a 2-byte (16-bit) character code point, and the second gives eight hex digits for a 4-byte (32-bit) code point. </a:t>
            </a:r>
            <a:endParaRPr lang="en-US" altLang="zh-CN" sz="1400" dirty="0">
              <a:solidFill>
                <a:schemeClr val="bg2"/>
              </a:solidFill>
            </a:endParaRPr>
          </a:p>
          <a:p>
            <a:r>
              <a:rPr lang="en-US" altLang="zh-CN" sz="1400" dirty="0">
                <a:solidFill>
                  <a:schemeClr val="bg2"/>
                </a:solidFill>
              </a:rPr>
              <a:t>Byte strings support only hex escapes for encoded text and other forms of byte-based data.</a:t>
            </a:r>
            <a:endParaRPr lang="en-US" altLang="zh-CN" sz="1400" dirty="0">
              <a:solidFill>
                <a:schemeClr val="bg2"/>
              </a:solidFill>
            </a:endParaRPr>
          </a:p>
          <a:p>
            <a:r>
              <a:rPr lang="en-US" altLang="zh-CN" sz="1400" dirty="0">
                <a:solidFill>
                  <a:schemeClr val="bg2"/>
                </a:solidFill>
              </a:rPr>
              <a:t>"\N{name}"  </a:t>
            </a:r>
            <a:r>
              <a:rPr lang="en-US" altLang="zh-CN" sz="1400" dirty="0">
                <a:solidFill>
                  <a:srgbClr val="00B050"/>
                </a:solidFill>
              </a:rPr>
              <a:t>Character named name </a:t>
            </a:r>
            <a:r>
              <a:rPr lang="en-US" altLang="zh-CN" sz="1400" dirty="0">
                <a:solidFill>
                  <a:schemeClr val="bg2"/>
                </a:solidFill>
              </a:rPr>
              <a:t>in the Unicode database"\N{LATIN SMALL LETTER A}“</a:t>
            </a:r>
            <a:endParaRPr lang="en-US" altLang="zh-CN" sz="1400" dirty="0">
              <a:solidFill>
                <a:schemeClr val="bg2"/>
              </a:solidFill>
            </a:endParaRPr>
          </a:p>
          <a:p>
            <a:r>
              <a:rPr lang="en-US" altLang="zh-CN" sz="1400" dirty="0">
                <a:solidFill>
                  <a:schemeClr val="bg2"/>
                </a:solidFill>
              </a:rPr>
              <a:t>Useful Functions</a:t>
            </a:r>
            <a:endParaRPr lang="en-US" altLang="zh-CN" sz="1400" dirty="0">
              <a:solidFill>
                <a:schemeClr val="bg2"/>
              </a:solidFill>
            </a:endParaRPr>
          </a:p>
          <a:p>
            <a:pPr lvl="1"/>
            <a:r>
              <a:rPr lang="en-US" altLang="zh-CN" sz="1200" dirty="0">
                <a:solidFill>
                  <a:schemeClr val="bg2"/>
                </a:solidFill>
              </a:rPr>
              <a:t>ascii()</a:t>
            </a:r>
            <a:endParaRPr lang="en-US" altLang="zh-CN" sz="1200" dirty="0">
              <a:solidFill>
                <a:schemeClr val="bg2"/>
              </a:solidFill>
            </a:endParaRPr>
          </a:p>
          <a:p>
            <a:pPr lvl="1"/>
            <a:r>
              <a:rPr lang="en-US" altLang="zh-CN" sz="1200" dirty="0">
                <a:solidFill>
                  <a:schemeClr val="bg2"/>
                </a:solidFill>
              </a:rPr>
              <a:t>bin()</a:t>
            </a:r>
            <a:endParaRPr lang="en-US" altLang="zh-CN" sz="1200" dirty="0">
              <a:solidFill>
                <a:schemeClr val="bg2"/>
              </a:solidFill>
            </a:endParaRPr>
          </a:p>
          <a:p>
            <a:pPr lvl="1"/>
            <a:r>
              <a:rPr lang="en-US" altLang="zh-CN" sz="1200" dirty="0">
                <a:solidFill>
                  <a:schemeClr val="bg2"/>
                </a:solidFill>
              </a:rPr>
              <a:t>bytes()</a:t>
            </a:r>
            <a:endParaRPr lang="en-US" altLang="zh-CN" sz="1200" dirty="0">
              <a:solidFill>
                <a:schemeClr val="bg2"/>
              </a:solidFill>
            </a:endParaRPr>
          </a:p>
          <a:p>
            <a:pPr lvl="1"/>
            <a:r>
              <a:rPr lang="en-US" altLang="zh-CN" sz="1200" dirty="0">
                <a:solidFill>
                  <a:schemeClr val="bg2"/>
                </a:solidFill>
              </a:rPr>
              <a:t>chr()</a:t>
            </a:r>
            <a:endParaRPr lang="en-US" altLang="zh-CN" sz="1200" dirty="0">
              <a:solidFill>
                <a:schemeClr val="bg2"/>
              </a:solidFill>
            </a:endParaRPr>
          </a:p>
          <a:p>
            <a:pPr lvl="1"/>
            <a:r>
              <a:rPr lang="en-US" altLang="zh-CN" sz="1200" dirty="0">
                <a:solidFill>
                  <a:schemeClr val="bg2"/>
                </a:solidFill>
              </a:rPr>
              <a:t>hex()</a:t>
            </a:r>
            <a:endParaRPr lang="en-US" altLang="zh-CN" sz="1200" dirty="0">
              <a:solidFill>
                <a:schemeClr val="bg2"/>
              </a:solidFill>
            </a:endParaRPr>
          </a:p>
          <a:p>
            <a:pPr lvl="1"/>
            <a:r>
              <a:rPr lang="en-US" altLang="zh-CN" sz="1200" dirty="0">
                <a:solidFill>
                  <a:schemeClr val="bg2"/>
                </a:solidFill>
              </a:rPr>
              <a:t>int()</a:t>
            </a:r>
            <a:endParaRPr lang="en-US" altLang="zh-CN" sz="1200" dirty="0">
              <a:solidFill>
                <a:schemeClr val="bg2"/>
              </a:solidFill>
            </a:endParaRPr>
          </a:p>
          <a:p>
            <a:pPr lvl="1"/>
            <a:r>
              <a:rPr lang="en-US" altLang="zh-CN" sz="1200" dirty="0">
                <a:solidFill>
                  <a:schemeClr val="bg2"/>
                </a:solidFill>
              </a:rPr>
              <a:t>oct()</a:t>
            </a:r>
            <a:endParaRPr lang="en-US" altLang="zh-CN" sz="1200" dirty="0">
              <a:solidFill>
                <a:schemeClr val="bg2"/>
              </a:solidFill>
            </a:endParaRPr>
          </a:p>
          <a:p>
            <a:pPr lvl="1"/>
            <a:r>
              <a:rPr lang="en-US" altLang="zh-CN" sz="1200" dirty="0" err="1">
                <a:solidFill>
                  <a:schemeClr val="bg2"/>
                </a:solidFill>
              </a:rPr>
              <a:t>ord</a:t>
            </a:r>
            <a:r>
              <a:rPr lang="en-US" altLang="zh-CN" sz="1200" dirty="0">
                <a:solidFill>
                  <a:schemeClr val="bg2"/>
                </a:solidFill>
              </a:rPr>
              <a:t>()</a:t>
            </a:r>
            <a:endParaRPr lang="en-US" altLang="zh-CN" sz="1200" dirty="0">
              <a:solidFill>
                <a:schemeClr val="bg2"/>
              </a:solidFill>
            </a:endParaRPr>
          </a:p>
          <a:p>
            <a:pPr lvl="1"/>
            <a:r>
              <a:rPr lang="en-US" altLang="zh-CN" sz="1200" dirty="0">
                <a:solidFill>
                  <a:schemeClr val="bg2"/>
                </a:solidFill>
              </a:rPr>
              <a:t>str()</a:t>
            </a:r>
            <a:endParaRPr lang="en-US" altLang="zh-CN" sz="1200" dirty="0">
              <a:solidFill>
                <a:schemeClr val="bg2"/>
              </a:solidFill>
            </a:endParaRPr>
          </a:p>
        </p:txBody>
      </p:sp>
      <p:sp>
        <p:nvSpPr>
          <p:cNvPr id="6" name="文本框 5"/>
          <p:cNvSpPr txBox="1"/>
          <p:nvPr/>
        </p:nvSpPr>
        <p:spPr>
          <a:xfrm>
            <a:off x="157130" y="4568875"/>
            <a:ext cx="4572000" cy="553998"/>
          </a:xfrm>
          <a:prstGeom prst="rect">
            <a:avLst/>
          </a:prstGeom>
          <a:noFill/>
        </p:spPr>
        <p:txBody>
          <a:bodyPr wrap="square">
            <a:spAutoFit/>
          </a:bodyPr>
          <a:lstStyle/>
          <a:p>
            <a:r>
              <a:rPr lang="en-US" altLang="zh-CN" sz="1000"/>
              <a:t>https://docs.python.org/3/library/unicodedata.html</a:t>
            </a:r>
            <a:endParaRPr lang="en-US" altLang="zh-CN" sz="1000"/>
          </a:p>
          <a:p>
            <a:r>
              <a:rPr lang="en-US" altLang="zh-CN" sz="1000"/>
              <a:t>https://home.unicode.org/</a:t>
            </a:r>
            <a:endParaRPr lang="en-US" altLang="zh-CN" sz="1000"/>
          </a:p>
          <a:p>
            <a:r>
              <a:rPr lang="zh-CN" altLang="en-US" sz="1000"/>
              <a:t>https://symbl.cc/en/</a:t>
            </a:r>
            <a:endParaRPr lang="zh-CN" altLang="en-US" sz="1000"/>
          </a:p>
        </p:txBody>
      </p:sp>
      <p:sp>
        <p:nvSpPr>
          <p:cNvPr id="4" name="文本框 3"/>
          <p:cNvSpPr txBox="1"/>
          <p:nvPr/>
        </p:nvSpPr>
        <p:spPr>
          <a:xfrm>
            <a:off x="2428875" y="3002280"/>
            <a:ext cx="6547485" cy="1599565"/>
          </a:xfrm>
          <a:prstGeom prst="rect">
            <a:avLst/>
          </a:prstGeom>
          <a:noFill/>
        </p:spPr>
        <p:txBody>
          <a:bodyPr wrap="square" rtlCol="0">
            <a:spAutoFit/>
          </a:bodyPr>
          <a:p>
            <a:r>
              <a:rPr lang="zh-CN" altLang="en-US"/>
              <a:t>要在字符串中对任意 Unicode 字符进行编码，其中一些字符甚至可能无法在键盘上键入，Python 字符串文字支持字符串文字中的“xNN”十六进制字节值转义以及“uNNNN”和“UNNNNNNNN”Unicode 转义。</a:t>
            </a:r>
            <a:endParaRPr lang="zh-CN" altLang="en-US"/>
          </a:p>
          <a:p>
            <a:r>
              <a:rPr lang="zh-CN" altLang="en-US"/>
              <a:t>在 Unicode 转义中，第一种形式提供 4 位十六进制数字来编码 2 字节（16 位）字符码位，第二种形式提供 8 位十六进制数字来编码 4 字节（32 位）码位。</a:t>
            </a:r>
            <a:endParaRPr lang="zh-CN" altLang="en-US"/>
          </a:p>
          <a:p>
            <a:r>
              <a:rPr lang="zh-CN" altLang="en-US"/>
              <a:t>字节字符串仅支持编码文本和其他形式的基于字节的数据的十六进制转义。</a:t>
            </a:r>
            <a:endParaRPr lang="zh-CN" altLang="en-US"/>
          </a:p>
          <a:p>
            <a:r>
              <a:rPr lang="zh-CN" altLang="en-US"/>
              <a:t>“N{name}” Unicode 数据库中名为 name 的字符 “N{拉丁文小写字母 A}”</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err="1"/>
              <a:t>unicodedata</a:t>
            </a:r>
            <a:r>
              <a:rPr lang="en-US" altLang="zh-CN"/>
              <a:t> — Unicode Database</a:t>
            </a:r>
            <a:endParaRPr lang="zh-CN" altLang="en-US"/>
          </a:p>
        </p:txBody>
      </p:sp>
      <p:sp>
        <p:nvSpPr>
          <p:cNvPr id="3" name="文本占位符 2"/>
          <p:cNvSpPr>
            <a:spLocks noGrp="1"/>
          </p:cNvSpPr>
          <p:nvPr>
            <p:ph type="body" idx="1"/>
          </p:nvPr>
        </p:nvSpPr>
        <p:spPr>
          <a:xfrm>
            <a:off x="311785" y="1041400"/>
            <a:ext cx="2759075" cy="3963035"/>
          </a:xfrm>
        </p:spPr>
        <p:txBody>
          <a:bodyPr>
            <a:normAutofit fontScale="90000" lnSpcReduction="10000"/>
          </a:bodyPr>
          <a:lstStyle/>
          <a:p>
            <a:r>
              <a:rPr lang="en-US" altLang="zh-CN" sz="1400" dirty="0">
                <a:solidFill>
                  <a:schemeClr val="bg2"/>
                </a:solidFill>
              </a:rPr>
              <a:t>This module provides access to the Unicode Character Database (UCD) which defines character properties for all Unicode characters.</a:t>
            </a:r>
            <a:endParaRPr lang="en-US" altLang="zh-CN" sz="1400" dirty="0">
              <a:solidFill>
                <a:schemeClr val="bg2"/>
              </a:solidFill>
            </a:endParaRPr>
          </a:p>
          <a:p>
            <a:r>
              <a:rPr lang="en-US" altLang="zh-CN" sz="1400" dirty="0" err="1">
                <a:solidFill>
                  <a:schemeClr val="bg2"/>
                </a:solidFill>
              </a:rPr>
              <a:t>unicodedata.lookup</a:t>
            </a:r>
            <a:r>
              <a:rPr lang="en-US" altLang="zh-CN" sz="1400" dirty="0">
                <a:solidFill>
                  <a:schemeClr val="bg2"/>
                </a:solidFill>
              </a:rPr>
              <a:t>(name)</a:t>
            </a:r>
            <a:endParaRPr lang="en-US" altLang="zh-CN" sz="1400" dirty="0">
              <a:solidFill>
                <a:schemeClr val="bg2"/>
              </a:solidFill>
            </a:endParaRPr>
          </a:p>
          <a:p>
            <a:r>
              <a:rPr lang="en-US" altLang="zh-CN" sz="1400" dirty="0" err="1">
                <a:solidFill>
                  <a:schemeClr val="bg2"/>
                </a:solidFill>
              </a:rPr>
              <a:t>unicodedata.name</a:t>
            </a:r>
            <a:r>
              <a:rPr lang="en-US" altLang="zh-CN" sz="1400" dirty="0">
                <a:solidFill>
                  <a:schemeClr val="bg2"/>
                </a:solidFill>
              </a:rPr>
              <a:t>()</a:t>
            </a:r>
            <a:endParaRPr lang="en-US" altLang="zh-CN" sz="1400" dirty="0">
              <a:solidFill>
                <a:schemeClr val="bg2"/>
              </a:solidFill>
            </a:endParaRPr>
          </a:p>
          <a:p>
            <a:r>
              <a:rPr lang="zh-CN" altLang="en-US" dirty="0"/>
              <a:t>此模块提供对 Unicode 字符数据库 （UCD） 的访问，该数据库定义所有 Unicode 字符的字符属性。</a:t>
            </a:r>
            <a:endParaRPr lang="zh-CN" altLang="en-US" dirty="0"/>
          </a:p>
          <a:p>
            <a:r>
              <a:rPr lang="zh-CN" altLang="en-US" dirty="0"/>
              <a:t>UnicodeData.Lookup</a:t>
            </a:r>
            <a:r>
              <a:rPr lang="en-US" altLang="zh-CN" dirty="0"/>
              <a:t>(</a:t>
            </a:r>
            <a:r>
              <a:rPr lang="zh-CN" altLang="en-US" dirty="0"/>
              <a:t>名称</a:t>
            </a:r>
            <a:r>
              <a:rPr lang="en-US" altLang="zh-CN" dirty="0"/>
              <a:t>)</a:t>
            </a:r>
            <a:endParaRPr lang="zh-CN" altLang="en-US" dirty="0"/>
          </a:p>
          <a:p>
            <a:r>
              <a:rPr lang="zh-CN" altLang="en-US" dirty="0"/>
              <a:t>unicodedata.name（</a:t>
            </a:r>
            <a:r>
              <a:rPr lang="en-US" altLang="zh-CN" dirty="0"/>
              <a:t>u“</a:t>
            </a:r>
            <a:r>
              <a:rPr lang="zh-CN" altLang="en-US" dirty="0"/>
              <a:t>编码</a:t>
            </a:r>
            <a:r>
              <a:rPr lang="en-US" altLang="zh-CN" dirty="0"/>
              <a:t>”</a:t>
            </a:r>
            <a:r>
              <a:rPr lang="zh-CN" altLang="en-US" dirty="0"/>
              <a:t>）</a:t>
            </a:r>
            <a:endParaRPr lang="zh-CN" altLang="en-US" dirty="0"/>
          </a:p>
        </p:txBody>
      </p:sp>
      <p:pic>
        <p:nvPicPr>
          <p:cNvPr id="8" name="图片 7"/>
          <p:cNvPicPr>
            <a:picLocks noChangeAspect="1"/>
          </p:cNvPicPr>
          <p:nvPr/>
        </p:nvPicPr>
        <p:blipFill>
          <a:blip r:embed="rId1"/>
          <a:stretch>
            <a:fillRect/>
          </a:stretch>
        </p:blipFill>
        <p:spPr>
          <a:xfrm>
            <a:off x="3070564" y="1152475"/>
            <a:ext cx="4032628" cy="3500599"/>
          </a:xfrm>
          <a:prstGeom prst="rect">
            <a:avLst/>
          </a:prstGeom>
        </p:spPr>
      </p:pic>
      <p:pic>
        <p:nvPicPr>
          <p:cNvPr id="5" name="Picture 4"/>
          <p:cNvPicPr>
            <a:picLocks noChangeAspect="1"/>
          </p:cNvPicPr>
          <p:nvPr/>
        </p:nvPicPr>
        <p:blipFill>
          <a:blip r:embed="rId2"/>
          <a:stretch>
            <a:fillRect/>
          </a:stretch>
        </p:blipFill>
        <p:spPr>
          <a:xfrm>
            <a:off x="7253837" y="3060350"/>
            <a:ext cx="1697297" cy="159272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Source File Character Set Encoding Declarations</a:t>
            </a:r>
            <a:endParaRPr lang="zh-CN" altLang="en-US"/>
          </a:p>
        </p:txBody>
      </p:sp>
      <p:sp>
        <p:nvSpPr>
          <p:cNvPr id="3" name="文本占位符 2"/>
          <p:cNvSpPr>
            <a:spLocks noGrp="1"/>
          </p:cNvSpPr>
          <p:nvPr>
            <p:ph type="body" idx="1"/>
          </p:nvPr>
        </p:nvSpPr>
        <p:spPr>
          <a:xfrm>
            <a:off x="311700" y="1152475"/>
            <a:ext cx="8520600" cy="2782021"/>
          </a:xfrm>
        </p:spPr>
        <p:txBody>
          <a:bodyPr numCol="2">
            <a:normAutofit/>
          </a:bodyPr>
          <a:lstStyle/>
          <a:p>
            <a:r>
              <a:rPr lang="en-US" altLang="zh-CN" sz="1400" dirty="0">
                <a:solidFill>
                  <a:schemeClr val="bg2"/>
                </a:solidFill>
              </a:rPr>
              <a:t>Finally, Unicode escape codes are fine for the occasional Unicode character in string literals, but they can become tedious if you need to embed non-ASCII text in your  strings frequently. </a:t>
            </a:r>
            <a:endParaRPr lang="en-US" altLang="zh-CN" sz="1400" dirty="0">
              <a:solidFill>
                <a:schemeClr val="bg2"/>
              </a:solidFill>
            </a:endParaRPr>
          </a:p>
          <a:p>
            <a:pPr lvl="1"/>
            <a:r>
              <a:rPr lang="en-US" altLang="zh-CN" sz="1200" dirty="0">
                <a:solidFill>
                  <a:schemeClr val="bg2"/>
                </a:solidFill>
              </a:rPr>
              <a:t>To interpret the content of strings you code and hence embed within the text of your script files, </a:t>
            </a:r>
            <a:r>
              <a:rPr lang="en-US" altLang="zh-CN" sz="1200" dirty="0">
                <a:solidFill>
                  <a:schemeClr val="tx1"/>
                </a:solidFill>
              </a:rPr>
              <a:t>Python uses the UTF-8 encoding by default, </a:t>
            </a:r>
            <a:r>
              <a:rPr lang="en-US" altLang="zh-CN" sz="1200" dirty="0">
                <a:solidFill>
                  <a:schemeClr val="bg2"/>
                </a:solidFill>
              </a:rPr>
              <a:t>but it allows you to change this to support arbitrary character sets by including a comment that names your desired encoding. </a:t>
            </a:r>
            <a:endParaRPr lang="en-US" altLang="zh-CN" sz="1200" dirty="0">
              <a:solidFill>
                <a:schemeClr val="bg2"/>
              </a:solidFill>
            </a:endParaRPr>
          </a:p>
          <a:p>
            <a:r>
              <a:rPr lang="en-US" altLang="zh-CN" sz="1400" dirty="0">
                <a:solidFill>
                  <a:schemeClr val="bg2"/>
                </a:solidFill>
              </a:rPr>
              <a:t>The comment must be of this form and must appear as either the first or second line in your script in either Python 2.X or 3.X:</a:t>
            </a:r>
            <a:endParaRPr lang="en-US" altLang="zh-CN" sz="1400" dirty="0">
              <a:solidFill>
                <a:schemeClr val="bg2"/>
              </a:solidFill>
            </a:endParaRPr>
          </a:p>
          <a:p>
            <a:r>
              <a:rPr lang="en-US" altLang="zh-CN" sz="1400" dirty="0">
                <a:solidFill>
                  <a:schemeClr val="tx1"/>
                </a:solidFill>
              </a:rPr>
              <a:t># -*- coding: latin-1 -*-</a:t>
            </a:r>
            <a:endParaRPr lang="en-US" altLang="zh-CN" sz="1400" dirty="0">
              <a:solidFill>
                <a:schemeClr val="tx1"/>
              </a:solidFill>
            </a:endParaRPr>
          </a:p>
          <a:p>
            <a:r>
              <a:rPr lang="en-US" altLang="zh-CN" sz="1400" dirty="0">
                <a:solidFill>
                  <a:schemeClr val="bg2"/>
                </a:solidFill>
              </a:rPr>
              <a:t>When a comment of this form is present, Python will recognize strings represented natively in the given encoding. </a:t>
            </a:r>
            <a:endParaRPr lang="en-US" altLang="zh-CN" sz="1400" dirty="0">
              <a:solidFill>
                <a:schemeClr val="bg2"/>
              </a:solidFill>
            </a:endParaRPr>
          </a:p>
          <a:p>
            <a:r>
              <a:rPr lang="en-US" altLang="zh-CN" sz="1400" dirty="0">
                <a:solidFill>
                  <a:schemeClr val="bg2"/>
                </a:solidFill>
              </a:rPr>
              <a:t>This means you can edit your script file in a text editor that accepts and displays accented and other non-ASCII characters correctly, and Python will decode them correctly in your string literals</a:t>
            </a:r>
            <a:endParaRPr lang="zh-CN" altLang="en-US" sz="1400" dirty="0">
              <a:solidFill>
                <a:schemeClr val="bg2"/>
              </a:solidFill>
            </a:endParaRPr>
          </a:p>
        </p:txBody>
      </p:sp>
      <p:pic>
        <p:nvPicPr>
          <p:cNvPr id="4" name="Picture 3"/>
          <p:cNvPicPr>
            <a:picLocks noChangeAspect="1"/>
          </p:cNvPicPr>
          <p:nvPr/>
        </p:nvPicPr>
        <p:blipFill>
          <a:blip r:embed="rId1"/>
          <a:stretch>
            <a:fillRect/>
          </a:stretch>
        </p:blipFill>
        <p:spPr>
          <a:xfrm>
            <a:off x="93345" y="4138295"/>
            <a:ext cx="3375025" cy="967105"/>
          </a:xfrm>
          <a:prstGeom prst="rect">
            <a:avLst/>
          </a:prstGeom>
        </p:spPr>
      </p:pic>
      <p:sp>
        <p:nvSpPr>
          <p:cNvPr id="5" name="椭圆 4"/>
          <p:cNvSpPr/>
          <p:nvPr/>
        </p:nvSpPr>
        <p:spPr>
          <a:xfrm>
            <a:off x="1395663" y="4877631"/>
            <a:ext cx="665680" cy="26604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780998" y="4698475"/>
            <a:ext cx="1856598" cy="307777"/>
          </a:xfrm>
          <a:prstGeom prst="rect">
            <a:avLst/>
          </a:prstGeom>
          <a:noFill/>
        </p:spPr>
        <p:txBody>
          <a:bodyPr wrap="none" rtlCol="0">
            <a:spAutoFit/>
          </a:bodyPr>
          <a:lstStyle/>
          <a:p>
            <a:r>
              <a:rPr lang="en-US" altLang="zh-CN"/>
              <a:t>VS Code right corner</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Source File Character Set Encoding Declarations</a:t>
            </a:r>
            <a:endParaRPr lang="zh-CN" altLang="en-US"/>
          </a:p>
        </p:txBody>
      </p:sp>
      <p:sp>
        <p:nvSpPr>
          <p:cNvPr id="3" name="文本占位符 2"/>
          <p:cNvSpPr>
            <a:spLocks noGrp="1"/>
          </p:cNvSpPr>
          <p:nvPr>
            <p:ph type="body" idx="1"/>
          </p:nvPr>
        </p:nvSpPr>
        <p:spPr>
          <a:xfrm>
            <a:off x="311700" y="1152475"/>
            <a:ext cx="8520600" cy="2782021"/>
          </a:xfrm>
        </p:spPr>
        <p:txBody>
          <a:bodyPr numCol="2">
            <a:normAutofit/>
          </a:bodyPr>
          <a:lstStyle/>
          <a:p>
            <a:r>
              <a:rPr lang="en-US" altLang="zh-CN" sz="1400" dirty="0">
                <a:solidFill>
                  <a:schemeClr val="bg2"/>
                </a:solidFill>
              </a:rPr>
              <a:t>最后，Unicode 转义码适用于字符串文字中偶尔出现的 Unicode 字符，但如果您需要经常在字符串中嵌入非 ASCII 文本，它们可能会变得乏味。</a:t>
            </a:r>
            <a:endParaRPr lang="en-US" altLang="zh-CN" sz="1400" dirty="0">
              <a:solidFill>
                <a:schemeClr val="bg2"/>
              </a:solidFill>
            </a:endParaRPr>
          </a:p>
          <a:p>
            <a:r>
              <a:rPr lang="en-US" altLang="zh-CN" sz="1400" dirty="0">
                <a:solidFill>
                  <a:schemeClr val="bg2"/>
                </a:solidFill>
              </a:rPr>
              <a:t>为了解释您编码的字符串的内容，从而嵌入到脚本文件的文本中，Python 默认使用 UTF-8 编码，但它允许您通过包含命名所需编码的注释来更改它以支持任意字符集。</a:t>
            </a:r>
            <a:endParaRPr lang="en-US" altLang="zh-CN" sz="1400" dirty="0">
              <a:solidFill>
                <a:schemeClr val="bg2"/>
              </a:solidFill>
            </a:endParaRPr>
          </a:p>
          <a:p>
            <a:r>
              <a:rPr lang="en-US" altLang="zh-CN" sz="1400" dirty="0">
                <a:solidFill>
                  <a:schemeClr val="bg2"/>
                </a:solidFill>
              </a:rPr>
              <a:t>注释必须采用以下形式，并且必须在 Python 2.X 或 3.X 的脚本中显示为第一行或第二行：</a:t>
            </a:r>
            <a:endParaRPr lang="en-US" altLang="zh-CN" sz="1400" dirty="0">
              <a:solidFill>
                <a:schemeClr val="bg2"/>
              </a:solidFill>
            </a:endParaRPr>
          </a:p>
          <a:p>
            <a:r>
              <a:rPr lang="en-US" altLang="zh-CN" sz="1400" dirty="0">
                <a:solidFill>
                  <a:schemeClr val="bg2"/>
                </a:solidFill>
              </a:rPr>
              <a:t># -*- 编码：拉丁语-1 -*-</a:t>
            </a:r>
            <a:endParaRPr lang="en-US" altLang="zh-CN" sz="1400" dirty="0">
              <a:solidFill>
                <a:schemeClr val="bg2"/>
              </a:solidFill>
            </a:endParaRPr>
          </a:p>
          <a:p>
            <a:r>
              <a:rPr lang="en-US" altLang="zh-CN" sz="1400" dirty="0">
                <a:solidFill>
                  <a:schemeClr val="bg2"/>
                </a:solidFill>
              </a:rPr>
              <a:t>当存在这种形式的注释时，Python 将识别以给定编码原生表示的字符串。</a:t>
            </a:r>
            <a:endParaRPr lang="en-US" altLang="zh-CN" sz="1400" dirty="0">
              <a:solidFill>
                <a:schemeClr val="bg2"/>
              </a:solidFill>
            </a:endParaRPr>
          </a:p>
          <a:p>
            <a:r>
              <a:rPr lang="en-US" altLang="zh-CN" sz="1400" dirty="0">
                <a:solidFill>
                  <a:schemeClr val="bg2"/>
                </a:solidFill>
              </a:rPr>
              <a:t>这意味着您可以在文本编辑器中编辑脚本文件，该编辑器正确接受和显示重音字符和其他非 ASCII 字符，Python 将在字符串文字中正确解码它们</a:t>
            </a:r>
            <a:endParaRPr lang="en-US" altLang="zh-CN" sz="1400" dirty="0">
              <a:solidFill>
                <a:schemeClr val="bg2"/>
              </a:solidFill>
            </a:endParaRPr>
          </a:p>
        </p:txBody>
      </p:sp>
      <p:pic>
        <p:nvPicPr>
          <p:cNvPr id="4" name="Picture 3"/>
          <p:cNvPicPr>
            <a:picLocks noChangeAspect="1"/>
          </p:cNvPicPr>
          <p:nvPr/>
        </p:nvPicPr>
        <p:blipFill>
          <a:blip r:embed="rId1"/>
          <a:stretch>
            <a:fillRect/>
          </a:stretch>
        </p:blipFill>
        <p:spPr>
          <a:xfrm>
            <a:off x="93345" y="4138295"/>
            <a:ext cx="3375025" cy="967105"/>
          </a:xfrm>
          <a:prstGeom prst="rect">
            <a:avLst/>
          </a:prstGeom>
        </p:spPr>
      </p:pic>
      <p:sp>
        <p:nvSpPr>
          <p:cNvPr id="5" name="椭圆 4"/>
          <p:cNvSpPr/>
          <p:nvPr/>
        </p:nvSpPr>
        <p:spPr>
          <a:xfrm>
            <a:off x="1400108" y="4877631"/>
            <a:ext cx="665680" cy="26604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780998" y="4698475"/>
            <a:ext cx="1856598" cy="307777"/>
          </a:xfrm>
          <a:prstGeom prst="rect">
            <a:avLst/>
          </a:prstGeom>
          <a:noFill/>
        </p:spPr>
        <p:txBody>
          <a:bodyPr wrap="none" rtlCol="0">
            <a:spAutoFit/>
          </a:bodyPr>
          <a:lstStyle/>
          <a:p>
            <a:r>
              <a:rPr lang="en-US" altLang="zh-CN"/>
              <a:t>VS Code right corner</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latin typeface="Raleway" pitchFamily="34" charset="0"/>
                <a:ea typeface="Source Sans Pro" panose="020B0503030403020204" pitchFamily="34" charset="0"/>
              </a:rPr>
              <a:t>File processing</a:t>
            </a:r>
            <a:endParaRPr>
              <a:latin typeface="Raleway" pitchFamily="34" charset="0"/>
              <a:ea typeface="Source Sans Pro" panose="020B0503030403020204" pitchFamily="34" charset="0"/>
            </a:endParaRPr>
          </a:p>
        </p:txBody>
      </p:sp>
      <p:pic>
        <p:nvPicPr>
          <p:cNvPr id="1026" name="Picture 2" descr="Ubuntu Ask Community to Help Create New App Icon - OMG! Ubuntu"/>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39344" y="3161066"/>
            <a:ext cx="3419475" cy="1381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Shell</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032942"/>
            <a:ext cx="8520600" cy="1312957"/>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An </a:t>
            </a:r>
            <a:r>
              <a:rPr lang="en-US" altLang="zh-CN" sz="1400" dirty="0">
                <a:solidFill>
                  <a:schemeClr val="tx1"/>
                </a:solidFill>
                <a:latin typeface="Source Sans Pro" panose="020B0503030403020204" pitchFamily="34" charset="0"/>
                <a:ea typeface="Source Sans Pro" panose="020B0503030403020204" pitchFamily="34" charset="0"/>
              </a:rPr>
              <a:t>absolute path</a:t>
            </a:r>
            <a:r>
              <a:rPr lang="zh-CN" altLang="en-US" sz="1400" dirty="0">
                <a:solidFill>
                  <a:schemeClr val="tx1"/>
                </a:solidFill>
                <a:latin typeface="Source Sans Pro" panose="020B0503030403020204" pitchFamily="34" charset="0"/>
                <a:ea typeface="Source Sans Pro" panose="020B0503030403020204" pitchFamily="34" charset="0"/>
              </a:rPr>
              <a:t> </a:t>
            </a:r>
            <a:r>
              <a:rPr lang="en-US" altLang="zh-CN" sz="1400" dirty="0">
                <a:solidFill>
                  <a:schemeClr val="tx1"/>
                </a:solidFill>
                <a:latin typeface="Source Sans Pro" panose="020B0503030403020204" pitchFamily="34" charset="0"/>
                <a:ea typeface="Source Sans Pro" panose="020B0503030403020204" pitchFamily="34" charset="0"/>
              </a:rPr>
              <a:t>(</a:t>
            </a:r>
            <a:r>
              <a:rPr lang="zh-CN" altLang="en-US" sz="1400" dirty="0">
                <a:solidFill>
                  <a:schemeClr val="tx1"/>
                </a:solidFill>
                <a:latin typeface="Source Sans Pro" panose="020B0503030403020204" pitchFamily="34" charset="0"/>
                <a:ea typeface="Source Sans Pro" panose="020B0503030403020204" pitchFamily="34" charset="0"/>
              </a:rPr>
              <a:t>绝对路径</a:t>
            </a:r>
            <a:r>
              <a:rPr lang="en-US" altLang="zh-CN" sz="1400" dirty="0">
                <a:solidFill>
                  <a:schemeClr val="tx1"/>
                </a:solidFill>
                <a:latin typeface="Source Sans Pro" panose="020B0503030403020204" pitchFamily="34" charset="0"/>
                <a:ea typeface="Source Sans Pro" panose="020B0503030403020204" pitchFamily="34" charset="0"/>
              </a:rPr>
              <a:t>)</a:t>
            </a:r>
            <a:r>
              <a:rPr lang="en-US" altLang="zh-CN" sz="1400" dirty="0">
                <a:solidFill>
                  <a:schemeClr val="bg2"/>
                </a:solidFill>
                <a:latin typeface="Source Sans Pro" panose="020B0503030403020204" pitchFamily="34" charset="0"/>
                <a:ea typeface="Source Sans Pro" panose="020B0503030403020204" pitchFamily="34" charset="0"/>
              </a:rPr>
              <a:t>, which always begins with the root folder (C:\windows\....\</a:t>
            </a:r>
            <a:r>
              <a:rPr lang="en-US" altLang="zh-CN" sz="1400" dirty="0" err="1">
                <a:solidFill>
                  <a:schemeClr val="bg2"/>
                </a:solidFill>
                <a:latin typeface="Source Sans Pro" panose="020B0503030403020204" pitchFamily="34" charset="0"/>
                <a:ea typeface="Source Sans Pro" panose="020B0503030403020204" pitchFamily="34" charset="0"/>
              </a:rPr>
              <a:t>a.txt</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A </a:t>
            </a:r>
            <a:r>
              <a:rPr lang="en-US" altLang="zh-CN" sz="1400" dirty="0">
                <a:solidFill>
                  <a:schemeClr val="tx1"/>
                </a:solidFill>
                <a:latin typeface="Source Sans Pro" panose="020B0503030403020204" pitchFamily="34" charset="0"/>
                <a:ea typeface="Source Sans Pro" panose="020B0503030403020204" pitchFamily="34" charset="0"/>
              </a:rPr>
              <a:t>relative path</a:t>
            </a:r>
            <a:r>
              <a:rPr lang="zh-CN" altLang="en-US" sz="1400" dirty="0">
                <a:solidFill>
                  <a:schemeClr val="tx1"/>
                </a:solidFill>
                <a:latin typeface="Source Sans Pro" panose="020B0503030403020204" pitchFamily="34" charset="0"/>
                <a:ea typeface="Source Sans Pro" panose="020B0503030403020204" pitchFamily="34" charset="0"/>
              </a:rPr>
              <a:t> </a:t>
            </a:r>
            <a:r>
              <a:rPr lang="en-US" altLang="zh-CN" sz="1400" dirty="0">
                <a:solidFill>
                  <a:schemeClr val="tx1"/>
                </a:solidFill>
                <a:latin typeface="Source Sans Pro" panose="020B0503030403020204" pitchFamily="34" charset="0"/>
                <a:ea typeface="Source Sans Pro" panose="020B0503030403020204" pitchFamily="34" charset="0"/>
              </a:rPr>
              <a:t>(</a:t>
            </a:r>
            <a:r>
              <a:rPr lang="zh-CN" altLang="en-US" sz="1400" dirty="0">
                <a:solidFill>
                  <a:schemeClr val="tx1"/>
                </a:solidFill>
                <a:latin typeface="Source Sans Pro" panose="020B0503030403020204" pitchFamily="34" charset="0"/>
                <a:ea typeface="Source Sans Pro" panose="020B0503030403020204" pitchFamily="34" charset="0"/>
              </a:rPr>
              <a:t>相对路径</a:t>
            </a:r>
            <a:r>
              <a:rPr lang="en-US" altLang="zh-CN" sz="1400" dirty="0">
                <a:solidFill>
                  <a:schemeClr val="tx1"/>
                </a:solidFill>
                <a:latin typeface="Source Sans Pro" panose="020B0503030403020204" pitchFamily="34" charset="0"/>
                <a:ea typeface="Source Sans Pro" panose="020B0503030403020204" pitchFamily="34" charset="0"/>
              </a:rPr>
              <a:t>)</a:t>
            </a:r>
            <a:r>
              <a:rPr lang="en-US" altLang="zh-CN" sz="1400" dirty="0">
                <a:solidFill>
                  <a:schemeClr val="bg2"/>
                </a:solidFill>
                <a:latin typeface="Source Sans Pro" panose="020B0503030403020204" pitchFamily="34" charset="0"/>
                <a:ea typeface="Source Sans Pro" panose="020B0503030403020204" pitchFamily="34" charset="0"/>
              </a:rPr>
              <a:t>, which is relative to the program’s current working directory (.\a\</a:t>
            </a:r>
            <a:r>
              <a:rPr lang="en-US" altLang="zh-CN" sz="1400" dirty="0" err="1">
                <a:solidFill>
                  <a:schemeClr val="bg2"/>
                </a:solidFill>
                <a:latin typeface="Source Sans Pro" panose="020B0503030403020204" pitchFamily="34" charset="0"/>
                <a:ea typeface="Source Sans Pro" panose="020B0503030403020204" pitchFamily="34" charset="0"/>
              </a:rPr>
              <a:t>b.txt</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Run python program via shell:  </a:t>
            </a:r>
            <a:r>
              <a:rPr lang="en-US" altLang="zh-CN" sz="1400" dirty="0">
                <a:solidFill>
                  <a:schemeClr val="tx1"/>
                </a:solidFill>
                <a:latin typeface="Source Sans Pro" panose="020B0503030403020204" pitchFamily="34" charset="0"/>
                <a:ea typeface="Source Sans Pro" panose="020B0503030403020204" pitchFamily="34" charset="0"/>
              </a:rPr>
              <a:t>python</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tx1"/>
                </a:solidFill>
                <a:latin typeface="Source Sans Pro" panose="020B0503030403020204" pitchFamily="34" charset="0"/>
                <a:ea typeface="Source Sans Pro" panose="020B0503030403020204" pitchFamily="34" charset="0"/>
              </a:rPr>
              <a:t>filename.py</a:t>
            </a:r>
            <a:r>
              <a:rPr lang="en-US" altLang="zh-CN" sz="1400" dirty="0">
                <a:solidFill>
                  <a:schemeClr val="tx1"/>
                </a:solidFill>
                <a:latin typeface="Source Sans Pro" panose="020B0503030403020204" pitchFamily="34" charset="0"/>
                <a:ea typeface="Source Sans Pro" panose="020B0503030403020204" pitchFamily="34" charset="0"/>
              </a:rPr>
              <a:t> </a:t>
            </a:r>
            <a:endParaRPr lang="en-US" altLang="zh-CN" sz="1400" dirty="0">
              <a:solidFill>
                <a:schemeClr val="tx1"/>
              </a:solidFill>
              <a:latin typeface="Source Sans Pro" panose="020B0503030403020204" pitchFamily="34" charset="0"/>
              <a:ea typeface="Source Sans Pro" panose="020B0503030403020204" pitchFamily="34" charset="0"/>
            </a:endParaRPr>
          </a:p>
          <a:p>
            <a:pPr lvl="1">
              <a:lnSpc>
                <a:spcPct val="120000"/>
              </a:lnSpc>
            </a:pPr>
            <a:r>
              <a:rPr lang="en-US" altLang="zh-CN" sz="1200" dirty="0" err="1">
                <a:solidFill>
                  <a:schemeClr val="bg2"/>
                </a:solidFill>
                <a:latin typeface="Source Sans Pro" panose="020B0503030403020204" pitchFamily="34" charset="0"/>
                <a:ea typeface="Source Sans Pro" panose="020B0503030403020204" pitchFamily="34" charset="0"/>
              </a:rPr>
              <a:t>filename.py</a:t>
            </a:r>
            <a:r>
              <a:rPr lang="en-US" altLang="zh-CN" sz="1200" dirty="0">
                <a:solidFill>
                  <a:schemeClr val="bg2"/>
                </a:solidFill>
                <a:latin typeface="Source Sans Pro" panose="020B0503030403020204" pitchFamily="34" charset="0"/>
                <a:ea typeface="Source Sans Pro" panose="020B0503030403020204" pitchFamily="34" charset="0"/>
              </a:rPr>
              <a:t> should be in the current working directory (</a:t>
            </a:r>
            <a:r>
              <a:rPr lang="zh-CN" altLang="en-US" sz="1200" dirty="0">
                <a:solidFill>
                  <a:schemeClr val="bg2"/>
                </a:solidFill>
                <a:latin typeface="Source Sans Pro" panose="020B0503030403020204" pitchFamily="34" charset="0"/>
                <a:ea typeface="黑体" panose="02010609060101010101" pitchFamily="49" charset="-122"/>
              </a:rPr>
              <a:t>当前工作目录</a:t>
            </a:r>
            <a:r>
              <a:rPr lang="en-US" altLang="zh-CN" sz="1200" dirty="0">
                <a:solidFill>
                  <a:schemeClr val="bg2"/>
                </a:solidFill>
                <a:latin typeface="Source Sans Pro" panose="020B0503030403020204" pitchFamily="34" charset="0"/>
                <a:ea typeface="Source Sans Pro" panose="020B0503030403020204" pitchFamily="34" charset="0"/>
              </a:rPr>
              <a:t>)</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Or python C:\</a:t>
            </a:r>
            <a:r>
              <a:rPr lang="en-US" altLang="zh-CN" sz="1200" dirty="0" err="1">
                <a:solidFill>
                  <a:schemeClr val="bg2"/>
                </a:solidFill>
                <a:latin typeface="Source Sans Pro" panose="020B0503030403020204" pitchFamily="34" charset="0"/>
                <a:ea typeface="Source Sans Pro" panose="020B0503030403020204" pitchFamily="34" charset="0"/>
              </a:rPr>
              <a:t>xxxx</a:t>
            </a:r>
            <a:r>
              <a:rPr lang="en-US" altLang="zh-CN" sz="1200" dirty="0">
                <a:solidFill>
                  <a:schemeClr val="bg2"/>
                </a:solidFill>
                <a:latin typeface="Source Sans Pro" panose="020B0503030403020204" pitchFamily="34" charset="0"/>
                <a:ea typeface="Source Sans Pro" panose="020B0503030403020204" pitchFamily="34" charset="0"/>
              </a:rPr>
              <a:t>\....\</a:t>
            </a:r>
            <a:r>
              <a:rPr lang="en-US" altLang="zh-CN" sz="1200" dirty="0" err="1">
                <a:solidFill>
                  <a:schemeClr val="bg2"/>
                </a:solidFill>
                <a:latin typeface="Source Sans Pro" panose="020B0503030403020204" pitchFamily="34" charset="0"/>
                <a:ea typeface="Source Sans Pro" panose="020B0503030403020204" pitchFamily="34" charset="0"/>
              </a:rPr>
              <a:t>filename.py</a:t>
            </a:r>
            <a:r>
              <a:rPr lang="en-US" altLang="zh-CN" sz="1200" dirty="0">
                <a:solidFill>
                  <a:schemeClr val="bg2"/>
                </a:solidFill>
                <a:latin typeface="Source Sans Pro" panose="020B0503030403020204" pitchFamily="34" charset="0"/>
                <a:ea typeface="Source Sans Pro" panose="020B0503030403020204" pitchFamily="34" charset="0"/>
              </a:rPr>
              <a:t> (</a:t>
            </a:r>
            <a:r>
              <a:rPr lang="zh-CN" altLang="en-US" sz="1200" dirty="0">
                <a:solidFill>
                  <a:schemeClr val="bg2"/>
                </a:solidFill>
                <a:latin typeface="Source Sans Pro" panose="020B0503030403020204" pitchFamily="34" charset="0"/>
                <a:ea typeface="黑体" panose="02010609060101010101" pitchFamily="49" charset="-122"/>
              </a:rPr>
              <a:t>绝对路径</a:t>
            </a:r>
            <a:r>
              <a:rPr lang="en-US" altLang="zh-CN" sz="1200" dirty="0">
                <a:solidFill>
                  <a:schemeClr val="bg2"/>
                </a:solidFill>
                <a:latin typeface="Source Sans Pro" panose="020B0503030403020204" pitchFamily="34" charset="0"/>
                <a:ea typeface="Source Sans Pro" panose="020B0503030403020204" pitchFamily="34" charset="0"/>
              </a:rPr>
              <a:t>)</a:t>
            </a:r>
            <a:endParaRPr lang="en-US" altLang="zh-CN" sz="1200" dirty="0">
              <a:solidFill>
                <a:schemeClr val="bg2"/>
              </a:solidFill>
              <a:latin typeface="Source Sans Pro" panose="020B0503030403020204" pitchFamily="34" charset="0"/>
              <a:ea typeface="Source Sans Pro" panose="020B0503030403020204" pitchFamily="34" charset="0"/>
            </a:endParaRPr>
          </a:p>
        </p:txBody>
      </p:sp>
      <p:sp>
        <p:nvSpPr>
          <p:cNvPr id="4" name="文本框 3"/>
          <p:cNvSpPr txBox="1"/>
          <p:nvPr/>
        </p:nvSpPr>
        <p:spPr>
          <a:xfrm>
            <a:off x="7291697" y="4017839"/>
            <a:ext cx="1775301" cy="646331"/>
          </a:xfrm>
          <a:prstGeom prst="rect">
            <a:avLst/>
          </a:prstGeom>
          <a:solidFill>
            <a:srgbClr val="FFF7CC"/>
          </a:solidFill>
        </p:spPr>
        <p:txBody>
          <a:bodyPr wrap="square" rtlCol="0">
            <a:spAutoFit/>
          </a:bodyPr>
          <a:lstStyle/>
          <a:p>
            <a:r>
              <a:rPr lang="zh-CN" altLang="en-US" sz="1200">
                <a:solidFill>
                  <a:schemeClr val="tx1"/>
                </a:solidFill>
                <a:latin typeface="Source Sans Pro" panose="020B0503030403020204" pitchFamily="34" charset="0"/>
                <a:ea typeface="黑体" panose="02010609060101010101" pitchFamily="49" charset="-122"/>
              </a:rPr>
              <a:t>绝对路径  </a:t>
            </a:r>
            <a:r>
              <a:rPr lang="en-US" altLang="zh-CN" sz="1200">
                <a:solidFill>
                  <a:schemeClr val="tx1"/>
                </a:solidFill>
                <a:latin typeface="Source Sans Pro" panose="020B0503030403020204" pitchFamily="34" charset="0"/>
                <a:ea typeface="Source Sans Pro" panose="020B0503030403020204" pitchFamily="34" charset="0"/>
              </a:rPr>
              <a:t>VS  </a:t>
            </a:r>
            <a:r>
              <a:rPr lang="zh-CN" altLang="en-US" sz="1200">
                <a:solidFill>
                  <a:schemeClr val="tx1"/>
                </a:solidFill>
                <a:latin typeface="Source Sans Pro" panose="020B0503030403020204" pitchFamily="34" charset="0"/>
                <a:ea typeface="黑体" panose="02010609060101010101" pitchFamily="49" charset="-122"/>
              </a:rPr>
              <a:t>相对路径</a:t>
            </a:r>
            <a:endParaRPr lang="zh-CN" altLang="en-US" sz="1200">
              <a:solidFill>
                <a:schemeClr val="tx1"/>
              </a:solidFill>
              <a:latin typeface="Source Sans Pro" panose="020B0503030403020204" pitchFamily="34" charset="0"/>
              <a:ea typeface="黑体" panose="02010609060101010101" pitchFamily="49" charset="-122"/>
            </a:endParaRPr>
          </a:p>
          <a:p>
            <a:r>
              <a:rPr lang="en-US" altLang="zh-CN" sz="1200">
                <a:solidFill>
                  <a:schemeClr val="bg2"/>
                </a:solidFill>
                <a:latin typeface="Source Sans Pro" panose="020B0503030403020204" pitchFamily="34" charset="0"/>
                <a:ea typeface="Source Sans Pro" panose="020B0503030403020204" pitchFamily="34" charset="0"/>
              </a:rPr>
              <a:t>Shell</a:t>
            </a:r>
            <a:r>
              <a:rPr lang="zh-CN" altLang="en-US" sz="1200">
                <a:solidFill>
                  <a:schemeClr val="bg2"/>
                </a:solidFill>
                <a:latin typeface="Source Sans Pro" panose="020B0503030403020204" pitchFamily="34" charset="0"/>
                <a:ea typeface="黑体" panose="02010609060101010101" pitchFamily="49" charset="-122"/>
              </a:rPr>
              <a:t>中，路径名有空格用‘’包起来处理</a:t>
            </a:r>
            <a:endParaRPr lang="zh-CN" altLang="en-US" sz="1200">
              <a:solidFill>
                <a:schemeClr val="bg2"/>
              </a:solidFill>
              <a:latin typeface="Source Sans Pro" panose="020B0503030403020204" pitchFamily="34" charset="0"/>
              <a:ea typeface="黑体" panose="02010609060101010101" pitchFamily="49" charset="-122"/>
            </a:endParaRPr>
          </a:p>
        </p:txBody>
      </p:sp>
      <p:pic>
        <p:nvPicPr>
          <p:cNvPr id="7" name="Picture 11"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0101" y="3314508"/>
            <a:ext cx="1238178" cy="1348672"/>
          </a:xfrm>
          <a:prstGeom prst="rect">
            <a:avLst/>
          </a:prstGeom>
        </p:spPr>
      </p:pic>
      <p:pic>
        <p:nvPicPr>
          <p:cNvPr id="9" name="Picture 2"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5730" y="2385907"/>
            <a:ext cx="5020325" cy="1069905"/>
          </a:xfrm>
          <a:prstGeom prst="rect">
            <a:avLst/>
          </a:prstGeom>
        </p:spPr>
      </p:pic>
      <p:pic>
        <p:nvPicPr>
          <p:cNvPr id="10"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5730" y="3598525"/>
            <a:ext cx="5621870" cy="236213"/>
          </a:xfrm>
          <a:prstGeom prst="rect">
            <a:avLst/>
          </a:prstGeom>
        </p:spPr>
      </p:pic>
      <p:pic>
        <p:nvPicPr>
          <p:cNvPr id="11" name="Picture 7" descr="Text&#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9827" y="4053302"/>
            <a:ext cx="5621870" cy="859924"/>
          </a:xfrm>
          <a:prstGeom prst="rect">
            <a:avLst/>
          </a:prstGeom>
        </p:spPr>
      </p:pic>
      <p:sp>
        <p:nvSpPr>
          <p:cNvPr id="12" name="TextBox 4"/>
          <p:cNvSpPr txBox="1"/>
          <p:nvPr/>
        </p:nvSpPr>
        <p:spPr>
          <a:xfrm>
            <a:off x="1715730" y="2359179"/>
            <a:ext cx="4242308" cy="252000"/>
          </a:xfrm>
          <a:prstGeom prst="rect">
            <a:avLst/>
          </a:prstGeom>
          <a:noFill/>
          <a:ln w="19050">
            <a:solidFill>
              <a:srgbClr val="C00000"/>
            </a:solidFill>
          </a:ln>
        </p:spPr>
        <p:txBody>
          <a:bodyPr wrap="square">
            <a:spAutoFit/>
          </a:bodyPr>
          <a:lstStyle/>
          <a:p>
            <a:endParaRPr lang="zh-CN" altLang="en-US"/>
          </a:p>
        </p:txBody>
      </p:sp>
      <p:sp>
        <p:nvSpPr>
          <p:cNvPr id="13" name="TextBox 6"/>
          <p:cNvSpPr txBox="1"/>
          <p:nvPr/>
        </p:nvSpPr>
        <p:spPr>
          <a:xfrm>
            <a:off x="1669827" y="3988844"/>
            <a:ext cx="2427946" cy="252000"/>
          </a:xfrm>
          <a:prstGeom prst="rect">
            <a:avLst/>
          </a:prstGeom>
          <a:noFill/>
          <a:ln w="19050">
            <a:solidFill>
              <a:srgbClr val="C00000"/>
            </a:solidFill>
          </a:ln>
        </p:spPr>
        <p:txBody>
          <a:bodyPr wrap="square">
            <a:spAutoFit/>
          </a:bodyPr>
          <a:lstStyle/>
          <a:p>
            <a:endParaRPr lang="zh-CN" altLang="en-US"/>
          </a:p>
        </p:txBody>
      </p:sp>
      <p:sp>
        <p:nvSpPr>
          <p:cNvPr id="14" name="TextBox 15"/>
          <p:cNvSpPr txBox="1"/>
          <p:nvPr/>
        </p:nvSpPr>
        <p:spPr>
          <a:xfrm>
            <a:off x="1669827" y="3510390"/>
            <a:ext cx="2829983" cy="252000"/>
          </a:xfrm>
          <a:prstGeom prst="rect">
            <a:avLst/>
          </a:prstGeom>
          <a:noFill/>
          <a:ln w="19050">
            <a:solidFill>
              <a:srgbClr val="C00000"/>
            </a:solidFill>
          </a:ln>
        </p:spPr>
        <p:txBody>
          <a:bodyPr wrap="square">
            <a:spAutoFit/>
          </a:bodyPr>
          <a:lstStyle/>
          <a:p>
            <a:endParaRPr lang="zh-CN" altLang="en-US"/>
          </a:p>
        </p:txBody>
      </p:sp>
      <p:pic>
        <p:nvPicPr>
          <p:cNvPr id="16" name="图片 15" descr="文本&#10;&#10;描述已自动生成"/>
          <p:cNvPicPr>
            <a:picLocks noChangeAspect="1"/>
          </p:cNvPicPr>
          <p:nvPr/>
        </p:nvPicPr>
        <p:blipFill>
          <a:blip r:embed="rId5"/>
          <a:stretch>
            <a:fillRect/>
          </a:stretch>
        </p:blipFill>
        <p:spPr>
          <a:xfrm>
            <a:off x="165398" y="2571750"/>
            <a:ext cx="1427584" cy="38416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Shell: parameter</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501541"/>
            <a:ext cx="8520600" cy="418699"/>
          </a:xfrm>
        </p:spPr>
        <p:txBody>
          <a:bodyPr>
            <a:noAutofit/>
          </a:bodyPr>
          <a:lstStyle/>
          <a:p>
            <a:pPr>
              <a:lnSpc>
                <a:spcPct val="120000"/>
              </a:lnSpc>
            </a:pPr>
            <a:r>
              <a:rPr lang="en-US" altLang="zh-CN" sz="1400">
                <a:solidFill>
                  <a:schemeClr val="bg2"/>
                </a:solidFill>
                <a:latin typeface="Source Sans Pro" panose="020B0503030403020204" pitchFamily="34" charset="0"/>
                <a:ea typeface="Source Sans Pro" panose="020B0503030403020204" pitchFamily="34" charset="0"/>
              </a:rPr>
              <a:t>Run python program via shell with parameters:  </a:t>
            </a:r>
            <a:endParaRPr lang="en-US" altLang="zh-CN" sz="1400">
              <a:solidFill>
                <a:schemeClr val="bg2"/>
              </a:solidFill>
              <a:latin typeface="Source Sans Pro" panose="020B0503030403020204" pitchFamily="34" charset="0"/>
              <a:ea typeface="Source Sans Pro" panose="020B0503030403020204" pitchFamily="34" charset="0"/>
            </a:endParaRPr>
          </a:p>
        </p:txBody>
      </p:sp>
      <p:pic>
        <p:nvPicPr>
          <p:cNvPr id="9" name="Picture 4" descr="Graphical user interface, text, email&#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3451" y="2004290"/>
            <a:ext cx="5420103" cy="2424519"/>
          </a:xfrm>
          <a:prstGeom prst="rect">
            <a:avLst/>
          </a:prstGeom>
        </p:spPr>
      </p:pic>
      <p:sp>
        <p:nvSpPr>
          <p:cNvPr id="5" name="文本框 4"/>
          <p:cNvSpPr txBox="1"/>
          <p:nvPr/>
        </p:nvSpPr>
        <p:spPr>
          <a:xfrm>
            <a:off x="6411388" y="2754884"/>
            <a:ext cx="2179161" cy="461665"/>
          </a:xfrm>
          <a:prstGeom prst="rect">
            <a:avLst/>
          </a:prstGeom>
          <a:solidFill>
            <a:srgbClr val="FFF7CC"/>
          </a:solidFill>
        </p:spPr>
        <p:txBody>
          <a:bodyPr wrap="square" rtlCol="0">
            <a:spAutoFit/>
          </a:bodyPr>
          <a:lstStyle/>
          <a:p>
            <a:r>
              <a:rPr lang="zh-CN" altLang="en-US" sz="1200">
                <a:solidFill>
                  <a:schemeClr val="bg2"/>
                </a:solidFill>
                <a:latin typeface="Source Sans Pro" panose="020B0503030403020204" pitchFamily="34" charset="0"/>
                <a:ea typeface="黑体" panose="02010609060101010101" pitchFamily="49" charset="-122"/>
              </a:rPr>
              <a:t>如果出现</a:t>
            </a:r>
            <a:r>
              <a:rPr lang="en-US" altLang="zh-CN" sz="1200">
                <a:solidFill>
                  <a:schemeClr val="bg2"/>
                </a:solidFill>
                <a:latin typeface="Source Sans Pro" panose="020B0503030403020204" pitchFamily="34" charset="0"/>
                <a:ea typeface="Source Sans Pro" panose="020B0503030403020204" pitchFamily="34" charset="0"/>
              </a:rPr>
              <a:t>shell</a:t>
            </a:r>
            <a:r>
              <a:rPr lang="zh-CN" altLang="en-US" sz="1200">
                <a:solidFill>
                  <a:schemeClr val="bg2"/>
                </a:solidFill>
                <a:latin typeface="Source Sans Pro" panose="020B0503030403020204" pitchFamily="34" charset="0"/>
                <a:ea typeface="黑体" panose="02010609060101010101" pitchFamily="49" charset="-122"/>
              </a:rPr>
              <a:t>错误，检查</a:t>
            </a:r>
            <a:r>
              <a:rPr lang="en-US" altLang="zh-CN" sz="1200">
                <a:solidFill>
                  <a:schemeClr val="bg2"/>
                </a:solidFill>
                <a:latin typeface="Source Sans Pro" panose="020B0503030403020204" pitchFamily="34" charset="0"/>
                <a:ea typeface="Source Sans Pro" panose="020B0503030403020204" pitchFamily="34" charset="0"/>
              </a:rPr>
              <a:t>python</a:t>
            </a:r>
            <a:r>
              <a:rPr lang="zh-CN" altLang="en-US" sz="1200">
                <a:solidFill>
                  <a:schemeClr val="bg2"/>
                </a:solidFill>
                <a:latin typeface="Source Sans Pro" panose="020B0503030403020204" pitchFamily="34" charset="0"/>
                <a:ea typeface="黑体" panose="02010609060101010101" pitchFamily="49" charset="-122"/>
              </a:rPr>
              <a:t>文件是否在当前目录</a:t>
            </a:r>
            <a:endParaRPr lang="zh-CN" altLang="en-US" sz="1200">
              <a:solidFill>
                <a:schemeClr val="bg2"/>
              </a:solidFill>
              <a:latin typeface="Source Sans Pro" panose="020B0503030403020204" pitchFamily="34" charset="0"/>
              <a:ea typeface="黑体" panose="02010609060101010101" pitchFamily="49" charset="-122"/>
            </a:endParaRPr>
          </a:p>
        </p:txBody>
      </p:sp>
      <p:sp>
        <p:nvSpPr>
          <p:cNvPr id="8" name="文本框 3"/>
          <p:cNvSpPr txBox="1"/>
          <p:nvPr/>
        </p:nvSpPr>
        <p:spPr>
          <a:xfrm>
            <a:off x="559932" y="1111066"/>
            <a:ext cx="8088747" cy="307777"/>
          </a:xfrm>
          <a:prstGeom prst="rect">
            <a:avLst/>
          </a:prstGeom>
          <a:solidFill>
            <a:srgbClr val="7030A0"/>
          </a:solidFill>
        </p:spPr>
        <p:txBody>
          <a:bodyPr wrap="square" rtlCol="0">
            <a:spAutoFit/>
          </a:bodyPr>
          <a:lstStyle/>
          <a:p>
            <a:r>
              <a:rPr lang="en-US" altLang="zh-CN">
                <a:solidFill>
                  <a:schemeClr val="bg1"/>
                </a:solidFill>
                <a:latin typeface="Source Sans Pro" panose="020B0503030403020204" pitchFamily="34" charset="0"/>
                <a:ea typeface="Source Sans Pro" panose="020B0503030403020204" pitchFamily="34" charset="0"/>
              </a:rPr>
              <a:t>python filename.py parameter1 parameter2 parameter3 …</a:t>
            </a:r>
            <a:endParaRPr lang="en-US" altLang="zh-CN">
              <a:solidFill>
                <a:schemeClr val="bg1"/>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Ubuntu</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559293"/>
            <a:ext cx="8520600" cy="3009582"/>
          </a:xfrm>
        </p:spPr>
        <p:txBody>
          <a:bodyPr>
            <a:noAutofit/>
          </a:bodyPr>
          <a:lstStyle/>
          <a:p>
            <a:pPr>
              <a:lnSpc>
                <a:spcPct val="120000"/>
              </a:lnSpc>
            </a:pPr>
            <a:r>
              <a:rPr lang="en-US" altLang="zh-CN" sz="1400" dirty="0">
                <a:solidFill>
                  <a:schemeClr val="tx1"/>
                </a:solidFill>
                <a:latin typeface="Source Sans Pro" panose="020B0503030403020204" pitchFamily="34" charset="0"/>
                <a:ea typeface="Source Sans Pro" panose="020B0503030403020204" pitchFamily="34" charset="0"/>
              </a:rPr>
              <a:t>https://</a:t>
            </a:r>
            <a:r>
              <a:rPr lang="en-US" altLang="zh-CN" sz="1400" dirty="0" err="1">
                <a:solidFill>
                  <a:schemeClr val="tx1"/>
                </a:solidFill>
                <a:latin typeface="Source Sans Pro" panose="020B0503030403020204" pitchFamily="34" charset="0"/>
                <a:ea typeface="Source Sans Pro" panose="020B0503030403020204" pitchFamily="34" charset="0"/>
              </a:rPr>
              <a:t>ubuntu.com</a:t>
            </a:r>
            <a:r>
              <a:rPr lang="en-US" altLang="zh-CN" sz="1400" dirty="0">
                <a:solidFill>
                  <a:schemeClr val="tx1"/>
                </a:solidFill>
                <a:latin typeface="Source Sans Pro" panose="020B0503030403020204" pitchFamily="34" charset="0"/>
                <a:ea typeface="Source Sans Pro" panose="020B0503030403020204" pitchFamily="34" charset="0"/>
              </a:rPr>
              <a:t>/</a:t>
            </a:r>
            <a:endParaRPr lang="en-US" altLang="zh-CN" sz="1400" dirty="0">
              <a:solidFill>
                <a:schemeClr val="tx1"/>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练习用它来替代</a:t>
            </a:r>
            <a:r>
              <a:rPr lang="en-US" altLang="zh-CN" sz="1400" dirty="0">
                <a:solidFill>
                  <a:schemeClr val="bg2"/>
                </a:solidFill>
                <a:latin typeface="Source Sans Pro" panose="020B0503030403020204" pitchFamily="34" charset="0"/>
                <a:ea typeface="Source Sans Pro" panose="020B0503030403020204" pitchFamily="34" charset="0"/>
              </a:rPr>
              <a:t>windows</a:t>
            </a:r>
            <a:r>
              <a:rPr lang="zh-CN" altLang="en-US" sz="1400" dirty="0">
                <a:solidFill>
                  <a:schemeClr val="bg2"/>
                </a:solidFill>
                <a:latin typeface="Source Sans Pro" panose="020B0503030403020204" pitchFamily="34" charset="0"/>
                <a:ea typeface="黑体" panose="02010609060101010101" pitchFamily="49" charset="-122"/>
              </a:rPr>
              <a:t>做一切事情</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写报告，写代码等等</a:t>
            </a:r>
            <a:endParaRPr lang="zh-CN" altLang="en-US" sz="1400" dirty="0">
              <a:solidFill>
                <a:schemeClr val="bg2"/>
              </a:solidFill>
              <a:latin typeface="Source Sans Pro" panose="020B0503030403020204" pitchFamily="34" charset="0"/>
              <a:ea typeface="黑体" panose="02010609060101010101" pitchFamily="49" charset="-122"/>
            </a:endParaRPr>
          </a:p>
          <a:p>
            <a:pPr lvl="1">
              <a:lnSpc>
                <a:spcPct val="120000"/>
              </a:lnSpc>
            </a:pPr>
            <a:r>
              <a:rPr lang="en-US" altLang="zh-CN" sz="1200" dirty="0">
                <a:solidFill>
                  <a:schemeClr val="tx1"/>
                </a:solidFill>
                <a:latin typeface="Source Sans Pro" panose="020B0503030403020204" pitchFamily="34" charset="0"/>
                <a:ea typeface="Source Sans Pro" panose="020B0503030403020204" pitchFamily="34" charset="0"/>
              </a:rPr>
              <a:t>C++</a:t>
            </a:r>
            <a:endParaRPr lang="en-US" altLang="zh-CN" sz="1200" dirty="0">
              <a:solidFill>
                <a:schemeClr val="tx1"/>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tx1"/>
                </a:solidFill>
                <a:latin typeface="Source Sans Pro" panose="020B0503030403020204" pitchFamily="34" charset="0"/>
                <a:ea typeface="Source Sans Pro" panose="020B0503030403020204" pitchFamily="34" charset="0"/>
              </a:rPr>
              <a:t>Python</a:t>
            </a:r>
            <a:endParaRPr lang="en-US" altLang="zh-CN" sz="1200" dirty="0">
              <a:solidFill>
                <a:schemeClr val="tx1"/>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tx1"/>
                </a:solidFill>
                <a:latin typeface="Source Sans Pro" panose="020B0503030403020204" pitchFamily="34" charset="0"/>
                <a:ea typeface="Source Sans Pro" panose="020B0503030403020204" pitchFamily="34" charset="0"/>
              </a:rPr>
              <a:t>Shell</a:t>
            </a:r>
            <a:endParaRPr lang="en-US" altLang="zh-CN" sz="1200" dirty="0">
              <a:solidFill>
                <a:schemeClr val="tx1"/>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tx1"/>
                </a:solidFill>
                <a:latin typeface="Source Sans Pro" panose="020B0503030403020204" pitchFamily="34" charset="0"/>
                <a:ea typeface="Source Sans Pro" panose="020B0503030403020204" pitchFamily="34" charset="0"/>
              </a:rPr>
              <a:t>Office</a:t>
            </a:r>
            <a:r>
              <a:rPr lang="zh-CN" altLang="en-US" sz="1200" dirty="0">
                <a:solidFill>
                  <a:schemeClr val="tx1"/>
                </a:solidFill>
                <a:latin typeface="Source Sans Pro" panose="020B0503030403020204" pitchFamily="34" charset="0"/>
                <a:ea typeface="黑体" panose="02010609060101010101" pitchFamily="49" charset="-122"/>
              </a:rPr>
              <a:t>等等</a:t>
            </a:r>
            <a:endParaRPr lang="zh-CN" altLang="en-US" sz="1200" dirty="0">
              <a:solidFill>
                <a:schemeClr val="tx1"/>
              </a:solidFill>
              <a:latin typeface="Source Sans Pro" panose="020B0503030403020204" pitchFamily="34" charset="0"/>
              <a:ea typeface="黑体" panose="02010609060101010101" pitchFamily="49" charset="-122"/>
            </a:endParaRPr>
          </a:p>
          <a:p>
            <a:pPr>
              <a:lnSpc>
                <a:spcPct val="120000"/>
              </a:lnSpc>
            </a:pPr>
            <a:r>
              <a:rPr lang="zh-CN" altLang="en-US" sz="1400" dirty="0">
                <a:solidFill>
                  <a:schemeClr val="tx1"/>
                </a:solidFill>
                <a:latin typeface="Source Sans Pro" panose="020B0503030403020204" pitchFamily="34" charset="0"/>
                <a:ea typeface="黑体" panose="02010609060101010101" pitchFamily="49" charset="-122"/>
              </a:rPr>
              <a:t>开源</a:t>
            </a:r>
            <a:r>
              <a:rPr lang="en-US" altLang="zh-CN" sz="1400" dirty="0">
                <a:solidFill>
                  <a:schemeClr val="tx1"/>
                </a:solidFill>
                <a:latin typeface="Source Sans Pro" panose="020B0503030403020204" pitchFamily="34" charset="0"/>
                <a:ea typeface="Source Sans Pro" panose="020B0503030403020204" pitchFamily="34" charset="0"/>
              </a:rPr>
              <a:t>: </a:t>
            </a:r>
            <a:r>
              <a:rPr lang="zh-CN" altLang="en-US" sz="1400" dirty="0">
                <a:solidFill>
                  <a:schemeClr val="tx1"/>
                </a:solidFill>
                <a:latin typeface="Source Sans Pro" panose="020B0503030403020204" pitchFamily="34" charset="0"/>
                <a:ea typeface="黑体" panose="02010609060101010101" pitchFamily="49" charset="-122"/>
              </a:rPr>
              <a:t>没什么比源码更重要了</a:t>
            </a:r>
            <a:endParaRPr lang="zh-CN" altLang="en-US" sz="1400" dirty="0">
              <a:solidFill>
                <a:schemeClr val="tx1"/>
              </a:solidFill>
              <a:latin typeface="Source Sans Pro" panose="020B0503030403020204" pitchFamily="34" charset="0"/>
              <a:ea typeface="黑体" panose="02010609060101010101" pitchFamily="49" charset="-122"/>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可以在</a:t>
            </a:r>
            <a:r>
              <a:rPr lang="en-US" altLang="zh-CN" sz="1400" dirty="0">
                <a:solidFill>
                  <a:schemeClr val="bg2"/>
                </a:solidFill>
                <a:latin typeface="Source Sans Pro" panose="020B0503030403020204" pitchFamily="34" charset="0"/>
                <a:ea typeface="Source Sans Pro" panose="020B0503030403020204" pitchFamily="34" charset="0"/>
              </a:rPr>
              <a:t>windows</a:t>
            </a:r>
            <a:r>
              <a:rPr lang="zh-CN" altLang="en-US" sz="1400" dirty="0">
                <a:solidFill>
                  <a:schemeClr val="bg2"/>
                </a:solidFill>
                <a:latin typeface="Source Sans Pro" panose="020B0503030403020204" pitchFamily="34" charset="0"/>
                <a:ea typeface="黑体" panose="02010609060101010101" pitchFamily="49" charset="-122"/>
              </a:rPr>
              <a:t>下面装</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虚拟机</a:t>
            </a:r>
            <a:r>
              <a:rPr lang="en-US" altLang="zh-CN" sz="1400" dirty="0">
                <a:solidFill>
                  <a:schemeClr val="bg2"/>
                </a:solidFill>
                <a:latin typeface="Source Sans Pro" panose="020B0503030403020204" pitchFamily="34" charset="0"/>
                <a:ea typeface="Source Sans Pro" panose="020B0503030403020204" pitchFamily="34" charset="0"/>
              </a:rPr>
              <a:t>+ubuntu</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Mac</a:t>
            </a:r>
            <a:r>
              <a:rPr lang="zh-CN" altLang="en-US" sz="1400" dirty="0">
                <a:solidFill>
                  <a:schemeClr val="bg2"/>
                </a:solidFill>
                <a:latin typeface="Source Sans Pro" panose="020B0503030403020204" pitchFamily="34" charset="0"/>
                <a:ea typeface="黑体" panose="02010609060101010101" pitchFamily="49" charset="-122"/>
              </a:rPr>
              <a:t>和</a:t>
            </a:r>
            <a:r>
              <a:rPr lang="en-US" altLang="zh-CN" sz="1400" dirty="0">
                <a:solidFill>
                  <a:schemeClr val="bg2"/>
                </a:solidFill>
                <a:latin typeface="Source Sans Pro" panose="020B0503030403020204" pitchFamily="34" charset="0"/>
                <a:ea typeface="Source Sans Pro" panose="020B0503030403020204" pitchFamily="34" charset="0"/>
              </a:rPr>
              <a:t>Linux</a:t>
            </a:r>
            <a:r>
              <a:rPr lang="zh-CN" altLang="en-US" sz="1400" dirty="0">
                <a:solidFill>
                  <a:schemeClr val="bg2"/>
                </a:solidFill>
                <a:latin typeface="Source Sans Pro" panose="020B0503030403020204" pitchFamily="34" charset="0"/>
                <a:ea typeface="黑体" panose="02010609060101010101" pitchFamily="49" charset="-122"/>
              </a:rPr>
              <a:t>用起来差距不大</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95639" y="1741805"/>
            <a:ext cx="1225488" cy="190195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3"/>
          <p:cNvSpPr txBox="1"/>
          <p:nvPr/>
        </p:nvSpPr>
        <p:spPr>
          <a:xfrm>
            <a:off x="559932" y="1111066"/>
            <a:ext cx="8088747" cy="307777"/>
          </a:xfrm>
          <a:prstGeom prst="rect">
            <a:avLst/>
          </a:prstGeom>
          <a:solidFill>
            <a:srgbClr val="7030A0"/>
          </a:solidFill>
        </p:spPr>
        <p:txBody>
          <a:bodyPr wrap="square" rtlCol="0">
            <a:spAutoFit/>
          </a:bodyPr>
          <a:lstStyle/>
          <a:p>
            <a:pPr algn="ctr"/>
            <a:r>
              <a:rPr lang="zh-CN" altLang="en-US">
                <a:solidFill>
                  <a:schemeClr val="bg1"/>
                </a:solidFill>
                <a:latin typeface="黑体" panose="02010609060101010101" pitchFamily="49" charset="-122"/>
                <a:ea typeface="黑体" panose="02010609060101010101" pitchFamily="49" charset="-122"/>
              </a:rPr>
              <a:t>计算机方向的本科生一定要尽早接触</a:t>
            </a:r>
            <a:r>
              <a:rPr lang="en-US" altLang="zh-CN">
                <a:solidFill>
                  <a:schemeClr val="bg1"/>
                </a:solidFill>
                <a:latin typeface="Source Sans Pro" panose="020B0503030403020204" pitchFamily="34" charset="0"/>
                <a:ea typeface="Source Sans Pro" panose="020B0503030403020204" pitchFamily="34" charset="0"/>
              </a:rPr>
              <a:t>Linux</a:t>
            </a:r>
            <a:endParaRPr lang="en-US" altLang="zh-CN">
              <a:solidFill>
                <a:schemeClr val="bg1"/>
              </a:solidFill>
              <a:latin typeface="Source Sans Pro" panose="020B0503030403020204" pitchFamily="34" charset="0"/>
              <a:ea typeface="Source Sans Pro" panose="020B0503030403020204" pitchFamily="34" charset="0"/>
            </a:endParaRPr>
          </a:p>
        </p:txBody>
      </p:sp>
      <p:sp>
        <p:nvSpPr>
          <p:cNvPr id="6" name="TextBox 5"/>
          <p:cNvSpPr txBox="1"/>
          <p:nvPr/>
        </p:nvSpPr>
        <p:spPr>
          <a:xfrm>
            <a:off x="6542467" y="3804878"/>
            <a:ext cx="1931832" cy="588174"/>
          </a:xfrm>
          <a:prstGeom prst="rect">
            <a:avLst/>
          </a:prstGeom>
          <a:noFill/>
        </p:spPr>
        <p:txBody>
          <a:bodyPr wrap="square">
            <a:spAutoFit/>
          </a:bodyPr>
          <a:lstStyle/>
          <a:p>
            <a:pPr marL="114300" indent="0" algn="ctr">
              <a:lnSpc>
                <a:spcPct val="120000"/>
              </a:lnSpc>
              <a:buNone/>
            </a:pPr>
            <a:r>
              <a:rPr lang="zh-CN" altLang="en-US" sz="1400" dirty="0">
                <a:solidFill>
                  <a:schemeClr val="bg2"/>
                </a:solidFill>
                <a:latin typeface="Source Sans Pro" panose="020B0503030403020204" pitchFamily="34" charset="0"/>
                <a:ea typeface="黑体" panose="02010609060101010101" pitchFamily="49" charset="-122"/>
              </a:rPr>
              <a:t>打开一个</a:t>
            </a:r>
            <a:r>
              <a:rPr lang="zh-CN" altLang="en-US" dirty="0">
                <a:solidFill>
                  <a:schemeClr val="bg2"/>
                </a:solidFill>
                <a:latin typeface="Source Sans Pro" panose="020B0503030403020204" pitchFamily="34" charset="0"/>
                <a:ea typeface="黑体" panose="02010609060101010101" pitchFamily="49" charset="-122"/>
              </a:rPr>
              <a:t>美丽</a:t>
            </a:r>
            <a:r>
              <a:rPr lang="zh-CN" altLang="en-US" sz="1400" dirty="0">
                <a:solidFill>
                  <a:schemeClr val="bg2"/>
                </a:solidFill>
                <a:latin typeface="Source Sans Pro" panose="020B0503030403020204" pitchFamily="34" charset="0"/>
                <a:ea typeface="黑体" panose="02010609060101010101" pitchFamily="49" charset="-122"/>
              </a:rPr>
              <a:t>新世界</a:t>
            </a:r>
            <a:endParaRPr lang="zh-CN" altLang="en-US" sz="1400" dirty="0">
              <a:solidFill>
                <a:schemeClr val="bg2"/>
              </a:solidFill>
              <a:latin typeface="Source Sans Pro" panose="020B0503030403020204" pitchFamily="34" charset="0"/>
              <a:ea typeface="黑体" panose="02010609060101010101" pitchFamily="49" charset="-122"/>
            </a:endParaRPr>
          </a:p>
          <a:p>
            <a:pPr marL="114300" indent="0" algn="ctr">
              <a:lnSpc>
                <a:spcPct val="120000"/>
              </a:lnSpc>
              <a:buNone/>
            </a:pPr>
            <a:r>
              <a:rPr lang="zh-CN" altLang="en-US" sz="1400" dirty="0">
                <a:solidFill>
                  <a:schemeClr val="bg2"/>
                </a:solidFill>
                <a:latin typeface="Source Sans Pro" panose="020B0503030403020204" pitchFamily="34" charset="0"/>
                <a:ea typeface="黑体" panose="02010609060101010101" pitchFamily="49" charset="-122"/>
              </a:rPr>
              <a:t>自己寒假折腾</a:t>
            </a:r>
            <a:endParaRPr lang="zh-CN" altLang="en-US" sz="1400" dirty="0">
              <a:solidFill>
                <a:schemeClr val="bg2"/>
              </a:solidFill>
              <a:latin typeface="Source Sans Pro" panose="020B0503030403020204" pitchFamily="34" charset="0"/>
              <a:ea typeface="黑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Module sys</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3416400"/>
          </a:xfrm>
        </p:spPr>
        <p:txBody>
          <a:bodyPr numCol="2">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This module provides access to some </a:t>
            </a:r>
            <a:r>
              <a:rPr lang="en-US" altLang="zh-CN" sz="1400" dirty="0">
                <a:solidFill>
                  <a:schemeClr val="tx1"/>
                </a:solidFill>
                <a:latin typeface="Source Sans Pro" panose="020B0503030403020204" pitchFamily="34" charset="0"/>
                <a:ea typeface="Source Sans Pro" panose="020B0503030403020204" pitchFamily="34" charset="0"/>
              </a:rPr>
              <a:t>variables</a:t>
            </a:r>
            <a:r>
              <a:rPr lang="en-US" altLang="zh-CN" sz="1400" dirty="0">
                <a:solidFill>
                  <a:schemeClr val="bg2"/>
                </a:solidFill>
                <a:latin typeface="Source Sans Pro" panose="020B0503030403020204" pitchFamily="34" charset="0"/>
                <a:ea typeface="Source Sans Pro" panose="020B0503030403020204" pitchFamily="34" charset="0"/>
              </a:rPr>
              <a:t> used or maintained by </a:t>
            </a:r>
            <a:r>
              <a:rPr lang="en-US" altLang="zh-CN" sz="1400" dirty="0">
                <a:solidFill>
                  <a:schemeClr val="tx1"/>
                </a:solidFill>
                <a:latin typeface="Source Sans Pro" panose="020B0503030403020204" pitchFamily="34" charset="0"/>
                <a:ea typeface="Source Sans Pro" panose="020B0503030403020204" pitchFamily="34" charset="0"/>
              </a:rPr>
              <a:t>the interpreter </a:t>
            </a:r>
            <a:r>
              <a:rPr lang="en-US" altLang="zh-CN" sz="1400" dirty="0">
                <a:solidFill>
                  <a:schemeClr val="bg2"/>
                </a:solidFill>
                <a:latin typeface="Source Sans Pro" panose="020B0503030403020204" pitchFamily="34" charset="0"/>
                <a:ea typeface="Source Sans Pro" panose="020B0503030403020204" pitchFamily="34" charset="0"/>
              </a:rPr>
              <a:t>and to </a:t>
            </a:r>
            <a:r>
              <a:rPr lang="en-US" altLang="zh-CN" sz="1400" dirty="0">
                <a:solidFill>
                  <a:schemeClr val="tx1"/>
                </a:solidFill>
                <a:latin typeface="Source Sans Pro" panose="020B0503030403020204" pitchFamily="34" charset="0"/>
                <a:ea typeface="Source Sans Pro" panose="020B0503030403020204" pitchFamily="34" charset="0"/>
              </a:rPr>
              <a:t>functions</a:t>
            </a:r>
            <a:r>
              <a:rPr lang="en-US" altLang="zh-CN" sz="1400" dirty="0">
                <a:solidFill>
                  <a:schemeClr val="bg2"/>
                </a:solidFill>
                <a:latin typeface="Source Sans Pro" panose="020B0503030403020204" pitchFamily="34" charset="0"/>
                <a:ea typeface="Source Sans Pro" panose="020B0503030403020204" pitchFamily="34" charset="0"/>
              </a:rPr>
              <a:t> that interact strongly with the interpreter. It is always available</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Manipulate different parts of the Python runtime environment</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sys.version</a:t>
            </a:r>
            <a:r>
              <a:rPr lang="en-US" altLang="zh-CN" sz="1400" dirty="0">
                <a:solidFill>
                  <a:schemeClr val="bg2"/>
                </a:solidFill>
                <a:latin typeface="Source Sans Pro" panose="020B0503030403020204" pitchFamily="34" charset="0"/>
                <a:ea typeface="Source Sans Pro" panose="020B0503030403020204" pitchFamily="34" charset="0"/>
              </a:rPr>
              <a:t>: This attribute displays a string containing the version number of the current Python interpreter</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sys.argv</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sys.argv</a:t>
            </a:r>
            <a:r>
              <a:rPr lang="en-US" altLang="zh-CN" sz="1400" dirty="0">
                <a:solidFill>
                  <a:schemeClr val="bg2"/>
                </a:solidFill>
                <a:latin typeface="Source Sans Pro" panose="020B0503030403020204" pitchFamily="34" charset="0"/>
                <a:ea typeface="Source Sans Pro" panose="020B0503030403020204" pitchFamily="34" charset="0"/>
              </a:rPr>
              <a:t> returns a list of command line arguments passed to a Python script.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sys.path</a:t>
            </a:r>
            <a:r>
              <a:rPr lang="en-US" altLang="zh-CN" sz="1400" dirty="0">
                <a:solidFill>
                  <a:schemeClr val="bg2"/>
                </a:solidFill>
                <a:latin typeface="Source Sans Pro" panose="020B0503030403020204" pitchFamily="34" charset="0"/>
                <a:ea typeface="Source Sans Pro" panose="020B0503030403020204" pitchFamily="34" charset="0"/>
              </a:rPr>
              <a:t>: This is an environment variable that is a search path for all Python modules.</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err="1">
                <a:solidFill>
                  <a:schemeClr val="tx1"/>
                </a:solidFill>
                <a:latin typeface="Source Sans Pro" panose="020B0503030403020204" pitchFamily="34" charset="0"/>
                <a:ea typeface="Source Sans Pro" panose="020B0503030403020204" pitchFamily="34" charset="0"/>
              </a:rPr>
              <a:t>sys.path</a:t>
            </a:r>
            <a:r>
              <a:rPr lang="en-US" altLang="zh-CN" sz="1200" dirty="0">
                <a:solidFill>
                  <a:schemeClr val="tx1"/>
                </a:solidFill>
                <a:latin typeface="Source Sans Pro" panose="020B0503030403020204" pitchFamily="34" charset="0"/>
                <a:ea typeface="Source Sans Pro" panose="020B0503030403020204" pitchFamily="34" charset="0"/>
              </a:rPr>
              <a:t>[0]: current directory of the file</a:t>
            </a:r>
            <a:endParaRPr lang="en-US" altLang="zh-CN" sz="1200" dirty="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sys.exit</a:t>
            </a:r>
            <a:r>
              <a:rPr lang="en-US" altLang="zh-CN" sz="1400" dirty="0">
                <a:solidFill>
                  <a:schemeClr val="bg2"/>
                </a:solidFill>
                <a:latin typeface="Source Sans Pro" panose="020B0503030403020204" pitchFamily="34" charset="0"/>
                <a:ea typeface="Source Sans Pro" panose="020B0503030403020204" pitchFamily="34" charset="0"/>
              </a:rPr>
              <a:t>: This causes the script to exit back to either the Python console or the command prompt. This is generally used to safely exit from the program in case of generation of an exception.</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sys.maxsize</a:t>
            </a:r>
            <a:r>
              <a:rPr lang="en-US" altLang="zh-CN" sz="1400" dirty="0">
                <a:solidFill>
                  <a:schemeClr val="bg2"/>
                </a:solidFill>
                <a:latin typeface="Source Sans Pro" panose="020B0503030403020204" pitchFamily="34" charset="0"/>
                <a:ea typeface="Source Sans Pro" panose="020B0503030403020204" pitchFamily="34" charset="0"/>
              </a:rPr>
              <a:t>: Returns the largest integer a variable can take.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sys.stdin</a:t>
            </a:r>
            <a:r>
              <a:rPr lang="en-US" altLang="zh-CN" sz="1400" dirty="0">
                <a:solidFill>
                  <a:schemeClr val="tx1"/>
                </a:solidFill>
                <a:latin typeface="Source Sans Pro" panose="020B0503030403020204" pitchFamily="34" charset="0"/>
                <a:ea typeface="Source Sans Pro" panose="020B0503030403020204" pitchFamily="34" charset="0"/>
              </a:rPr>
              <a:t>, </a:t>
            </a:r>
            <a:r>
              <a:rPr lang="en-US" altLang="zh-CN" sz="1400" dirty="0" err="1">
                <a:solidFill>
                  <a:schemeClr val="tx1"/>
                </a:solidFill>
                <a:latin typeface="Source Sans Pro" panose="020B0503030403020204" pitchFamily="34" charset="0"/>
                <a:ea typeface="Source Sans Pro" panose="020B0503030403020204" pitchFamily="34" charset="0"/>
              </a:rPr>
              <a:t>sys.stdout</a:t>
            </a:r>
            <a:r>
              <a:rPr lang="en-US" altLang="zh-CN" sz="1400" dirty="0">
                <a:solidFill>
                  <a:schemeClr val="tx1"/>
                </a:solidFill>
                <a:latin typeface="Source Sans Pro" panose="020B0503030403020204" pitchFamily="34" charset="0"/>
                <a:ea typeface="Source Sans Pro" panose="020B0503030403020204" pitchFamily="34" charset="0"/>
              </a:rPr>
              <a:t> and </a:t>
            </a:r>
            <a:r>
              <a:rPr lang="en-US" altLang="zh-CN" sz="1400" dirty="0" err="1">
                <a:solidFill>
                  <a:schemeClr val="tx1"/>
                </a:solidFill>
                <a:latin typeface="Source Sans Pro" panose="020B0503030403020204" pitchFamily="34" charset="0"/>
                <a:ea typeface="Source Sans Pro" panose="020B0503030403020204" pitchFamily="34" charset="0"/>
              </a:rPr>
              <a:t>sys.stderr</a:t>
            </a:r>
            <a:r>
              <a:rPr lang="en-US" altLang="zh-CN" sz="1400" dirty="0">
                <a:solidFill>
                  <a:schemeClr val="bg2"/>
                </a:solidFill>
                <a:latin typeface="Source Sans Pro" panose="020B0503030403020204" pitchFamily="34" charset="0"/>
                <a:ea typeface="Source Sans Pro" panose="020B0503030403020204" pitchFamily="34" charset="0"/>
              </a:rPr>
              <a:t>: Standard data streams</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6" name="文本框 5"/>
          <p:cNvSpPr txBox="1"/>
          <p:nvPr/>
        </p:nvSpPr>
        <p:spPr>
          <a:xfrm>
            <a:off x="48123" y="4695260"/>
            <a:ext cx="2882766" cy="400110"/>
          </a:xfrm>
          <a:prstGeom prst="rect">
            <a:avLst/>
          </a:prstGeom>
          <a:noFill/>
        </p:spPr>
        <p:txBody>
          <a:bodyPr wrap="square">
            <a:spAutoFit/>
          </a:bodyPr>
          <a:lstStyle/>
          <a:p>
            <a:r>
              <a:rPr lang="en-US" altLang="zh-CN" sz="1000">
                <a:solidFill>
                  <a:schemeClr val="bg2"/>
                </a:solidFill>
                <a:latin typeface="+mj-lt"/>
                <a:ea typeface="Source Sans Pro" panose="020B0503030403020204" pitchFamily="34" charset="0"/>
              </a:rPr>
              <a:t>https://docs.python.org/3/library/sys.html</a:t>
            </a:r>
            <a:endParaRPr lang="en-US" altLang="zh-CN" sz="1000">
              <a:solidFill>
                <a:schemeClr val="bg2"/>
              </a:solidFill>
              <a:latin typeface="+mj-lt"/>
              <a:ea typeface="Source Sans Pro" panose="020B0503030403020204" pitchFamily="34" charset="0"/>
            </a:endParaRPr>
          </a:p>
          <a:p>
            <a:r>
              <a:rPr lang="en-US" altLang="zh-CN" sz="1000">
                <a:solidFill>
                  <a:schemeClr val="bg2"/>
                </a:solidFill>
                <a:latin typeface="+mj-lt"/>
                <a:ea typeface="Source Sans Pro" panose="020B0503030403020204" pitchFamily="34" charset="0"/>
              </a:rPr>
              <a:t>https://www.python-course.eu/sys_module.php</a:t>
            </a:r>
            <a:endParaRPr lang="en-US" altLang="zh-CN" sz="100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Module sys: Example</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3416400"/>
          </a:xfrm>
        </p:spPr>
        <p:txBody>
          <a:bodyPr>
            <a:noAutofit/>
          </a:bodyPr>
          <a:lstStyle/>
          <a:p>
            <a:pPr>
              <a:lnSpc>
                <a:spcPct val="120000"/>
              </a:lnSpc>
            </a:pPr>
            <a:r>
              <a:rPr lang="en-US" altLang="zh-CN" sz="1400" err="1">
                <a:solidFill>
                  <a:schemeClr val="tx1"/>
                </a:solidFill>
                <a:latin typeface="Source Sans Pro" panose="020B0503030403020204" pitchFamily="34" charset="0"/>
                <a:ea typeface="Source Sans Pro" panose="020B0503030403020204" pitchFamily="34" charset="0"/>
              </a:rPr>
              <a:t>sys.argv</a:t>
            </a:r>
            <a:r>
              <a:rPr lang="en-US" altLang="zh-CN" sz="1400">
                <a:solidFill>
                  <a:schemeClr val="bg2"/>
                </a:solidFill>
                <a:latin typeface="Source Sans Pro" panose="020B0503030403020204" pitchFamily="34" charset="0"/>
                <a:ea typeface="Source Sans Pro" panose="020B0503030403020204" pitchFamily="34" charset="0"/>
              </a:rPr>
              <a:t>: </a:t>
            </a:r>
            <a:r>
              <a:rPr lang="en-US" altLang="zh-CN" sz="1400" err="1">
                <a:solidFill>
                  <a:schemeClr val="bg2"/>
                </a:solidFill>
                <a:latin typeface="Source Sans Pro" panose="020B0503030403020204" pitchFamily="34" charset="0"/>
                <a:ea typeface="Source Sans Pro" panose="020B0503030403020204" pitchFamily="34" charset="0"/>
              </a:rPr>
              <a:t>sys.argv</a:t>
            </a:r>
            <a:r>
              <a:rPr lang="en-US" altLang="zh-CN" sz="1400">
                <a:solidFill>
                  <a:schemeClr val="bg2"/>
                </a:solidFill>
                <a:latin typeface="Source Sans Pro" panose="020B0503030403020204" pitchFamily="34" charset="0"/>
                <a:ea typeface="Source Sans Pro" panose="020B0503030403020204" pitchFamily="34" charset="0"/>
              </a:rPr>
              <a:t> returns a list of command line arguments passed to a Python script. </a:t>
            </a:r>
            <a:r>
              <a:rPr lang="en-US" altLang="zh-CN" sz="1400" err="1">
                <a:solidFill>
                  <a:schemeClr val="bg2"/>
                </a:solidFill>
                <a:latin typeface="Source Sans Pro" panose="020B0503030403020204" pitchFamily="34" charset="0"/>
                <a:ea typeface="Source Sans Pro" panose="020B0503030403020204" pitchFamily="34" charset="0"/>
              </a:rPr>
              <a:t>sys.argv</a:t>
            </a:r>
            <a:r>
              <a:rPr lang="en-US" altLang="zh-CN" sz="1400">
                <a:solidFill>
                  <a:schemeClr val="bg2"/>
                </a:solidFill>
                <a:latin typeface="Source Sans Pro" panose="020B0503030403020204" pitchFamily="34" charset="0"/>
                <a:ea typeface="Source Sans Pro" panose="020B0503030403020204" pitchFamily="34" charset="0"/>
              </a:rPr>
              <a:t>[0] contains the script file name xxx.py; </a:t>
            </a:r>
            <a:r>
              <a:rPr lang="en-US" altLang="zh-CN" sz="1400" err="1">
                <a:solidFill>
                  <a:schemeClr val="bg2"/>
                </a:solidFill>
                <a:latin typeface="Source Sans Pro" panose="020B0503030403020204" pitchFamily="34" charset="0"/>
                <a:ea typeface="Source Sans Pro" panose="020B0503030403020204" pitchFamily="34" charset="0"/>
              </a:rPr>
              <a:t>sys.argv</a:t>
            </a:r>
            <a:r>
              <a:rPr lang="en-US" altLang="zh-CN" sz="1400">
                <a:solidFill>
                  <a:schemeClr val="bg2"/>
                </a:solidFill>
                <a:latin typeface="Source Sans Pro" panose="020B0503030403020204" pitchFamily="34" charset="0"/>
                <a:ea typeface="Source Sans Pro" panose="020B0503030403020204" pitchFamily="34" charset="0"/>
              </a:rPr>
              <a:t>[1] contains the first parameter , while </a:t>
            </a:r>
            <a:r>
              <a:rPr lang="en-US" altLang="zh-CN" sz="1400" err="1">
                <a:solidFill>
                  <a:schemeClr val="bg2"/>
                </a:solidFill>
                <a:latin typeface="Source Sans Pro" panose="020B0503030403020204" pitchFamily="34" charset="0"/>
                <a:ea typeface="Source Sans Pro" panose="020B0503030403020204" pitchFamily="34" charset="0"/>
              </a:rPr>
              <a:t>sys.argv</a:t>
            </a:r>
            <a:r>
              <a:rPr lang="en-US" altLang="zh-CN" sz="1400">
                <a:solidFill>
                  <a:schemeClr val="bg2"/>
                </a:solidFill>
                <a:latin typeface="Source Sans Pro" panose="020B0503030403020204" pitchFamily="34" charset="0"/>
                <a:ea typeface="Source Sans Pro" panose="020B0503030403020204" pitchFamily="34" charset="0"/>
              </a:rPr>
              <a:t>[2] contains the second parameter </a:t>
            </a:r>
            <a:endParaRPr lang="en-US" altLang="zh-CN" sz="1400">
              <a:solidFill>
                <a:schemeClr val="bg2"/>
              </a:solidFill>
              <a:latin typeface="Source Sans Pro" panose="020B0503030403020204" pitchFamily="34" charset="0"/>
              <a:ea typeface="Source Sans Pro" panose="020B0503030403020204" pitchFamily="34" charset="0"/>
            </a:endParaRPr>
          </a:p>
        </p:txBody>
      </p:sp>
      <p:pic>
        <p:nvPicPr>
          <p:cNvPr id="4" name="Picture 4"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5871" y="3173308"/>
            <a:ext cx="2208843" cy="1851161"/>
          </a:xfrm>
          <a:prstGeom prst="rect">
            <a:avLst/>
          </a:prstGeom>
        </p:spPr>
      </p:pic>
      <p:pic>
        <p:nvPicPr>
          <p:cNvPr id="6" name="Picture 6" descr="A close up of text on a black surface&#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5980" y="2992612"/>
            <a:ext cx="4958059" cy="2031857"/>
          </a:xfrm>
          <a:prstGeom prst="rect">
            <a:avLst/>
          </a:prstGeom>
        </p:spPr>
      </p:pic>
      <p:sp>
        <p:nvSpPr>
          <p:cNvPr id="12" name="文本框 11"/>
          <p:cNvSpPr txBox="1"/>
          <p:nvPr/>
        </p:nvSpPr>
        <p:spPr>
          <a:xfrm>
            <a:off x="3735980" y="2025356"/>
            <a:ext cx="1930533" cy="461665"/>
          </a:xfrm>
          <a:prstGeom prst="rect">
            <a:avLst/>
          </a:prstGeom>
          <a:noFill/>
        </p:spPr>
        <p:txBody>
          <a:bodyPr wrap="square">
            <a:spAutoFit/>
          </a:bodyPr>
          <a:lstStyle/>
          <a:p>
            <a:r>
              <a:rPr lang="en-US" altLang="zh-CN" sz="1200" dirty="0">
                <a:solidFill>
                  <a:schemeClr val="tx1"/>
                </a:solidFill>
              </a:rPr>
              <a:t>&gt;&gt;&gt;python  </a:t>
            </a:r>
            <a:r>
              <a:rPr lang="en-US" altLang="zh-CN" sz="1200" dirty="0" err="1">
                <a:solidFill>
                  <a:schemeClr val="tx1"/>
                </a:solidFill>
              </a:rPr>
              <a:t>c.py</a:t>
            </a:r>
            <a:r>
              <a:rPr lang="en-US" altLang="zh-CN" sz="1200" dirty="0">
                <a:solidFill>
                  <a:schemeClr val="tx1"/>
                </a:solidFill>
              </a:rPr>
              <a:t>  a b c d</a:t>
            </a:r>
            <a:endParaRPr lang="en-US" altLang="zh-CN" sz="1200" dirty="0">
              <a:solidFill>
                <a:schemeClr val="tx1"/>
              </a:solidFill>
            </a:endParaRPr>
          </a:p>
          <a:p>
            <a:r>
              <a:rPr lang="en-US" altLang="zh-CN" sz="1200" dirty="0">
                <a:solidFill>
                  <a:schemeClr val="tx1"/>
                </a:solidFill>
              </a:rPr>
              <a:t>&gt;&gt;&gt;[‘</a:t>
            </a:r>
            <a:r>
              <a:rPr lang="en-US" altLang="zh-CN" sz="1200" dirty="0" err="1">
                <a:solidFill>
                  <a:schemeClr val="tx1"/>
                </a:solidFill>
              </a:rPr>
              <a:t>c.py</a:t>
            </a:r>
            <a:r>
              <a:rPr lang="en-US" altLang="zh-CN" sz="1200" dirty="0">
                <a:solidFill>
                  <a:schemeClr val="tx1"/>
                </a:solidFill>
              </a:rPr>
              <a:t>', 'a', 'b', 'c', 'd']</a:t>
            </a:r>
            <a:endParaRPr lang="en-US" altLang="zh-CN" sz="1200" dirty="0">
              <a:solidFill>
                <a:schemeClr val="tx1"/>
              </a:solidFill>
            </a:endParaRPr>
          </a:p>
        </p:txBody>
      </p:sp>
      <p:pic>
        <p:nvPicPr>
          <p:cNvPr id="14" name="图片 13"/>
          <p:cNvPicPr>
            <a:picLocks noChangeAspect="1"/>
          </p:cNvPicPr>
          <p:nvPr/>
        </p:nvPicPr>
        <p:blipFill>
          <a:blip r:embed="rId3"/>
          <a:stretch>
            <a:fillRect/>
          </a:stretch>
        </p:blipFill>
        <p:spPr>
          <a:xfrm>
            <a:off x="585872" y="2025356"/>
            <a:ext cx="2208844" cy="111039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Module: </a:t>
            </a:r>
            <a:r>
              <a:rPr lang="en-US" altLang="zh-CN" err="1">
                <a:latin typeface="Raleway" pitchFamily="34" charset="0"/>
                <a:ea typeface="Source Sans Pro" panose="020B0503030403020204" pitchFamily="34" charset="0"/>
              </a:rPr>
              <a:t>sys.path</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013799"/>
            <a:ext cx="8520600" cy="2257435"/>
          </a:xfrm>
        </p:spPr>
        <p:txBody>
          <a:bodyPr numCol="2">
            <a:noAutofit/>
          </a:bodyPr>
          <a:lstStyle/>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sys.path</a:t>
            </a:r>
            <a:r>
              <a:rPr lang="en-US" altLang="zh-CN" sz="1400" dirty="0">
                <a:solidFill>
                  <a:schemeClr val="bg2"/>
                </a:solidFill>
                <a:latin typeface="Source Sans Pro" panose="020B0503030403020204" pitchFamily="34" charset="0"/>
                <a:ea typeface="Source Sans Pro" panose="020B0503030403020204" pitchFamily="34" charset="0"/>
              </a:rPr>
              <a:t>: This is an environment variable that is a </a:t>
            </a:r>
            <a:r>
              <a:rPr lang="en-US" altLang="zh-CN" sz="1400" dirty="0">
                <a:solidFill>
                  <a:schemeClr val="tx1"/>
                </a:solidFill>
                <a:latin typeface="Source Sans Pro" panose="020B0503030403020204" pitchFamily="34" charset="0"/>
                <a:ea typeface="Source Sans Pro" panose="020B0503030403020204" pitchFamily="34" charset="0"/>
              </a:rPr>
              <a:t>search path for all Python modules</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A list of strings that specifies the search path for modules. Initialized from the environment variable PYTHONPATH, plus an installation-dependent default.</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tx1"/>
                </a:solidFill>
                <a:latin typeface="Source Sans Pro" panose="020B0503030403020204" pitchFamily="34" charset="0"/>
                <a:ea typeface="Source Sans Pro" panose="020B0503030403020204" pitchFamily="34" charset="0"/>
              </a:rPr>
              <a:t>sys.path</a:t>
            </a:r>
            <a:r>
              <a:rPr lang="en-US" altLang="zh-CN" sz="1400" dirty="0">
                <a:solidFill>
                  <a:schemeClr val="tx1"/>
                </a:solidFill>
                <a:latin typeface="Source Sans Pro" panose="020B0503030403020204" pitchFamily="34" charset="0"/>
                <a:ea typeface="Source Sans Pro" panose="020B0503030403020204" pitchFamily="34" charset="0"/>
              </a:rPr>
              <a:t>[0]: current directory of the file</a:t>
            </a:r>
            <a:endParaRPr lang="en-US" altLang="zh-CN" sz="1400" dirty="0">
              <a:solidFill>
                <a:schemeClr val="tx1"/>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As initialized upon program startup, the first item of this list, path[0], is the directory containing the script that was used to invoke the Python interpreter. If the script directory is not available (e.g. if the interpreter is invoked interactively or if the script is read from standard input), path[0] is the empty string, which directs Python to search modules in the current directory first. Notice that the script directory is inserted before the entries inserted as a result of PYTHONPATH.</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绝对路径：</a:t>
            </a:r>
            <a:r>
              <a:rPr lang="en-US" altLang="zh-CN" sz="1200" dirty="0" err="1">
                <a:solidFill>
                  <a:schemeClr val="bg2"/>
                </a:solidFill>
                <a:latin typeface="Source Sans Pro" panose="020B0503030403020204" pitchFamily="34" charset="0"/>
                <a:ea typeface="Source Sans Pro" panose="020B0503030403020204" pitchFamily="34" charset="0"/>
              </a:rPr>
              <a:t>sys.path</a:t>
            </a:r>
            <a:r>
              <a:rPr lang="en-US" altLang="zh-CN" sz="1200" dirty="0">
                <a:solidFill>
                  <a:schemeClr val="bg2"/>
                </a:solidFill>
                <a:latin typeface="Source Sans Pro" panose="020B0503030403020204" pitchFamily="34" charset="0"/>
                <a:ea typeface="Source Sans Pro" panose="020B0503030403020204" pitchFamily="34" charset="0"/>
              </a:rPr>
              <a:t>[0] + </a:t>
            </a:r>
            <a:r>
              <a:rPr lang="zh-CN" altLang="en-US" sz="1200" dirty="0">
                <a:solidFill>
                  <a:schemeClr val="bg2"/>
                </a:solidFill>
                <a:latin typeface="Source Sans Pro" panose="020B0503030403020204" pitchFamily="34" charset="0"/>
                <a:ea typeface="黑体" panose="02010609060101010101" pitchFamily="49" charset="-122"/>
              </a:rPr>
              <a:t>文件名</a:t>
            </a:r>
            <a:endParaRPr lang="en-US" altLang="zh-CN" sz="1200" dirty="0">
              <a:solidFill>
                <a:srgbClr val="C00000"/>
              </a:solidFill>
              <a:latin typeface="Source Sans Pro" panose="020B0503030403020204" pitchFamily="34" charset="0"/>
              <a:ea typeface="Source Sans Pro" panose="020B0503030403020204" pitchFamily="34" charset="0"/>
            </a:endParaRPr>
          </a:p>
        </p:txBody>
      </p:sp>
      <p:pic>
        <p:nvPicPr>
          <p:cNvPr id="7" name="Picture 7" descr="Text, lett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18710" y="3271233"/>
            <a:ext cx="5971545" cy="1012502"/>
          </a:xfrm>
          <a:prstGeom prst="rect">
            <a:avLst/>
          </a:prstGeom>
        </p:spPr>
      </p:pic>
      <p:pic>
        <p:nvPicPr>
          <p:cNvPr id="5" name="图片 4"/>
          <p:cNvPicPr>
            <a:picLocks noChangeAspect="1"/>
          </p:cNvPicPr>
          <p:nvPr/>
        </p:nvPicPr>
        <p:blipFill>
          <a:blip r:embed="rId2"/>
          <a:stretch>
            <a:fillRect/>
          </a:stretch>
        </p:blipFill>
        <p:spPr>
          <a:xfrm>
            <a:off x="311699" y="3271233"/>
            <a:ext cx="2494043" cy="170645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Module: standard streams</a:t>
            </a:r>
            <a:endParaRPr lang="en-US" altLang="zh-CN">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3416400"/>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Every serious user of a UNIX or Linux operating system knows standard streams, i.e. input, standard output and standard error.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They are known as </a:t>
            </a:r>
            <a:r>
              <a:rPr lang="en-US" altLang="zh-CN" sz="1400" dirty="0">
                <a:solidFill>
                  <a:schemeClr val="tx1"/>
                </a:solidFill>
                <a:latin typeface="Source Sans Pro" panose="020B0503030403020204" pitchFamily="34" charset="0"/>
                <a:ea typeface="Source Sans Pro" panose="020B0503030403020204" pitchFamily="34" charset="0"/>
              </a:rPr>
              <a:t>pipes</a:t>
            </a:r>
            <a:r>
              <a:rPr lang="en-US" altLang="zh-CN" sz="1400" dirty="0">
                <a:solidFill>
                  <a:schemeClr val="bg2"/>
                </a:solidFill>
                <a:latin typeface="Source Sans Pro" panose="020B0503030403020204" pitchFamily="34" charset="0"/>
                <a:ea typeface="Source Sans Pro" panose="020B0503030403020204" pitchFamily="34" charset="0"/>
              </a:rPr>
              <a:t>.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They are commonly abbreviated as </a:t>
            </a:r>
            <a:r>
              <a:rPr lang="en-US" altLang="zh-CN" sz="1400" dirty="0">
                <a:solidFill>
                  <a:schemeClr val="tx1"/>
                </a:solidFill>
                <a:latin typeface="Source Sans Pro" panose="020B0503030403020204" pitchFamily="34" charset="0"/>
                <a:ea typeface="Source Sans Pro" panose="020B0503030403020204" pitchFamily="34" charset="0"/>
              </a:rPr>
              <a:t>stdin</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tx1"/>
                </a:solidFill>
                <a:latin typeface="Source Sans Pro" panose="020B0503030403020204" pitchFamily="34" charset="0"/>
                <a:ea typeface="Source Sans Pro" panose="020B0503030403020204" pitchFamily="34" charset="0"/>
              </a:rPr>
              <a:t>stdout</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tx1"/>
                </a:solidFill>
                <a:latin typeface="Source Sans Pro" panose="020B0503030403020204" pitchFamily="34" charset="0"/>
                <a:ea typeface="Source Sans Pro" panose="020B0503030403020204" pitchFamily="34" charset="0"/>
              </a:rPr>
              <a:t>stderr</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 standard input (stdin) is normally connected to the keyboard, while the standard error and standard output go to the terminal (or window) in which you are working.</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These data streams can be accessed from Python via the objects of the sys module with the same names, i.e. </a:t>
            </a:r>
            <a:r>
              <a:rPr lang="en-US" altLang="zh-CN" sz="1400" b="1" dirty="0" err="1">
                <a:solidFill>
                  <a:schemeClr val="tx1"/>
                </a:solidFill>
                <a:latin typeface="Source Sans Pro" panose="020B0503030403020204" pitchFamily="34" charset="0"/>
                <a:ea typeface="Source Sans Pro" panose="020B0503030403020204" pitchFamily="34" charset="0"/>
              </a:rPr>
              <a:t>sys.stdin</a:t>
            </a:r>
            <a:r>
              <a:rPr lang="en-US" altLang="zh-CN" sz="1400" b="1" dirty="0">
                <a:solidFill>
                  <a:schemeClr val="tx1"/>
                </a:solidFill>
                <a:latin typeface="Source Sans Pro" panose="020B0503030403020204" pitchFamily="34" charset="0"/>
                <a:ea typeface="Source Sans Pro" panose="020B0503030403020204" pitchFamily="34" charset="0"/>
              </a:rPr>
              <a:t>, </a:t>
            </a:r>
            <a:r>
              <a:rPr lang="en-US" altLang="zh-CN" sz="1400" b="1" dirty="0" err="1">
                <a:solidFill>
                  <a:schemeClr val="tx1"/>
                </a:solidFill>
                <a:latin typeface="Source Sans Pro" panose="020B0503030403020204" pitchFamily="34" charset="0"/>
                <a:ea typeface="Source Sans Pro" panose="020B0503030403020204" pitchFamily="34" charset="0"/>
              </a:rPr>
              <a:t>sys.stdout</a:t>
            </a:r>
            <a:r>
              <a:rPr lang="en-US" altLang="zh-CN" sz="1400" b="1" dirty="0">
                <a:solidFill>
                  <a:schemeClr val="tx1"/>
                </a:solidFill>
                <a:latin typeface="Source Sans Pro" panose="020B0503030403020204" pitchFamily="34" charset="0"/>
                <a:ea typeface="Source Sans Pro" panose="020B0503030403020204" pitchFamily="34" charset="0"/>
              </a:rPr>
              <a:t> and </a:t>
            </a:r>
            <a:r>
              <a:rPr lang="en-US" altLang="zh-CN" sz="1400" b="1" dirty="0" err="1">
                <a:solidFill>
                  <a:schemeClr val="tx1"/>
                </a:solidFill>
                <a:latin typeface="Source Sans Pro" panose="020B0503030403020204" pitchFamily="34" charset="0"/>
                <a:ea typeface="Source Sans Pro" panose="020B0503030403020204" pitchFamily="34" charset="0"/>
              </a:rPr>
              <a:t>sys.stderr</a:t>
            </a:r>
            <a:r>
              <a:rPr lang="en-US" altLang="zh-CN" sz="1400" b="1" dirty="0">
                <a:solidFill>
                  <a:schemeClr val="tx1"/>
                </a:solidFill>
                <a:latin typeface="Source Sans Pro" panose="020B0503030403020204" pitchFamily="34" charset="0"/>
                <a:ea typeface="Source Sans Pro" panose="020B0503030403020204" pitchFamily="34" charset="0"/>
              </a:rPr>
              <a:t>.</a:t>
            </a:r>
            <a:endParaRPr lang="en-US" altLang="zh-CN" sz="1400" b="1" dirty="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input(),</a:t>
            </a: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print(),</a:t>
            </a: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sys.stderr</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Module os </a:t>
            </a:r>
            <a:r>
              <a:rPr lang="zh-CN" altLang="en-US">
                <a:latin typeface="Raleway" pitchFamily="34" charset="0"/>
                <a:ea typeface="Source Sans Pro" panose="020B0503030403020204" pitchFamily="34" charset="0"/>
              </a:rPr>
              <a:t>操作系统</a:t>
            </a:r>
            <a:endParaRPr lang="zh-CN" altLang="en-US">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5089921" cy="3431636"/>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OS: Operating system. This module provides a portable way of using operating system dependent functionality. </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tx1"/>
                </a:solidFill>
                <a:latin typeface="Source Sans Pro" panose="020B0503030403020204" pitchFamily="34" charset="0"/>
                <a:ea typeface="Source Sans Pro" panose="020B0503030403020204" pitchFamily="34" charset="0"/>
              </a:rPr>
              <a:t>https://</a:t>
            </a:r>
            <a:r>
              <a:rPr lang="en-US" altLang="zh-CN" sz="1200" dirty="0" err="1">
                <a:solidFill>
                  <a:schemeClr val="tx1"/>
                </a:solidFill>
                <a:latin typeface="Source Sans Pro" panose="020B0503030403020204" pitchFamily="34" charset="0"/>
                <a:ea typeface="Source Sans Pro" panose="020B0503030403020204" pitchFamily="34" charset="0"/>
              </a:rPr>
              <a:t>docs.python.org</a:t>
            </a:r>
            <a:r>
              <a:rPr lang="en-US" altLang="zh-CN" sz="1200" dirty="0">
                <a:solidFill>
                  <a:schemeClr val="tx1"/>
                </a:solidFill>
                <a:latin typeface="Source Sans Pro" panose="020B0503030403020204" pitchFamily="34" charset="0"/>
                <a:ea typeface="Source Sans Pro" panose="020B0503030403020204" pitchFamily="34" charset="0"/>
              </a:rPr>
              <a:t>/3/library/</a:t>
            </a:r>
            <a:r>
              <a:rPr lang="en-US" altLang="zh-CN" sz="1200" dirty="0" err="1">
                <a:solidFill>
                  <a:schemeClr val="tx1"/>
                </a:solidFill>
                <a:latin typeface="Source Sans Pro" panose="020B0503030403020204" pitchFamily="34" charset="0"/>
                <a:ea typeface="Source Sans Pro" panose="020B0503030403020204" pitchFamily="34" charset="0"/>
              </a:rPr>
              <a:t>os.html</a:t>
            </a:r>
            <a:endParaRPr lang="en-US" altLang="zh-CN" sz="1200" dirty="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os.name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os.environ</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os.getenv</a:t>
            </a:r>
            <a:r>
              <a:rPr lang="en-US" altLang="zh-CN" sz="1400" dirty="0">
                <a:solidFill>
                  <a:schemeClr val="bg2"/>
                </a:solidFill>
                <a:latin typeface="Source Sans Pro" panose="020B0503030403020204" pitchFamily="34" charset="0"/>
                <a:ea typeface="Source Sans Pro" panose="020B0503030403020204" pitchFamily="34" charset="0"/>
              </a:rPr>
              <a:t>() and </a:t>
            </a:r>
            <a:r>
              <a:rPr lang="en-US" altLang="zh-CN" sz="1400" dirty="0" err="1">
                <a:solidFill>
                  <a:schemeClr val="bg2"/>
                </a:solidFill>
                <a:latin typeface="Source Sans Pro" panose="020B0503030403020204" pitchFamily="34" charset="0"/>
                <a:ea typeface="Source Sans Pro" panose="020B0503030403020204" pitchFamily="34" charset="0"/>
              </a:rPr>
              <a:t>os.putenv</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环境变量</a:t>
            </a:r>
            <a:endParaRPr lang="zh-CN" altLang="en-US" sz="1400" dirty="0">
              <a:solidFill>
                <a:schemeClr val="bg2"/>
              </a:solidFill>
              <a:latin typeface="Source Sans Pro" panose="020B0503030403020204" pitchFamily="34" charset="0"/>
              <a:ea typeface="黑体" panose="02010609060101010101" pitchFamily="49" charset="-122"/>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os.chdir</a:t>
            </a:r>
            <a:r>
              <a:rPr lang="en-US" altLang="zh-CN" sz="1400" dirty="0">
                <a:solidFill>
                  <a:schemeClr val="bg2"/>
                </a:solidFill>
                <a:latin typeface="Source Sans Pro" panose="020B0503030403020204" pitchFamily="34" charset="0"/>
                <a:ea typeface="Source Sans Pro" panose="020B0503030403020204" pitchFamily="34" charset="0"/>
              </a:rPr>
              <a:t>() and </a:t>
            </a:r>
            <a:r>
              <a:rPr lang="en-US" altLang="zh-CN" sz="1400" dirty="0" err="1">
                <a:solidFill>
                  <a:schemeClr val="bg2"/>
                </a:solidFill>
                <a:latin typeface="Source Sans Pro" panose="020B0503030403020204" pitchFamily="34" charset="0"/>
                <a:ea typeface="Source Sans Pro" panose="020B0503030403020204" pitchFamily="34" charset="0"/>
              </a:rPr>
              <a:t>os.getcwd</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改变工作目录、查询当前目录</a:t>
            </a:r>
            <a:endParaRPr lang="zh-CN" altLang="en-US" sz="1400" dirty="0">
              <a:solidFill>
                <a:schemeClr val="bg2"/>
              </a:solidFill>
              <a:latin typeface="Source Sans Pro" panose="020B0503030403020204" pitchFamily="34" charset="0"/>
              <a:ea typeface="黑体" panose="02010609060101010101" pitchFamily="49" charset="-122"/>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os.mkdir</a:t>
            </a:r>
            <a:r>
              <a:rPr lang="en-US" altLang="zh-CN" sz="1400" dirty="0">
                <a:solidFill>
                  <a:schemeClr val="bg2"/>
                </a:solidFill>
                <a:latin typeface="Source Sans Pro" panose="020B0503030403020204" pitchFamily="34" charset="0"/>
                <a:ea typeface="Source Sans Pro" panose="020B0503030403020204" pitchFamily="34" charset="0"/>
              </a:rPr>
              <a:t>() and </a:t>
            </a:r>
            <a:r>
              <a:rPr lang="en-US" altLang="zh-CN" sz="1400" dirty="0" err="1">
                <a:solidFill>
                  <a:schemeClr val="bg2"/>
                </a:solidFill>
                <a:latin typeface="Source Sans Pro" panose="020B0503030403020204" pitchFamily="34" charset="0"/>
                <a:ea typeface="Source Sans Pro" panose="020B0503030403020204" pitchFamily="34" charset="0"/>
              </a:rPr>
              <a:t>os.makedirs</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创建目录</a:t>
            </a:r>
            <a:endParaRPr lang="zh-CN" altLang="en-US" sz="1400" dirty="0">
              <a:solidFill>
                <a:schemeClr val="bg2"/>
              </a:solidFill>
              <a:latin typeface="Source Sans Pro" panose="020B0503030403020204" pitchFamily="34" charset="0"/>
              <a:ea typeface="黑体" panose="02010609060101010101" pitchFamily="49" charset="-122"/>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os.remove</a:t>
            </a:r>
            <a:r>
              <a:rPr lang="en-US" altLang="zh-CN" sz="1400" dirty="0">
                <a:solidFill>
                  <a:schemeClr val="bg2"/>
                </a:solidFill>
                <a:latin typeface="Source Sans Pro" panose="020B0503030403020204" pitchFamily="34" charset="0"/>
                <a:ea typeface="Source Sans Pro" panose="020B0503030403020204" pitchFamily="34" charset="0"/>
              </a:rPr>
              <a:t>() and </a:t>
            </a:r>
            <a:r>
              <a:rPr lang="en-US" altLang="zh-CN" sz="1400" dirty="0" err="1">
                <a:solidFill>
                  <a:schemeClr val="bg2"/>
                </a:solidFill>
                <a:latin typeface="Source Sans Pro" panose="020B0503030403020204" pitchFamily="34" charset="0"/>
                <a:ea typeface="Source Sans Pro" panose="020B0503030403020204" pitchFamily="34" charset="0"/>
              </a:rPr>
              <a:t>os.rmdir</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tx1"/>
                </a:solidFill>
                <a:latin typeface="Source Sans Pro" panose="020B0503030403020204" pitchFamily="34" charset="0"/>
                <a:ea typeface="黑体" panose="02010609060101010101" pitchFamily="49" charset="-122"/>
              </a:rPr>
              <a:t>删除文件、目录 </a:t>
            </a:r>
            <a:endParaRPr lang="en-US" altLang="zh-CN" sz="1400" dirty="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os.rename</a:t>
            </a:r>
            <a:r>
              <a:rPr lang="en-US" altLang="zh-CN" sz="1400" dirty="0">
                <a:solidFill>
                  <a:schemeClr val="bg2"/>
                </a:solidFill>
                <a:latin typeface="Source Sans Pro" panose="020B0503030403020204" pitchFamily="34" charset="0"/>
                <a:ea typeface="Source Sans Pro" panose="020B0503030403020204" pitchFamily="34" charset="0"/>
              </a:rPr>
              <a:t>(</a:t>
            </a:r>
            <a:r>
              <a:rPr lang="en-US" altLang="zh-CN" sz="1400" dirty="0" err="1">
                <a:solidFill>
                  <a:schemeClr val="bg2"/>
                </a:solidFill>
                <a:latin typeface="Source Sans Pro" panose="020B0503030403020204" pitchFamily="34" charset="0"/>
                <a:ea typeface="Source Sans Pro" panose="020B0503030403020204" pitchFamily="34" charset="0"/>
              </a:rPr>
              <a:t>src</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dst</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重命名</a:t>
            </a:r>
            <a:endParaRPr lang="zh-CN" altLang="en-US" sz="1400" dirty="0">
              <a:solidFill>
                <a:schemeClr val="bg2"/>
              </a:solidFill>
              <a:latin typeface="Source Sans Pro" panose="020B0503030403020204" pitchFamily="34" charset="0"/>
              <a:ea typeface="黑体" panose="02010609060101010101" pitchFamily="49" charset="-122"/>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os.startfile</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修改程序的 打开方式</a:t>
            </a:r>
            <a:endParaRPr lang="zh-CN" altLang="en-US" sz="1400" dirty="0">
              <a:solidFill>
                <a:schemeClr val="bg2"/>
              </a:solidFill>
              <a:latin typeface="Source Sans Pro" panose="020B0503030403020204" pitchFamily="34" charset="0"/>
              <a:ea typeface="黑体" panose="02010609060101010101" pitchFamily="49" charset="-122"/>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os.walk</a:t>
            </a:r>
            <a:r>
              <a:rPr lang="en-US" altLang="zh-CN" sz="1400" dirty="0">
                <a:solidFill>
                  <a:schemeClr val="bg2"/>
                </a:solidFill>
                <a:latin typeface="Source Sans Pro" panose="020B0503030403020204" pitchFamily="34" charset="0"/>
                <a:ea typeface="Source Sans Pro" panose="020B0503030403020204" pitchFamily="34" charset="0"/>
              </a:rPr>
              <a:t>()</a:t>
            </a:r>
            <a:r>
              <a:rPr lang="zh-CN" altLang="en-US" sz="1400" dirty="0">
                <a:solidFill>
                  <a:schemeClr val="bg2"/>
                </a:solidFill>
                <a:latin typeface="Source Sans Pro" panose="020B0503030403020204" pitchFamily="34" charset="0"/>
                <a:ea typeface="黑体" panose="02010609060101010101" pitchFamily="49" charset="-122"/>
              </a:rPr>
              <a:t>：</a:t>
            </a:r>
            <a:r>
              <a:rPr lang="zh-CN" altLang="en-US" sz="1400" dirty="0">
                <a:solidFill>
                  <a:schemeClr val="tx1"/>
                </a:solidFill>
                <a:latin typeface="Source Sans Pro" panose="020B0503030403020204" pitchFamily="34" charset="0"/>
                <a:ea typeface="黑体" panose="02010609060101010101" pitchFamily="49" charset="-122"/>
              </a:rPr>
              <a:t>遍历一个路径下面所有目录和文件</a:t>
            </a:r>
            <a:endParaRPr lang="zh-CN" altLang="en-US" sz="1400" dirty="0">
              <a:solidFill>
                <a:schemeClr val="tx1"/>
              </a:solidFill>
              <a:latin typeface="Source Sans Pro" panose="020B0503030403020204" pitchFamily="34" charset="0"/>
              <a:ea typeface="黑体" panose="02010609060101010101" pitchFamily="49" charset="-122"/>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os.path</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err="1">
                <a:solidFill>
                  <a:schemeClr val="bg2"/>
                </a:solidFill>
                <a:latin typeface="Source Sans Pro" panose="020B0503030403020204" pitchFamily="34" charset="0"/>
                <a:ea typeface="Source Sans Pro" panose="020B0503030403020204" pitchFamily="34" charset="0"/>
              </a:rPr>
              <a:t>basename</a:t>
            </a:r>
            <a:r>
              <a:rPr lang="en-US" altLang="zh-CN" sz="1200" dirty="0">
                <a:solidFill>
                  <a:schemeClr val="bg2"/>
                </a:solidFill>
                <a:latin typeface="Source Sans Pro" panose="020B0503030403020204" pitchFamily="34" charset="0"/>
                <a:ea typeface="Source Sans Pro" panose="020B0503030403020204" pitchFamily="34" charset="0"/>
              </a:rPr>
              <a:t>, </a:t>
            </a:r>
            <a:r>
              <a:rPr lang="en-US" altLang="zh-CN" sz="1200" dirty="0" err="1">
                <a:solidFill>
                  <a:schemeClr val="bg2"/>
                </a:solidFill>
                <a:latin typeface="Source Sans Pro" panose="020B0503030403020204" pitchFamily="34" charset="0"/>
                <a:ea typeface="Source Sans Pro" panose="020B0503030403020204" pitchFamily="34" charset="0"/>
              </a:rPr>
              <a:t>dirname</a:t>
            </a:r>
            <a:r>
              <a:rPr lang="en-US" altLang="zh-CN" sz="1200" dirty="0">
                <a:solidFill>
                  <a:schemeClr val="bg2"/>
                </a:solidFill>
                <a:latin typeface="Source Sans Pro" panose="020B0503030403020204" pitchFamily="34" charset="0"/>
                <a:ea typeface="Source Sans Pro" panose="020B0503030403020204" pitchFamily="34" charset="0"/>
              </a:rPr>
              <a:t>, exists, </a:t>
            </a:r>
            <a:r>
              <a:rPr lang="en-US" altLang="zh-CN" sz="1200" dirty="0" err="1">
                <a:solidFill>
                  <a:schemeClr val="bg2"/>
                </a:solidFill>
                <a:latin typeface="Source Sans Pro" panose="020B0503030403020204" pitchFamily="34" charset="0"/>
                <a:ea typeface="Source Sans Pro" panose="020B0503030403020204" pitchFamily="34" charset="0"/>
              </a:rPr>
              <a:t>isdir</a:t>
            </a:r>
            <a:r>
              <a:rPr lang="en-US" altLang="zh-CN" sz="1200" dirty="0">
                <a:solidFill>
                  <a:schemeClr val="bg2"/>
                </a:solidFill>
                <a:latin typeface="Source Sans Pro" panose="020B0503030403020204" pitchFamily="34" charset="0"/>
                <a:ea typeface="Source Sans Pro" panose="020B0503030403020204" pitchFamily="34" charset="0"/>
              </a:rPr>
              <a:t> and </a:t>
            </a:r>
            <a:r>
              <a:rPr lang="en-US" altLang="zh-CN" sz="1200" dirty="0" err="1">
                <a:solidFill>
                  <a:schemeClr val="bg2"/>
                </a:solidFill>
                <a:latin typeface="Source Sans Pro" panose="020B0503030403020204" pitchFamily="34" charset="0"/>
                <a:ea typeface="Source Sans Pro" panose="020B0503030403020204" pitchFamily="34" charset="0"/>
              </a:rPr>
              <a:t>isfile</a:t>
            </a:r>
            <a:r>
              <a:rPr lang="en-US" altLang="zh-CN" sz="1200" dirty="0">
                <a:solidFill>
                  <a:schemeClr val="bg2"/>
                </a:solidFill>
                <a:latin typeface="Source Sans Pro" panose="020B0503030403020204" pitchFamily="34" charset="0"/>
                <a:ea typeface="Source Sans Pro" panose="020B0503030403020204" pitchFamily="34" charset="0"/>
              </a:rPr>
              <a:t>, join, split</a:t>
            </a:r>
            <a:endParaRPr lang="en-US" altLang="zh-CN" sz="1200" dirty="0">
              <a:solidFill>
                <a:schemeClr val="bg2"/>
              </a:solidFill>
              <a:latin typeface="Source Sans Pro" panose="020B0503030403020204" pitchFamily="34" charset="0"/>
              <a:ea typeface="Source Sans Pro" panose="020B0503030403020204" pitchFamily="34" charset="0"/>
            </a:endParaRPr>
          </a:p>
        </p:txBody>
      </p:sp>
      <p:sp>
        <p:nvSpPr>
          <p:cNvPr id="6" name="文本框 5"/>
          <p:cNvSpPr txBox="1"/>
          <p:nvPr/>
        </p:nvSpPr>
        <p:spPr>
          <a:xfrm>
            <a:off x="72668" y="4691817"/>
            <a:ext cx="4705223" cy="400110"/>
          </a:xfrm>
          <a:prstGeom prst="rect">
            <a:avLst/>
          </a:prstGeom>
          <a:noFill/>
        </p:spPr>
        <p:txBody>
          <a:bodyPr wrap="square">
            <a:spAutoFit/>
          </a:bodyPr>
          <a:lstStyle/>
          <a:p>
            <a:r>
              <a:rPr lang="zh-CN" altLang="en-US" sz="1000">
                <a:solidFill>
                  <a:schemeClr val="bg2"/>
                </a:solidFill>
                <a:latin typeface="Source Sans Pro" panose="020B0503030403020204" pitchFamily="34" charset="0"/>
              </a:rPr>
              <a:t>https://python101.pythonlibrary.org/chapter16_os.html</a:t>
            </a:r>
            <a:endParaRPr lang="en-US" altLang="zh-CN" sz="1000">
              <a:solidFill>
                <a:schemeClr val="bg2"/>
              </a:solidFill>
              <a:latin typeface="Source Sans Pro" panose="020B0503030403020204" pitchFamily="34" charset="0"/>
            </a:endParaRPr>
          </a:p>
          <a:p>
            <a:r>
              <a:rPr lang="en-US" altLang="zh-CN" sz="1000">
                <a:latin typeface="Source Sans Pro" panose="020B0503030403020204" pitchFamily="34" charset="0"/>
              </a:rPr>
              <a:t>https://docs.python.org/3.3/library/os.path.html?highlight=path#module-os.path</a:t>
            </a:r>
            <a:endParaRPr lang="en-US" altLang="zh-CN" sz="1000">
              <a:latin typeface="Source Sans Pro" panose="020B0503030403020204" pitchFamily="34" charset="0"/>
            </a:endParaRPr>
          </a:p>
        </p:txBody>
      </p:sp>
      <p:pic>
        <p:nvPicPr>
          <p:cNvPr id="7" name="Picture 2" descr="Graphical user interface, 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41065" y="1339921"/>
            <a:ext cx="3723284" cy="2041681"/>
          </a:xfrm>
          <a:prstGeom prst="rect">
            <a:avLst/>
          </a:prstGeom>
        </p:spPr>
      </p:pic>
      <p:pic>
        <p:nvPicPr>
          <p:cNvPr id="8" name="Picture 6"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1065" y="3569048"/>
            <a:ext cx="1221170" cy="67082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76420"/>
            <a:ext cx="8520600" cy="623400"/>
          </a:xfrm>
        </p:spPr>
        <p:txBody>
          <a:bodyPr>
            <a:normAutofit fontScale="90000"/>
          </a:bodyPr>
          <a:lstStyle/>
          <a:p>
            <a:r>
              <a:rPr lang="en-US" altLang="zh-CN">
                <a:latin typeface="Raleway" pitchFamily="34" charset="0"/>
                <a:ea typeface="Source Sans Pro" panose="020B0503030403020204" pitchFamily="34" charset="0"/>
              </a:rPr>
              <a:t>File in Python</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255820" y="800050"/>
            <a:ext cx="8520600" cy="3416400"/>
          </a:xfrm>
        </p:spPr>
        <p:txBody>
          <a:bodyPr>
            <a:noAutofit/>
          </a:bodyPr>
          <a:lstStyle/>
          <a:p>
            <a:r>
              <a:rPr lang="en-US" altLang="zh-CN" sz="1400" dirty="0">
                <a:solidFill>
                  <a:schemeClr val="bg2"/>
                </a:solidFill>
              </a:rPr>
              <a:t>While a program is running, its data is stored in random access memory (RAM). RAM is fast and inexpensive, but when the program ends, or the computer shuts down, </a:t>
            </a:r>
            <a:r>
              <a:rPr lang="en-US" altLang="zh-CN" sz="1400" dirty="0">
                <a:solidFill>
                  <a:schemeClr val="tx1"/>
                </a:solidFill>
              </a:rPr>
              <a:t>data in RAM will be lost</a:t>
            </a:r>
            <a:endParaRPr lang="en-US" altLang="zh-CN" sz="1400" dirty="0">
              <a:solidFill>
                <a:schemeClr val="tx1"/>
              </a:solidFill>
            </a:endParaRPr>
          </a:p>
          <a:p>
            <a:r>
              <a:rPr lang="en-US" altLang="zh-CN" sz="1400" dirty="0">
                <a:solidFill>
                  <a:schemeClr val="bg2"/>
                </a:solidFill>
              </a:rPr>
              <a:t>To make data available the next time the computer is turned on and the program is started, it has to be written to a </a:t>
            </a:r>
            <a:r>
              <a:rPr lang="en-US" altLang="zh-CN" sz="1400" dirty="0">
                <a:solidFill>
                  <a:schemeClr val="tx1"/>
                </a:solidFill>
              </a:rPr>
              <a:t>non-volatile</a:t>
            </a:r>
            <a:r>
              <a:rPr lang="en-US" altLang="zh-CN" sz="1400" dirty="0">
                <a:solidFill>
                  <a:schemeClr val="bg2"/>
                </a:solidFill>
              </a:rPr>
              <a:t> storage medium, such a hard drive, </a:t>
            </a:r>
            <a:r>
              <a:rPr lang="en-US" altLang="zh-CN" sz="1400" dirty="0" err="1">
                <a:solidFill>
                  <a:schemeClr val="bg2"/>
                </a:solidFill>
              </a:rPr>
              <a:t>usb</a:t>
            </a:r>
            <a:r>
              <a:rPr lang="en-US" altLang="zh-CN" sz="1400" dirty="0">
                <a:solidFill>
                  <a:schemeClr val="bg2"/>
                </a:solidFill>
              </a:rPr>
              <a:t> drive, or CD-RW</a:t>
            </a:r>
            <a:endParaRPr lang="en-US" altLang="zh-CN" sz="1400" dirty="0">
              <a:solidFill>
                <a:schemeClr val="bg2"/>
              </a:solidFill>
            </a:endParaRPr>
          </a:p>
          <a:p>
            <a:r>
              <a:rPr lang="en-US" altLang="zh-CN" sz="1400" dirty="0">
                <a:solidFill>
                  <a:schemeClr val="bg2"/>
                </a:solidFill>
              </a:rPr>
              <a:t>Data on non-volatile storage media is stored in named locations on the media called files</a:t>
            </a:r>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a:p>
            <a:r>
              <a:rPr lang="en-US" altLang="zh-CN" sz="1400" dirty="0">
                <a:solidFill>
                  <a:schemeClr val="bg2"/>
                </a:solidFill>
              </a:rPr>
              <a:t>Working with files is a lot like working with a notebook</a:t>
            </a:r>
            <a:endParaRPr lang="en-US" altLang="zh-CN" sz="1400" dirty="0">
              <a:solidFill>
                <a:schemeClr val="bg2"/>
              </a:solidFill>
            </a:endParaRPr>
          </a:p>
          <a:p>
            <a:pPr lvl="1"/>
            <a:r>
              <a:rPr lang="en-US" altLang="zh-CN" sz="1200" dirty="0">
                <a:solidFill>
                  <a:schemeClr val="bg2"/>
                </a:solidFill>
              </a:rPr>
              <a:t>To use a notebook, it has to be opened</a:t>
            </a:r>
            <a:endParaRPr lang="en-US" altLang="zh-CN" sz="1200" dirty="0">
              <a:solidFill>
                <a:schemeClr val="bg2"/>
              </a:solidFill>
            </a:endParaRPr>
          </a:p>
          <a:p>
            <a:pPr lvl="1"/>
            <a:r>
              <a:rPr lang="en-US" altLang="zh-CN" sz="1200" dirty="0">
                <a:solidFill>
                  <a:schemeClr val="bg2"/>
                </a:solidFill>
              </a:rPr>
              <a:t>When done, it has to be closed </a:t>
            </a:r>
            <a:endParaRPr lang="en-US" altLang="zh-CN" sz="1200" dirty="0">
              <a:solidFill>
                <a:schemeClr val="bg2"/>
              </a:solidFill>
            </a:endParaRPr>
          </a:p>
          <a:p>
            <a:r>
              <a:rPr lang="en-US" altLang="zh-CN" sz="1400" dirty="0">
                <a:solidFill>
                  <a:schemeClr val="bg2"/>
                </a:solidFill>
              </a:rPr>
              <a:t>In python, a file object will be created to operate the file</a:t>
            </a:r>
            <a:endParaRPr lang="en-US" altLang="zh-CN" sz="1400" dirty="0">
              <a:solidFill>
                <a:schemeClr val="bg2"/>
              </a:solidFill>
            </a:endParaRPr>
          </a:p>
          <a:p>
            <a:pPr marL="114300" indent="0">
              <a:buNone/>
            </a:pPr>
            <a:r>
              <a:rPr lang="en-US" altLang="zh-CN" sz="1400" dirty="0">
                <a:solidFill>
                  <a:schemeClr val="tx1"/>
                </a:solidFill>
              </a:rPr>
              <a:t>	open(filename, mode): returns a file object, default mode is “read”</a:t>
            </a:r>
            <a:endParaRPr lang="en-US" altLang="zh-CN" sz="1400" dirty="0">
              <a:solidFill>
                <a:schemeClr val="tx1"/>
              </a:solidFill>
            </a:endParaRPr>
          </a:p>
          <a:p>
            <a:pPr marL="114300" indent="0">
              <a:buNone/>
            </a:pPr>
            <a:r>
              <a:rPr lang="en-US" altLang="zh-CN" sz="1400" dirty="0">
                <a:solidFill>
                  <a:schemeClr val="tx1"/>
                </a:solidFill>
              </a:rPr>
              <a:t>	close():  free up any system resources taken up by the open file</a:t>
            </a:r>
            <a:endParaRPr lang="en-US" altLang="zh-CN" sz="1400" dirty="0">
              <a:solidFill>
                <a:schemeClr val="tx1"/>
              </a:solidFill>
            </a:endParaRPr>
          </a:p>
          <a:p>
            <a:pPr marL="114300" indent="0">
              <a:buNone/>
            </a:pPr>
            <a:r>
              <a:rPr lang="en-US" altLang="zh-CN" sz="1400" dirty="0">
                <a:solidFill>
                  <a:schemeClr val="tx1"/>
                </a:solidFill>
              </a:rPr>
              <a:t>在 python 中，将创建一个文件对象来操作文件</a:t>
            </a:r>
            <a:endParaRPr lang="en-US" altLang="zh-CN" sz="1400" dirty="0">
              <a:solidFill>
                <a:schemeClr val="tx1"/>
              </a:solidFill>
            </a:endParaRPr>
          </a:p>
          <a:p>
            <a:pPr marL="114300" indent="0">
              <a:buNone/>
            </a:pPr>
            <a:r>
              <a:rPr lang="en-US" altLang="zh-CN" sz="1400" dirty="0">
                <a:solidFill>
                  <a:schemeClr val="tx1"/>
                </a:solidFill>
              </a:rPr>
              <a:t>	open（filename， mode）： 返回一个文件对象，默认模式为 “read”</a:t>
            </a:r>
            <a:endParaRPr lang="en-US" altLang="zh-CN" sz="1400" dirty="0">
              <a:solidFill>
                <a:schemeClr val="tx1"/>
              </a:solidFill>
            </a:endParaRPr>
          </a:p>
          <a:p>
            <a:pPr marL="114300" indent="0">
              <a:buNone/>
            </a:pPr>
            <a:r>
              <a:rPr lang="en-US" altLang="zh-CN" sz="1400" dirty="0">
                <a:solidFill>
                  <a:schemeClr val="tx1"/>
                </a:solidFill>
              </a:rPr>
              <a:t>	close（）：释放打开的文件占用的所有系统资源</a:t>
            </a:r>
            <a:endParaRPr lang="en-US" altLang="zh-CN" sz="1400" dirty="0">
              <a:solidFill>
                <a:schemeClr val="tx1"/>
              </a:solidFill>
            </a:endParaRPr>
          </a:p>
        </p:txBody>
      </p:sp>
      <mc:AlternateContent xmlns:mc="http://schemas.openxmlformats.org/markup-compatibility/2006">
        <mc:Choice xmlns:a14="http://schemas.microsoft.com/office/drawing/2010/main" Requires="a14">
          <p:sp>
            <p:nvSpPr>
              <p:cNvPr id="3" name="Rectangle 4"/>
              <p:cNvSpPr/>
              <p:nvPr/>
            </p:nvSpPr>
            <p:spPr>
              <a:xfrm>
                <a:off x="1942539" y="2196550"/>
                <a:ext cx="5258921" cy="6234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n"/>
                </a:pPr>
                <a:r>
                  <a:rPr lang="zh-CN" altLang="en-US" sz="1200" dirty="0">
                    <a:solidFill>
                      <a:schemeClr val="tx1"/>
                    </a:solidFill>
                    <a:latin typeface="黑体" panose="02010609060101010101" pitchFamily="49" charset="-122"/>
                    <a:ea typeface="黑体" panose="02010609060101010101" pitchFamily="49" charset="-122"/>
                  </a:rPr>
                  <a:t>所有文件都是二进制存储的</a:t>
                </a:r>
                <a:r>
                  <a:rPr lang="en-US" altLang="zh-CN" sz="1200" dirty="0">
                    <a:solidFill>
                      <a:schemeClr val="tx1"/>
                    </a:solidFill>
                    <a:latin typeface="黑体" panose="02010609060101010101" pitchFamily="49" charset="-122"/>
                    <a:ea typeface="黑体" panose="02010609060101010101" pitchFamily="49" charset="-122"/>
                  </a:rPr>
                  <a:t>: </a:t>
                </a:r>
                <a:r>
                  <a:rPr lang="zh-CN" altLang="en-US" sz="1200" dirty="0">
                    <a:solidFill>
                      <a:schemeClr val="tx1"/>
                    </a:solidFill>
                    <a:latin typeface="黑体" panose="02010609060101010101" pitchFamily="49" charset="-122"/>
                    <a:ea typeface="黑体" panose="02010609060101010101" pitchFamily="49" charset="-122"/>
                  </a:rPr>
                  <a:t>二进制文件</a:t>
                </a:r>
                <a:endParaRPr lang="en-US" altLang="zh-CN" sz="1200" dirty="0">
                  <a:solidFill>
                    <a:schemeClr val="tx1"/>
                  </a:solidFill>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pPr>
                <a:r>
                  <a:rPr lang="zh-CN" altLang="en-US" sz="1200" dirty="0">
                    <a:solidFill>
                      <a:schemeClr val="tx1"/>
                    </a:solidFill>
                    <a:latin typeface="黑体" panose="02010609060101010101" pitchFamily="49" charset="-122"/>
                    <a:ea typeface="黑体" panose="02010609060101010101" pitchFamily="49" charset="-122"/>
                  </a:rPr>
                  <a:t>把单个字节</a:t>
                </a:r>
                <a:r>
                  <a:rPr lang="en-US" altLang="zh-CN" sz="1200" dirty="0">
                    <a:solidFill>
                      <a:schemeClr val="tx1"/>
                    </a:solidFill>
                    <a:latin typeface="黑体" panose="02010609060101010101" pitchFamily="49" charset="-122"/>
                    <a:ea typeface="黑体" panose="02010609060101010101" pitchFamily="49" charset="-122"/>
                  </a:rPr>
                  <a:t>(Byte)</a:t>
                </a:r>
                <a:r>
                  <a:rPr lang="zh-CN" altLang="en-US" sz="1200" dirty="0">
                    <a:solidFill>
                      <a:schemeClr val="tx1"/>
                    </a:solidFill>
                    <a:latin typeface="黑体" panose="02010609060101010101" pitchFamily="49" charset="-122"/>
                    <a:ea typeface="黑体" panose="02010609060101010101" pitchFamily="49" charset="-122"/>
                  </a:rPr>
                  <a:t>的</a:t>
                </a:r>
                <a:r>
                  <a:rPr lang="en-US" altLang="zh-CN" sz="1200" dirty="0">
                    <a:solidFill>
                      <a:schemeClr val="tx1"/>
                    </a:solidFill>
                    <a:latin typeface="黑体" panose="02010609060101010101" pitchFamily="49" charset="-122"/>
                    <a:ea typeface="黑体" panose="02010609060101010101" pitchFamily="49" charset="-122"/>
                  </a:rPr>
                  <a:t>0/1</a:t>
                </a:r>
                <a:r>
                  <a:rPr lang="zh-CN" altLang="en-US" sz="1200" dirty="0">
                    <a:solidFill>
                      <a:schemeClr val="tx1"/>
                    </a:solidFill>
                    <a:latin typeface="黑体" panose="02010609060101010101" pitchFamily="49" charset="-122"/>
                    <a:ea typeface="黑体" panose="02010609060101010101" pitchFamily="49" charset="-122"/>
                  </a:rPr>
                  <a:t>串和人类可读的文字一一对应上来</a:t>
                </a:r>
                <a14:m>
                  <m:oMath xmlns:m="http://schemas.openxmlformats.org/officeDocument/2006/math">
                    <m:r>
                      <a:rPr lang="en-US" altLang="zh-CN" sz="1200" b="0" i="1" smtClean="0">
                        <a:solidFill>
                          <a:schemeClr val="tx1"/>
                        </a:solidFill>
                        <a:latin typeface="Cambria Math" panose="02040503050406030204" pitchFamily="18" charset="0"/>
                      </a:rPr>
                      <m:t>→</m:t>
                    </m:r>
                  </m:oMath>
                </a14:m>
                <a:r>
                  <a:rPr lang="en-US" altLang="zh-CN" sz="1200" dirty="0">
                    <a:solidFill>
                      <a:schemeClr val="tx1"/>
                    </a:solidFill>
                    <a:latin typeface="黑体" panose="02010609060101010101" pitchFamily="49" charset="-122"/>
                    <a:ea typeface="黑体" panose="02010609060101010101" pitchFamily="49" charset="-122"/>
                  </a:rPr>
                  <a:t> </a:t>
                </a:r>
                <a:r>
                  <a:rPr lang="zh-CN" altLang="en-US" sz="1200" dirty="0">
                    <a:solidFill>
                      <a:schemeClr val="tx1"/>
                    </a:solidFill>
                    <a:latin typeface="黑体" panose="02010609060101010101" pitchFamily="49" charset="-122"/>
                    <a:ea typeface="黑体" panose="02010609060101010101" pitchFamily="49" charset="-122"/>
                  </a:rPr>
                  <a:t>文本文件</a:t>
                </a:r>
                <a:endParaRPr lang="en-US" altLang="zh-CN" sz="1200" dirty="0">
                  <a:solidFill>
                    <a:schemeClr val="tx1"/>
                  </a:solidFill>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pPr>
                <a:r>
                  <a:rPr lang="en-US" altLang="zh-CN" sz="1200" dirty="0">
                    <a:solidFill>
                      <a:schemeClr val="tx1"/>
                    </a:solidFill>
                    <a:latin typeface="黑体" panose="02010609060101010101" pitchFamily="49" charset="-122"/>
                    <a:ea typeface="黑体" panose="02010609060101010101" pitchFamily="49" charset="-122"/>
                  </a:rPr>
                  <a:t>0/1</a:t>
                </a:r>
                <a:r>
                  <a:rPr lang="zh-CN" altLang="en-US" sz="1200" dirty="0">
                    <a:solidFill>
                      <a:schemeClr val="tx1"/>
                    </a:solidFill>
                    <a:latin typeface="黑体" panose="02010609060101010101" pitchFamily="49" charset="-122"/>
                    <a:ea typeface="黑体" panose="02010609060101010101" pitchFamily="49" charset="-122"/>
                  </a:rPr>
                  <a:t>串可以有任意多种文字的解读，</a:t>
                </a:r>
                <a:r>
                  <a:rPr lang="en-US" altLang="zh-CN" sz="1200" dirty="0">
                    <a:solidFill>
                      <a:schemeClr val="tx1"/>
                    </a:solidFill>
                    <a:latin typeface="黑体" panose="02010609060101010101" pitchFamily="49" charset="-122"/>
                    <a:ea typeface="黑体" panose="02010609060101010101" pitchFamily="49" charset="-122"/>
                  </a:rPr>
                  <a:t>ASCII</a:t>
                </a:r>
                <a:r>
                  <a:rPr lang="zh-CN" altLang="en-US" sz="1200" dirty="0">
                    <a:solidFill>
                      <a:schemeClr val="tx1"/>
                    </a:solidFill>
                    <a:latin typeface="黑体" panose="02010609060101010101" pitchFamily="49" charset="-122"/>
                    <a:ea typeface="黑体" panose="02010609060101010101" pitchFamily="49" charset="-122"/>
                  </a:rPr>
                  <a:t>只是其中一种</a:t>
                </a:r>
                <a:endParaRPr lang="en-US" altLang="zh-CN" sz="1200" dirty="0">
                  <a:solidFill>
                    <a:schemeClr val="tx1"/>
                  </a:solidFill>
                  <a:latin typeface="黑体" panose="02010609060101010101" pitchFamily="49" charset="-122"/>
                  <a:ea typeface="黑体" panose="02010609060101010101" pitchFamily="49" charset="-122"/>
                </a:endParaRPr>
              </a:p>
            </p:txBody>
          </p:sp>
        </mc:Choice>
        <mc:Fallback>
          <p:sp>
            <p:nvSpPr>
              <p:cNvPr id="3" name="Rectangle 4"/>
              <p:cNvSpPr>
                <a:spLocks noRot="1" noChangeAspect="1" noMove="1" noResize="1" noEditPoints="1" noAdjustHandles="1" noChangeArrowheads="1" noChangeShapeType="1" noTextEdit="1"/>
              </p:cNvSpPr>
              <p:nvPr/>
            </p:nvSpPr>
            <p:spPr>
              <a:xfrm>
                <a:off x="1942539" y="2196550"/>
                <a:ext cx="5258921" cy="623400"/>
              </a:xfrm>
              <a:prstGeom prst="rect">
                <a:avLst/>
              </a:prstGeom>
              <a:blipFill rotWithShape="1">
                <a:blip r:embed="rId1"/>
                <a:stretch>
                  <a:fillRect l="-1" t="-14" r="11" b="8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File Mode: Text and Binary</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85" y="916305"/>
            <a:ext cx="8520430" cy="4325620"/>
          </a:xfrm>
        </p:spPr>
        <p:txBody>
          <a:bodyPr numCol="2">
            <a:noAutofit/>
          </a:bodyPr>
          <a:lstStyle/>
          <a:p>
            <a:r>
              <a:rPr lang="en-US" altLang="zh-CN" sz="1400" dirty="0">
                <a:solidFill>
                  <a:schemeClr val="bg2"/>
                </a:solidFill>
              </a:rPr>
              <a:t>Text mode implies </a:t>
            </a:r>
            <a:r>
              <a:rPr lang="en-US" altLang="zh-CN" sz="1400" dirty="0">
                <a:solidFill>
                  <a:schemeClr val="tx1"/>
                </a:solidFill>
              </a:rPr>
              <a:t>str objects</a:t>
            </a:r>
            <a:r>
              <a:rPr lang="en-US" altLang="zh-CN" sz="1400" dirty="0">
                <a:solidFill>
                  <a:schemeClr val="bg2"/>
                </a:solidFill>
              </a:rPr>
              <a:t>, and binary mode implies </a:t>
            </a:r>
            <a:r>
              <a:rPr lang="en-US" altLang="zh-CN" sz="1400" dirty="0">
                <a:solidFill>
                  <a:schemeClr val="tx1"/>
                </a:solidFill>
              </a:rPr>
              <a:t>bytes objects</a:t>
            </a:r>
            <a:r>
              <a:rPr lang="en-US" altLang="zh-CN" sz="1400" dirty="0">
                <a:solidFill>
                  <a:schemeClr val="bg2"/>
                </a:solidFill>
              </a:rPr>
              <a:t>:</a:t>
            </a:r>
            <a:endParaRPr lang="en-US" altLang="zh-CN" sz="1400" dirty="0">
              <a:solidFill>
                <a:schemeClr val="bg2"/>
              </a:solidFill>
            </a:endParaRPr>
          </a:p>
          <a:p>
            <a:r>
              <a:rPr lang="en-US" altLang="zh-CN" sz="1400" dirty="0">
                <a:solidFill>
                  <a:schemeClr val="bg2"/>
                </a:solidFill>
              </a:rPr>
              <a:t>Text-mode files interpret file contents according to </a:t>
            </a:r>
            <a:r>
              <a:rPr lang="en-US" altLang="zh-CN" sz="1400" dirty="0">
                <a:solidFill>
                  <a:schemeClr val="tx1"/>
                </a:solidFill>
              </a:rPr>
              <a:t>a Unicode encoding</a:t>
            </a:r>
            <a:r>
              <a:rPr lang="en-US" altLang="zh-CN" sz="1400" dirty="0">
                <a:solidFill>
                  <a:schemeClr val="bg2"/>
                </a:solidFill>
              </a:rPr>
              <a:t>—either the default for your platform, or one whose name you pass in. By passing in an encoding name to open, you can force conversions for various types of Unicode files. </a:t>
            </a:r>
            <a:endParaRPr lang="en-US" altLang="zh-CN" sz="1400" dirty="0">
              <a:solidFill>
                <a:schemeClr val="bg2"/>
              </a:solidFill>
            </a:endParaRPr>
          </a:p>
          <a:p>
            <a:pPr lvl="1"/>
            <a:r>
              <a:rPr lang="en-US" altLang="zh-CN" sz="1200" dirty="0">
                <a:solidFill>
                  <a:schemeClr val="bg2"/>
                </a:solidFill>
              </a:rPr>
              <a:t>Textmode files also perform universal line-end translations: by default, all line-end forms map to the single '\n' character in your script, regardless of the platform on which you run it. As described earlier, text files also handle reading and writing the byte order mark (BOM) stored at the start-of-file in some Unicode encoding schemes.</a:t>
            </a:r>
            <a:endParaRPr lang="en-US" altLang="zh-CN" sz="1200" dirty="0">
              <a:solidFill>
                <a:schemeClr val="bg2"/>
              </a:solidFill>
            </a:endParaRPr>
          </a:p>
          <a:p>
            <a:r>
              <a:rPr lang="en-US" altLang="zh-CN" sz="1400" dirty="0">
                <a:solidFill>
                  <a:schemeClr val="bg2"/>
                </a:solidFill>
              </a:rPr>
              <a:t>Binary-mode files instead return file content to you raw, as a sequence of integers representing byte values, </a:t>
            </a:r>
            <a:r>
              <a:rPr lang="en-US" altLang="zh-CN" sz="1400" dirty="0">
                <a:solidFill>
                  <a:schemeClr val="tx1"/>
                </a:solidFill>
              </a:rPr>
              <a:t>with no encoding or decoding and no line-end translations</a:t>
            </a:r>
            <a:r>
              <a:rPr lang="en-US" altLang="zh-CN" sz="1400" dirty="0">
                <a:solidFill>
                  <a:schemeClr val="bg2"/>
                </a:solidFill>
              </a:rPr>
              <a:t>.</a:t>
            </a:r>
            <a:endParaRPr lang="en-US" altLang="zh-CN" sz="1400" dirty="0">
              <a:solidFill>
                <a:schemeClr val="bg2"/>
              </a:solidFill>
            </a:endParaRPr>
          </a:p>
          <a:p>
            <a:r>
              <a:rPr lang="en-US" altLang="zh-CN" sz="1400" dirty="0">
                <a:solidFill>
                  <a:schemeClr val="bg2"/>
                </a:solidFill>
              </a:rPr>
              <a:t>文本模式隐含 str 对象，二进制模式隐含 bytes 对象：</a:t>
            </a:r>
            <a:endParaRPr lang="en-US" altLang="zh-CN" sz="1400" dirty="0">
              <a:solidFill>
                <a:schemeClr val="bg2"/>
              </a:solidFill>
            </a:endParaRPr>
          </a:p>
          <a:p>
            <a:r>
              <a:rPr lang="en-US" altLang="zh-CN" sz="1400" dirty="0">
                <a:solidFill>
                  <a:schemeClr val="bg2"/>
                </a:solidFill>
              </a:rPr>
              <a:t>文本模式文件根据 Unicode 编码解释文件内容，Unicode 编码可以是平台的默认编码，也可以是您传入其名称的编码。通过传入要打开的编码名称，可以强制转换各种类型的 Unicode 文件。</a:t>
            </a:r>
            <a:endParaRPr lang="en-US" altLang="zh-CN" sz="1400" dirty="0">
              <a:solidFill>
                <a:schemeClr val="bg2"/>
              </a:solidFill>
            </a:endParaRPr>
          </a:p>
          <a:p>
            <a:r>
              <a:rPr lang="en-US" altLang="zh-CN" sz="1400" dirty="0">
                <a:solidFill>
                  <a:schemeClr val="bg2"/>
                </a:solidFill>
              </a:rPr>
              <a:t>文本模式文件还执行通用行尾转换：默认情况下，所有行尾窗体都映射到脚本中的单个“\n”字符，而不管运行它的平台如何。如前所述，文本文件还处理读取和写入某些 Unicode 编码方案中存储在文件开头的字节顺序标记 （BOM）。</a:t>
            </a:r>
            <a:endParaRPr lang="en-US" altLang="zh-CN" sz="1400" dirty="0">
              <a:solidFill>
                <a:schemeClr val="bg2"/>
              </a:solidFill>
            </a:endParaRPr>
          </a:p>
          <a:p>
            <a:r>
              <a:rPr lang="en-US" altLang="zh-CN" sz="1400" dirty="0">
                <a:solidFill>
                  <a:schemeClr val="bg2"/>
                </a:solidFill>
              </a:rPr>
              <a:t>相反，二进制模式文件以表示字节值的整数序列的形式将文件内容原始返回给您，没有编码或解码，也没有行尾转换。</a:t>
            </a:r>
            <a:endParaRPr lang="en-US" altLang="zh-CN" sz="1400" dirty="0">
              <a:solidFill>
                <a:schemeClr val="bg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88155"/>
            <a:ext cx="8520600" cy="623400"/>
          </a:xfrm>
        </p:spPr>
        <p:txBody>
          <a:bodyPr>
            <a:normAutofit fontScale="90000"/>
          </a:bodyPr>
          <a:lstStyle/>
          <a:p>
            <a:r>
              <a:rPr lang="en-US" altLang="zh-CN">
                <a:latin typeface="Raleway" pitchFamily="34" charset="0"/>
                <a:ea typeface="Source Sans Pro" panose="020B0503030403020204" pitchFamily="34" charset="0"/>
              </a:rPr>
              <a:t>open()</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264795" y="526415"/>
            <a:ext cx="8414385" cy="4290060"/>
          </a:xfrm>
        </p:spPr>
        <p:txBody>
          <a:bodyPr numCol="2">
            <a:noAutofit/>
          </a:bodyPr>
          <a:lstStyle/>
          <a:p>
            <a:r>
              <a:rPr lang="en-US" altLang="zh-CN" sz="1400" dirty="0">
                <a:solidFill>
                  <a:schemeClr val="bg2"/>
                </a:solidFill>
              </a:rPr>
              <a:t>Syntax: </a:t>
            </a:r>
            <a:r>
              <a:rPr lang="en-US" altLang="zh-CN" sz="1400" dirty="0">
                <a:solidFill>
                  <a:schemeClr val="tx1"/>
                </a:solidFill>
              </a:rPr>
              <a:t>open(file, mode='r', buffering=- 1, encoding=None, errors=None, newline=None, </a:t>
            </a:r>
            <a:r>
              <a:rPr lang="en-US" altLang="zh-CN" sz="1400" dirty="0" err="1">
                <a:solidFill>
                  <a:schemeClr val="tx1"/>
                </a:solidFill>
              </a:rPr>
              <a:t>closefd</a:t>
            </a:r>
            <a:r>
              <a:rPr lang="en-US" altLang="zh-CN" sz="1400" dirty="0">
                <a:solidFill>
                  <a:schemeClr val="tx1"/>
                </a:solidFill>
              </a:rPr>
              <a:t>=True, opener=None)  </a:t>
            </a:r>
            <a:endParaRPr lang="en-US" altLang="zh-CN" sz="1400" dirty="0">
              <a:solidFill>
                <a:schemeClr val="tx1"/>
              </a:solidFill>
            </a:endParaRPr>
          </a:p>
          <a:p>
            <a:pPr lvl="1"/>
            <a:r>
              <a:rPr lang="en-US" altLang="zh-CN" sz="1200" dirty="0">
                <a:solidFill>
                  <a:schemeClr val="bg2"/>
                </a:solidFill>
              </a:rPr>
              <a:t>This function creates a file object, which would be utilized to call other support methods associated with it.</a:t>
            </a:r>
            <a:endParaRPr lang="en-US" altLang="zh-CN" sz="1200" dirty="0">
              <a:solidFill>
                <a:schemeClr val="bg2"/>
              </a:solidFill>
            </a:endParaRPr>
          </a:p>
          <a:p>
            <a:r>
              <a:rPr lang="en-US" altLang="zh-CN" sz="1400" dirty="0">
                <a:solidFill>
                  <a:schemeClr val="bg2"/>
                </a:solidFill>
              </a:rPr>
              <a:t>Here are parameter details −</a:t>
            </a:r>
            <a:endParaRPr lang="en-US" altLang="zh-CN" sz="1400" dirty="0">
              <a:solidFill>
                <a:schemeClr val="bg2"/>
              </a:solidFill>
            </a:endParaRPr>
          </a:p>
          <a:p>
            <a:pPr lvl="1"/>
            <a:r>
              <a:rPr lang="en-US" altLang="zh-CN" sz="1200" dirty="0" err="1">
                <a:solidFill>
                  <a:schemeClr val="bg2"/>
                </a:solidFill>
              </a:rPr>
              <a:t>file_name</a:t>
            </a:r>
            <a:r>
              <a:rPr lang="en-US" altLang="zh-CN" sz="1200" dirty="0">
                <a:solidFill>
                  <a:schemeClr val="bg2"/>
                </a:solidFill>
              </a:rPr>
              <a:t> − The </a:t>
            </a:r>
            <a:r>
              <a:rPr lang="en-US" altLang="zh-CN" sz="1200" dirty="0" err="1">
                <a:solidFill>
                  <a:schemeClr val="bg2"/>
                </a:solidFill>
              </a:rPr>
              <a:t>file_name</a:t>
            </a:r>
            <a:r>
              <a:rPr lang="en-US" altLang="zh-CN" sz="1200" dirty="0">
                <a:solidFill>
                  <a:schemeClr val="bg2"/>
                </a:solidFill>
              </a:rPr>
              <a:t> argument is a</a:t>
            </a:r>
            <a:r>
              <a:rPr lang="en-US" altLang="zh-CN" sz="1200" dirty="0">
                <a:solidFill>
                  <a:srgbClr val="FF0000"/>
                </a:solidFill>
                <a:highlight>
                  <a:srgbClr val="FFFF00"/>
                </a:highlight>
              </a:rPr>
              <a:t> string</a:t>
            </a:r>
            <a:endParaRPr lang="en-US" altLang="zh-CN" sz="1200" dirty="0">
              <a:solidFill>
                <a:srgbClr val="FF0000"/>
              </a:solidFill>
              <a:highlight>
                <a:srgbClr val="FFFF00"/>
              </a:highlight>
            </a:endParaRPr>
          </a:p>
          <a:p>
            <a:pPr lvl="1"/>
            <a:r>
              <a:rPr lang="en-US" altLang="zh-CN" sz="1200" dirty="0" err="1">
                <a:solidFill>
                  <a:schemeClr val="bg2"/>
                </a:solidFill>
              </a:rPr>
              <a:t>access_mode</a:t>
            </a:r>
            <a:r>
              <a:rPr lang="en-US" altLang="zh-CN" sz="1200" dirty="0">
                <a:solidFill>
                  <a:schemeClr val="bg2"/>
                </a:solidFill>
              </a:rPr>
              <a:t> − The </a:t>
            </a:r>
            <a:r>
              <a:rPr lang="en-US" altLang="zh-CN" sz="1200" dirty="0" err="1">
                <a:solidFill>
                  <a:schemeClr val="bg2"/>
                </a:solidFill>
              </a:rPr>
              <a:t>access_mode</a:t>
            </a:r>
            <a:r>
              <a:rPr lang="en-US" altLang="zh-CN" sz="1200" dirty="0">
                <a:solidFill>
                  <a:schemeClr val="bg2"/>
                </a:solidFill>
              </a:rPr>
              <a:t> determines the mode in which the file has to be opened, i.e., read, write, append, etc. This is an optional parameter, and the default file access mode is read (r).(</a:t>
            </a:r>
            <a:r>
              <a:rPr lang="zh-CN" altLang="en-US" sz="1200" dirty="0">
                <a:solidFill>
                  <a:schemeClr val="bg2"/>
                </a:solidFill>
              </a:rPr>
              <a:t>决定文件打开模式</a:t>
            </a:r>
            <a:r>
              <a:rPr lang="en-US" altLang="zh-CN" sz="1200" dirty="0">
                <a:solidFill>
                  <a:schemeClr val="bg2"/>
                </a:solidFill>
              </a:rPr>
              <a:t>)</a:t>
            </a:r>
            <a:endParaRPr lang="en-US" altLang="zh-CN" sz="1200" dirty="0">
              <a:solidFill>
                <a:schemeClr val="bg2"/>
              </a:solidFill>
            </a:endParaRPr>
          </a:p>
          <a:p>
            <a:r>
              <a:rPr lang="en-US" altLang="zh-CN" sz="1400" dirty="0">
                <a:solidFill>
                  <a:srgbClr val="FF0000"/>
                </a:solidFill>
                <a:highlight>
                  <a:srgbClr val="FFFF00"/>
                </a:highlight>
              </a:rPr>
              <a:t>Here is a list of the different modes of opening a file −</a:t>
            </a:r>
            <a:endParaRPr lang="en-US" altLang="zh-CN" sz="1400" dirty="0">
              <a:solidFill>
                <a:srgbClr val="FF0000"/>
              </a:solidFill>
              <a:highlight>
                <a:srgbClr val="FFFF00"/>
              </a:highlight>
            </a:endParaRPr>
          </a:p>
          <a:p>
            <a:pPr lvl="1"/>
            <a:r>
              <a:rPr lang="en-US" altLang="zh-CN" sz="1200" dirty="0">
                <a:solidFill>
                  <a:srgbClr val="FF0000"/>
                </a:solidFill>
                <a:highlight>
                  <a:srgbClr val="FFFF00"/>
                </a:highlight>
              </a:rPr>
              <a:t>r: read; w: write; x: exclusive creation</a:t>
            </a:r>
            <a:endParaRPr lang="en-US" altLang="zh-CN" sz="1200" dirty="0">
              <a:solidFill>
                <a:srgbClr val="FF0000"/>
              </a:solidFill>
              <a:highlight>
                <a:srgbClr val="FFFF00"/>
              </a:highlight>
            </a:endParaRPr>
          </a:p>
          <a:p>
            <a:pPr lvl="1"/>
            <a:r>
              <a:rPr lang="en-US" altLang="zh-CN" sz="1200" dirty="0">
                <a:solidFill>
                  <a:srgbClr val="FF0000"/>
                </a:solidFill>
                <a:highlight>
                  <a:srgbClr val="FFFF00"/>
                </a:highlight>
              </a:rPr>
              <a:t>b: binary; +: read and write; a: appending</a:t>
            </a:r>
            <a:endParaRPr lang="en-US" altLang="zh-CN" sz="1200" dirty="0">
              <a:solidFill>
                <a:srgbClr val="FF0000"/>
              </a:solidFill>
              <a:highlight>
                <a:srgbClr val="FFFF00"/>
              </a:highlight>
            </a:endParaRPr>
          </a:p>
          <a:p>
            <a:pPr lvl="1"/>
            <a:r>
              <a:rPr lang="en-US" altLang="zh-CN" sz="1200" dirty="0">
                <a:solidFill>
                  <a:srgbClr val="FF0000"/>
                </a:solidFill>
                <a:highlight>
                  <a:srgbClr val="FFFF00"/>
                </a:highlight>
              </a:rPr>
              <a:t>Modes can be mixed</a:t>
            </a:r>
            <a:endParaRPr lang="en-US" altLang="zh-CN" sz="1200" dirty="0">
              <a:solidFill>
                <a:srgbClr val="FF0000"/>
              </a:solidFill>
              <a:highlight>
                <a:srgbClr val="FFFF00"/>
              </a:highlight>
            </a:endParaRPr>
          </a:p>
          <a:p>
            <a:r>
              <a:rPr lang="en-US" altLang="zh-CN" sz="1400" dirty="0">
                <a:solidFill>
                  <a:schemeClr val="tx1"/>
                </a:solidFill>
              </a:rPr>
              <a:t>w</a:t>
            </a:r>
            <a:r>
              <a:rPr lang="zh-CN" altLang="en-US" sz="1400" dirty="0">
                <a:solidFill>
                  <a:schemeClr val="tx1"/>
                </a:solidFill>
              </a:rPr>
              <a:t> </a:t>
            </a:r>
            <a:r>
              <a:rPr lang="en-US" altLang="zh-CN" sz="1400" dirty="0">
                <a:solidFill>
                  <a:schemeClr val="tx1"/>
                </a:solidFill>
              </a:rPr>
              <a:t>mode:</a:t>
            </a:r>
            <a:r>
              <a:rPr lang="zh-CN" altLang="en-US" sz="1400" dirty="0">
                <a:solidFill>
                  <a:schemeClr val="bg2"/>
                </a:solidFill>
              </a:rPr>
              <a:t> </a:t>
            </a:r>
            <a:r>
              <a:rPr lang="en-US" altLang="zh-CN" sz="1400" dirty="0">
                <a:solidFill>
                  <a:schemeClr val="bg2"/>
                </a:solidFill>
              </a:rPr>
              <a:t>If the file is not existed, Python will create it. If not, Python will truncate the file first. ‘w’ mode is very dangerous as all the original data will be erased (</a:t>
            </a:r>
            <a:r>
              <a:rPr lang="zh-CN" altLang="en-US" sz="1400" dirty="0">
                <a:solidFill>
                  <a:schemeClr val="bg2"/>
                </a:solidFill>
              </a:rPr>
              <a:t>可能删除已有文件</a:t>
            </a:r>
            <a:r>
              <a:rPr lang="en-US" altLang="zh-CN" sz="1400" dirty="0">
                <a:solidFill>
                  <a:schemeClr val="bg2"/>
                </a:solidFill>
              </a:rPr>
              <a:t>)</a:t>
            </a:r>
            <a:endParaRPr lang="en-US" altLang="zh-CN" sz="1400" dirty="0">
              <a:solidFill>
                <a:schemeClr val="bg2"/>
              </a:solidFill>
            </a:endParaRPr>
          </a:p>
          <a:p>
            <a:r>
              <a:rPr lang="en-US" altLang="zh-CN" sz="1400" dirty="0">
                <a:solidFill>
                  <a:schemeClr val="bg2"/>
                </a:solidFill>
              </a:rPr>
              <a:t>'x’ open for exclusive creation, failing if the file already exists (</a:t>
            </a:r>
            <a:r>
              <a:rPr lang="en-US" altLang="zh-CN" sz="1400" dirty="0" err="1">
                <a:solidFill>
                  <a:schemeClr val="bg2"/>
                </a:solidFill>
              </a:rPr>
              <a:t>Py</a:t>
            </a:r>
            <a:r>
              <a:rPr lang="en-US" altLang="zh-CN" sz="1400" dirty="0">
                <a:solidFill>
                  <a:schemeClr val="bg2"/>
                </a:solidFill>
              </a:rPr>
              <a:t> 3.3+)</a:t>
            </a:r>
            <a:endParaRPr lang="en-US" altLang="zh-CN" sz="1400" dirty="0">
              <a:solidFill>
                <a:schemeClr val="bg2"/>
              </a:solidFill>
            </a:endParaRPr>
          </a:p>
          <a:p>
            <a:r>
              <a:rPr lang="en-US" altLang="zh-CN" sz="1400" dirty="0">
                <a:solidFill>
                  <a:schemeClr val="bg2"/>
                </a:solidFill>
              </a:rPr>
              <a:t>In text mode, if encoding is not specified the encoding used is </a:t>
            </a:r>
            <a:r>
              <a:rPr lang="en-US" altLang="zh-CN" sz="1400" dirty="0">
                <a:solidFill>
                  <a:schemeClr val="tx1"/>
                </a:solidFill>
              </a:rPr>
              <a:t>platform-dependent</a:t>
            </a:r>
            <a:r>
              <a:rPr lang="en-US" altLang="zh-CN" sz="1400" dirty="0">
                <a:solidFill>
                  <a:schemeClr val="bg2"/>
                </a:solidFill>
              </a:rPr>
              <a:t>: </a:t>
            </a:r>
            <a:r>
              <a:rPr lang="en-US" altLang="zh-CN" sz="1400" dirty="0" err="1">
                <a:solidFill>
                  <a:schemeClr val="bg2"/>
                </a:solidFill>
              </a:rPr>
              <a:t>locale.getencoding</a:t>
            </a:r>
            <a:r>
              <a:rPr lang="en-US" altLang="zh-CN" sz="1400" dirty="0">
                <a:solidFill>
                  <a:schemeClr val="bg2"/>
                </a:solidFill>
              </a:rPr>
              <a:t>() is called to get the current locale encoding. (For reading and writing raw bytes use binary mode and leave encoding unspecified.) </a:t>
            </a:r>
            <a:endParaRPr lang="en-US" altLang="zh-CN" sz="1400" dirty="0">
              <a:solidFill>
                <a:schemeClr val="bg2"/>
              </a:solidFill>
            </a:endParaRPr>
          </a:p>
          <a:p>
            <a:r>
              <a:rPr lang="en-US" altLang="zh-CN" sz="1400" dirty="0">
                <a:solidFill>
                  <a:schemeClr val="bg2"/>
                </a:solidFill>
              </a:rPr>
              <a:t>在文本模式下，如果未指定编码，则使用的编码与平台相关：调用 locale.getencoding（） 以获取当前语言环境编码。（对于读取和写入原始字节，请使用二进制模式，并保留未指定编码。</a:t>
            </a:r>
            <a:endParaRPr lang="en-US" altLang="zh-CN" sz="1400" dirty="0">
              <a:solidFill>
                <a:schemeClr val="bg2"/>
              </a:solidFill>
            </a:endParaRPr>
          </a:p>
        </p:txBody>
      </p:sp>
      <p:sp>
        <p:nvSpPr>
          <p:cNvPr id="4" name="文本框 3"/>
          <p:cNvSpPr txBox="1"/>
          <p:nvPr/>
        </p:nvSpPr>
        <p:spPr>
          <a:xfrm>
            <a:off x="5416131" y="4816715"/>
            <a:ext cx="3262964" cy="246221"/>
          </a:xfrm>
          <a:prstGeom prst="rect">
            <a:avLst/>
          </a:prstGeom>
          <a:noFill/>
        </p:spPr>
        <p:txBody>
          <a:bodyPr wrap="square">
            <a:spAutoFit/>
          </a:bodyPr>
          <a:lstStyle/>
          <a:p>
            <a:r>
              <a:rPr lang="zh-CN" altLang="en-US" sz="1000" dirty="0"/>
              <a:t>https://docs.python.org/3/library/functions.html#open</a:t>
            </a:r>
            <a:endParaRPr lang="zh-CN" alt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324786" y="598262"/>
            <a:ext cx="6494427" cy="39469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File object</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00" y="1152475"/>
            <a:ext cx="8250409" cy="3794910"/>
          </a:xfrm>
        </p:spPr>
        <p:txBody>
          <a:bodyPr>
            <a:noAutofit/>
          </a:bodyPr>
          <a:lstStyle/>
          <a:p>
            <a:r>
              <a:rPr lang="en-US" altLang="zh-CN" sz="1400" dirty="0">
                <a:solidFill>
                  <a:schemeClr val="bg2"/>
                </a:solidFill>
              </a:rPr>
              <a:t>Here is a list of all the attributes related to a file object </a:t>
            </a:r>
            <a:endParaRPr lang="en-US" altLang="zh-CN" sz="1400" dirty="0">
              <a:solidFill>
                <a:schemeClr val="bg2"/>
              </a:solidFill>
            </a:endParaRPr>
          </a:p>
          <a:p>
            <a:pPr lvl="1"/>
            <a:r>
              <a:rPr lang="en-US" altLang="zh-CN" sz="1200" b="1" dirty="0" err="1">
                <a:solidFill>
                  <a:schemeClr val="bg2"/>
                </a:solidFill>
              </a:rPr>
              <a:t>file.closed</a:t>
            </a:r>
            <a:r>
              <a:rPr lang="en-US" altLang="zh-CN" sz="1200" b="1" dirty="0">
                <a:solidFill>
                  <a:schemeClr val="bg2"/>
                </a:solidFill>
              </a:rPr>
              <a:t>: </a:t>
            </a:r>
            <a:r>
              <a:rPr lang="en-US" altLang="zh-CN" sz="1200" dirty="0">
                <a:solidFill>
                  <a:schemeClr val="bg2"/>
                </a:solidFill>
              </a:rPr>
              <a:t>Returns true if file is closed, false otherwise</a:t>
            </a:r>
            <a:endParaRPr lang="en-US" altLang="zh-CN" sz="1200" dirty="0">
              <a:solidFill>
                <a:schemeClr val="bg2"/>
              </a:solidFill>
            </a:endParaRPr>
          </a:p>
          <a:p>
            <a:pPr lvl="1"/>
            <a:r>
              <a:rPr lang="en-US" altLang="zh-CN" sz="1200" b="1" dirty="0" err="1">
                <a:solidFill>
                  <a:schemeClr val="bg2"/>
                </a:solidFill>
              </a:rPr>
              <a:t>file.mode</a:t>
            </a:r>
            <a:r>
              <a:rPr lang="en-US" altLang="zh-CN" sz="1200" b="1" dirty="0">
                <a:solidFill>
                  <a:schemeClr val="bg2"/>
                </a:solidFill>
              </a:rPr>
              <a:t>: </a:t>
            </a:r>
            <a:r>
              <a:rPr lang="en-US" altLang="zh-CN" sz="1200" dirty="0">
                <a:solidFill>
                  <a:schemeClr val="bg2"/>
                </a:solidFill>
              </a:rPr>
              <a:t>Returns access mode with which file was opened</a:t>
            </a:r>
            <a:endParaRPr lang="en-US" altLang="zh-CN" sz="1200" dirty="0">
              <a:solidFill>
                <a:schemeClr val="bg2"/>
              </a:solidFill>
            </a:endParaRPr>
          </a:p>
          <a:p>
            <a:pPr lvl="1"/>
            <a:r>
              <a:rPr lang="en-US" altLang="zh-CN" sz="1200" b="1" dirty="0" err="1">
                <a:solidFill>
                  <a:schemeClr val="bg2"/>
                </a:solidFill>
              </a:rPr>
              <a:t>file.name</a:t>
            </a:r>
            <a:r>
              <a:rPr lang="en-US" altLang="zh-CN" sz="1200" b="1" dirty="0">
                <a:solidFill>
                  <a:schemeClr val="bg2"/>
                </a:solidFill>
              </a:rPr>
              <a:t>: </a:t>
            </a:r>
            <a:r>
              <a:rPr lang="en-US" altLang="zh-CN" sz="1200" dirty="0">
                <a:solidFill>
                  <a:schemeClr val="bg2"/>
                </a:solidFill>
              </a:rPr>
              <a:t>Returns name of the file</a:t>
            </a:r>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latin typeface="Source Sans Pro" panose="020B0503030403020204" pitchFamily="34" charset="0"/>
              <a:ea typeface="黑体" panose="02010609060101010101" pitchFamily="49" charset="-122"/>
            </a:endParaRPr>
          </a:p>
          <a:p>
            <a:endParaRPr lang="en-US" altLang="zh-CN" sz="1400" dirty="0">
              <a:solidFill>
                <a:schemeClr val="bg2"/>
              </a:solidFill>
              <a:latin typeface="Source Sans Pro" panose="020B0503030403020204" pitchFamily="34" charset="0"/>
              <a:ea typeface="黑体" panose="02010609060101010101" pitchFamily="49" charset="-122"/>
            </a:endParaRPr>
          </a:p>
          <a:p>
            <a:r>
              <a:rPr lang="zh-CN" altLang="en-US" sz="1400" dirty="0">
                <a:solidFill>
                  <a:schemeClr val="bg2"/>
                </a:solidFill>
                <a:latin typeface="Source Sans Pro" panose="020B0503030403020204" pitchFamily="34" charset="0"/>
                <a:ea typeface="黑体" panose="02010609060101010101" pitchFamily="49" charset="-122"/>
              </a:rPr>
              <a:t>文件</a:t>
            </a:r>
            <a:r>
              <a:rPr lang="zh-CN" altLang="en-US" sz="1400" b="1" dirty="0">
                <a:solidFill>
                  <a:schemeClr val="tx1"/>
                </a:solidFill>
                <a:latin typeface="Source Sans Pro" panose="020B0503030403020204" pitchFamily="34" charset="0"/>
                <a:ea typeface="黑体" panose="02010609060101010101" pitchFamily="49" charset="-122"/>
              </a:rPr>
              <a:t>常见错误</a:t>
            </a:r>
            <a:endParaRPr lang="zh-CN" altLang="en-US" sz="1400" b="1" dirty="0">
              <a:solidFill>
                <a:schemeClr val="tx1"/>
              </a:solidFill>
              <a:latin typeface="Source Sans Pro" panose="020B0503030403020204" pitchFamily="34" charset="0"/>
              <a:ea typeface="黑体" panose="02010609060101010101" pitchFamily="49" charset="-122"/>
            </a:endParaRPr>
          </a:p>
          <a:p>
            <a:pPr lvl="1"/>
            <a:r>
              <a:rPr lang="en-US" altLang="zh-CN" sz="1200" dirty="0">
                <a:solidFill>
                  <a:schemeClr val="bg2"/>
                </a:solidFill>
                <a:latin typeface="Source Sans Pro" panose="020B0503030403020204" pitchFamily="34" charset="0"/>
                <a:ea typeface="Source Sans Pro" panose="020B0503030403020204" pitchFamily="34" charset="0"/>
              </a:rPr>
              <a:t>Python</a:t>
            </a:r>
            <a:r>
              <a:rPr lang="zh-CN" altLang="en-US" sz="1200" dirty="0">
                <a:solidFill>
                  <a:schemeClr val="bg2"/>
                </a:solidFill>
                <a:latin typeface="Source Sans Pro" panose="020B0503030403020204" pitchFamily="34" charset="0"/>
                <a:ea typeface="黑体" panose="02010609060101010101" pitchFamily="49" charset="-122"/>
              </a:rPr>
              <a:t>源文件和读写的文件不在同一个目录 </a:t>
            </a:r>
            <a:r>
              <a:rPr lang="en-US" altLang="zh-CN" sz="1200" dirty="0">
                <a:solidFill>
                  <a:schemeClr val="bg2"/>
                </a:solidFill>
                <a:latin typeface="Source Sans Pro" panose="020B0503030403020204" pitchFamily="34" charset="0"/>
                <a:ea typeface="Source Sans Pro" panose="020B0503030403020204" pitchFamily="34" charset="0"/>
              </a:rPr>
              <a:t>(</a:t>
            </a:r>
            <a:r>
              <a:rPr lang="zh-CN" altLang="en-US" sz="1200" dirty="0">
                <a:solidFill>
                  <a:schemeClr val="bg2"/>
                </a:solidFill>
                <a:latin typeface="Source Sans Pro" panose="020B0503030403020204" pitchFamily="34" charset="0"/>
                <a:ea typeface="黑体" panose="02010609060101010101" pitchFamily="49" charset="-122"/>
              </a:rPr>
              <a:t>相对路径</a:t>
            </a:r>
            <a:r>
              <a:rPr lang="en-US" altLang="zh-CN" sz="1200" dirty="0">
                <a:solidFill>
                  <a:schemeClr val="bg2"/>
                </a:solidFill>
                <a:latin typeface="Source Sans Pro" panose="020B0503030403020204" pitchFamily="34" charset="0"/>
                <a:ea typeface="Source Sans Pro" panose="020B0503030403020204" pitchFamily="34" charset="0"/>
              </a:rPr>
              <a:t>)</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r>
              <a:rPr lang="zh-CN" altLang="en-US" sz="1200" dirty="0">
                <a:solidFill>
                  <a:schemeClr val="bg2"/>
                </a:solidFill>
                <a:latin typeface="Source Sans Pro" panose="020B0503030403020204" pitchFamily="34" charset="0"/>
                <a:ea typeface="黑体" panose="02010609060101010101" pitchFamily="49" charset="-122"/>
              </a:rPr>
              <a:t>当前</a:t>
            </a:r>
            <a:r>
              <a:rPr lang="en-US" altLang="zh-CN" sz="1200" dirty="0">
                <a:solidFill>
                  <a:schemeClr val="bg2"/>
                </a:solidFill>
                <a:latin typeface="Source Sans Pro" panose="020B0503030403020204" pitchFamily="34" charset="0"/>
                <a:ea typeface="Source Sans Pro" panose="020B0503030403020204" pitchFamily="34" charset="0"/>
              </a:rPr>
              <a:t>VS Code</a:t>
            </a:r>
            <a:r>
              <a:rPr lang="zh-CN" altLang="en-US" sz="1200" dirty="0">
                <a:solidFill>
                  <a:schemeClr val="bg2"/>
                </a:solidFill>
                <a:latin typeface="Source Sans Pro" panose="020B0503030403020204" pitchFamily="34" charset="0"/>
                <a:ea typeface="黑体" panose="02010609060101010101" pitchFamily="49" charset="-122"/>
              </a:rPr>
              <a:t>的工作目录和读写文件不同，特别注意 </a:t>
            </a:r>
            <a:r>
              <a:rPr lang="en-US" altLang="zh-CN" sz="1200" dirty="0">
                <a:solidFill>
                  <a:schemeClr val="bg2"/>
                </a:solidFill>
                <a:latin typeface="Source Sans Pro" panose="020B0503030403020204" pitchFamily="34" charset="0"/>
                <a:ea typeface="Source Sans Pro" panose="020B0503030403020204" pitchFamily="34" charset="0"/>
              </a:rPr>
              <a:t>(</a:t>
            </a:r>
            <a:r>
              <a:rPr lang="zh-CN" altLang="en-US" sz="1200" dirty="0">
                <a:solidFill>
                  <a:schemeClr val="bg2"/>
                </a:solidFill>
                <a:latin typeface="Source Sans Pro" panose="020B0503030403020204" pitchFamily="34" charset="0"/>
                <a:ea typeface="黑体" panose="02010609060101010101" pitchFamily="49" charset="-122"/>
              </a:rPr>
              <a:t>绝对路径或者改变</a:t>
            </a:r>
            <a:r>
              <a:rPr lang="en-US" altLang="zh-CN" sz="1200" dirty="0" err="1">
                <a:solidFill>
                  <a:schemeClr val="bg2"/>
                </a:solidFill>
                <a:latin typeface="Source Sans Pro" panose="020B0503030403020204" pitchFamily="34" charset="0"/>
                <a:ea typeface="Source Sans Pro" panose="020B0503030403020204" pitchFamily="34" charset="0"/>
              </a:rPr>
              <a:t>cwd</a:t>
            </a:r>
            <a:r>
              <a:rPr lang="en-US" altLang="zh-CN" sz="1200" dirty="0">
                <a:solidFill>
                  <a:schemeClr val="bg2"/>
                </a:solidFill>
                <a:latin typeface="Source Sans Pro" panose="020B0503030403020204" pitchFamily="34" charset="0"/>
                <a:ea typeface="Source Sans Pro" panose="020B0503030403020204" pitchFamily="34" charset="0"/>
              </a:rPr>
              <a:t>)</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r>
              <a:rPr lang="zh-CN" altLang="en-US" sz="1200" dirty="0">
                <a:solidFill>
                  <a:schemeClr val="bg2"/>
                </a:solidFill>
                <a:latin typeface="Consolas" panose="020B0609020204030204" pitchFamily="49" charset="0"/>
                <a:ea typeface="黑体" panose="02010609060101010101" pitchFamily="49" charset="-122"/>
                <a:cs typeface="Consolas" panose="020B0609020204030204" pitchFamily="49" charset="0"/>
              </a:rPr>
              <a:t>再次强调：文件写</a:t>
            </a:r>
            <a:r>
              <a:rPr lang="en-US" altLang="zh-CN" sz="1200" dirty="0">
                <a:solidFill>
                  <a:schemeClr val="bg2"/>
                </a:solidFill>
                <a:latin typeface="Consolas" panose="020B0609020204030204" pitchFamily="49" charset="0"/>
                <a:ea typeface="黑体" panose="02010609060101010101" pitchFamily="49" charset="-122"/>
                <a:cs typeface="Consolas" panose="020B0609020204030204" pitchFamily="49" charset="0"/>
              </a:rPr>
              <a:t>w</a:t>
            </a:r>
            <a:r>
              <a:rPr lang="zh-CN" altLang="en-US" sz="1200" dirty="0">
                <a:solidFill>
                  <a:schemeClr val="bg2"/>
                </a:solidFill>
                <a:latin typeface="Consolas" panose="020B0609020204030204" pitchFamily="49" charset="0"/>
                <a:ea typeface="黑体" panose="02010609060101010101" pitchFamily="49" charset="-122"/>
                <a:cs typeface="Consolas" panose="020B0609020204030204" pitchFamily="49" charset="0"/>
              </a:rPr>
              <a:t>，要特别小心谨慎，数据保存和备份</a:t>
            </a:r>
            <a:endParaRPr lang="en-US" altLang="zh-CN" sz="1200" dirty="0">
              <a:solidFill>
                <a:schemeClr val="bg2"/>
              </a:solidFill>
              <a:latin typeface="Consolas" panose="020B0609020204030204" pitchFamily="49" charset="0"/>
              <a:ea typeface="黑体" panose="02010609060101010101" pitchFamily="49" charset="-122"/>
              <a:cs typeface="Consolas" panose="020B0609020204030204" pitchFamily="49" charset="0"/>
            </a:endParaRPr>
          </a:p>
          <a:p>
            <a:endParaRPr lang="en-US" altLang="zh-CN" sz="1500" dirty="0">
              <a:solidFill>
                <a:schemeClr val="bg2"/>
              </a:solidFill>
            </a:endParaRPr>
          </a:p>
        </p:txBody>
      </p:sp>
      <p:pic>
        <p:nvPicPr>
          <p:cNvPr id="3"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15641" y="2254159"/>
            <a:ext cx="2523908" cy="475213"/>
          </a:xfrm>
          <a:prstGeom prst="rect">
            <a:avLst/>
          </a:prstGeom>
        </p:spPr>
      </p:pic>
      <p:pic>
        <p:nvPicPr>
          <p:cNvPr id="7" name="Picture 6"/>
          <p:cNvPicPr>
            <a:picLocks noChangeAspect="1"/>
          </p:cNvPicPr>
          <p:nvPr/>
        </p:nvPicPr>
        <p:blipFill>
          <a:blip r:embed="rId2"/>
          <a:stretch>
            <a:fillRect/>
          </a:stretch>
        </p:blipFill>
        <p:spPr>
          <a:xfrm>
            <a:off x="1330186" y="2254159"/>
            <a:ext cx="3407062" cy="111503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Path (</a:t>
            </a:r>
            <a:r>
              <a:rPr lang="zh-CN" altLang="en-US">
                <a:latin typeface="Raleway" pitchFamily="34" charset="0"/>
                <a:ea typeface="Source Sans Pro" panose="020B0503030403020204" pitchFamily="34" charset="0"/>
              </a:rPr>
              <a:t>路径</a:t>
            </a:r>
            <a:r>
              <a:rPr lang="en-US" altLang="zh-CN">
                <a:latin typeface="Raleway" pitchFamily="34" charset="0"/>
                <a:ea typeface="Source Sans Pro" panose="020B0503030403020204" pitchFamily="34" charset="0"/>
              </a:rPr>
              <a:t>): </a:t>
            </a:r>
            <a:r>
              <a:rPr lang="en-US" altLang="zh-CN" err="1">
                <a:latin typeface="Raleway" pitchFamily="34" charset="0"/>
                <a:ea typeface="Source Sans Pro" panose="020B0503030403020204" pitchFamily="34" charset="0"/>
              </a:rPr>
              <a:t>pathlib</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p:txBody>
          <a:bodyPr numCol="2">
            <a:noAutofit/>
          </a:bodyPr>
          <a:lstStyle/>
          <a:p>
            <a:r>
              <a:rPr lang="en-US" altLang="zh-CN" sz="1400" dirty="0">
                <a:solidFill>
                  <a:schemeClr val="bg2"/>
                </a:solidFill>
              </a:rPr>
              <a:t>Windows:                 C:\windows\</a:t>
            </a:r>
            <a:r>
              <a:rPr lang="en-US" altLang="zh-CN" sz="1400" dirty="0" err="1">
                <a:solidFill>
                  <a:schemeClr val="bg2"/>
                </a:solidFill>
              </a:rPr>
              <a:t>xxxx</a:t>
            </a:r>
            <a:r>
              <a:rPr lang="en-US" altLang="zh-CN" sz="1400" dirty="0">
                <a:solidFill>
                  <a:schemeClr val="bg2"/>
                </a:solidFill>
              </a:rPr>
              <a:t>\</a:t>
            </a:r>
            <a:endParaRPr lang="en-US" altLang="zh-CN" sz="1400" dirty="0">
              <a:solidFill>
                <a:schemeClr val="bg2"/>
              </a:solidFill>
            </a:endParaRPr>
          </a:p>
          <a:p>
            <a:r>
              <a:rPr lang="en-US" altLang="zh-CN" sz="1400" dirty="0">
                <a:solidFill>
                  <a:schemeClr val="bg2"/>
                </a:solidFill>
              </a:rPr>
              <a:t>Mac and Linux:         C:/</a:t>
            </a:r>
            <a:r>
              <a:rPr lang="en-US" altLang="zh-CN" sz="1400" dirty="0" err="1">
                <a:solidFill>
                  <a:schemeClr val="bg2"/>
                </a:solidFill>
              </a:rPr>
              <a:t>usr</a:t>
            </a:r>
            <a:r>
              <a:rPr lang="en-US" altLang="zh-CN" sz="1400" dirty="0">
                <a:solidFill>
                  <a:schemeClr val="bg2"/>
                </a:solidFill>
              </a:rPr>
              <a:t>/</a:t>
            </a:r>
            <a:r>
              <a:rPr lang="en-US" altLang="zh-CN" sz="1400" dirty="0" err="1">
                <a:solidFill>
                  <a:schemeClr val="bg2"/>
                </a:solidFill>
              </a:rPr>
              <a:t>xxxxx</a:t>
            </a:r>
            <a:endParaRPr lang="en-US" altLang="zh-CN" sz="1400" dirty="0">
              <a:solidFill>
                <a:schemeClr val="bg2"/>
              </a:solidFill>
            </a:endParaRPr>
          </a:p>
          <a:p>
            <a:r>
              <a:rPr lang="zh-CN" altLang="en-US" sz="1400" dirty="0">
                <a:solidFill>
                  <a:schemeClr val="bg2"/>
                </a:solidFill>
                <a:latin typeface="Source Sans Pro" panose="020B0503030403020204" pitchFamily="34" charset="0"/>
                <a:ea typeface="黑体" panose="02010609060101010101" pitchFamily="49" charset="-122"/>
              </a:rPr>
              <a:t>历史遗留问题</a:t>
            </a:r>
            <a:r>
              <a:rPr lang="en-US" altLang="zh-CN" sz="1400" dirty="0">
                <a:solidFill>
                  <a:schemeClr val="bg2"/>
                </a:solidFill>
              </a:rPr>
              <a:t>: early 1980’s computer history. By hand: No!</a:t>
            </a:r>
            <a:endParaRPr lang="en-US" altLang="zh-CN" sz="1400" dirty="0">
              <a:solidFill>
                <a:schemeClr val="bg2"/>
              </a:solidFill>
            </a:endParaRPr>
          </a:p>
          <a:p>
            <a:r>
              <a:rPr lang="en-US" altLang="zh-CN" sz="1400" dirty="0" err="1">
                <a:solidFill>
                  <a:schemeClr val="bg2"/>
                </a:solidFill>
              </a:rPr>
              <a:t>os.path</a:t>
            </a:r>
            <a:r>
              <a:rPr lang="en-US" altLang="zh-CN" sz="1400" dirty="0">
                <a:solidFill>
                  <a:schemeClr val="bg2"/>
                </a:solidFill>
              </a:rPr>
              <a:t>: You can use </a:t>
            </a:r>
            <a:r>
              <a:rPr lang="en-US" altLang="zh-CN" sz="1400" dirty="0" err="1">
                <a:solidFill>
                  <a:schemeClr val="tx1"/>
                </a:solidFill>
              </a:rPr>
              <a:t>os.path.join</a:t>
            </a:r>
            <a:r>
              <a:rPr lang="en-US" altLang="zh-CN" sz="1400" dirty="0">
                <a:solidFill>
                  <a:schemeClr val="tx1"/>
                </a:solidFill>
              </a:rPr>
              <a:t>()</a:t>
            </a:r>
            <a:r>
              <a:rPr lang="en-US" altLang="zh-CN" sz="1400" dirty="0">
                <a:solidFill>
                  <a:schemeClr val="bg2"/>
                </a:solidFill>
              </a:rPr>
              <a:t> to build a path string using the right kind of slash for the current operating system</a:t>
            </a:r>
            <a:endParaRPr lang="en-US" altLang="zh-CN" sz="1400" dirty="0">
              <a:solidFill>
                <a:schemeClr val="bg2"/>
              </a:solidFill>
            </a:endParaRPr>
          </a:p>
          <a:p>
            <a:r>
              <a:rPr lang="en-US" altLang="zh-CN" sz="1400" b="1" dirty="0" err="1">
                <a:solidFill>
                  <a:schemeClr val="tx1"/>
                </a:solidFill>
              </a:rPr>
              <a:t>pathlib</a:t>
            </a:r>
            <a:r>
              <a:rPr lang="en-US" altLang="zh-CN" sz="1400" b="1" dirty="0">
                <a:solidFill>
                  <a:schemeClr val="tx1"/>
                </a:solidFill>
              </a:rPr>
              <a:t>: python 3.4 </a:t>
            </a:r>
            <a:endParaRPr lang="en-US" altLang="zh-CN" sz="1400" b="1" dirty="0">
              <a:solidFill>
                <a:schemeClr val="tx1"/>
              </a:solidFill>
            </a:endParaRPr>
          </a:p>
          <a:p>
            <a:pPr lvl="1"/>
            <a:r>
              <a:rPr lang="en-US" altLang="zh-CN" sz="1200" dirty="0">
                <a:solidFill>
                  <a:schemeClr val="bg2"/>
                </a:solidFill>
              </a:rPr>
              <a:t>You should use forward slashes / with </a:t>
            </a:r>
            <a:r>
              <a:rPr lang="en-US" altLang="zh-CN" sz="1200" dirty="0" err="1">
                <a:solidFill>
                  <a:schemeClr val="tx1"/>
                </a:solidFill>
              </a:rPr>
              <a:t>pathlib</a:t>
            </a:r>
            <a:r>
              <a:rPr lang="en-US" altLang="zh-CN" sz="1200" dirty="0">
                <a:solidFill>
                  <a:schemeClr val="tx1"/>
                </a:solidFill>
              </a:rPr>
              <a:t> functions</a:t>
            </a:r>
            <a:endParaRPr lang="en-US" altLang="zh-CN" sz="1200" dirty="0">
              <a:solidFill>
                <a:schemeClr val="tx1"/>
              </a:solidFill>
            </a:endParaRPr>
          </a:p>
          <a:p>
            <a:pPr lvl="1"/>
            <a:r>
              <a:rPr lang="en-US" altLang="zh-CN" sz="1200" dirty="0">
                <a:solidFill>
                  <a:schemeClr val="bg2"/>
                </a:solidFill>
              </a:rPr>
              <a:t>The Path() object will convert forward slashes into the correct kind of slash for the current operating system. Nice!</a:t>
            </a:r>
            <a:endParaRPr lang="en-US" altLang="zh-CN" sz="1200" dirty="0">
              <a:solidFill>
                <a:schemeClr val="bg2"/>
              </a:solidFill>
            </a:endParaRPr>
          </a:p>
          <a:p>
            <a:pPr lvl="1"/>
            <a:r>
              <a:rPr lang="en-US" altLang="zh-CN" sz="1200" dirty="0">
                <a:solidFill>
                  <a:schemeClr val="bg2"/>
                </a:solidFill>
              </a:rPr>
              <a:t>If you want to add on to the path, you can use </a:t>
            </a:r>
            <a:r>
              <a:rPr lang="en-US" altLang="zh-CN" sz="1200" dirty="0">
                <a:solidFill>
                  <a:schemeClr val="tx1"/>
                </a:solidFill>
              </a:rPr>
              <a:t>the / operator</a:t>
            </a:r>
            <a:r>
              <a:rPr lang="en-US" altLang="zh-CN" sz="1200" dirty="0">
                <a:solidFill>
                  <a:schemeClr val="bg2"/>
                </a:solidFill>
              </a:rPr>
              <a:t> directly in your code. Say goodbye to typing out </a:t>
            </a:r>
            <a:r>
              <a:rPr lang="en-US" altLang="zh-CN" sz="1200" dirty="0" err="1">
                <a:solidFill>
                  <a:schemeClr val="bg2"/>
                </a:solidFill>
              </a:rPr>
              <a:t>os.path.join</a:t>
            </a:r>
            <a:r>
              <a:rPr lang="en-US" altLang="zh-CN" sz="1200" dirty="0">
                <a:solidFill>
                  <a:schemeClr val="bg2"/>
                </a:solidFill>
              </a:rPr>
              <a:t>(a, b) over and over</a:t>
            </a:r>
            <a:endParaRPr lang="en-US" altLang="zh-CN" sz="1200" dirty="0">
              <a:solidFill>
                <a:schemeClr val="bg2"/>
              </a:solidFill>
            </a:endParaRPr>
          </a:p>
          <a:p>
            <a:r>
              <a:rPr lang="en-US" altLang="zh-CN" sz="1200" dirty="0" err="1">
                <a:solidFill>
                  <a:schemeClr val="bg2"/>
                </a:solidFill>
              </a:rPr>
              <a:t>pathlib</a:t>
            </a:r>
            <a:r>
              <a:rPr lang="en-US" altLang="zh-CN" sz="1200" dirty="0">
                <a:solidFill>
                  <a:schemeClr val="bg2"/>
                </a:solidFill>
              </a:rPr>
              <a:t> — Object-oriented filesystem paths  </a:t>
            </a:r>
            <a:r>
              <a:rPr lang="zh-CN" altLang="en-US" sz="1200" dirty="0">
                <a:solidFill>
                  <a:schemeClr val="tx1"/>
                </a:solidFill>
                <a:latin typeface="黑体" panose="02010609060101010101" pitchFamily="49" charset="-122"/>
                <a:ea typeface="黑体" panose="02010609060101010101" pitchFamily="49" charset="-122"/>
              </a:rPr>
              <a:t>推荐使用</a:t>
            </a:r>
            <a:endParaRPr lang="zh-CN" altLang="en-US" sz="1200" dirty="0">
              <a:solidFill>
                <a:schemeClr val="tx1"/>
              </a:solidFill>
              <a:latin typeface="黑体" panose="02010609060101010101" pitchFamily="49" charset="-122"/>
              <a:ea typeface="黑体" panose="02010609060101010101" pitchFamily="49" charset="-122"/>
            </a:endParaRPr>
          </a:p>
          <a:p>
            <a:r>
              <a:rPr lang="en-US" altLang="zh-CN" sz="1200" dirty="0">
                <a:solidFill>
                  <a:schemeClr val="bg2"/>
                </a:solidFill>
              </a:rPr>
              <a:t>https://</a:t>
            </a:r>
            <a:r>
              <a:rPr lang="en-US" altLang="zh-CN" sz="1200" dirty="0" err="1">
                <a:solidFill>
                  <a:schemeClr val="bg2"/>
                </a:solidFill>
              </a:rPr>
              <a:t>docs.python.org</a:t>
            </a:r>
            <a:r>
              <a:rPr lang="en-US" altLang="zh-CN" sz="1200" dirty="0">
                <a:solidFill>
                  <a:schemeClr val="bg2"/>
                </a:solidFill>
              </a:rPr>
              <a:t>/3/library/</a:t>
            </a:r>
            <a:r>
              <a:rPr lang="en-US" altLang="zh-CN" sz="1200" dirty="0" err="1">
                <a:solidFill>
                  <a:schemeClr val="bg2"/>
                </a:solidFill>
              </a:rPr>
              <a:t>pathlib.html</a:t>
            </a:r>
            <a:r>
              <a:rPr lang="en-US" altLang="zh-CN" sz="1200" dirty="0">
                <a:solidFill>
                  <a:schemeClr val="bg2"/>
                </a:solidFill>
              </a:rPr>
              <a:t> 	</a:t>
            </a:r>
            <a:r>
              <a:rPr lang="zh-CN" altLang="en-US" sz="1200" dirty="0">
                <a:solidFill>
                  <a:schemeClr val="tx1"/>
                </a:solidFill>
                <a:latin typeface="黑体" panose="02010609060101010101" pitchFamily="49" charset="-122"/>
                <a:ea typeface="黑体" panose="02010609060101010101" pitchFamily="49" charset="-122"/>
              </a:rPr>
              <a:t>所有相关方法</a:t>
            </a:r>
            <a:endParaRPr lang="zh-CN" altLang="en-US" sz="1200" dirty="0">
              <a:solidFill>
                <a:schemeClr val="tx1"/>
              </a:solidFill>
              <a:latin typeface="黑体" panose="02010609060101010101" pitchFamily="49" charset="-122"/>
              <a:ea typeface="黑体" panose="02010609060101010101" pitchFamily="49" charset="-122"/>
            </a:endParaRPr>
          </a:p>
          <a:p>
            <a:r>
              <a:rPr lang="en-US" altLang="zh-CN" sz="1200" dirty="0">
                <a:solidFill>
                  <a:schemeClr val="tx1"/>
                </a:solidFill>
              </a:rPr>
              <a:t>Path, </a:t>
            </a:r>
            <a:r>
              <a:rPr lang="en-US" altLang="zh-CN" sz="1200" dirty="0" err="1">
                <a:solidFill>
                  <a:schemeClr val="tx1"/>
                </a:solidFill>
              </a:rPr>
              <a:t>PosixPath</a:t>
            </a:r>
            <a:r>
              <a:rPr lang="en-US" altLang="zh-CN" sz="1200" dirty="0">
                <a:solidFill>
                  <a:schemeClr val="tx1"/>
                </a:solidFill>
              </a:rPr>
              <a:t>, </a:t>
            </a:r>
            <a:r>
              <a:rPr lang="en-US" altLang="zh-CN" sz="1200" dirty="0" err="1">
                <a:solidFill>
                  <a:schemeClr val="tx1"/>
                </a:solidFill>
              </a:rPr>
              <a:t>WindowsPath</a:t>
            </a:r>
            <a:endParaRPr lang="en-US" altLang="zh-CN" sz="1400" dirty="0">
              <a:solidFill>
                <a:schemeClr val="tx1"/>
              </a:solidFill>
            </a:endParaRPr>
          </a:p>
          <a:p>
            <a:pPr lvl="1"/>
            <a:endParaRPr lang="en-US" altLang="zh-CN" sz="1200" dirty="0">
              <a:solidFill>
                <a:schemeClr val="bg2"/>
              </a:solidFill>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6095" y="3152140"/>
            <a:ext cx="3358810" cy="19915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Path (</a:t>
            </a:r>
            <a:r>
              <a:rPr lang="zh-CN" altLang="en-US">
                <a:latin typeface="Raleway" pitchFamily="34" charset="0"/>
                <a:ea typeface="Source Sans Pro" panose="020B0503030403020204" pitchFamily="34" charset="0"/>
              </a:rPr>
              <a:t>路径</a:t>
            </a:r>
            <a:r>
              <a:rPr lang="en-US" altLang="zh-CN">
                <a:latin typeface="Raleway" pitchFamily="34" charset="0"/>
                <a:ea typeface="Source Sans Pro" panose="020B0503030403020204" pitchFamily="34" charset="0"/>
              </a:rPr>
              <a:t>): pathlib</a:t>
            </a:r>
            <a:endParaRPr lang="en-US" altLang="zh-CN">
              <a:latin typeface="Raleway" pitchFamily="34" charset="0"/>
              <a:ea typeface="Source Sans Pro" panose="020B0503030403020204" pitchFamily="34" charset="0"/>
            </a:endParaRPr>
          </a:p>
        </p:txBody>
      </p:sp>
      <p:pic>
        <p:nvPicPr>
          <p:cNvPr id="7" name="Picture 2"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6347" y="1236362"/>
            <a:ext cx="4148968" cy="3570900"/>
          </a:xfrm>
          <a:prstGeom prst="rect">
            <a:avLst/>
          </a:prstGeom>
        </p:spPr>
      </p:pic>
      <p:pic>
        <p:nvPicPr>
          <p:cNvPr id="8"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9732" y="2490856"/>
            <a:ext cx="2868107" cy="852562"/>
          </a:xfrm>
          <a:prstGeom prst="rect">
            <a:avLst/>
          </a:prstGeom>
        </p:spPr>
      </p:pic>
      <p:sp>
        <p:nvSpPr>
          <p:cNvPr id="9" name="TextBox 6"/>
          <p:cNvSpPr txBox="1"/>
          <p:nvPr/>
        </p:nvSpPr>
        <p:spPr>
          <a:xfrm>
            <a:off x="5517918" y="1933025"/>
            <a:ext cx="2949922" cy="307777"/>
          </a:xfrm>
          <a:prstGeom prst="rect">
            <a:avLst/>
          </a:prstGeom>
          <a:noFill/>
        </p:spPr>
        <p:txBody>
          <a:bodyPr wrap="square" rtlCol="0">
            <a:spAutoFit/>
          </a:bodyPr>
          <a:lstStyle/>
          <a:p>
            <a:r>
              <a:rPr lang="zh-CN" altLang="en-US" dirty="0">
                <a:solidFill>
                  <a:schemeClr val="tx1"/>
                </a:solidFill>
                <a:latin typeface="黑体" panose="02010609060101010101" pitchFamily="49" charset="-122"/>
                <a:ea typeface="黑体" panose="02010609060101010101" pitchFamily="49" charset="-122"/>
              </a:rPr>
              <a:t>直接用 </a:t>
            </a:r>
            <a:r>
              <a:rPr lang="en-US" altLang="zh-CN" dirty="0">
                <a:solidFill>
                  <a:schemeClr val="tx1"/>
                </a:solidFill>
                <a:latin typeface="黑体" panose="02010609060101010101" pitchFamily="49" charset="-122"/>
                <a:ea typeface="黑体" panose="02010609060101010101" pitchFamily="49" charset="-122"/>
              </a:rPr>
              <a:t>“/”, </a:t>
            </a:r>
            <a:r>
              <a:rPr lang="zh-CN" altLang="en-US" dirty="0">
                <a:solidFill>
                  <a:schemeClr val="tx1"/>
                </a:solidFill>
                <a:latin typeface="黑体" panose="02010609060101010101" pitchFamily="49" charset="-122"/>
                <a:ea typeface="黑体" panose="02010609060101010101" pitchFamily="49" charset="-122"/>
              </a:rPr>
              <a:t>不需要考虑</a:t>
            </a:r>
            <a:r>
              <a:rPr lang="en-US" altLang="zh-CN" dirty="0">
                <a:solidFill>
                  <a:schemeClr val="tx1"/>
                </a:solidFill>
                <a:latin typeface="Source Sans Pro" panose="020B0503030403020204" pitchFamily="34" charset="0"/>
                <a:ea typeface="Source Sans Pro" panose="020B0503030403020204" pitchFamily="34" charset="0"/>
              </a:rPr>
              <a:t>OS</a:t>
            </a:r>
            <a:r>
              <a:rPr lang="zh-CN" altLang="en-US" dirty="0">
                <a:solidFill>
                  <a:schemeClr val="tx1"/>
                </a:solidFill>
                <a:latin typeface="黑体" panose="02010609060101010101" pitchFamily="49" charset="-122"/>
                <a:ea typeface="黑体" panose="02010609060101010101" pitchFamily="49" charset="-122"/>
              </a:rPr>
              <a:t>平台</a:t>
            </a:r>
            <a:endParaRPr lang="zh-CN" altLang="en-US"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Write into Files: write(), writelines()</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00" y="1152474"/>
            <a:ext cx="8520600" cy="3546001"/>
          </a:xfrm>
        </p:spPr>
        <p:txBody>
          <a:bodyPr>
            <a:noAutofit/>
          </a:bodyPr>
          <a:lstStyle/>
          <a:p>
            <a:pPr marL="114300" indent="0" algn="ctr">
              <a:buNone/>
            </a:pPr>
            <a:r>
              <a:rPr lang="en-US" altLang="zh-CN" sz="1600" b="1" dirty="0">
                <a:solidFill>
                  <a:schemeClr val="tx1"/>
                </a:solidFill>
                <a:highlight>
                  <a:srgbClr val="FFFF00"/>
                </a:highlight>
              </a:rPr>
              <a:t>When you open() a file, do remember to close() it</a:t>
            </a:r>
            <a:endParaRPr lang="en-US" altLang="zh-CN" sz="1600" b="1" dirty="0">
              <a:solidFill>
                <a:schemeClr val="tx1"/>
              </a:solidFill>
              <a:highlight>
                <a:srgbClr val="FFFF00"/>
              </a:highlight>
            </a:endParaRPr>
          </a:p>
          <a:p>
            <a:r>
              <a:rPr lang="en-US" altLang="zh-CN" sz="1400" dirty="0">
                <a:solidFill>
                  <a:schemeClr val="bg2"/>
                </a:solidFill>
              </a:rPr>
              <a:t>A file object can call write() to write data into the file</a:t>
            </a:r>
            <a:endParaRPr lang="en-US" altLang="zh-CN" sz="1400" dirty="0">
              <a:solidFill>
                <a:schemeClr val="bg2"/>
              </a:solidFill>
            </a:endParaRPr>
          </a:p>
          <a:p>
            <a:r>
              <a:rPr lang="en-US" altLang="zh-CN" sz="1400" b="1" dirty="0" err="1">
                <a:solidFill>
                  <a:schemeClr val="tx1"/>
                </a:solidFill>
              </a:rPr>
              <a:t>f.write</a:t>
            </a:r>
            <a:r>
              <a:rPr lang="en-US" altLang="zh-CN" sz="1400" b="1" dirty="0">
                <a:solidFill>
                  <a:schemeClr val="tx1"/>
                </a:solidFill>
              </a:rPr>
              <a:t>(string) </a:t>
            </a:r>
            <a:r>
              <a:rPr lang="en-US" altLang="zh-CN" sz="1400" dirty="0">
                <a:solidFill>
                  <a:schemeClr val="bg2"/>
                </a:solidFill>
              </a:rPr>
              <a:t>writes the contents of </a:t>
            </a:r>
            <a:r>
              <a:rPr lang="en-US" altLang="zh-CN" sz="1400" dirty="0">
                <a:solidFill>
                  <a:schemeClr val="tx1"/>
                </a:solidFill>
                <a:highlight>
                  <a:srgbClr val="FFFF00"/>
                </a:highlight>
              </a:rPr>
              <a:t>string</a:t>
            </a:r>
            <a:r>
              <a:rPr lang="en-US" altLang="zh-CN" sz="1400" dirty="0">
                <a:solidFill>
                  <a:schemeClr val="bg2"/>
                </a:solidFill>
              </a:rPr>
              <a:t> to the file, returning the number of characters written. The write() method does not add a newline character ('\n') to the end of the string</a:t>
            </a:r>
            <a:endParaRPr lang="en-US" altLang="zh-CN" sz="1400" dirty="0">
              <a:solidFill>
                <a:schemeClr val="bg2"/>
              </a:solidFill>
            </a:endParaRPr>
          </a:p>
          <a:p>
            <a:r>
              <a:rPr lang="en-US" altLang="zh-CN" sz="1400" b="1" dirty="0" err="1">
                <a:solidFill>
                  <a:schemeClr val="tx1"/>
                </a:solidFill>
              </a:rPr>
              <a:t>f.writelines</a:t>
            </a:r>
            <a:r>
              <a:rPr lang="en-US" altLang="zh-CN" sz="1400" b="1" dirty="0">
                <a:solidFill>
                  <a:schemeClr val="tx1"/>
                </a:solidFill>
              </a:rPr>
              <a:t> (lines)</a:t>
            </a:r>
            <a:r>
              <a:rPr lang="en-US" altLang="zh-CN" sz="1400" dirty="0">
                <a:solidFill>
                  <a:schemeClr val="bg2"/>
                </a:solidFill>
              </a:rPr>
              <a:t> Writes </a:t>
            </a:r>
            <a:r>
              <a:rPr lang="en-US" altLang="zh-CN" sz="1400" dirty="0">
                <a:solidFill>
                  <a:schemeClr val="tx1"/>
                </a:solidFill>
                <a:highlight>
                  <a:srgbClr val="FFFF00"/>
                </a:highlight>
              </a:rPr>
              <a:t>a list of lines</a:t>
            </a:r>
            <a:r>
              <a:rPr lang="en-US" altLang="zh-CN" sz="1400" dirty="0">
                <a:solidFill>
                  <a:schemeClr val="bg2"/>
                </a:solidFill>
              </a:rPr>
              <a:t> to the file. </a:t>
            </a:r>
            <a:r>
              <a:rPr lang="en-US" altLang="zh-CN" sz="1400" dirty="0">
                <a:solidFill>
                  <a:schemeClr val="bg2"/>
                </a:solidFill>
                <a:highlight>
                  <a:srgbClr val="FFFF00"/>
                </a:highlight>
              </a:rPr>
              <a:t>Must be str. </a:t>
            </a:r>
            <a:r>
              <a:rPr lang="en-US" altLang="zh-CN" sz="1400" b="1" dirty="0">
                <a:solidFill>
                  <a:schemeClr val="tx1"/>
                </a:solidFill>
                <a:highlight>
                  <a:srgbClr val="FFFF00"/>
                </a:highlight>
              </a:rPr>
              <a:t>No “\n” added(lines</a:t>
            </a:r>
            <a:r>
              <a:rPr lang="zh-CN" altLang="en-US" sz="1400" b="1" dirty="0">
                <a:solidFill>
                  <a:schemeClr val="tx1"/>
                </a:solidFill>
                <a:highlight>
                  <a:srgbClr val="FFFF00"/>
                </a:highlight>
              </a:rPr>
              <a:t>是</a:t>
            </a:r>
            <a:r>
              <a:rPr lang="en-US" altLang="zh-CN" sz="1400" b="1" dirty="0">
                <a:solidFill>
                  <a:schemeClr val="tx1"/>
                </a:solidFill>
                <a:highlight>
                  <a:srgbClr val="FFFF00"/>
                </a:highlight>
              </a:rPr>
              <a:t>list, </a:t>
            </a:r>
            <a:r>
              <a:rPr lang="zh-CN" altLang="en-US" sz="1400" b="1" dirty="0">
                <a:solidFill>
                  <a:schemeClr val="tx1"/>
                </a:solidFill>
                <a:highlight>
                  <a:srgbClr val="FFFF00"/>
                </a:highlight>
              </a:rPr>
              <a:t>里面元素是</a:t>
            </a:r>
            <a:r>
              <a:rPr lang="en-US" altLang="zh-CN" sz="1400" b="1" dirty="0">
                <a:solidFill>
                  <a:schemeClr val="tx1"/>
                </a:solidFill>
                <a:highlight>
                  <a:srgbClr val="FFFF00"/>
                </a:highlight>
              </a:rPr>
              <a:t>str)</a:t>
            </a:r>
            <a:endParaRPr lang="en-US" altLang="zh-CN" sz="1400" b="1" dirty="0">
              <a:solidFill>
                <a:schemeClr val="tx1"/>
              </a:solidFill>
              <a:highlight>
                <a:srgbClr val="FFFF00"/>
              </a:highlight>
            </a:endParaRPr>
          </a:p>
          <a:p>
            <a:endParaRPr lang="en-US" altLang="zh-CN" sz="1400" dirty="0">
              <a:solidFill>
                <a:schemeClr val="bg2"/>
              </a:solidFill>
            </a:endParaRPr>
          </a:p>
          <a:p>
            <a:pPr marL="114300" indent="0">
              <a:buNone/>
            </a:pPr>
            <a:endParaRPr lang="en-US" altLang="zh-CN" sz="1400" dirty="0">
              <a:solidFill>
                <a:schemeClr val="bg2"/>
              </a:solidFill>
            </a:endParaRPr>
          </a:p>
          <a:p>
            <a:endParaRPr lang="en-US" altLang="zh-CN" sz="1400" dirty="0">
              <a:solidFill>
                <a:schemeClr val="bg2"/>
              </a:solidFill>
            </a:endParaRPr>
          </a:p>
          <a:p>
            <a:pPr marL="114300" indent="0">
              <a:buNone/>
            </a:pPr>
            <a:endParaRPr lang="en-US" altLang="zh-CN" sz="1400" dirty="0">
              <a:solidFill>
                <a:schemeClr val="bg2"/>
              </a:solidFill>
            </a:endParaRPr>
          </a:p>
          <a:p>
            <a:endParaRPr lang="en-US" altLang="zh-CN" sz="1400" dirty="0">
              <a:solidFill>
                <a:schemeClr val="bg2"/>
              </a:solidFill>
            </a:endParaRPr>
          </a:p>
          <a:p>
            <a:r>
              <a:rPr lang="en-US" altLang="zh-CN" sz="1400" b="1" dirty="0">
                <a:solidFill>
                  <a:srgbClr val="C00000"/>
                </a:solidFill>
              </a:rPr>
              <a:t>With mode “w” (means write)</a:t>
            </a:r>
            <a:endParaRPr lang="en-US" altLang="zh-CN" sz="1400" b="1" dirty="0">
              <a:solidFill>
                <a:srgbClr val="C00000"/>
              </a:solidFill>
            </a:endParaRPr>
          </a:p>
          <a:p>
            <a:pPr lvl="1"/>
            <a:r>
              <a:rPr lang="en-US" altLang="zh-CN" sz="1200" dirty="0">
                <a:solidFill>
                  <a:schemeClr val="bg2"/>
                </a:solidFill>
              </a:rPr>
              <a:t>if there is no file named “</a:t>
            </a:r>
            <a:r>
              <a:rPr lang="en-US" altLang="zh-CN" sz="1200" dirty="0" err="1">
                <a:solidFill>
                  <a:schemeClr val="bg2"/>
                </a:solidFill>
              </a:rPr>
              <a:t>test.txt</a:t>
            </a:r>
            <a:r>
              <a:rPr lang="en-US" altLang="zh-CN" sz="1200" dirty="0">
                <a:solidFill>
                  <a:schemeClr val="bg2"/>
                </a:solidFill>
              </a:rPr>
              <a:t>” on the disk, it will be created. </a:t>
            </a:r>
            <a:endParaRPr lang="en-US" altLang="zh-CN" sz="1200" dirty="0">
              <a:solidFill>
                <a:schemeClr val="bg2"/>
              </a:solidFill>
            </a:endParaRPr>
          </a:p>
          <a:p>
            <a:pPr lvl="1"/>
            <a:r>
              <a:rPr lang="en-US" altLang="zh-CN" sz="1200" b="1" dirty="0">
                <a:solidFill>
                  <a:schemeClr val="tx1"/>
                </a:solidFill>
              </a:rPr>
              <a:t>If there already is one, it will be replaced by the file we are writing!!!!!!</a:t>
            </a:r>
            <a:endParaRPr lang="en-US" altLang="zh-CN" b="1" dirty="0">
              <a:solidFill>
                <a:schemeClr val="tx1"/>
              </a:solidFill>
            </a:endParaRPr>
          </a:p>
          <a:p>
            <a:r>
              <a:rPr lang="en-US" altLang="zh-CN" sz="1400" dirty="0">
                <a:solidFill>
                  <a:schemeClr val="tx1"/>
                </a:solidFill>
              </a:rPr>
              <a:t>Always open() and close() in pair</a:t>
            </a:r>
            <a:endParaRPr lang="en-US" altLang="zh-CN" sz="1400" dirty="0">
              <a:solidFill>
                <a:schemeClr val="tx1"/>
              </a:solidFill>
            </a:endParaRPr>
          </a:p>
        </p:txBody>
      </p:sp>
      <p:pic>
        <p:nvPicPr>
          <p:cNvPr id="3" name="Picture 2"/>
          <p:cNvPicPr>
            <a:picLocks noChangeAspect="1"/>
          </p:cNvPicPr>
          <p:nvPr/>
        </p:nvPicPr>
        <p:blipFill>
          <a:blip r:embed="rId1"/>
          <a:stretch>
            <a:fillRect/>
          </a:stretch>
        </p:blipFill>
        <p:spPr>
          <a:xfrm>
            <a:off x="532563" y="2560776"/>
            <a:ext cx="3625965" cy="1114321"/>
          </a:xfrm>
          <a:prstGeom prst="rect">
            <a:avLst/>
          </a:prstGeom>
        </p:spPr>
      </p:pic>
      <p:pic>
        <p:nvPicPr>
          <p:cNvPr id="6" name="Picture 5"/>
          <p:cNvPicPr>
            <a:picLocks noChangeAspect="1"/>
          </p:cNvPicPr>
          <p:nvPr/>
        </p:nvPicPr>
        <p:blipFill>
          <a:blip r:embed="rId2"/>
          <a:stretch>
            <a:fillRect/>
          </a:stretch>
        </p:blipFill>
        <p:spPr>
          <a:xfrm>
            <a:off x="6151195" y="3414320"/>
            <a:ext cx="2926276" cy="1000120"/>
          </a:xfrm>
          <a:prstGeom prst="rect">
            <a:avLst/>
          </a:prstGeom>
        </p:spPr>
      </p:pic>
      <p:pic>
        <p:nvPicPr>
          <p:cNvPr id="8" name="Picture 7"/>
          <p:cNvPicPr>
            <a:picLocks noChangeAspect="1"/>
          </p:cNvPicPr>
          <p:nvPr/>
        </p:nvPicPr>
        <p:blipFill>
          <a:blip r:embed="rId3"/>
          <a:stretch>
            <a:fillRect/>
          </a:stretch>
        </p:blipFill>
        <p:spPr>
          <a:xfrm>
            <a:off x="4572000" y="2560776"/>
            <a:ext cx="2736925" cy="786138"/>
          </a:xfrm>
          <a:prstGeom prst="rect">
            <a:avLst/>
          </a:prstGeom>
        </p:spPr>
      </p:pic>
      <p:pic>
        <p:nvPicPr>
          <p:cNvPr id="10" name="Picture 9" descr="A black background with white text&#10;&#10;Description automatically generated"/>
          <p:cNvPicPr>
            <a:picLocks noChangeAspect="1"/>
          </p:cNvPicPr>
          <p:nvPr/>
        </p:nvPicPr>
        <p:blipFill>
          <a:blip r:embed="rId4"/>
          <a:stretch>
            <a:fillRect/>
          </a:stretch>
        </p:blipFill>
        <p:spPr>
          <a:xfrm>
            <a:off x="6151195" y="4481847"/>
            <a:ext cx="2082800" cy="5969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Read from files: read(), </a:t>
            </a:r>
            <a:r>
              <a:rPr lang="en-US" altLang="zh-CN" err="1">
                <a:latin typeface="Raleway" pitchFamily="34" charset="0"/>
                <a:ea typeface="Source Sans Pro" panose="020B0503030403020204" pitchFamily="34" charset="0"/>
              </a:rPr>
              <a:t>readline</a:t>
            </a:r>
            <a:r>
              <a:rPr lang="en-US" altLang="zh-CN">
                <a:latin typeface="Raleway" pitchFamily="34" charset="0"/>
                <a:ea typeface="Source Sans Pro" panose="020B0503030403020204" pitchFamily="34" charset="0"/>
              </a:rPr>
              <a:t>(), readlines()</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85" y="1037590"/>
            <a:ext cx="8520430" cy="3531235"/>
          </a:xfrm>
        </p:spPr>
        <p:txBody>
          <a:bodyPr>
            <a:noAutofit/>
          </a:bodyPr>
          <a:lstStyle/>
          <a:p>
            <a:r>
              <a:rPr lang="en-US" altLang="zh-CN" sz="1400" dirty="0">
                <a:solidFill>
                  <a:schemeClr val="bg2"/>
                </a:solidFill>
              </a:rPr>
              <a:t>There are three major methods to read from a file:</a:t>
            </a:r>
            <a:endParaRPr lang="en-US" altLang="zh-CN" sz="1400" dirty="0">
              <a:solidFill>
                <a:schemeClr val="bg2"/>
              </a:solidFill>
            </a:endParaRPr>
          </a:p>
          <a:p>
            <a:pPr lvl="1"/>
            <a:r>
              <a:rPr lang="en-US" altLang="zh-CN" sz="1200" dirty="0" err="1">
                <a:solidFill>
                  <a:schemeClr val="tx1"/>
                </a:solidFill>
              </a:rPr>
              <a:t>readline</a:t>
            </a:r>
            <a:r>
              <a:rPr lang="en-US" altLang="zh-CN" sz="1200" dirty="0">
                <a:solidFill>
                  <a:schemeClr val="tx1"/>
                </a:solidFill>
              </a:rPr>
              <a:t>() </a:t>
            </a:r>
            <a:r>
              <a:rPr lang="en-US" altLang="zh-CN" sz="1200" dirty="0">
                <a:solidFill>
                  <a:schemeClr val="bg2"/>
                </a:solidFill>
              </a:rPr>
              <a:t>method returns everything in “string” up to and </a:t>
            </a:r>
            <a:r>
              <a:rPr lang="en-US" altLang="zh-CN" sz="1200" dirty="0">
                <a:solidFill>
                  <a:schemeClr val="tx1"/>
                </a:solidFill>
              </a:rPr>
              <a:t>including the newline character.</a:t>
            </a:r>
            <a:r>
              <a:rPr lang="en-US" altLang="zh-CN" sz="1200" dirty="0">
                <a:solidFill>
                  <a:schemeClr val="tx1"/>
                </a:solidFill>
                <a:highlight>
                  <a:srgbClr val="FFFF00"/>
                </a:highlight>
              </a:rPr>
              <a:t> ‘\n’ will be read in(</a:t>
            </a:r>
            <a:r>
              <a:rPr lang="zh-CN" altLang="en-US" sz="1200" dirty="0">
                <a:solidFill>
                  <a:schemeClr val="tx1"/>
                </a:solidFill>
                <a:highlight>
                  <a:srgbClr val="FFFF00"/>
                </a:highlight>
              </a:rPr>
              <a:t>一行行读</a:t>
            </a:r>
            <a:r>
              <a:rPr lang="en-US" altLang="zh-CN" sz="1200" dirty="0">
                <a:solidFill>
                  <a:schemeClr val="tx1"/>
                </a:solidFill>
                <a:highlight>
                  <a:srgbClr val="FFFF00"/>
                </a:highlight>
              </a:rPr>
              <a:t>)</a:t>
            </a:r>
            <a:endParaRPr lang="en-US" altLang="zh-CN" sz="1200" dirty="0">
              <a:solidFill>
                <a:schemeClr val="tx1"/>
              </a:solidFill>
              <a:highlight>
                <a:srgbClr val="FFFF00"/>
              </a:highlight>
            </a:endParaRPr>
          </a:p>
          <a:p>
            <a:pPr lvl="1"/>
            <a:r>
              <a:rPr lang="en-US" altLang="zh-CN" sz="1200" dirty="0">
                <a:solidFill>
                  <a:schemeClr val="bg2"/>
                </a:solidFill>
              </a:rPr>
              <a:t>input(): terminate when ‘\n’ is input and ‘\n’ is ignored </a:t>
            </a:r>
            <a:endParaRPr lang="en-US" altLang="zh-CN" sz="1200" dirty="0">
              <a:solidFill>
                <a:schemeClr val="bg2"/>
              </a:solidFill>
            </a:endParaRPr>
          </a:p>
          <a:p>
            <a:pPr lvl="1"/>
            <a:r>
              <a:rPr lang="en-US" altLang="zh-CN" sz="1200" dirty="0" err="1">
                <a:solidFill>
                  <a:schemeClr val="tx1"/>
                </a:solidFill>
              </a:rPr>
              <a:t>readlines</a:t>
            </a:r>
            <a:r>
              <a:rPr lang="en-US" altLang="zh-CN" sz="1200" dirty="0">
                <a:solidFill>
                  <a:schemeClr val="tx1"/>
                </a:solidFill>
              </a:rPr>
              <a:t>()</a:t>
            </a:r>
            <a:r>
              <a:rPr lang="en-US" altLang="zh-CN" sz="1200" dirty="0">
                <a:solidFill>
                  <a:schemeClr val="bg2"/>
                </a:solidFill>
              </a:rPr>
              <a:t>: Reads and returns a list of lines from the file. (</a:t>
            </a:r>
            <a:r>
              <a:rPr lang="zh-CN" altLang="en-US" sz="1200" dirty="0">
                <a:solidFill>
                  <a:schemeClr val="bg2"/>
                </a:solidFill>
              </a:rPr>
              <a:t>返回一个元素是</a:t>
            </a:r>
            <a:r>
              <a:rPr lang="en-US" altLang="zh-CN" sz="1200" dirty="0">
                <a:solidFill>
                  <a:schemeClr val="bg2"/>
                </a:solidFill>
              </a:rPr>
              <a:t>lines</a:t>
            </a:r>
            <a:r>
              <a:rPr lang="zh-CN" altLang="en-US" sz="1200" dirty="0">
                <a:solidFill>
                  <a:schemeClr val="bg2"/>
                </a:solidFill>
              </a:rPr>
              <a:t>的列表</a:t>
            </a:r>
            <a:r>
              <a:rPr lang="en-US" altLang="zh-CN" sz="1200" dirty="0">
                <a:solidFill>
                  <a:schemeClr val="bg2"/>
                </a:solidFill>
              </a:rPr>
              <a:t>)</a:t>
            </a:r>
            <a:endParaRPr lang="en-US" altLang="zh-CN" sz="1200" dirty="0">
              <a:solidFill>
                <a:schemeClr val="bg2"/>
              </a:solidFill>
            </a:endParaRPr>
          </a:p>
          <a:p>
            <a:pPr lvl="1"/>
            <a:r>
              <a:rPr lang="en-US" altLang="zh-CN" sz="1200" dirty="0">
                <a:solidFill>
                  <a:schemeClr val="tx1"/>
                </a:solidFill>
              </a:rPr>
              <a:t>read([n]) </a:t>
            </a:r>
            <a:r>
              <a:rPr lang="en-US" altLang="zh-CN" sz="1200" dirty="0">
                <a:solidFill>
                  <a:schemeClr val="bg2"/>
                </a:solidFill>
              </a:rPr>
              <a:t>methods read n bytes from the file. To read a file’s contents, call </a:t>
            </a:r>
            <a:r>
              <a:rPr lang="en-US" altLang="zh-CN" sz="1200" dirty="0" err="1">
                <a:solidFill>
                  <a:schemeClr val="bg2"/>
                </a:solidFill>
              </a:rPr>
              <a:t>f.read</a:t>
            </a:r>
            <a:r>
              <a:rPr lang="en-US" altLang="zh-CN" sz="1200" dirty="0">
                <a:solidFill>
                  <a:schemeClr val="bg2"/>
                </a:solidFill>
              </a:rPr>
              <a:t>(size), which reads some quantity of data and returns it as a string (in text mode) or bytes object (in binary mode). (</a:t>
            </a:r>
            <a:r>
              <a:rPr lang="zh-CN" altLang="en-US" sz="1200" dirty="0">
                <a:solidFill>
                  <a:schemeClr val="bg2"/>
                </a:solidFill>
              </a:rPr>
              <a:t>读</a:t>
            </a:r>
            <a:r>
              <a:rPr lang="en-US" altLang="zh-CN" sz="1200" dirty="0">
                <a:solidFill>
                  <a:schemeClr val="bg2"/>
                </a:solidFill>
              </a:rPr>
              <a:t>n</a:t>
            </a:r>
            <a:r>
              <a:rPr lang="zh-CN" altLang="en-US" sz="1200" dirty="0">
                <a:solidFill>
                  <a:schemeClr val="bg2"/>
                </a:solidFill>
              </a:rPr>
              <a:t>个字节的文本</a:t>
            </a:r>
            <a:r>
              <a:rPr lang="en-US" altLang="zh-CN" sz="1200" dirty="0">
                <a:solidFill>
                  <a:schemeClr val="bg2"/>
                </a:solidFill>
              </a:rPr>
              <a:t>)</a:t>
            </a:r>
            <a:endParaRPr lang="en-US" altLang="zh-CN" sz="1200" dirty="0">
              <a:solidFill>
                <a:schemeClr val="bg2"/>
              </a:solidFill>
            </a:endParaRPr>
          </a:p>
          <a:p>
            <a:r>
              <a:rPr lang="en-US" altLang="zh-CN" sz="1400" dirty="0">
                <a:solidFill>
                  <a:schemeClr val="tx1"/>
                </a:solidFill>
              </a:rPr>
              <a:t>It</a:t>
            </a:r>
            <a:r>
              <a:rPr lang="zh-CN" altLang="en-US" sz="1400" dirty="0">
                <a:solidFill>
                  <a:schemeClr val="tx1"/>
                </a:solidFill>
              </a:rPr>
              <a:t> </a:t>
            </a:r>
            <a:r>
              <a:rPr lang="en-US" altLang="zh-CN" sz="1400" dirty="0">
                <a:solidFill>
                  <a:schemeClr val="tx1"/>
                </a:solidFill>
              </a:rPr>
              <a:t>is</a:t>
            </a:r>
            <a:r>
              <a:rPr lang="zh-CN" altLang="en-US" sz="1400" dirty="0">
                <a:solidFill>
                  <a:schemeClr val="tx1"/>
                </a:solidFill>
              </a:rPr>
              <a:t> </a:t>
            </a:r>
            <a:r>
              <a:rPr lang="en-US" altLang="zh-CN" sz="1400" dirty="0">
                <a:solidFill>
                  <a:schemeClr val="tx1"/>
                </a:solidFill>
              </a:rPr>
              <a:t>simple</a:t>
            </a:r>
            <a:r>
              <a:rPr lang="zh-CN" altLang="en-US" sz="1400" dirty="0">
                <a:solidFill>
                  <a:schemeClr val="tx1"/>
                </a:solidFill>
              </a:rPr>
              <a:t> </a:t>
            </a:r>
            <a:r>
              <a:rPr lang="en-US" altLang="zh-CN" sz="1400" dirty="0">
                <a:solidFill>
                  <a:schemeClr val="tx1"/>
                </a:solidFill>
              </a:rPr>
              <a:t>to</a:t>
            </a:r>
            <a:r>
              <a:rPr lang="zh-CN" altLang="en-US" sz="1400" dirty="0">
                <a:solidFill>
                  <a:schemeClr val="tx1"/>
                </a:solidFill>
              </a:rPr>
              <a:t> </a:t>
            </a:r>
            <a:r>
              <a:rPr lang="en-US" altLang="zh-CN" sz="1400" dirty="0">
                <a:solidFill>
                  <a:schemeClr val="tx1"/>
                </a:solidFill>
              </a:rPr>
              <a:t>transform</a:t>
            </a:r>
            <a:r>
              <a:rPr lang="zh-CN" altLang="en-US" sz="1400" dirty="0">
                <a:solidFill>
                  <a:schemeClr val="tx1"/>
                </a:solidFill>
              </a:rPr>
              <a:t> </a:t>
            </a:r>
            <a:r>
              <a:rPr lang="en-US" altLang="zh-CN" sz="1400" dirty="0">
                <a:solidFill>
                  <a:schemeClr val="tx1"/>
                </a:solidFill>
              </a:rPr>
              <a:t>a</a:t>
            </a:r>
            <a:r>
              <a:rPr lang="zh-CN" altLang="en-US" sz="1400" dirty="0">
                <a:solidFill>
                  <a:schemeClr val="tx1"/>
                </a:solidFill>
              </a:rPr>
              <a:t> </a:t>
            </a:r>
            <a:r>
              <a:rPr lang="en-US" altLang="zh-CN" sz="1400" dirty="0">
                <a:solidFill>
                  <a:schemeClr val="tx1"/>
                </a:solidFill>
              </a:rPr>
              <a:t>string</a:t>
            </a:r>
            <a:r>
              <a:rPr lang="zh-CN" altLang="en-US" sz="1400" dirty="0">
                <a:solidFill>
                  <a:schemeClr val="tx1"/>
                </a:solidFill>
              </a:rPr>
              <a:t> </a:t>
            </a:r>
            <a:r>
              <a:rPr lang="en-US" altLang="zh-CN" sz="1400" dirty="0">
                <a:solidFill>
                  <a:schemeClr val="tx1"/>
                </a:solidFill>
              </a:rPr>
              <a:t>into</a:t>
            </a:r>
            <a:r>
              <a:rPr lang="zh-CN" altLang="en-US" sz="1400" dirty="0">
                <a:solidFill>
                  <a:schemeClr val="tx1"/>
                </a:solidFill>
              </a:rPr>
              <a:t> </a:t>
            </a:r>
            <a:r>
              <a:rPr lang="en-US" altLang="zh-CN" sz="1400" dirty="0">
                <a:solidFill>
                  <a:schemeClr val="tx1"/>
                </a:solidFill>
              </a:rPr>
              <a:t>a</a:t>
            </a:r>
            <a:r>
              <a:rPr lang="zh-CN" altLang="en-US" sz="1400" dirty="0">
                <a:solidFill>
                  <a:schemeClr val="tx1"/>
                </a:solidFill>
              </a:rPr>
              <a:t> </a:t>
            </a:r>
            <a:r>
              <a:rPr lang="en-US" altLang="zh-CN" sz="1400" dirty="0">
                <a:solidFill>
                  <a:schemeClr val="tx1"/>
                </a:solidFill>
              </a:rPr>
              <a:t>list</a:t>
            </a:r>
            <a:r>
              <a:rPr lang="zh-CN" altLang="en-US" sz="1400" dirty="0">
                <a:solidFill>
                  <a:schemeClr val="tx1"/>
                </a:solidFill>
              </a:rPr>
              <a:t> </a:t>
            </a:r>
            <a:r>
              <a:rPr lang="en-US" altLang="zh-CN" sz="1400" dirty="0">
                <a:solidFill>
                  <a:schemeClr val="tx1"/>
                </a:solidFill>
              </a:rPr>
              <a:t>and</a:t>
            </a:r>
            <a:r>
              <a:rPr lang="zh-CN" altLang="en-US" sz="1400" dirty="0">
                <a:solidFill>
                  <a:schemeClr val="tx1"/>
                </a:solidFill>
              </a:rPr>
              <a:t> </a:t>
            </a:r>
            <a:r>
              <a:rPr lang="en-US" altLang="zh-CN" sz="1400" dirty="0">
                <a:solidFill>
                  <a:schemeClr val="tx1"/>
                </a:solidFill>
              </a:rPr>
              <a:t>see</a:t>
            </a:r>
            <a:r>
              <a:rPr lang="zh-CN" altLang="en-US" sz="1400" dirty="0">
                <a:solidFill>
                  <a:schemeClr val="tx1"/>
                </a:solidFill>
              </a:rPr>
              <a:t> </a:t>
            </a:r>
            <a:r>
              <a:rPr lang="en-US" altLang="zh-CN" sz="1400" dirty="0">
                <a:solidFill>
                  <a:schemeClr val="tx1"/>
                </a:solidFill>
              </a:rPr>
              <a:t>its</a:t>
            </a:r>
            <a:r>
              <a:rPr lang="zh-CN" altLang="en-US" sz="1400" dirty="0">
                <a:solidFill>
                  <a:schemeClr val="tx1"/>
                </a:solidFill>
              </a:rPr>
              <a:t> </a:t>
            </a:r>
            <a:r>
              <a:rPr lang="en-US" altLang="zh-CN" sz="1400" dirty="0">
                <a:solidFill>
                  <a:schemeClr val="tx1"/>
                </a:solidFill>
              </a:rPr>
              <a:t>contents</a:t>
            </a:r>
            <a:endParaRPr lang="en-US" altLang="zh-CN" sz="1400" dirty="0">
              <a:solidFill>
                <a:schemeClr val="tx1"/>
              </a:solidFill>
            </a:endParaRPr>
          </a:p>
        </p:txBody>
      </p:sp>
      <p:pic>
        <p:nvPicPr>
          <p:cNvPr id="4" name="Picture 5"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76665" y="2911425"/>
            <a:ext cx="1954633" cy="1451663"/>
          </a:xfrm>
          <a:prstGeom prst="rect">
            <a:avLst/>
          </a:prstGeom>
        </p:spPr>
      </p:pic>
      <p:pic>
        <p:nvPicPr>
          <p:cNvPr id="6" name="Picture 13" descr="A picture containing shape&#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354" y="2978735"/>
            <a:ext cx="2051029" cy="513586"/>
          </a:xfrm>
          <a:prstGeom prst="rect">
            <a:avLst/>
          </a:prstGeom>
        </p:spPr>
      </p:pic>
      <p:pic>
        <p:nvPicPr>
          <p:cNvPr id="7"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4144" y="2875230"/>
            <a:ext cx="1704440" cy="1451663"/>
          </a:xfrm>
          <a:prstGeom prst="rect">
            <a:avLst/>
          </a:prstGeom>
        </p:spPr>
      </p:pic>
      <p:pic>
        <p:nvPicPr>
          <p:cNvPr id="8"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28249" y="4469975"/>
            <a:ext cx="6737684" cy="353140"/>
          </a:xfrm>
          <a:prstGeom prst="rect">
            <a:avLst/>
          </a:prstGeom>
        </p:spPr>
      </p:pic>
      <p:sp>
        <p:nvSpPr>
          <p:cNvPr id="9" name="TextBox 9"/>
          <p:cNvSpPr txBox="1"/>
          <p:nvPr/>
        </p:nvSpPr>
        <p:spPr>
          <a:xfrm>
            <a:off x="4827069" y="4507172"/>
            <a:ext cx="185015" cy="191303"/>
          </a:xfrm>
          <a:prstGeom prst="rect">
            <a:avLst/>
          </a:prstGeom>
          <a:noFill/>
          <a:ln w="19050">
            <a:solidFill>
              <a:srgbClr val="FF0000"/>
            </a:solidFill>
          </a:ln>
        </p:spPr>
        <p:txBody>
          <a:bodyPr wrap="square" rtlCol="0">
            <a:spAutoFit/>
          </a:bodyPr>
          <a:lstStyle/>
          <a:p>
            <a:endParaRPr lang="en-US"/>
          </a:p>
        </p:txBody>
      </p:sp>
      <p:sp>
        <p:nvSpPr>
          <p:cNvPr id="10" name="TextBox 1"/>
          <p:cNvSpPr txBox="1"/>
          <p:nvPr/>
        </p:nvSpPr>
        <p:spPr>
          <a:xfrm>
            <a:off x="8749909" y="4327152"/>
            <a:ext cx="185015" cy="241723"/>
          </a:xfrm>
          <a:prstGeom prst="rect">
            <a:avLst/>
          </a:prstGeom>
          <a:noFill/>
          <a:ln w="19050">
            <a:solidFill>
              <a:srgbClr val="FF0000"/>
            </a:solidFill>
          </a:ln>
        </p:spPr>
        <p:txBody>
          <a:bodyPr wrap="square" rtlCol="0">
            <a:spAutoFit/>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Binary files: read()</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00" y="1068656"/>
            <a:ext cx="8520600" cy="1058710"/>
          </a:xfrm>
        </p:spPr>
        <p:txBody>
          <a:bodyPr>
            <a:noAutofit/>
          </a:bodyPr>
          <a:lstStyle/>
          <a:p>
            <a:r>
              <a:rPr lang="en-US" altLang="zh-CN" sz="1400" dirty="0">
                <a:solidFill>
                  <a:schemeClr val="bg2"/>
                </a:solidFill>
              </a:rPr>
              <a:t>To</a:t>
            </a:r>
            <a:r>
              <a:rPr lang="zh-CN" altLang="en-US" sz="1400" dirty="0">
                <a:solidFill>
                  <a:schemeClr val="bg2"/>
                </a:solidFill>
              </a:rPr>
              <a:t> </a:t>
            </a:r>
            <a:r>
              <a:rPr lang="en-US" altLang="zh-CN" sz="1400" dirty="0">
                <a:solidFill>
                  <a:schemeClr val="bg2"/>
                </a:solidFill>
              </a:rPr>
              <a:t>read a file’s contents, call </a:t>
            </a:r>
            <a:r>
              <a:rPr lang="en-US" altLang="zh-CN" sz="1400" dirty="0" err="1">
                <a:solidFill>
                  <a:schemeClr val="bg2"/>
                </a:solidFill>
              </a:rPr>
              <a:t>f.read</a:t>
            </a:r>
            <a:r>
              <a:rPr lang="en-US" altLang="zh-CN" sz="1400" dirty="0">
                <a:solidFill>
                  <a:schemeClr val="bg2"/>
                </a:solidFill>
              </a:rPr>
              <a:t>(size), which reads some quantity of data and returns it as a string (in text mode) or bytes object (in binary mode). </a:t>
            </a:r>
            <a:endParaRPr lang="en-US" altLang="zh-CN" sz="1400" b="1" dirty="0">
              <a:solidFill>
                <a:schemeClr val="tx1"/>
              </a:solidFill>
            </a:endParaRPr>
          </a:p>
          <a:p>
            <a:pPr lvl="1"/>
            <a:r>
              <a:rPr lang="en-US" altLang="zh-CN" sz="1200" dirty="0">
                <a:solidFill>
                  <a:schemeClr val="bg2"/>
                </a:solidFill>
              </a:rPr>
              <a:t>size is an optional numeric argument. When size is omitted or negative, the entire contents of the file will be read and returned(</a:t>
            </a:r>
            <a:r>
              <a:rPr lang="zh-CN" altLang="en-US" sz="1200" dirty="0">
                <a:solidFill>
                  <a:schemeClr val="bg2"/>
                </a:solidFill>
              </a:rPr>
              <a:t>不给定</a:t>
            </a:r>
            <a:r>
              <a:rPr lang="en-US" altLang="zh-CN" sz="1200" dirty="0">
                <a:solidFill>
                  <a:schemeClr val="bg2"/>
                </a:solidFill>
              </a:rPr>
              <a:t>size</a:t>
            </a:r>
            <a:r>
              <a:rPr lang="zh-CN" altLang="en-US" sz="1200" dirty="0">
                <a:solidFill>
                  <a:schemeClr val="bg2"/>
                </a:solidFill>
              </a:rPr>
              <a:t>则读出整个文本</a:t>
            </a:r>
            <a:r>
              <a:rPr lang="en-US" altLang="zh-CN" sz="1200" dirty="0">
                <a:solidFill>
                  <a:schemeClr val="bg2"/>
                </a:solidFill>
              </a:rPr>
              <a:t>)</a:t>
            </a:r>
            <a:endParaRPr lang="en-US" altLang="zh-CN" sz="1200" dirty="0">
              <a:solidFill>
                <a:schemeClr val="bg2"/>
              </a:solidFill>
            </a:endParaRPr>
          </a:p>
        </p:txBody>
      </p:sp>
      <p:sp>
        <p:nvSpPr>
          <p:cNvPr id="7" name="TextBox 6"/>
          <p:cNvSpPr txBox="1"/>
          <p:nvPr/>
        </p:nvSpPr>
        <p:spPr>
          <a:xfrm>
            <a:off x="166255" y="4897279"/>
            <a:ext cx="4572000" cy="246221"/>
          </a:xfrm>
          <a:prstGeom prst="rect">
            <a:avLst/>
          </a:prstGeom>
          <a:noFill/>
        </p:spPr>
        <p:txBody>
          <a:bodyPr wrap="square">
            <a:spAutoFit/>
          </a:bodyPr>
          <a:lstStyle/>
          <a:p>
            <a:r>
              <a:rPr lang="en-US" sz="1000" dirty="0"/>
              <a:t>https://docs.python.org/3/tutorial/inputoutput.html#reading-and-writing-files</a:t>
            </a:r>
            <a:endParaRPr lang="en-US" sz="1000" dirty="0"/>
          </a:p>
        </p:txBody>
      </p:sp>
      <p:sp>
        <p:nvSpPr>
          <p:cNvPr id="10" name="Rectangle 1"/>
          <p:cNvSpPr/>
          <p:nvPr/>
        </p:nvSpPr>
        <p:spPr>
          <a:xfrm>
            <a:off x="2057400" y="3270885"/>
            <a:ext cx="5029200" cy="1713865"/>
          </a:xfrm>
          <a:prstGeom prst="rect">
            <a:avLst/>
          </a:prstGeom>
          <a:ln w="19050">
            <a:solidFill>
              <a:srgbClr val="7030A0"/>
            </a:solidFill>
          </a:ln>
        </p:spPr>
        <p:txBody>
          <a:bodyPr wrap="square">
            <a:noAutofit/>
          </a:bodyPr>
          <a:lstStyle/>
          <a:p>
            <a:pPr>
              <a:lnSpc>
                <a:spcPct val="100000"/>
              </a:lnSpc>
              <a:defRPr/>
            </a:pPr>
            <a:r>
              <a:rPr lang="en-US" altLang="zh-CN" sz="1200" dirty="0">
                <a:latin typeface="Source Sans Pro" panose="020B0503030403020204" pitchFamily="34" charset="0"/>
                <a:ea typeface="Source Sans Pro" panose="020B0503030403020204" pitchFamily="34" charset="0"/>
              </a:rPr>
              <a:t>     f = open("</a:t>
            </a:r>
            <a:r>
              <a:rPr lang="en-US" altLang="zh-CN" sz="1200" dirty="0" err="1">
                <a:latin typeface="Source Sans Pro" panose="020B0503030403020204" pitchFamily="34" charset="0"/>
                <a:ea typeface="Source Sans Pro" panose="020B0503030403020204" pitchFamily="34" charset="0"/>
              </a:rPr>
              <a:t>somefile.zip</a:t>
            </a:r>
            <a:r>
              <a:rPr lang="en-US" altLang="zh-CN" sz="1200" dirty="0">
                <a:latin typeface="Source Sans Pro" panose="020B0503030403020204" pitchFamily="34" charset="0"/>
                <a:ea typeface="Source Sans Pro" panose="020B0503030403020204" pitchFamily="34" charset="0"/>
              </a:rPr>
              <a:t>", "</a:t>
            </a:r>
            <a:r>
              <a:rPr lang="en-US" altLang="zh-CN" sz="1200" dirty="0" err="1">
                <a:solidFill>
                  <a:srgbClr val="922706"/>
                </a:solidFill>
                <a:latin typeface="Source Sans Pro" panose="020B0503030403020204" pitchFamily="34" charset="0"/>
                <a:ea typeface="Source Sans Pro" panose="020B0503030403020204" pitchFamily="34" charset="0"/>
              </a:rPr>
              <a:t>rb</a:t>
            </a:r>
            <a:r>
              <a:rPr lang="en-US" altLang="zh-CN" sz="1200" dirty="0">
                <a:latin typeface="Source Sans Pro" panose="020B0503030403020204" pitchFamily="34" charset="0"/>
                <a:ea typeface="Source Sans Pro" panose="020B0503030403020204" pitchFamily="34" charset="0"/>
              </a:rPr>
              <a:t>")     # r: read; b: binary file</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     g = open("</a:t>
            </a:r>
            <a:r>
              <a:rPr lang="en-US" altLang="zh-CN" sz="1200" dirty="0" err="1">
                <a:latin typeface="Source Sans Pro" panose="020B0503030403020204" pitchFamily="34" charset="0"/>
                <a:ea typeface="Source Sans Pro" panose="020B0503030403020204" pitchFamily="34" charset="0"/>
              </a:rPr>
              <a:t>thecopy.zip</a:t>
            </a:r>
            <a:r>
              <a:rPr lang="en-US" altLang="zh-CN" sz="1200" dirty="0">
                <a:latin typeface="Source Sans Pro" panose="020B0503030403020204" pitchFamily="34" charset="0"/>
                <a:ea typeface="Source Sans Pro" panose="020B0503030403020204" pitchFamily="34" charset="0"/>
              </a:rPr>
              <a:t>", "</a:t>
            </a:r>
            <a:r>
              <a:rPr lang="en-US" altLang="zh-CN" sz="1200" dirty="0" err="1">
                <a:solidFill>
                  <a:srgbClr val="922706"/>
                </a:solidFill>
                <a:latin typeface="Source Sans Pro" panose="020B0503030403020204" pitchFamily="34" charset="0"/>
                <a:ea typeface="Source Sans Pro" panose="020B0503030403020204" pitchFamily="34" charset="0"/>
              </a:rPr>
              <a:t>wb</a:t>
            </a:r>
            <a:r>
              <a:rPr lang="en-US" altLang="zh-CN" sz="1200" dirty="0">
                <a:latin typeface="Source Sans Pro" panose="020B0503030403020204" pitchFamily="34" charset="0"/>
                <a:ea typeface="Source Sans Pro" panose="020B0503030403020204" pitchFamily="34" charset="0"/>
              </a:rPr>
              <a:t>")   # w: write; b: binary file</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     while True:</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           </a:t>
            </a:r>
            <a:r>
              <a:rPr lang="en-US" altLang="zh-CN" sz="1200" dirty="0" err="1">
                <a:latin typeface="Source Sans Pro" panose="020B0503030403020204" pitchFamily="34" charset="0"/>
                <a:ea typeface="Source Sans Pro" panose="020B0503030403020204" pitchFamily="34" charset="0"/>
              </a:rPr>
              <a:t>buf</a:t>
            </a:r>
            <a:r>
              <a:rPr lang="en-US" altLang="zh-CN" sz="1200" dirty="0">
                <a:latin typeface="Source Sans Pro" panose="020B0503030403020204" pitchFamily="34" charset="0"/>
                <a:ea typeface="Source Sans Pro" panose="020B0503030403020204" pitchFamily="34" charset="0"/>
              </a:rPr>
              <a:t> = </a:t>
            </a:r>
            <a:r>
              <a:rPr lang="en-US" altLang="zh-CN" sz="1200" dirty="0" err="1">
                <a:solidFill>
                  <a:srgbClr val="922706"/>
                </a:solidFill>
                <a:latin typeface="Source Sans Pro" panose="020B0503030403020204" pitchFamily="34" charset="0"/>
                <a:ea typeface="Source Sans Pro" panose="020B0503030403020204" pitchFamily="34" charset="0"/>
              </a:rPr>
              <a:t>f.read</a:t>
            </a:r>
            <a:r>
              <a:rPr lang="en-US" altLang="zh-CN" sz="1200" dirty="0">
                <a:solidFill>
                  <a:srgbClr val="922706"/>
                </a:solidFill>
                <a:latin typeface="Source Sans Pro" panose="020B0503030403020204" pitchFamily="34" charset="0"/>
                <a:ea typeface="Source Sans Pro" panose="020B0503030403020204" pitchFamily="34" charset="0"/>
              </a:rPr>
              <a:t>(1024)  # read 1024 bytes</a:t>
            </a:r>
            <a:endParaRPr lang="en-US" altLang="zh-CN" sz="1200" dirty="0">
              <a:solidFill>
                <a:srgbClr val="922706"/>
              </a:solidFill>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           if </a:t>
            </a:r>
            <a:r>
              <a:rPr lang="en-US" altLang="zh-CN" sz="1200" dirty="0" err="1">
                <a:latin typeface="Source Sans Pro" panose="020B0503030403020204" pitchFamily="34" charset="0"/>
                <a:ea typeface="Source Sans Pro" panose="020B0503030403020204" pitchFamily="34" charset="0"/>
              </a:rPr>
              <a:t>len</a:t>
            </a:r>
            <a:r>
              <a:rPr lang="en-US" altLang="zh-CN" sz="1200" dirty="0">
                <a:latin typeface="Source Sans Pro" panose="020B0503030403020204" pitchFamily="34" charset="0"/>
                <a:ea typeface="Source Sans Pro" panose="020B0503030403020204" pitchFamily="34" charset="0"/>
              </a:rPr>
              <a:t>(</a:t>
            </a:r>
            <a:r>
              <a:rPr lang="en-US" altLang="zh-CN" sz="1200" dirty="0" err="1">
                <a:latin typeface="Source Sans Pro" panose="020B0503030403020204" pitchFamily="34" charset="0"/>
                <a:ea typeface="Source Sans Pro" panose="020B0503030403020204" pitchFamily="34" charset="0"/>
              </a:rPr>
              <a:t>buf</a:t>
            </a:r>
            <a:r>
              <a:rPr lang="en-US" altLang="zh-CN" sz="1200" dirty="0">
                <a:latin typeface="Source Sans Pro" panose="020B0503030403020204" pitchFamily="34" charset="0"/>
                <a:ea typeface="Source Sans Pro" panose="020B0503030403020204" pitchFamily="34" charset="0"/>
              </a:rPr>
              <a:t>) == 0:   # if </a:t>
            </a:r>
            <a:r>
              <a:rPr lang="en-US" altLang="zh-CN" sz="1200" dirty="0" err="1">
                <a:latin typeface="Source Sans Pro" panose="020B0503030403020204" pitchFamily="34" charset="0"/>
                <a:ea typeface="Source Sans Pro" panose="020B0503030403020204" pitchFamily="34" charset="0"/>
              </a:rPr>
              <a:t>buf</a:t>
            </a:r>
            <a:r>
              <a:rPr lang="en-US" altLang="zh-CN" sz="1200" dirty="0">
                <a:latin typeface="Source Sans Pro" panose="020B0503030403020204" pitchFamily="34" charset="0"/>
                <a:ea typeface="Source Sans Pro" panose="020B0503030403020204" pitchFamily="34" charset="0"/>
              </a:rPr>
              <a:t> is empty, then it is the end of the file.</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                      break</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           </a:t>
            </a:r>
            <a:r>
              <a:rPr lang="en-US" altLang="zh-CN" sz="1200" dirty="0" err="1">
                <a:latin typeface="Source Sans Pro" panose="020B0503030403020204" pitchFamily="34" charset="0"/>
                <a:ea typeface="Source Sans Pro" panose="020B0503030403020204" pitchFamily="34" charset="0"/>
              </a:rPr>
              <a:t>g.write</a:t>
            </a:r>
            <a:r>
              <a:rPr lang="en-US" altLang="zh-CN" sz="1200" dirty="0">
                <a:latin typeface="Source Sans Pro" panose="020B0503030403020204" pitchFamily="34" charset="0"/>
                <a:ea typeface="Source Sans Pro" panose="020B0503030403020204" pitchFamily="34" charset="0"/>
              </a:rPr>
              <a:t>(</a:t>
            </a:r>
            <a:r>
              <a:rPr lang="en-US" altLang="zh-CN" sz="1200" dirty="0" err="1">
                <a:latin typeface="Source Sans Pro" panose="020B0503030403020204" pitchFamily="34" charset="0"/>
                <a:ea typeface="Source Sans Pro" panose="020B0503030403020204" pitchFamily="34" charset="0"/>
              </a:rPr>
              <a:t>buf</a:t>
            </a:r>
            <a:r>
              <a:rPr lang="en-US" altLang="zh-CN" sz="1200" dirty="0">
                <a:latin typeface="Source Sans Pro" panose="020B0503030403020204" pitchFamily="34" charset="0"/>
                <a:ea typeface="Source Sans Pro" panose="020B0503030403020204" pitchFamily="34" charset="0"/>
              </a:rPr>
              <a:t>)</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       </a:t>
            </a:r>
            <a:r>
              <a:rPr lang="en-US" altLang="zh-CN" sz="1200" dirty="0" err="1">
                <a:latin typeface="Source Sans Pro" panose="020B0503030403020204" pitchFamily="34" charset="0"/>
                <a:ea typeface="Source Sans Pro" panose="020B0503030403020204" pitchFamily="34" charset="0"/>
              </a:rPr>
              <a:t>g.close</a:t>
            </a:r>
            <a:r>
              <a:rPr lang="en-US" altLang="zh-CN" sz="1200" dirty="0">
                <a:latin typeface="Source Sans Pro" panose="020B0503030403020204" pitchFamily="34" charset="0"/>
                <a:ea typeface="Source Sans Pro" panose="020B0503030403020204" pitchFamily="34" charset="0"/>
              </a:rPr>
              <a:t>()</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       </a:t>
            </a:r>
            <a:r>
              <a:rPr lang="en-US" altLang="zh-CN" sz="1200" dirty="0" err="1">
                <a:latin typeface="Source Sans Pro" panose="020B0503030403020204" pitchFamily="34" charset="0"/>
                <a:ea typeface="Source Sans Pro" panose="020B0503030403020204" pitchFamily="34" charset="0"/>
              </a:rPr>
              <a:t>f.close</a:t>
            </a:r>
            <a:r>
              <a:rPr lang="en-US" altLang="zh-CN" sz="1200" dirty="0">
                <a:latin typeface="Source Sans Pro" panose="020B0503030403020204" pitchFamily="34" charset="0"/>
                <a:ea typeface="Source Sans Pro" panose="020B0503030403020204" pitchFamily="34" charset="0"/>
              </a:rPr>
              <a:t>()</a:t>
            </a:r>
            <a:endParaRPr lang="en-US" altLang="zh-CN" sz="1200" dirty="0">
              <a:latin typeface="Source Sans Pro" panose="020B0503030403020204" pitchFamily="34" charset="0"/>
              <a:ea typeface="Source Sans Pro" panose="020B0503030403020204" pitchFamily="34" charset="0"/>
            </a:endParaRPr>
          </a:p>
        </p:txBody>
      </p:sp>
      <p:sp>
        <p:nvSpPr>
          <p:cNvPr id="11" name="Rectangle 2"/>
          <p:cNvSpPr/>
          <p:nvPr/>
        </p:nvSpPr>
        <p:spPr>
          <a:xfrm>
            <a:off x="2057400" y="2092402"/>
            <a:ext cx="5029200" cy="1015663"/>
          </a:xfrm>
          <a:prstGeom prst="rect">
            <a:avLst/>
          </a:prstGeom>
          <a:ln w="19050">
            <a:solidFill>
              <a:srgbClr val="7030A0"/>
            </a:solidFill>
          </a:ln>
        </p:spPr>
        <p:txBody>
          <a:bodyPr wrap="square">
            <a:spAutoFit/>
          </a:bodyPr>
          <a:lstStyle/>
          <a:p>
            <a:pPr>
              <a:defRPr/>
            </a:pPr>
            <a:r>
              <a:rPr lang="en-US" altLang="zh-CN" sz="1200" dirty="0">
                <a:latin typeface="Source Sans Pro" panose="020B0503030403020204" pitchFamily="34" charset="0"/>
                <a:ea typeface="Source Sans Pro" panose="020B0503030403020204" pitchFamily="34" charset="0"/>
              </a:rPr>
              <a:t>f = open("</a:t>
            </a:r>
            <a:r>
              <a:rPr lang="en-US" altLang="zh-CN" sz="1200" dirty="0" err="1">
                <a:latin typeface="Source Sans Pro" panose="020B0503030403020204" pitchFamily="34" charset="0"/>
                <a:ea typeface="Source Sans Pro" panose="020B0503030403020204" pitchFamily="34" charset="0"/>
              </a:rPr>
              <a:t>somefile.txt</a:t>
            </a:r>
            <a:r>
              <a:rPr lang="en-US" altLang="zh-CN" sz="1200" dirty="0">
                <a:latin typeface="Source Sans Pro" panose="020B0503030403020204" pitchFamily="34" charset="0"/>
                <a:ea typeface="Source Sans Pro" panose="020B0503030403020204" pitchFamily="34" charset="0"/>
              </a:rPr>
              <a:t>")</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content = </a:t>
            </a:r>
            <a:r>
              <a:rPr lang="en-US" altLang="zh-CN" sz="1200" dirty="0" err="1">
                <a:latin typeface="Source Sans Pro" panose="020B0503030403020204" pitchFamily="34" charset="0"/>
                <a:ea typeface="Source Sans Pro" panose="020B0503030403020204" pitchFamily="34" charset="0"/>
              </a:rPr>
              <a:t>f.read</a:t>
            </a:r>
            <a:r>
              <a:rPr lang="en-US" altLang="zh-CN" sz="1200" dirty="0">
                <a:latin typeface="Source Sans Pro" panose="020B0503030403020204" pitchFamily="34" charset="0"/>
                <a:ea typeface="Source Sans Pro" panose="020B0503030403020204" pitchFamily="34" charset="0"/>
              </a:rPr>
              <a:t>()</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err="1">
                <a:latin typeface="Source Sans Pro" panose="020B0503030403020204" pitchFamily="34" charset="0"/>
                <a:ea typeface="Source Sans Pro" panose="020B0503030403020204" pitchFamily="34" charset="0"/>
              </a:rPr>
              <a:t>f.close</a:t>
            </a:r>
            <a:r>
              <a:rPr lang="en-US" altLang="zh-CN" sz="1200" dirty="0">
                <a:latin typeface="Source Sans Pro" panose="020B0503030403020204" pitchFamily="34" charset="0"/>
                <a:ea typeface="Source Sans Pro" panose="020B0503030403020204" pitchFamily="34" charset="0"/>
              </a:rPr>
              <a:t>() </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words = </a:t>
            </a:r>
            <a:r>
              <a:rPr lang="en-US" altLang="zh-CN" sz="1200" dirty="0" err="1">
                <a:latin typeface="Source Sans Pro" panose="020B0503030403020204" pitchFamily="34" charset="0"/>
                <a:ea typeface="Source Sans Pro" panose="020B0503030403020204" pitchFamily="34" charset="0"/>
              </a:rPr>
              <a:t>content.split</a:t>
            </a:r>
            <a:r>
              <a:rPr lang="en-US" altLang="zh-CN" sz="1200" dirty="0">
                <a:latin typeface="Source Sans Pro" panose="020B0503030403020204" pitchFamily="34" charset="0"/>
                <a:ea typeface="Source Sans Pro" panose="020B0503030403020204" pitchFamily="34" charset="0"/>
              </a:rPr>
              <a:t>()</a:t>
            </a:r>
            <a:endParaRPr lang="en-US" altLang="zh-CN" sz="1200" dirty="0">
              <a:latin typeface="Source Sans Pro" panose="020B0503030403020204" pitchFamily="34" charset="0"/>
              <a:ea typeface="Source Sans Pro" panose="020B0503030403020204" pitchFamily="34" charset="0"/>
            </a:endParaRPr>
          </a:p>
          <a:p>
            <a:pPr>
              <a:defRPr/>
            </a:pPr>
            <a:r>
              <a:rPr lang="en-US" altLang="zh-CN" sz="1200" dirty="0">
                <a:latin typeface="Source Sans Pro" panose="020B0503030403020204" pitchFamily="34" charset="0"/>
                <a:ea typeface="Source Sans Pro" panose="020B0503030403020204" pitchFamily="34" charset="0"/>
              </a:rPr>
              <a:t>print("There are {0} words in the </a:t>
            </a:r>
            <a:r>
              <a:rPr lang="en-US" altLang="zh-CN" sz="1200" dirty="0" err="1">
                <a:latin typeface="Source Sans Pro" panose="020B0503030403020204" pitchFamily="34" charset="0"/>
                <a:ea typeface="Source Sans Pro" panose="020B0503030403020204" pitchFamily="34" charset="0"/>
              </a:rPr>
              <a:t>file.".format</a:t>
            </a:r>
            <a:r>
              <a:rPr lang="en-US" altLang="zh-CN" sz="1200" dirty="0">
                <a:latin typeface="Source Sans Pro" panose="020B0503030403020204" pitchFamily="34" charset="0"/>
                <a:ea typeface="Source Sans Pro" panose="020B0503030403020204" pitchFamily="34" charset="0"/>
              </a:rPr>
              <a:t>(</a:t>
            </a:r>
            <a:r>
              <a:rPr lang="en-US" altLang="zh-CN" sz="1200" dirty="0" err="1">
                <a:latin typeface="Source Sans Pro" panose="020B0503030403020204" pitchFamily="34" charset="0"/>
                <a:ea typeface="Source Sans Pro" panose="020B0503030403020204" pitchFamily="34" charset="0"/>
              </a:rPr>
              <a:t>len</a:t>
            </a:r>
            <a:r>
              <a:rPr lang="en-US" altLang="zh-CN" sz="1200" dirty="0">
                <a:latin typeface="Source Sans Pro" panose="020B0503030403020204" pitchFamily="34" charset="0"/>
                <a:ea typeface="Source Sans Pro" panose="020B0503030403020204" pitchFamily="34" charset="0"/>
              </a:rPr>
              <a:t>(words)))</a:t>
            </a:r>
            <a:endParaRPr lang="en-US" altLang="zh-CN" sz="12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readlines() and EOF</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00" y="1152475"/>
            <a:ext cx="8520600" cy="623400"/>
          </a:xfrm>
        </p:spPr>
        <p:txBody>
          <a:bodyPr>
            <a:noAutofit/>
          </a:bodyPr>
          <a:lstStyle/>
          <a:p>
            <a:r>
              <a:rPr lang="en-US" altLang="zh-CN" sz="1400">
                <a:solidFill>
                  <a:schemeClr val="tx1"/>
                </a:solidFill>
              </a:rPr>
              <a:t>readlines():</a:t>
            </a:r>
            <a:r>
              <a:rPr lang="en-US" altLang="zh-CN" sz="1400">
                <a:solidFill>
                  <a:schemeClr val="bg2"/>
                </a:solidFill>
              </a:rPr>
              <a:t> Reads and returns a list of lines from the file.</a:t>
            </a:r>
            <a:endParaRPr lang="en-US" altLang="zh-CN" sz="1400">
              <a:solidFill>
                <a:schemeClr val="bg2"/>
              </a:solidFill>
            </a:endParaRPr>
          </a:p>
          <a:p>
            <a:r>
              <a:rPr lang="en-US" altLang="zh-CN" sz="1400">
                <a:solidFill>
                  <a:schemeClr val="bg2"/>
                </a:solidFill>
              </a:rPr>
              <a:t>EOF: end of file. </a:t>
            </a:r>
            <a:r>
              <a:rPr lang="zh-CN" altLang="en-US" sz="1400">
                <a:solidFill>
                  <a:schemeClr val="bg2"/>
                </a:solidFill>
              </a:rPr>
              <a:t>文件结束标志 </a:t>
            </a:r>
            <a:endParaRPr lang="zh-CN" altLang="en-US" sz="1400">
              <a:solidFill>
                <a:schemeClr val="bg2"/>
              </a:solidFill>
            </a:endParaRPr>
          </a:p>
        </p:txBody>
      </p:sp>
      <p:pic>
        <p:nvPicPr>
          <p:cNvPr id="3" name="Picture 2"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46237" y="1736016"/>
            <a:ext cx="2259772" cy="801107"/>
          </a:xfrm>
          <a:prstGeom prst="rect">
            <a:avLst/>
          </a:prstGeom>
        </p:spPr>
      </p:pic>
      <p:pic>
        <p:nvPicPr>
          <p:cNvPr id="6" name="Picture 7" descr="Graphical user interface,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727008"/>
            <a:ext cx="3242628" cy="580139"/>
          </a:xfrm>
          <a:prstGeom prst="rect">
            <a:avLst/>
          </a:prstGeom>
        </p:spPr>
      </p:pic>
      <p:pic>
        <p:nvPicPr>
          <p:cNvPr id="7"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700" y="2584435"/>
            <a:ext cx="8299129" cy="236018"/>
          </a:xfrm>
          <a:prstGeom prst="rect">
            <a:avLst/>
          </a:prstGeom>
        </p:spPr>
      </p:pic>
      <p:pic>
        <p:nvPicPr>
          <p:cNvPr id="8"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156" y="3688604"/>
            <a:ext cx="8654144" cy="226961"/>
          </a:xfrm>
          <a:prstGeom prst="rect">
            <a:avLst/>
          </a:prstGeom>
        </p:spPr>
      </p:pic>
      <p:pic>
        <p:nvPicPr>
          <p:cNvPr id="9" name="Picture 17" descr="Graphical user interface, text, application&#10;&#10;Description automatically generate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6020" y="2899085"/>
            <a:ext cx="2806868" cy="671136"/>
          </a:xfrm>
          <a:prstGeom prst="rect">
            <a:avLst/>
          </a:prstGeom>
        </p:spPr>
      </p:pic>
      <p:pic>
        <p:nvPicPr>
          <p:cNvPr id="10" name="Picture 19" descr="Text&#10;&#10;Description automatically generat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6020" y="3987934"/>
            <a:ext cx="2298323" cy="795782"/>
          </a:xfrm>
          <a:prstGeom prst="rect">
            <a:avLst/>
          </a:prstGeom>
        </p:spPr>
      </p:pic>
      <p:pic>
        <p:nvPicPr>
          <p:cNvPr id="11" name="Picture 2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573" y="4856085"/>
            <a:ext cx="8972854" cy="213965"/>
          </a:xfrm>
          <a:prstGeom prst="rect">
            <a:avLst/>
          </a:prstGeom>
        </p:spPr>
      </p:pic>
      <p:sp>
        <p:nvSpPr>
          <p:cNvPr id="4" name="TextBox 3"/>
          <p:cNvSpPr txBox="1"/>
          <p:nvPr/>
        </p:nvSpPr>
        <p:spPr>
          <a:xfrm>
            <a:off x="4572000" y="2307436"/>
            <a:ext cx="2031325" cy="276999"/>
          </a:xfrm>
          <a:prstGeom prst="rect">
            <a:avLst/>
          </a:prstGeom>
          <a:noFill/>
        </p:spPr>
        <p:txBody>
          <a:bodyPr wrap="none" rtlCol="0">
            <a:spAutoFit/>
          </a:bodyPr>
          <a:lstStyle/>
          <a:p>
            <a:r>
              <a:rPr lang="en-US" sz="1200" dirty="0" err="1">
                <a:latin typeface="黑体" panose="02010609060101010101" pitchFamily="49" charset="-122"/>
                <a:ea typeface="黑体" panose="02010609060101010101" pitchFamily="49" charset="-122"/>
              </a:rPr>
              <a:t>分别测试三种不同文件结尾</a:t>
            </a:r>
            <a:endParaRPr lang="en-US" sz="1200" dirty="0">
              <a:latin typeface="黑体" panose="02010609060101010101" pitchFamily="49" charset="-122"/>
              <a:ea typeface="黑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With statement(</a:t>
            </a:r>
            <a:r>
              <a:rPr lang="zh-CN" altLang="en-US">
                <a:latin typeface="Raleway" pitchFamily="34" charset="0"/>
                <a:ea typeface="Source Sans Pro" panose="020B0503030403020204" pitchFamily="34" charset="0"/>
              </a:rPr>
              <a:t>防止</a:t>
            </a:r>
            <a:r>
              <a:rPr lang="en-US" altLang="zh-CN">
                <a:latin typeface="Raleway" pitchFamily="34" charset="0"/>
                <a:ea typeface="Source Sans Pro" panose="020B0503030403020204" pitchFamily="34" charset="0"/>
              </a:rPr>
              <a:t>forget to close)</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p:txBody>
          <a:bodyPr>
            <a:noAutofit/>
          </a:bodyPr>
          <a:lstStyle/>
          <a:p>
            <a:pPr marL="114300" indent="0" algn="ctr">
              <a:buNone/>
            </a:pPr>
            <a:r>
              <a:rPr lang="en-US" altLang="zh-CN" sz="1400" dirty="0">
                <a:solidFill>
                  <a:schemeClr val="tx1"/>
                </a:solidFill>
              </a:rPr>
              <a:t>Forget close() is a common mistake in programming. The solution is to automatically call it</a:t>
            </a:r>
            <a:endParaRPr lang="en-US" altLang="zh-CN" sz="1400" dirty="0">
              <a:solidFill>
                <a:schemeClr val="tx1"/>
              </a:solidFill>
            </a:endParaRPr>
          </a:p>
          <a:p>
            <a:r>
              <a:rPr lang="en-US" altLang="zh-CN" sz="1400" dirty="0">
                <a:solidFill>
                  <a:schemeClr val="bg2"/>
                </a:solidFill>
              </a:rPr>
              <a:t>Python’s </a:t>
            </a:r>
            <a:r>
              <a:rPr lang="en-US" altLang="zh-CN" sz="1400" b="1" dirty="0">
                <a:solidFill>
                  <a:schemeClr val="tx1"/>
                </a:solidFill>
              </a:rPr>
              <a:t>with</a:t>
            </a:r>
            <a:r>
              <a:rPr lang="en-US" altLang="zh-CN" sz="1400" dirty="0">
                <a:solidFill>
                  <a:schemeClr val="bg2"/>
                </a:solidFill>
              </a:rPr>
              <a:t> statement provides a very convenient way of dealing with the situation where you have to do a setup and teardown to make something happen. </a:t>
            </a:r>
            <a:endParaRPr lang="en-US" altLang="zh-CN" sz="1400" dirty="0">
              <a:solidFill>
                <a:schemeClr val="bg2"/>
              </a:solidFill>
            </a:endParaRPr>
          </a:p>
          <a:p>
            <a:r>
              <a:rPr lang="en-US" altLang="zh-CN" sz="1400" dirty="0">
                <a:solidFill>
                  <a:schemeClr val="bg2"/>
                </a:solidFill>
              </a:rPr>
              <a:t>It is good practice to use the </a:t>
            </a:r>
            <a:r>
              <a:rPr lang="en-US" altLang="zh-CN" sz="1400" b="1" u="sng" dirty="0">
                <a:solidFill>
                  <a:schemeClr val="tx1"/>
                </a:solidFill>
              </a:rPr>
              <a:t>with</a:t>
            </a:r>
            <a:r>
              <a:rPr lang="en-US" altLang="zh-CN" sz="1400" dirty="0">
                <a:solidFill>
                  <a:schemeClr val="bg2"/>
                </a:solidFill>
              </a:rPr>
              <a:t> keyword when dealing with file objects. The advantage is that the file is properly closed after its suite finishes, even if an exception is raised at some point</a:t>
            </a:r>
            <a:endParaRPr lang="en-US" altLang="zh-CN" sz="1400" dirty="0">
              <a:solidFill>
                <a:schemeClr val="bg2"/>
              </a:solidFill>
            </a:endParaRPr>
          </a:p>
          <a:p>
            <a:r>
              <a:rPr lang="en-US" altLang="zh-CN" sz="1400" dirty="0">
                <a:solidFill>
                  <a:schemeClr val="bg2"/>
                </a:solidFill>
              </a:rPr>
              <a:t>After a file object is closed, either by a </a:t>
            </a:r>
            <a:r>
              <a:rPr lang="en-US" altLang="zh-CN" sz="1400" b="1" u="sng" dirty="0">
                <a:solidFill>
                  <a:schemeClr val="tx1"/>
                </a:solidFill>
              </a:rPr>
              <a:t>with</a:t>
            </a:r>
            <a:r>
              <a:rPr lang="en-US" altLang="zh-CN" sz="1400" dirty="0">
                <a:solidFill>
                  <a:schemeClr val="bg2"/>
                </a:solidFill>
              </a:rPr>
              <a:t> statement or by calling </a:t>
            </a:r>
            <a:r>
              <a:rPr lang="en-US" altLang="zh-CN" sz="1400" dirty="0" err="1">
                <a:solidFill>
                  <a:schemeClr val="bg2"/>
                </a:solidFill>
              </a:rPr>
              <a:t>f.close</a:t>
            </a:r>
            <a:r>
              <a:rPr lang="en-US" altLang="zh-CN" sz="1400" dirty="0">
                <a:solidFill>
                  <a:schemeClr val="bg2"/>
                </a:solidFill>
              </a:rPr>
              <a:t>(), attempts to use the file object will automatically fail</a:t>
            </a:r>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a:p>
            <a:pPr marL="114300" indent="0">
              <a:buNone/>
            </a:pPr>
            <a:endParaRPr lang="en-US" altLang="zh-CN" sz="1400" dirty="0">
              <a:solidFill>
                <a:schemeClr val="bg2"/>
              </a:solidFill>
            </a:endParaRPr>
          </a:p>
          <a:p>
            <a:r>
              <a:rPr lang="en-US" altLang="zh-CN" sz="1400" dirty="0">
                <a:solidFill>
                  <a:schemeClr val="bg2"/>
                </a:solidFill>
              </a:rPr>
              <a:t>You won’t need to close() yourself. In fact, you cannot call close() now</a:t>
            </a:r>
            <a:endParaRPr lang="en-US" altLang="zh-CN" sz="1400" dirty="0">
              <a:solidFill>
                <a:schemeClr val="bg2"/>
              </a:solidFill>
            </a:endParaRPr>
          </a:p>
          <a:p>
            <a:r>
              <a:rPr lang="en-US" altLang="zh-CN" sz="1400" b="1" dirty="0">
                <a:solidFill>
                  <a:schemeClr val="tx1"/>
                </a:solidFill>
              </a:rPr>
              <a:t>with</a:t>
            </a:r>
            <a:r>
              <a:rPr lang="en-US" altLang="zh-CN" sz="1400" dirty="0">
                <a:solidFill>
                  <a:schemeClr val="bg2"/>
                </a:solidFill>
              </a:rPr>
              <a:t> will be used repeatedly in other modules later</a:t>
            </a:r>
            <a:endParaRPr lang="en-US" altLang="zh-CN" sz="1400" dirty="0">
              <a:solidFill>
                <a:schemeClr val="bg2"/>
              </a:solidFill>
            </a:endParaRPr>
          </a:p>
          <a:p>
            <a:r>
              <a:rPr lang="en-US" altLang="zh-CN" sz="1400" dirty="0">
                <a:solidFill>
                  <a:schemeClr val="bg2"/>
                </a:solidFill>
              </a:rPr>
              <a:t>The syntax of the with statement now allows </a:t>
            </a:r>
            <a:r>
              <a:rPr lang="en-US" altLang="zh-CN" sz="1400" dirty="0">
                <a:solidFill>
                  <a:schemeClr val="tx1"/>
                </a:solidFill>
              </a:rPr>
              <a:t>multiple context managers </a:t>
            </a:r>
            <a:r>
              <a:rPr lang="en-US" altLang="zh-CN" sz="1400" dirty="0">
                <a:solidFill>
                  <a:schemeClr val="bg2"/>
                </a:solidFill>
              </a:rPr>
              <a:t>in a single statement:</a:t>
            </a:r>
            <a:endParaRPr lang="en-US" altLang="zh-CN" sz="1400" dirty="0">
              <a:solidFill>
                <a:schemeClr val="bg2"/>
              </a:solidFill>
            </a:endParaRPr>
          </a:p>
        </p:txBody>
      </p:sp>
      <p:sp>
        <p:nvSpPr>
          <p:cNvPr id="4" name="Rectangle 4"/>
          <p:cNvSpPr/>
          <p:nvPr/>
        </p:nvSpPr>
        <p:spPr>
          <a:xfrm>
            <a:off x="5449658" y="4451575"/>
            <a:ext cx="3382642" cy="4938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n"/>
            </a:pPr>
            <a:r>
              <a:rPr lang="zh-CN" altLang="en-US" sz="1200">
                <a:solidFill>
                  <a:schemeClr val="tx1"/>
                </a:solidFill>
                <a:latin typeface="黑体" panose="02010609060101010101" pitchFamily="49" charset="-122"/>
                <a:ea typeface="黑体" panose="02010609060101010101" pitchFamily="49" charset="-122"/>
              </a:rPr>
              <a:t>一件事如果可能会做错，那么就一定会做错</a:t>
            </a:r>
            <a:r>
              <a:rPr lang="en-US" altLang="zh-CN" sz="1200">
                <a:solidFill>
                  <a:schemeClr val="tx1"/>
                </a:solidFill>
                <a:latin typeface="黑体" panose="02010609060101010101" pitchFamily="49" charset="-122"/>
                <a:ea typeface="黑体" panose="02010609060101010101" pitchFamily="49" charset="-122"/>
              </a:rPr>
              <a:t>!</a:t>
            </a:r>
            <a:endParaRPr lang="en-US" altLang="zh-CN" sz="1200">
              <a:solidFill>
                <a:schemeClr val="tx1"/>
              </a:solidFill>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pPr>
            <a:r>
              <a:rPr lang="zh-CN" altLang="en-US" sz="1200">
                <a:solidFill>
                  <a:schemeClr val="tx1"/>
                </a:solidFill>
                <a:latin typeface="黑体" panose="02010609060101010101" pitchFamily="49" charset="-122"/>
                <a:ea typeface="黑体" panose="02010609060101010101" pitchFamily="49" charset="-122"/>
              </a:rPr>
              <a:t>想不犯错？？不做</a:t>
            </a:r>
            <a:r>
              <a:rPr lang="en-US" altLang="zh-CN" sz="1200">
                <a:solidFill>
                  <a:schemeClr val="tx1"/>
                </a:solidFill>
                <a:latin typeface="Source Sans Pro" panose="020B0503030403020204" pitchFamily="34" charset="0"/>
                <a:ea typeface="Source Sans Pro" panose="020B0503030403020204" pitchFamily="34" charset="0"/>
              </a:rPr>
              <a:t>open + close → with</a:t>
            </a:r>
            <a:endParaRPr lang="en-US" altLang="zh-CN" sz="1200">
              <a:solidFill>
                <a:schemeClr val="tx1"/>
              </a:solidFill>
              <a:latin typeface="Source Sans Pro" panose="020B0503030403020204" pitchFamily="34" charset="0"/>
              <a:ea typeface="Source Sans Pro" panose="020B0503030403020204" pitchFamily="34" charset="0"/>
            </a:endParaRPr>
          </a:p>
        </p:txBody>
      </p:sp>
      <p:pic>
        <p:nvPicPr>
          <p:cNvPr id="7"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8031" y="2965721"/>
            <a:ext cx="3826443" cy="702595"/>
          </a:xfrm>
          <a:prstGeom prst="rect">
            <a:avLst/>
          </a:prstGeom>
        </p:spPr>
      </p:pic>
      <p:pic>
        <p:nvPicPr>
          <p:cNvPr id="9" name="图片 8"/>
          <p:cNvPicPr>
            <a:picLocks noChangeAspect="1"/>
          </p:cNvPicPr>
          <p:nvPr/>
        </p:nvPicPr>
        <p:blipFill>
          <a:blip r:embed="rId2"/>
          <a:stretch>
            <a:fillRect/>
          </a:stretch>
        </p:blipFill>
        <p:spPr>
          <a:xfrm>
            <a:off x="4609023" y="3038973"/>
            <a:ext cx="4223277" cy="5560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File: </a:t>
            </a:r>
            <a:r>
              <a:rPr lang="en-US" altLang="zh-CN" dirty="0" err="1">
                <a:latin typeface="Raleway" pitchFamily="34" charset="0"/>
                <a:ea typeface="Source Sans Pro" panose="020B0503030403020204" pitchFamily="34" charset="0"/>
              </a:rPr>
              <a:t>iterable</a:t>
            </a:r>
            <a:endParaRPr lang="en-US" altLang="zh-CN" dirty="0">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00" y="1152475"/>
            <a:ext cx="8520600" cy="934020"/>
          </a:xfrm>
        </p:spPr>
        <p:txBody>
          <a:bodyPr>
            <a:noAutofit/>
          </a:bodyPr>
          <a:lstStyle/>
          <a:p>
            <a:r>
              <a:rPr lang="en-US" altLang="zh-CN" sz="1400" dirty="0">
                <a:solidFill>
                  <a:schemeClr val="bg2"/>
                </a:solidFill>
              </a:rPr>
              <a:t>We may use for to iterate a file just like processing a list/tuple/str/range</a:t>
            </a:r>
            <a:endParaRPr lang="en-US" altLang="zh-CN" sz="1400" dirty="0">
              <a:solidFill>
                <a:schemeClr val="bg2"/>
              </a:solidFill>
            </a:endParaRPr>
          </a:p>
          <a:p>
            <a:r>
              <a:rPr lang="en-US" altLang="zh-CN" sz="1400" dirty="0">
                <a:solidFill>
                  <a:schemeClr val="bg2"/>
                </a:solidFill>
              </a:rPr>
              <a:t>This approach is more </a:t>
            </a:r>
            <a:r>
              <a:rPr lang="en-US" altLang="zh-CN" sz="1400" dirty="0">
                <a:solidFill>
                  <a:schemeClr val="tx1"/>
                </a:solidFill>
              </a:rPr>
              <a:t>Pythonic</a:t>
            </a:r>
            <a:r>
              <a:rPr lang="en-US" altLang="zh-CN" sz="1400" dirty="0">
                <a:solidFill>
                  <a:schemeClr val="bg2"/>
                </a:solidFill>
              </a:rPr>
              <a:t> and can be quicker and more memory efficient. Therefore, it is suggested you use this instead.</a:t>
            </a:r>
            <a:endParaRPr lang="en-US" altLang="zh-CN" sz="1400" dirty="0">
              <a:solidFill>
                <a:schemeClr val="bg2"/>
              </a:solidFill>
            </a:endParaRPr>
          </a:p>
        </p:txBody>
      </p:sp>
      <p:pic>
        <p:nvPicPr>
          <p:cNvPr id="3" name="Picture 2"/>
          <p:cNvPicPr>
            <a:picLocks noChangeAspect="1"/>
          </p:cNvPicPr>
          <p:nvPr/>
        </p:nvPicPr>
        <p:blipFill>
          <a:blip r:embed="rId1"/>
          <a:stretch>
            <a:fillRect/>
          </a:stretch>
        </p:blipFill>
        <p:spPr>
          <a:xfrm>
            <a:off x="1879600" y="2086495"/>
            <a:ext cx="5384800" cy="1371600"/>
          </a:xfrm>
          <a:prstGeom prst="rect">
            <a:avLst/>
          </a:prstGeom>
        </p:spPr>
      </p:pic>
      <p:pic>
        <p:nvPicPr>
          <p:cNvPr id="6" name="Picture 5" descr="A black screen with white text&#10;&#10;Description automatically generated"/>
          <p:cNvPicPr>
            <a:picLocks noChangeAspect="1"/>
          </p:cNvPicPr>
          <p:nvPr/>
        </p:nvPicPr>
        <p:blipFill>
          <a:blip r:embed="rId2"/>
          <a:stretch>
            <a:fillRect/>
          </a:stretch>
        </p:blipFill>
        <p:spPr>
          <a:xfrm>
            <a:off x="3003550" y="3872808"/>
            <a:ext cx="3136900" cy="6731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oAutofit/>
          </a:bodyPr>
          <a:lstStyle/>
          <a:p>
            <a:r>
              <a:rPr lang="en-US" altLang="zh-CN" sz="2700">
                <a:latin typeface="Raleway" pitchFamily="34" charset="0"/>
                <a:ea typeface="Source Sans Pro" panose="020B0503030403020204" pitchFamily="34" charset="0"/>
              </a:rPr>
              <a:t>Comments on write(), </a:t>
            </a:r>
            <a:r>
              <a:rPr lang="en-US" altLang="zh-CN" sz="2700" err="1">
                <a:latin typeface="Raleway" pitchFamily="34" charset="0"/>
                <a:ea typeface="Source Sans Pro" panose="020B0503030403020204" pitchFamily="34" charset="0"/>
              </a:rPr>
              <a:t>readline</a:t>
            </a:r>
            <a:r>
              <a:rPr lang="en-US" altLang="zh-CN" sz="2700">
                <a:latin typeface="Raleway" pitchFamily="34" charset="0"/>
                <a:ea typeface="Source Sans Pro" panose="020B0503030403020204" pitchFamily="34" charset="0"/>
              </a:rPr>
              <a:t>(), </a:t>
            </a:r>
            <a:r>
              <a:rPr lang="en-US" altLang="zh-CN" sz="2700" err="1">
                <a:latin typeface="Raleway" pitchFamily="34" charset="0"/>
                <a:ea typeface="Source Sans Pro" panose="020B0503030403020204" pitchFamily="34" charset="0"/>
              </a:rPr>
              <a:t>readlines</a:t>
            </a:r>
            <a:r>
              <a:rPr lang="en-US" altLang="zh-CN" sz="2700">
                <a:latin typeface="Raleway" pitchFamily="34" charset="0"/>
                <a:ea typeface="Source Sans Pro" panose="020B0503030403020204" pitchFamily="34" charset="0"/>
              </a:rPr>
              <a:t>()</a:t>
            </a:r>
            <a:endParaRPr lang="en-US" altLang="zh-CN" sz="2700">
              <a:latin typeface="Raleway" pitchFamily="34" charset="0"/>
              <a:ea typeface="Source Sans Pro" panose="020B0503030403020204" pitchFamily="34" charset="0"/>
            </a:endParaRPr>
          </a:p>
        </p:txBody>
      </p:sp>
      <p:sp>
        <p:nvSpPr>
          <p:cNvPr id="5" name="文本占位符 4"/>
          <p:cNvSpPr>
            <a:spLocks noGrp="1"/>
          </p:cNvSpPr>
          <p:nvPr>
            <p:ph type="body" idx="1"/>
          </p:nvPr>
        </p:nvSpPr>
        <p:spPr/>
        <p:txBody>
          <a:bodyPr numCol="2">
            <a:noAutofit/>
          </a:bodyPr>
          <a:lstStyle/>
          <a:p>
            <a:r>
              <a:rPr lang="en-US" altLang="zh-CN" sz="1400">
                <a:solidFill>
                  <a:schemeClr val="bg2"/>
                </a:solidFill>
              </a:rPr>
              <a:t>Warning Calling </a:t>
            </a:r>
            <a:r>
              <a:rPr lang="en-US" altLang="zh-CN" sz="1400" err="1">
                <a:solidFill>
                  <a:schemeClr val="bg2"/>
                </a:solidFill>
              </a:rPr>
              <a:t>f.write</a:t>
            </a:r>
            <a:r>
              <a:rPr lang="en-US" altLang="zh-CN" sz="1400">
                <a:solidFill>
                  <a:schemeClr val="bg2"/>
                </a:solidFill>
              </a:rPr>
              <a:t>() without using the with keyword or calling </a:t>
            </a:r>
            <a:r>
              <a:rPr lang="en-US" altLang="zh-CN" sz="1400" err="1">
                <a:solidFill>
                  <a:schemeClr val="bg2"/>
                </a:solidFill>
              </a:rPr>
              <a:t>f.close</a:t>
            </a:r>
            <a:r>
              <a:rPr lang="en-US" altLang="zh-CN" sz="1400">
                <a:solidFill>
                  <a:schemeClr val="bg2"/>
                </a:solidFill>
              </a:rPr>
              <a:t>() might result in the arguments of </a:t>
            </a:r>
            <a:r>
              <a:rPr lang="en-US" altLang="zh-CN" sz="1400" err="1">
                <a:solidFill>
                  <a:schemeClr val="bg2"/>
                </a:solidFill>
              </a:rPr>
              <a:t>f.write</a:t>
            </a:r>
            <a:r>
              <a:rPr lang="en-US" altLang="zh-CN" sz="1400">
                <a:solidFill>
                  <a:schemeClr val="bg2"/>
                </a:solidFill>
              </a:rPr>
              <a:t>() not being completely written to the disk, even if the program exits successfully.</a:t>
            </a:r>
            <a:endParaRPr lang="en-US" altLang="zh-CN" sz="1400">
              <a:solidFill>
                <a:schemeClr val="bg2"/>
              </a:solidFill>
            </a:endParaRPr>
          </a:p>
          <a:p>
            <a:r>
              <a:rPr lang="en-US" altLang="zh-CN" sz="1400" err="1">
                <a:solidFill>
                  <a:schemeClr val="bg2"/>
                </a:solidFill>
              </a:rPr>
              <a:t>f.readline</a:t>
            </a:r>
            <a:r>
              <a:rPr lang="en-US" altLang="zh-CN" sz="1400">
                <a:solidFill>
                  <a:schemeClr val="bg2"/>
                </a:solidFill>
              </a:rPr>
              <a:t>() reads a single line from the file; a newline character (\n) is left at the end of the string, and is only omitted on the last line of the file if the file doesn’t end in a newline. This makes the return value unambiguous; if </a:t>
            </a:r>
            <a:r>
              <a:rPr lang="en-US" altLang="zh-CN" sz="1400" err="1">
                <a:solidFill>
                  <a:schemeClr val="bg2"/>
                </a:solidFill>
              </a:rPr>
              <a:t>f.readline</a:t>
            </a:r>
            <a:r>
              <a:rPr lang="en-US" altLang="zh-CN" sz="1400">
                <a:solidFill>
                  <a:schemeClr val="bg2"/>
                </a:solidFill>
              </a:rPr>
              <a:t>() returns an empty string, the end of the file has been reached, while a blank line is represented by '\n', a string containing only a single newline.</a:t>
            </a:r>
            <a:endParaRPr lang="en-US" altLang="zh-CN" sz="1400">
              <a:solidFill>
                <a:schemeClr val="bg2"/>
              </a:solidFill>
            </a:endParaRPr>
          </a:p>
          <a:p>
            <a:r>
              <a:rPr lang="en-US" altLang="zh-CN" sz="1400" err="1">
                <a:solidFill>
                  <a:schemeClr val="bg2"/>
                </a:solidFill>
              </a:rPr>
              <a:t>writelines</a:t>
            </a:r>
            <a:r>
              <a:rPr lang="en-US" altLang="zh-CN" sz="1400">
                <a:solidFill>
                  <a:schemeClr val="bg2"/>
                </a:solidFill>
              </a:rPr>
              <a:t>() does not add line separators. You can alter the list of strings by using map() to add a new \n (line break) at the end of each string</a:t>
            </a:r>
            <a:endParaRPr lang="en-US" altLang="zh-CN" sz="1400">
              <a:solidFill>
                <a:schemeClr val="bg2"/>
              </a:solidFill>
            </a:endParaRPr>
          </a:p>
          <a:p>
            <a:pPr marL="114300" indent="0">
              <a:buNone/>
            </a:pPr>
            <a:endParaRPr lang="en-US" altLang="zh-CN" sz="1400">
              <a:solidFill>
                <a:schemeClr val="bg2"/>
              </a:solidFill>
            </a:endParaRPr>
          </a:p>
          <a:p>
            <a:pPr lvl="1"/>
            <a:r>
              <a:rPr lang="en-US" altLang="zh-CN" sz="1200">
                <a:solidFill>
                  <a:schemeClr val="bg2"/>
                </a:solidFill>
              </a:rPr>
              <a:t>items = ['</a:t>
            </a:r>
            <a:r>
              <a:rPr lang="en-US" altLang="zh-CN" sz="1200" err="1">
                <a:solidFill>
                  <a:schemeClr val="bg2"/>
                </a:solidFill>
              </a:rPr>
              <a:t>abc</a:t>
            </a:r>
            <a:r>
              <a:rPr lang="en-US" altLang="zh-CN" sz="1200">
                <a:solidFill>
                  <a:schemeClr val="bg2"/>
                </a:solidFill>
              </a:rPr>
              <a:t>', '123', '!@#']</a:t>
            </a:r>
            <a:endParaRPr lang="en-US" altLang="zh-CN" sz="1200">
              <a:solidFill>
                <a:schemeClr val="bg2"/>
              </a:solidFill>
            </a:endParaRPr>
          </a:p>
          <a:p>
            <a:pPr lvl="1"/>
            <a:r>
              <a:rPr lang="en-US" altLang="zh-CN" sz="1200">
                <a:solidFill>
                  <a:schemeClr val="bg2"/>
                </a:solidFill>
              </a:rPr>
              <a:t>items = map(lambda x: x + '\n', items)</a:t>
            </a:r>
            <a:endParaRPr lang="en-US" altLang="zh-CN" sz="1200">
              <a:solidFill>
                <a:schemeClr val="bg2"/>
              </a:solidFill>
            </a:endParaRPr>
          </a:p>
          <a:p>
            <a:pPr lvl="1"/>
            <a:r>
              <a:rPr lang="en-US" altLang="zh-CN" sz="1200" err="1">
                <a:solidFill>
                  <a:schemeClr val="bg2"/>
                </a:solidFill>
              </a:rPr>
              <a:t>w.writelines</a:t>
            </a:r>
            <a:r>
              <a:rPr lang="en-US" altLang="zh-CN" sz="1200">
                <a:solidFill>
                  <a:schemeClr val="bg2"/>
                </a:solidFill>
              </a:rPr>
              <a:t>(items)</a:t>
            </a:r>
            <a:endParaRPr lang="en-US" altLang="zh-CN" sz="1200">
              <a:solidFill>
                <a:schemeClr val="bg2"/>
              </a:solidFill>
            </a:endParaRPr>
          </a:p>
          <a:p>
            <a:pPr lvl="1"/>
            <a:endParaRPr lang="en-US" altLang="zh-CN" sz="1200">
              <a:solidFill>
                <a:schemeClr val="bg2"/>
              </a:solidFill>
            </a:endParaRPr>
          </a:p>
          <a:p>
            <a:pPr lvl="1"/>
            <a:r>
              <a:rPr lang="en-US" altLang="zh-CN" sz="1200">
                <a:solidFill>
                  <a:schemeClr val="bg2"/>
                </a:solidFill>
              </a:rPr>
              <a:t>with open(</a:t>
            </a:r>
            <a:r>
              <a:rPr lang="en-US" altLang="zh-CN" sz="1200" err="1">
                <a:solidFill>
                  <a:schemeClr val="bg2"/>
                </a:solidFill>
              </a:rPr>
              <a:t>dst_filename</a:t>
            </a:r>
            <a:r>
              <a:rPr lang="en-US" altLang="zh-CN" sz="1200">
                <a:solidFill>
                  <a:schemeClr val="bg2"/>
                </a:solidFill>
              </a:rPr>
              <a:t>, 'w') as f:  #py 3.6</a:t>
            </a:r>
            <a:endParaRPr lang="en-US" altLang="zh-CN" sz="1200">
              <a:solidFill>
                <a:schemeClr val="bg2"/>
              </a:solidFill>
            </a:endParaRPr>
          </a:p>
          <a:p>
            <a:pPr lvl="1"/>
            <a:r>
              <a:rPr lang="en-US" altLang="zh-CN" sz="1200">
                <a:solidFill>
                  <a:schemeClr val="bg2"/>
                </a:solidFill>
              </a:rPr>
              <a:t>    </a:t>
            </a:r>
            <a:r>
              <a:rPr lang="en-US" altLang="zh-CN" sz="1200" err="1">
                <a:solidFill>
                  <a:schemeClr val="bg2"/>
                </a:solidFill>
              </a:rPr>
              <a:t>f.writelines</a:t>
            </a:r>
            <a:r>
              <a:rPr lang="en-US" altLang="zh-CN" sz="1200">
                <a:solidFill>
                  <a:schemeClr val="bg2"/>
                </a:solidFill>
              </a:rPr>
              <a:t>(f'{s}\n' for s in lines)</a:t>
            </a:r>
            <a:endParaRPr lang="en-US" altLang="zh-CN" sz="1200">
              <a:solidFill>
                <a:schemeClr val="bg2"/>
              </a:solidFill>
            </a:endParaRPr>
          </a:p>
          <a:p>
            <a:endParaRPr lang="en-US" altLang="zh-CN" sz="1400">
              <a:solidFill>
                <a:schemeClr val="bg2"/>
              </a:solidFill>
            </a:endParaRPr>
          </a:p>
          <a:p>
            <a:endParaRPr lang="en-US" altLang="zh-CN" sz="1500">
              <a:solidFill>
                <a:schemeClr val="bg2"/>
              </a:solidFill>
            </a:endParaRPr>
          </a:p>
          <a:p>
            <a:endParaRPr lang="en-US" altLang="zh-CN" sz="1500">
              <a:solidFill>
                <a:schemeClr val="bg2"/>
              </a:solidFill>
            </a:endParaRPr>
          </a:p>
          <a:p>
            <a:endParaRPr lang="zh-CN" altLang="en-US" sz="1500">
              <a:solidFill>
                <a:schemeClr val="bg2"/>
              </a:solidFill>
            </a:endParaRPr>
          </a:p>
        </p:txBody>
      </p:sp>
      <p:sp>
        <p:nvSpPr>
          <p:cNvPr id="3" name="文本框 2"/>
          <p:cNvSpPr txBox="1"/>
          <p:nvPr/>
        </p:nvSpPr>
        <p:spPr>
          <a:xfrm>
            <a:off x="3824605" y="2901315"/>
            <a:ext cx="5252720" cy="2461260"/>
          </a:xfrm>
          <a:prstGeom prst="rect">
            <a:avLst/>
          </a:prstGeom>
          <a:noFill/>
        </p:spPr>
        <p:txBody>
          <a:bodyPr wrap="square" rtlCol="0">
            <a:spAutoFit/>
          </a:bodyPr>
          <a:p>
            <a:r>
              <a:rPr lang="zh-CN" altLang="en-US"/>
              <a:t>警告 在不使用 with 关键字的情况下调用 f.write（） 或调用 f.close（） 可能会导致 f.write（） 的参数无法完全写入磁盘，即使程序成功退出也是如此。</a:t>
            </a:r>
            <a:endParaRPr lang="zh-CN" altLang="en-US"/>
          </a:p>
          <a:p>
            <a:r>
              <a:rPr lang="zh-CN" altLang="en-US"/>
              <a:t>f.readline（） 从文件中读取一行;换行符 （n） 保留在字符串的末尾，如果文件不以换行符结尾，则仅在文件的最后一行省略。这使得返回值明确无误;如果 f.readline（） 返回一个空字符串，则表示已到达文件的末尾，而空行由 'n' 表示，该字符串仅包含一个换行符。</a:t>
            </a:r>
            <a:endParaRPr lang="zh-CN" altLang="en-US"/>
          </a:p>
          <a:p>
            <a:r>
              <a:rPr lang="zh-CN" altLang="en-US"/>
              <a:t>writelines（） 不添加行分隔符。通过使用 map（） 在每个字符串的末尾添加新的 n（换行符）来更改字符串列表</a:t>
            </a:r>
            <a:endParaRPr lang="zh-CN" altLang="en-US"/>
          </a:p>
          <a:p>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tell(), seek() and flush()</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00" y="1068424"/>
            <a:ext cx="8520600" cy="3903023"/>
          </a:xfrm>
        </p:spPr>
        <p:txBody>
          <a:bodyPr>
            <a:noAutofit/>
          </a:bodyPr>
          <a:lstStyle/>
          <a:p>
            <a:r>
              <a:rPr lang="en-US" altLang="zh-CN" sz="1400" err="1">
                <a:solidFill>
                  <a:schemeClr val="bg2"/>
                </a:solidFill>
              </a:rPr>
              <a:t>f.tell</a:t>
            </a:r>
            <a:r>
              <a:rPr lang="en-US" altLang="zh-CN" sz="1400">
                <a:solidFill>
                  <a:schemeClr val="bg2"/>
                </a:solidFill>
              </a:rPr>
              <a:t>() returns an integer giving the file object’s current position in the file represented as number of bytes from the beginning of the file when in binary mode and an opaque number when in text mode.</a:t>
            </a:r>
            <a:endParaRPr lang="en-US" altLang="zh-CN" sz="1400">
              <a:solidFill>
                <a:schemeClr val="bg2"/>
              </a:solidFill>
            </a:endParaRPr>
          </a:p>
          <a:p>
            <a:r>
              <a:rPr lang="en-US" altLang="zh-CN" sz="1400">
                <a:solidFill>
                  <a:schemeClr val="bg2"/>
                </a:solidFill>
              </a:rPr>
              <a:t>To change the file object’s position, use </a:t>
            </a:r>
            <a:r>
              <a:rPr lang="en-US" altLang="zh-CN" sz="1400" err="1">
                <a:solidFill>
                  <a:schemeClr val="bg2"/>
                </a:solidFill>
              </a:rPr>
              <a:t>f.seek</a:t>
            </a:r>
            <a:r>
              <a:rPr lang="en-US" altLang="zh-CN" sz="1400">
                <a:solidFill>
                  <a:schemeClr val="bg2"/>
                </a:solidFill>
              </a:rPr>
              <a:t>(offset, whence). The position is computed from adding offset to a reference point; the reference point is selected by the whence argument. A whence value of 0 measures from the beginning of the file, 1 uses the current file position, and 2 uses the end of the file as the reference point. whence can be omitted and defaults to 0, using the beginning of the file as the reference point.</a:t>
            </a:r>
            <a:endParaRPr lang="en-US" altLang="zh-CN" sz="1400">
              <a:solidFill>
                <a:schemeClr val="bg2"/>
              </a:solidFill>
            </a:endParaRPr>
          </a:p>
          <a:p>
            <a:r>
              <a:rPr lang="en-US" altLang="zh-CN" sz="1400" err="1">
                <a:solidFill>
                  <a:schemeClr val="bg2"/>
                </a:solidFill>
              </a:rPr>
              <a:t>f.flush</a:t>
            </a:r>
            <a:r>
              <a:rPr lang="en-US" altLang="zh-CN" sz="1400">
                <a:solidFill>
                  <a:schemeClr val="bg2"/>
                </a:solidFill>
              </a:rPr>
              <a:t>()</a:t>
            </a:r>
            <a:endParaRPr lang="en-US" altLang="zh-CN" sz="1400">
              <a:solidFill>
                <a:schemeClr val="bg2"/>
              </a:solidFill>
            </a:endParaRPr>
          </a:p>
          <a:p>
            <a:endParaRPr lang="en-US" altLang="zh-CN" sz="1500">
              <a:solidFill>
                <a:schemeClr val="bg2"/>
              </a:solidFill>
            </a:endParaRPr>
          </a:p>
        </p:txBody>
      </p:sp>
      <p:pic>
        <p:nvPicPr>
          <p:cNvPr id="4" name="图片 3"/>
          <p:cNvPicPr>
            <a:picLocks noChangeAspect="1"/>
          </p:cNvPicPr>
          <p:nvPr/>
        </p:nvPicPr>
        <p:blipFill>
          <a:blip r:embed="rId1"/>
          <a:stretch>
            <a:fillRect/>
          </a:stretch>
        </p:blipFill>
        <p:spPr>
          <a:xfrm>
            <a:off x="2097680" y="3133381"/>
            <a:ext cx="4948639" cy="1838066"/>
          </a:xfrm>
          <a:prstGeom prst="rect">
            <a:avLst/>
          </a:prstGeom>
        </p:spPr>
      </p:pic>
      <p:pic>
        <p:nvPicPr>
          <p:cNvPr id="6" name="Picture 5" descr="A black background with white letters&#10;&#10;Description automatically generated"/>
          <p:cNvPicPr>
            <a:picLocks noChangeAspect="1"/>
          </p:cNvPicPr>
          <p:nvPr/>
        </p:nvPicPr>
        <p:blipFill>
          <a:blip r:embed="rId2"/>
          <a:stretch>
            <a:fillRect/>
          </a:stretch>
        </p:blipFill>
        <p:spPr>
          <a:xfrm>
            <a:off x="7367809" y="4052414"/>
            <a:ext cx="306096" cy="33670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Raleway" pitchFamily="34" charset="0"/>
                <a:ea typeface="Source Sans Pro" panose="020B0503030403020204" pitchFamily="34" charset="0"/>
              </a:rPr>
              <a:t>Mixed read and write in the same file(</a:t>
            </a:r>
            <a:r>
              <a:rPr lang="zh-CN" altLang="en-US">
                <a:latin typeface="Raleway" pitchFamily="34" charset="0"/>
                <a:ea typeface="Source Sans Pro" panose="020B0503030403020204" pitchFamily="34" charset="0"/>
              </a:rPr>
              <a:t>总之不要同时读写</a:t>
            </a:r>
            <a:r>
              <a:rPr lang="en-US" altLang="zh-CN">
                <a:latin typeface="Raleway" pitchFamily="34" charset="0"/>
                <a:ea typeface="Source Sans Pro" panose="020B0503030403020204" pitchFamily="34" charset="0"/>
              </a:rPr>
              <a:t>)</a:t>
            </a:r>
            <a:endParaRPr lang="en-US" altLang="zh-CN">
              <a:latin typeface="Raleway" pitchFamily="34" charset="0"/>
              <a:ea typeface="Source Sans Pro" panose="020B0503030403020204" pitchFamily="34" charset="0"/>
            </a:endParaRPr>
          </a:p>
        </p:txBody>
      </p:sp>
      <p:sp>
        <p:nvSpPr>
          <p:cNvPr id="5" name="文本占位符 4"/>
          <p:cNvSpPr>
            <a:spLocks noGrp="1"/>
          </p:cNvSpPr>
          <p:nvPr>
            <p:ph type="body" idx="1"/>
          </p:nvPr>
        </p:nvSpPr>
        <p:spPr>
          <a:xfrm>
            <a:off x="311700" y="1152475"/>
            <a:ext cx="8520600" cy="2930128"/>
          </a:xfrm>
        </p:spPr>
        <p:txBody>
          <a:bodyPr>
            <a:noAutofit/>
          </a:bodyPr>
          <a:lstStyle/>
          <a:p>
            <a:r>
              <a:rPr lang="en-US" altLang="zh-CN" sz="1400" dirty="0">
                <a:solidFill>
                  <a:schemeClr val="bg2"/>
                </a:solidFill>
              </a:rPr>
              <a:t>The effect of mixing reads with writes on a file open for update is </a:t>
            </a:r>
            <a:r>
              <a:rPr lang="en-US" altLang="zh-CN" sz="1400" dirty="0">
                <a:solidFill>
                  <a:schemeClr val="tx1"/>
                </a:solidFill>
              </a:rPr>
              <a:t>entirely undefined </a:t>
            </a:r>
            <a:r>
              <a:rPr lang="en-US" altLang="zh-CN" sz="1400" dirty="0">
                <a:solidFill>
                  <a:schemeClr val="bg2"/>
                </a:solidFill>
              </a:rPr>
              <a:t>unless a file-positioning operation occurs between them (for example, a seek()). </a:t>
            </a:r>
            <a:endParaRPr lang="en-US" altLang="zh-CN" sz="1400" dirty="0">
              <a:solidFill>
                <a:schemeClr val="bg2"/>
              </a:solidFill>
            </a:endParaRPr>
          </a:p>
          <a:p>
            <a:r>
              <a:rPr lang="en-US" altLang="zh-CN" sz="1400" dirty="0">
                <a:solidFill>
                  <a:schemeClr val="tx1"/>
                </a:solidFill>
              </a:rPr>
              <a:t>Read after write: flush()</a:t>
            </a:r>
            <a:endParaRPr lang="en-US" altLang="zh-CN" sz="1400" dirty="0">
              <a:solidFill>
                <a:schemeClr val="tx1"/>
              </a:solidFill>
            </a:endParaRPr>
          </a:p>
          <a:p>
            <a:r>
              <a:rPr lang="en-US" altLang="zh-CN" sz="1400" dirty="0">
                <a:solidFill>
                  <a:schemeClr val="tx1"/>
                </a:solidFill>
              </a:rPr>
              <a:t>Write after read: seek()</a:t>
            </a:r>
            <a:endParaRPr lang="en-US" altLang="zh-CN" sz="1400" dirty="0">
              <a:solidFill>
                <a:schemeClr val="tx1"/>
              </a:solidFill>
            </a:endParaRPr>
          </a:p>
          <a:p>
            <a:r>
              <a:rPr lang="en-US" altLang="zh-CN" sz="1400" dirty="0" err="1">
                <a:solidFill>
                  <a:schemeClr val="tx1"/>
                </a:solidFill>
              </a:rPr>
              <a:t>test_read_write.py</a:t>
            </a:r>
            <a:endParaRPr lang="en-US" altLang="zh-CN" sz="1400" dirty="0">
              <a:solidFill>
                <a:schemeClr val="tx1"/>
              </a:solidFill>
            </a:endParaRPr>
          </a:p>
          <a:p>
            <a:r>
              <a:rPr lang="en-US" altLang="zh-CN" sz="1400" dirty="0">
                <a:solidFill>
                  <a:schemeClr val="bg2"/>
                </a:solidFill>
              </a:rPr>
              <a:t>For files open for appending (those which include a "+" sign), on which both input and output operations are allowed, the stream should be flushed (</a:t>
            </a:r>
            <a:r>
              <a:rPr lang="en-US" altLang="zh-CN" sz="1400" dirty="0" err="1">
                <a:solidFill>
                  <a:schemeClr val="bg2"/>
                </a:solidFill>
              </a:rPr>
              <a:t>fflush</a:t>
            </a:r>
            <a:r>
              <a:rPr lang="en-US" altLang="zh-CN" sz="1400" dirty="0">
                <a:solidFill>
                  <a:schemeClr val="bg2"/>
                </a:solidFill>
              </a:rPr>
              <a:t>) or repositioned (</a:t>
            </a:r>
            <a:r>
              <a:rPr lang="en-US" altLang="zh-CN" sz="1400" dirty="0" err="1">
                <a:solidFill>
                  <a:schemeClr val="bg2"/>
                </a:solidFill>
              </a:rPr>
              <a:t>fseek</a:t>
            </a:r>
            <a:r>
              <a:rPr lang="en-US" altLang="zh-CN" sz="1400" dirty="0">
                <a:solidFill>
                  <a:schemeClr val="bg2"/>
                </a:solidFill>
              </a:rPr>
              <a:t>, </a:t>
            </a:r>
            <a:r>
              <a:rPr lang="en-US" altLang="zh-CN" sz="1400" dirty="0" err="1">
                <a:solidFill>
                  <a:schemeClr val="bg2"/>
                </a:solidFill>
              </a:rPr>
              <a:t>fsetpos</a:t>
            </a:r>
            <a:r>
              <a:rPr lang="en-US" altLang="zh-CN" sz="1400" dirty="0">
                <a:solidFill>
                  <a:schemeClr val="bg2"/>
                </a:solidFill>
              </a:rPr>
              <a:t>, rewind) between either a writing operation followed by a reading operation or a reading operation which did not reach the end-of-file followed by a writing operation.</a:t>
            </a:r>
            <a:endParaRPr lang="en-US" altLang="zh-CN" sz="1400" dirty="0">
              <a:solidFill>
                <a:schemeClr val="bg2"/>
              </a:solidFill>
            </a:endParaRPr>
          </a:p>
          <a:p>
            <a:r>
              <a:rPr lang="en-US" altLang="zh-CN" sz="1400" dirty="0">
                <a:solidFill>
                  <a:schemeClr val="bg2"/>
                </a:solidFill>
              </a:rPr>
              <a:t>SO to summarize, if you need to read a file after writing, you need to </a:t>
            </a:r>
            <a:r>
              <a:rPr lang="en-US" altLang="zh-CN" sz="1400" dirty="0" err="1">
                <a:solidFill>
                  <a:schemeClr val="bg2"/>
                </a:solidFill>
              </a:rPr>
              <a:t>fflush</a:t>
            </a:r>
            <a:r>
              <a:rPr lang="en-US" altLang="zh-CN" sz="1400" dirty="0">
                <a:solidFill>
                  <a:schemeClr val="bg2"/>
                </a:solidFill>
              </a:rPr>
              <a:t> the buffer and a write operation after read should be preceded by a </a:t>
            </a:r>
            <a:r>
              <a:rPr lang="en-US" altLang="zh-CN" sz="1400" dirty="0" err="1">
                <a:solidFill>
                  <a:schemeClr val="bg2"/>
                </a:solidFill>
              </a:rPr>
              <a:t>fseek</a:t>
            </a:r>
            <a:r>
              <a:rPr lang="en-US" altLang="zh-CN" sz="1400" dirty="0">
                <a:solidFill>
                  <a:schemeClr val="bg2"/>
                </a:solidFill>
              </a:rPr>
              <a:t>, as </a:t>
            </a:r>
            <a:r>
              <a:rPr lang="en-US" altLang="zh-CN" sz="1400" dirty="0" err="1">
                <a:solidFill>
                  <a:schemeClr val="bg2"/>
                </a:solidFill>
              </a:rPr>
              <a:t>fd.seek</a:t>
            </a:r>
            <a:r>
              <a:rPr lang="en-US" altLang="zh-CN" sz="1400" dirty="0">
                <a:solidFill>
                  <a:schemeClr val="bg2"/>
                </a:solidFill>
              </a:rPr>
              <a:t>(0, </a:t>
            </a:r>
            <a:r>
              <a:rPr lang="en-US" altLang="zh-CN" sz="1400" dirty="0" err="1">
                <a:solidFill>
                  <a:schemeClr val="bg2"/>
                </a:solidFill>
              </a:rPr>
              <a:t>os.SEEK_CUR</a:t>
            </a:r>
            <a:r>
              <a:rPr lang="en-US" altLang="zh-CN" sz="1400" dirty="0">
                <a:solidFill>
                  <a:schemeClr val="bg2"/>
                </a:solidFill>
              </a:rPr>
              <a:t>)</a:t>
            </a:r>
            <a:endParaRPr lang="en-US" altLang="zh-CN" sz="1400" dirty="0">
              <a:solidFill>
                <a:schemeClr val="bg2"/>
              </a:solidFill>
            </a:endParaRPr>
          </a:p>
        </p:txBody>
      </p:sp>
      <p:sp>
        <p:nvSpPr>
          <p:cNvPr id="4" name="文本框 3"/>
          <p:cNvSpPr txBox="1"/>
          <p:nvPr/>
        </p:nvSpPr>
        <p:spPr>
          <a:xfrm>
            <a:off x="144379" y="4483263"/>
            <a:ext cx="8460606" cy="553998"/>
          </a:xfrm>
          <a:prstGeom prst="rect">
            <a:avLst/>
          </a:prstGeom>
          <a:noFill/>
        </p:spPr>
        <p:txBody>
          <a:bodyPr wrap="square">
            <a:spAutoFit/>
          </a:bodyPr>
          <a:lstStyle/>
          <a:p>
            <a:r>
              <a:rPr lang="en-US" altLang="zh-CN" sz="1000"/>
              <a:t>https://stackoverflow.com/questions/14279658/mixing-read-and-write-on-python-files-in-windows</a:t>
            </a:r>
            <a:endParaRPr lang="en-US" altLang="zh-CN" sz="1000"/>
          </a:p>
          <a:p>
            <a:r>
              <a:rPr lang="en-US" altLang="zh-CN" sz="1000">
                <a:solidFill>
                  <a:schemeClr val="bg2"/>
                </a:solidFill>
              </a:rPr>
              <a:t>https://stackoverflow.com/questions/14271216/beginner-python-reading-and-writing-to-the-same-file</a:t>
            </a:r>
            <a:endParaRPr lang="en-US" altLang="zh-CN" sz="1000"/>
          </a:p>
          <a:p>
            <a:r>
              <a:rPr lang="en-US" altLang="zh-CN" sz="1000">
                <a:solidFill>
                  <a:schemeClr val="bg2"/>
                </a:solidFill>
              </a:rPr>
              <a:t>https://cplusplus.com/reference/cstdio/fopen/</a:t>
            </a:r>
            <a:endParaRPr lang="en-US" altLang="zh-CN" sz="1000">
              <a:solidFill>
                <a:schemeClr val="bg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Reading</a:t>
            </a:r>
            <a:endParaRPr lang="zh-CN" altLang="en-US"/>
          </a:p>
        </p:txBody>
      </p:sp>
      <p:sp>
        <p:nvSpPr>
          <p:cNvPr id="3" name="文本占位符 2"/>
          <p:cNvSpPr>
            <a:spLocks noGrp="1"/>
          </p:cNvSpPr>
          <p:nvPr>
            <p:ph type="body" idx="1"/>
          </p:nvPr>
        </p:nvSpPr>
        <p:spPr/>
        <p:txBody>
          <a:bodyPr>
            <a:normAutofit/>
          </a:bodyPr>
          <a:lstStyle/>
          <a:p>
            <a:r>
              <a:rPr lang="en-US" altLang="zh-CN" sz="1400" dirty="0">
                <a:solidFill>
                  <a:schemeClr val="bg2"/>
                </a:solidFill>
              </a:rPr>
              <a:t>Ch 37 Unicode and Byte Strings</a:t>
            </a:r>
            <a:endParaRPr lang="en-US" altLang="zh-CN" sz="1400" dirty="0">
              <a:solidFill>
                <a:schemeClr val="bg2"/>
              </a:solidFill>
            </a:endParaRPr>
          </a:p>
          <a:p>
            <a:r>
              <a:rPr lang="en-US" altLang="zh-CN" sz="1400" dirty="0">
                <a:solidFill>
                  <a:schemeClr val="bg2"/>
                </a:solidFill>
              </a:rPr>
              <a:t>https://</a:t>
            </a:r>
            <a:r>
              <a:rPr lang="en-US" altLang="zh-CN" sz="1400" dirty="0" err="1">
                <a:solidFill>
                  <a:schemeClr val="bg2"/>
                </a:solidFill>
              </a:rPr>
              <a:t>realpython.com</a:t>
            </a:r>
            <a:r>
              <a:rPr lang="en-US" altLang="zh-CN" sz="1400" dirty="0">
                <a:solidFill>
                  <a:schemeClr val="bg2"/>
                </a:solidFill>
              </a:rPr>
              <a:t>/read-write-files-python/</a:t>
            </a:r>
            <a:endParaRPr lang="en-US" altLang="zh-CN" sz="1400" dirty="0">
              <a:solidFill>
                <a:schemeClr val="bg2"/>
              </a:solidFill>
            </a:endParaRPr>
          </a:p>
        </p:txBody>
      </p:sp>
    </p:spTree>
  </p:cSld>
  <p:clrMapOvr>
    <a:masterClrMapping/>
  </p:clrMapOvr>
</p:sld>
</file>

<file path=ppt/tags/tag1.xml><?xml version="1.0" encoding="utf-8"?>
<p:tagLst xmlns:p="http://schemas.openxmlformats.org/presentationml/2006/main">
  <p:tag name="commondata" val="eyJoZGlkIjoiNzY3Mjg3YTY0M2FkYzQ0ZWU2NjE0NDY1YWY1MmI1YWEifQ=="/>
</p:tagLst>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25899</Words>
  <Application>WPS 演示</Application>
  <PresentationFormat>On-screen Show (16:9)</PresentationFormat>
  <Paragraphs>546</Paragraphs>
  <Slides>46</Slides>
  <Notes>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46</vt:i4>
      </vt:variant>
    </vt:vector>
  </HeadingPairs>
  <TitlesOfParts>
    <vt:vector size="62" baseType="lpstr">
      <vt:lpstr>Arial</vt:lpstr>
      <vt:lpstr>宋体</vt:lpstr>
      <vt:lpstr>Wingdings</vt:lpstr>
      <vt:lpstr>Arial</vt:lpstr>
      <vt:lpstr>Raleway</vt:lpstr>
      <vt:lpstr>Source Sans Pro</vt:lpstr>
      <vt:lpstr>Source Serif Pro</vt:lpstr>
      <vt:lpstr>Segoe Print</vt:lpstr>
      <vt:lpstr>Source Sans Pro</vt:lpstr>
      <vt:lpstr>Raleway</vt:lpstr>
      <vt:lpstr>Cambria Math</vt:lpstr>
      <vt:lpstr>黑体</vt:lpstr>
      <vt:lpstr>微软雅黑</vt:lpstr>
      <vt:lpstr>Arial Unicode MS</vt:lpstr>
      <vt:lpstr>Consolas</vt:lpstr>
      <vt:lpstr>Plum</vt:lpstr>
      <vt:lpstr>Introduction to Computation</vt:lpstr>
      <vt:lpstr>Outline</vt:lpstr>
      <vt:lpstr>Randomness</vt:lpstr>
      <vt:lpstr>Random number</vt:lpstr>
      <vt:lpstr>Random integer</vt:lpstr>
      <vt:lpstr>Random integer(cont’d)</vt:lpstr>
      <vt:lpstr>Random floating number</vt:lpstr>
      <vt:lpstr>Seed (随机数种子)</vt:lpstr>
      <vt:lpstr>Random: choice(), shuffle(), sample()</vt:lpstr>
      <vt:lpstr>Unicode</vt:lpstr>
      <vt:lpstr>Information Coding Standard</vt:lpstr>
      <vt:lpstr>Unicode and UTF8</vt:lpstr>
      <vt:lpstr>Bytes and Bytearray</vt:lpstr>
      <vt:lpstr>Bytes and Bytearray</vt:lpstr>
      <vt:lpstr>Bytes Examples</vt:lpstr>
      <vt:lpstr>UTF8</vt:lpstr>
      <vt:lpstr>Coding Unicode Strings</vt:lpstr>
      <vt:lpstr>unicodedata — Unicode Database</vt:lpstr>
      <vt:lpstr>Source File Character Set Encoding Declarations</vt:lpstr>
      <vt:lpstr>Source File Character Set Encoding Declarations</vt:lpstr>
      <vt:lpstr>File processing</vt:lpstr>
      <vt:lpstr>Shell</vt:lpstr>
      <vt:lpstr>Shell: parameter</vt:lpstr>
      <vt:lpstr>Ubuntu</vt:lpstr>
      <vt:lpstr>Module sys</vt:lpstr>
      <vt:lpstr>Module sys: Example</vt:lpstr>
      <vt:lpstr>Module: sys.path</vt:lpstr>
      <vt:lpstr>Module: standard streams</vt:lpstr>
      <vt:lpstr>Module os 操作系统</vt:lpstr>
      <vt:lpstr>File in Python</vt:lpstr>
      <vt:lpstr>File Mode: Text and Binary</vt:lpstr>
      <vt:lpstr>open()</vt:lpstr>
      <vt:lpstr>PowerPoint 演示文稿</vt:lpstr>
      <vt:lpstr>File object</vt:lpstr>
      <vt:lpstr>Path (路径): pathlib</vt:lpstr>
      <vt:lpstr>Path (路径): pathlib</vt:lpstr>
      <vt:lpstr>Write into Files: write(), writelines()</vt:lpstr>
      <vt:lpstr>Read from files: read(), readline(), readlines()</vt:lpstr>
      <vt:lpstr>Binary files: read()</vt:lpstr>
      <vt:lpstr>readlines() and EOF</vt:lpstr>
      <vt:lpstr>With statement</vt:lpstr>
      <vt:lpstr>File: iterable</vt:lpstr>
      <vt:lpstr>Comments on write(), readline(), readlines()</vt:lpstr>
      <vt:lpstr>tell(), seek() and flush()</vt:lpstr>
      <vt:lpstr>Mixed read and write in the same file</vt:lpstr>
      <vt:lpstr>Reading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Computation</dc:title>
  <dc:creator>Fan Cheng</dc:creator>
  <cp:lastModifiedBy>陈卓妍</cp:lastModifiedBy>
  <cp:revision>5</cp:revision>
  <dcterms:created xsi:type="dcterms:W3CDTF">2023-12-05T08:27:00Z</dcterms:created>
  <dcterms:modified xsi:type="dcterms:W3CDTF">2023-12-21T10:26:07Z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E856AA00C0304CE1B4D516D61D9E93A5_12</vt:lpwstr>
  </property>
  <property fmtid="{D5CDD505-2E9C-101B-9397-08002B2CF9AE}" pid="3" name="KSOProductBuildVer">
    <vt:lpwstr>2052-12.1.0.15712</vt:lpwstr>
  </property>
</Properties>
</file>