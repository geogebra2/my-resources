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</p:sldIdLst>
  <p:sldSz cx="10693400" cy="7556500"/>
  <p:notesSz cx="10693400" cy="7556500"/>
  <p:embeddedFontLst>
    <p:embeddedFont>
      <p:font typeface="BJJSOR+ComicSansMS,Bold" panose="030F0902030302020204"/>
      <p:bold r:id="rId101"/>
    </p:embeddedFont>
    <p:embeddedFont>
      <p:font typeface="黑体" panose="02010609060101010101" charset="-122"/>
      <p:regular r:id="rId102"/>
    </p:embeddedFont>
    <p:embeddedFont>
      <p:font typeface="WCJSHW+ComicSansMS" panose="030F0702030302020204"/>
      <p:regular r:id="rId103"/>
    </p:embeddedFont>
    <p:embeddedFont>
      <p:font typeface="DDMTRG+TimesNewRoman" panose="02020603050405020304"/>
      <p:regular r:id="rId104"/>
    </p:embeddedFont>
    <p:embeddedFont>
      <p:font typeface="MMKOGF+Symbol" panose="02000500000000000000"/>
      <p:regular r:id="rId105"/>
    </p:embeddedFont>
    <p:embeddedFont>
      <p:font typeface="GICSIA+Symbol" panose="05050102010706020507"/>
      <p:regular r:id="rId106"/>
    </p:embeddedFont>
    <p:embeddedFont>
      <p:font typeface="Calibri" panose="020F0502020204030204" charset="0"/>
      <p:regular r:id="rId107"/>
      <p:bold r:id="rId108"/>
      <p:italic r:id="rId109"/>
      <p:boldItalic r:id="rId110"/>
    </p:embeddedFont>
    <p:embeddedFont>
      <p:font typeface="PHNFIK+CambriaMath" panose="02040503050406030204"/>
      <p:regular r:id="rId111"/>
    </p:embeddedFont>
    <p:embeddedFont>
      <p:font typeface="ALOGHA+MTExtra" panose="05050102010205020202"/>
      <p:regular r:id="rId112"/>
    </p:embeddedFont>
    <p:embeddedFont>
      <p:font typeface="Tahoma" panose="020B0604030504040204"/>
      <p:regular r:id="rId113"/>
      <p:bold r:id="rId114"/>
    </p:embeddedFont>
    <p:embeddedFont>
      <p:font typeface="KTJCHM+ComicSansMS,Italic" panose="030F0702030302060204"/>
      <p:italic r:id="rId115"/>
    </p:embeddedFont>
  </p:embeddedFontLst>
  <p:custDataLst>
    <p:tags r:id="rId11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viewProps" Target="viewProps.xml"/><Relationship Id="rId98" Type="http://schemas.openxmlformats.org/officeDocument/2006/relationships/presProps" Target="presProps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6" Type="http://schemas.openxmlformats.org/officeDocument/2006/relationships/tags" Target="tags/tag1.xml"/><Relationship Id="rId115" Type="http://schemas.openxmlformats.org/officeDocument/2006/relationships/font" Target="fonts/font15.fntdata"/><Relationship Id="rId114" Type="http://schemas.openxmlformats.org/officeDocument/2006/relationships/font" Target="fonts/font14.fntdata"/><Relationship Id="rId113" Type="http://schemas.openxmlformats.org/officeDocument/2006/relationships/font" Target="fonts/font13.fntdata"/><Relationship Id="rId112" Type="http://schemas.openxmlformats.org/officeDocument/2006/relationships/font" Target="fonts/font12.fntdata"/><Relationship Id="rId111" Type="http://schemas.openxmlformats.org/officeDocument/2006/relationships/font" Target="fonts/font11.fntdata"/><Relationship Id="rId110" Type="http://schemas.openxmlformats.org/officeDocument/2006/relationships/font" Target="fonts/font10.fntdata"/><Relationship Id="rId11" Type="http://schemas.openxmlformats.org/officeDocument/2006/relationships/slide" Target="slides/slide9.xml"/><Relationship Id="rId109" Type="http://schemas.openxmlformats.org/officeDocument/2006/relationships/font" Target="fonts/font9.fntdata"/><Relationship Id="rId108" Type="http://schemas.openxmlformats.org/officeDocument/2006/relationships/font" Target="fonts/font8.fntdata"/><Relationship Id="rId107" Type="http://schemas.openxmlformats.org/officeDocument/2006/relationships/font" Target="fonts/font7.fntdata"/><Relationship Id="rId106" Type="http://schemas.openxmlformats.org/officeDocument/2006/relationships/font" Target="fonts/font6.fntdata"/><Relationship Id="rId105" Type="http://schemas.openxmlformats.org/officeDocument/2006/relationships/font" Target="fonts/font5.fntdata"/><Relationship Id="rId104" Type="http://schemas.openxmlformats.org/officeDocument/2006/relationships/font" Target="fonts/font4.fntdata"/><Relationship Id="rId103" Type="http://schemas.openxmlformats.org/officeDocument/2006/relationships/font" Target="fonts/font3.fntdata"/><Relationship Id="rId102" Type="http://schemas.openxmlformats.org/officeDocument/2006/relationships/font" Target="fonts/font2.fntdata"/><Relationship Id="rId101" Type="http://schemas.openxmlformats.org/officeDocument/2006/relationships/font" Target="fonts/font1.fntdata"/><Relationship Id="rId100" Type="http://schemas.openxmlformats.org/officeDocument/2006/relationships/tableStyles" Target="tableStyle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jpeg"/><Relationship Id="rId1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jpeg"/><Relationship Id="rId1" Type="http://schemas.openxmlformats.org/officeDocument/2006/relationships/image" Target="../media/image4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4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jpeg"/><Relationship Id="rId1" Type="http://schemas.openxmlformats.org/officeDocument/2006/relationships/image" Target="../media/image4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jpeg"/><Relationship Id="rId1" Type="http://schemas.openxmlformats.org/officeDocument/2006/relationships/image" Target="../media/image4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jpeg"/><Relationship Id="rId1" Type="http://schemas.openxmlformats.org/officeDocument/2006/relationships/image" Target="../media/image4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jpeg"/><Relationship Id="rId1" Type="http://schemas.openxmlformats.org/officeDocument/2006/relationships/image" Target="../media/image4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jpe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jpe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jpe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jpe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jpe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jpe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jpe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jpe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7.jpe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4.jpe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8.jpe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9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0.jpeg"/><Relationship Id="rId1" Type="http://schemas.openxmlformats.org/officeDocument/2006/relationships/image" Target="../media/image4.jpe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1.jpe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jpe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jpe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jpe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jpe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jpe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jpe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jpe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jpe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3.jpe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761873" y="1371993"/>
            <a:ext cx="3028687" cy="605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47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00009A"/>
                </a:solidFill>
                <a:latin typeface="Arial" panose="020B0604020202020204"/>
                <a:cs typeface="Arial" panose="020B0604020202020204"/>
              </a:rPr>
              <a:t>CHAPTER</a:t>
            </a:r>
            <a:r>
              <a:rPr sz="4000" b="1" spc="-17" dirty="0">
                <a:solidFill>
                  <a:srgbClr val="00009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000" b="1" dirty="0">
                <a:solidFill>
                  <a:srgbClr val="00009A"/>
                </a:solidFill>
                <a:latin typeface="Arial" panose="020B0604020202020204"/>
                <a:cs typeface="Arial" panose="020B0604020202020204"/>
              </a:rPr>
              <a:t>2</a:t>
            </a:r>
            <a:endParaRPr sz="4000" b="1" dirty="0">
              <a:solidFill>
                <a:srgbClr val="00009A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0296" y="2488893"/>
            <a:ext cx="5294046" cy="1965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75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9A"/>
                </a:solidFill>
                <a:latin typeface="BJJSOR+ComicSansMS,Bold" panose="030F0902030302020204"/>
                <a:cs typeface="BJJSOR+ComicSansMS,Bold" panose="030F0902030302020204"/>
              </a:rPr>
              <a:t>NUMBER</a:t>
            </a:r>
            <a:r>
              <a:rPr sz="4000" spc="746" dirty="0">
                <a:solidFill>
                  <a:srgbClr val="00009A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4000" dirty="0">
                <a:solidFill>
                  <a:srgbClr val="00009A"/>
                </a:solidFill>
                <a:latin typeface="BJJSOR+ComicSansMS,Bold" panose="030F0902030302020204"/>
                <a:cs typeface="BJJSOR+ComicSansMS,Bold" panose="030F0902030302020204"/>
              </a:rPr>
              <a:t>SYSTEMS,</a:t>
            </a:r>
            <a:endParaRPr sz="4000" dirty="0">
              <a:solidFill>
                <a:srgbClr val="00009A"/>
              </a:solidFill>
              <a:latin typeface="BJJSOR+ComicSansMS,Bold" panose="030F0902030302020204"/>
              <a:cs typeface="BJJSOR+ComicSansMS,Bold" panose="030F0902030302020204"/>
            </a:endParaRPr>
          </a:p>
          <a:p>
            <a:pPr marL="713740" marR="0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9A"/>
                </a:solidFill>
                <a:latin typeface="BJJSOR+ComicSansMS,Bold" panose="030F0902030302020204"/>
                <a:cs typeface="BJJSOR+ComicSansMS,Bold" panose="030F0902030302020204"/>
              </a:rPr>
              <a:t>OPERATIONS,</a:t>
            </a:r>
            <a:endParaRPr sz="4000" dirty="0">
              <a:solidFill>
                <a:srgbClr val="00009A"/>
              </a:solidFill>
              <a:latin typeface="BJJSOR+ComicSansMS,Bold" panose="030F0902030302020204"/>
              <a:cs typeface="BJJSOR+ComicSansMS,Bold" panose="030F0902030302020204"/>
            </a:endParaRPr>
          </a:p>
          <a:p>
            <a:pPr marL="1005840" marR="0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00009A"/>
                </a:solidFill>
                <a:latin typeface="BJJSOR+ComicSansMS,Bold" panose="030F0902030302020204"/>
                <a:cs typeface="BJJSOR+ComicSansMS,Bold" panose="030F0902030302020204"/>
              </a:rPr>
              <a:t>AND</a:t>
            </a:r>
            <a:r>
              <a:rPr sz="4000" spc="737" dirty="0">
                <a:solidFill>
                  <a:srgbClr val="00009A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4000" dirty="0">
                <a:solidFill>
                  <a:srgbClr val="00009A"/>
                </a:solidFill>
                <a:latin typeface="BJJSOR+ComicSansMS,Bold" panose="030F0902030302020204"/>
                <a:cs typeface="BJJSOR+ComicSansMS,Bold" panose="030F0902030302020204"/>
              </a:rPr>
              <a:t>CODES</a:t>
            </a:r>
            <a:endParaRPr sz="4000" dirty="0">
              <a:solidFill>
                <a:srgbClr val="00009A"/>
              </a:solidFill>
              <a:latin typeface="BJJSOR+ComicSansMS,Bold" panose="030F0902030302020204"/>
              <a:cs typeface="BJJSOR+ComicSansMS,Bold" panose="030F09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51643" y="5067405"/>
            <a:ext cx="5248664" cy="5463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4000" spc="14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数字系统、运算和编码</a:t>
            </a:r>
            <a:endParaRPr sz="4000" spc="14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550293" y="2494104"/>
            <a:ext cx="5821295" cy="675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01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2-1</a:t>
            </a:r>
            <a:r>
              <a:rPr sz="3600" spc="669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DECIMAL</a:t>
            </a:r>
            <a:r>
              <a:rPr sz="3600" spc="67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NUMBERS</a:t>
            </a:r>
            <a:endParaRPr sz="3600" dirty="0">
              <a:solidFill>
                <a:srgbClr val="000099"/>
              </a:solidFill>
              <a:latin typeface="BJJSOR+ComicSansMS,Bold" panose="030F0902030302020204"/>
              <a:cs typeface="BJJSOR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7469" y="3709971"/>
            <a:ext cx="1985726" cy="495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600" spc="11" dirty="0">
                <a:solidFill>
                  <a:srgbClr val="000099"/>
                </a:solidFill>
                <a:latin typeface="黑体" panose="02010609060101010101" charset="-122"/>
                <a:cs typeface="黑体" panose="02010609060101010101" charset="-122"/>
              </a:rPr>
              <a:t>十进制数</a:t>
            </a:r>
            <a:endParaRPr sz="3600" spc="11" dirty="0">
              <a:solidFill>
                <a:srgbClr val="000099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781179" y="814041"/>
            <a:ext cx="5816265" cy="576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45"/>
              </a:lnSpc>
              <a:spcBef>
                <a:spcPts val="0"/>
              </a:spcBef>
              <a:spcAft>
                <a:spcPts val="0"/>
              </a:spcAft>
            </a:pP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Decimal</a:t>
            </a:r>
            <a:r>
              <a:rPr sz="3200" spc="10" dirty="0">
                <a:solidFill>
                  <a:srgbClr val="000099"/>
                </a:solidFill>
                <a:latin typeface="黑体" panose="02010609060101010101" charset="-122"/>
                <a:cs typeface="黑体" panose="02010609060101010101" charset="-122"/>
              </a:rPr>
              <a:t>（十进制）</a:t>
            </a:r>
            <a:r>
              <a:rPr sz="3200" spc="93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Review</a:t>
            </a:r>
            <a:endParaRPr sz="3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348245"/>
            <a:ext cx="7812629" cy="3917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600" spc="1105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Numbers(</a:t>
            </a:r>
            <a:r>
              <a:rPr sz="2000" dirty="0">
                <a:solidFill>
                  <a:srgbClr val="009AFF"/>
                </a:solidFill>
                <a:latin typeface="黑体" panose="02010609060101010101" charset="-122"/>
                <a:cs typeface="黑体" panose="02010609060101010101" charset="-122"/>
              </a:rPr>
              <a:t>数</a:t>
            </a:r>
            <a:r>
              <a:rPr sz="20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)</a:t>
            </a:r>
            <a:r>
              <a:rPr sz="2000" spc="25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consist</a:t>
            </a:r>
            <a:r>
              <a:rPr sz="2000" spc="14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0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0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bunch</a:t>
            </a:r>
            <a:r>
              <a:rPr sz="20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0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digits</a:t>
            </a:r>
            <a:r>
              <a:rPr sz="2000" dirty="0">
                <a:solidFill>
                  <a:srgbClr val="009AFF"/>
                </a:solidFill>
                <a:latin typeface="黑体" panose="02010609060101010101" charset="-122"/>
                <a:cs typeface="黑体" panose="02010609060101010101" charset="-122"/>
              </a:rPr>
              <a:t>（数字）</a:t>
            </a:r>
            <a:r>
              <a:rPr sz="20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,</a:t>
            </a:r>
            <a:r>
              <a:rPr sz="2000" spc="-11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each</a:t>
            </a:r>
            <a:r>
              <a:rPr sz="2000" spc="15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with</a:t>
            </a:r>
            <a:r>
              <a:rPr sz="20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endParaRPr sz="2000" dirty="0">
              <a:solidFill>
                <a:srgbClr val="009A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5329" y="1653044"/>
            <a:ext cx="2017718" cy="3917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weight</a:t>
            </a:r>
            <a:r>
              <a:rPr sz="2000" dirty="0">
                <a:solidFill>
                  <a:srgbClr val="FF00FF"/>
                </a:solidFill>
                <a:latin typeface="黑体" panose="02010609060101010101" charset="-122"/>
                <a:cs typeface="黑体" panose="02010609060101010101" charset="-122"/>
              </a:rPr>
              <a:t>（权重）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endParaRPr sz="20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3694" y="2179500"/>
            <a:ext cx="308922" cy="384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3542" y="2179500"/>
            <a:ext cx="308922" cy="384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6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4618" y="2179500"/>
            <a:ext cx="308922" cy="384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91307" y="2179500"/>
            <a:ext cx="230661" cy="384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.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37704" y="2179500"/>
            <a:ext cx="308922" cy="384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3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78780" y="2179500"/>
            <a:ext cx="308922" cy="384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7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09932" y="2179500"/>
            <a:ext cx="308922" cy="384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5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55578" y="2179500"/>
            <a:ext cx="917844" cy="384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Digits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3695" y="2649662"/>
            <a:ext cx="2205535" cy="384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100</a:t>
            </a:r>
            <a:r>
              <a:rPr sz="2450" spc="325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</a:t>
            </a:r>
            <a:r>
              <a:rPr sz="2450" spc="429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13318" y="2649662"/>
            <a:ext cx="4043409" cy="384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1/10</a:t>
            </a:r>
            <a:r>
              <a:rPr sz="2450" spc="237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1/100</a:t>
            </a:r>
            <a:r>
              <a:rPr sz="2450" spc="114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1/1000</a:t>
            </a:r>
            <a:r>
              <a:rPr sz="2450" spc="22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Weights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61754" y="3043699"/>
            <a:ext cx="7804272" cy="696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•</a:t>
            </a:r>
            <a:r>
              <a:rPr sz="2000" spc="1326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These</a:t>
            </a:r>
            <a:r>
              <a:rPr sz="2000" spc="27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weights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000" spc="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all</a:t>
            </a:r>
            <a:r>
              <a:rPr sz="2000" spc="15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powers</a:t>
            </a:r>
            <a:r>
              <a:rPr sz="2000" spc="2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base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,</a:t>
            </a:r>
            <a:r>
              <a:rPr sz="2000" spc="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which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10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r>
              <a:rPr sz="2000" spc="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We</a:t>
            </a:r>
            <a:r>
              <a:rPr sz="2000" spc="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can</a:t>
            </a:r>
            <a:endParaRPr sz="20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rewrite</a:t>
            </a:r>
            <a:r>
              <a:rPr sz="2000" spc="2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this:</a:t>
            </a:r>
            <a:endParaRPr sz="20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15319" y="3745832"/>
            <a:ext cx="309117" cy="385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05146" y="3745832"/>
            <a:ext cx="309117" cy="385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6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46077" y="3745832"/>
            <a:ext cx="309117" cy="385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62560" y="3745832"/>
            <a:ext cx="230758" cy="385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.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08193" y="3745832"/>
            <a:ext cx="309117" cy="385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3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49124" y="3745832"/>
            <a:ext cx="309117" cy="385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7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80025" y="3745832"/>
            <a:ext cx="309117" cy="385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5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25657" y="3745832"/>
            <a:ext cx="918692" cy="385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Digits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34597" y="4231710"/>
            <a:ext cx="243002" cy="238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0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endParaRPr sz="1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75594" y="4231710"/>
            <a:ext cx="243002" cy="238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0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endParaRPr sz="1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28731" y="4231710"/>
            <a:ext cx="243002" cy="238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0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endParaRPr sz="1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00940" y="4231710"/>
            <a:ext cx="303345" cy="238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0"/>
              </a:lnSpc>
              <a:spcBef>
                <a:spcPts val="0"/>
              </a:spcBef>
              <a:spcAft>
                <a:spcPts val="0"/>
              </a:spcAft>
            </a:pPr>
            <a:r>
              <a:rPr sz="1450" spc="-4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-1</a:t>
            </a:r>
            <a:endParaRPr sz="1450" spc="-44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36682" y="4231710"/>
            <a:ext cx="303345" cy="238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0"/>
              </a:lnSpc>
              <a:spcBef>
                <a:spcPts val="0"/>
              </a:spcBef>
              <a:spcAft>
                <a:spcPts val="0"/>
              </a:spcAft>
            </a:pPr>
            <a:r>
              <a:rPr sz="1450" spc="-3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-2</a:t>
            </a:r>
            <a:endParaRPr sz="1450" spc="-37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573330" y="4231710"/>
            <a:ext cx="303345" cy="238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0"/>
              </a:lnSpc>
              <a:spcBef>
                <a:spcPts val="0"/>
              </a:spcBef>
              <a:spcAft>
                <a:spcPts val="0"/>
              </a:spcAft>
            </a:pPr>
            <a:r>
              <a:rPr sz="1450" spc="-4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-3</a:t>
            </a:r>
            <a:endParaRPr sz="1450" spc="-44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615319" y="4254098"/>
            <a:ext cx="2361644" cy="385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</a:t>
            </a:r>
            <a:r>
              <a:rPr sz="2450" spc="449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</a:t>
            </a:r>
            <a:r>
              <a:rPr sz="2450" spc="43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83807" y="4254098"/>
            <a:ext cx="4037285" cy="385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</a:t>
            </a:r>
            <a:r>
              <a:rPr sz="2450" spc="43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</a:t>
            </a:r>
            <a:r>
              <a:rPr sz="2450" spc="43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</a:t>
            </a:r>
            <a:r>
              <a:rPr sz="2450" spc="460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Weights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34909" y="4844306"/>
            <a:ext cx="8039539" cy="696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•</a:t>
            </a:r>
            <a:r>
              <a:rPr sz="2000" spc="1326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000" spc="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find</a:t>
            </a:r>
            <a:r>
              <a:rPr sz="2000" spc="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spc="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000" spc="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value</a:t>
            </a:r>
            <a:r>
              <a:rPr sz="2000" spc="2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number,</a:t>
            </a:r>
            <a:r>
              <a:rPr sz="2000" spc="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multiply</a:t>
            </a:r>
            <a:r>
              <a:rPr sz="2000" spc="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each</a:t>
            </a:r>
            <a:r>
              <a:rPr sz="2000" spc="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digit</a:t>
            </a:r>
            <a:r>
              <a:rPr sz="2000" spc="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r>
              <a:rPr sz="2000" spc="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its</a:t>
            </a:r>
            <a:endParaRPr sz="20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weight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000" spc="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sum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products.</a:t>
            </a:r>
            <a:endParaRPr sz="20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30081" y="5652686"/>
            <a:ext cx="324336" cy="4461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×</a:t>
            </a:r>
            <a:endParaRPr sz="245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59262" y="5652686"/>
            <a:ext cx="7877440" cy="4461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5165" marR="0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0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200" spc="365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450" spc="134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×</a:t>
            </a:r>
            <a:r>
              <a:rPr sz="2450" spc="192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200" spc="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450" spc="138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×</a:t>
            </a:r>
            <a:r>
              <a:rPr sz="2450" spc="206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200" spc="365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450" spc="11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×</a:t>
            </a:r>
            <a:r>
              <a:rPr sz="2450" spc="2068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-1</a:t>
            </a:r>
            <a:r>
              <a:rPr sz="2200" spc="147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450" spc="138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×</a:t>
            </a:r>
            <a:r>
              <a:rPr sz="2450" spc="206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-2</a:t>
            </a:r>
            <a:r>
              <a:rPr sz="2200" spc="339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450" spc="118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×</a:t>
            </a:r>
            <a:r>
              <a:rPr sz="2450" spc="198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-3</a:t>
            </a:r>
            <a:r>
              <a:rPr sz="2200" spc="291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endParaRPr sz="245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  <a:p>
            <a:pPr marL="0" marR="0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450" spc="100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</a:t>
            </a:r>
            <a:r>
              <a:rPr sz="2450" spc="277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6</a:t>
            </a:r>
            <a:r>
              <a:rPr sz="2450" spc="111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</a:t>
            </a:r>
            <a:r>
              <a:rPr sz="2450" spc="253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450" spc="111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</a:t>
            </a:r>
            <a:r>
              <a:rPr sz="2450" spc="262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3</a:t>
            </a:r>
            <a:r>
              <a:rPr sz="2450" spc="104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</a:t>
            </a:r>
            <a:r>
              <a:rPr sz="2450" spc="299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7</a:t>
            </a:r>
            <a:r>
              <a:rPr sz="2450" spc="115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</a:t>
            </a:r>
            <a:r>
              <a:rPr sz="2450" spc="307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5</a:t>
            </a:r>
            <a:r>
              <a:rPr sz="2450" spc="100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</a:t>
            </a:r>
            <a:r>
              <a:rPr sz="2450" spc="287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162.375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39925" y="6217555"/>
            <a:ext cx="487296" cy="613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30"/>
              </a:lnSpc>
              <a:spcBef>
                <a:spcPts val="0"/>
              </a:spcBef>
              <a:spcAft>
                <a:spcPts val="0"/>
              </a:spcAft>
            </a:pPr>
            <a:r>
              <a:rPr sz="3700" dirty="0">
                <a:solidFill>
                  <a:srgbClr val="000000"/>
                </a:solidFill>
                <a:latin typeface="GICSIA+Symbol" panose="05050102010706020507"/>
                <a:cs typeface="GICSIA+Symbol" panose="05050102010706020507"/>
              </a:rPr>
              <a:t></a:t>
            </a:r>
            <a:endParaRPr sz="3700" dirty="0">
              <a:solidFill>
                <a:srgbClr val="000000"/>
              </a:solidFill>
              <a:latin typeface="GICSIA+Symbol" panose="05050102010706020507"/>
              <a:cs typeface="GICSIA+Symbol" panose="05050102010706020507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96611" y="6337619"/>
            <a:ext cx="378570" cy="3849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endParaRPr sz="245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698371" y="6300386"/>
            <a:ext cx="324336" cy="4461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endParaRPr sz="245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314829" y="6313695"/>
            <a:ext cx="943058" cy="408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450" i="1" spc="388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50" spc="2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*10</a:t>
            </a:r>
            <a:r>
              <a:rPr sz="2200" i="1" baseline="4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endParaRPr sz="2200" i="1" baseline="450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459602" y="6532392"/>
            <a:ext cx="203156" cy="240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4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endParaRPr sz="145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50877" y="814041"/>
            <a:ext cx="6076770" cy="576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45"/>
              </a:lnSpc>
              <a:spcBef>
                <a:spcPts val="0"/>
              </a:spcBef>
              <a:spcAft>
                <a:spcPts val="0"/>
              </a:spcAft>
            </a:pP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Nothing</a:t>
            </a: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Special</a:t>
            </a: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about</a:t>
            </a: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10!</a:t>
            </a:r>
            <a:endParaRPr sz="3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893961"/>
            <a:ext cx="7919508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system</a:t>
            </a:r>
            <a:r>
              <a:rPr sz="2400" spc="-18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(and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idea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“0”)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was</a:t>
            </a:r>
            <a:r>
              <a:rPr sz="2400" spc="-2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invented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5329" y="2259721"/>
            <a:ext cx="375374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India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around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100-500AD.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2429" y="2698633"/>
            <a:ext cx="7951543" cy="1633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Why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use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10?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Anything</a:t>
            </a:r>
            <a:r>
              <a:rPr sz="2400" spc="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special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about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it?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521970" marR="0">
              <a:lnSpc>
                <a:spcPts val="2785"/>
              </a:lnSpc>
              <a:spcBef>
                <a:spcPts val="75"/>
              </a:spcBef>
              <a:spcAft>
                <a:spcPts val="0"/>
              </a:spcAft>
            </a:pPr>
            <a:r>
              <a:rPr sz="1400" dirty="0">
                <a:solidFill>
                  <a:srgbClr val="33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400" spc="1689" dirty="0">
                <a:solidFill>
                  <a:srgbClr val="33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Not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really.</a:t>
            </a:r>
            <a:endParaRPr sz="2000" dirty="0">
              <a:solidFill>
                <a:srgbClr val="3365CC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521970" marR="0">
              <a:lnSpc>
                <a:spcPts val="2785"/>
              </a:lnSpc>
              <a:spcBef>
                <a:spcPts val="95"/>
              </a:spcBef>
              <a:spcAft>
                <a:spcPts val="0"/>
              </a:spcAft>
            </a:pPr>
            <a:r>
              <a:rPr sz="1400" dirty="0">
                <a:solidFill>
                  <a:srgbClr val="33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400" spc="1689" dirty="0">
                <a:solidFill>
                  <a:srgbClr val="33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Probably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fact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that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we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have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10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fingers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influenced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this.</a:t>
            </a:r>
            <a:endParaRPr sz="2000" dirty="0">
              <a:solidFill>
                <a:srgbClr val="3365CC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3345"/>
              </a:lnSpc>
              <a:spcBef>
                <a:spcPts val="18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Will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base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other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than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10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work?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74399" y="4303281"/>
            <a:ext cx="1201606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32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400" spc="1689" dirty="0">
                <a:solidFill>
                  <a:srgbClr val="32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Sure.</a:t>
            </a:r>
            <a:endParaRPr sz="20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26602" y="4736762"/>
            <a:ext cx="6620987" cy="4461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345</a:t>
            </a:r>
            <a:r>
              <a:rPr sz="2450" spc="-27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in</a:t>
            </a:r>
            <a:r>
              <a:rPr sz="2450" spc="-2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base</a:t>
            </a:r>
            <a:r>
              <a:rPr sz="2450" spc="-23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9</a:t>
            </a:r>
            <a:r>
              <a:rPr sz="2450" spc="169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3</a:t>
            </a:r>
            <a:r>
              <a:rPr sz="2450" spc="115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9</a:t>
            </a:r>
            <a:r>
              <a:rPr sz="2450" spc="2669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4</a:t>
            </a:r>
            <a:r>
              <a:rPr sz="2450" spc="123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9</a:t>
            </a:r>
            <a:r>
              <a:rPr sz="2450" spc="232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5</a:t>
            </a:r>
            <a:r>
              <a:rPr sz="2450" spc="119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9</a:t>
            </a:r>
            <a:r>
              <a:rPr sz="2450" spc="2909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284</a:t>
            </a:r>
            <a:r>
              <a:rPr sz="2450" spc="-24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in</a:t>
            </a:r>
            <a:r>
              <a:rPr sz="2450" spc="-3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base</a:t>
            </a:r>
            <a:r>
              <a:rPr sz="2450" spc="-41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</a:t>
            </a:r>
            <a:endParaRPr sz="24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1648460" marR="0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450" spc="126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×</a:t>
            </a:r>
            <a:r>
              <a:rPr sz="2450" spc="9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200" spc="285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450" spc="130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×</a:t>
            </a:r>
            <a:r>
              <a:rPr sz="2450" spc="82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200" spc="177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450" spc="119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×</a:t>
            </a:r>
            <a:r>
              <a:rPr sz="2450" spc="95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200" spc="442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endParaRPr sz="245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7273" y="5322961"/>
            <a:ext cx="3353722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•</a:t>
            </a:r>
            <a:r>
              <a:rPr sz="2400" spc="105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What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about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base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2?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52495" y="5641483"/>
            <a:ext cx="487296" cy="613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30"/>
              </a:lnSpc>
              <a:spcBef>
                <a:spcPts val="0"/>
              </a:spcBef>
              <a:spcAft>
                <a:spcPts val="0"/>
              </a:spcAft>
            </a:pPr>
            <a:r>
              <a:rPr sz="3700" dirty="0">
                <a:solidFill>
                  <a:srgbClr val="000000"/>
                </a:solidFill>
                <a:latin typeface="GICSIA+Symbol" panose="05050102010706020507"/>
                <a:cs typeface="GICSIA+Symbol" panose="05050102010706020507"/>
              </a:rPr>
              <a:t></a:t>
            </a:r>
            <a:endParaRPr sz="3700" dirty="0">
              <a:solidFill>
                <a:srgbClr val="000000"/>
              </a:solidFill>
              <a:latin typeface="GICSIA+Symbol" panose="05050102010706020507"/>
              <a:cs typeface="GICSIA+Symbol" panose="05050102010706020507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10941" y="5724314"/>
            <a:ext cx="324336" cy="4461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endParaRPr sz="245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27404" y="5761547"/>
            <a:ext cx="831438" cy="4351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50" i="1" spc="5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200" i="1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00" i="1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*</a:t>
            </a:r>
            <a:r>
              <a:rPr sz="2450" spc="-22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endParaRPr sz="245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47489" y="5737623"/>
            <a:ext cx="203156" cy="240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4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endParaRPr sz="145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09185" y="5761547"/>
            <a:ext cx="378570" cy="3849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endParaRPr sz="245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82119" y="2337894"/>
            <a:ext cx="5510217" cy="675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01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2-2</a:t>
            </a:r>
            <a:r>
              <a:rPr sz="3600" spc="669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BINARY</a:t>
            </a:r>
            <a:r>
              <a:rPr sz="3600" spc="669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NUMBERS</a:t>
            </a:r>
            <a:endParaRPr sz="3600" dirty="0">
              <a:solidFill>
                <a:srgbClr val="000099"/>
              </a:solidFill>
              <a:latin typeface="BJJSOR+ComicSansMS,Bold" panose="030F0902030302020204"/>
              <a:cs typeface="BJJSOR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3848" y="3271806"/>
            <a:ext cx="1985726" cy="495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600" spc="11" dirty="0">
                <a:solidFill>
                  <a:srgbClr val="000099"/>
                </a:solidFill>
                <a:latin typeface="黑体" panose="02010609060101010101" charset="-122"/>
                <a:cs typeface="黑体" panose="02010609060101010101" charset="-122"/>
              </a:rPr>
              <a:t>二进制数</a:t>
            </a:r>
            <a:endParaRPr sz="3600" spc="11" dirty="0">
              <a:solidFill>
                <a:srgbClr val="000099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999873" y="814041"/>
            <a:ext cx="5512633" cy="576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45"/>
              </a:lnSpc>
              <a:spcBef>
                <a:spcPts val="0"/>
              </a:spcBef>
              <a:spcAft>
                <a:spcPts val="0"/>
              </a:spcAft>
            </a:pP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Introductory</a:t>
            </a: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Paragraph</a:t>
            </a:r>
            <a:endParaRPr sz="3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6908" y="1610217"/>
            <a:ext cx="7926211" cy="497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20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607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6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6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6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system</a:t>
            </a:r>
            <a:r>
              <a:rPr sz="26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simply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another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way</a:t>
            </a:r>
            <a:endParaRPr sz="26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9807" y="2006449"/>
            <a:ext cx="3806064" cy="497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20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represent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quantities.</a:t>
            </a:r>
            <a:endParaRPr sz="26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6908" y="2639679"/>
            <a:ext cx="7363948" cy="894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20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607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600" spc="-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weighted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6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（加权</a:t>
            </a:r>
            <a:endParaRPr sz="2600" dirty="0">
              <a:solidFill>
                <a:srgbClr val="FE00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42900" marR="0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数）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endParaRPr sz="26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6908" y="3658473"/>
            <a:ext cx="8000220" cy="3271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20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607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system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with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its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ten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digits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base-</a:t>
            </a:r>
            <a:endParaRPr sz="26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ten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system;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system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with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its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two</a:t>
            </a:r>
            <a:endParaRPr sz="2600" dirty="0">
              <a:solidFill>
                <a:srgbClr val="FE00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120"/>
              </a:lnSpc>
              <a:spcBef>
                <a:spcPts val="50"/>
              </a:spcBef>
              <a:spcAft>
                <a:spcPts val="0"/>
              </a:spcAft>
            </a:pP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digits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base-two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system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two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digits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(bits)</a:t>
            </a:r>
            <a:endParaRPr sz="26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0.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position</a:t>
            </a:r>
            <a:r>
              <a:rPr sz="26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or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endParaRPr sz="26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indicates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its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weight,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or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value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within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6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number,</a:t>
            </a:r>
            <a:r>
              <a:rPr sz="2600" spc="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just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as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position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digit</a:t>
            </a:r>
            <a:endParaRPr sz="26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determines</a:t>
            </a:r>
            <a:r>
              <a:rPr sz="2600" spc="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value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that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digit.</a:t>
            </a:r>
            <a:r>
              <a:rPr sz="2600" spc="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weights</a:t>
            </a:r>
            <a:endParaRPr sz="2600" dirty="0">
              <a:solidFill>
                <a:srgbClr val="FE00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120"/>
              </a:lnSpc>
              <a:spcBef>
                <a:spcPts val="50"/>
              </a:spcBef>
              <a:spcAft>
                <a:spcPts val="0"/>
              </a:spcAft>
            </a:pP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based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on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powers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two</a:t>
            </a:r>
            <a:r>
              <a:rPr sz="26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endParaRPr sz="26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2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999873" y="814041"/>
            <a:ext cx="5512633" cy="576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45"/>
              </a:lnSpc>
              <a:spcBef>
                <a:spcPts val="0"/>
              </a:spcBef>
              <a:spcAft>
                <a:spcPts val="0"/>
              </a:spcAft>
            </a:pP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Introductory</a:t>
            </a: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Paragraph</a:t>
            </a:r>
            <a:endParaRPr sz="3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2429" y="2110493"/>
            <a:ext cx="7675700" cy="1814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05"/>
              </a:lnSpc>
              <a:spcBef>
                <a:spcPts val="0"/>
              </a:spcBef>
              <a:spcAft>
                <a:spcPts val="0"/>
              </a:spcAft>
            </a:pPr>
            <a:r>
              <a:rPr sz="225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250" spc="457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800" spc="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system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strike="sngStrike" dirty="0">
                <a:solidFill>
                  <a:srgbClr val="0099FF"/>
                </a:solidFill>
                <a:latin typeface="BJJSOR+ComicSansMS,Bold" panose="030F0902030302020204"/>
                <a:cs typeface="BJJSOR+ComicSansMS,Bold" panose="030F0902030302020204"/>
              </a:rPr>
              <a:t>less</a:t>
            </a:r>
            <a:r>
              <a:rPr sz="2800" strike="sngStrike" spc="507" dirty="0">
                <a:solidFill>
                  <a:srgbClr val="0099FF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800" strike="sngStrike" dirty="0">
                <a:solidFill>
                  <a:srgbClr val="0099FF"/>
                </a:solidFill>
                <a:latin typeface="BJJSOR+ComicSansMS,Bold" panose="030F0902030302020204"/>
                <a:cs typeface="BJJSOR+ComicSansMS,Bold" panose="030F0902030302020204"/>
              </a:rPr>
              <a:t>complicate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than</a:t>
            </a:r>
            <a:endParaRPr sz="28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system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because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it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has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only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two</a:t>
            </a:r>
            <a:endParaRPr sz="28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digits.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It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may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seem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more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difficult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at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first</a:t>
            </a:r>
            <a:endParaRPr sz="28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because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it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unfamiliar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8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you.</a:t>
            </a:r>
            <a:endParaRPr sz="28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189105" y="874946"/>
            <a:ext cx="6498077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Weighting</a:t>
            </a:r>
            <a:r>
              <a:rPr sz="2400" b="1" spc="-17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Structure</a:t>
            </a:r>
            <a:r>
              <a:rPr sz="2400" b="1" spc="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Binary</a:t>
            </a:r>
            <a:r>
              <a:rPr sz="2400" b="1" spc="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Numbers</a:t>
            </a:r>
            <a:endParaRPr sz="24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6908" y="1798229"/>
            <a:ext cx="7751404" cy="2037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750" spc="95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right-most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LSB</a:t>
            </a:r>
            <a:r>
              <a:rPr sz="22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（最低有效位</a:t>
            </a:r>
            <a:r>
              <a:rPr sz="2200" spc="109" dirty="0">
                <a:solidFill>
                  <a:srgbClr val="FE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least</a:t>
            </a:r>
            <a:endParaRPr sz="2200" dirty="0">
              <a:solidFill>
                <a:srgbClr val="FE00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070"/>
              </a:lnSpc>
              <a:spcBef>
                <a:spcPts val="50"/>
              </a:spcBef>
              <a:spcAft>
                <a:spcPts val="0"/>
              </a:spcAft>
            </a:pPr>
            <a:r>
              <a:rPr sz="22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significant</a:t>
            </a:r>
            <a:r>
              <a:rPr sz="2200" spc="-15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2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2200" spc="100" dirty="0">
                <a:solidFill>
                  <a:srgbClr val="FE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whole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has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endParaRPr sz="22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070"/>
              </a:lnSpc>
              <a:spcBef>
                <a:spcPts val="100"/>
              </a:spcBef>
              <a:spcAft>
                <a:spcPts val="0"/>
              </a:spcAft>
            </a:pP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weight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2</a:t>
            </a:r>
            <a:r>
              <a:rPr sz="2200" baseline="30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=1.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weights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increase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from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right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left</a:t>
            </a:r>
            <a:endParaRPr sz="22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070"/>
              </a:lnSpc>
              <a:spcBef>
                <a:spcPts val="100"/>
              </a:spcBef>
              <a:spcAft>
                <a:spcPts val="0"/>
              </a:spcAft>
            </a:pP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power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two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for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each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bit.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left-most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2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070"/>
              </a:lnSpc>
              <a:spcBef>
                <a:spcPts val="50"/>
              </a:spcBef>
              <a:spcAft>
                <a:spcPts val="0"/>
              </a:spcAft>
            </a:pPr>
            <a:r>
              <a:rPr sz="22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MSB</a:t>
            </a:r>
            <a:r>
              <a:rPr sz="22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（最高有效位</a:t>
            </a:r>
            <a:r>
              <a:rPr sz="2200" spc="102" dirty="0">
                <a:solidFill>
                  <a:srgbClr val="FE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most</a:t>
            </a:r>
            <a:r>
              <a:rPr sz="22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significant</a:t>
            </a:r>
            <a:r>
              <a:rPr sz="22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2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endParaRPr sz="22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6908" y="4029365"/>
            <a:ext cx="7613035" cy="2439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750" spc="95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Fractional</a:t>
            </a:r>
            <a:r>
              <a:rPr sz="2200" spc="-15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2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（小数）</a:t>
            </a:r>
            <a:r>
              <a:rPr sz="2200" spc="87" dirty="0">
                <a:solidFill>
                  <a:srgbClr val="FE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can</a:t>
            </a:r>
            <a:r>
              <a:rPr sz="22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also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be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represented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endParaRPr sz="22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070"/>
              </a:lnSpc>
              <a:spcBef>
                <a:spcPts val="50"/>
              </a:spcBef>
              <a:spcAft>
                <a:spcPts val="0"/>
              </a:spcAft>
            </a:pP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placing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bits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right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200" spc="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2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point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endParaRPr sz="22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070"/>
              </a:lnSpc>
              <a:spcBef>
                <a:spcPts val="100"/>
              </a:spcBef>
              <a:spcAft>
                <a:spcPts val="0"/>
              </a:spcAft>
            </a:pP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left-most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MSB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fractional</a:t>
            </a:r>
            <a:endParaRPr sz="22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070"/>
              </a:lnSpc>
              <a:spcBef>
                <a:spcPts val="100"/>
              </a:spcBef>
              <a:spcAft>
                <a:spcPts val="0"/>
              </a:spcAft>
            </a:pP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2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has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weight</a:t>
            </a:r>
            <a:r>
              <a:rPr sz="22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2</a:t>
            </a:r>
            <a:r>
              <a:rPr sz="2200" baseline="30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-1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=0.5.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fractional</a:t>
            </a:r>
            <a:endParaRPr sz="22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070"/>
              </a:lnSpc>
              <a:spcBef>
                <a:spcPts val="50"/>
              </a:spcBef>
              <a:spcAft>
                <a:spcPts val="0"/>
              </a:spcAft>
            </a:pP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weights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decreases</a:t>
            </a:r>
            <a:r>
              <a:rPr sz="2200" spc="-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from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left</a:t>
            </a:r>
            <a:r>
              <a:rPr sz="2200" spc="-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right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negative</a:t>
            </a:r>
            <a:endParaRPr sz="22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070"/>
              </a:lnSpc>
              <a:spcBef>
                <a:spcPts val="100"/>
              </a:spcBef>
              <a:spcAft>
                <a:spcPts val="0"/>
              </a:spcAft>
            </a:pP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power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two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for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each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bit.</a:t>
            </a:r>
            <a:endParaRPr sz="22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21843" y="814041"/>
            <a:ext cx="4468698" cy="576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45"/>
              </a:lnSpc>
              <a:spcBef>
                <a:spcPts val="0"/>
              </a:spcBef>
              <a:spcAft>
                <a:spcPts val="0"/>
              </a:spcAft>
            </a:pP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Counting</a:t>
            </a: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Binary</a:t>
            </a:r>
            <a:endParaRPr sz="3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299601"/>
            <a:ext cx="756831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count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through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15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shown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below.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As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5329" y="1628785"/>
            <a:ext cx="7342991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you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will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see,</a:t>
            </a:r>
            <a:r>
              <a:rPr sz="2400" spc="-2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4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required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count</a:t>
            </a:r>
            <a:r>
              <a:rPr sz="2400" spc="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from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5329" y="1957969"/>
            <a:ext cx="551557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15.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03555" y="903140"/>
            <a:ext cx="4503432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Binary-to</a:t>
            </a:r>
            <a:r>
              <a:rPr sz="2400" b="1" spc="1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Decimal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Conversion</a:t>
            </a:r>
            <a:endParaRPr sz="24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336177"/>
            <a:ext cx="7473481" cy="119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value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can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be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found</a:t>
            </a:r>
            <a:r>
              <a:rPr sz="2400" spc="2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adding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weights</a:t>
            </a:r>
            <a:r>
              <a:rPr sz="2400" spc="-2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all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that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discarding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weights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all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that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0.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19245" y="5693663"/>
            <a:ext cx="495300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145</a:t>
            </a:r>
            <a:endParaRPr sz="1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35709" y="5921972"/>
            <a:ext cx="487784" cy="6144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40"/>
              </a:lnSpc>
              <a:spcBef>
                <a:spcPts val="0"/>
              </a:spcBef>
              <a:spcAft>
                <a:spcPts val="0"/>
              </a:spcAft>
            </a:pPr>
            <a:r>
              <a:rPr sz="3700" dirty="0">
                <a:solidFill>
                  <a:srgbClr val="000000"/>
                </a:solidFill>
                <a:latin typeface="GICSIA+Symbol" panose="05050102010706020507"/>
                <a:cs typeface="GICSIA+Symbol" panose="05050102010706020507"/>
              </a:rPr>
              <a:t></a:t>
            </a:r>
            <a:endParaRPr sz="3700" dirty="0">
              <a:solidFill>
                <a:srgbClr val="000000"/>
              </a:solidFill>
              <a:latin typeface="GICSIA+Symbol" panose="05050102010706020507"/>
              <a:cs typeface="GICSIA+Symbol" panose="05050102010706020507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2417" y="6043080"/>
            <a:ext cx="378899" cy="385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5"/>
              </a:lnSpc>
              <a:spcBef>
                <a:spcPts val="0"/>
              </a:spcBef>
              <a:spcAft>
                <a:spcPts val="0"/>
              </a:spcAft>
            </a:pPr>
            <a:r>
              <a:rPr sz="24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endParaRPr sz="245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94155" y="6005792"/>
            <a:ext cx="324587" cy="446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endParaRPr sz="245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10624" y="6043080"/>
            <a:ext cx="831737" cy="43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35"/>
              </a:lnSpc>
              <a:spcBef>
                <a:spcPts val="0"/>
              </a:spcBef>
              <a:spcAft>
                <a:spcPts val="0"/>
              </a:spcAft>
            </a:pPr>
            <a:r>
              <a:rPr sz="2450" i="1" spc="5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200" i="1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200" i="1" baseline="-2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*</a:t>
            </a:r>
            <a:r>
              <a:rPr sz="2450" spc="-22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endParaRPr sz="245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30703" y="6019326"/>
            <a:ext cx="203230" cy="2407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4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endParaRPr sz="145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369699" y="2341704"/>
            <a:ext cx="6393844" cy="1498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01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2-3</a:t>
            </a:r>
            <a:r>
              <a:rPr sz="3600" spc="673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DECIMAL-TO-BINARY</a:t>
            </a:r>
            <a:endParaRPr sz="3600" dirty="0">
              <a:solidFill>
                <a:srgbClr val="000099"/>
              </a:solidFill>
              <a:latin typeface="BJJSOR+ComicSansMS,Bold" panose="030F0902030302020204"/>
              <a:cs typeface="BJJSOR+ComicSansMS,Bold" panose="030F0902030302020204"/>
            </a:endParaRPr>
          </a:p>
          <a:p>
            <a:pPr marL="1516380" marR="0">
              <a:lnSpc>
                <a:spcPts val="5015"/>
              </a:lnSpc>
              <a:spcBef>
                <a:spcPts val="1465"/>
              </a:spcBef>
              <a:spcAft>
                <a:spcPts val="0"/>
              </a:spcAft>
            </a:pP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CONVERSION</a:t>
            </a:r>
            <a:endParaRPr sz="3600" dirty="0">
              <a:solidFill>
                <a:srgbClr val="000099"/>
              </a:solidFill>
              <a:latin typeface="BJJSOR+ComicSansMS,Bold" panose="030F0902030302020204"/>
              <a:cs typeface="BJJSOR+ComicSansMS,Bold" panose="030F09020303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27533" y="946575"/>
            <a:ext cx="4688506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Repeated</a:t>
            </a:r>
            <a:r>
              <a:rPr sz="2400" b="1" spc="23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Division-by-2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Method</a:t>
            </a:r>
            <a:endParaRPr sz="24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299601"/>
            <a:ext cx="7661275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systematic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method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converting</a:t>
            </a:r>
            <a:r>
              <a:rPr sz="2400" spc="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whole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5329" y="1628785"/>
            <a:ext cx="7472508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from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repeated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devision-by-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5329" y="1957969"/>
            <a:ext cx="1594995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2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process.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0979" y="4219194"/>
            <a:ext cx="482463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39?</a:t>
            </a:r>
            <a:endParaRPr sz="1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20385" y="5527547"/>
            <a:ext cx="878890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</a:t>
            </a:r>
            <a:r>
              <a:rPr sz="1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1800" spc="-4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0111</a:t>
            </a:r>
            <a:endParaRPr sz="1800" spc="-43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724029" y="874946"/>
            <a:ext cx="5465685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Repeated</a:t>
            </a:r>
            <a:r>
              <a:rPr sz="2400" b="1" spc="23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Multiplication-by-2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Method</a:t>
            </a:r>
            <a:endParaRPr sz="24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299601"/>
            <a:ext cx="698069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systematic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method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converting</a:t>
            </a:r>
            <a:r>
              <a:rPr sz="2400" spc="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fractional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5329" y="1628785"/>
            <a:ext cx="6944259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from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repeated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5329" y="1957969"/>
            <a:ext cx="4092282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multiplication-by-2</a:t>
            </a:r>
            <a:r>
              <a:rPr sz="2400" spc="2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process.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0101" y="5772150"/>
            <a:ext cx="2266950" cy="909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spc="-1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0.010101000111101…</a:t>
            </a:r>
            <a:endParaRPr sz="1800" spc="-1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477520" marR="0">
              <a:lnSpc>
                <a:spcPts val="1995"/>
              </a:lnSpc>
              <a:spcBef>
                <a:spcPts val="287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0.33=?</a:t>
            </a:r>
            <a:endParaRPr sz="1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311025" y="2706703"/>
            <a:ext cx="6299568" cy="675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01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2-4</a:t>
            </a:r>
            <a:r>
              <a:rPr sz="3600" spc="669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BINARY</a:t>
            </a:r>
            <a:r>
              <a:rPr sz="3600" spc="669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ARITHMETIC</a:t>
            </a:r>
            <a:endParaRPr sz="3600" dirty="0">
              <a:solidFill>
                <a:srgbClr val="000099"/>
              </a:solidFill>
              <a:latin typeface="BJJSOR+ComicSansMS,Bold" panose="030F0902030302020204"/>
              <a:cs typeface="BJJSOR+ComicSansMS,Bold" panose="030F09020303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79677" y="908475"/>
            <a:ext cx="2420306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Binary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Addition</a:t>
            </a:r>
            <a:endParaRPr sz="24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336177"/>
            <a:ext cx="767706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four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basic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rules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for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adding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digits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(bits)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5329" y="1701937"/>
            <a:ext cx="219597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spc="-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as</a:t>
            </a:r>
            <a:r>
              <a:rPr sz="2400" spc="-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follows: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48235" y="2471842"/>
            <a:ext cx="4540605" cy="2021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+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=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Sum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with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carry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endParaRPr sz="24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0" marR="0">
              <a:lnSpc>
                <a:spcPts val="2655"/>
              </a:lnSpc>
              <a:spcBef>
                <a:spcPts val="161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+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=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Sum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with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carry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endParaRPr sz="24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0" marR="0">
              <a:lnSpc>
                <a:spcPts val="2655"/>
              </a:lnSpc>
              <a:spcBef>
                <a:spcPts val="161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+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=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Sum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with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carry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endParaRPr sz="24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0" marR="0">
              <a:lnSpc>
                <a:spcPts val="2655"/>
              </a:lnSpc>
              <a:spcBef>
                <a:spcPts val="161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+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=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Sum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with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carry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endParaRPr sz="24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7273" y="4688977"/>
            <a:ext cx="460541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•</a:t>
            </a:r>
            <a:r>
              <a:rPr sz="2400" spc="105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[Example]</a:t>
            </a:r>
            <a:r>
              <a:rPr sz="2400" spc="-18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Add</a:t>
            </a:r>
            <a:r>
              <a:rPr sz="2400" spc="-17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1111</a:t>
            </a:r>
            <a:r>
              <a:rPr sz="2400" spc="-17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1100.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98643" y="4688215"/>
            <a:ext cx="970847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91023" y="5178181"/>
            <a:ext cx="978301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00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27499" y="5265358"/>
            <a:ext cx="341966" cy="335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PHNFIK+CambriaMath" panose="02040503050406030204"/>
                <a:cs typeface="PHNFIK+CambriaMath" panose="02040503050406030204"/>
              </a:rPr>
              <a:t>+</a:t>
            </a:r>
            <a:endParaRPr sz="2000" dirty="0">
              <a:solidFill>
                <a:srgbClr val="000000"/>
              </a:solidFill>
              <a:latin typeface="PHNFIK+CambriaMath" panose="02040503050406030204"/>
              <a:cs typeface="PHNFIK+Cambria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48941" y="5676900"/>
            <a:ext cx="723900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spc="-3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11011</a:t>
            </a:r>
            <a:endParaRPr sz="1800" spc="-31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12715" y="5702437"/>
            <a:ext cx="115610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01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90295" y="874946"/>
            <a:ext cx="2877537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Binary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Subtraction</a:t>
            </a:r>
            <a:endParaRPr sz="24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336177"/>
            <a:ext cx="752152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four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basic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rules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for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subtraction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digits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5329" y="1701937"/>
            <a:ext cx="306483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(bits)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as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follows: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7963" y="2471842"/>
            <a:ext cx="5463906" cy="2021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-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=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Difference</a:t>
            </a:r>
            <a:r>
              <a:rPr sz="2400" spc="-1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with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borrow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endParaRPr sz="24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0" marR="0">
              <a:lnSpc>
                <a:spcPts val="2655"/>
              </a:lnSpc>
              <a:spcBef>
                <a:spcPts val="161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-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=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Difference</a:t>
            </a:r>
            <a:r>
              <a:rPr sz="2400" spc="-1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with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borrow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endParaRPr sz="24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0" marR="0">
              <a:lnSpc>
                <a:spcPts val="2655"/>
              </a:lnSpc>
              <a:spcBef>
                <a:spcPts val="161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-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=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Difference</a:t>
            </a:r>
            <a:r>
              <a:rPr sz="2400" spc="-1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with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borrow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endParaRPr sz="24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0" marR="0">
              <a:lnSpc>
                <a:spcPts val="2655"/>
              </a:lnSpc>
              <a:spcBef>
                <a:spcPts val="161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-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=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Difference</a:t>
            </a:r>
            <a:r>
              <a:rPr sz="2400" spc="-1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with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borrow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endParaRPr sz="24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7273" y="4841377"/>
            <a:ext cx="5249578" cy="112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•</a:t>
            </a:r>
            <a:r>
              <a:rPr sz="2400" spc="105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[Example]</a:t>
            </a:r>
            <a:r>
              <a:rPr sz="2400" spc="-1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Subtract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100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from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111.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1713230" marR="0">
              <a:lnSpc>
                <a:spcPts val="3345"/>
              </a:lnSpc>
              <a:spcBef>
                <a:spcPts val="192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3915" y="5593841"/>
            <a:ext cx="1271847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spc="-2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111-100=11</a:t>
            </a:r>
            <a:endParaRPr sz="1800" spc="-21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2629" y="5995044"/>
            <a:ext cx="751391" cy="987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00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234950" marR="0">
              <a:lnSpc>
                <a:spcPts val="3345"/>
              </a:lnSpc>
              <a:spcBef>
                <a:spcPts val="83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61267" y="6081459"/>
            <a:ext cx="341966" cy="335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PHNFIK+CambriaMath" panose="02040503050406030204"/>
                <a:cs typeface="PHNFIK+CambriaMath" panose="02040503050406030204"/>
              </a:rPr>
              <a:t>−</a:t>
            </a:r>
            <a:endParaRPr sz="2000" dirty="0">
              <a:solidFill>
                <a:srgbClr val="000000"/>
              </a:solidFill>
              <a:latin typeface="PHNFIK+CambriaMath" panose="02040503050406030204"/>
              <a:cs typeface="PHNFIK+CambriaMath" panose="02040503050406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16203" y="908475"/>
            <a:ext cx="3147620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Binary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Multiplication</a:t>
            </a:r>
            <a:endParaRPr sz="24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336177"/>
            <a:ext cx="7787097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four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basic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rules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for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multiplication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digits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5329" y="1701937"/>
            <a:ext cx="306483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(bits)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as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follows: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66797" y="2521825"/>
            <a:ext cx="1314170" cy="1040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0"/>
              </a:lnSpc>
              <a:spcBef>
                <a:spcPts val="0"/>
              </a:spcBef>
              <a:spcAft>
                <a:spcPts val="0"/>
              </a:spcAft>
            </a:pPr>
            <a:r>
              <a:rPr sz="2800" spc="26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800" spc="352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×</a:t>
            </a:r>
            <a:r>
              <a:rPr sz="2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800" spc="-7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800" spc="-7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endParaRPr sz="2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0" marR="0">
              <a:lnSpc>
                <a:spcPts val="3670"/>
              </a:lnSpc>
              <a:spcBef>
                <a:spcPts val="505"/>
              </a:spcBef>
              <a:spcAft>
                <a:spcPts val="0"/>
              </a:spcAft>
            </a:pPr>
            <a:r>
              <a:rPr sz="2800" spc="26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800" spc="88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×</a:t>
            </a:r>
            <a:r>
              <a:rPr sz="2800" spc="40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8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800" spc="-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endParaRPr sz="2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3259" y="3594707"/>
            <a:ext cx="1285959" cy="1040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70"/>
              </a:lnSpc>
              <a:spcBef>
                <a:spcPts val="0"/>
              </a:spcBef>
              <a:spcAft>
                <a:spcPts val="0"/>
              </a:spcAft>
            </a:pPr>
            <a:r>
              <a:rPr sz="2800" spc="4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800" spc="358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×</a:t>
            </a:r>
            <a:r>
              <a:rPr sz="2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800" spc="-7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800" spc="-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endParaRPr sz="2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0" marR="0">
              <a:lnSpc>
                <a:spcPts val="3670"/>
              </a:lnSpc>
              <a:spcBef>
                <a:spcPts val="505"/>
              </a:spcBef>
              <a:spcAft>
                <a:spcPts val="0"/>
              </a:spcAft>
            </a:pPr>
            <a:r>
              <a:rPr sz="2800" spc="4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800" spc="94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×</a:t>
            </a:r>
            <a:r>
              <a:rPr sz="2800" spc="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800" spc="352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endParaRPr sz="2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72685" y="3990985"/>
            <a:ext cx="1180170" cy="9528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28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28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r>
              <a:rPr sz="2400" spc="28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3345"/>
              </a:lnSpc>
              <a:spcBef>
                <a:spcPts val="56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28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r>
              <a:rPr sz="2400" spc="28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28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50714" y="4567366"/>
            <a:ext cx="333664" cy="335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PHNFIK+CambriaMath" panose="02040503050406030204"/>
                <a:cs typeface="PHNFIK+CambriaMath" panose="02040503050406030204"/>
              </a:rPr>
              <a:t>×</a:t>
            </a:r>
            <a:endParaRPr sz="2000" dirty="0">
              <a:solidFill>
                <a:srgbClr val="000000"/>
              </a:solidFill>
              <a:latin typeface="PHNFIK+CambriaMath" panose="02040503050406030204"/>
              <a:cs typeface="PHNFIK+Cambria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47273" y="4823089"/>
            <a:ext cx="5066331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•</a:t>
            </a:r>
            <a:r>
              <a:rPr sz="2400" spc="105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[Example]</a:t>
            </a:r>
            <a:r>
              <a:rPr sz="2400" spc="-2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Multiply</a:t>
            </a:r>
            <a:r>
              <a:rPr sz="2400" spc="15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1101</a:t>
            </a:r>
            <a:r>
              <a:rPr sz="2400" spc="-2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1010.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31131" y="5040259"/>
            <a:ext cx="113135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28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28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r>
              <a:rPr sz="2400" spc="28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57345" y="5447167"/>
            <a:ext cx="113135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28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28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r>
              <a:rPr sz="2400" spc="28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68725" y="5991235"/>
            <a:ext cx="2431039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28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r>
              <a:rPr sz="2400" spc="28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r>
              <a:rPr sz="2400" spc="28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r>
              <a:rPr sz="2400" spc="28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r>
              <a:rPr sz="2400" spc="28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r>
              <a:rPr sz="2400" spc="28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28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35253" y="854829"/>
            <a:ext cx="3108509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Binary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Division</a:t>
            </a:r>
            <a:endParaRPr sz="32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2390023"/>
            <a:ext cx="729774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Division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follows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same</a:t>
            </a:r>
            <a:r>
              <a:rPr sz="2400" spc="-2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procedure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as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5329" y="2755783"/>
            <a:ext cx="2772925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division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decimal.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7273" y="3380623"/>
            <a:ext cx="7363204" cy="9291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•</a:t>
            </a:r>
            <a:r>
              <a:rPr sz="2400" spc="105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[Example]</a:t>
            </a:r>
            <a:r>
              <a:rPr sz="2400" spc="-2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Divide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1100</a:t>
            </a:r>
            <a:r>
              <a:rPr sz="2400" spc="-2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100.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6809105" marR="0">
              <a:lnSpc>
                <a:spcPts val="3345"/>
              </a:lnSpc>
              <a:spcBef>
                <a:spcPts val="37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28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27527" y="4305691"/>
            <a:ext cx="915909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28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r>
              <a:rPr sz="2400" spc="28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77385" y="4340743"/>
            <a:ext cx="1203883" cy="913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495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28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28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r>
              <a:rPr sz="2400" spc="28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3345"/>
              </a:lnSpc>
              <a:spcBef>
                <a:spcPts val="255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28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r>
              <a:rPr sz="2400" spc="28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57039" y="5310769"/>
            <a:ext cx="915909" cy="905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28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r>
              <a:rPr sz="2400" spc="28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3345"/>
              </a:lnSpc>
              <a:spcBef>
                <a:spcPts val="19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spc="28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r>
              <a:rPr sz="2400" spc="28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43017" y="6305179"/>
            <a:ext cx="338435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86691" y="3033600"/>
            <a:ext cx="5548622" cy="675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01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2-5</a:t>
            </a:r>
            <a:r>
              <a:rPr sz="3600" spc="669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SIGNED</a:t>
            </a:r>
            <a:r>
              <a:rPr sz="3600" spc="67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NUMBERS</a:t>
            </a:r>
            <a:endParaRPr sz="3600" dirty="0">
              <a:solidFill>
                <a:srgbClr val="000099"/>
              </a:solidFill>
              <a:latin typeface="BJJSOR+ComicSansMS,Bold" panose="030F0902030302020204"/>
              <a:cs typeface="BJJSOR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7485" y="4249467"/>
            <a:ext cx="1985726" cy="495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600" spc="11" dirty="0">
                <a:solidFill>
                  <a:srgbClr val="000099"/>
                </a:solidFill>
                <a:latin typeface="黑体" panose="02010609060101010101" charset="-122"/>
                <a:cs typeface="黑体" panose="02010609060101010101" charset="-122"/>
              </a:rPr>
              <a:t>带符号数</a:t>
            </a:r>
            <a:endParaRPr sz="3600" spc="11" dirty="0">
              <a:solidFill>
                <a:srgbClr val="000099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961011" y="969891"/>
            <a:ext cx="4556078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Sign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Bit</a:t>
            </a:r>
            <a:r>
              <a:rPr sz="3200" spc="10" dirty="0">
                <a:solidFill>
                  <a:srgbClr val="000099"/>
                </a:solidFill>
                <a:latin typeface="黑体" panose="02010609060101010101" charset="-122"/>
                <a:cs typeface="黑体" panose="02010609060101010101" charset="-122"/>
              </a:rPr>
              <a:t>（符号位）</a:t>
            </a:r>
            <a:endParaRPr sz="3200" spc="10" dirty="0">
              <a:solidFill>
                <a:srgbClr val="000099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40059" y="2262007"/>
            <a:ext cx="7915612" cy="1560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left-most</a:t>
            </a:r>
            <a:r>
              <a:rPr sz="2400" spc="-14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signed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sign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which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tells</a:t>
            </a:r>
            <a:r>
              <a:rPr sz="2400" spc="-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you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whether</a:t>
            </a:r>
            <a:r>
              <a:rPr sz="2400" spc="-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91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positive</a:t>
            </a:r>
            <a:r>
              <a:rPr sz="24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（正）</a:t>
            </a:r>
            <a:r>
              <a:rPr sz="2400" spc="108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or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negative</a:t>
            </a:r>
            <a:r>
              <a:rPr sz="24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（负）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for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positive,</a:t>
            </a:r>
            <a:endParaRPr sz="2400" dirty="0">
              <a:solidFill>
                <a:srgbClr val="FE00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45"/>
              </a:lnSpc>
              <a:spcBef>
                <a:spcPts val="50"/>
              </a:spcBef>
              <a:spcAft>
                <a:spcPts val="0"/>
              </a:spcAft>
            </a:pP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for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negative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22355" y="858639"/>
            <a:ext cx="7801859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2.5.1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Sign-Magnitude(</a:t>
            </a:r>
            <a:r>
              <a:rPr sz="3200" spc="10" dirty="0">
                <a:solidFill>
                  <a:srgbClr val="000099"/>
                </a:solidFill>
                <a:latin typeface="黑体" panose="02010609060101010101" charset="-122"/>
                <a:cs typeface="黑体" panose="02010609060101010101" charset="-122"/>
              </a:rPr>
              <a:t>符号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3200" spc="10" dirty="0">
                <a:solidFill>
                  <a:srgbClr val="000099"/>
                </a:solidFill>
                <a:latin typeface="黑体" panose="02010609060101010101" charset="-122"/>
                <a:cs typeface="黑体" panose="02010609060101010101" charset="-122"/>
              </a:rPr>
              <a:t>幅值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System</a:t>
            </a:r>
            <a:endParaRPr sz="32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468765"/>
            <a:ext cx="7912524" cy="19304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When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signed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represented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sign-magnitude,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left-most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sign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remaining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magnitude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bits.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400" dirty="0">
              <a:solidFill>
                <a:srgbClr val="FF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91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magnitude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bits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true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(uncomplemented</a:t>
            </a:r>
            <a:r>
              <a:rPr sz="2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（非补</a:t>
            </a:r>
            <a:endParaRPr sz="240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码）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)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for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both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positive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negative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numbers.</a:t>
            </a:r>
            <a:endParaRPr sz="2400" dirty="0">
              <a:solidFill>
                <a:srgbClr val="FF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41695" y="3411405"/>
            <a:ext cx="824797" cy="283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35"/>
              </a:lnSpc>
              <a:spcBef>
                <a:spcPts val="0"/>
              </a:spcBef>
              <a:spcAft>
                <a:spcPts val="0"/>
              </a:spcAft>
            </a:pPr>
            <a:r>
              <a:rPr sz="17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Sign</a:t>
            </a:r>
            <a:r>
              <a:rPr sz="1750" i="1" spc="-9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bit</a:t>
            </a:r>
            <a:endParaRPr sz="175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90315" y="3411405"/>
            <a:ext cx="824021" cy="283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35"/>
              </a:lnSpc>
              <a:spcBef>
                <a:spcPts val="0"/>
              </a:spcBef>
              <a:spcAft>
                <a:spcPts val="0"/>
              </a:spcAft>
            </a:pPr>
            <a:r>
              <a:rPr sz="17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Sign</a:t>
            </a:r>
            <a:r>
              <a:rPr sz="1750" i="1" spc="-1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bit</a:t>
            </a:r>
            <a:endParaRPr sz="175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02287" y="3437773"/>
            <a:ext cx="298042" cy="5123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35"/>
              </a:lnSpc>
              <a:spcBef>
                <a:spcPts val="0"/>
              </a:spcBef>
              <a:spcAft>
                <a:spcPts val="0"/>
              </a:spcAft>
            </a:pPr>
            <a:r>
              <a:rPr sz="2150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</a:t>
            </a:r>
            <a:endParaRPr sz="2150" dirty="0">
              <a:solidFill>
                <a:srgbClr val="000000"/>
              </a:solidFill>
              <a:latin typeface="ALOGHA+MTExtra" panose="05050102010205020202"/>
              <a:cs typeface="ALOGHA+MTExtra" panose="0505010201020502020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83687" y="3478049"/>
            <a:ext cx="238291" cy="452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6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</a:t>
            </a:r>
            <a:endParaRPr sz="1900" dirty="0">
              <a:solidFill>
                <a:srgbClr val="000000"/>
              </a:solidFill>
              <a:latin typeface="ALOGHA+MTExtra" panose="05050102010205020202"/>
              <a:cs typeface="ALOGHA+MTExtra" panose="0505010201020502020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87829" y="3802815"/>
            <a:ext cx="3582511" cy="71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160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3000" spc="147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3000" spc="-141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3000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</a:t>
            </a:r>
            <a:r>
              <a:rPr sz="3000" spc="-255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</a:t>
            </a:r>
            <a:r>
              <a:rPr sz="3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01</a:t>
            </a:r>
            <a:r>
              <a:rPr sz="3000" spc="-2144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</a:t>
            </a:r>
            <a:r>
              <a:rPr sz="3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</a:t>
            </a:r>
            <a:r>
              <a:rPr sz="3000" spc="-1043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</a:t>
            </a:r>
            <a:r>
              <a:rPr sz="3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01</a:t>
            </a:r>
            <a:endParaRPr sz="30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32645" y="3802815"/>
            <a:ext cx="3582511" cy="71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160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3000" spc="1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3000" spc="-140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3000" spc="-902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</a:t>
            </a:r>
            <a:r>
              <a:rPr sz="3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01</a:t>
            </a:r>
            <a:r>
              <a:rPr sz="3000" spc="-2150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</a:t>
            </a:r>
            <a:r>
              <a:rPr sz="3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3000" spc="-75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3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3000" spc="-1039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</a:t>
            </a:r>
            <a:r>
              <a:rPr sz="3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01</a:t>
            </a:r>
            <a:endParaRPr sz="30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41650" y="4268238"/>
            <a:ext cx="2822630" cy="6933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160"/>
              </a:lnSpc>
              <a:spcBef>
                <a:spcPts val="0"/>
              </a:spcBef>
              <a:spcAft>
                <a:spcPts val="0"/>
              </a:spcAft>
            </a:pPr>
            <a:r>
              <a:rPr sz="3000" spc="-728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</a:t>
            </a:r>
            <a:endParaRPr sz="3000" spc="-728" dirty="0">
              <a:solidFill>
                <a:srgbClr val="000000"/>
              </a:solidFill>
              <a:latin typeface="ALOGHA+MTExtra" panose="05050102010205020202"/>
              <a:cs typeface="ALOGHA+MTExtra" panose="0505010201020502020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90307" y="4268238"/>
            <a:ext cx="2822630" cy="6933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160"/>
              </a:lnSpc>
              <a:spcBef>
                <a:spcPts val="0"/>
              </a:spcBef>
              <a:spcAft>
                <a:spcPts val="0"/>
              </a:spcAft>
            </a:pPr>
            <a:r>
              <a:rPr sz="3000" spc="-730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</a:t>
            </a:r>
            <a:endParaRPr sz="3000" spc="-730" dirty="0">
              <a:solidFill>
                <a:srgbClr val="000000"/>
              </a:solidFill>
              <a:latin typeface="ALOGHA+MTExtra" panose="05050102010205020202"/>
              <a:cs typeface="ALOGHA+MTExtra" panose="0505010201020502020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48073" y="4344850"/>
            <a:ext cx="1475031" cy="283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35"/>
              </a:lnSpc>
              <a:spcBef>
                <a:spcPts val="0"/>
              </a:spcBef>
              <a:spcAft>
                <a:spcPts val="0"/>
              </a:spcAft>
            </a:pPr>
            <a:r>
              <a:rPr sz="17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Magnitude</a:t>
            </a:r>
            <a:r>
              <a:rPr sz="1750" i="1" spc="-11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bits</a:t>
            </a:r>
            <a:endParaRPr sz="175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96693" y="4344850"/>
            <a:ext cx="1475053" cy="283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35"/>
              </a:lnSpc>
              <a:spcBef>
                <a:spcPts val="0"/>
              </a:spcBef>
              <a:spcAft>
                <a:spcPts val="0"/>
              </a:spcAft>
            </a:pPr>
            <a:r>
              <a:rPr sz="17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Magnitude</a:t>
            </a:r>
            <a:r>
              <a:rPr sz="1750" i="1" spc="-11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7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bits</a:t>
            </a:r>
            <a:endParaRPr sz="175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80652" y="4764997"/>
            <a:ext cx="512921" cy="3271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750" spc="13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17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25</a:t>
            </a:r>
            <a:endParaRPr sz="17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30803" y="4764997"/>
            <a:ext cx="509127" cy="3271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750" spc="1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17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25</a:t>
            </a:r>
            <a:endParaRPr sz="17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47273" y="5050165"/>
            <a:ext cx="7843856" cy="1560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•</a:t>
            </a:r>
            <a:r>
              <a:rPr sz="2400" spc="105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values</a:t>
            </a:r>
            <a:r>
              <a:rPr sz="2400" spc="-2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determined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summing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weights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all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magnitude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positions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where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there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1s.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sign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determined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examination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sign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bit.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13817" y="854829"/>
            <a:ext cx="4751256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Sign-Magnitude</a:t>
            </a:r>
            <a:r>
              <a:rPr sz="3200" b="1" spc="-18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System</a:t>
            </a:r>
            <a:endParaRPr sz="32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336177"/>
            <a:ext cx="7794625" cy="119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[Example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2-15]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Determine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value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this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signed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expressed</a:t>
            </a:r>
            <a:r>
              <a:rPr sz="2400" spc="-2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sign-magnitude: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10010101.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7140" y="2931728"/>
            <a:ext cx="1313456" cy="3969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25"/>
              </a:lnSpc>
              <a:spcBef>
                <a:spcPts val="0"/>
              </a:spcBef>
              <a:spcAft>
                <a:spcPts val="0"/>
              </a:spcAft>
            </a:pPr>
            <a:r>
              <a:rPr sz="25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Solution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.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46657" y="3417892"/>
            <a:ext cx="7203072" cy="882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25"/>
              </a:lnSpc>
              <a:spcBef>
                <a:spcPts val="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Summing</a:t>
            </a:r>
            <a:r>
              <a:rPr sz="2550" spc="-7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550" spc="-8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weights</a:t>
            </a:r>
            <a:r>
              <a:rPr sz="2550" spc="-19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in</a:t>
            </a:r>
            <a:r>
              <a:rPr sz="2550" spc="-7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all</a:t>
            </a:r>
            <a:r>
              <a:rPr sz="2550" spc="-15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550" spc="-12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magnitude</a:t>
            </a:r>
            <a:r>
              <a:rPr sz="2550" spc="-16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bit</a:t>
            </a:r>
            <a:r>
              <a:rPr sz="2550" spc="-2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positions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20320" marR="0">
              <a:lnSpc>
                <a:spcPts val="2825"/>
              </a:lnSpc>
              <a:spcBef>
                <a:spcPts val="995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where</a:t>
            </a:r>
            <a:r>
              <a:rPr sz="2550" spc="-129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there</a:t>
            </a:r>
            <a:r>
              <a:rPr sz="2550" spc="-19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are</a:t>
            </a:r>
            <a:r>
              <a:rPr sz="2550" spc="-44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1s,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61885" y="4392079"/>
            <a:ext cx="2291455" cy="4602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25"/>
              </a:lnSpc>
              <a:spcBef>
                <a:spcPts val="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276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276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3019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21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175260" marR="0">
              <a:lnSpc>
                <a:spcPts val="3325"/>
              </a:lnSpc>
              <a:spcBef>
                <a:spcPts val="0"/>
              </a:spcBef>
              <a:spcAft>
                <a:spcPts val="0"/>
              </a:spcAft>
            </a:pP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4</a:t>
            </a:r>
            <a:r>
              <a:rPr sz="2250" spc="302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spc="120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250" spc="308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spc="118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250" spc="465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endParaRPr sz="255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57284" y="4916754"/>
            <a:ext cx="7034346" cy="3969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25"/>
              </a:lnSpc>
              <a:spcBef>
                <a:spcPts val="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550" spc="-18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sign</a:t>
            </a:r>
            <a:r>
              <a:rPr sz="2550" spc="-2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bit</a:t>
            </a:r>
            <a:r>
              <a:rPr sz="2550" spc="-9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is</a:t>
            </a:r>
            <a:r>
              <a:rPr sz="2550" spc="-389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1;</a:t>
            </a:r>
            <a:r>
              <a:rPr sz="2550" spc="-14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therefore,</a:t>
            </a:r>
            <a:r>
              <a:rPr sz="2550" spc="-10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550" spc="-169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decimal</a:t>
            </a:r>
            <a:r>
              <a:rPr sz="2550" spc="-219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number</a:t>
            </a:r>
            <a:r>
              <a:rPr sz="2550" spc="-17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is</a:t>
            </a:r>
            <a:r>
              <a:rPr sz="2550" spc="-1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-</a:t>
            </a:r>
            <a:r>
              <a:rPr sz="2550" spc="-2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21.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27155" y="1772491"/>
            <a:ext cx="6930525" cy="675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01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2.5.2</a:t>
            </a:r>
            <a:r>
              <a:rPr sz="3600" spc="678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Complement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System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of</a:t>
            </a:r>
            <a:endParaRPr sz="32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9077" y="2419200"/>
            <a:ext cx="3288477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Binary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Numbers</a:t>
            </a:r>
            <a:endParaRPr sz="32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65797" y="3394560"/>
            <a:ext cx="4054950" cy="979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1’s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complement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and</a:t>
            </a:r>
            <a:endParaRPr sz="32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  <a:p>
            <a:pPr marL="416560" marR="0">
              <a:lnSpc>
                <a:spcPts val="3570"/>
              </a:lnSpc>
              <a:spcBef>
                <a:spcPts val="215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2’s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complement</a:t>
            </a:r>
            <a:endParaRPr sz="32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2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860683" y="793412"/>
            <a:ext cx="7124261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Finding</a:t>
            </a:r>
            <a:r>
              <a:rPr sz="2400" b="1" u="sng" spc="-17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1’s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Complement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Binary</a:t>
            </a:r>
            <a:r>
              <a:rPr sz="2400" b="1" u="sng" spc="10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Number</a:t>
            </a:r>
            <a:endParaRPr sz="2400" b="1" u="sng" dirty="0">
              <a:solidFill>
                <a:srgbClr val="C0504D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2429" y="1408852"/>
            <a:ext cx="7261939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u="sng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1’s</a:t>
            </a:r>
            <a:r>
              <a:rPr sz="2400" u="sng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u="sng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complement</a:t>
            </a:r>
            <a:r>
              <a:rPr sz="2400" u="sng" spc="-17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u="sng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(</a:t>
            </a:r>
            <a:r>
              <a:rPr sz="2400" u="sng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补码</a:t>
            </a:r>
            <a:r>
              <a:rPr sz="2400" u="sng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/</a:t>
            </a:r>
            <a:r>
              <a:rPr sz="2400" u="sng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反码</a:t>
            </a:r>
            <a:r>
              <a:rPr sz="2400" u="sng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)</a:t>
            </a:r>
            <a:r>
              <a:rPr sz="2400" u="sng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spc="-6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number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is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5329" y="1770802"/>
            <a:ext cx="5803666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found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by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changing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all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1s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to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0s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and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all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0s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to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1s.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806325" y="775581"/>
            <a:ext cx="5767209" cy="979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Definition</a:t>
            </a:r>
            <a:r>
              <a:rPr sz="3200" b="1" spc="-17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1’s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Complement</a:t>
            </a:r>
            <a:endParaRPr sz="32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  <a:p>
            <a:pPr marL="2061845" marR="0">
              <a:lnSpc>
                <a:spcPts val="3570"/>
              </a:lnSpc>
              <a:spcBef>
                <a:spcPts val="215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number</a:t>
            </a:r>
            <a:endParaRPr sz="32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4829" y="2118751"/>
            <a:ext cx="7731176" cy="119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2060"/>
                </a:solidFill>
                <a:latin typeface="BJJSOR+ComicSansMS,Bold" panose="030F0902030302020204"/>
                <a:cs typeface="BJJSOR+ComicSansMS,Bold" panose="030F0902030302020204"/>
              </a:rPr>
              <a:t>Positive</a:t>
            </a:r>
            <a:r>
              <a:rPr sz="2400" spc="420" dirty="0">
                <a:solidFill>
                  <a:srgbClr val="00206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002060"/>
                </a:solidFill>
                <a:latin typeface="BJJSOR+ComicSansMS,Bold" panose="030F0902030302020204"/>
                <a:cs typeface="BJJSOR+ComicSansMS,Bold" panose="030F0902030302020204"/>
              </a:rPr>
              <a:t>numbers</a:t>
            </a:r>
            <a:r>
              <a:rPr sz="2400" spc="435" dirty="0">
                <a:solidFill>
                  <a:srgbClr val="00206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1’s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complement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system</a:t>
            </a:r>
            <a:r>
              <a:rPr sz="2400" spc="-2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represented</a:t>
            </a:r>
            <a:r>
              <a:rPr sz="2400" spc="-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same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way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as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positive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sign-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magnitude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numbers.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4829" y="3289183"/>
            <a:ext cx="6119199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1F5F"/>
                </a:solidFill>
                <a:latin typeface="BJJSOR+ComicSansMS,Bold" panose="030F0902030302020204"/>
                <a:cs typeface="BJJSOR+ComicSansMS,Bold" panose="030F0902030302020204"/>
              </a:rPr>
              <a:t>Negative</a:t>
            </a:r>
            <a:r>
              <a:rPr sz="2400" spc="426" dirty="0">
                <a:solidFill>
                  <a:srgbClr val="001F5F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001F5F"/>
                </a:solidFill>
                <a:latin typeface="BJJSOR+ComicSansMS,Bold" panose="030F0902030302020204"/>
                <a:cs typeface="BJJSOR+ComicSansMS,Bold" panose="030F0902030302020204"/>
              </a:rPr>
              <a:t>numbers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,</a:t>
            </a:r>
            <a:r>
              <a:rPr sz="2400" spc="-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however,</a:t>
            </a:r>
            <a:r>
              <a:rPr sz="2400" spc="-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spc="-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spc="-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1’s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47729" y="3654943"/>
            <a:ext cx="759888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complements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corresponding</a:t>
            </a:r>
            <a:r>
              <a:rPr sz="2400" spc="28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positive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numbers.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70687" y="4238650"/>
            <a:ext cx="3551963" cy="705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115"/>
              </a:lnSpc>
              <a:spcBef>
                <a:spcPts val="0"/>
              </a:spcBef>
              <a:spcAft>
                <a:spcPts val="0"/>
              </a:spcAft>
            </a:pPr>
            <a:r>
              <a:rPr sz="2950" spc="-138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950" spc="-1559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</a:t>
            </a:r>
            <a:r>
              <a:rPr sz="2950" spc="-93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950" spc="-2006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</a:t>
            </a:r>
            <a:r>
              <a:rPr sz="2950" spc="-159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950" spc="-2840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</a:t>
            </a:r>
            <a:r>
              <a:rPr sz="29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11</a:t>
            </a:r>
            <a:r>
              <a:rPr sz="2950" spc="-2703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</a:t>
            </a:r>
            <a:r>
              <a:rPr sz="2950" spc="-37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950" spc="-2554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</a:t>
            </a:r>
            <a:r>
              <a:rPr sz="29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01</a:t>
            </a:r>
            <a:endParaRPr sz="29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87625" y="4238650"/>
            <a:ext cx="3551963" cy="705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115"/>
              </a:lnSpc>
              <a:spcBef>
                <a:spcPts val="0"/>
              </a:spcBef>
              <a:spcAft>
                <a:spcPts val="0"/>
              </a:spcAft>
            </a:pPr>
            <a:r>
              <a:rPr sz="2950" spc="-110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950" spc="-1840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</a:t>
            </a:r>
            <a:r>
              <a:rPr sz="2950" spc="-67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950" spc="-2264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</a:t>
            </a:r>
            <a:r>
              <a:rPr sz="29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</a:t>
            </a:r>
            <a:r>
              <a:rPr sz="2950" spc="-1614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</a:t>
            </a:r>
            <a:r>
              <a:rPr sz="29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01</a:t>
            </a:r>
            <a:r>
              <a:rPr sz="2950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</a:t>
            </a:r>
            <a:r>
              <a:rPr sz="2950" spc="-236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</a:t>
            </a:r>
            <a:r>
              <a:rPr sz="29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</a:t>
            </a:r>
            <a:endParaRPr sz="29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33049" y="4749464"/>
            <a:ext cx="509432" cy="3246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5"/>
              </a:lnSpc>
              <a:spcBef>
                <a:spcPts val="0"/>
              </a:spcBef>
              <a:spcAft>
                <a:spcPts val="0"/>
              </a:spcAft>
            </a:pPr>
            <a:r>
              <a:rPr sz="1750" spc="119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17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25</a:t>
            </a:r>
            <a:endParaRPr sz="17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5033" y="4749464"/>
            <a:ext cx="505628" cy="3246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5"/>
              </a:lnSpc>
              <a:spcBef>
                <a:spcPts val="0"/>
              </a:spcBef>
              <a:spcAft>
                <a:spcPts val="0"/>
              </a:spcAft>
            </a:pPr>
            <a:r>
              <a:rPr sz="1750" spc="88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17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25</a:t>
            </a:r>
            <a:endParaRPr sz="17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528195" y="871401"/>
            <a:ext cx="6143915" cy="862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Conversion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1’s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Complement</a:t>
            </a:r>
            <a:endParaRPr sz="2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  <a:p>
            <a:pPr marL="1413510" marR="0">
              <a:lnSpc>
                <a:spcPts val="3130"/>
              </a:lnSpc>
              <a:spcBef>
                <a:spcPts val="280"/>
              </a:spcBef>
              <a:spcAft>
                <a:spcPts val="0"/>
              </a:spcAft>
            </a:pP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number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decimal</a:t>
            </a:r>
            <a:endParaRPr sz="2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7981" y="2986187"/>
            <a:ext cx="7879742" cy="250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FF0000"/>
                </a:solidFill>
                <a:latin typeface="Wingdings" panose="05000000000000000000"/>
                <a:cs typeface="Wingdings" panose="05000000000000000000"/>
              </a:rPr>
              <a:t></a:t>
            </a:r>
            <a:r>
              <a:rPr sz="1750" spc="956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200" spc="-15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values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positive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determined</a:t>
            </a:r>
            <a:endParaRPr sz="22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summing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weights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all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positions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where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there</a:t>
            </a:r>
            <a:endParaRPr sz="22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1s.</a:t>
            </a:r>
            <a:endParaRPr sz="22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3070"/>
              </a:lnSpc>
              <a:spcBef>
                <a:spcPts val="100"/>
              </a:spcBef>
              <a:spcAft>
                <a:spcPts val="0"/>
              </a:spcAft>
            </a:pPr>
            <a:r>
              <a:rPr sz="1750" dirty="0">
                <a:solidFill>
                  <a:srgbClr val="FF0000"/>
                </a:solidFill>
                <a:latin typeface="Wingdings" panose="05000000000000000000"/>
                <a:cs typeface="Wingdings" panose="05000000000000000000"/>
              </a:rPr>
              <a:t></a:t>
            </a:r>
            <a:r>
              <a:rPr sz="1750" spc="956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200" spc="-15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values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negative</a:t>
            </a:r>
            <a:r>
              <a:rPr sz="2200" spc="-14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determined</a:t>
            </a:r>
            <a:endParaRPr sz="22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640"/>
              </a:lnSpc>
              <a:spcBef>
                <a:spcPts val="5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summing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weights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all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positions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where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there</a:t>
            </a:r>
            <a:endParaRPr sz="22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1s,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adding</a:t>
            </a:r>
            <a:r>
              <a:rPr sz="2200" spc="-1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result.</a:t>
            </a:r>
            <a:r>
              <a:rPr sz="22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weight</a:t>
            </a:r>
            <a:r>
              <a:rPr sz="2200" spc="-15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sign</a:t>
            </a:r>
            <a:endParaRPr sz="2200" dirty="0">
              <a:solidFill>
                <a:srgbClr val="FF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200" spc="-1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given</a:t>
            </a:r>
            <a:r>
              <a:rPr sz="2200" spc="-11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negative</a:t>
            </a:r>
            <a:r>
              <a:rPr sz="2200" spc="-1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value.</a:t>
            </a:r>
            <a:endParaRPr sz="2200" dirty="0">
              <a:solidFill>
                <a:srgbClr val="FF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06553" y="821301"/>
            <a:ext cx="4844670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1’s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Complement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System</a:t>
            </a:r>
            <a:endParaRPr sz="32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336177"/>
            <a:ext cx="7838671" cy="119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[Example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2-16]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Determine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value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signed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expressed</a:t>
            </a:r>
            <a:r>
              <a:rPr sz="2400" spc="-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1’s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complement: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(a)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00010111</a:t>
            </a:r>
            <a:r>
              <a:rPr sz="2400" spc="7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(b)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11101000.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5887" y="2585061"/>
            <a:ext cx="1310312" cy="395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15"/>
              </a:lnSpc>
              <a:spcBef>
                <a:spcPts val="0"/>
              </a:spcBef>
              <a:spcAft>
                <a:spcPts val="0"/>
              </a:spcAft>
            </a:pPr>
            <a:r>
              <a:rPr sz="2550" i="1" spc="-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Solution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.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25181" y="3069746"/>
            <a:ext cx="7584745" cy="880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15"/>
              </a:lnSpc>
              <a:spcBef>
                <a:spcPts val="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(a)</a:t>
            </a:r>
            <a:r>
              <a:rPr sz="2550" spc="-28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Summing</a:t>
            </a:r>
            <a:r>
              <a:rPr sz="2550" spc="-7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550" spc="-9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weights</a:t>
            </a:r>
            <a:r>
              <a:rPr sz="2550" spc="-2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in</a:t>
            </a:r>
            <a:r>
              <a:rPr sz="2550" spc="-7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all</a:t>
            </a:r>
            <a:r>
              <a:rPr sz="2550" spc="-16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550" spc="-12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magnitude</a:t>
            </a:r>
            <a:r>
              <a:rPr sz="2550" spc="-17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bit</a:t>
            </a:r>
            <a:r>
              <a:rPr sz="2550" spc="-2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positions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10795" marR="0">
              <a:lnSpc>
                <a:spcPts val="2815"/>
              </a:lnSpc>
              <a:spcBef>
                <a:spcPts val="100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where</a:t>
            </a:r>
            <a:r>
              <a:rPr sz="2550" spc="-13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there</a:t>
            </a:r>
            <a:r>
              <a:rPr sz="2550" spc="-19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are</a:t>
            </a:r>
            <a:r>
              <a:rPr sz="2550" spc="-44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1s,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0513" y="4041674"/>
            <a:ext cx="3018311" cy="459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15"/>
              </a:lnSpc>
              <a:spcBef>
                <a:spcPts val="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274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275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247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439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23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174625" marR="0">
              <a:lnSpc>
                <a:spcPts val="3315"/>
              </a:lnSpc>
              <a:spcBef>
                <a:spcPts val="0"/>
              </a:spcBef>
              <a:spcAft>
                <a:spcPts val="0"/>
              </a:spcAft>
            </a:pP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4</a:t>
            </a:r>
            <a:r>
              <a:rPr sz="2250" spc="297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spc="120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250" spc="297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spc="10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250" spc="183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spc="1178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250" spc="459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550" spc="-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endParaRPr sz="255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25181" y="4564774"/>
            <a:ext cx="7686109" cy="880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15"/>
              </a:lnSpc>
              <a:spcBef>
                <a:spcPts val="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(b)</a:t>
            </a:r>
            <a:r>
              <a:rPr sz="2550" spc="37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Summing</a:t>
            </a:r>
            <a:r>
              <a:rPr sz="2550" spc="-8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550" spc="-8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weights</a:t>
            </a:r>
            <a:r>
              <a:rPr sz="2550" spc="-20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in</a:t>
            </a:r>
            <a:r>
              <a:rPr sz="2550" spc="-7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all</a:t>
            </a:r>
            <a:r>
              <a:rPr sz="2550" spc="-15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550" spc="-12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magnitude</a:t>
            </a:r>
            <a:r>
              <a:rPr sz="2550" spc="-17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bit</a:t>
            </a:r>
            <a:r>
              <a:rPr sz="2550" spc="-2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positions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10795" marR="0">
              <a:lnSpc>
                <a:spcPts val="2815"/>
              </a:lnSpc>
              <a:spcBef>
                <a:spcPts val="100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where</a:t>
            </a:r>
            <a:r>
              <a:rPr sz="2550" spc="-13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there</a:t>
            </a:r>
            <a:r>
              <a:rPr sz="2550" spc="-19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are</a:t>
            </a:r>
            <a:r>
              <a:rPr sz="2550" spc="-44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1s,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0556" y="5537478"/>
            <a:ext cx="2943444" cy="459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15"/>
              </a:lnSpc>
              <a:spcBef>
                <a:spcPts val="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2550" spc="113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7</a:t>
            </a:r>
            <a:r>
              <a:rPr sz="2250" spc="326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spc="117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6</a:t>
            </a:r>
            <a:r>
              <a:rPr sz="2250" spc="302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spc="115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5</a:t>
            </a:r>
            <a:r>
              <a:rPr sz="2250" spc="278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spc="115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3</a:t>
            </a:r>
            <a:r>
              <a:rPr sz="2250" spc="411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550" spc="-4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endParaRPr sz="255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25214" y="5575925"/>
            <a:ext cx="3271253" cy="1389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7490" marR="0">
              <a:lnSpc>
                <a:spcPts val="2815"/>
              </a:lnSpc>
              <a:spcBef>
                <a:spcPts val="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274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272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268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433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24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5080" marR="0">
              <a:lnSpc>
                <a:spcPts val="2815"/>
              </a:lnSpc>
              <a:spcBef>
                <a:spcPts val="100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Adding</a:t>
            </a:r>
            <a:r>
              <a:rPr sz="2550" spc="-40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550" spc="-32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to</a:t>
            </a:r>
            <a:r>
              <a:rPr sz="2550" spc="-7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550" spc="-12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result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0" marR="0">
              <a:lnSpc>
                <a:spcPts val="3315"/>
              </a:lnSpc>
              <a:spcBef>
                <a:spcPts val="695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-</a:t>
            </a:r>
            <a:r>
              <a:rPr sz="2550" spc="-2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24</a:t>
            </a:r>
            <a:r>
              <a:rPr sz="2550" spc="-24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spc="189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spc="35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550" spc="-9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-23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267335" y="854829"/>
            <a:ext cx="4844670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1’s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Complement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System</a:t>
            </a:r>
            <a:endParaRPr sz="32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336177"/>
            <a:ext cx="1306776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Why?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58356" y="1865126"/>
            <a:ext cx="3041876" cy="606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45"/>
              </a:lnSpc>
              <a:spcBef>
                <a:spcPts val="0"/>
              </a:spcBef>
              <a:spcAft>
                <a:spcPts val="0"/>
              </a:spcAft>
            </a:pPr>
            <a:r>
              <a:rPr sz="2500" spc="-117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500" spc="-1318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</a:t>
            </a:r>
            <a:r>
              <a:rPr sz="2500" spc="-79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500" spc="-1695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</a:t>
            </a:r>
            <a:r>
              <a:rPr sz="2500" spc="-13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500" spc="-2407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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11</a:t>
            </a:r>
            <a:r>
              <a:rPr sz="2500" spc="-2292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</a:t>
            </a:r>
            <a:r>
              <a:rPr sz="2500" spc="-31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r>
              <a:rPr sz="2500" spc="-2163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</a:t>
            </a:r>
            <a:r>
              <a:rPr sz="2500" spc="1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01</a:t>
            </a:r>
            <a:endParaRPr sz="2500" spc="1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38679" y="1865126"/>
            <a:ext cx="3041876" cy="606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45"/>
              </a:lnSpc>
              <a:spcBef>
                <a:spcPts val="0"/>
              </a:spcBef>
              <a:spcAft>
                <a:spcPts val="0"/>
              </a:spcAft>
            </a:pPr>
            <a:r>
              <a:rPr sz="2500" spc="-93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500" spc="-1552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</a:t>
            </a:r>
            <a:r>
              <a:rPr sz="2500" spc="-57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500" spc="-1918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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</a:t>
            </a:r>
            <a:r>
              <a:rPr sz="2500" spc="-1363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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01</a:t>
            </a:r>
            <a:r>
              <a:rPr sz="2500" spc="-686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</a:t>
            </a:r>
            <a:r>
              <a:rPr sz="2500" spc="1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</a:t>
            </a:r>
            <a:endParaRPr sz="2500" spc="1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36897" y="2300190"/>
            <a:ext cx="455871" cy="281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5"/>
              </a:lnSpc>
              <a:spcBef>
                <a:spcPts val="0"/>
              </a:spcBef>
              <a:spcAft>
                <a:spcPts val="0"/>
              </a:spcAft>
            </a:pPr>
            <a:r>
              <a:rPr sz="1450" spc="122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1450" spc="1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25</a:t>
            </a:r>
            <a:endParaRPr sz="1450" spc="1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6171" y="2300190"/>
            <a:ext cx="452825" cy="281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15"/>
              </a:lnSpc>
              <a:spcBef>
                <a:spcPts val="0"/>
              </a:spcBef>
              <a:spcAft>
                <a:spcPts val="0"/>
              </a:spcAft>
            </a:pPr>
            <a:r>
              <a:rPr sz="1450" spc="98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1450" spc="1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25</a:t>
            </a:r>
            <a:endParaRPr sz="1450" spc="1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56116" y="2723069"/>
            <a:ext cx="2047009" cy="5343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05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1110</a:t>
            </a:r>
            <a:r>
              <a:rPr sz="3000" spc="-13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3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0110</a:t>
            </a:r>
            <a:r>
              <a:rPr sz="3000" spc="-8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30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endParaRPr sz="300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41657" y="3294564"/>
            <a:ext cx="4565589" cy="5343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05"/>
              </a:lnSpc>
              <a:spcBef>
                <a:spcPts val="0"/>
              </a:spcBef>
              <a:spcAft>
                <a:spcPts val="0"/>
              </a:spcAft>
            </a:pPr>
            <a:r>
              <a:rPr sz="3000" spc="369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3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3000" spc="-37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3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3000" spc="-13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3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3000" spc="-27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3000" spc="183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3000" spc="23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30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3000" spc="-29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1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00011001</a:t>
            </a:r>
            <a:endParaRPr sz="3000" spc="14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55534" y="4592442"/>
            <a:ext cx="6991794" cy="946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25"/>
              </a:lnSpc>
              <a:spcBef>
                <a:spcPts val="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2550" spc="-24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50" spc="1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00011001</a:t>
            </a:r>
            <a:r>
              <a:rPr sz="2550" spc="315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1110</a:t>
            </a:r>
            <a:r>
              <a:rPr sz="2550" spc="-119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0110</a:t>
            </a:r>
            <a:r>
              <a:rPr sz="2550" spc="-24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spc="159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550" spc="-32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2550" spc="-119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2550" spc="-23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spc="195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1579880" marR="0">
              <a:lnSpc>
                <a:spcPts val="3325"/>
              </a:lnSpc>
              <a:spcBef>
                <a:spcPts val="550"/>
              </a:spcBef>
              <a:spcAft>
                <a:spcPts val="0"/>
              </a:spcAft>
            </a:pPr>
            <a:r>
              <a:rPr sz="2550" spc="315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1000</a:t>
            </a:r>
            <a:r>
              <a:rPr sz="2550" spc="-119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2550" spc="-24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spc="195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110</a:t>
            </a:r>
            <a:r>
              <a:rPr sz="2550" spc="-12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0110</a:t>
            </a:r>
            <a:r>
              <a:rPr sz="2550" spc="-23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spc="152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550" spc="-31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2550" spc="-119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2550" spc="-23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spc="188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5199" y="6092028"/>
            <a:ext cx="3632188" cy="4603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0530" marR="0">
              <a:lnSpc>
                <a:spcPts val="2825"/>
              </a:lnSpc>
              <a:spcBef>
                <a:spcPts val="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276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273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270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276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221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0" marR="0">
              <a:lnSpc>
                <a:spcPts val="3325"/>
              </a:lnSpc>
              <a:spcBef>
                <a:spcPts val="5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550" spc="-4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2550" spc="71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7</a:t>
            </a:r>
            <a:r>
              <a:rPr sz="2250" spc="326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spc="118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6</a:t>
            </a:r>
            <a:r>
              <a:rPr sz="2250" spc="302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spc="116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5</a:t>
            </a:r>
            <a:r>
              <a:rPr sz="2250" spc="284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spc="120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250" spc="302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spc="104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250" spc="188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endParaRPr sz="255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2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860683" y="663566"/>
            <a:ext cx="7143536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2’s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Complement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Binary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Number</a:t>
            </a:r>
            <a:endParaRPr sz="32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2429" y="1831762"/>
            <a:ext cx="7685654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u="sng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2’s</a:t>
            </a:r>
            <a:r>
              <a:rPr sz="2400" u="sng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u="sng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complement</a:t>
            </a:r>
            <a:r>
              <a:rPr sz="2400" u="sng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（补）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number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is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found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by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5329" y="2193712"/>
            <a:ext cx="5489631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adding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to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LSB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1’s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complement.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92659" y="1109337"/>
            <a:ext cx="4844670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2’s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Complement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System</a:t>
            </a:r>
            <a:endParaRPr sz="32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3315" y="2190379"/>
            <a:ext cx="7779943" cy="119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1F5F"/>
                </a:solidFill>
                <a:latin typeface="BJJSOR+ComicSansMS,Bold" panose="030F0902030302020204"/>
                <a:cs typeface="BJJSOR+ComicSansMS,Bold" panose="030F0902030302020204"/>
              </a:rPr>
              <a:t>Positive</a:t>
            </a:r>
            <a:r>
              <a:rPr sz="2400" spc="420" dirty="0">
                <a:solidFill>
                  <a:srgbClr val="001F5F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001F5F"/>
                </a:solidFill>
                <a:latin typeface="BJJSOR+ComicSansMS,Bold" panose="030F0902030302020204"/>
                <a:cs typeface="BJJSOR+ComicSansMS,Bold" panose="030F0902030302020204"/>
              </a:rPr>
              <a:t>numbers</a:t>
            </a:r>
            <a:r>
              <a:rPr sz="2400" spc="435" dirty="0">
                <a:solidFill>
                  <a:srgbClr val="001F5F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2’s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complement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system</a:t>
            </a:r>
            <a:r>
              <a:rPr sz="2400" spc="-2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represented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same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way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as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sign-magnitude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1’s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complement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systems.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3315" y="3360811"/>
            <a:ext cx="767518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1F5F"/>
                </a:solidFill>
                <a:latin typeface="BJJSOR+ComicSansMS,Bold" panose="030F0902030302020204"/>
                <a:cs typeface="BJJSOR+ComicSansMS,Bold" panose="030F0902030302020204"/>
              </a:rPr>
              <a:t>Negative</a:t>
            </a:r>
            <a:r>
              <a:rPr sz="2400" spc="426" dirty="0">
                <a:solidFill>
                  <a:srgbClr val="001F5F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001F5F"/>
                </a:solidFill>
                <a:latin typeface="BJJSOR+ComicSansMS,Bold" panose="030F0902030302020204"/>
                <a:cs typeface="BJJSOR+ComicSansMS,Bold" panose="030F0902030302020204"/>
              </a:rPr>
              <a:t>numbers</a:t>
            </a:r>
            <a:r>
              <a:rPr sz="2400" spc="434" dirty="0">
                <a:solidFill>
                  <a:srgbClr val="001F5F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2’s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complements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26215" y="3726570"/>
            <a:ext cx="4701547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corresponding</a:t>
            </a:r>
            <a:r>
              <a:rPr sz="2400" spc="28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positive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numbers.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8143" y="4327127"/>
            <a:ext cx="2248067" cy="6182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70"/>
              </a:lnSpc>
              <a:spcBef>
                <a:spcPts val="0"/>
              </a:spcBef>
              <a:spcAft>
                <a:spcPts val="0"/>
              </a:spcAft>
            </a:pPr>
            <a:r>
              <a:rPr sz="4150" spc="-1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00011001</a:t>
            </a:r>
            <a:endParaRPr sz="4150" spc="-11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11119" y="4327127"/>
            <a:ext cx="2248067" cy="6182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70"/>
              </a:lnSpc>
              <a:spcBef>
                <a:spcPts val="0"/>
              </a:spcBef>
              <a:spcAft>
                <a:spcPts val="0"/>
              </a:spcAft>
            </a:pPr>
            <a:r>
              <a:rPr sz="4150" spc="-1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11100111</a:t>
            </a:r>
            <a:endParaRPr sz="4150" spc="-11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4891" y="4352464"/>
            <a:ext cx="2781939" cy="9408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05"/>
              </a:lnSpc>
              <a:spcBef>
                <a:spcPts val="0"/>
              </a:spcBef>
              <a:spcAft>
                <a:spcPts val="0"/>
              </a:spcAft>
            </a:pPr>
            <a:r>
              <a:rPr sz="4150" spc="-822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</a:t>
            </a:r>
            <a:r>
              <a:rPr sz="4150" spc="-12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150" spc="-1138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</a:t>
            </a:r>
            <a:endParaRPr sz="4150" spc="-1138" dirty="0">
              <a:solidFill>
                <a:srgbClr val="000000"/>
              </a:solidFill>
              <a:latin typeface="ALOGHA+MTExtra" panose="05050102010205020202"/>
              <a:cs typeface="ALOGHA+MTExtra" panose="0505010201020502020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76695" y="4352464"/>
            <a:ext cx="2781939" cy="9408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05"/>
              </a:lnSpc>
              <a:spcBef>
                <a:spcPts val="0"/>
              </a:spcBef>
              <a:spcAft>
                <a:spcPts val="0"/>
              </a:spcAft>
            </a:pPr>
            <a:r>
              <a:rPr sz="4150" spc="-886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</a:t>
            </a:r>
            <a:r>
              <a:rPr sz="4150" spc="-125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150" spc="-1234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</a:t>
            </a:r>
            <a:endParaRPr sz="4150" spc="-1234" dirty="0">
              <a:solidFill>
                <a:srgbClr val="000000"/>
              </a:solidFill>
              <a:latin typeface="ALOGHA+MTExtra" panose="05050102010205020202"/>
              <a:cs typeface="ALOGHA+MTExtra" panose="0505010201020502020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32234" y="5037775"/>
            <a:ext cx="648527" cy="436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5"/>
              </a:lnSpc>
              <a:spcBef>
                <a:spcPts val="0"/>
              </a:spcBef>
              <a:spcAft>
                <a:spcPts val="0"/>
              </a:spcAft>
            </a:pPr>
            <a:r>
              <a:rPr sz="2400" spc="182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25</a:t>
            </a:r>
            <a:endParaRPr sz="24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21887" y="5037775"/>
            <a:ext cx="643942" cy="436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5"/>
              </a:lnSpc>
              <a:spcBef>
                <a:spcPts val="0"/>
              </a:spcBef>
              <a:spcAft>
                <a:spcPts val="0"/>
              </a:spcAft>
            </a:pPr>
            <a:r>
              <a:rPr sz="2400" spc="146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2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25</a:t>
            </a:r>
            <a:endParaRPr sz="24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528195" y="1087047"/>
            <a:ext cx="6143915" cy="86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Conversion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2’s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Complement</a:t>
            </a:r>
            <a:endParaRPr sz="2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  <a:p>
            <a:pPr marL="1413510" marR="0">
              <a:lnSpc>
                <a:spcPts val="3130"/>
              </a:lnSpc>
              <a:spcBef>
                <a:spcPts val="280"/>
              </a:spcBef>
              <a:spcAft>
                <a:spcPts val="0"/>
              </a:spcAft>
            </a:pP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number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decimal</a:t>
            </a:r>
            <a:endParaRPr sz="2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66195" y="3270895"/>
            <a:ext cx="7717277" cy="119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•</a:t>
            </a:r>
            <a:r>
              <a:rPr sz="2400" spc="105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values</a:t>
            </a:r>
            <a:r>
              <a:rPr sz="2400" spc="-2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determined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summing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weights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all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positions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where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there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1s.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weight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sign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given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negative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value.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22961" y="892929"/>
            <a:ext cx="4844670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2’s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Complement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System</a:t>
            </a:r>
            <a:endParaRPr sz="32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336177"/>
            <a:ext cx="7888750" cy="119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[Example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2-17]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Determine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value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signed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expressed</a:t>
            </a:r>
            <a:r>
              <a:rPr sz="2400" spc="-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2’s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complement: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(a)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01010110</a:t>
            </a:r>
            <a:r>
              <a:rPr sz="2400" spc="7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(b)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10101010.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5897" y="2764968"/>
            <a:ext cx="1310088" cy="395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15"/>
              </a:lnSpc>
              <a:spcBef>
                <a:spcPts val="0"/>
              </a:spcBef>
              <a:spcAft>
                <a:spcPts val="0"/>
              </a:spcAft>
            </a:pPr>
            <a:r>
              <a:rPr sz="2550" i="1" spc="-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Solution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.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25175" y="3249592"/>
            <a:ext cx="7584509" cy="880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15"/>
              </a:lnSpc>
              <a:spcBef>
                <a:spcPts val="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(a)</a:t>
            </a:r>
            <a:r>
              <a:rPr sz="2550" spc="-28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Summing</a:t>
            </a:r>
            <a:r>
              <a:rPr sz="2550" spc="-7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550" spc="-9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weights</a:t>
            </a:r>
            <a:r>
              <a:rPr sz="2550" spc="-199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in</a:t>
            </a:r>
            <a:r>
              <a:rPr sz="2550" spc="-7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all</a:t>
            </a:r>
            <a:r>
              <a:rPr sz="2550" spc="-16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550" spc="-12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magnitude</a:t>
            </a:r>
            <a:r>
              <a:rPr sz="2550" spc="-169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bit</a:t>
            </a:r>
            <a:r>
              <a:rPr sz="2550" spc="-2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positions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10795" marR="0">
              <a:lnSpc>
                <a:spcPts val="2815"/>
              </a:lnSpc>
              <a:spcBef>
                <a:spcPts val="100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where</a:t>
            </a:r>
            <a:r>
              <a:rPr sz="2550" spc="-13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there</a:t>
            </a:r>
            <a:r>
              <a:rPr sz="2550" spc="-19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are</a:t>
            </a:r>
            <a:r>
              <a:rPr sz="2550" spc="-44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1s,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0506" y="4221591"/>
            <a:ext cx="3018277" cy="4590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15"/>
              </a:lnSpc>
              <a:spcBef>
                <a:spcPts val="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272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27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275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414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86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170815" marR="0">
              <a:lnSpc>
                <a:spcPts val="3315"/>
              </a:lnSpc>
              <a:spcBef>
                <a:spcPts val="0"/>
              </a:spcBef>
              <a:spcAft>
                <a:spcPts val="0"/>
              </a:spcAft>
            </a:pP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6</a:t>
            </a:r>
            <a:r>
              <a:rPr sz="2250" spc="302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spc="120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4</a:t>
            </a:r>
            <a:r>
              <a:rPr sz="2250" spc="297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spc="120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250" spc="297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spc="10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250" spc="345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550" spc="-5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endParaRPr sz="255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25208" y="4744623"/>
            <a:ext cx="7685854" cy="880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15"/>
              </a:lnSpc>
              <a:spcBef>
                <a:spcPts val="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(b)</a:t>
            </a:r>
            <a:r>
              <a:rPr sz="2550" spc="37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Summing</a:t>
            </a:r>
            <a:r>
              <a:rPr sz="2550" spc="-8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550" spc="-8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weights</a:t>
            </a:r>
            <a:r>
              <a:rPr sz="2550" spc="-20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in</a:t>
            </a:r>
            <a:r>
              <a:rPr sz="2550" spc="-7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all</a:t>
            </a:r>
            <a:r>
              <a:rPr sz="2550" spc="-15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550" spc="-12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magnitude</a:t>
            </a:r>
            <a:r>
              <a:rPr sz="2550" spc="-169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bit</a:t>
            </a:r>
            <a:r>
              <a:rPr sz="2550" spc="-2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positions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10795" marR="0">
              <a:lnSpc>
                <a:spcPts val="2815"/>
              </a:lnSpc>
              <a:spcBef>
                <a:spcPts val="100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where</a:t>
            </a:r>
            <a:r>
              <a:rPr sz="2550" spc="-13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there</a:t>
            </a:r>
            <a:r>
              <a:rPr sz="2550" spc="-19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are</a:t>
            </a:r>
            <a:r>
              <a:rPr sz="2550" spc="-44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1s,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0567" y="5716622"/>
            <a:ext cx="3233893" cy="459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410" marR="0">
              <a:lnSpc>
                <a:spcPts val="2815"/>
              </a:lnSpc>
              <a:spcBef>
                <a:spcPts val="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27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268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265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50" spc="414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86</a:t>
            </a:r>
            <a:endParaRPr sz="25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0" marR="0">
              <a:lnSpc>
                <a:spcPts val="3315"/>
              </a:lnSpc>
              <a:spcBef>
                <a:spcPts val="0"/>
              </a:spcBef>
              <a:spcAft>
                <a:spcPts val="0"/>
              </a:spcAft>
            </a:pP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2550" spc="113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7</a:t>
            </a:r>
            <a:r>
              <a:rPr sz="2250" spc="326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spc="115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5</a:t>
            </a:r>
            <a:r>
              <a:rPr sz="2250" spc="278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spc="115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3</a:t>
            </a:r>
            <a:r>
              <a:rPr sz="2250" spc="254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50" spc="103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250" spc="35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550" spc="-5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endParaRPr sz="255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95102" y="1288186"/>
            <a:ext cx="8025131" cy="437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45"/>
              </a:lnSpc>
              <a:spcBef>
                <a:spcPts val="0"/>
              </a:spcBef>
              <a:spcAft>
                <a:spcPts val="0"/>
              </a:spcAft>
            </a:pPr>
            <a:r>
              <a:rPr sz="2850" spc="1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850" spc="-4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spc="-4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2's</a:t>
            </a:r>
            <a:r>
              <a:rPr sz="2850" spc="4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spc="-2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complement</a:t>
            </a:r>
            <a:r>
              <a:rPr sz="2850" spc="2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spc="-1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850" spc="-1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spc="-2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an</a:t>
            </a:r>
            <a:r>
              <a:rPr sz="2850" spc="2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i="1" spc="3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50" spc="-2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-bit</a:t>
            </a:r>
            <a:r>
              <a:rPr sz="2850" spc="1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spc="-1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number</a:t>
            </a: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50" i="1" spc="13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is</a:t>
            </a: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spc="-1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defined</a:t>
            </a: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spc="1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by</a:t>
            </a:r>
            <a:endParaRPr sz="2850" spc="18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2692" y="1814503"/>
            <a:ext cx="851632" cy="5080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8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50" i="1" spc="-6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≥</a:t>
            </a:r>
            <a:r>
              <a:rPr sz="2850" spc="-9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endParaRPr sz="28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19213" y="1844378"/>
            <a:ext cx="657115" cy="479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80"/>
              </a:lnSpc>
              <a:spcBef>
                <a:spcPts val="0"/>
              </a:spcBef>
              <a:spcAft>
                <a:spcPts val="0"/>
              </a:spcAft>
            </a:pPr>
            <a:r>
              <a:rPr sz="2850" dirty="0">
                <a:solidFill>
                  <a:srgbClr val="000000"/>
                </a:solidFill>
                <a:latin typeface="GICSIA+Symbol" panose="05050102010706020507"/>
                <a:cs typeface="GICSIA+Symbol" panose="05050102010706020507"/>
              </a:rPr>
              <a:t></a:t>
            </a:r>
            <a:r>
              <a:rPr sz="2850" spc="-14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i="1" spc="18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,</a:t>
            </a:r>
            <a:endParaRPr sz="28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3018" y="2078921"/>
            <a:ext cx="1114663" cy="5404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850" spc="20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[</a:t>
            </a:r>
            <a:r>
              <a:rPr sz="2850" i="1" spc="6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50" spc="-4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]</a:t>
            </a:r>
            <a:r>
              <a:rPr sz="1650" spc="9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16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1650" i="1" spc="56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endParaRPr sz="285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19213" y="2143061"/>
            <a:ext cx="330629" cy="479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80"/>
              </a:lnSpc>
              <a:spcBef>
                <a:spcPts val="0"/>
              </a:spcBef>
              <a:spcAft>
                <a:spcPts val="0"/>
              </a:spcAft>
            </a:pPr>
            <a:r>
              <a:rPr sz="2850" dirty="0">
                <a:solidFill>
                  <a:srgbClr val="000000"/>
                </a:solidFill>
                <a:latin typeface="GICSIA+Symbol" panose="05050102010706020507"/>
                <a:cs typeface="GICSIA+Symbol" panose="05050102010706020507"/>
              </a:rPr>
              <a:t></a:t>
            </a:r>
            <a:endParaRPr sz="2850" dirty="0">
              <a:solidFill>
                <a:srgbClr val="000000"/>
              </a:solidFill>
              <a:latin typeface="GICSIA+Symbol" panose="05050102010706020507"/>
              <a:cs typeface="GICSIA+Symbol" panose="05050102010706020507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95653" y="2372478"/>
            <a:ext cx="256660" cy="2690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endParaRPr sz="165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00601" y="2355531"/>
            <a:ext cx="350416" cy="5080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8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endParaRPr sz="285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32936" y="2355531"/>
            <a:ext cx="350416" cy="5080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8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&lt;</a:t>
            </a:r>
            <a:endParaRPr sz="285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06706" y="2398411"/>
            <a:ext cx="2135446" cy="4375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45"/>
              </a:lnSpc>
              <a:spcBef>
                <a:spcPts val="0"/>
              </a:spcBef>
              <a:spcAft>
                <a:spcPts val="0"/>
              </a:spcAft>
            </a:pP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850" spc="317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i="1" spc="2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,</a:t>
            </a:r>
            <a:r>
              <a:rPr sz="2850" spc="2079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850" i="1" spc="210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endParaRPr sz="28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19213" y="2441781"/>
            <a:ext cx="330629" cy="479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80"/>
              </a:lnSpc>
              <a:spcBef>
                <a:spcPts val="0"/>
              </a:spcBef>
              <a:spcAft>
                <a:spcPts val="0"/>
              </a:spcAft>
            </a:pPr>
            <a:r>
              <a:rPr sz="2850" dirty="0">
                <a:solidFill>
                  <a:srgbClr val="000000"/>
                </a:solidFill>
                <a:latin typeface="GICSIA+Symbol" panose="05050102010706020507"/>
                <a:cs typeface="GICSIA+Symbol" panose="05050102010706020507"/>
              </a:rPr>
              <a:t></a:t>
            </a:r>
            <a:endParaRPr sz="2850" dirty="0">
              <a:solidFill>
                <a:srgbClr val="000000"/>
              </a:solidFill>
              <a:latin typeface="GICSIA+Symbol" panose="05050102010706020507"/>
              <a:cs typeface="GICSIA+Symbol" panose="05050102010706020507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01224" y="2924728"/>
            <a:ext cx="2797465" cy="5080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850" spc="-2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For</a:t>
            </a: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50" i="1" spc="-5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850" spc="-18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9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8,</a:t>
            </a:r>
            <a:r>
              <a:rPr sz="2850" spc="7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spc="-1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we</a:t>
            </a:r>
            <a:r>
              <a:rPr sz="2850" spc="-1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spc="-2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have</a:t>
            </a:r>
            <a:endParaRPr sz="2850" spc="-27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61539" y="3465755"/>
            <a:ext cx="4043767" cy="22642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 marR="0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[0000</a:t>
            </a:r>
            <a:r>
              <a:rPr sz="2850" spc="-14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spc="-1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0000]</a:t>
            </a:r>
            <a:r>
              <a:rPr sz="2500" spc="93" baseline="-26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00" i="1" baseline="-26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500" i="1" spc="352" baseline="-26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850" spc="-10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2850" spc="-13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endParaRPr sz="28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11430" marR="0">
              <a:lnSpc>
                <a:spcPts val="3700"/>
              </a:lnSpc>
              <a:spcBef>
                <a:spcPts val="395"/>
              </a:spcBef>
              <a:spcAft>
                <a:spcPts val="0"/>
              </a:spcAft>
            </a:pP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[0000</a:t>
            </a:r>
            <a:r>
              <a:rPr sz="2850" spc="-14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spc="-4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0001]</a:t>
            </a:r>
            <a:r>
              <a:rPr sz="2500" spc="93" baseline="-26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00" i="1" baseline="-26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500" i="1" spc="352" baseline="-26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850" spc="-10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2850" spc="-13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0001</a:t>
            </a:r>
            <a:endParaRPr sz="28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11430" marR="0">
              <a:lnSpc>
                <a:spcPts val="3700"/>
              </a:lnSpc>
              <a:spcBef>
                <a:spcPts val="390"/>
              </a:spcBef>
              <a:spcAft>
                <a:spcPts val="0"/>
              </a:spcAft>
            </a:pP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[0000</a:t>
            </a:r>
            <a:r>
              <a:rPr sz="2850" spc="-14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spc="-1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0010]</a:t>
            </a:r>
            <a:r>
              <a:rPr sz="2500" spc="93" baseline="-26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00" i="1" baseline="-26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500" i="1" spc="352" baseline="-26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850" spc="-10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2850" spc="-13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0010</a:t>
            </a:r>
            <a:endParaRPr sz="28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0" marR="0">
              <a:lnSpc>
                <a:spcPts val="4350"/>
              </a:lnSpc>
              <a:spcBef>
                <a:spcPts val="0"/>
              </a:spcBef>
              <a:spcAft>
                <a:spcPts val="0"/>
              </a:spcAft>
            </a:pPr>
            <a:r>
              <a:rPr sz="2850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</a:t>
            </a:r>
            <a:endParaRPr sz="2850" dirty="0">
              <a:solidFill>
                <a:srgbClr val="000000"/>
              </a:solidFill>
              <a:latin typeface="ALOGHA+MTExtra" panose="05050102010205020202"/>
              <a:cs typeface="ALOGHA+MTExtra" panose="0505010201020502020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73018" y="5663373"/>
            <a:ext cx="3880693" cy="540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[0111</a:t>
            </a:r>
            <a:r>
              <a:rPr sz="2850" spc="-62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spc="-49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1111]</a:t>
            </a:r>
            <a:r>
              <a:rPr sz="2500" spc="93" baseline="-26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00" i="1" baseline="-26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500" i="1" spc="352" baseline="-26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850" spc="-10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01111111</a:t>
            </a:r>
            <a:endParaRPr sz="28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50727" y="1064955"/>
            <a:ext cx="612620" cy="3910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0"/>
              </a:lnSpc>
              <a:spcBef>
                <a:spcPts val="0"/>
              </a:spcBef>
              <a:spcAft>
                <a:spcPts val="0"/>
              </a:spcAft>
            </a:pP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and</a:t>
            </a:r>
            <a:endParaRPr sz="25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0901" y="1504834"/>
            <a:ext cx="5515873" cy="18981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70"/>
              </a:lnSpc>
              <a:spcBef>
                <a:spcPts val="0"/>
              </a:spcBef>
              <a:spcAft>
                <a:spcPts val="0"/>
              </a:spcAft>
            </a:pPr>
            <a:r>
              <a:rPr sz="2500" spc="6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[</a:t>
            </a:r>
            <a:r>
              <a:rPr sz="25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2500" spc="-11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spc="-3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0001]</a:t>
            </a:r>
            <a:r>
              <a:rPr sz="2200" spc="85" baseline="-26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200" i="1" baseline="-26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200" i="1" spc="318" baseline="-26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3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500" spc="-30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2500" spc="-11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2500" spc="-229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2500" spc="-23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2500" spc="-11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0001</a:t>
            </a:r>
            <a:endParaRPr sz="25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24130" marR="0">
              <a:lnSpc>
                <a:spcPts val="3270"/>
              </a:lnSpc>
              <a:spcBef>
                <a:spcPts val="350"/>
              </a:spcBef>
              <a:spcAft>
                <a:spcPts val="0"/>
              </a:spcAft>
            </a:pPr>
            <a:r>
              <a:rPr sz="25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500" spc="-7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(1</a:t>
            </a:r>
            <a:r>
              <a:rPr sz="2500" spc="192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1111</a:t>
            </a:r>
            <a:r>
              <a:rPr sz="2500" spc="-54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spc="-3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1111)</a:t>
            </a:r>
            <a:r>
              <a:rPr sz="2500" spc="-17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2500" spc="-23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2500" spc="-11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0001</a:t>
            </a:r>
            <a:endParaRPr sz="25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24130" marR="0">
              <a:lnSpc>
                <a:spcPts val="3270"/>
              </a:lnSpc>
              <a:spcBef>
                <a:spcPts val="490"/>
              </a:spcBef>
              <a:spcAft>
                <a:spcPts val="0"/>
              </a:spcAft>
            </a:pPr>
            <a:r>
              <a:rPr sz="25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500" spc="-7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(11111111</a:t>
            </a:r>
            <a:r>
              <a:rPr sz="25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2500" spc="-23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2500" spc="-11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spc="-3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0001)</a:t>
            </a:r>
            <a:r>
              <a:rPr sz="2500" spc="-16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spc="192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endParaRPr sz="25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24130" marR="0">
              <a:lnSpc>
                <a:spcPts val="3270"/>
              </a:lnSpc>
              <a:spcBef>
                <a:spcPts val="445"/>
              </a:spcBef>
              <a:spcAft>
                <a:spcPts val="0"/>
              </a:spcAft>
            </a:pPr>
            <a:r>
              <a:rPr sz="2500" spc="313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500" spc="1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11111110</a:t>
            </a:r>
            <a:r>
              <a:rPr sz="2500" spc="-24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spc="188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endParaRPr sz="25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5297" y="3427350"/>
            <a:ext cx="1650844" cy="45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70"/>
              </a:lnSpc>
              <a:spcBef>
                <a:spcPts val="0"/>
              </a:spcBef>
              <a:spcAft>
                <a:spcPts val="0"/>
              </a:spcAft>
            </a:pPr>
            <a:r>
              <a:rPr sz="2500" spc="313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500" spc="1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11111111</a:t>
            </a:r>
            <a:endParaRPr sz="2500" spc="15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0232" y="3905883"/>
            <a:ext cx="5551433" cy="29416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5" marR="0">
              <a:lnSpc>
                <a:spcPts val="3270"/>
              </a:lnSpc>
              <a:spcBef>
                <a:spcPts val="0"/>
              </a:spcBef>
              <a:spcAft>
                <a:spcPts val="0"/>
              </a:spcAft>
            </a:pPr>
            <a:r>
              <a:rPr sz="2500" spc="6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[</a:t>
            </a:r>
            <a:r>
              <a:rPr sz="25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2500" spc="-11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0010]</a:t>
            </a:r>
            <a:r>
              <a:rPr sz="2200" spc="85" baseline="-26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200" i="1" baseline="-26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200" i="1" spc="312" baseline="-26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314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500" spc="-309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2500" spc="-11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2500" spc="-23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2500" spc="-23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2500" spc="-11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0010</a:t>
            </a:r>
            <a:endParaRPr sz="25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34925" marR="0">
              <a:lnSpc>
                <a:spcPts val="3270"/>
              </a:lnSpc>
              <a:spcBef>
                <a:spcPts val="345"/>
              </a:spcBef>
              <a:spcAft>
                <a:spcPts val="0"/>
              </a:spcAft>
            </a:pPr>
            <a:r>
              <a:rPr sz="25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500" spc="-7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(1</a:t>
            </a:r>
            <a:r>
              <a:rPr sz="2500" spc="192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1111</a:t>
            </a:r>
            <a:r>
              <a:rPr sz="2500" spc="-54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spc="-3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1111)</a:t>
            </a:r>
            <a:r>
              <a:rPr sz="2500" spc="-17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2500" spc="-23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2500" spc="-11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0010</a:t>
            </a:r>
            <a:endParaRPr sz="25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34925" marR="0">
              <a:lnSpc>
                <a:spcPts val="3270"/>
              </a:lnSpc>
              <a:spcBef>
                <a:spcPts val="495"/>
              </a:spcBef>
              <a:spcAft>
                <a:spcPts val="0"/>
              </a:spcAft>
            </a:pPr>
            <a:r>
              <a:rPr sz="25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500" spc="-7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(11111111</a:t>
            </a:r>
            <a:r>
              <a:rPr sz="25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2500" spc="-23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</a:t>
            </a:r>
            <a:r>
              <a:rPr sz="2500" spc="-11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0010)</a:t>
            </a:r>
            <a:r>
              <a:rPr sz="2500" spc="-20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500" spc="198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endParaRPr sz="25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34925" marR="0">
              <a:lnSpc>
                <a:spcPts val="3270"/>
              </a:lnSpc>
              <a:spcBef>
                <a:spcPts val="440"/>
              </a:spcBef>
              <a:spcAft>
                <a:spcPts val="0"/>
              </a:spcAft>
            </a:pPr>
            <a:r>
              <a:rPr sz="2500" spc="314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500" spc="1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11111101</a:t>
            </a:r>
            <a:r>
              <a:rPr sz="2500" spc="194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5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endParaRPr sz="25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34925" marR="0">
              <a:lnSpc>
                <a:spcPts val="3270"/>
              </a:lnSpc>
              <a:spcBef>
                <a:spcPts val="495"/>
              </a:spcBef>
              <a:spcAft>
                <a:spcPts val="0"/>
              </a:spcAft>
            </a:pPr>
            <a:r>
              <a:rPr sz="2500" spc="314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2500" spc="1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11111110</a:t>
            </a:r>
            <a:endParaRPr sz="2500" spc="15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0" marR="0">
              <a:lnSpc>
                <a:spcPts val="3760"/>
              </a:lnSpc>
              <a:spcBef>
                <a:spcPts val="130"/>
              </a:spcBef>
              <a:spcAft>
                <a:spcPts val="0"/>
              </a:spcAft>
            </a:pPr>
            <a:r>
              <a:rPr sz="2500" dirty="0">
                <a:solidFill>
                  <a:srgbClr val="000000"/>
                </a:solidFill>
                <a:latin typeface="ALOGHA+MTExtra" panose="05050102010205020202"/>
                <a:cs typeface="ALOGHA+MTExtra" panose="05050102010205020202"/>
              </a:rPr>
              <a:t></a:t>
            </a:r>
            <a:endParaRPr sz="2500" dirty="0">
              <a:solidFill>
                <a:srgbClr val="000000"/>
              </a:solidFill>
              <a:latin typeface="ALOGHA+MTExtra" panose="05050102010205020202"/>
              <a:cs typeface="ALOGHA+MTExtra" panose="0505010201020502020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951867" y="854829"/>
            <a:ext cx="5476792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2’s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Complement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Advantage</a:t>
            </a:r>
            <a:endParaRPr sz="32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474099"/>
            <a:ext cx="7460961" cy="865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convert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521970" marR="0">
              <a:lnSpc>
                <a:spcPts val="3165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32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700" spc="1347" dirty="0">
                <a:solidFill>
                  <a:srgbClr val="32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2’s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complement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system</a:t>
            </a:r>
            <a:r>
              <a:rPr sz="2400" spc="-18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simply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requires</a:t>
            </a:r>
            <a:r>
              <a:rPr sz="2400" spc="-12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endParaRPr sz="2400" dirty="0">
              <a:solidFill>
                <a:srgbClr val="FF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1975" y="2205619"/>
            <a:ext cx="6497686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summation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weights</a:t>
            </a:r>
            <a:r>
              <a:rPr sz="2400" spc="-11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regardless</a:t>
            </a:r>
            <a:r>
              <a:rPr sz="2400" spc="-18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whether</a:t>
            </a:r>
            <a:endParaRPr sz="2400" dirty="0">
              <a:solidFill>
                <a:srgbClr val="FF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1975" y="2534803"/>
            <a:ext cx="5040941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positive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or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negative.</a:t>
            </a:r>
            <a:endParaRPr sz="2400" dirty="0">
              <a:solidFill>
                <a:srgbClr val="FF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74398" y="2941711"/>
            <a:ext cx="7162800" cy="766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(</a:t>
            </a:r>
            <a:r>
              <a:rPr sz="2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在二进制转十进制的计算中，采用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2</a:t>
            </a:r>
            <a:r>
              <a:rPr sz="2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的补码形式表示</a:t>
            </a:r>
            <a:endParaRPr sz="240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的数字，不管是正数还是负数仅需要一个统一的权重</a:t>
            </a:r>
            <a:endParaRPr sz="2400" dirty="0">
              <a:solidFill>
                <a:srgbClr val="FF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4398" y="3600079"/>
            <a:ext cx="3921621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求和的计算方式就可以实现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)</a:t>
            </a:r>
            <a:endParaRPr sz="2400" dirty="0">
              <a:solidFill>
                <a:srgbClr val="FF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74399" y="3997843"/>
            <a:ext cx="7386556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32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700" spc="1347" dirty="0">
                <a:solidFill>
                  <a:srgbClr val="32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sign-magnitude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system</a:t>
            </a:r>
            <a:r>
              <a:rPr sz="2400" spc="-2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requires</a:t>
            </a:r>
            <a:r>
              <a:rPr sz="2400" spc="-11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two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steps</a:t>
            </a:r>
            <a:r>
              <a:rPr sz="2400" spc="-2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–</a:t>
            </a:r>
            <a:endParaRPr sz="24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1975" y="4327027"/>
            <a:ext cx="620579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sum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weights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magnitude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bits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endParaRPr sz="24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91975" y="4656211"/>
            <a:ext cx="5869579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examine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sign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determine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if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4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91975" y="4985395"/>
            <a:ext cx="4465327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positive</a:t>
            </a:r>
            <a:r>
              <a:rPr sz="2400" spc="-14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or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negative.</a:t>
            </a:r>
            <a:endParaRPr sz="24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74399" y="5392303"/>
            <a:ext cx="7272188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(</a:t>
            </a:r>
            <a:r>
              <a:rPr sz="2400" dirty="0">
                <a:solidFill>
                  <a:srgbClr val="3265CC"/>
                </a:solidFill>
                <a:latin typeface="黑体" panose="02010609060101010101" charset="-122"/>
                <a:cs typeface="黑体" panose="02010609060101010101" charset="-122"/>
              </a:rPr>
              <a:t>而采用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’</a:t>
            </a:r>
            <a:r>
              <a:rPr sz="2400" dirty="0">
                <a:solidFill>
                  <a:srgbClr val="3265CC"/>
                </a:solidFill>
                <a:latin typeface="黑体" panose="02010609060101010101" charset="-122"/>
                <a:cs typeface="黑体" panose="02010609060101010101" charset="-122"/>
              </a:rPr>
              <a:t>符号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-</a:t>
            </a:r>
            <a:r>
              <a:rPr sz="2400" dirty="0">
                <a:solidFill>
                  <a:srgbClr val="3265CC"/>
                </a:solidFill>
                <a:latin typeface="黑体" panose="02010609060101010101" charset="-122"/>
                <a:cs typeface="黑体" panose="02010609060101010101" charset="-122"/>
              </a:rPr>
              <a:t>幅值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’</a:t>
            </a:r>
            <a:r>
              <a:rPr sz="2400" dirty="0">
                <a:solidFill>
                  <a:srgbClr val="3265CC"/>
                </a:solidFill>
                <a:latin typeface="黑体" panose="02010609060101010101" charset="-122"/>
                <a:cs typeface="黑体" panose="02010609060101010101" charset="-122"/>
              </a:rPr>
              <a:t>表示形式则需要两个步骤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——</a:t>
            </a:r>
            <a:r>
              <a:rPr sz="2400" dirty="0">
                <a:solidFill>
                  <a:srgbClr val="3265CC"/>
                </a:solidFill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dirty="0">
                <a:solidFill>
                  <a:srgbClr val="3265CC"/>
                </a:solidFill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2400" dirty="0">
              <a:solidFill>
                <a:srgbClr val="3265CC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74398" y="5721487"/>
            <a:ext cx="7348835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265CC"/>
                </a:solidFill>
                <a:latin typeface="黑体" panose="02010609060101010101" charset="-122"/>
                <a:cs typeface="黑体" panose="02010609060101010101" charset="-122"/>
              </a:rPr>
              <a:t>对幅值表示部分进行权重求和；（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2</a:t>
            </a:r>
            <a:r>
              <a:rPr sz="2400" dirty="0">
                <a:solidFill>
                  <a:srgbClr val="3265CC"/>
                </a:solidFill>
                <a:latin typeface="黑体" panose="02010609060101010101" charset="-122"/>
                <a:cs typeface="黑体" panose="02010609060101010101" charset="-122"/>
              </a:rPr>
              <a:t>）判断符号位是正</a:t>
            </a:r>
            <a:endParaRPr sz="2400" dirty="0">
              <a:solidFill>
                <a:srgbClr val="3265CC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74399" y="6050672"/>
            <a:ext cx="1178421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265CC"/>
                </a:solidFill>
                <a:latin typeface="黑体" panose="02010609060101010101" charset="-122"/>
                <a:cs typeface="黑体" panose="02010609060101010101" charset="-122"/>
              </a:rPr>
              <a:t>还是负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)</a:t>
            </a:r>
            <a:endParaRPr sz="24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951867" y="854829"/>
            <a:ext cx="5476792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2’s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Complement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Advantage</a:t>
            </a:r>
            <a:endParaRPr sz="32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4399" y="1577731"/>
            <a:ext cx="731138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32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700" spc="1347" dirty="0">
                <a:solidFill>
                  <a:srgbClr val="32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1’s</a:t>
            </a:r>
            <a:r>
              <a:rPr sz="2400" spc="-14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complement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system</a:t>
            </a:r>
            <a:r>
              <a:rPr sz="2400" spc="-18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requires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adding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endParaRPr sz="24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1975" y="1906915"/>
            <a:ext cx="691634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summation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weights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for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negative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endParaRPr sz="24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1975" y="2236099"/>
            <a:ext cx="4296102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but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not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for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positive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numbers.</a:t>
            </a:r>
            <a:endParaRPr sz="24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74399" y="2643007"/>
            <a:ext cx="741164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(1</a:t>
            </a:r>
            <a:r>
              <a:rPr sz="2400" dirty="0">
                <a:solidFill>
                  <a:srgbClr val="3265CC"/>
                </a:solidFill>
                <a:latin typeface="黑体" panose="02010609060101010101" charset="-122"/>
                <a:cs typeface="黑体" panose="02010609060101010101" charset="-122"/>
              </a:rPr>
              <a:t>的补码形式表示的二进制数，对于负数需要在最后的</a:t>
            </a:r>
            <a:endParaRPr sz="2400" dirty="0">
              <a:solidFill>
                <a:srgbClr val="3265CC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4399" y="2972191"/>
            <a:ext cx="7300019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265CC"/>
                </a:solidFill>
                <a:latin typeface="黑体" panose="02010609060101010101" charset="-122"/>
                <a:cs typeface="黑体" panose="02010609060101010101" charset="-122"/>
              </a:rPr>
              <a:t>结果进行加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dirty="0">
                <a:solidFill>
                  <a:srgbClr val="3265CC"/>
                </a:solidFill>
                <a:latin typeface="黑体" panose="02010609060101010101" charset="-122"/>
                <a:cs typeface="黑体" panose="02010609060101010101" charset="-122"/>
              </a:rPr>
              <a:t>，对于正数则不需要，因此无法实现计算</a:t>
            </a:r>
            <a:endParaRPr sz="2400" dirty="0">
              <a:solidFill>
                <a:srgbClr val="3265CC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74399" y="3301375"/>
            <a:ext cx="1788021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265CC"/>
                </a:solidFill>
                <a:latin typeface="黑体" panose="02010609060101010101" charset="-122"/>
                <a:cs typeface="黑体" panose="02010609060101010101" charset="-122"/>
              </a:rPr>
              <a:t>算法的统一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)</a:t>
            </a:r>
            <a:endParaRPr sz="24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4399" y="3699139"/>
            <a:ext cx="6753332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32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700" spc="1347" dirty="0">
                <a:solidFill>
                  <a:srgbClr val="32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Also,</a:t>
            </a:r>
            <a:r>
              <a:rPr sz="2400" spc="-15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1’s</a:t>
            </a:r>
            <a:r>
              <a:rPr sz="2400" spc="-15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complement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system</a:t>
            </a:r>
            <a:r>
              <a:rPr sz="2400" spc="-15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spc="-15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not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used</a:t>
            </a:r>
            <a:endParaRPr sz="24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91975" y="4028323"/>
            <a:ext cx="537194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because</a:t>
            </a:r>
            <a:r>
              <a:rPr sz="2400" spc="-1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two</a:t>
            </a:r>
            <a:r>
              <a:rPr sz="2400" spc="-1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representations</a:t>
            </a:r>
            <a:r>
              <a:rPr sz="2400" spc="-1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zero</a:t>
            </a:r>
            <a:endParaRPr sz="24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91975" y="4357507"/>
            <a:ext cx="5300479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(00000000</a:t>
            </a:r>
            <a:r>
              <a:rPr sz="2400" spc="-1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or</a:t>
            </a:r>
            <a:r>
              <a:rPr sz="2400" spc="-11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11111111)</a:t>
            </a:r>
            <a:r>
              <a:rPr sz="2400" spc="-25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spc="-1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possible.</a:t>
            </a:r>
            <a:endParaRPr sz="24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74399" y="4764415"/>
            <a:ext cx="649724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(1</a:t>
            </a:r>
            <a:r>
              <a:rPr sz="2400" dirty="0">
                <a:solidFill>
                  <a:srgbClr val="3265CC"/>
                </a:solidFill>
                <a:latin typeface="黑体" panose="02010609060101010101" charset="-122"/>
                <a:cs typeface="黑体" panose="02010609060101010101" charset="-122"/>
              </a:rPr>
              <a:t>的补码形式另一个缺陷，零的表示有两种表示</a:t>
            </a:r>
            <a:endParaRPr sz="2400" dirty="0">
              <a:solidFill>
                <a:srgbClr val="3265CC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74399" y="5093599"/>
            <a:ext cx="655814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3265CC"/>
                </a:solidFill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2400" spc="113" dirty="0">
                <a:solidFill>
                  <a:srgbClr val="32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00000000</a:t>
            </a:r>
            <a:r>
              <a:rPr sz="2400" spc="-11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or</a:t>
            </a:r>
            <a:r>
              <a:rPr sz="2400" spc="-12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11111111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3265CC"/>
                </a:solidFill>
                <a:latin typeface="黑体" panose="02010609060101010101" charset="-122"/>
                <a:cs typeface="黑体" panose="02010609060101010101" charset="-122"/>
              </a:rPr>
              <a:t>），表达形式不唯一</a:t>
            </a:r>
            <a:r>
              <a:rPr sz="24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)</a:t>
            </a:r>
            <a:endParaRPr sz="24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343791" y="854829"/>
            <a:ext cx="6692630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Range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Signed</a:t>
            </a:r>
            <a:r>
              <a:rPr sz="3200" b="1" spc="-1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Integer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Numbers</a:t>
            </a:r>
            <a:endParaRPr sz="32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2326" y="1589161"/>
            <a:ext cx="759446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different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combinations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78976" y="2265353"/>
            <a:ext cx="3646058" cy="4681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0"/>
              </a:lnSpc>
              <a:spcBef>
                <a:spcPts val="0"/>
              </a:spcBef>
              <a:spcAft>
                <a:spcPts val="0"/>
              </a:spcAft>
            </a:pPr>
            <a:r>
              <a:rPr sz="28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2850" i="1" spc="7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combinations</a:t>
            </a:r>
            <a:r>
              <a:rPr sz="2850" i="1" spc="223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11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500" i="1" baseline="4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endParaRPr sz="2500" i="1" baseline="4500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89051" y="2250623"/>
            <a:ext cx="351528" cy="5107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20"/>
              </a:lnSpc>
              <a:spcBef>
                <a:spcPts val="0"/>
              </a:spcBef>
              <a:spcAft>
                <a:spcPts val="0"/>
              </a:spcAft>
            </a:pPr>
            <a:r>
              <a:rPr sz="28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endParaRPr sz="285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1751" y="3053725"/>
            <a:ext cx="7459188" cy="828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•</a:t>
            </a:r>
            <a:r>
              <a:rPr sz="2400" spc="105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For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2’s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complement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signed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numbers,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range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value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for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n-bit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55955" y="4008871"/>
            <a:ext cx="360056" cy="530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880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endParaRPr sz="300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63981" y="4053839"/>
            <a:ext cx="3006859" cy="456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3000" spc="492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300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000" i="1" spc="20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8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(2</a:t>
            </a:r>
            <a:r>
              <a:rPr sz="3000" spc="4479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3000" spc="-22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1)</a:t>
            </a:r>
            <a:endParaRPr sz="3000" spc="-225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63625" y="3999451"/>
            <a:ext cx="495998" cy="323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50" i="1" spc="9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50" spc="-91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17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endParaRPr sz="17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65169" y="3999451"/>
            <a:ext cx="495998" cy="323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50" i="1" spc="9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750" spc="-91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17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endParaRPr sz="17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94957" y="4008871"/>
            <a:ext cx="360056" cy="530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880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endParaRPr sz="300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1187" y="4880239"/>
            <a:ext cx="7410146" cy="828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•</a:t>
            </a:r>
            <a:r>
              <a:rPr sz="2400" spc="105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For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1’s</a:t>
            </a:r>
            <a:r>
              <a:rPr sz="2400" spc="-1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complement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signed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numbers,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range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value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for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n-bit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30251" y="5962076"/>
            <a:ext cx="351249" cy="51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15"/>
              </a:lnSpc>
              <a:spcBef>
                <a:spcPts val="0"/>
              </a:spcBef>
              <a:spcAft>
                <a:spcPts val="0"/>
              </a:spcAft>
            </a:pPr>
            <a:r>
              <a:rPr sz="28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endParaRPr sz="285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92366" y="5952198"/>
            <a:ext cx="1753202" cy="5199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5580" marR="0">
              <a:lnSpc>
                <a:spcPts val="3715"/>
              </a:lnSpc>
              <a:spcBef>
                <a:spcPts val="0"/>
              </a:spcBef>
              <a:spcAft>
                <a:spcPts val="0"/>
              </a:spcAft>
            </a:pPr>
            <a:r>
              <a:rPr sz="2500" i="1" spc="116" baseline="450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500" spc="-77" baseline="450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2500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r>
              <a:rPr sz="2500" spc="239" baseline="450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2850" spc="33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endParaRPr sz="285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0" marR="0">
              <a:lnSpc>
                <a:spcPts val="3160"/>
              </a:lnSpc>
              <a:spcBef>
                <a:spcPts val="0"/>
              </a:spcBef>
              <a:spcAft>
                <a:spcPts val="0"/>
              </a:spcAft>
            </a:pP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850" spc="444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endParaRPr sz="28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37757" y="6005137"/>
            <a:ext cx="1387804" cy="405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0"/>
              </a:lnSpc>
              <a:spcBef>
                <a:spcPts val="0"/>
              </a:spcBef>
              <a:spcAft>
                <a:spcPts val="0"/>
              </a:spcAft>
            </a:pPr>
            <a:r>
              <a:rPr sz="2850" spc="7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(2</a:t>
            </a:r>
            <a:r>
              <a:rPr sz="2850" spc="432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50" spc="-21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1)</a:t>
            </a:r>
            <a:r>
              <a:rPr lang="en-US" sz="2850" spc="-21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endParaRPr lang="en-US" sz="2850" spc="-213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64640" y="5952198"/>
            <a:ext cx="482829" cy="313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65"/>
              </a:lnSpc>
              <a:spcBef>
                <a:spcPts val="0"/>
              </a:spcBef>
              <a:spcAft>
                <a:spcPts val="0"/>
              </a:spcAft>
            </a:pPr>
            <a:r>
              <a:rPr sz="1650" i="1" spc="11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650" spc="-72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165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</a:t>
            </a:r>
            <a:endParaRPr sz="165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76879" y="5962076"/>
            <a:ext cx="351249" cy="51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15"/>
              </a:lnSpc>
              <a:spcBef>
                <a:spcPts val="0"/>
              </a:spcBef>
              <a:spcAft>
                <a:spcPts val="0"/>
              </a:spcAft>
            </a:pPr>
            <a:r>
              <a:rPr sz="285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endParaRPr sz="2850" dirty="0">
              <a:solidFill>
                <a:srgbClr val="000000"/>
              </a:solidFill>
              <a:latin typeface="MMKOGF+Symbol" panose="02000500000000000000"/>
              <a:cs typeface="MMKOGF+Symbol" panose="0200050000000000000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389495" y="5969635"/>
            <a:ext cx="23495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负数比上面多减了一个</a:t>
            </a:r>
            <a:r>
              <a:rPr lang="en-US" altLang="zh-CN"/>
              <a:t>0</a:t>
            </a:r>
            <a:endParaRPr lang="en-US" altLang="zh-C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27739" y="819375"/>
            <a:ext cx="7521782" cy="576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45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Floating-Point</a:t>
            </a:r>
            <a:r>
              <a:rPr sz="3200" b="1" spc="1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Numbers</a:t>
            </a:r>
            <a:r>
              <a:rPr sz="3800" spc="10" dirty="0">
                <a:solidFill>
                  <a:srgbClr val="000099"/>
                </a:solidFill>
                <a:latin typeface="黑体" panose="02010609060101010101" charset="-122"/>
                <a:cs typeface="黑体" panose="02010609060101010101" charset="-122"/>
              </a:rPr>
              <a:t>（浮点数）</a:t>
            </a:r>
            <a:endParaRPr sz="3800" spc="10" dirty="0">
              <a:solidFill>
                <a:srgbClr val="000099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0926" y="1830715"/>
            <a:ext cx="7253218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represent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very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large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numbers,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many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53825" y="2196475"/>
            <a:ext cx="1436637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required.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0926" y="2635387"/>
            <a:ext cx="8004535" cy="153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floating-point</a:t>
            </a:r>
            <a:r>
              <a:rPr sz="2400" spc="27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based</a:t>
            </a:r>
            <a:r>
              <a:rPr sz="2400" spc="-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scientific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notation,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capable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representing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very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large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or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very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small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without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increasing</a:t>
            </a:r>
            <a:r>
              <a:rPr sz="2400" spc="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bits.</a:t>
            </a:r>
            <a:r>
              <a:rPr lang="zh-CN"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（模仿</a:t>
            </a:r>
            <a:r>
              <a:rPr lang="zh-CN"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科学计数法）</a:t>
            </a:r>
            <a:endParaRPr lang="zh-CN"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0926" y="4171579"/>
            <a:ext cx="7081883" cy="13302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spc="-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floating-point</a:t>
            </a:r>
            <a:r>
              <a:rPr sz="2400" spc="2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consists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two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parts: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906145" marR="0">
              <a:lnSpc>
                <a:spcPts val="3345"/>
              </a:lnSpc>
              <a:spcBef>
                <a:spcPts val="195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Mantissa(</a:t>
            </a:r>
            <a:r>
              <a:rPr sz="2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定点尾数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)</a:t>
            </a:r>
            <a:r>
              <a:rPr sz="2400" spc="-3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Exponent(</a:t>
            </a:r>
            <a:r>
              <a:rPr sz="240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指数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)</a:t>
            </a:r>
            <a:endParaRPr sz="2400" dirty="0">
              <a:solidFill>
                <a:srgbClr val="FF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4144010" marR="0">
              <a:lnSpc>
                <a:spcPts val="2170"/>
              </a:lnSpc>
              <a:spcBef>
                <a:spcPts val="116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32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bit</a:t>
            </a:r>
            <a:endParaRPr sz="1800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7179" y="5344173"/>
            <a:ext cx="2037717" cy="10013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7375E"/>
                </a:solidFill>
                <a:latin typeface="WCJSHW+ComicSansMS" panose="030F0702030302020204"/>
                <a:cs typeface="WCJSHW+ComicSansMS" panose="030F0702030302020204"/>
              </a:rPr>
              <a:t>Single-Precision</a:t>
            </a:r>
            <a:endParaRPr sz="2000" dirty="0">
              <a:solidFill>
                <a:srgbClr val="17375E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7375E"/>
                </a:solidFill>
                <a:latin typeface="WCJSHW+ComicSansMS" panose="030F0702030302020204"/>
                <a:cs typeface="WCJSHW+ComicSansMS" panose="030F0702030302020204"/>
              </a:rPr>
              <a:t>Floating-Point</a:t>
            </a:r>
            <a:endParaRPr sz="2000" dirty="0">
              <a:solidFill>
                <a:srgbClr val="17375E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7375E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000" spc="21" dirty="0">
                <a:solidFill>
                  <a:srgbClr val="17375E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17375E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endParaRPr sz="2000" dirty="0">
              <a:solidFill>
                <a:srgbClr val="17375E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35203" y="5635751"/>
            <a:ext cx="279536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S</a:t>
            </a:r>
            <a:endParaRPr sz="1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65555" y="5635751"/>
            <a:ext cx="1377697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Exponent</a:t>
            </a:r>
            <a:r>
              <a:rPr sz="1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1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(E)</a:t>
            </a:r>
            <a:endParaRPr sz="1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80639" y="5635751"/>
            <a:ext cx="2140513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Mantissa</a:t>
            </a:r>
            <a:r>
              <a:rPr sz="1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1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(fraction,</a:t>
            </a:r>
            <a:r>
              <a:rPr sz="1800" spc="1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1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F)</a:t>
            </a:r>
            <a:endParaRPr sz="1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53855" y="6051192"/>
            <a:ext cx="533538" cy="31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1bit</a:t>
            </a:r>
            <a:endParaRPr sz="1800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02179" y="6051192"/>
            <a:ext cx="707735" cy="31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8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bits</a:t>
            </a:r>
            <a:endParaRPr sz="1800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70485" y="6051192"/>
            <a:ext cx="832916" cy="31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23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bits</a:t>
            </a:r>
            <a:endParaRPr sz="1800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27739" y="819375"/>
            <a:ext cx="7521782" cy="576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45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Floating-Point</a:t>
            </a:r>
            <a:r>
              <a:rPr sz="3200" b="1" spc="1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Numbers</a:t>
            </a:r>
            <a:r>
              <a:rPr sz="3800" spc="10" dirty="0">
                <a:solidFill>
                  <a:srgbClr val="000099"/>
                </a:solidFill>
                <a:latin typeface="黑体" panose="02010609060101010101" charset="-122"/>
                <a:cs typeface="黑体" panose="02010609060101010101" charset="-122"/>
              </a:rPr>
              <a:t>（浮点数）</a:t>
            </a:r>
            <a:endParaRPr sz="3800" spc="10" dirty="0">
              <a:solidFill>
                <a:srgbClr val="000099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0926" y="1838211"/>
            <a:ext cx="7357923" cy="3917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600" spc="1105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Example:</a:t>
            </a:r>
            <a:r>
              <a:rPr sz="2000" spc="2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1011010010001</a:t>
            </a:r>
            <a:r>
              <a:rPr sz="2000" spc="33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(5777)</a:t>
            </a:r>
            <a:r>
              <a:rPr sz="2000" spc="33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=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1.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011010010001</a:t>
            </a:r>
            <a:r>
              <a:rPr sz="2000" spc="33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x</a:t>
            </a:r>
            <a:r>
              <a:rPr sz="20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2^12</a:t>
            </a:r>
            <a:endParaRPr sz="20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06219" y="2369962"/>
            <a:ext cx="731323" cy="31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32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bit</a:t>
            </a:r>
            <a:endParaRPr sz="1800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21459" y="2766607"/>
            <a:ext cx="3178447" cy="356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01101001000100000000000</a:t>
            </a:r>
            <a:endParaRPr sz="18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77191" y="2817876"/>
            <a:ext cx="266700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endParaRPr sz="1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61467" y="2817876"/>
            <a:ext cx="1066800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10001011</a:t>
            </a:r>
            <a:endParaRPr sz="1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89739" y="3234063"/>
            <a:ext cx="533538" cy="31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1bit</a:t>
            </a:r>
            <a:endParaRPr sz="1800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38063" y="3234063"/>
            <a:ext cx="707735" cy="31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8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bits</a:t>
            </a:r>
            <a:endParaRPr sz="1800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06369" y="3234063"/>
            <a:ext cx="832916" cy="31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23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bits</a:t>
            </a:r>
            <a:endParaRPr sz="1800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10926" y="3756927"/>
            <a:ext cx="7142999" cy="1280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600" spc="1105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Mantissa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:</a:t>
            </a:r>
            <a:r>
              <a:rPr sz="2000" spc="18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left-most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‘1’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understood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be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there</a:t>
            </a:r>
            <a:endParaRPr sz="20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although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it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does</a:t>
            </a:r>
            <a:r>
              <a:rPr sz="2000" spc="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not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occupy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</a:t>
            </a:r>
            <a:r>
              <a:rPr sz="2000" spc="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actual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position.</a:t>
            </a:r>
            <a:r>
              <a:rPr sz="2000" spc="27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So</a:t>
            </a:r>
            <a:endParaRPr sz="20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effectively,</a:t>
            </a:r>
            <a:r>
              <a:rPr sz="2000" spc="27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there</a:t>
            </a:r>
            <a:r>
              <a:rPr sz="2000" spc="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000" spc="17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24</a:t>
            </a:r>
            <a:r>
              <a:rPr sz="2000" spc="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bits in</a:t>
            </a:r>
            <a:r>
              <a:rPr sz="2000" spc="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 mantissa.</a:t>
            </a:r>
            <a:r>
              <a:rPr lang="zh-CN"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（个位的</a:t>
            </a:r>
            <a:r>
              <a:rPr lang="en-US" altLang="zh-CN"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lang="zh-CN" altLang="en-US"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省略不写</a:t>
            </a:r>
            <a:r>
              <a:rPr lang="zh-CN"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）</a:t>
            </a:r>
            <a:endParaRPr lang="zh-CN" sz="20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10926" y="5098047"/>
            <a:ext cx="7818688" cy="972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600" spc="1105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Exponent(1~255):</a:t>
            </a:r>
            <a:r>
              <a:rPr sz="2000" spc="34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it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000" spc="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biased</a:t>
            </a:r>
            <a:r>
              <a:rPr sz="2000" spc="2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exponent</a:t>
            </a:r>
            <a:r>
              <a:rPr sz="2000" spc="2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which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000" spc="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obtained</a:t>
            </a:r>
            <a:r>
              <a:rPr sz="2000" spc="2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endParaRPr sz="20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adding</a:t>
            </a:r>
            <a:r>
              <a:rPr sz="2000" spc="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127</a:t>
            </a:r>
            <a:r>
              <a:rPr sz="2000" spc="18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actual</a:t>
            </a:r>
            <a:r>
              <a:rPr sz="2000" spc="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exponent.</a:t>
            </a:r>
            <a:r>
              <a:rPr sz="2000" spc="2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So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range</a:t>
            </a:r>
            <a:r>
              <a:rPr sz="2000" spc="2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</a:t>
            </a:r>
            <a:r>
              <a:rPr sz="2000" spc="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actual</a:t>
            </a:r>
            <a:endParaRPr sz="20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exponent</a:t>
            </a:r>
            <a:r>
              <a:rPr sz="2000" spc="2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values</a:t>
            </a:r>
            <a:r>
              <a:rPr sz="2000" spc="2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from -126</a:t>
            </a:r>
            <a:r>
              <a:rPr sz="2000" spc="23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 +128.</a:t>
            </a:r>
            <a:r>
              <a:rPr lang="zh-CN"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转化为正数省去了</a:t>
            </a:r>
            <a:r>
              <a:rPr lang="en-US" altLang="zh-CN"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signed bit</a:t>
            </a:r>
            <a:endParaRPr lang="en-US" altLang="zh-CN" sz="20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27739" y="819375"/>
            <a:ext cx="7521782" cy="576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45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Floating-Point</a:t>
            </a:r>
            <a:r>
              <a:rPr sz="3200" b="1" spc="1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Numbers</a:t>
            </a:r>
            <a:r>
              <a:rPr sz="3800" spc="10" dirty="0">
                <a:solidFill>
                  <a:srgbClr val="000099"/>
                </a:solidFill>
                <a:latin typeface="黑体" panose="02010609060101010101" charset="-122"/>
                <a:cs typeface="黑体" panose="02010609060101010101" charset="-122"/>
              </a:rPr>
              <a:t>（浮点数）</a:t>
            </a:r>
            <a:endParaRPr sz="3800" spc="10" dirty="0">
              <a:solidFill>
                <a:srgbClr val="000099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0926" y="1842783"/>
            <a:ext cx="5174099" cy="3917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600" spc="1105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两个特殊数字：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0.0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represented</a:t>
            </a:r>
            <a:r>
              <a:rPr sz="2000" spc="3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0s</a:t>
            </a:r>
            <a:endParaRPr sz="20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06219" y="2369962"/>
            <a:ext cx="731323" cy="31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32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bit</a:t>
            </a:r>
            <a:endParaRPr sz="1800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4943" y="2773947"/>
            <a:ext cx="307274" cy="3917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6365E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endParaRPr sz="2000" dirty="0">
              <a:solidFill>
                <a:srgbClr val="16365E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2409" y="2766607"/>
            <a:ext cx="3361506" cy="356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00000000000000000000000</a:t>
            </a:r>
            <a:endParaRPr sz="18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77191" y="2817876"/>
            <a:ext cx="266700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endParaRPr sz="1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56895" y="2817876"/>
            <a:ext cx="1066800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00000000</a:t>
            </a:r>
            <a:endParaRPr sz="1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89731" y="3234063"/>
            <a:ext cx="533538" cy="31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1bit</a:t>
            </a:r>
            <a:endParaRPr sz="1800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38055" y="3234063"/>
            <a:ext cx="707735" cy="31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8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bits</a:t>
            </a:r>
            <a:endParaRPr sz="1800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06361" y="3234063"/>
            <a:ext cx="832916" cy="31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23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bits</a:t>
            </a:r>
            <a:endParaRPr sz="1800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10926" y="4003053"/>
            <a:ext cx="7960538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600" spc="1105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Infinity(</a:t>
            </a:r>
            <a:r>
              <a:rPr sz="20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无穷大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)</a:t>
            </a:r>
            <a:r>
              <a:rPr sz="2000" spc="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000" spc="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represented</a:t>
            </a:r>
            <a:r>
              <a:rPr sz="2000" spc="3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all</a:t>
            </a:r>
            <a:r>
              <a:rPr sz="2000" spc="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1s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000" spc="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exponent</a:t>
            </a:r>
            <a:r>
              <a:rPr sz="2000" spc="2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000" spc="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all</a:t>
            </a:r>
            <a:endParaRPr sz="20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53825" y="4303285"/>
            <a:ext cx="2359869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0s</a:t>
            </a:r>
            <a:r>
              <a:rPr sz="2000" spc="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000" spc="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spc="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mantissa.</a:t>
            </a:r>
            <a:endParaRPr sz="20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06219" y="4889896"/>
            <a:ext cx="731323" cy="31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32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bit</a:t>
            </a:r>
            <a:endParaRPr sz="1800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54943" y="5294643"/>
            <a:ext cx="647254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6365E"/>
                </a:solidFill>
                <a:latin typeface="WCJSHW+ComicSansMS" panose="030F0702030302020204"/>
                <a:cs typeface="WCJSHW+ComicSansMS" panose="030F0702030302020204"/>
              </a:rPr>
              <a:t>INF</a:t>
            </a:r>
            <a:endParaRPr sz="2000" dirty="0">
              <a:solidFill>
                <a:srgbClr val="16365E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02409" y="5287303"/>
            <a:ext cx="3361506" cy="356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00000000000000000000000</a:t>
            </a:r>
            <a:endParaRPr sz="18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77191" y="5338571"/>
            <a:ext cx="266700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0</a:t>
            </a:r>
            <a:endParaRPr sz="1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86613" y="5338571"/>
            <a:ext cx="1066800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spc="-66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11111111</a:t>
            </a:r>
            <a:endParaRPr sz="1800" spc="-66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89731" y="5754004"/>
            <a:ext cx="533538" cy="31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1bit</a:t>
            </a:r>
            <a:endParaRPr sz="1800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38055" y="5754004"/>
            <a:ext cx="707735" cy="31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8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bits</a:t>
            </a:r>
            <a:endParaRPr sz="1800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06361" y="5754004"/>
            <a:ext cx="832916" cy="314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7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23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bits</a:t>
            </a:r>
            <a:endParaRPr sz="1800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52429" y="1368466"/>
            <a:ext cx="7462266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8-bit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grouping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has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been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given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special</a:t>
            </a:r>
            <a:r>
              <a:rPr sz="2400" spc="-17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name</a:t>
            </a:r>
            <a:r>
              <a:rPr sz="2400" spc="-25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C0504D"/>
                </a:solidFill>
                <a:latin typeface="DDMTRG+TimesNewRoman" panose="02020603050405020304"/>
                <a:cs typeface="DDMTRG+TimesNewRoman" panose="02020603050405020304"/>
              </a:rPr>
              <a:t>byte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.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60833" y="2335670"/>
            <a:ext cx="3226746" cy="432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Bit</a:t>
            </a:r>
            <a:r>
              <a:rPr sz="2800" spc="-1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Grouping</a:t>
            </a:r>
            <a:r>
              <a:rPr sz="2800" spc="195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Name</a:t>
            </a:r>
            <a:endParaRPr sz="2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60833" y="3280533"/>
            <a:ext cx="825829" cy="432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8-bit</a:t>
            </a:r>
            <a:endParaRPr sz="2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85810" y="3280533"/>
            <a:ext cx="825158" cy="432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Byte</a:t>
            </a:r>
            <a:endParaRPr sz="2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60833" y="3953382"/>
            <a:ext cx="1004254" cy="11057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16-bit</a:t>
            </a:r>
            <a:endParaRPr sz="2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0" marR="0">
              <a:lnSpc>
                <a:spcPts val="3100"/>
              </a:lnSpc>
              <a:spcBef>
                <a:spcPts val="220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32-bit</a:t>
            </a:r>
            <a:endParaRPr sz="2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85988" y="3953382"/>
            <a:ext cx="962628" cy="432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2800" spc="-5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Word</a:t>
            </a:r>
            <a:endParaRPr sz="2800" spc="-51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85347" y="4626978"/>
            <a:ext cx="2167995" cy="858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Double</a:t>
            </a:r>
            <a:r>
              <a:rPr sz="2800" spc="-1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word</a:t>
            </a:r>
            <a:endParaRPr sz="2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635" marR="0">
              <a:lnSpc>
                <a:spcPts val="3100"/>
              </a:lnSpc>
              <a:spcBef>
                <a:spcPts val="25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/</a:t>
            </a:r>
            <a:r>
              <a:rPr sz="2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float</a:t>
            </a:r>
            <a:r>
              <a:rPr sz="2800" spc="-15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number</a:t>
            </a:r>
            <a:endParaRPr sz="2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86413" y="2614500"/>
            <a:ext cx="6945788" cy="1772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7310" marR="0">
              <a:lnSpc>
                <a:spcPts val="501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2-6</a:t>
            </a:r>
            <a:r>
              <a:rPr sz="3600" spc="673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ARITHMETIC</a:t>
            </a:r>
            <a:endParaRPr sz="3600" dirty="0">
              <a:solidFill>
                <a:srgbClr val="000099"/>
              </a:solidFill>
              <a:latin typeface="BJJSOR+ComicSansMS,Bold" panose="030F0902030302020204"/>
              <a:cs typeface="BJJSOR+ComicSansMS,Bold" panose="030F0902030302020204"/>
            </a:endParaRPr>
          </a:p>
          <a:p>
            <a:pPr marL="0" marR="0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OPERATIONS</a:t>
            </a:r>
            <a:r>
              <a:rPr sz="3600" spc="647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WITH</a:t>
            </a:r>
            <a:r>
              <a:rPr sz="3600" spc="648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SIGNED</a:t>
            </a:r>
            <a:endParaRPr sz="3600" dirty="0">
              <a:solidFill>
                <a:srgbClr val="000099"/>
              </a:solidFill>
              <a:latin typeface="BJJSOR+ComicSansMS,Bold" panose="030F0902030302020204"/>
              <a:cs typeface="BJJSOR+ComicSansMS,Bold" panose="030F0902030302020204"/>
            </a:endParaRPr>
          </a:p>
          <a:p>
            <a:pPr marL="2250440" marR="0">
              <a:lnSpc>
                <a:spcPts val="4320"/>
              </a:lnSpc>
              <a:spcBef>
                <a:spcPts val="50"/>
              </a:spcBef>
              <a:spcAft>
                <a:spcPts val="0"/>
              </a:spcAft>
            </a:pP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NUMBERS</a:t>
            </a:r>
            <a:endParaRPr sz="3600" dirty="0">
              <a:solidFill>
                <a:srgbClr val="000099"/>
              </a:solidFill>
              <a:latin typeface="BJJSOR+ComicSansMS,Bold" panose="030F0902030302020204"/>
              <a:cs typeface="BJJSOR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20706" y="4379007"/>
            <a:ext cx="4279269" cy="495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600" spc="11" dirty="0">
                <a:solidFill>
                  <a:srgbClr val="000099"/>
                </a:solidFill>
                <a:latin typeface="黑体" panose="02010609060101010101" charset="-122"/>
                <a:cs typeface="黑体" panose="02010609060101010101" charset="-122"/>
              </a:rPr>
              <a:t>带符号数的算术运算</a:t>
            </a:r>
            <a:endParaRPr sz="3600" spc="11" dirty="0">
              <a:solidFill>
                <a:srgbClr val="000099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13689" y="825111"/>
            <a:ext cx="3428291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Addition</a:t>
            </a:r>
            <a:r>
              <a:rPr sz="3200" spc="10" dirty="0">
                <a:solidFill>
                  <a:srgbClr val="000099"/>
                </a:solidFill>
                <a:latin typeface="黑体" panose="02010609060101010101" charset="-122"/>
                <a:cs typeface="黑体" panose="02010609060101010101" charset="-122"/>
              </a:rPr>
              <a:t>（加法）</a:t>
            </a:r>
            <a:endParaRPr sz="3200" spc="10" dirty="0">
              <a:solidFill>
                <a:srgbClr val="000099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716415"/>
            <a:ext cx="7735061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two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addition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augend</a:t>
            </a:r>
            <a:r>
              <a:rPr sz="24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（被</a:t>
            </a:r>
            <a:endParaRPr sz="2400" dirty="0">
              <a:solidFill>
                <a:srgbClr val="FE00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5328" y="2009023"/>
            <a:ext cx="749736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加数）</a:t>
            </a:r>
            <a:r>
              <a:rPr sz="2400" spc="113" dirty="0">
                <a:solidFill>
                  <a:srgbClr val="FE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addend</a:t>
            </a:r>
            <a:r>
              <a:rPr sz="24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（加数）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results</a:t>
            </a:r>
            <a:r>
              <a:rPr sz="2400" spc="-2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5328" y="2301631"/>
            <a:ext cx="4920698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sum</a:t>
            </a:r>
            <a:r>
              <a:rPr sz="2400" spc="-15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（和）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carry</a:t>
            </a:r>
            <a:r>
              <a:rPr sz="24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（进位）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26233" y="2779554"/>
            <a:ext cx="4142649" cy="662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20"/>
              </a:lnSpc>
              <a:spcBef>
                <a:spcPts val="0"/>
              </a:spcBef>
              <a:spcAft>
                <a:spcPts val="0"/>
              </a:spcAft>
            </a:pPr>
            <a:r>
              <a:rPr sz="3800" spc="27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[</a:t>
            </a:r>
            <a:r>
              <a:rPr sz="380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x</a:t>
            </a:r>
            <a:r>
              <a:rPr sz="3800" i="1" spc="-27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3800" spc="88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i="1" spc="14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3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]</a:t>
            </a:r>
            <a:r>
              <a:rPr sz="3800" spc="255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38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3800" spc="-37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spc="27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[</a:t>
            </a:r>
            <a:r>
              <a:rPr sz="3800" i="1" spc="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x</a:t>
            </a:r>
            <a:r>
              <a:rPr sz="3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]</a:t>
            </a:r>
            <a:r>
              <a:rPr sz="3800" spc="232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3800" spc="392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3800" spc="451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[</a:t>
            </a:r>
            <a:r>
              <a:rPr sz="3800" i="1" spc="14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38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]</a:t>
            </a:r>
            <a:endParaRPr sz="38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12490" y="3135019"/>
            <a:ext cx="432008" cy="34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200" spc="12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20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endParaRPr sz="220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76458" y="3135019"/>
            <a:ext cx="432008" cy="34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200" spc="12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20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endParaRPr sz="220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17571" y="3135019"/>
            <a:ext cx="432008" cy="34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40"/>
              </a:lnSpc>
              <a:spcBef>
                <a:spcPts val="0"/>
              </a:spcBef>
              <a:spcAft>
                <a:spcPts val="0"/>
              </a:spcAft>
            </a:pPr>
            <a:r>
              <a:rPr sz="2200" spc="12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20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endParaRPr sz="220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4903" y="3610747"/>
            <a:ext cx="7630967" cy="792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•</a:t>
            </a:r>
            <a:r>
              <a:rPr sz="2400" spc="105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addition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process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stated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as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follows: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add</a:t>
            </a:r>
            <a:r>
              <a:rPr sz="2400" spc="449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the</a:t>
            </a:r>
            <a:endParaRPr sz="2400" dirty="0">
              <a:solidFill>
                <a:srgbClr val="C00000"/>
              </a:solidFill>
              <a:latin typeface="BJJSOR+ComicSansMS,Bold" panose="030F0902030302020204"/>
              <a:cs typeface="BJJSOR+ComicSansMS,Bold" panose="030F0902030302020204"/>
            </a:endParaRPr>
          </a:p>
          <a:p>
            <a:pPr marL="342900" marR="0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two</a:t>
            </a:r>
            <a:r>
              <a:rPr sz="2400" spc="435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numbers</a:t>
            </a:r>
            <a:r>
              <a:rPr sz="2400" spc="435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and</a:t>
            </a:r>
            <a:r>
              <a:rPr sz="2400" spc="448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discard</a:t>
            </a:r>
            <a:r>
              <a:rPr sz="2400" spc="448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any</a:t>
            </a:r>
            <a:r>
              <a:rPr sz="2400" spc="449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final</a:t>
            </a:r>
            <a:r>
              <a:rPr sz="2400" spc="468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carry</a:t>
            </a:r>
            <a:r>
              <a:rPr sz="2400" spc="449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bit.</a:t>
            </a:r>
            <a:endParaRPr sz="2400" dirty="0">
              <a:solidFill>
                <a:srgbClr val="C00000"/>
              </a:solidFill>
              <a:latin typeface="BJJSOR+ComicSansMS,Bold" panose="030F0902030302020204"/>
              <a:cs typeface="BJJSOR+ComicSansMS,Bold" panose="030F090203030202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2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18289" y="858639"/>
            <a:ext cx="6340683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Overflow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Condition</a:t>
            </a:r>
            <a:r>
              <a:rPr sz="3200" spc="10" dirty="0">
                <a:solidFill>
                  <a:srgbClr val="000099"/>
                </a:solidFill>
                <a:latin typeface="黑体" panose="02010609060101010101" charset="-122"/>
                <a:cs typeface="黑体" panose="02010609060101010101" charset="-122"/>
              </a:rPr>
              <a:t>（溢出条件）</a:t>
            </a:r>
            <a:endParaRPr sz="3200" spc="10" dirty="0">
              <a:solidFill>
                <a:srgbClr val="000099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0926" y="1951873"/>
            <a:ext cx="751298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When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two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added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spc="711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endParaRPr sz="2400" dirty="0">
              <a:solidFill>
                <a:srgbClr val="FE00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3825" y="2281057"/>
            <a:ext cx="6938726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bits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required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represent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sum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exceeds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400" dirty="0">
              <a:solidFill>
                <a:srgbClr val="FE00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53825" y="2610241"/>
            <a:ext cx="686729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bits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two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strike="sngStrike" dirty="0">
                <a:solidFill>
                  <a:srgbClr val="FE00FF"/>
                </a:solidFill>
                <a:latin typeface="KTJCHM+ComicSansMS,Italic" panose="030F0702030302060204"/>
                <a:cs typeface="KTJCHM+ComicSansMS,Italic" panose="030F0702030302060204"/>
              </a:rPr>
              <a:t>an</a:t>
            </a:r>
            <a:r>
              <a:rPr sz="2400" strike="sngStrike" spc="113" dirty="0">
                <a:solidFill>
                  <a:srgbClr val="FE00FF"/>
                </a:solidFill>
                <a:latin typeface="KTJCHM+ComicSansMS,Italic" panose="030F0702030302060204"/>
                <a:cs typeface="KTJCHM+ComicSansMS,Italic" panose="030F0702030302060204"/>
              </a:rPr>
              <a:t> </a:t>
            </a:r>
            <a:r>
              <a:rPr sz="2400" strike="sngStrike" dirty="0">
                <a:solidFill>
                  <a:srgbClr val="FE00FF"/>
                </a:solidFill>
                <a:latin typeface="KTJCHM+ComicSansMS,Italic" panose="030F0702030302060204"/>
                <a:cs typeface="KTJCHM+ComicSansMS,Italic" panose="030F0702030302060204"/>
              </a:rPr>
              <a:t>overflow</a:t>
            </a:r>
            <a:endParaRPr sz="2400" strike="sngStrike" dirty="0">
              <a:solidFill>
                <a:srgbClr val="FE00FF"/>
              </a:solidFill>
              <a:latin typeface="KTJCHM+ComicSansMS,Italic" panose="030F0702030302060204"/>
              <a:cs typeface="KTJCHM+ComicSansMS,Italic" panose="030F070203030206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53825" y="2939425"/>
            <a:ext cx="641452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strike="sngStrike" dirty="0">
                <a:solidFill>
                  <a:srgbClr val="FE00FF"/>
                </a:solidFill>
                <a:latin typeface="KTJCHM+ComicSansMS,Italic" panose="030F0702030302060204"/>
                <a:cs typeface="KTJCHM+ComicSansMS,Italic" panose="030F0702030302060204"/>
              </a:rPr>
              <a:t>results</a:t>
            </a:r>
            <a:r>
              <a:rPr sz="2400" strike="sngStrike" spc="97" dirty="0">
                <a:solidFill>
                  <a:srgbClr val="FE00FF"/>
                </a:solidFill>
                <a:latin typeface="KTJCHM+ComicSansMS,Italic" panose="030F0702030302060204"/>
                <a:cs typeface="KTJCHM+ComicSansMS,Italic" panose="030F0702030302060204"/>
              </a:rPr>
              <a:t> </a:t>
            </a:r>
            <a:r>
              <a:rPr sz="2400" strike="sngStrike" dirty="0">
                <a:solidFill>
                  <a:srgbClr val="FE00FF"/>
                </a:solidFill>
                <a:latin typeface="KTJCHM+ComicSansMS,Italic" panose="030F0702030302060204"/>
                <a:cs typeface="KTJCHM+ComicSansMS,Italic" panose="030F0702030302060204"/>
              </a:rPr>
              <a:t>as</a:t>
            </a:r>
            <a:r>
              <a:rPr sz="2400" strike="sngStrike" spc="103" dirty="0">
                <a:solidFill>
                  <a:srgbClr val="FE00FF"/>
                </a:solidFill>
                <a:latin typeface="KTJCHM+ComicSansMS,Italic" panose="030F0702030302060204"/>
                <a:cs typeface="KTJCHM+ComicSansMS,Italic" panose="030F0702030302060204"/>
              </a:rPr>
              <a:t> </a:t>
            </a:r>
            <a:r>
              <a:rPr sz="2400" strike="sngStrike" dirty="0">
                <a:solidFill>
                  <a:srgbClr val="FE00FF"/>
                </a:solidFill>
                <a:latin typeface="KTJCHM+ComicSansMS,Italic" panose="030F0702030302060204"/>
                <a:cs typeface="KTJCHM+ComicSansMS,Italic" panose="030F0702030302060204"/>
              </a:rPr>
              <a:t>indicated</a:t>
            </a:r>
            <a:r>
              <a:rPr sz="2400" strike="sngStrike" spc="122" dirty="0">
                <a:solidFill>
                  <a:srgbClr val="FE00FF"/>
                </a:solidFill>
                <a:latin typeface="KTJCHM+ComicSansMS,Italic" panose="030F0702030302060204"/>
                <a:cs typeface="KTJCHM+ComicSansMS,Italic" panose="030F0702030302060204"/>
              </a:rPr>
              <a:t> </a:t>
            </a:r>
            <a:r>
              <a:rPr sz="2400" strike="sngStrike" dirty="0">
                <a:solidFill>
                  <a:srgbClr val="FE00FF"/>
                </a:solidFill>
                <a:latin typeface="KTJCHM+ComicSansMS,Italic" panose="030F0702030302060204"/>
                <a:cs typeface="KTJCHM+ComicSansMS,Italic" panose="030F0702030302060204"/>
              </a:rPr>
              <a:t>by</a:t>
            </a:r>
            <a:r>
              <a:rPr sz="2400" strike="sngStrike" spc="124" dirty="0">
                <a:solidFill>
                  <a:srgbClr val="FE00FF"/>
                </a:solidFill>
                <a:latin typeface="KTJCHM+ComicSansMS,Italic" panose="030F0702030302060204"/>
                <a:cs typeface="KTJCHM+ComicSansMS,Italic" panose="030F0702030302060204"/>
              </a:rPr>
              <a:t> </a:t>
            </a:r>
            <a:r>
              <a:rPr sz="2400" strike="sngStrike" dirty="0">
                <a:solidFill>
                  <a:srgbClr val="FE00FF"/>
                </a:solidFill>
                <a:latin typeface="KTJCHM+ComicSansMS,Italic" panose="030F0702030302060204"/>
                <a:cs typeface="KTJCHM+ComicSansMS,Italic" panose="030F0702030302060204"/>
              </a:rPr>
              <a:t>an</a:t>
            </a:r>
            <a:r>
              <a:rPr sz="2400" strike="sngStrike" spc="121" dirty="0">
                <a:solidFill>
                  <a:srgbClr val="FE00FF"/>
                </a:solidFill>
                <a:latin typeface="KTJCHM+ComicSansMS,Italic" panose="030F0702030302060204"/>
                <a:cs typeface="KTJCHM+ComicSansMS,Italic" panose="030F0702030302060204"/>
              </a:rPr>
              <a:t> </a:t>
            </a:r>
            <a:r>
              <a:rPr sz="2400" strike="sngStrike" dirty="0">
                <a:solidFill>
                  <a:srgbClr val="FE00FF"/>
                </a:solidFill>
                <a:latin typeface="KTJCHM+ComicSansMS,Italic" panose="030F0702030302060204"/>
                <a:cs typeface="KTJCHM+ComicSansMS,Italic" panose="030F0702030302060204"/>
              </a:rPr>
              <a:t>incorrect</a:t>
            </a:r>
            <a:r>
              <a:rPr sz="2400" strike="sngStrike" spc="122" dirty="0">
                <a:solidFill>
                  <a:srgbClr val="FE00FF"/>
                </a:solidFill>
                <a:latin typeface="KTJCHM+ComicSansMS,Italic" panose="030F0702030302060204"/>
                <a:cs typeface="KTJCHM+ComicSansMS,Italic" panose="030F0702030302060204"/>
              </a:rPr>
              <a:t> </a:t>
            </a:r>
            <a:r>
              <a:rPr sz="2400" strike="dblStrike" dirty="0">
                <a:solidFill>
                  <a:srgbClr val="FE00FF"/>
                </a:solidFill>
                <a:latin typeface="KTJCHM+ComicSansMS,Italic" panose="030F0702030302060204"/>
                <a:cs typeface="KTJCHM+ComicSansMS,Italic" panose="030F0702030302060204"/>
              </a:rPr>
              <a:t>sign</a:t>
            </a:r>
            <a:r>
              <a:rPr sz="2400" strike="dblStrike" spc="122" dirty="0">
                <a:solidFill>
                  <a:srgbClr val="FE00FF"/>
                </a:solidFill>
                <a:latin typeface="KTJCHM+ComicSansMS,Italic" panose="030F0702030302060204"/>
                <a:cs typeface="KTJCHM+ComicSansMS,Italic" panose="030F0702030302060204"/>
              </a:rPr>
              <a:t> </a:t>
            </a:r>
            <a:r>
              <a:rPr sz="2400" strike="dblStrike" dirty="0">
                <a:solidFill>
                  <a:srgbClr val="FE00FF"/>
                </a:solidFill>
                <a:latin typeface="KTJCHM+ComicSansMS,Italic" panose="030F0702030302060204"/>
                <a:cs typeface="KTJCHM+ComicSansMS,Italic" panose="030F0702030302060204"/>
              </a:rPr>
              <a:t>bit.</a:t>
            </a:r>
            <a:endParaRPr sz="2400" strike="dblStrike" dirty="0">
              <a:solidFill>
                <a:srgbClr val="FE00FF"/>
              </a:solidFill>
              <a:latin typeface="KTJCHM+ComicSansMS,Italic" panose="030F0702030302060204"/>
              <a:cs typeface="KTJCHM+ComicSansMS,Italic" panose="030F070203030206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10926" y="3341761"/>
            <a:ext cx="7683291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overflow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can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occur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only</a:t>
            </a:r>
            <a:r>
              <a:rPr sz="2400" spc="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when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both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53825" y="3670945"/>
            <a:ext cx="5599547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positive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both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negative.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05769" y="4314073"/>
            <a:ext cx="190337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•</a:t>
            </a:r>
            <a:r>
              <a:rPr sz="2400" spc="105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[Example]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48669" y="4716409"/>
            <a:ext cx="7165887" cy="865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(a)</a:t>
            </a:r>
            <a:r>
              <a:rPr sz="2400" spc="-18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01111101(125)</a:t>
            </a:r>
            <a:r>
              <a:rPr sz="2400" spc="-17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+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00111010(58)</a:t>
            </a:r>
            <a:r>
              <a:rPr sz="2400" spc="-17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=10110111(183)</a:t>
            </a:r>
            <a:r>
              <a:rPr sz="2400" spc="-17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?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316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(b)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10001000</a:t>
            </a:r>
            <a:r>
              <a:rPr sz="2400" spc="-17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+</a:t>
            </a:r>
            <a:r>
              <a:rPr sz="2400" spc="-18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11101101</a:t>
            </a:r>
            <a:r>
              <a:rPr sz="2400" spc="-17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=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?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436499" y="896739"/>
            <a:ext cx="4037876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Subtraction</a:t>
            </a:r>
            <a:r>
              <a:rPr sz="3200" spc="10" dirty="0">
                <a:solidFill>
                  <a:srgbClr val="000099"/>
                </a:solidFill>
                <a:latin typeface="黑体" panose="02010609060101010101" charset="-122"/>
                <a:cs typeface="黑体" panose="02010609060101010101" charset="-122"/>
              </a:rPr>
              <a:t>（减法）</a:t>
            </a:r>
            <a:endParaRPr sz="3200" spc="10" dirty="0">
              <a:solidFill>
                <a:srgbClr val="000099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299601"/>
            <a:ext cx="761744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two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subtraction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spc="-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minuend</a:t>
            </a:r>
            <a:endParaRPr sz="2400" dirty="0">
              <a:solidFill>
                <a:srgbClr val="FE00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5329" y="1633357"/>
            <a:ext cx="756718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（被减数）</a:t>
            </a:r>
            <a:r>
              <a:rPr sz="2400" spc="113" dirty="0">
                <a:solidFill>
                  <a:srgbClr val="FE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subtrahend</a:t>
            </a:r>
            <a:r>
              <a:rPr sz="24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（减数）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results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5329" y="1962541"/>
            <a:ext cx="7291279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spc="-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difference</a:t>
            </a:r>
            <a:r>
              <a:rPr sz="24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（差）</a:t>
            </a:r>
            <a:r>
              <a:rPr sz="2400" spc="137" dirty="0">
                <a:solidFill>
                  <a:srgbClr val="FE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borrow</a:t>
            </a:r>
            <a:r>
              <a:rPr sz="24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（借位）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7669" y="2834376"/>
            <a:ext cx="6388675" cy="602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440"/>
              </a:lnSpc>
              <a:spcBef>
                <a:spcPts val="0"/>
              </a:spcBef>
              <a:spcAft>
                <a:spcPts val="0"/>
              </a:spcAft>
            </a:pPr>
            <a:r>
              <a:rPr sz="3400" spc="25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[</a:t>
            </a:r>
            <a:r>
              <a:rPr sz="340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x</a:t>
            </a:r>
            <a:r>
              <a:rPr sz="3400" i="1" spc="-23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3400" spc="4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i="1" spc="13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3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]</a:t>
            </a:r>
            <a:r>
              <a:rPr sz="3400" spc="2313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34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3400" spc="-32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spc="24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[</a:t>
            </a:r>
            <a:r>
              <a:rPr sz="340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x</a:t>
            </a:r>
            <a:r>
              <a:rPr sz="3400" i="1" spc="-228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3400" spc="-27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spc="9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(</a:t>
            </a:r>
            <a:r>
              <a:rPr sz="3400" spc="419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3400" i="1" spc="13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3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)]</a:t>
            </a:r>
            <a:r>
              <a:rPr sz="3400" spc="2297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3400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=</a:t>
            </a:r>
            <a:r>
              <a:rPr sz="3400" spc="-328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spc="25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[</a:t>
            </a:r>
            <a:r>
              <a:rPr sz="3400" i="1" spc="8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x</a:t>
            </a:r>
            <a:r>
              <a:rPr sz="3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]</a:t>
            </a:r>
            <a:r>
              <a:rPr sz="3400" spc="2104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3400" spc="365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+</a:t>
            </a:r>
            <a:r>
              <a:rPr sz="3400" spc="92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[</a:t>
            </a:r>
            <a:r>
              <a:rPr sz="3400" spc="419" dirty="0">
                <a:solidFill>
                  <a:srgbClr val="000000"/>
                </a:solidFill>
                <a:latin typeface="MMKOGF+Symbol" panose="02000500000000000000"/>
                <a:cs typeface="MMKOGF+Symbol" panose="02000500000000000000"/>
              </a:rPr>
              <a:t>−</a:t>
            </a:r>
            <a:r>
              <a:rPr sz="3400" i="1" spc="13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3400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]</a:t>
            </a:r>
            <a:endParaRPr sz="3400" dirty="0">
              <a:solidFill>
                <a:srgbClr val="000000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29027" y="3154740"/>
            <a:ext cx="403905" cy="3176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000" spc="9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00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endParaRPr sz="200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30844" y="3154740"/>
            <a:ext cx="403905" cy="3176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000" spc="9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00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endParaRPr sz="200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58426" y="3154740"/>
            <a:ext cx="403906" cy="3176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000" spc="9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00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endParaRPr sz="200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15357" y="3154740"/>
            <a:ext cx="403906" cy="3176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000" spc="98" dirty="0">
                <a:solidFill>
                  <a:srgbClr val="000000"/>
                </a:solidFill>
                <a:latin typeface="DDMTRG+TimesNewRoman" panose="02020603050405020304"/>
                <a:cs typeface="DDMTRG+TimesNewRoman" panose="02020603050405020304"/>
              </a:rPr>
              <a:t>2</a:t>
            </a:r>
            <a:r>
              <a:rPr sz="2000" i="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endParaRPr sz="2000" i="1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6273" y="3333053"/>
            <a:ext cx="917240" cy="3216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minuend</a:t>
            </a:r>
            <a:endParaRPr sz="1600" dirty="0">
              <a:solidFill>
                <a:srgbClr val="FE00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01931" y="3405443"/>
            <a:ext cx="1329711" cy="3216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substrahend</a:t>
            </a:r>
            <a:endParaRPr sz="1600" dirty="0">
              <a:solidFill>
                <a:srgbClr val="FE00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47273" y="3591697"/>
            <a:ext cx="7617007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•</a:t>
            </a:r>
            <a:r>
              <a:rPr sz="2400" spc="105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subtraction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process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stated</a:t>
            </a:r>
            <a:r>
              <a:rPr sz="2400" spc="-1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as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follows:</a:t>
            </a:r>
            <a:r>
              <a:rPr sz="2400" spc="-1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take</a:t>
            </a:r>
            <a:endParaRPr sz="2400" dirty="0">
              <a:solidFill>
                <a:srgbClr val="C00000"/>
              </a:solidFill>
              <a:latin typeface="BJJSOR+ComicSansMS,Bold" panose="030F0902030302020204"/>
              <a:cs typeface="BJJSOR+ComicSansMS,Bold" panose="030F09020303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90173" y="3920881"/>
            <a:ext cx="725244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the</a:t>
            </a:r>
            <a:r>
              <a:rPr sz="2400" spc="435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2’s</a:t>
            </a:r>
            <a:r>
              <a:rPr sz="2400" spc="436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complement</a:t>
            </a:r>
            <a:r>
              <a:rPr sz="2400" spc="435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of</a:t>
            </a:r>
            <a:r>
              <a:rPr sz="2400" spc="434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the</a:t>
            </a:r>
            <a:r>
              <a:rPr sz="2400" spc="435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subtrahend</a:t>
            </a:r>
            <a:r>
              <a:rPr sz="2400" spc="435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and</a:t>
            </a:r>
            <a:r>
              <a:rPr sz="2400" spc="454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add.</a:t>
            </a:r>
            <a:endParaRPr sz="2400" dirty="0">
              <a:solidFill>
                <a:srgbClr val="C00000"/>
              </a:solidFill>
              <a:latin typeface="BJJSOR+ComicSansMS,Bold" panose="030F0902030302020204"/>
              <a:cs typeface="BJJSOR+ComicSansMS,Bold" panose="030F09020303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90173" y="4250065"/>
            <a:ext cx="427067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Discard</a:t>
            </a:r>
            <a:r>
              <a:rPr sz="2400" spc="452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any</a:t>
            </a:r>
            <a:r>
              <a:rPr sz="2400" spc="454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final</a:t>
            </a:r>
            <a:r>
              <a:rPr sz="2400" spc="454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carry</a:t>
            </a:r>
            <a:r>
              <a:rPr sz="2400" spc="454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BJJSOR+ComicSansMS,Bold" panose="030F0902030302020204"/>
                <a:cs typeface="BJJSOR+ComicSansMS,Bold" panose="030F0902030302020204"/>
              </a:rPr>
              <a:t>bit.</a:t>
            </a:r>
            <a:endParaRPr sz="2400" dirty="0">
              <a:solidFill>
                <a:srgbClr val="C00000"/>
              </a:solidFill>
              <a:latin typeface="BJJSOR+ComicSansMS,Bold" panose="030F0902030302020204"/>
              <a:cs typeface="BJJSOR+ComicSansMS,Bold" panose="030F09020303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47273" y="4887097"/>
            <a:ext cx="190337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•</a:t>
            </a:r>
            <a:r>
              <a:rPr sz="2400" spc="105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[Example]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90173" y="5289433"/>
            <a:ext cx="4061620" cy="865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(a)</a:t>
            </a:r>
            <a:r>
              <a:rPr sz="2400" spc="-17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0001000</a:t>
            </a:r>
            <a:r>
              <a:rPr sz="2400" spc="-17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-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00000011</a:t>
            </a:r>
            <a:r>
              <a:rPr sz="2400" spc="-15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=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?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316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(b)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11100111</a:t>
            </a:r>
            <a:r>
              <a:rPr sz="2400" spc="-2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-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00010011</a:t>
            </a:r>
            <a:r>
              <a:rPr sz="2400" spc="-2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=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?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490601" y="858639"/>
            <a:ext cx="4396787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Multiplication</a:t>
            </a:r>
            <a:r>
              <a:rPr sz="3200" spc="10" dirty="0">
                <a:solidFill>
                  <a:srgbClr val="000099"/>
                </a:solidFill>
                <a:latin typeface="黑体" panose="02010609060101010101" charset="-122"/>
                <a:cs typeface="黑体" panose="02010609060101010101" charset="-122"/>
              </a:rPr>
              <a:t>（乘法）</a:t>
            </a:r>
            <a:endParaRPr sz="3200" spc="10" dirty="0">
              <a:solidFill>
                <a:srgbClr val="000099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299601"/>
            <a:ext cx="664779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two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multiplication</a:t>
            </a:r>
            <a:r>
              <a:rPr sz="2400" spc="18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5329" y="1633357"/>
            <a:ext cx="718079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multiplicand</a:t>
            </a:r>
            <a:r>
              <a:rPr sz="24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（被乘数）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spc="27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multiplier</a:t>
            </a:r>
            <a:r>
              <a:rPr sz="24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（乘数）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5329" y="1962541"/>
            <a:ext cx="472715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result</a:t>
            </a:r>
            <a:r>
              <a:rPr sz="2400" spc="-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product</a:t>
            </a:r>
            <a:r>
              <a:rPr sz="24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（积）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7273" y="2442601"/>
            <a:ext cx="748144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•</a:t>
            </a:r>
            <a:r>
              <a:rPr sz="2400" spc="105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multiplication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operation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most</a:t>
            </a:r>
            <a:r>
              <a:rPr sz="2400" spc="-15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computers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90173" y="2776357"/>
            <a:ext cx="772668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accomplished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using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partial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product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method</a:t>
            </a:r>
            <a:r>
              <a:rPr sz="2400" dirty="0">
                <a:solidFill>
                  <a:srgbClr val="FE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（部分积方</a:t>
            </a:r>
            <a:endParaRPr sz="2400" dirty="0">
              <a:solidFill>
                <a:srgbClr val="FE00FF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90172" y="3105541"/>
            <a:ext cx="738391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E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法）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basic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steps</a:t>
            </a:r>
            <a:r>
              <a:rPr sz="2400" spc="-2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process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as</a:t>
            </a:r>
            <a:r>
              <a:rPr sz="2400" spc="-2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follows: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4473" y="3504705"/>
            <a:ext cx="7177591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–</a:t>
            </a:r>
            <a:r>
              <a:rPr sz="2000" spc="767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Determine</a:t>
            </a:r>
            <a:r>
              <a:rPr sz="2000" spc="27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if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signs</a:t>
            </a:r>
            <a:r>
              <a:rPr sz="2000" spc="23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two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000" spc="2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000" spc="15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same.</a:t>
            </a:r>
            <a:endParaRPr sz="20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4448" y="3779030"/>
            <a:ext cx="7690056" cy="10622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This</a:t>
            </a:r>
            <a:r>
              <a:rPr sz="2000" spc="14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determines</a:t>
            </a:r>
            <a:r>
              <a:rPr sz="2000" spc="3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what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sign</a:t>
            </a:r>
            <a:r>
              <a:rPr sz="2000" spc="18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product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will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be.</a:t>
            </a:r>
            <a:endParaRPr sz="20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–</a:t>
            </a:r>
            <a:r>
              <a:rPr sz="2000" spc="767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Change</a:t>
            </a:r>
            <a:r>
              <a:rPr sz="2000" spc="14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any</a:t>
            </a:r>
            <a:r>
              <a:rPr sz="2000" spc="15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negative</a:t>
            </a:r>
            <a:r>
              <a:rPr sz="2000" spc="3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000" spc="14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70C0"/>
                </a:solidFill>
                <a:latin typeface="BJJSOR+ComicSansMS,Bold" panose="030F0902030302020204"/>
                <a:cs typeface="BJJSOR+ComicSansMS,Bold" panose="030F0902030302020204"/>
              </a:rPr>
              <a:t>true</a:t>
            </a:r>
            <a:r>
              <a:rPr sz="2000" spc="359" dirty="0">
                <a:solidFill>
                  <a:srgbClr val="0070C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000" dirty="0">
                <a:solidFill>
                  <a:srgbClr val="0070C0"/>
                </a:solidFill>
                <a:latin typeface="BJJSOR+ComicSansMS,Bold" panose="030F0902030302020204"/>
                <a:cs typeface="BJJSOR+ComicSansMS,Bold" panose="030F0902030302020204"/>
              </a:rPr>
              <a:t>(uncomplemented)</a:t>
            </a:r>
            <a:r>
              <a:rPr sz="2000" spc="371" dirty="0">
                <a:solidFill>
                  <a:srgbClr val="0070C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000" dirty="0">
                <a:solidFill>
                  <a:srgbClr val="0070C0"/>
                </a:solidFill>
                <a:latin typeface="BJJSOR+ComicSansMS,Bold" panose="030F0902030302020204"/>
                <a:cs typeface="BJJSOR+ComicSansMS,Bold" panose="030F0902030302020204"/>
              </a:rPr>
              <a:t>form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endParaRPr sz="20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2640"/>
              </a:lnSpc>
              <a:spcBef>
                <a:spcPts val="5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–</a:t>
            </a:r>
            <a:r>
              <a:rPr sz="2000" spc="767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Starting</a:t>
            </a:r>
            <a:r>
              <a:rPr sz="2000" spc="15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with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LSB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multiplicand,</a:t>
            </a:r>
            <a:r>
              <a:rPr sz="2000" spc="27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generate</a:t>
            </a:r>
            <a:r>
              <a:rPr sz="2000" spc="3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0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90192" y="4723903"/>
            <a:ext cx="7107159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partial</a:t>
            </a:r>
            <a:r>
              <a:rPr sz="2000" spc="27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products.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Shift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each</a:t>
            </a:r>
            <a:r>
              <a:rPr sz="2000" spc="14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successive</a:t>
            </a:r>
            <a:r>
              <a:rPr sz="2000" spc="31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partial</a:t>
            </a:r>
            <a:r>
              <a:rPr sz="2000" spc="2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product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one</a:t>
            </a:r>
            <a:endParaRPr sz="2000" dirty="0">
              <a:solidFill>
                <a:srgbClr val="FF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90192" y="4998228"/>
            <a:ext cx="1898609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left.</a:t>
            </a:r>
            <a:endParaRPr sz="2000" dirty="0">
              <a:solidFill>
                <a:srgbClr val="FF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04448" y="5333503"/>
            <a:ext cx="7468461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–</a:t>
            </a:r>
            <a:r>
              <a:rPr sz="2000" spc="767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Add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each</a:t>
            </a:r>
            <a:r>
              <a:rPr sz="2000" spc="15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partial</a:t>
            </a:r>
            <a:r>
              <a:rPr sz="2000" spc="27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product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sum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previous</a:t>
            </a:r>
            <a:r>
              <a:rPr sz="2000" spc="27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partial</a:t>
            </a:r>
            <a:endParaRPr sz="20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90191" y="5607827"/>
            <a:ext cx="4149387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products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get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final</a:t>
            </a:r>
            <a:r>
              <a:rPr sz="2000" spc="2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product.</a:t>
            </a:r>
            <a:endParaRPr sz="20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04448" y="5943102"/>
            <a:ext cx="6436955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–</a:t>
            </a:r>
            <a:r>
              <a:rPr sz="2000" spc="767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If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sign</a:t>
            </a:r>
            <a:r>
              <a:rPr sz="2000" spc="18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product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negative,</a:t>
            </a:r>
            <a:r>
              <a:rPr sz="2000" spc="34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take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2’s</a:t>
            </a:r>
            <a:endParaRPr sz="2000" dirty="0">
              <a:solidFill>
                <a:srgbClr val="FF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90191" y="6217427"/>
            <a:ext cx="6582893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complement</a:t>
            </a:r>
            <a:r>
              <a:rPr sz="2000" spc="2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product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Attach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sign</a:t>
            </a:r>
            <a:r>
              <a:rPr sz="2000" spc="1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0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90191" y="6491751"/>
            <a:ext cx="1137625" cy="3917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product.</a:t>
            </a:r>
            <a:endParaRPr sz="20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952373" y="858639"/>
            <a:ext cx="3472481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Division</a:t>
            </a:r>
            <a:r>
              <a:rPr sz="3200" b="1" spc="-1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10" dirty="0">
                <a:solidFill>
                  <a:srgbClr val="000099"/>
                </a:solidFill>
                <a:latin typeface="黑体" panose="02010609060101010101" charset="-122"/>
                <a:cs typeface="黑体" panose="02010609060101010101" charset="-122"/>
              </a:rPr>
              <a:t>（除法）</a:t>
            </a:r>
            <a:endParaRPr sz="3200" spc="10" dirty="0">
              <a:solidFill>
                <a:srgbClr val="000099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304173"/>
            <a:ext cx="767867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two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division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dividend</a:t>
            </a:r>
            <a:r>
              <a:rPr sz="24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（被</a:t>
            </a:r>
            <a:endParaRPr sz="2400" dirty="0">
              <a:solidFill>
                <a:srgbClr val="FE00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5329" y="1633357"/>
            <a:ext cx="742869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除数）</a:t>
            </a:r>
            <a:r>
              <a:rPr sz="2400" spc="113" dirty="0">
                <a:solidFill>
                  <a:srgbClr val="FE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divisor</a:t>
            </a:r>
            <a:r>
              <a:rPr sz="24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（除数）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results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5329" y="1962541"/>
            <a:ext cx="6234386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quotient</a:t>
            </a:r>
            <a:r>
              <a:rPr sz="24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（商）</a:t>
            </a:r>
            <a:r>
              <a:rPr sz="2400" spc="125" dirty="0">
                <a:solidFill>
                  <a:srgbClr val="FE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remainder</a:t>
            </a:r>
            <a:r>
              <a:rPr sz="2400" dirty="0">
                <a:solidFill>
                  <a:srgbClr val="FE00FF"/>
                </a:solidFill>
                <a:latin typeface="黑体" panose="02010609060101010101" charset="-122"/>
                <a:cs typeface="黑体" panose="02010609060101010101" charset="-122"/>
              </a:rPr>
              <a:t>（余数）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7273" y="2442601"/>
            <a:ext cx="716027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•</a:t>
            </a:r>
            <a:r>
              <a:rPr sz="2400" spc="105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basic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steps</a:t>
            </a:r>
            <a:r>
              <a:rPr sz="2400" spc="-18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division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process</a:t>
            </a:r>
            <a:r>
              <a:rPr sz="2400" spc="-14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as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90173" y="2771785"/>
            <a:ext cx="1243348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follows: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4473" y="3175521"/>
            <a:ext cx="7176475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–</a:t>
            </a:r>
            <a:r>
              <a:rPr sz="2000" spc="767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Determine</a:t>
            </a:r>
            <a:r>
              <a:rPr sz="2000" spc="25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if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signs</a:t>
            </a:r>
            <a:r>
              <a:rPr sz="2000" spc="2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two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000" spc="2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000" spc="14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same.</a:t>
            </a:r>
            <a:endParaRPr sz="20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4448" y="3449846"/>
            <a:ext cx="7690056" cy="10622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This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determines</a:t>
            </a:r>
            <a:r>
              <a:rPr sz="2000" spc="3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what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sign</a:t>
            </a:r>
            <a:r>
              <a:rPr sz="2000" spc="2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quotient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will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be.</a:t>
            </a:r>
            <a:endParaRPr sz="20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–</a:t>
            </a:r>
            <a:r>
              <a:rPr sz="2000" spc="767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Change</a:t>
            </a:r>
            <a:r>
              <a:rPr sz="2000" spc="14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any</a:t>
            </a:r>
            <a:r>
              <a:rPr sz="2000" spc="15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negative</a:t>
            </a:r>
            <a:r>
              <a:rPr sz="2000" spc="3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000" spc="14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70C0"/>
                </a:solidFill>
                <a:latin typeface="BJJSOR+ComicSansMS,Bold" panose="030F0902030302020204"/>
                <a:cs typeface="BJJSOR+ComicSansMS,Bold" panose="030F0902030302020204"/>
              </a:rPr>
              <a:t>true</a:t>
            </a:r>
            <a:r>
              <a:rPr sz="2000" spc="359" dirty="0">
                <a:solidFill>
                  <a:srgbClr val="0070C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000" dirty="0">
                <a:solidFill>
                  <a:srgbClr val="0070C0"/>
                </a:solidFill>
                <a:latin typeface="BJJSOR+ComicSansMS,Bold" panose="030F0902030302020204"/>
                <a:cs typeface="BJJSOR+ComicSansMS,Bold" panose="030F0902030302020204"/>
              </a:rPr>
              <a:t>(uncomplemented)</a:t>
            </a:r>
            <a:r>
              <a:rPr sz="2000" spc="371" dirty="0">
                <a:solidFill>
                  <a:srgbClr val="0070C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000" dirty="0">
                <a:solidFill>
                  <a:srgbClr val="0070C0"/>
                </a:solidFill>
                <a:latin typeface="BJJSOR+ComicSansMS,Bold" panose="030F0902030302020204"/>
                <a:cs typeface="BJJSOR+ComicSansMS,Bold" panose="030F0902030302020204"/>
              </a:rPr>
              <a:t>form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endParaRPr sz="20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2640"/>
              </a:lnSpc>
              <a:spcBef>
                <a:spcPts val="5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–</a:t>
            </a:r>
            <a:r>
              <a:rPr sz="2000" spc="767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Initialize</a:t>
            </a:r>
            <a:r>
              <a:rPr sz="2000" spc="3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quotient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zero</a:t>
            </a:r>
            <a:r>
              <a:rPr sz="2000" spc="14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initialize</a:t>
            </a:r>
            <a:r>
              <a:rPr sz="2000" spc="3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partial</a:t>
            </a:r>
            <a:endParaRPr sz="20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90192" y="4394719"/>
            <a:ext cx="3290761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remainder</a:t>
            </a:r>
            <a:r>
              <a:rPr sz="2000" spc="3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dividend.</a:t>
            </a:r>
            <a:endParaRPr sz="20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04448" y="4729994"/>
            <a:ext cx="7214839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–</a:t>
            </a:r>
            <a:r>
              <a:rPr sz="2000" spc="769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Subtract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divisor</a:t>
            </a:r>
            <a:r>
              <a:rPr sz="2000" spc="18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from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partial</a:t>
            </a:r>
            <a:r>
              <a:rPr sz="2000" spc="25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remainder</a:t>
            </a:r>
            <a:r>
              <a:rPr sz="2000" spc="3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using</a:t>
            </a:r>
            <a:r>
              <a:rPr sz="2000" spc="14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2’s</a:t>
            </a:r>
            <a:endParaRPr sz="20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90192" y="5004318"/>
            <a:ext cx="7021785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complement</a:t>
            </a:r>
            <a:r>
              <a:rPr sz="2000" spc="2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addition</a:t>
            </a:r>
            <a:r>
              <a:rPr sz="2000" spc="2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get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next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partial</a:t>
            </a:r>
            <a:r>
              <a:rPr sz="2000" spc="2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remainder.</a:t>
            </a:r>
            <a:r>
              <a:rPr sz="2000" spc="34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If</a:t>
            </a:r>
            <a:endParaRPr sz="20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90192" y="5278643"/>
            <a:ext cx="7051288" cy="9403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result</a:t>
            </a:r>
            <a:r>
              <a:rPr sz="2000" spc="14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000" spc="14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positive,</a:t>
            </a:r>
            <a:r>
              <a:rPr sz="2000" spc="27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add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quotient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000" spc="1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repeat</a:t>
            </a:r>
            <a:r>
              <a:rPr sz="2000" spc="25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for</a:t>
            </a:r>
            <a:endParaRPr sz="20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next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partial</a:t>
            </a:r>
            <a:r>
              <a:rPr sz="2000" spc="27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remainder;</a:t>
            </a:r>
            <a:r>
              <a:rPr sz="2000" spc="34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otherwise,</a:t>
            </a:r>
            <a:r>
              <a:rPr sz="2000" spc="15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division</a:t>
            </a:r>
            <a:r>
              <a:rPr sz="2000" spc="25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endParaRPr sz="20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complete.</a:t>
            </a:r>
            <a:endParaRPr sz="20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02893" y="821301"/>
            <a:ext cx="1732165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Division</a:t>
            </a:r>
            <a:endParaRPr sz="32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6908" y="1654693"/>
            <a:ext cx="6627207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[Example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2-23]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Divide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01100100</a:t>
            </a:r>
            <a:r>
              <a:rPr sz="24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100</a:t>
            </a:r>
            <a:r>
              <a:rPr sz="24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2400" spc="95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9808" y="1983877"/>
            <a:ext cx="247590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00011001</a:t>
            </a:r>
            <a:r>
              <a:rPr sz="24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25</a:t>
            </a:r>
            <a:r>
              <a:rPr sz="24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2400" dirty="0">
              <a:solidFill>
                <a:srgbClr val="0099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6908" y="2386213"/>
            <a:ext cx="678265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[Example</a:t>
            </a:r>
            <a:r>
              <a:rPr sz="2400" spc="-2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2-23a]</a:t>
            </a:r>
            <a:r>
              <a:rPr sz="2400" spc="-2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Divide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01100100</a:t>
            </a:r>
            <a:r>
              <a:rPr sz="24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100</a:t>
            </a:r>
            <a:r>
              <a:rPr sz="24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2400" spc="89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9808" y="2715397"/>
            <a:ext cx="247590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00011010</a:t>
            </a:r>
            <a:r>
              <a:rPr sz="24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26</a:t>
            </a:r>
            <a:r>
              <a:rPr sz="24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2400" dirty="0">
              <a:solidFill>
                <a:srgbClr val="0099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66908" y="3117733"/>
            <a:ext cx="6808562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[Example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2-23b]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Divide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01100100</a:t>
            </a:r>
            <a:r>
              <a:rPr sz="24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100</a:t>
            </a:r>
            <a:r>
              <a:rPr sz="24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2400" spc="95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9807" y="3446917"/>
            <a:ext cx="2456408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11100111</a:t>
            </a:r>
            <a:r>
              <a:rPr sz="24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-26</a:t>
            </a:r>
            <a:r>
              <a:rPr sz="24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2400" dirty="0">
              <a:solidFill>
                <a:srgbClr val="0099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6908" y="3849253"/>
            <a:ext cx="6861902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[Example</a:t>
            </a:r>
            <a:r>
              <a:rPr sz="2400" spc="-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2-23c]</a:t>
            </a:r>
            <a:r>
              <a:rPr sz="2400" spc="-18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WCJSHW+ComicSansMS" panose="030F0702030302020204"/>
                <a:cs typeface="WCJSHW+ComicSansMS" panose="030F0702030302020204"/>
              </a:rPr>
              <a:t>Divide</a:t>
            </a:r>
            <a:r>
              <a:rPr sz="2400" dirty="0">
                <a:solidFill>
                  <a:srgbClr val="C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WCJSHW+ComicSansMS" panose="030F0702030302020204"/>
                <a:cs typeface="WCJSHW+ComicSansMS" panose="030F0702030302020204"/>
              </a:rPr>
              <a:t>10011100</a:t>
            </a:r>
            <a:r>
              <a:rPr sz="2400" dirty="0">
                <a:solidFill>
                  <a:srgbClr val="C00000"/>
                </a:solidFill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2400" dirty="0">
                <a:solidFill>
                  <a:srgbClr val="C00000"/>
                </a:solidFill>
                <a:latin typeface="WCJSHW+ComicSansMS" panose="030F0702030302020204"/>
                <a:cs typeface="WCJSHW+ComicSansMS" panose="030F0702030302020204"/>
              </a:rPr>
              <a:t>-100</a:t>
            </a:r>
            <a:r>
              <a:rPr sz="2400" dirty="0">
                <a:solidFill>
                  <a:srgbClr val="C00000"/>
                </a:solidFill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2400" spc="89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C00000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endParaRPr sz="2400" dirty="0">
              <a:solidFill>
                <a:srgbClr val="C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9808" y="4178437"/>
            <a:ext cx="2708909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WCJSHW+ComicSansMS" panose="030F0702030302020204"/>
                <a:cs typeface="WCJSHW+ComicSansMS" panose="030F0702030302020204"/>
              </a:rPr>
              <a:t>00011010</a:t>
            </a:r>
            <a:r>
              <a:rPr sz="2400" spc="-14" dirty="0">
                <a:solidFill>
                  <a:srgbClr val="C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C00000"/>
                </a:solidFill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2400" dirty="0">
                <a:solidFill>
                  <a:srgbClr val="C00000"/>
                </a:solidFill>
                <a:latin typeface="WCJSHW+ComicSansMS" panose="030F0702030302020204"/>
                <a:cs typeface="WCJSHW+ComicSansMS" panose="030F0702030302020204"/>
              </a:rPr>
              <a:t>+26</a:t>
            </a:r>
            <a:r>
              <a:rPr sz="2400" dirty="0">
                <a:solidFill>
                  <a:srgbClr val="C00000"/>
                </a:solidFill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2400" dirty="0">
              <a:solidFill>
                <a:srgbClr val="C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66908" y="4580773"/>
            <a:ext cx="6884761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[Example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2-23d]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Divide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10011100</a:t>
            </a:r>
            <a:r>
              <a:rPr sz="24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-100</a:t>
            </a:r>
            <a:r>
              <a:rPr sz="24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）</a:t>
            </a:r>
            <a:r>
              <a:rPr sz="2400" spc="95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09806" y="4909957"/>
            <a:ext cx="2542031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11100111</a:t>
            </a:r>
            <a:r>
              <a:rPr sz="2400" spc="-2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（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-26</a:t>
            </a:r>
            <a:r>
              <a:rPr sz="24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）</a:t>
            </a:r>
            <a:endParaRPr sz="2400" dirty="0">
              <a:solidFill>
                <a:srgbClr val="0099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33336" y="2432382"/>
            <a:ext cx="5655304" cy="1231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3080" marR="0">
              <a:lnSpc>
                <a:spcPts val="501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2-8</a:t>
            </a:r>
            <a:r>
              <a:rPr sz="3600" spc="673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HEXADECIMAL</a:t>
            </a:r>
            <a:endParaRPr sz="3600" dirty="0">
              <a:solidFill>
                <a:srgbClr val="000099"/>
              </a:solidFill>
              <a:latin typeface="BJJSOR+ComicSansMS,Bold" panose="030F0902030302020204"/>
              <a:cs typeface="BJJSOR+ComicSansMS,Bold" panose="030F0902030302020204"/>
            </a:endParaRPr>
          </a:p>
          <a:p>
            <a:pPr marL="0" marR="0">
              <a:lnSpc>
                <a:spcPts val="438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NUMBERS</a:t>
            </a:r>
            <a:r>
              <a:rPr sz="3600" dirty="0">
                <a:solidFill>
                  <a:srgbClr val="000099"/>
                </a:solidFill>
                <a:latin typeface="黑体" panose="02010609060101010101" charset="-122"/>
                <a:cs typeface="黑体" panose="02010609060101010101" charset="-122"/>
              </a:rPr>
              <a:t>（十六进制数）</a:t>
            </a:r>
            <a:endParaRPr sz="3600" dirty="0">
              <a:solidFill>
                <a:srgbClr val="000099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763397" y="854829"/>
            <a:ext cx="3852122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Why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Hexadecimal?</a:t>
            </a:r>
            <a:endParaRPr sz="32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721749"/>
            <a:ext cx="780274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As</a:t>
            </a:r>
            <a:r>
              <a:rPr sz="2400" spc="-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you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spc="-17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probably</a:t>
            </a:r>
            <a:r>
              <a:rPr sz="2400" spc="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aware,</a:t>
            </a:r>
            <a:r>
              <a:rPr sz="2400" spc="-3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long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endParaRPr sz="2400" dirty="0">
              <a:solidFill>
                <a:srgbClr val="FF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5329" y="2050933"/>
            <a:ext cx="689338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difficult</a:t>
            </a:r>
            <a:r>
              <a:rPr sz="2400" spc="2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read</a:t>
            </a:r>
            <a:r>
              <a:rPr sz="2400" spc="-15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write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because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easy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5329" y="2380117"/>
            <a:ext cx="6934265" cy="792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drop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transpose</a:t>
            </a:r>
            <a:r>
              <a:rPr sz="2400" spc="-18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bit.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Since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computers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microprocessors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understand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only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0s,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95329" y="3038485"/>
            <a:ext cx="726583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necessary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use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these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digits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when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you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program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95329" y="3367669"/>
            <a:ext cx="2661886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machine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language.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2429" y="4271454"/>
            <a:ext cx="7810500" cy="3514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用二进制来表示一个数字需要占用较多的位数，书写起</a:t>
            </a:r>
            <a:endParaRPr sz="2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5329" y="4506097"/>
            <a:ext cx="7348835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来较为麻烦，容易出错。但是计算机系统中只能识别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95329" y="4835281"/>
            <a:ext cx="7300019" cy="746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和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</a:t>
            </a:r>
            <a:r>
              <a:rPr sz="2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两个数字，因此在计算机的实际执行代码中必须采</a:t>
            </a:r>
            <a:endParaRPr sz="2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用二进制。</a:t>
            </a:r>
            <a:endParaRPr sz="2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763397" y="854829"/>
            <a:ext cx="3852122" cy="491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Why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Hexadecimal?</a:t>
            </a:r>
            <a:endParaRPr sz="32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650121"/>
            <a:ext cx="7897465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hexadecimal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system</a:t>
            </a:r>
            <a:r>
              <a:rPr sz="2400" spc="-2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has</a:t>
            </a:r>
            <a:r>
              <a:rPr sz="2400" spc="-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16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digits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5329" y="1979305"/>
            <a:ext cx="695034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used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primarily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compact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way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displaying</a:t>
            </a:r>
            <a:r>
              <a:rPr sz="2400" spc="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or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5329" y="2308489"/>
            <a:ext cx="709619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writing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because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very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easy</a:t>
            </a:r>
            <a:r>
              <a:rPr sz="2400" spc="-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95329" y="2637673"/>
            <a:ext cx="598780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convert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between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hexadecimal.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2429" y="3196981"/>
            <a:ext cx="7828788" cy="1075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十六进制数具有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16</a:t>
            </a:r>
            <a:r>
              <a:rPr sz="2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个数字，是一种高效紧凑表示二进制</a:t>
            </a:r>
            <a:endParaRPr sz="2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42900" marR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数的一种技术方法，同时十六进制数和二进制数之间的</a:t>
            </a:r>
            <a:endParaRPr sz="2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42900" marR="0">
              <a:lnSpc>
                <a:spcPts val="2400"/>
              </a:lnSpc>
              <a:spcBef>
                <a:spcPts val="8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转换也非常方便。</a:t>
            </a:r>
            <a:endParaRPr sz="2400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2429" y="4405513"/>
            <a:ext cx="746368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10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numeric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digits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(0,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2,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3,</a:t>
            </a:r>
            <a:r>
              <a:rPr sz="2400" spc="27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4,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5,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6,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7,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8,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9)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6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5329" y="4734697"/>
            <a:ext cx="7445121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alphabetic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characters</a:t>
            </a:r>
            <a:r>
              <a:rPr sz="2400" spc="-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(A,</a:t>
            </a:r>
            <a:r>
              <a:rPr sz="2400" spc="-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F)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make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up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95329" y="5063881"/>
            <a:ext cx="4205149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hexadecimal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system.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79021" y="908475"/>
            <a:ext cx="6821043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Relationship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between</a:t>
            </a:r>
            <a:r>
              <a:rPr sz="2400" b="1" spc="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hexadecimal</a:t>
            </a:r>
            <a:r>
              <a:rPr sz="2400" b="1" spc="1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binary</a:t>
            </a:r>
            <a:endParaRPr sz="24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336177"/>
            <a:ext cx="7434836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Each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hexadecimal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digit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represents</a:t>
            </a:r>
            <a:r>
              <a:rPr sz="2400" spc="-18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4-bit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5329" y="1701937"/>
            <a:ext cx="1277391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2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814707" y="793412"/>
            <a:ext cx="5215871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Binary-to-Hexadecimal</a:t>
            </a:r>
            <a:r>
              <a:rPr sz="2400" b="1" u="sng" spc="23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Conversion</a:t>
            </a:r>
            <a:endParaRPr sz="2400" b="1" u="sng" dirty="0">
              <a:solidFill>
                <a:srgbClr val="C0504D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2429" y="1405042"/>
            <a:ext cx="7727962" cy="1107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Very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straightforward!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Simply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break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number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into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342900" marR="0">
              <a:lnSpc>
                <a:spcPts val="2655"/>
              </a:lnSpc>
              <a:spcBef>
                <a:spcPts val="17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4-bit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groups,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starting</a:t>
            </a:r>
            <a:r>
              <a:rPr sz="2400" spc="-11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at</a:t>
            </a:r>
            <a:r>
              <a:rPr sz="2400" spc="-11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right-most</a:t>
            </a:r>
            <a:r>
              <a:rPr sz="2400" spc="-11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bit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and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replace</a:t>
            </a:r>
            <a:r>
              <a:rPr sz="2400" spc="-17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each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342900" marR="0">
              <a:lnSpc>
                <a:spcPts val="2655"/>
              </a:lnSpc>
              <a:spcBef>
                <a:spcPts val="22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4-bit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group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with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equivalent</a:t>
            </a:r>
            <a:r>
              <a:rPr sz="2400" spc="-17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hexadecimal</a:t>
            </a:r>
            <a:r>
              <a:rPr sz="2400" spc="-17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symbol.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2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814707" y="793412"/>
            <a:ext cx="5215871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Hexadecimal-to-Binary</a:t>
            </a:r>
            <a:r>
              <a:rPr sz="2400" b="1" u="sng" spc="23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Conversion</a:t>
            </a:r>
            <a:endParaRPr sz="2400" b="1" u="sng" dirty="0">
              <a:solidFill>
                <a:srgbClr val="C0504D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2429" y="1405042"/>
            <a:ext cx="7319965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Very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straightforward!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Simply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replace</a:t>
            </a:r>
            <a:r>
              <a:rPr sz="2400" spc="-17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each</a:t>
            </a:r>
            <a:r>
              <a:rPr sz="2400" spc="-17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hexadecimal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5329" y="1770803"/>
            <a:ext cx="4972690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symbol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with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equivalent</a:t>
            </a:r>
            <a:r>
              <a:rPr sz="2400" spc="-17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4-bit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group.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2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704217" y="793412"/>
            <a:ext cx="5437096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Hexadecimal-to-Decimal</a:t>
            </a:r>
            <a:r>
              <a:rPr sz="2400" b="1" u="sng" spc="23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Conversion</a:t>
            </a:r>
            <a:endParaRPr sz="2400" b="1" u="sng" dirty="0">
              <a:solidFill>
                <a:srgbClr val="C0504D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2429" y="1405042"/>
            <a:ext cx="7738006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Multiply</a:t>
            </a:r>
            <a:r>
              <a:rPr sz="2400" spc="-11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400" spc="-11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decimal</a:t>
            </a:r>
            <a:r>
              <a:rPr sz="2400" spc="-17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value</a:t>
            </a:r>
            <a:r>
              <a:rPr sz="2400" spc="-11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each</a:t>
            </a:r>
            <a:r>
              <a:rPr sz="2400" spc="-17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hexadecimal</a:t>
            </a:r>
            <a:r>
              <a:rPr sz="2400" spc="-17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digit</a:t>
            </a:r>
            <a:r>
              <a:rPr sz="2400" spc="-11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by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its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5329" y="1770803"/>
            <a:ext cx="5947013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weight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and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then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take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sum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these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products.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2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26671" y="881307"/>
            <a:ext cx="6325555" cy="435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Decimal-to-Hexadecimal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Conversion</a:t>
            </a:r>
            <a:endParaRPr sz="2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71351" y="1686697"/>
            <a:ext cx="7314962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Repeated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division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16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will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4251" y="2052457"/>
            <a:ext cx="6426928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produce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equivalent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hexadecimal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71351" y="2491369"/>
            <a:ext cx="7786658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[Example</a:t>
            </a:r>
            <a:r>
              <a:rPr sz="2400" spc="-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2-28]</a:t>
            </a:r>
            <a:r>
              <a:rPr sz="2400" spc="-2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Convert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650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4251" y="2857129"/>
            <a:ext cx="5767035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hexadecimal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repeated</a:t>
            </a:r>
            <a:r>
              <a:rPr sz="2400" spc="-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division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16.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54653" y="3925192"/>
            <a:ext cx="632648" cy="344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1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LSB</a:t>
            </a:r>
            <a:endParaRPr sz="2000" b="1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54653" y="4645282"/>
            <a:ext cx="713788" cy="344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1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MSB</a:t>
            </a:r>
            <a:endParaRPr sz="2000" b="1" dirty="0">
              <a:solidFill>
                <a:srgbClr val="000000"/>
              </a:solidFill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05364" y="2706703"/>
            <a:ext cx="8580612" cy="675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01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2-9</a:t>
            </a:r>
            <a:r>
              <a:rPr sz="3600" spc="668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BINARY</a:t>
            </a:r>
            <a:r>
              <a:rPr sz="3600" spc="668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CODED</a:t>
            </a:r>
            <a:r>
              <a:rPr sz="3600" spc="668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DECIMAL</a:t>
            </a:r>
            <a:r>
              <a:rPr sz="3600" spc="668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(BCD)</a:t>
            </a:r>
            <a:endParaRPr sz="3600" dirty="0">
              <a:solidFill>
                <a:srgbClr val="000099"/>
              </a:solidFill>
              <a:latin typeface="BJJSOR+ComicSansMS,Bold" panose="030F0902030302020204"/>
              <a:cs typeface="BJJSOR+ComicSansMS,Bold" panose="030F0902030302020204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35381" y="881307"/>
            <a:ext cx="4108443" cy="435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Introductory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Paragraph</a:t>
            </a:r>
            <a:endParaRPr sz="2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6908" y="1506103"/>
            <a:ext cx="7923589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coded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(BCD)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way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express</a:t>
            </a:r>
            <a:r>
              <a:rPr sz="2400" spc="-2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each</a:t>
            </a:r>
            <a:endParaRPr sz="2400" dirty="0">
              <a:solidFill>
                <a:srgbClr val="FF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9807" y="1835287"/>
            <a:ext cx="6721008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digits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with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code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Since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9806" y="2164470"/>
            <a:ext cx="7485377" cy="2108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there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spc="-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only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ten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code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groups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BCD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system,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it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very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easy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convert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between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BCD.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Because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we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like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read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write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decimal,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BCD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code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provides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excellent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interface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endParaRPr sz="2400" dirty="0">
              <a:solidFill>
                <a:srgbClr val="FF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systems.</a:t>
            </a:r>
            <a:r>
              <a:rPr sz="2400" spc="-18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Examples</a:t>
            </a:r>
            <a:r>
              <a:rPr sz="2400" spc="-18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such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interfaces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spc="-18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keypad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inputs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digital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readouts.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56995" y="881307"/>
            <a:ext cx="2664925" cy="435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8421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Code</a:t>
            </a:r>
            <a:endParaRPr sz="2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2429" y="1601353"/>
            <a:ext cx="580096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8421</a:t>
            </a:r>
            <a:r>
              <a:rPr sz="2400" spc="-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code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type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BCD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code.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2429" y="2003689"/>
            <a:ext cx="7663622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BCD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means</a:t>
            </a:r>
            <a:r>
              <a:rPr sz="2400" spc="-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that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each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digit,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0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through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9,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5329" y="2332873"/>
            <a:ext cx="6156997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represented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spc="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code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four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bits.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7273" y="4039753"/>
            <a:ext cx="803977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•</a:t>
            </a:r>
            <a:r>
              <a:rPr sz="2400" spc="105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designation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8421</a:t>
            </a:r>
            <a:r>
              <a:rPr sz="2400" spc="-14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indicates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weights</a:t>
            </a:r>
            <a:r>
              <a:rPr sz="2400" spc="-18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90173" y="4368937"/>
            <a:ext cx="2074537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four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bits.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7273" y="4771273"/>
            <a:ext cx="8100524" cy="8651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•</a:t>
            </a:r>
            <a:r>
              <a:rPr sz="2400" spc="1051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1010,</a:t>
            </a:r>
            <a:r>
              <a:rPr sz="2400" spc="-2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1011,</a:t>
            </a:r>
            <a:r>
              <a:rPr sz="2400" spc="-2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1100,</a:t>
            </a:r>
            <a:r>
              <a:rPr sz="2400" spc="-2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1101,</a:t>
            </a:r>
            <a:r>
              <a:rPr sz="2400" spc="-2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1110,</a:t>
            </a:r>
            <a:r>
              <a:rPr sz="2400" spc="-2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1111</a:t>
            </a:r>
            <a:r>
              <a:rPr sz="2400" spc="-23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invalid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E00FF"/>
                </a:solidFill>
                <a:latin typeface="WCJSHW+ComicSansMS" panose="030F0702030302020204"/>
                <a:cs typeface="WCJSHW+ComicSansMS" panose="030F0702030302020204"/>
              </a:rPr>
              <a:t>codes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316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•</a:t>
            </a:r>
            <a:r>
              <a:rPr sz="2400" spc="105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8421</a:t>
            </a:r>
            <a:r>
              <a:rPr sz="2400" spc="-12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code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predominant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BCD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code,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90174" y="5502793"/>
            <a:ext cx="7752329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when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we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refer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BCD,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we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always</a:t>
            </a:r>
            <a:r>
              <a:rPr sz="2400" spc="-25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mean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8421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code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90174" y="5831977"/>
            <a:ext cx="361167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unless</a:t>
            </a:r>
            <a:r>
              <a:rPr sz="2400" spc="-14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otherwise</a:t>
            </a:r>
            <a:r>
              <a:rPr sz="2400" spc="-14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0000"/>
                </a:solidFill>
                <a:latin typeface="WCJSHW+ComicSansMS" panose="030F0702030302020204"/>
                <a:cs typeface="WCJSHW+ComicSansMS" panose="030F0702030302020204"/>
              </a:rPr>
              <a:t>stated.</a:t>
            </a:r>
            <a:endParaRPr sz="2400" dirty="0">
              <a:solidFill>
                <a:srgbClr val="00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56817" y="881307"/>
            <a:ext cx="2465038" cy="435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9A"/>
                </a:solidFill>
                <a:latin typeface="Arial" panose="020B0604020202020204"/>
                <a:cs typeface="Arial" panose="020B0604020202020204"/>
              </a:rPr>
              <a:t>BCD</a:t>
            </a:r>
            <a:r>
              <a:rPr sz="2800" b="1" dirty="0">
                <a:solidFill>
                  <a:srgbClr val="00009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A"/>
                </a:solidFill>
                <a:latin typeface="Arial" panose="020B0604020202020204"/>
                <a:cs typeface="Arial" panose="020B0604020202020204"/>
              </a:rPr>
              <a:t>Addition</a:t>
            </a:r>
            <a:endParaRPr sz="2800" b="1" dirty="0">
              <a:solidFill>
                <a:srgbClr val="00009A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0926" y="1506103"/>
            <a:ext cx="6522699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BCD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numerical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code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can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be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used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endParaRPr sz="2400" dirty="0">
              <a:solidFill>
                <a:srgbClr val="009A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53825" y="1835287"/>
            <a:ext cx="7352286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arithmetic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operations.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Here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how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add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two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BCD</a:t>
            </a:r>
            <a:endParaRPr sz="2400" dirty="0">
              <a:solidFill>
                <a:srgbClr val="009A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53825" y="2164470"/>
            <a:ext cx="144095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AFF"/>
                </a:solidFill>
                <a:latin typeface="WCJSHW+ComicSansMS" panose="030F0702030302020204"/>
                <a:cs typeface="WCJSHW+ComicSansMS" panose="030F0702030302020204"/>
              </a:rPr>
              <a:t>numbers:</a:t>
            </a:r>
            <a:endParaRPr sz="2400" dirty="0">
              <a:solidFill>
                <a:srgbClr val="009A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32895" y="2568207"/>
            <a:ext cx="6843924" cy="3917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33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400" spc="1689" dirty="0">
                <a:solidFill>
                  <a:srgbClr val="33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Add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spc="11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two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BCD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numbers,</a:t>
            </a:r>
            <a:r>
              <a:rPr sz="2000" spc="12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using</a:t>
            </a:r>
            <a:r>
              <a:rPr sz="2000" spc="11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spc="11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rules</a:t>
            </a:r>
            <a:r>
              <a:rPr sz="2000" spc="11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for</a:t>
            </a:r>
            <a:r>
              <a:rPr sz="2000" spc="1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endParaRPr sz="2000" dirty="0">
              <a:solidFill>
                <a:srgbClr val="33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50471" y="2842531"/>
            <a:ext cx="1171596" cy="3917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addition.</a:t>
            </a:r>
            <a:endParaRPr sz="2000" dirty="0">
              <a:solidFill>
                <a:srgbClr val="33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32895" y="3177807"/>
            <a:ext cx="7240471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33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400" spc="1689" dirty="0">
                <a:solidFill>
                  <a:srgbClr val="33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If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000" spc="11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4-bit</a:t>
            </a:r>
            <a:r>
              <a:rPr sz="2000" spc="12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sum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000" spc="12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equal</a:t>
            </a:r>
            <a:r>
              <a:rPr sz="2000" spc="12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or</a:t>
            </a:r>
            <a:r>
              <a:rPr sz="2000" spc="11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less</a:t>
            </a:r>
            <a:r>
              <a:rPr sz="2000" spc="12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than</a:t>
            </a:r>
            <a:r>
              <a:rPr sz="2000" spc="11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9,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it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000" spc="12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000" spc="11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valid</a:t>
            </a:r>
            <a:r>
              <a:rPr sz="2000" spc="11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BCD</a:t>
            </a:r>
            <a:endParaRPr sz="2000" dirty="0">
              <a:solidFill>
                <a:srgbClr val="33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50471" y="3452131"/>
            <a:ext cx="1088955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number.</a:t>
            </a:r>
            <a:endParaRPr sz="2000" dirty="0">
              <a:solidFill>
                <a:srgbClr val="33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32895" y="3787407"/>
            <a:ext cx="7224934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33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400" spc="1689" dirty="0">
                <a:solidFill>
                  <a:srgbClr val="33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If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4-bit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sum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greater</a:t>
            </a:r>
            <a:r>
              <a:rPr sz="2000" spc="2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than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9,</a:t>
            </a:r>
            <a:r>
              <a:rPr sz="2000" spc="1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or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if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carry</a:t>
            </a:r>
            <a:r>
              <a:rPr sz="2000" spc="1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out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000" dirty="0">
              <a:solidFill>
                <a:srgbClr val="33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50471" y="4061731"/>
            <a:ext cx="6457315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4-bit</a:t>
            </a:r>
            <a:r>
              <a:rPr sz="2000" spc="12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group</a:t>
            </a:r>
            <a:r>
              <a:rPr sz="2000" spc="12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000" spc="12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generated,</a:t>
            </a:r>
            <a:r>
              <a:rPr sz="2000" spc="34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it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000" spc="12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an</a:t>
            </a:r>
            <a:r>
              <a:rPr sz="2000" spc="1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invalid</a:t>
            </a:r>
            <a:r>
              <a:rPr sz="2000" spc="25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result.</a:t>
            </a:r>
            <a:r>
              <a:rPr sz="2000" spc="12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Add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6</a:t>
            </a:r>
            <a:endParaRPr sz="2000" dirty="0">
              <a:solidFill>
                <a:srgbClr val="33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50471" y="4336056"/>
            <a:ext cx="6775732" cy="1214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(0110)</a:t>
            </a:r>
            <a:r>
              <a:rPr sz="2000" spc="27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spc="11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4-bit</a:t>
            </a:r>
            <a:r>
              <a:rPr sz="2000" spc="11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sum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000" spc="11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order</a:t>
            </a:r>
            <a:r>
              <a:rPr sz="2000" spc="11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skip</a:t>
            </a:r>
            <a:r>
              <a:rPr sz="2000" spc="12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six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invalid</a:t>
            </a:r>
            <a:endParaRPr sz="2000" dirty="0">
              <a:solidFill>
                <a:srgbClr val="3365CC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codes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returned</a:t>
            </a:r>
            <a:r>
              <a:rPr sz="2000" spc="25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code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8421.</a:t>
            </a:r>
            <a:r>
              <a:rPr sz="2000" spc="28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If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carry</a:t>
            </a:r>
            <a:r>
              <a:rPr sz="2000" spc="1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results</a:t>
            </a:r>
            <a:endParaRPr sz="2000" dirty="0">
              <a:solidFill>
                <a:srgbClr val="3365CC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when</a:t>
            </a:r>
            <a:r>
              <a:rPr sz="2000" spc="1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6</a:t>
            </a:r>
            <a:r>
              <a:rPr sz="2000" spc="1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000" spc="11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added,</a:t>
            </a:r>
            <a:r>
              <a:rPr sz="2000" spc="11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simply</a:t>
            </a:r>
            <a:r>
              <a:rPr sz="2000" spc="11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add</a:t>
            </a:r>
            <a:r>
              <a:rPr sz="2000" spc="-11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carry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next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4-bit</a:t>
            </a:r>
            <a:endParaRPr sz="2000" dirty="0">
              <a:solidFill>
                <a:srgbClr val="3365CC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3365CC"/>
                </a:solidFill>
                <a:latin typeface="WCJSHW+ComicSansMS" panose="030F0702030302020204"/>
                <a:cs typeface="WCJSHW+ComicSansMS" panose="030F0702030302020204"/>
              </a:rPr>
              <a:t>group.</a:t>
            </a:r>
            <a:endParaRPr sz="2000" dirty="0">
              <a:solidFill>
                <a:srgbClr val="33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7253" y="2911680"/>
            <a:ext cx="8455633" cy="1162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01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2-10</a:t>
            </a:r>
            <a:r>
              <a:rPr sz="3600" spc="669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DIGITAL</a:t>
            </a:r>
            <a:r>
              <a:rPr sz="3600" spc="67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CODES</a:t>
            </a:r>
            <a:r>
              <a:rPr sz="3600" spc="667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AND</a:t>
            </a:r>
            <a:r>
              <a:rPr sz="3600" spc="671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3600" dirty="0">
                <a:solidFill>
                  <a:srgbClr val="000099"/>
                </a:solidFill>
                <a:latin typeface="BJJSOR+ComicSansMS,Bold" panose="030F0902030302020204"/>
                <a:cs typeface="BJJSOR+ComicSansMS,Bold" panose="030F0902030302020204"/>
              </a:rPr>
              <a:t>PARITY</a:t>
            </a:r>
            <a:endParaRPr sz="3600" dirty="0">
              <a:solidFill>
                <a:srgbClr val="000099"/>
              </a:solidFill>
              <a:latin typeface="BJJSOR+ComicSansMS,Bold" panose="030F0902030302020204"/>
              <a:cs typeface="BJJSOR+ComicSansMS,Bold" panose="030F0902030302020204"/>
            </a:endParaRPr>
          </a:p>
          <a:p>
            <a:pPr marL="2087245" marR="0">
              <a:lnSpc>
                <a:spcPts val="3600"/>
              </a:lnSpc>
              <a:spcBef>
                <a:spcPts val="285"/>
              </a:spcBef>
              <a:spcAft>
                <a:spcPts val="0"/>
              </a:spcAft>
            </a:pPr>
            <a:r>
              <a:rPr sz="3600" spc="11" dirty="0">
                <a:solidFill>
                  <a:srgbClr val="000099"/>
                </a:solidFill>
                <a:latin typeface="黑体" panose="02010609060101010101" charset="-122"/>
                <a:cs typeface="黑体" panose="02010609060101010101" charset="-122"/>
              </a:rPr>
              <a:t>数字编码和奇偶校验</a:t>
            </a:r>
            <a:endParaRPr sz="3600" spc="11" dirty="0">
              <a:solidFill>
                <a:srgbClr val="000099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65633" y="851589"/>
            <a:ext cx="4468375" cy="435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Gray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Code</a:t>
            </a:r>
            <a:r>
              <a:rPr sz="2800" spc="14" dirty="0">
                <a:solidFill>
                  <a:srgbClr val="000099"/>
                </a:solidFill>
                <a:latin typeface="黑体" panose="02010609060101010101" charset="-122"/>
                <a:cs typeface="黑体" panose="02010609060101010101" charset="-122"/>
              </a:rPr>
              <a:t>（格雷码）</a:t>
            </a:r>
            <a:endParaRPr sz="2800" spc="14" dirty="0">
              <a:solidFill>
                <a:srgbClr val="000099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0926" y="2096653"/>
            <a:ext cx="7079853" cy="1560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Gray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code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2060"/>
                </a:solidFill>
                <a:latin typeface="BJJSOR+ComicSansMS,Bold" panose="030F0902030302020204"/>
                <a:cs typeface="BJJSOR+ComicSansMS,Bold" panose="030F0902030302020204"/>
              </a:rPr>
              <a:t>unweighted</a:t>
            </a:r>
            <a:r>
              <a:rPr sz="2400" spc="116" dirty="0">
                <a:solidFill>
                  <a:srgbClr val="002060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1F5F"/>
                </a:solidFill>
                <a:latin typeface="BJJSOR+ComicSansMS,Bold" panose="030F0902030302020204"/>
                <a:cs typeface="BJJSOR+ComicSansMS,Bold" panose="030F0902030302020204"/>
              </a:rPr>
              <a:t>not</a:t>
            </a:r>
            <a:r>
              <a:rPr sz="2400" spc="450" dirty="0">
                <a:solidFill>
                  <a:srgbClr val="001F5F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001F5F"/>
                </a:solidFill>
                <a:latin typeface="BJJSOR+ComicSansMS,Bold" panose="030F0902030302020204"/>
                <a:cs typeface="BJJSOR+ComicSansMS,Bold" panose="030F0902030302020204"/>
              </a:rPr>
              <a:t>an</a:t>
            </a:r>
            <a:endParaRPr sz="2400" dirty="0">
              <a:solidFill>
                <a:srgbClr val="001F5F"/>
              </a:solidFill>
              <a:latin typeface="BJJSOR+ComicSansMS,Bold" panose="030F0902030302020204"/>
              <a:cs typeface="BJJSOR+ComicSansMS,Bold" panose="030F0902030302020204"/>
            </a:endParaRPr>
          </a:p>
          <a:p>
            <a:pPr marL="342900" marR="0">
              <a:lnSpc>
                <a:spcPts val="3345"/>
              </a:lnSpc>
              <a:spcBef>
                <a:spcPts val="1025"/>
              </a:spcBef>
              <a:spcAft>
                <a:spcPts val="0"/>
              </a:spcAft>
            </a:pPr>
            <a:r>
              <a:rPr sz="2400" dirty="0">
                <a:solidFill>
                  <a:srgbClr val="001F5F"/>
                </a:solidFill>
                <a:latin typeface="BJJSOR+ComicSansMS,Bold" panose="030F0902030302020204"/>
                <a:cs typeface="BJJSOR+ComicSansMS,Bold" panose="030F0902030302020204"/>
              </a:rPr>
              <a:t>arithmetic</a:t>
            </a:r>
            <a:r>
              <a:rPr sz="2400" spc="439" dirty="0">
                <a:solidFill>
                  <a:srgbClr val="001F5F"/>
                </a:solidFill>
                <a:latin typeface="BJJSOR+ComicSansMS,Bold" panose="030F0902030302020204"/>
                <a:cs typeface="BJJSOR+ComicSansMS,Bold" panose="030F0902030302020204"/>
              </a:rPr>
              <a:t> </a:t>
            </a:r>
            <a:r>
              <a:rPr sz="2400" dirty="0">
                <a:solidFill>
                  <a:srgbClr val="001F5F"/>
                </a:solidFill>
                <a:latin typeface="BJJSOR+ComicSansMS,Bold" panose="030F0902030302020204"/>
                <a:cs typeface="BJJSOR+ComicSansMS,Bold" panose="030F0902030302020204"/>
              </a:rPr>
              <a:t>code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;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that</a:t>
            </a:r>
            <a:r>
              <a:rPr sz="2400" spc="-1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is,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there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no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specific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345"/>
              </a:lnSpc>
              <a:spcBef>
                <a:spcPts val="975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weights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assigned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positions.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0926" y="3815725"/>
            <a:ext cx="7559920" cy="1560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important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feature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Gray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code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that</a:t>
            </a:r>
            <a:r>
              <a:rPr sz="2400" spc="-2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it</a:t>
            </a:r>
            <a:endParaRPr sz="2400" dirty="0">
              <a:solidFill>
                <a:srgbClr val="FF00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345"/>
              </a:lnSpc>
              <a:spcBef>
                <a:spcPts val="1025"/>
              </a:spcBef>
              <a:spcAft>
                <a:spcPts val="0"/>
              </a:spcAft>
            </a:pP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exhibits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only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single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change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from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one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code</a:t>
            </a:r>
            <a:endParaRPr sz="2400" dirty="0">
              <a:solidFill>
                <a:srgbClr val="FF00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345"/>
              </a:lnSpc>
              <a:spcBef>
                <a:spcPts val="975"/>
              </a:spcBef>
              <a:spcAft>
                <a:spcPts val="0"/>
              </a:spcAft>
            </a:pP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number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FF"/>
                </a:solidFill>
                <a:latin typeface="WCJSHW+ComicSansMS" panose="030F0702030302020204"/>
                <a:cs typeface="WCJSHW+ComicSansMS" panose="030F0702030302020204"/>
              </a:rPr>
              <a:t>next.</a:t>
            </a:r>
            <a:r>
              <a:rPr sz="2400" dirty="0">
                <a:solidFill>
                  <a:srgbClr val="FF00FF"/>
                </a:solidFill>
                <a:latin typeface="黑体" panose="02010609060101010101" charset="-122"/>
                <a:cs typeface="黑体" panose="02010609060101010101" charset="-122"/>
              </a:rPr>
              <a:t>相邻码</a:t>
            </a:r>
            <a:endParaRPr sz="2400" dirty="0">
              <a:solidFill>
                <a:srgbClr val="FF00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709551" y="954459"/>
            <a:ext cx="5632743" cy="435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Binary-to-Gray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code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Conversion</a:t>
            </a:r>
            <a:endParaRPr sz="2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8871" y="2240671"/>
            <a:ext cx="6903796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MSB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Gray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code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same</a:t>
            </a:r>
            <a:r>
              <a:rPr sz="2400" spc="-2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as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1771" y="2789311"/>
            <a:ext cx="601770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corresponding</a:t>
            </a:r>
            <a:r>
              <a:rPr sz="2400" spc="27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MSB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8871" y="3411103"/>
            <a:ext cx="8686408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Going</a:t>
            </a:r>
            <a:r>
              <a:rPr sz="2400" spc="2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from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left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right,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add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each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adjacent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pair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21771" y="3959743"/>
            <a:ext cx="817980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code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get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next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Gray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code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bit.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Discard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carries.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249047" y="847779"/>
            <a:ext cx="4701865" cy="435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Gray-to-Binary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Conversion</a:t>
            </a:r>
            <a:endParaRPr sz="2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6908" y="1736227"/>
            <a:ext cx="7123799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MSB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code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same</a:t>
            </a:r>
            <a:r>
              <a:rPr sz="2400" spc="-18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as</a:t>
            </a:r>
            <a:r>
              <a:rPr sz="2400" spc="-18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9807" y="2284867"/>
            <a:ext cx="541066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corresponding</a:t>
            </a:r>
            <a:r>
              <a:rPr sz="2400" spc="2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MSB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Gray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code.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6908" y="2906659"/>
            <a:ext cx="7907331" cy="1560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Going</a:t>
            </a:r>
            <a:r>
              <a:rPr sz="2400" spc="21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from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left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right,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add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each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code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345"/>
              </a:lnSpc>
              <a:spcBef>
                <a:spcPts val="1025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generated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Gray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code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bit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next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adjacent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342900" marR="0">
              <a:lnSpc>
                <a:spcPts val="3345"/>
              </a:lnSpc>
              <a:spcBef>
                <a:spcPts val="975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position.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Discard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carries.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58419" y="776151"/>
            <a:ext cx="3653274" cy="435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Application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Example</a:t>
            </a:r>
            <a:endParaRPr sz="2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55705" y="1290457"/>
            <a:ext cx="694009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simplified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diagram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3-bit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shaft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position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8605" y="1624213"/>
            <a:ext cx="7520982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encoder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mechanism</a:t>
            </a:r>
            <a:r>
              <a:rPr sz="24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（三位轴角位置编译器）</a:t>
            </a:r>
            <a:r>
              <a:rPr sz="2400" spc="113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shown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8605" y="1948825"/>
            <a:ext cx="102855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below.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58419" y="779199"/>
            <a:ext cx="3653274" cy="435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Application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Example</a:t>
            </a:r>
            <a:endParaRPr sz="2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58397" y="1217305"/>
            <a:ext cx="7527022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Consider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what</a:t>
            </a:r>
            <a:r>
              <a:rPr sz="2400" spc="-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happens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one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brush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(for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example,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01297" y="1546489"/>
            <a:ext cx="6807133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MSB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brush)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slightly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ahead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others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01297" y="1875673"/>
            <a:ext cx="7262079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during</a:t>
            </a:r>
            <a:r>
              <a:rPr sz="2400" spc="15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transition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from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one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sector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to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next.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03989" y="885117"/>
            <a:ext cx="6569231" cy="435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Alphanumeric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Codes</a:t>
            </a:r>
            <a:r>
              <a:rPr sz="2800" spc="14" dirty="0">
                <a:solidFill>
                  <a:srgbClr val="000099"/>
                </a:solidFill>
                <a:latin typeface="黑体" panose="02010609060101010101" charset="-122"/>
                <a:cs typeface="黑体" panose="02010609060101010101" charset="-122"/>
              </a:rPr>
              <a:t>（字母数字编码）</a:t>
            </a:r>
            <a:endParaRPr sz="2800" spc="14" dirty="0">
              <a:solidFill>
                <a:srgbClr val="000099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6343" y="1506103"/>
            <a:ext cx="713261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strictest</a:t>
            </a:r>
            <a:r>
              <a:rPr sz="2400" spc="-18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sense,</a:t>
            </a:r>
            <a:r>
              <a:rPr sz="2400" spc="-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alphanumeric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codes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69243" y="1835287"/>
            <a:ext cx="659909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codes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that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represent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numbers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alphabetic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69243" y="2164470"/>
            <a:ext cx="7052345" cy="11212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characters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(letters).</a:t>
            </a:r>
            <a:r>
              <a:rPr sz="2400" spc="-2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Most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such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codes,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however,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also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represent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other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characters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such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as</a:t>
            </a:r>
            <a:r>
              <a:rPr sz="2400" spc="-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symbols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various</a:t>
            </a:r>
            <a:r>
              <a:rPr sz="2400" spc="-18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instructions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necessary</a:t>
            </a:r>
            <a:r>
              <a:rPr sz="2400" spc="-12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for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conveying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9243" y="3152023"/>
            <a:ext cx="6437814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information.</a:t>
            </a:r>
            <a:r>
              <a:rPr sz="2400" spc="14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ASCII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is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most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common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69243" y="3481207"/>
            <a:ext cx="2828947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alphanumeric</a:t>
            </a:r>
            <a:r>
              <a:rPr sz="2400" spc="1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code.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6343" y="3883543"/>
            <a:ext cx="7588450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ASCII</a:t>
            </a:r>
            <a:r>
              <a:rPr sz="2400" spc="-12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has</a:t>
            </a:r>
            <a:r>
              <a:rPr sz="2400" spc="-12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128</a:t>
            </a:r>
            <a:r>
              <a:rPr sz="2400" spc="-12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characters</a:t>
            </a:r>
            <a:r>
              <a:rPr sz="2400" spc="-11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represented</a:t>
            </a:r>
            <a:r>
              <a:rPr sz="2400" spc="-12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by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a</a:t>
            </a:r>
            <a:r>
              <a:rPr sz="2400" spc="-11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7-bit</a:t>
            </a:r>
            <a:endParaRPr sz="2400" dirty="0">
              <a:solidFill>
                <a:srgbClr val="FF0000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69243" y="4212727"/>
            <a:ext cx="1868126" cy="462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4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binary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400" dirty="0">
                <a:solidFill>
                  <a:srgbClr val="FF0000"/>
                </a:solidFill>
                <a:latin typeface="WCJSHW+ComicSansMS" panose="030F0702030302020204"/>
                <a:cs typeface="WCJSHW+ComicSansMS" panose="030F0702030302020204"/>
              </a:rPr>
              <a:t>code</a:t>
            </a:r>
            <a:r>
              <a:rPr sz="2400" dirty="0">
                <a:solidFill>
                  <a:srgbClr val="0099FF"/>
                </a:solidFill>
                <a:latin typeface="WCJSHW+ComicSansMS" panose="030F0702030302020204"/>
                <a:cs typeface="WCJSHW+ComicSansMS" panose="030F0702030302020204"/>
              </a:rPr>
              <a:t>.</a:t>
            </a:r>
            <a:endParaRPr sz="2400" dirty="0">
              <a:solidFill>
                <a:srgbClr val="0099FF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48313" y="4616463"/>
            <a:ext cx="6252217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32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400" spc="1689" dirty="0">
                <a:solidFill>
                  <a:srgbClr val="32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spc="15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first</a:t>
            </a:r>
            <a:r>
              <a:rPr sz="2000" spc="15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32</a:t>
            </a:r>
            <a:r>
              <a:rPr sz="2000" spc="15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000" spc="15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nongraphic</a:t>
            </a:r>
            <a:r>
              <a:rPr sz="2000" spc="25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characters</a:t>
            </a:r>
            <a:r>
              <a:rPr sz="2000" spc="15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(control</a:t>
            </a:r>
            <a:endParaRPr sz="20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5889" y="4890787"/>
            <a:ext cx="6398029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characters).</a:t>
            </a:r>
            <a:r>
              <a:rPr sz="2000" spc="27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That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000" spc="27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never</a:t>
            </a:r>
            <a:r>
              <a:rPr sz="2000" spc="25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printed</a:t>
            </a:r>
            <a:r>
              <a:rPr sz="2000" spc="25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or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displayed</a:t>
            </a:r>
            <a:r>
              <a:rPr sz="2000" spc="25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endParaRPr sz="20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65889" y="5165112"/>
            <a:ext cx="3804522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used</a:t>
            </a:r>
            <a:r>
              <a:rPr sz="2000" spc="11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only</a:t>
            </a:r>
            <a:r>
              <a:rPr sz="2000" spc="14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for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control</a:t>
            </a:r>
            <a:r>
              <a:rPr sz="2000" spc="14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purposes.</a:t>
            </a:r>
            <a:endParaRPr sz="20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48313" y="5500383"/>
            <a:ext cx="7382286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32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400" spc="1689" dirty="0">
                <a:solidFill>
                  <a:srgbClr val="32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spc="2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others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are</a:t>
            </a:r>
            <a:r>
              <a:rPr sz="2000" spc="2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graphic</a:t>
            </a:r>
            <a:r>
              <a:rPr sz="2000" spc="2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characters</a:t>
            </a:r>
            <a:r>
              <a:rPr sz="2000" spc="2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that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can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be</a:t>
            </a:r>
            <a:r>
              <a:rPr sz="2000" spc="1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printed</a:t>
            </a:r>
            <a:r>
              <a:rPr sz="2000" spc="2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or</a:t>
            </a:r>
            <a:endParaRPr sz="20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65889" y="5774707"/>
            <a:ext cx="5951838" cy="39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displayed</a:t>
            </a:r>
            <a:r>
              <a:rPr sz="2000" spc="31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000" spc="14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include</a:t>
            </a:r>
            <a:r>
              <a:rPr sz="2000" spc="2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letters</a:t>
            </a:r>
            <a:r>
              <a:rPr sz="2000" spc="2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of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alphabet</a:t>
            </a:r>
            <a:endParaRPr sz="20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65889" y="6049032"/>
            <a:ext cx="6374409" cy="6660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(lowercase</a:t>
            </a:r>
            <a:r>
              <a:rPr sz="2000" spc="33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000" spc="14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uppercase),</a:t>
            </a:r>
            <a:r>
              <a:rPr sz="2000" spc="33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the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ten</a:t>
            </a:r>
            <a:r>
              <a:rPr sz="2000" spc="14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decimal</a:t>
            </a:r>
            <a:r>
              <a:rPr sz="2000" spc="15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digits,</a:t>
            </a:r>
            <a:endParaRPr sz="20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  <a:p>
            <a:pPr marL="0" marR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punctuation</a:t>
            </a:r>
            <a:r>
              <a:rPr sz="2000" spc="12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signs,</a:t>
            </a:r>
            <a:r>
              <a:rPr sz="2000" spc="14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and</a:t>
            </a:r>
            <a:r>
              <a:rPr sz="2000" spc="12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other</a:t>
            </a:r>
            <a:r>
              <a:rPr sz="2000" spc="11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commonly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used</a:t>
            </a:r>
            <a:r>
              <a:rPr sz="2000" spc="11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 </a:t>
            </a:r>
            <a:r>
              <a:rPr sz="2000" dirty="0">
                <a:solidFill>
                  <a:srgbClr val="3265CC"/>
                </a:solidFill>
                <a:latin typeface="WCJSHW+ComicSansMS" panose="030F0702030302020204"/>
                <a:cs typeface="WCJSHW+ComicSansMS" panose="030F0702030302020204"/>
              </a:rPr>
              <a:t>symbols.</a:t>
            </a:r>
            <a:endParaRPr sz="2000" dirty="0">
              <a:solidFill>
                <a:srgbClr val="3265CC"/>
              </a:solidFill>
              <a:latin typeface="WCJSHW+ComicSansMS" panose="030F0702030302020204"/>
              <a:cs typeface="WCJSHW+ComicSansMS" panose="030F0702030302020204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34135" y="776151"/>
            <a:ext cx="2087837" cy="435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ASCII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Code</a:t>
            </a:r>
            <a:endParaRPr sz="2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2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943485" y="793412"/>
            <a:ext cx="4959169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Parity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Method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Error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Detection</a:t>
            </a:r>
            <a:endParaRPr sz="2400" b="1" u="sng" dirty="0">
              <a:solidFill>
                <a:srgbClr val="C0504D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2429" y="1405042"/>
            <a:ext cx="7017534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Many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systems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use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parity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bit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as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means</a:t>
            </a:r>
            <a:r>
              <a:rPr sz="2400" spc="-1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for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bit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error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5329" y="1770803"/>
            <a:ext cx="1345996" cy="375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detection.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2429" y="2209715"/>
            <a:ext cx="7915412" cy="14729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Any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group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bits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contain</a:t>
            </a:r>
            <a:r>
              <a:rPr sz="2400" spc="-17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either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an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even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or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an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odd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number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342900" marR="0">
              <a:lnSpc>
                <a:spcPts val="2655"/>
              </a:lnSpc>
              <a:spcBef>
                <a:spcPts val="17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1s.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parity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bit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is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attached</a:t>
            </a:r>
            <a:r>
              <a:rPr sz="2400" spc="-17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to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group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bits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to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make</a:t>
            </a:r>
            <a:r>
              <a:rPr sz="2400" spc="-17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342900" marR="0">
              <a:lnSpc>
                <a:spcPts val="2655"/>
              </a:lnSpc>
              <a:spcBef>
                <a:spcPts val="22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total</a:t>
            </a:r>
            <a:r>
              <a:rPr sz="2400" spc="-17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number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1s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in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group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always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even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or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always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odd.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An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342900" marR="0">
              <a:lnSpc>
                <a:spcPts val="2655"/>
              </a:lnSpc>
              <a:spcBef>
                <a:spcPts val="22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even/odd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parity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bit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makes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total</a:t>
            </a:r>
            <a:r>
              <a:rPr sz="2400" spc="-17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number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1s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even/odd.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2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943485" y="793412"/>
            <a:ext cx="4959169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Parity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Method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Error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u="sng" dirty="0">
                <a:solidFill>
                  <a:srgbClr val="C0504D"/>
                </a:solidFill>
                <a:latin typeface="Arial" panose="020B0604020202020204"/>
                <a:cs typeface="Arial" panose="020B0604020202020204"/>
              </a:rPr>
              <a:t>Detection</a:t>
            </a:r>
            <a:endParaRPr sz="2400" b="1" u="sng" dirty="0">
              <a:solidFill>
                <a:srgbClr val="C0504D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2429" y="1405042"/>
            <a:ext cx="7935531" cy="1107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5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00" spc="806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parity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bit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provides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for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the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detection</a:t>
            </a:r>
            <a:r>
              <a:rPr sz="2400" spc="-18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single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bit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error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(or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342900" marR="0">
              <a:lnSpc>
                <a:spcPts val="2655"/>
              </a:lnSpc>
              <a:spcBef>
                <a:spcPts val="17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any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odd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number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of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errors,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which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is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very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unlikely)</a:t>
            </a:r>
            <a:r>
              <a:rPr sz="2400" spc="-17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but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cannot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342900" marR="0">
              <a:lnSpc>
                <a:spcPts val="2655"/>
              </a:lnSpc>
              <a:spcBef>
                <a:spcPts val="220"/>
              </a:spcBef>
              <a:spcAft>
                <a:spcPts val="0"/>
              </a:spcAft>
            </a:pP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check</a:t>
            </a:r>
            <a:r>
              <a:rPr sz="2400" spc="-17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for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two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errors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in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one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4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group.</a:t>
            </a:r>
            <a:endParaRPr sz="24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58075" y="308102"/>
            <a:ext cx="9230866" cy="696620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58075" y="308102"/>
            <a:ext cx="9230866" cy="696620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58075" y="308102"/>
            <a:ext cx="9230866" cy="696620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58075" y="308102"/>
            <a:ext cx="9230866" cy="696620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58075" y="308102"/>
            <a:ext cx="9230866" cy="696620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58075" y="308102"/>
            <a:ext cx="9230866" cy="696620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58075" y="308102"/>
            <a:ext cx="9230866" cy="696620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58075" y="308102"/>
            <a:ext cx="9230866" cy="696620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58075" y="308102"/>
            <a:ext cx="9230866" cy="696620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74839" y="346202"/>
            <a:ext cx="9143998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98905" y="992559"/>
            <a:ext cx="1971634" cy="435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Homework</a:t>
            </a:r>
            <a:endParaRPr sz="2800" b="1" dirty="0">
              <a:solidFill>
                <a:srgbClr val="00009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7333" y="2181745"/>
            <a:ext cx="7923468" cy="17938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2250" dirty="0">
                <a:solidFill>
                  <a:srgbClr val="0099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250" spc="457" dirty="0">
                <a:solidFill>
                  <a:srgbClr val="0099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Problems:</a:t>
            </a:r>
            <a:r>
              <a:rPr sz="2800" spc="-2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6(c,e,g),</a:t>
            </a:r>
            <a:r>
              <a:rPr sz="2800" spc="-15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7(b,e),</a:t>
            </a:r>
            <a:r>
              <a:rPr sz="2800" spc="-15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9(h),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13(h),</a:t>
            </a:r>
            <a:r>
              <a:rPr sz="2800" spc="-15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14(b)(</a:t>
            </a:r>
            <a:r>
              <a:rPr sz="28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保留</a:t>
            </a:r>
            <a:endParaRPr sz="2800" dirty="0">
              <a:solidFill>
                <a:srgbClr val="0099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42900" marR="0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小时后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6</a:t>
            </a:r>
            <a:r>
              <a:rPr sz="2800" dirty="0">
                <a:solidFill>
                  <a:srgbClr val="0099FF"/>
                </a:solidFill>
                <a:latin typeface="黑体" panose="02010609060101010101" charset="-122"/>
                <a:cs typeface="黑体" panose="02010609060101010101" charset="-122"/>
              </a:rPr>
              <a:t>位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),</a:t>
            </a:r>
            <a:r>
              <a:rPr sz="2800" spc="-15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16(e,f),</a:t>
            </a:r>
            <a:r>
              <a:rPr sz="2800" spc="-15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17(d),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18(b),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22(h),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23(c)(d),</a:t>
            </a:r>
            <a:endParaRPr sz="28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342900" marR="0">
              <a:lnSpc>
                <a:spcPts val="265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24(c)(d),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25(c)(d),</a:t>
            </a:r>
            <a:r>
              <a:rPr sz="2800" spc="-15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28(a)(b),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34(b),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37(g),</a:t>
            </a:r>
            <a:r>
              <a:rPr sz="2800" spc="-15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38(f),</a:t>
            </a:r>
            <a:endParaRPr sz="28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342900" marR="0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39(g),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40(g),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42(b),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44(g),</a:t>
            </a:r>
            <a:r>
              <a:rPr sz="2800" spc="-2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47(k),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50(h),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52(f),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56(c),</a:t>
            </a:r>
            <a:endParaRPr sz="28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  <a:p>
            <a:pPr marL="342900" marR="0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57(c),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 </a:t>
            </a:r>
            <a:r>
              <a:rPr sz="2800" dirty="0">
                <a:solidFill>
                  <a:srgbClr val="0099FF"/>
                </a:solidFill>
                <a:latin typeface="DDMTRG+TimesNewRoman" panose="02020603050405020304"/>
                <a:cs typeface="DDMTRG+TimesNewRoman" panose="02020603050405020304"/>
              </a:rPr>
              <a:t>58.</a:t>
            </a:r>
            <a:endParaRPr sz="2800" dirty="0">
              <a:solidFill>
                <a:srgbClr val="0099FF"/>
              </a:solidFill>
              <a:latin typeface="DDMTRG+TimesNewRoman" panose="02020603050405020304"/>
              <a:cs typeface="DDMTRG+TimesNewRoman" panose="02020603050405020304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758075" y="308102"/>
            <a:ext cx="9230866" cy="696620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Q1ZjQ5ZGNmZTBkNDVjZDg2NGQ3ZWE0MGY0YWNjMWYifQ=="/>
</p:tagLst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18378</Words>
  <Application>WPS 演示</Application>
  <PresentationFormat>On-screen Show (4:3)</PresentationFormat>
  <Paragraphs>1167</Paragraphs>
  <Slides>95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95</vt:i4>
      </vt:variant>
    </vt:vector>
  </HeadingPairs>
  <TitlesOfParts>
    <vt:vector size="115" baseType="lpstr">
      <vt:lpstr>Arial</vt:lpstr>
      <vt:lpstr>宋体</vt:lpstr>
      <vt:lpstr>Wingdings</vt:lpstr>
      <vt:lpstr>Arial</vt:lpstr>
      <vt:lpstr>BJJSOR+ComicSansMS,Bold</vt:lpstr>
      <vt:lpstr>黑体</vt:lpstr>
      <vt:lpstr>Times New Roman</vt:lpstr>
      <vt:lpstr>Wingdings</vt:lpstr>
      <vt:lpstr>WCJSHW+ComicSansMS</vt:lpstr>
      <vt:lpstr>DDMTRG+TimesNewRoman</vt:lpstr>
      <vt:lpstr>MMKOGF+Symbol</vt:lpstr>
      <vt:lpstr>GICSIA+Symbol</vt:lpstr>
      <vt:lpstr>Calibri</vt:lpstr>
      <vt:lpstr>微软雅黑</vt:lpstr>
      <vt:lpstr>Arial Unicode MS</vt:lpstr>
      <vt:lpstr>PHNFIK+CambriaMath</vt:lpstr>
      <vt:lpstr>ALOGHA+MTExtra</vt:lpstr>
      <vt:lpstr>Tahoma</vt:lpstr>
      <vt:lpstr>KTJCHM+ComicSansMS,Italic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Clown</dc:creator>
  <cp:lastModifiedBy>陈卓妍</cp:lastModifiedBy>
  <cp:revision>2</cp:revision>
  <dcterms:created xsi:type="dcterms:W3CDTF">2024-02-25T02:57:24Z</dcterms:created>
  <dcterms:modified xsi:type="dcterms:W3CDTF">2024-02-25T03:04:17Z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264F8104A15742F2A71EFD7950CA35B2_12</vt:lpwstr>
  </property>
  <property fmtid="{D5CDD505-2E9C-101B-9397-08002B2CF9AE}" pid="3" name="KSOProductBuildVer">
    <vt:lpwstr>2052-12.1.0.15712</vt:lpwstr>
  </property>
</Properties>
</file>