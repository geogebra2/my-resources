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handoutMasterIdLst>
    <p:handoutMasterId r:id="rId62"/>
  </p:handoutMasterIdLst>
  <p:sldIdLst>
    <p:sldId id="256" r:id="rId3"/>
    <p:sldId id="257" r:id="rId5"/>
    <p:sldId id="373" r:id="rId6"/>
    <p:sldId id="367" r:id="rId7"/>
    <p:sldId id="375" r:id="rId8"/>
    <p:sldId id="370" r:id="rId9"/>
    <p:sldId id="368" r:id="rId10"/>
    <p:sldId id="372" r:id="rId11"/>
    <p:sldId id="289" r:id="rId12"/>
    <p:sldId id="334" r:id="rId13"/>
    <p:sldId id="280" r:id="rId14"/>
    <p:sldId id="378" r:id="rId15"/>
    <p:sldId id="336" r:id="rId16"/>
    <p:sldId id="379" r:id="rId17"/>
    <p:sldId id="337" r:id="rId18"/>
    <p:sldId id="376" r:id="rId19"/>
    <p:sldId id="338" r:id="rId20"/>
    <p:sldId id="380" r:id="rId21"/>
    <p:sldId id="339" r:id="rId22"/>
    <p:sldId id="340" r:id="rId23"/>
    <p:sldId id="341" r:id="rId24"/>
    <p:sldId id="342" r:id="rId25"/>
    <p:sldId id="377" r:id="rId26"/>
    <p:sldId id="344" r:id="rId27"/>
    <p:sldId id="345" r:id="rId28"/>
    <p:sldId id="350" r:id="rId29"/>
    <p:sldId id="351" r:id="rId30"/>
    <p:sldId id="349" r:id="rId31"/>
    <p:sldId id="352" r:id="rId32"/>
    <p:sldId id="381" r:id="rId33"/>
    <p:sldId id="353" r:id="rId34"/>
    <p:sldId id="354" r:id="rId35"/>
    <p:sldId id="374" r:id="rId36"/>
    <p:sldId id="355" r:id="rId37"/>
    <p:sldId id="357" r:id="rId38"/>
    <p:sldId id="359" r:id="rId39"/>
    <p:sldId id="358" r:id="rId40"/>
    <p:sldId id="348" r:id="rId41"/>
    <p:sldId id="360" r:id="rId42"/>
    <p:sldId id="361" r:id="rId43"/>
    <p:sldId id="363" r:id="rId44"/>
    <p:sldId id="362" r:id="rId45"/>
    <p:sldId id="364" r:id="rId46"/>
    <p:sldId id="442" r:id="rId47"/>
    <p:sldId id="420" r:id="rId48"/>
    <p:sldId id="443" r:id="rId49"/>
    <p:sldId id="433" r:id="rId50"/>
    <p:sldId id="436" r:id="rId51"/>
    <p:sldId id="437" r:id="rId52"/>
    <p:sldId id="438" r:id="rId53"/>
    <p:sldId id="439" r:id="rId54"/>
    <p:sldId id="440" r:id="rId55"/>
    <p:sldId id="441" r:id="rId56"/>
    <p:sldId id="444" r:id="rId57"/>
    <p:sldId id="414" r:id="rId58"/>
    <p:sldId id="425" r:id="rId59"/>
    <p:sldId id="428" r:id="rId60"/>
    <p:sldId id="429" r:id="rId61"/>
  </p:sldIdLst>
  <p:sldSz cx="9144000" cy="5143500" type="screen16x9"/>
  <p:notesSz cx="6858000" cy="9144000"/>
  <p:embeddedFontLst>
    <p:embeddedFont>
      <p:font typeface="Raleway"/>
      <p:regular r:id="rId66"/>
    </p:embeddedFont>
    <p:embeddedFont>
      <p:font typeface="Source Sans Pro" panose="020B0503030403020204"/>
      <p:regular r:id="rId67"/>
    </p:embeddedFont>
    <p:embeddedFont>
      <p:font typeface="Source Sans Pro" panose="020B0503030403020204" pitchFamily="34" charset="0"/>
      <p:regular r:id="rId68"/>
    </p:embeddedFont>
    <p:embeddedFont>
      <p:font typeface="黑体" panose="02010609060101010101" pitchFamily="49" charset="-122"/>
      <p:regular r:id="rId69"/>
    </p:embeddedFont>
    <p:embeddedFont>
      <p:font typeface="华文楷体" panose="02010600040101010101" pitchFamily="2" charset="-122"/>
      <p:regular r:id="rId70"/>
    </p:embeddedFont>
    <p:embeddedFont>
      <p:font typeface="Tw Cen MT" panose="020B0602020104020603"/>
      <p:regular r:id="rId71"/>
      <p:bold r:id="rId72"/>
      <p:italic r:id="rId73"/>
      <p:boldItalic r:id="rId74"/>
    </p:embeddedFont>
    <p:embeddedFont>
      <p:font typeface="华文仿宋" panose="02010600040101010101" pitchFamily="34" charset="-122"/>
      <p:regular r:id="rId75"/>
    </p:embeddedFont>
    <p:embeddedFont>
      <p:font typeface="Consolas" panose="020B0609020204030204" pitchFamily="49" charset="0"/>
      <p:regular r:id="rId76"/>
      <p:bold r:id="rId77"/>
      <p:italic r:id="rId78"/>
      <p:boldItalic r:id="rId79"/>
    </p:embeddedFont>
    <p:embeddedFont>
      <p:font typeface="等线" panose="02010600030101010101" charset="-122"/>
      <p:regular r:id="rId80"/>
    </p:embeddedFont>
  </p:embeddedFontLst>
  <p:custDataLst>
    <p:tags r:id="rId81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521415D9-36F7-43E2-AB2F-B90AF26B5E84}">
      <p14:sectionLst xmlns:p14="http://schemas.microsoft.com/office/powerpoint/2010/main">
        <p14:section name="默认节" id="{FA4343E0-B24A-4A78-ACC4-92B04329ADDA}">
          <p14:sldIdLst>
            <p14:sldId id="256"/>
            <p14:sldId id="257"/>
          </p14:sldIdLst>
        </p14:section>
        <p14:section name="Tuple" id="{FA8B752C-691C-42BE-B3F1-A49A7C966851}">
          <p14:sldIdLst>
            <p14:sldId id="373"/>
            <p14:sldId id="367"/>
            <p14:sldId id="375"/>
            <p14:sldId id="370"/>
            <p14:sldId id="368"/>
            <p14:sldId id="372"/>
          </p14:sldIdLst>
        </p14:section>
        <p14:section name="Dict" id="{F866783A-CD8B-468F-910D-FC913A6F6BFD}">
          <p14:sldIdLst>
            <p14:sldId id="289"/>
            <p14:sldId id="334"/>
            <p14:sldId id="280"/>
            <p14:sldId id="378"/>
            <p14:sldId id="336"/>
            <p14:sldId id="379"/>
            <p14:sldId id="337"/>
            <p14:sldId id="376"/>
            <p14:sldId id="338"/>
            <p14:sldId id="380"/>
            <p14:sldId id="339"/>
            <p14:sldId id="340"/>
            <p14:sldId id="341"/>
            <p14:sldId id="342"/>
            <p14:sldId id="377"/>
          </p14:sldIdLst>
        </p14:section>
        <p14:section name="String" id="{4FC5D897-BD2E-404F-A296-7A8116AB841B}">
          <p14:sldIdLst>
            <p14:sldId id="344"/>
            <p14:sldId id="345"/>
            <p14:sldId id="350"/>
            <p14:sldId id="351"/>
            <p14:sldId id="349"/>
            <p14:sldId id="352"/>
            <p14:sldId id="381"/>
            <p14:sldId id="353"/>
            <p14:sldId id="354"/>
            <p14:sldId id="374"/>
            <p14:sldId id="355"/>
            <p14:sldId id="357"/>
            <p14:sldId id="359"/>
            <p14:sldId id="358"/>
            <p14:sldId id="348"/>
          </p14:sldIdLst>
        </p14:section>
        <p14:section name="Set" id="{8E323657-B787-4847-BD42-D3D5E6EA8B10}">
          <p14:sldIdLst>
            <p14:sldId id="360"/>
            <p14:sldId id="361"/>
            <p14:sldId id="363"/>
            <p14:sldId id="362"/>
            <p14:sldId id="364"/>
          </p14:sldIdLst>
        </p14:section>
        <p14:section name="Summary" id="{A1931FA7-BCD0-BE48-91E9-5FBAE6EECE22}">
          <p14:sldIdLst>
            <p14:sldId id="442"/>
            <p14:sldId id="420"/>
            <p14:sldId id="443"/>
            <p14:sldId id="433"/>
            <p14:sldId id="436"/>
            <p14:sldId id="437"/>
            <p14:sldId id="438"/>
            <p14:sldId id="439"/>
            <p14:sldId id="440"/>
            <p14:sldId id="441"/>
            <p14:sldId id="444"/>
            <p14:sldId id="414"/>
            <p14:sldId id="425"/>
            <p14:sldId id="428"/>
            <p14:sldId id="42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17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77" autoAdjust="0"/>
    <p:restoredTop sz="94666"/>
  </p:normalViewPr>
  <p:slideViewPr>
    <p:cSldViewPr snapToGrid="0" showGuides="1">
      <p:cViewPr varScale="1">
        <p:scale>
          <a:sx n="202" d="100"/>
          <a:sy n="202" d="100"/>
        </p:scale>
        <p:origin x="884" y="96"/>
      </p:cViewPr>
      <p:guideLst>
        <p:guide orient="horz" pos="1617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1" Type="http://schemas.openxmlformats.org/officeDocument/2006/relationships/tags" Target="tags/tag1.xml"/><Relationship Id="rId80" Type="http://schemas.openxmlformats.org/officeDocument/2006/relationships/font" Target="fonts/font15.fntdata"/><Relationship Id="rId8" Type="http://schemas.openxmlformats.org/officeDocument/2006/relationships/slide" Target="slides/slide5.xml"/><Relationship Id="rId79" Type="http://schemas.openxmlformats.org/officeDocument/2006/relationships/font" Target="fonts/font14.fntdata"/><Relationship Id="rId78" Type="http://schemas.openxmlformats.org/officeDocument/2006/relationships/font" Target="fonts/font13.fntdata"/><Relationship Id="rId77" Type="http://schemas.openxmlformats.org/officeDocument/2006/relationships/font" Target="fonts/font12.fntdata"/><Relationship Id="rId76" Type="http://schemas.openxmlformats.org/officeDocument/2006/relationships/font" Target="fonts/font11.fntdata"/><Relationship Id="rId75" Type="http://schemas.openxmlformats.org/officeDocument/2006/relationships/font" Target="fonts/font10.fntdata"/><Relationship Id="rId74" Type="http://schemas.openxmlformats.org/officeDocument/2006/relationships/font" Target="fonts/font9.fntdata"/><Relationship Id="rId73" Type="http://schemas.openxmlformats.org/officeDocument/2006/relationships/font" Target="fonts/font8.fntdata"/><Relationship Id="rId72" Type="http://schemas.openxmlformats.org/officeDocument/2006/relationships/font" Target="fonts/font7.fntdata"/><Relationship Id="rId71" Type="http://schemas.openxmlformats.org/officeDocument/2006/relationships/font" Target="fonts/font6.fntdata"/><Relationship Id="rId70" Type="http://schemas.openxmlformats.org/officeDocument/2006/relationships/font" Target="fonts/font5.fntdata"/><Relationship Id="rId7" Type="http://schemas.openxmlformats.org/officeDocument/2006/relationships/slide" Target="slides/slide4.xml"/><Relationship Id="rId69" Type="http://schemas.openxmlformats.org/officeDocument/2006/relationships/font" Target="fonts/font4.fntdata"/><Relationship Id="rId68" Type="http://schemas.openxmlformats.org/officeDocument/2006/relationships/font" Target="fonts/font3.fntdata"/><Relationship Id="rId67" Type="http://schemas.openxmlformats.org/officeDocument/2006/relationships/font" Target="fonts/font2.fntdata"/><Relationship Id="rId66" Type="http://schemas.openxmlformats.org/officeDocument/2006/relationships/font" Target="fonts/font1.fntdata"/><Relationship Id="rId65" Type="http://schemas.openxmlformats.org/officeDocument/2006/relationships/tableStyles" Target="tableStyles.xml"/><Relationship Id="rId64" Type="http://schemas.openxmlformats.org/officeDocument/2006/relationships/viewProps" Target="viewProps.xml"/><Relationship Id="rId63" Type="http://schemas.openxmlformats.org/officeDocument/2006/relationships/presProps" Target="presProps.xml"/><Relationship Id="rId62" Type="http://schemas.openxmlformats.org/officeDocument/2006/relationships/handoutMaster" Target="handoutMasters/handoutMaster1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D76AC8D-6522-4798-B9FD-F0A371E5B82E}" type="doc">
      <dgm:prSet loTypeId="urn:microsoft.com/office/officeart/2005/8/layout/radial1" loCatId="cycle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BAC092E5-C080-451D-B9D1-6C9169E0DF64}">
      <dgm:prSet phldrT="[Text]"/>
      <dgm:spPr/>
      <dgm:t>
        <a:bodyPr/>
        <a:lstStyle/>
        <a:p>
          <a:r>
            <a:rPr lang="en-US" dirty="0"/>
            <a:t>1</a:t>
          </a:r>
        </a:p>
      </dgm:t>
    </dgm:pt>
    <dgm:pt modelId="{A7485E3F-6E34-4A70-A6E0-78F374DF3FD0}" cxnId="{C423DE8C-BCAC-4403-BB45-E04FB44D04FA}" type="parTrans">
      <dgm:prSet/>
      <dgm:spPr/>
      <dgm:t>
        <a:bodyPr/>
        <a:lstStyle/>
        <a:p>
          <a:endParaRPr lang="en-US"/>
        </a:p>
      </dgm:t>
    </dgm:pt>
    <dgm:pt modelId="{D38A6DB4-F6D1-4FBF-A78B-325979B97707}" cxnId="{C423DE8C-BCAC-4403-BB45-E04FB44D04FA}" type="sibTrans">
      <dgm:prSet/>
      <dgm:spPr/>
      <dgm:t>
        <a:bodyPr/>
        <a:lstStyle/>
        <a:p>
          <a:endParaRPr lang="en-US"/>
        </a:p>
      </dgm:t>
    </dgm:pt>
    <dgm:pt modelId="{DBEC6E4D-2E2C-48FC-8E19-DB6A3AA7893A}">
      <dgm:prSet phldrT="[Text]"/>
      <dgm:spPr/>
      <dgm:t>
        <a:bodyPr/>
        <a:lstStyle/>
        <a:p>
          <a:r>
            <a:rPr lang="en-US" dirty="0"/>
            <a:t>0</a:t>
          </a:r>
        </a:p>
      </dgm:t>
    </dgm:pt>
    <dgm:pt modelId="{33D7972E-F0D1-4F6F-B7F9-198838C5DF3C}" cxnId="{720339C3-6445-456D-85DC-607699B39462}" type="parTrans">
      <dgm:prSet/>
      <dgm:spPr/>
      <dgm:t>
        <a:bodyPr/>
        <a:lstStyle/>
        <a:p>
          <a:endParaRPr lang="en-US"/>
        </a:p>
      </dgm:t>
    </dgm:pt>
    <dgm:pt modelId="{CF864028-F58A-4135-BB6E-28B16A17B597}" cxnId="{720339C3-6445-456D-85DC-607699B39462}" type="sibTrans">
      <dgm:prSet/>
      <dgm:spPr/>
      <dgm:t>
        <a:bodyPr/>
        <a:lstStyle/>
        <a:p>
          <a:endParaRPr lang="en-US"/>
        </a:p>
      </dgm:t>
    </dgm:pt>
    <dgm:pt modelId="{73C714BD-9201-41FB-8813-94591B29D85A}">
      <dgm:prSet phldrT="[Text]"/>
      <dgm:spPr/>
      <dgm:t>
        <a:bodyPr/>
        <a:lstStyle/>
        <a:p>
          <a:r>
            <a:rPr lang="en-US" dirty="0"/>
            <a:t>3</a:t>
          </a:r>
        </a:p>
      </dgm:t>
    </dgm:pt>
    <dgm:pt modelId="{E9F8E7FC-52D3-4643-8B2A-80A67BFDE0FB}" cxnId="{F3D900FF-15DD-41C3-9B1B-5D643F5896A3}" type="parTrans">
      <dgm:prSet/>
      <dgm:spPr/>
      <dgm:t>
        <a:bodyPr/>
        <a:lstStyle/>
        <a:p>
          <a:endParaRPr lang="en-US"/>
        </a:p>
      </dgm:t>
    </dgm:pt>
    <dgm:pt modelId="{FA378DD5-B26B-42C9-A620-40CA1692E246}" cxnId="{F3D900FF-15DD-41C3-9B1B-5D643F5896A3}" type="sibTrans">
      <dgm:prSet/>
      <dgm:spPr/>
      <dgm:t>
        <a:bodyPr/>
        <a:lstStyle/>
        <a:p>
          <a:endParaRPr lang="en-US"/>
        </a:p>
      </dgm:t>
    </dgm:pt>
    <dgm:pt modelId="{69A0F84C-E4DE-46BB-817A-8C9AE6286849}">
      <dgm:prSet phldrT="[Text]"/>
      <dgm:spPr/>
      <dgm:t>
        <a:bodyPr/>
        <a:lstStyle/>
        <a:p>
          <a:r>
            <a:rPr lang="en-US" dirty="0"/>
            <a:t>2</a:t>
          </a:r>
        </a:p>
      </dgm:t>
    </dgm:pt>
    <dgm:pt modelId="{6BB051B8-54A6-410A-81AC-36C765094EAB}" cxnId="{60BF8B99-0B29-45AE-ABBA-5A2B5C13D205}" type="parTrans">
      <dgm:prSet/>
      <dgm:spPr/>
      <dgm:t>
        <a:bodyPr/>
        <a:lstStyle/>
        <a:p>
          <a:endParaRPr lang="en-US"/>
        </a:p>
      </dgm:t>
    </dgm:pt>
    <dgm:pt modelId="{1C740EB9-E47A-494F-966D-300789E6F56C}" cxnId="{60BF8B99-0B29-45AE-ABBA-5A2B5C13D205}" type="sibTrans">
      <dgm:prSet/>
      <dgm:spPr/>
      <dgm:t>
        <a:bodyPr/>
        <a:lstStyle/>
        <a:p>
          <a:endParaRPr lang="en-US"/>
        </a:p>
      </dgm:t>
    </dgm:pt>
    <dgm:pt modelId="{AB5BAA2C-541D-4D3C-BE9E-17EEB3C8508E}" type="pres">
      <dgm:prSet presAssocID="{2D76AC8D-6522-4798-B9FD-F0A371E5B82E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8D5A2892-66FE-48CD-AC87-0EF52DE6A1C9}" type="pres">
      <dgm:prSet presAssocID="{BAC092E5-C080-451D-B9D1-6C9169E0DF64}" presName="centerShape" presStyleLbl="node0" presStyleIdx="0" presStyleCnt="1"/>
      <dgm:spPr/>
    </dgm:pt>
    <dgm:pt modelId="{163E2351-F3D8-4C9A-BF3C-431763B7D17E}" type="pres">
      <dgm:prSet presAssocID="{33D7972E-F0D1-4F6F-B7F9-198838C5DF3C}" presName="Name9" presStyleLbl="parChTrans1D2" presStyleIdx="0" presStyleCnt="3"/>
      <dgm:spPr/>
    </dgm:pt>
    <dgm:pt modelId="{6AF958E1-468D-4758-87B6-316F65539EC4}" type="pres">
      <dgm:prSet presAssocID="{33D7972E-F0D1-4F6F-B7F9-198838C5DF3C}" presName="connTx" presStyleLbl="parChTrans1D2" presStyleIdx="0" presStyleCnt="3"/>
      <dgm:spPr/>
    </dgm:pt>
    <dgm:pt modelId="{C307EAD7-2795-4946-A4BD-2CA14B30D21F}" type="pres">
      <dgm:prSet presAssocID="{DBEC6E4D-2E2C-48FC-8E19-DB6A3AA7893A}" presName="node" presStyleLbl="node1" presStyleIdx="0" presStyleCnt="3">
        <dgm:presLayoutVars>
          <dgm:bulletEnabled val="1"/>
        </dgm:presLayoutVars>
      </dgm:prSet>
      <dgm:spPr/>
    </dgm:pt>
    <dgm:pt modelId="{F07CDAF8-B677-4BBD-AA71-37B28C9FDF1C}" type="pres">
      <dgm:prSet presAssocID="{E9F8E7FC-52D3-4643-8B2A-80A67BFDE0FB}" presName="Name9" presStyleLbl="parChTrans1D2" presStyleIdx="1" presStyleCnt="3"/>
      <dgm:spPr/>
    </dgm:pt>
    <dgm:pt modelId="{F300AE8C-9758-4B63-AEEE-F0FEFFB3AE42}" type="pres">
      <dgm:prSet presAssocID="{E9F8E7FC-52D3-4643-8B2A-80A67BFDE0FB}" presName="connTx" presStyleLbl="parChTrans1D2" presStyleIdx="1" presStyleCnt="3"/>
      <dgm:spPr/>
    </dgm:pt>
    <dgm:pt modelId="{9EF499D3-A2EA-4DC7-A472-419BD8A40C30}" type="pres">
      <dgm:prSet presAssocID="{73C714BD-9201-41FB-8813-94591B29D85A}" presName="node" presStyleLbl="node1" presStyleIdx="1" presStyleCnt="3">
        <dgm:presLayoutVars>
          <dgm:bulletEnabled val="1"/>
        </dgm:presLayoutVars>
      </dgm:prSet>
      <dgm:spPr/>
    </dgm:pt>
    <dgm:pt modelId="{09D0BCBA-F332-4929-B5F2-184A1FE43C9D}" type="pres">
      <dgm:prSet presAssocID="{6BB051B8-54A6-410A-81AC-36C765094EAB}" presName="Name9" presStyleLbl="parChTrans1D2" presStyleIdx="2" presStyleCnt="3"/>
      <dgm:spPr/>
    </dgm:pt>
    <dgm:pt modelId="{7E4A0F50-853F-4849-8BA1-3F6CE392A897}" type="pres">
      <dgm:prSet presAssocID="{6BB051B8-54A6-410A-81AC-36C765094EAB}" presName="connTx" presStyleLbl="parChTrans1D2" presStyleIdx="2" presStyleCnt="3"/>
      <dgm:spPr/>
    </dgm:pt>
    <dgm:pt modelId="{673E5AE9-BE07-44C6-9751-3A6CF20C668D}" type="pres">
      <dgm:prSet presAssocID="{69A0F84C-E4DE-46BB-817A-8C9AE6286849}" presName="node" presStyleLbl="node1" presStyleIdx="2" presStyleCnt="3">
        <dgm:presLayoutVars>
          <dgm:bulletEnabled val="1"/>
        </dgm:presLayoutVars>
      </dgm:prSet>
      <dgm:spPr/>
    </dgm:pt>
  </dgm:ptLst>
  <dgm:cxnLst>
    <dgm:cxn modelId="{E4A9B502-3D2C-44BF-9A26-7AF81874A62C}" type="presOf" srcId="{6BB051B8-54A6-410A-81AC-36C765094EAB}" destId="{09D0BCBA-F332-4929-B5F2-184A1FE43C9D}" srcOrd="0" destOrd="0" presId="urn:microsoft.com/office/officeart/2005/8/layout/radial1"/>
    <dgm:cxn modelId="{8DCC9B1F-C617-4865-86EB-7182198A6748}" type="presOf" srcId="{2D76AC8D-6522-4798-B9FD-F0A371E5B82E}" destId="{AB5BAA2C-541D-4D3C-BE9E-17EEB3C8508E}" srcOrd="0" destOrd="0" presId="urn:microsoft.com/office/officeart/2005/8/layout/radial1"/>
    <dgm:cxn modelId="{D60B5522-ADAE-48BD-80A4-37CEAFB1C564}" type="presOf" srcId="{33D7972E-F0D1-4F6F-B7F9-198838C5DF3C}" destId="{163E2351-F3D8-4C9A-BF3C-431763B7D17E}" srcOrd="0" destOrd="0" presId="urn:microsoft.com/office/officeart/2005/8/layout/radial1"/>
    <dgm:cxn modelId="{DBAC7828-2E6E-412C-99D4-1E47C700C240}" type="presOf" srcId="{E9F8E7FC-52D3-4643-8B2A-80A67BFDE0FB}" destId="{F07CDAF8-B677-4BBD-AA71-37B28C9FDF1C}" srcOrd="0" destOrd="0" presId="urn:microsoft.com/office/officeart/2005/8/layout/radial1"/>
    <dgm:cxn modelId="{A886905C-3654-4831-9A23-03981E68582A}" type="presOf" srcId="{33D7972E-F0D1-4F6F-B7F9-198838C5DF3C}" destId="{6AF958E1-468D-4758-87B6-316F65539EC4}" srcOrd="1" destOrd="0" presId="urn:microsoft.com/office/officeart/2005/8/layout/radial1"/>
    <dgm:cxn modelId="{3024CD67-C232-42E7-9021-3C58EBD6F3CD}" type="presOf" srcId="{6BB051B8-54A6-410A-81AC-36C765094EAB}" destId="{7E4A0F50-853F-4849-8BA1-3F6CE392A897}" srcOrd="1" destOrd="0" presId="urn:microsoft.com/office/officeart/2005/8/layout/radial1"/>
    <dgm:cxn modelId="{72CACE4C-A56A-489E-9896-540FEBB3B00F}" type="presOf" srcId="{E9F8E7FC-52D3-4643-8B2A-80A67BFDE0FB}" destId="{F300AE8C-9758-4B63-AEEE-F0FEFFB3AE42}" srcOrd="1" destOrd="0" presId="urn:microsoft.com/office/officeart/2005/8/layout/radial1"/>
    <dgm:cxn modelId="{1CAB274E-B27E-4F2D-88D9-5227F8022690}" type="presOf" srcId="{BAC092E5-C080-451D-B9D1-6C9169E0DF64}" destId="{8D5A2892-66FE-48CD-AC87-0EF52DE6A1C9}" srcOrd="0" destOrd="0" presId="urn:microsoft.com/office/officeart/2005/8/layout/radial1"/>
    <dgm:cxn modelId="{6E38A276-3650-42D8-96A0-6838EE15D1B2}" type="presOf" srcId="{73C714BD-9201-41FB-8813-94591B29D85A}" destId="{9EF499D3-A2EA-4DC7-A472-419BD8A40C30}" srcOrd="0" destOrd="0" presId="urn:microsoft.com/office/officeart/2005/8/layout/radial1"/>
    <dgm:cxn modelId="{C423DE8C-BCAC-4403-BB45-E04FB44D04FA}" srcId="{2D76AC8D-6522-4798-B9FD-F0A371E5B82E}" destId="{BAC092E5-C080-451D-B9D1-6C9169E0DF64}" srcOrd="0" destOrd="0" parTransId="{A7485E3F-6E34-4A70-A6E0-78F374DF3FD0}" sibTransId="{D38A6DB4-F6D1-4FBF-A78B-325979B97707}"/>
    <dgm:cxn modelId="{60BF8B99-0B29-45AE-ABBA-5A2B5C13D205}" srcId="{BAC092E5-C080-451D-B9D1-6C9169E0DF64}" destId="{69A0F84C-E4DE-46BB-817A-8C9AE6286849}" srcOrd="2" destOrd="0" parTransId="{6BB051B8-54A6-410A-81AC-36C765094EAB}" sibTransId="{1C740EB9-E47A-494F-966D-300789E6F56C}"/>
    <dgm:cxn modelId="{02D609AC-4810-4855-B247-84E22FA4F028}" type="presOf" srcId="{69A0F84C-E4DE-46BB-817A-8C9AE6286849}" destId="{673E5AE9-BE07-44C6-9751-3A6CF20C668D}" srcOrd="0" destOrd="0" presId="urn:microsoft.com/office/officeart/2005/8/layout/radial1"/>
    <dgm:cxn modelId="{06F875B8-7145-4FD4-A59A-31B809BBEDF7}" type="presOf" srcId="{DBEC6E4D-2E2C-48FC-8E19-DB6A3AA7893A}" destId="{C307EAD7-2795-4946-A4BD-2CA14B30D21F}" srcOrd="0" destOrd="0" presId="urn:microsoft.com/office/officeart/2005/8/layout/radial1"/>
    <dgm:cxn modelId="{720339C3-6445-456D-85DC-607699B39462}" srcId="{BAC092E5-C080-451D-B9D1-6C9169E0DF64}" destId="{DBEC6E4D-2E2C-48FC-8E19-DB6A3AA7893A}" srcOrd="0" destOrd="0" parTransId="{33D7972E-F0D1-4F6F-B7F9-198838C5DF3C}" sibTransId="{CF864028-F58A-4135-BB6E-28B16A17B597}"/>
    <dgm:cxn modelId="{F3D900FF-15DD-41C3-9B1B-5D643F5896A3}" srcId="{BAC092E5-C080-451D-B9D1-6C9169E0DF64}" destId="{73C714BD-9201-41FB-8813-94591B29D85A}" srcOrd="1" destOrd="0" parTransId="{E9F8E7FC-52D3-4643-8B2A-80A67BFDE0FB}" sibTransId="{FA378DD5-B26B-42C9-A620-40CA1692E246}"/>
    <dgm:cxn modelId="{5984F62B-9991-4E61-8FFF-F7F01B23FA4E}" type="presParOf" srcId="{AB5BAA2C-541D-4D3C-BE9E-17EEB3C8508E}" destId="{8D5A2892-66FE-48CD-AC87-0EF52DE6A1C9}" srcOrd="0" destOrd="0" presId="urn:microsoft.com/office/officeart/2005/8/layout/radial1"/>
    <dgm:cxn modelId="{034CAA50-9ACA-4536-A739-498405447D57}" type="presParOf" srcId="{AB5BAA2C-541D-4D3C-BE9E-17EEB3C8508E}" destId="{163E2351-F3D8-4C9A-BF3C-431763B7D17E}" srcOrd="1" destOrd="0" presId="urn:microsoft.com/office/officeart/2005/8/layout/radial1"/>
    <dgm:cxn modelId="{51DB26A3-A3FB-419B-ABA7-50D78196251D}" type="presParOf" srcId="{163E2351-F3D8-4C9A-BF3C-431763B7D17E}" destId="{6AF958E1-468D-4758-87B6-316F65539EC4}" srcOrd="0" destOrd="0" presId="urn:microsoft.com/office/officeart/2005/8/layout/radial1"/>
    <dgm:cxn modelId="{F99FB258-9F19-4FC2-B106-3647A7E826E1}" type="presParOf" srcId="{AB5BAA2C-541D-4D3C-BE9E-17EEB3C8508E}" destId="{C307EAD7-2795-4946-A4BD-2CA14B30D21F}" srcOrd="2" destOrd="0" presId="urn:microsoft.com/office/officeart/2005/8/layout/radial1"/>
    <dgm:cxn modelId="{993346A9-D577-4C74-9347-9D7B0FE217F5}" type="presParOf" srcId="{AB5BAA2C-541D-4D3C-BE9E-17EEB3C8508E}" destId="{F07CDAF8-B677-4BBD-AA71-37B28C9FDF1C}" srcOrd="3" destOrd="0" presId="urn:microsoft.com/office/officeart/2005/8/layout/radial1"/>
    <dgm:cxn modelId="{F5E6D435-9C64-4866-A719-2AE0D5774340}" type="presParOf" srcId="{F07CDAF8-B677-4BBD-AA71-37B28C9FDF1C}" destId="{F300AE8C-9758-4B63-AEEE-F0FEFFB3AE42}" srcOrd="0" destOrd="0" presId="urn:microsoft.com/office/officeart/2005/8/layout/radial1"/>
    <dgm:cxn modelId="{70D74073-5D90-411D-9BCF-EB4FB004D783}" type="presParOf" srcId="{AB5BAA2C-541D-4D3C-BE9E-17EEB3C8508E}" destId="{9EF499D3-A2EA-4DC7-A472-419BD8A40C30}" srcOrd="4" destOrd="0" presId="urn:microsoft.com/office/officeart/2005/8/layout/radial1"/>
    <dgm:cxn modelId="{609A012D-5F1D-47C8-99A3-F9D6EADC8E97}" type="presParOf" srcId="{AB5BAA2C-541D-4D3C-BE9E-17EEB3C8508E}" destId="{09D0BCBA-F332-4929-B5F2-184A1FE43C9D}" srcOrd="5" destOrd="0" presId="urn:microsoft.com/office/officeart/2005/8/layout/radial1"/>
    <dgm:cxn modelId="{213BF6F5-11A7-4BC6-9688-7D714A355279}" type="presParOf" srcId="{09D0BCBA-F332-4929-B5F2-184A1FE43C9D}" destId="{7E4A0F50-853F-4849-8BA1-3F6CE392A897}" srcOrd="0" destOrd="0" presId="urn:microsoft.com/office/officeart/2005/8/layout/radial1"/>
    <dgm:cxn modelId="{0119AB9C-1084-4765-983D-DF745A965FF2}" type="presParOf" srcId="{AB5BAA2C-541D-4D3C-BE9E-17EEB3C8508E}" destId="{673E5AE9-BE07-44C6-9751-3A6CF20C668D}" srcOrd="6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2553682" cy="2048968"/>
        <a:chOff x="0" y="0"/>
        <a:chExt cx="2553682" cy="2048968"/>
      </a:xfrm>
    </dsp:grpSpPr>
    <dsp:sp modelId="{8D5A2892-66FE-48CD-AC87-0EF52DE6A1C9}">
      <dsp:nvSpPr>
        <dsp:cNvPr id="3" name="椭圆 2"/>
        <dsp:cNvSpPr/>
      </dsp:nvSpPr>
      <dsp:spPr bwMode="white">
        <a:xfrm>
          <a:off x="929558" y="902935"/>
          <a:ext cx="694565" cy="694565"/>
        </a:xfrm>
        <a:prstGeom prst="ellipse">
          <a:avLst/>
        </a:prstGeom>
      </dsp:spPr>
      <dsp:style>
        <a:lnRef idx="2">
          <a:schemeClr val="lt1"/>
        </a:lnRef>
        <a:fillRef idx="1">
          <a:schemeClr val="accent3"/>
        </a:fillRef>
        <a:effectRef idx="0">
          <a:scrgbClr r="0" g="0" b="0"/>
        </a:effectRef>
        <a:fontRef idx="minor">
          <a:schemeClr val="lt1"/>
        </a:fontRef>
      </dsp:style>
      <dsp:txBody>
        <a:bodyPr lIns="18415" tIns="18415" rIns="18415" bIns="18415" anchor="ctr"/>
        <a:lstStyle>
          <a:lvl1pPr algn="ctr">
            <a:defRPr sz="2900"/>
          </a:lvl1pPr>
          <a:lvl2pPr marL="228600" indent="-228600" algn="ctr">
            <a:defRPr sz="2200"/>
          </a:lvl2pPr>
          <a:lvl3pPr marL="457200" indent="-228600" algn="ctr">
            <a:defRPr sz="2200"/>
          </a:lvl3pPr>
          <a:lvl4pPr marL="685800" indent="-228600" algn="ctr">
            <a:defRPr sz="2200"/>
          </a:lvl4pPr>
          <a:lvl5pPr marL="914400" indent="-228600" algn="ctr">
            <a:defRPr sz="2200"/>
          </a:lvl5pPr>
          <a:lvl6pPr marL="1143000" indent="-228600" algn="ctr">
            <a:defRPr sz="2200"/>
          </a:lvl6pPr>
          <a:lvl7pPr marL="1371600" indent="-228600" algn="ctr">
            <a:defRPr sz="2200"/>
          </a:lvl7pPr>
          <a:lvl8pPr marL="1600200" indent="-228600" algn="ctr">
            <a:defRPr sz="2200"/>
          </a:lvl8pPr>
          <a:lvl9pPr marL="1828800" indent="-228600" algn="ctr">
            <a:defRPr sz="2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/>
            <a:t>1</a:t>
          </a:r>
        </a:p>
      </dsp:txBody>
      <dsp:txXfrm>
        <a:off x="929558" y="902935"/>
        <a:ext cx="694565" cy="694565"/>
      </dsp:txXfrm>
    </dsp:sp>
    <dsp:sp modelId="{163E2351-F3D8-4C9A-BF3C-431763B7D17E}">
      <dsp:nvSpPr>
        <dsp:cNvPr id="4" name="任意多边形 3"/>
        <dsp:cNvSpPr/>
      </dsp:nvSpPr>
      <dsp:spPr bwMode="white">
        <a:xfrm>
          <a:off x="1172656" y="774272"/>
          <a:ext cx="208370" cy="48957"/>
        </a:xfrm>
        <a:custGeom>
          <a:avLst/>
          <a:gdLst/>
          <a:ahLst/>
          <a:cxnLst/>
          <a:pathLst>
            <a:path w="328" h="77">
              <a:moveTo>
                <a:pt x="164" y="203"/>
              </a:moveTo>
              <a:lnTo>
                <a:pt x="164" y="-126"/>
              </a:lnTo>
            </a:path>
          </a:pathLst>
        </a:custGeom>
      </dsp:spPr>
      <dsp:style>
        <a:lnRef idx="2">
          <a:schemeClr val="accent5"/>
        </a:lnRef>
        <a:fillRef idx="0">
          <a:schemeClr val="accent4">
            <a:tint val="90000"/>
          </a:schemeClr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500"/>
          </a:lvl1pPr>
          <a:lvl2pPr marL="57150" indent="-57150" algn="ctr">
            <a:defRPr sz="400"/>
          </a:lvl2pPr>
          <a:lvl3pPr marL="114300" indent="-57150" algn="ctr">
            <a:defRPr sz="400"/>
          </a:lvl3pPr>
          <a:lvl4pPr marL="171450" indent="-57150" algn="ctr">
            <a:defRPr sz="400"/>
          </a:lvl4pPr>
          <a:lvl5pPr marL="228600" indent="-57150" algn="ctr">
            <a:defRPr sz="400"/>
          </a:lvl5pPr>
          <a:lvl6pPr marL="285750" indent="-57150" algn="ctr">
            <a:defRPr sz="400"/>
          </a:lvl6pPr>
          <a:lvl7pPr marL="342900" indent="-57150" algn="ctr">
            <a:defRPr sz="400"/>
          </a:lvl7pPr>
          <a:lvl8pPr marL="400050" indent="-57150" algn="ctr">
            <a:defRPr sz="400"/>
          </a:lvl8pPr>
          <a:lvl9pPr marL="457200" indent="-57150" algn="ctr">
            <a:defRPr sz="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US">
            <a:solidFill>
              <a:schemeClr val="tx1"/>
            </a:solidFill>
          </a:endParaRPr>
        </a:p>
      </dsp:txBody>
      <dsp:txXfrm>
        <a:off x="1172656" y="774272"/>
        <a:ext cx="208370" cy="48957"/>
      </dsp:txXfrm>
    </dsp:sp>
    <dsp:sp modelId="{C307EAD7-2795-4946-A4BD-2CA14B30D21F}">
      <dsp:nvSpPr>
        <dsp:cNvPr id="5" name="椭圆 4"/>
        <dsp:cNvSpPr/>
      </dsp:nvSpPr>
      <dsp:spPr bwMode="white">
        <a:xfrm>
          <a:off x="929558" y="0"/>
          <a:ext cx="694565" cy="694565"/>
        </a:xfrm>
        <a:prstGeom prst="ellipse">
          <a:avLst/>
        </a:prstGeom>
      </dsp:spPr>
      <dsp:style>
        <a:lnRef idx="2">
          <a:schemeClr val="lt1"/>
        </a:lnRef>
        <a:fillRef idx="1">
          <a:schemeClr val="accent4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18415" tIns="18415" rIns="18415" bIns="18415" anchor="ctr"/>
        <a:lstStyle>
          <a:lvl1pPr algn="ctr">
            <a:defRPr sz="2900"/>
          </a:lvl1pPr>
          <a:lvl2pPr marL="228600" indent="-228600" algn="ctr">
            <a:defRPr sz="2200"/>
          </a:lvl2pPr>
          <a:lvl3pPr marL="457200" indent="-228600" algn="ctr">
            <a:defRPr sz="2200"/>
          </a:lvl3pPr>
          <a:lvl4pPr marL="685800" indent="-228600" algn="ctr">
            <a:defRPr sz="2200"/>
          </a:lvl4pPr>
          <a:lvl5pPr marL="914400" indent="-228600" algn="ctr">
            <a:defRPr sz="2200"/>
          </a:lvl5pPr>
          <a:lvl6pPr marL="1143000" indent="-228600" algn="ctr">
            <a:defRPr sz="2200"/>
          </a:lvl6pPr>
          <a:lvl7pPr marL="1371600" indent="-228600" algn="ctr">
            <a:defRPr sz="2200"/>
          </a:lvl7pPr>
          <a:lvl8pPr marL="1600200" indent="-228600" algn="ctr">
            <a:defRPr sz="2200"/>
          </a:lvl8pPr>
          <a:lvl9pPr marL="1828800" indent="-228600" algn="ctr">
            <a:defRPr sz="2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/>
            <a:t>0</a:t>
          </a:r>
        </a:p>
      </dsp:txBody>
      <dsp:txXfrm>
        <a:off x="929558" y="0"/>
        <a:ext cx="694565" cy="694565"/>
      </dsp:txXfrm>
    </dsp:sp>
    <dsp:sp modelId="{F07CDAF8-B677-4BBD-AA71-37B28C9FDF1C}">
      <dsp:nvSpPr>
        <dsp:cNvPr id="6" name="任意多边形 5"/>
        <dsp:cNvSpPr/>
      </dsp:nvSpPr>
      <dsp:spPr bwMode="white">
        <a:xfrm>
          <a:off x="1563639" y="1451473"/>
          <a:ext cx="208370" cy="48957"/>
        </a:xfrm>
        <a:custGeom>
          <a:avLst/>
          <a:gdLst/>
          <a:ahLst/>
          <a:cxnLst/>
          <a:pathLst>
            <a:path w="328" h="77">
              <a:moveTo>
                <a:pt x="22" y="-43"/>
              </a:moveTo>
              <a:lnTo>
                <a:pt x="306" y="121"/>
              </a:lnTo>
            </a:path>
          </a:pathLst>
        </a:custGeom>
      </dsp:spPr>
      <dsp:style>
        <a:lnRef idx="2">
          <a:schemeClr val="accent5"/>
        </a:lnRef>
        <a:fillRef idx="0">
          <a:schemeClr val="accent4">
            <a:tint val="90000"/>
          </a:schemeClr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500"/>
          </a:lvl1pPr>
          <a:lvl2pPr marL="57150" indent="-57150" algn="ctr">
            <a:defRPr sz="400"/>
          </a:lvl2pPr>
          <a:lvl3pPr marL="114300" indent="-57150" algn="ctr">
            <a:defRPr sz="400"/>
          </a:lvl3pPr>
          <a:lvl4pPr marL="171450" indent="-57150" algn="ctr">
            <a:defRPr sz="400"/>
          </a:lvl4pPr>
          <a:lvl5pPr marL="228600" indent="-57150" algn="ctr">
            <a:defRPr sz="400"/>
          </a:lvl5pPr>
          <a:lvl6pPr marL="285750" indent="-57150" algn="ctr">
            <a:defRPr sz="400"/>
          </a:lvl6pPr>
          <a:lvl7pPr marL="342900" indent="-57150" algn="ctr">
            <a:defRPr sz="400"/>
          </a:lvl7pPr>
          <a:lvl8pPr marL="400050" indent="-57150" algn="ctr">
            <a:defRPr sz="400"/>
          </a:lvl8pPr>
          <a:lvl9pPr marL="457200" indent="-57150" algn="ctr">
            <a:defRPr sz="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US">
            <a:solidFill>
              <a:schemeClr val="tx1"/>
            </a:solidFill>
          </a:endParaRPr>
        </a:p>
      </dsp:txBody>
      <dsp:txXfrm>
        <a:off x="1563639" y="1451473"/>
        <a:ext cx="208370" cy="48957"/>
      </dsp:txXfrm>
    </dsp:sp>
    <dsp:sp modelId="{9EF499D3-A2EA-4DC7-A472-419BD8A40C30}">
      <dsp:nvSpPr>
        <dsp:cNvPr id="7" name="椭圆 6"/>
        <dsp:cNvSpPr/>
      </dsp:nvSpPr>
      <dsp:spPr bwMode="white">
        <a:xfrm>
          <a:off x="1711523" y="1354403"/>
          <a:ext cx="694565" cy="694565"/>
        </a:xfrm>
        <a:prstGeom prst="ellipse">
          <a:avLst/>
        </a:prstGeom>
      </dsp:spPr>
      <dsp:style>
        <a:lnRef idx="2">
          <a:schemeClr val="lt1"/>
        </a:lnRef>
        <a:fillRef idx="1">
          <a:schemeClr val="accent4">
            <a:hueOff val="4410000"/>
            <a:satOff val="15686"/>
            <a:lumOff val="-843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18415" tIns="18415" rIns="18415" bIns="18415" anchor="ctr"/>
        <a:lstStyle>
          <a:lvl1pPr algn="ctr">
            <a:defRPr sz="2900"/>
          </a:lvl1pPr>
          <a:lvl2pPr marL="228600" indent="-228600" algn="ctr">
            <a:defRPr sz="2200"/>
          </a:lvl2pPr>
          <a:lvl3pPr marL="457200" indent="-228600" algn="ctr">
            <a:defRPr sz="2200"/>
          </a:lvl3pPr>
          <a:lvl4pPr marL="685800" indent="-228600" algn="ctr">
            <a:defRPr sz="2200"/>
          </a:lvl4pPr>
          <a:lvl5pPr marL="914400" indent="-228600" algn="ctr">
            <a:defRPr sz="2200"/>
          </a:lvl5pPr>
          <a:lvl6pPr marL="1143000" indent="-228600" algn="ctr">
            <a:defRPr sz="2200"/>
          </a:lvl6pPr>
          <a:lvl7pPr marL="1371600" indent="-228600" algn="ctr">
            <a:defRPr sz="2200"/>
          </a:lvl7pPr>
          <a:lvl8pPr marL="1600200" indent="-228600" algn="ctr">
            <a:defRPr sz="2200"/>
          </a:lvl8pPr>
          <a:lvl9pPr marL="1828800" indent="-228600" algn="ctr">
            <a:defRPr sz="2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/>
            <a:t>3</a:t>
          </a:r>
        </a:p>
      </dsp:txBody>
      <dsp:txXfrm>
        <a:off x="1711523" y="1354403"/>
        <a:ext cx="694565" cy="694565"/>
      </dsp:txXfrm>
    </dsp:sp>
    <dsp:sp modelId="{09D0BCBA-F332-4929-B5F2-184A1FE43C9D}">
      <dsp:nvSpPr>
        <dsp:cNvPr id="8" name="任意多边形 7"/>
        <dsp:cNvSpPr/>
      </dsp:nvSpPr>
      <dsp:spPr bwMode="white">
        <a:xfrm>
          <a:off x="781674" y="1451473"/>
          <a:ext cx="208370" cy="48957"/>
        </a:xfrm>
        <a:custGeom>
          <a:avLst/>
          <a:gdLst/>
          <a:ahLst/>
          <a:cxnLst/>
          <a:pathLst>
            <a:path w="328" h="77">
              <a:moveTo>
                <a:pt x="306" y="-43"/>
              </a:moveTo>
              <a:lnTo>
                <a:pt x="22" y="121"/>
              </a:lnTo>
            </a:path>
          </a:pathLst>
        </a:custGeom>
      </dsp:spPr>
      <dsp:style>
        <a:lnRef idx="2">
          <a:schemeClr val="accent5"/>
        </a:lnRef>
        <a:fillRef idx="0">
          <a:schemeClr val="accent4">
            <a:tint val="90000"/>
          </a:schemeClr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500"/>
          </a:lvl1pPr>
          <a:lvl2pPr marL="57150" indent="-57150" algn="ctr">
            <a:defRPr sz="400"/>
          </a:lvl2pPr>
          <a:lvl3pPr marL="114300" indent="-57150" algn="ctr">
            <a:defRPr sz="400"/>
          </a:lvl3pPr>
          <a:lvl4pPr marL="171450" indent="-57150" algn="ctr">
            <a:defRPr sz="400"/>
          </a:lvl4pPr>
          <a:lvl5pPr marL="228600" indent="-57150" algn="ctr">
            <a:defRPr sz="400"/>
          </a:lvl5pPr>
          <a:lvl6pPr marL="285750" indent="-57150" algn="ctr">
            <a:defRPr sz="400"/>
          </a:lvl6pPr>
          <a:lvl7pPr marL="342900" indent="-57150" algn="ctr">
            <a:defRPr sz="400"/>
          </a:lvl7pPr>
          <a:lvl8pPr marL="400050" indent="-57150" algn="ctr">
            <a:defRPr sz="400"/>
          </a:lvl8pPr>
          <a:lvl9pPr marL="457200" indent="-57150" algn="ctr">
            <a:defRPr sz="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US">
            <a:solidFill>
              <a:schemeClr val="tx1"/>
            </a:solidFill>
          </a:endParaRPr>
        </a:p>
      </dsp:txBody>
      <dsp:txXfrm>
        <a:off x="781674" y="1451473"/>
        <a:ext cx="208370" cy="48957"/>
      </dsp:txXfrm>
    </dsp:sp>
    <dsp:sp modelId="{673E5AE9-BE07-44C6-9751-3A6CF20C668D}">
      <dsp:nvSpPr>
        <dsp:cNvPr id="9" name="椭圆 8"/>
        <dsp:cNvSpPr/>
      </dsp:nvSpPr>
      <dsp:spPr bwMode="white">
        <a:xfrm>
          <a:off x="147594" y="1354403"/>
          <a:ext cx="694565" cy="694565"/>
        </a:xfrm>
        <a:prstGeom prst="ellipse">
          <a:avLst/>
        </a:prstGeom>
      </dsp:spPr>
      <dsp:style>
        <a:lnRef idx="2">
          <a:schemeClr val="lt1"/>
        </a:lnRef>
        <a:fillRef idx="1">
          <a:schemeClr val="accent4">
            <a:hueOff val="8820000"/>
            <a:satOff val="31373"/>
            <a:lumOff val="-16862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18415" tIns="18415" rIns="18415" bIns="18415" anchor="ctr"/>
        <a:lstStyle>
          <a:lvl1pPr algn="ctr">
            <a:defRPr sz="2900"/>
          </a:lvl1pPr>
          <a:lvl2pPr marL="228600" indent="-228600" algn="ctr">
            <a:defRPr sz="2200"/>
          </a:lvl2pPr>
          <a:lvl3pPr marL="457200" indent="-228600" algn="ctr">
            <a:defRPr sz="2200"/>
          </a:lvl3pPr>
          <a:lvl4pPr marL="685800" indent="-228600" algn="ctr">
            <a:defRPr sz="2200"/>
          </a:lvl4pPr>
          <a:lvl5pPr marL="914400" indent="-228600" algn="ctr">
            <a:defRPr sz="2200"/>
          </a:lvl5pPr>
          <a:lvl6pPr marL="1143000" indent="-228600" algn="ctr">
            <a:defRPr sz="2200"/>
          </a:lvl6pPr>
          <a:lvl7pPr marL="1371600" indent="-228600" algn="ctr">
            <a:defRPr sz="2200"/>
          </a:lvl7pPr>
          <a:lvl8pPr marL="1600200" indent="-228600" algn="ctr">
            <a:defRPr sz="2200"/>
          </a:lvl8pPr>
          <a:lvl9pPr marL="1828800" indent="-228600" algn="ctr">
            <a:defRPr sz="2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/>
            <a:t>2</a:t>
          </a:r>
        </a:p>
      </dsp:txBody>
      <dsp:txXfrm>
        <a:off x="147594" y="1354403"/>
        <a:ext cx="694565" cy="69456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Sty" val="noArr"/>
              <dgm:param type="endSty" val="noArr"/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C3311C-1080-4025-A587-3C8245D9CD7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altLang="zh-CN"/>
              <a:t>https://zh.wikipedia.org/zh-hans/%E6%91%A9%E5%B0%94%E5%AE%9A%E5%BE%8B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E7B472-84CF-4C91-970E-0A87C7012FE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hf sldNum="0"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c6f91993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c6f91993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c6f91993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c6f919934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c6f919934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c6f919934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c6f919934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c6f919934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c6f919934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c6f919934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2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8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636800" y="80700"/>
            <a:ext cx="4426500" cy="498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cxnSp>
        <p:nvCxnSpPr>
          <p:cNvPr id="39" name="Google Shape;39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1" name="Google Shape;41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p9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 panose="020B0503030403020204"/>
              <a:buChar char="●"/>
              <a:defRPr sz="1800">
                <a:solidFill>
                  <a:schemeClr val="lt2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 panose="020B0503030403020204"/>
              <a:buChar char="○"/>
              <a:defRPr>
                <a:solidFill>
                  <a:schemeClr val="lt2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 panose="020B0503030403020204"/>
              <a:buChar char="■"/>
              <a:defRPr>
                <a:solidFill>
                  <a:schemeClr val="lt2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 panose="020B0503030403020204"/>
              <a:buChar char="●"/>
              <a:defRPr>
                <a:solidFill>
                  <a:schemeClr val="lt2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 panose="020B0503030403020204"/>
              <a:buChar char="○"/>
              <a:defRPr>
                <a:solidFill>
                  <a:schemeClr val="lt2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 panose="020B0503030403020204"/>
              <a:buChar char="■"/>
              <a:defRPr>
                <a:solidFill>
                  <a:schemeClr val="lt2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 panose="020B0503030403020204"/>
              <a:buChar char="●"/>
              <a:defRPr>
                <a:solidFill>
                  <a:schemeClr val="lt2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 panose="020B0503030403020204"/>
              <a:buChar char="○"/>
              <a:defRPr>
                <a:solidFill>
                  <a:schemeClr val="lt2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 panose="020B0503030403020204"/>
              <a:buChar char="■"/>
              <a:defRPr>
                <a:solidFill>
                  <a:schemeClr val="lt2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9pPr>
          </a:lstStyle>
          <a:p/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hyperlink" Target="mailto:chengfan85@gmail.com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image" Target="../media/image12.png"/><Relationship Id="rId7" Type="http://schemas.openxmlformats.org/officeDocument/2006/relationships/image" Target="../media/image11.png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1" Type="http://schemas.openxmlformats.org/officeDocument/2006/relationships/slideLayout" Target="../slideLayouts/slideLayout3.xml"/><Relationship Id="rId10" Type="http://schemas.openxmlformats.org/officeDocument/2006/relationships/image" Target="../media/image14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.xml"/><Relationship Id="rId8" Type="http://schemas.openxmlformats.org/officeDocument/2006/relationships/image" Target="../media/image22.png"/><Relationship Id="rId7" Type="http://schemas.openxmlformats.org/officeDocument/2006/relationships/image" Target="../media/image21.png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jpeg"/><Relationship Id="rId1" Type="http://schemas.openxmlformats.org/officeDocument/2006/relationships/image" Target="../media/image23.jpe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image" Target="../media/image35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6.png"/><Relationship Id="rId8" Type="http://schemas.openxmlformats.org/officeDocument/2006/relationships/image" Target="../media/image45.png"/><Relationship Id="rId7" Type="http://schemas.openxmlformats.org/officeDocument/2006/relationships/image" Target="../media/image44.png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0" Type="http://schemas.openxmlformats.org/officeDocument/2006/relationships/slideLayout" Target="../slideLayouts/slideLayout3.xml"/><Relationship Id="rId1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48.png"/><Relationship Id="rId1" Type="http://schemas.openxmlformats.org/officeDocument/2006/relationships/image" Target="../media/image47.pn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image" Target="../media/image49.png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image" Target="../media/image55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64.png"/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image" Target="../media/image61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image" Target="../media/image6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7" Type="http://schemas.openxmlformats.org/officeDocument/2006/relationships/image" Target="../media/image76.png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image" Target="../media/image70.png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image" Target="../media/image77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86.png"/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image" Target="../media/image8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88.png"/><Relationship Id="rId1" Type="http://schemas.openxmlformats.org/officeDocument/2006/relationships/image" Target="../media/image8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hyperlink" Target="https://www.abrahamlincolnonline.org/lincoln/speeches/gettysburg.htm" TargetMode="Externa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diagramColors" Target="../diagrams/colors1.xml"/><Relationship Id="rId8" Type="http://schemas.openxmlformats.org/officeDocument/2006/relationships/diagramQuickStyle" Target="../diagrams/quickStyle1.xml"/><Relationship Id="rId7" Type="http://schemas.openxmlformats.org/officeDocument/2006/relationships/diagramLayout" Target="../diagrams/layout1.xml"/><Relationship Id="rId6" Type="http://schemas.openxmlformats.org/officeDocument/2006/relationships/diagramData" Target="../diagrams/data1.xml"/><Relationship Id="rId5" Type="http://schemas.openxmlformats.org/officeDocument/2006/relationships/image" Target="../media/image95.png"/><Relationship Id="rId4" Type="http://schemas.openxmlformats.org/officeDocument/2006/relationships/image" Target="../media/image94.png"/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1" Type="http://schemas.openxmlformats.org/officeDocument/2006/relationships/slideLayout" Target="../slideLayouts/slideLayout3.xml"/><Relationship Id="rId10" Type="http://schemas.microsoft.com/office/2007/relationships/diagramDrawing" Target="../diagrams/drawing1.xml"/><Relationship Id="rId1" Type="http://schemas.openxmlformats.org/officeDocument/2006/relationships/image" Target="../media/image9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6.jpe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4" Type="http://schemas.openxmlformats.org/officeDocument/2006/relationships/image" Target="../media/image100.png"/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image" Target="../media/image97.pn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.xml"/><Relationship Id="rId8" Type="http://schemas.openxmlformats.org/officeDocument/2006/relationships/image" Target="../media/image110.png"/><Relationship Id="rId7" Type="http://schemas.openxmlformats.org/officeDocument/2006/relationships/image" Target="../media/image109.png"/><Relationship Id="rId6" Type="http://schemas.openxmlformats.org/officeDocument/2006/relationships/image" Target="../media/image108.png"/><Relationship Id="rId5" Type="http://schemas.openxmlformats.org/officeDocument/2006/relationships/image" Target="../media/image107.png"/><Relationship Id="rId4" Type="http://schemas.openxmlformats.org/officeDocument/2006/relationships/image" Target="../media/image106.png"/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image" Target="../media/image103.png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114.png"/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image" Target="../media/image111.png"/></Relationships>
</file>

<file path=ppt/slides/_rels/slide2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4" Type="http://schemas.openxmlformats.org/officeDocument/2006/relationships/image" Target="../media/image118.png"/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image" Target="../media/image115.png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125.png"/><Relationship Id="rId4" Type="http://schemas.openxmlformats.org/officeDocument/2006/relationships/image" Target="../media/image124.png"/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" Type="http://schemas.openxmlformats.org/officeDocument/2006/relationships/image" Target="../media/image121.png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129.png"/><Relationship Id="rId3" Type="http://schemas.openxmlformats.org/officeDocument/2006/relationships/image" Target="../media/image128.png"/><Relationship Id="rId2" Type="http://schemas.openxmlformats.org/officeDocument/2006/relationships/image" Target="../media/image127.png"/><Relationship Id="rId1" Type="http://schemas.openxmlformats.org/officeDocument/2006/relationships/image" Target="../media/image126.png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.xml"/><Relationship Id="rId8" Type="http://schemas.openxmlformats.org/officeDocument/2006/relationships/image" Target="../media/image137.png"/><Relationship Id="rId7" Type="http://schemas.openxmlformats.org/officeDocument/2006/relationships/image" Target="../media/image136.png"/><Relationship Id="rId6" Type="http://schemas.openxmlformats.org/officeDocument/2006/relationships/image" Target="../media/image135.png"/><Relationship Id="rId5" Type="http://schemas.openxmlformats.org/officeDocument/2006/relationships/image" Target="../media/image134.png"/><Relationship Id="rId4" Type="http://schemas.openxmlformats.org/officeDocument/2006/relationships/image" Target="../media/image133.png"/><Relationship Id="rId3" Type="http://schemas.openxmlformats.org/officeDocument/2006/relationships/image" Target="../media/image132.png"/><Relationship Id="rId2" Type="http://schemas.openxmlformats.org/officeDocument/2006/relationships/image" Target="../media/image131.png"/><Relationship Id="rId1" Type="http://schemas.openxmlformats.org/officeDocument/2006/relationships/image" Target="../media/image130.png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141.png"/><Relationship Id="rId3" Type="http://schemas.openxmlformats.org/officeDocument/2006/relationships/image" Target="../media/image140.png"/><Relationship Id="rId2" Type="http://schemas.openxmlformats.org/officeDocument/2006/relationships/image" Target="../media/image139.png"/><Relationship Id="rId1" Type="http://schemas.openxmlformats.org/officeDocument/2006/relationships/image" Target="../media/image138.png"/></Relationships>
</file>

<file path=ppt/slides/_rels/slide3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147.png"/><Relationship Id="rId5" Type="http://schemas.openxmlformats.org/officeDocument/2006/relationships/image" Target="../media/image146.png"/><Relationship Id="rId4" Type="http://schemas.openxmlformats.org/officeDocument/2006/relationships/image" Target="../media/image145.png"/><Relationship Id="rId3" Type="http://schemas.openxmlformats.org/officeDocument/2006/relationships/image" Target="../media/image144.png"/><Relationship Id="rId2" Type="http://schemas.openxmlformats.org/officeDocument/2006/relationships/image" Target="../media/image143.png"/><Relationship Id="rId1" Type="http://schemas.openxmlformats.org/officeDocument/2006/relationships/image" Target="../media/image142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7" Type="http://schemas.openxmlformats.org/officeDocument/2006/relationships/image" Target="../media/image154.png"/><Relationship Id="rId6" Type="http://schemas.openxmlformats.org/officeDocument/2006/relationships/image" Target="../media/image153.png"/><Relationship Id="rId5" Type="http://schemas.openxmlformats.org/officeDocument/2006/relationships/image" Target="../media/image152.png"/><Relationship Id="rId4" Type="http://schemas.openxmlformats.org/officeDocument/2006/relationships/image" Target="../media/image151.png"/><Relationship Id="rId3" Type="http://schemas.openxmlformats.org/officeDocument/2006/relationships/image" Target="../media/image150.png"/><Relationship Id="rId2" Type="http://schemas.openxmlformats.org/officeDocument/2006/relationships/image" Target="../media/image149.png"/><Relationship Id="rId1" Type="http://schemas.openxmlformats.org/officeDocument/2006/relationships/image" Target="../media/image148.png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56.png"/><Relationship Id="rId2" Type="http://schemas.openxmlformats.org/officeDocument/2006/relationships/image" Target="../media/image155.png"/><Relationship Id="rId1" Type="http://schemas.openxmlformats.org/officeDocument/2006/relationships/hyperlink" Target="https://docs.python.org/3/library/string.html" TargetMode="Externa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59.png"/><Relationship Id="rId1" Type="http://schemas.openxmlformats.org/officeDocument/2006/relationships/image" Target="../media/image158.png"/></Relationships>
</file>

<file path=ppt/slides/_rels/slide4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165.png"/><Relationship Id="rId5" Type="http://schemas.openxmlformats.org/officeDocument/2006/relationships/image" Target="../media/image164.png"/><Relationship Id="rId4" Type="http://schemas.openxmlformats.org/officeDocument/2006/relationships/image" Target="../media/image163.png"/><Relationship Id="rId3" Type="http://schemas.openxmlformats.org/officeDocument/2006/relationships/image" Target="../media/image162.png"/><Relationship Id="rId2" Type="http://schemas.openxmlformats.org/officeDocument/2006/relationships/image" Target="../media/image161.png"/><Relationship Id="rId1" Type="http://schemas.openxmlformats.org/officeDocument/2006/relationships/image" Target="../media/image16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67.jpeg"/><Relationship Id="rId1" Type="http://schemas.openxmlformats.org/officeDocument/2006/relationships/image" Target="../media/image166.jpeg"/></Relationships>
</file>

<file path=ppt/slides/_rels/slide4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171.png"/><Relationship Id="rId3" Type="http://schemas.openxmlformats.org/officeDocument/2006/relationships/image" Target="../media/image170.png"/><Relationship Id="rId2" Type="http://schemas.openxmlformats.org/officeDocument/2006/relationships/image" Target="../media/image169.png"/><Relationship Id="rId1" Type="http://schemas.openxmlformats.org/officeDocument/2006/relationships/image" Target="../media/image168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7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74.png"/><Relationship Id="rId1" Type="http://schemas.openxmlformats.org/officeDocument/2006/relationships/image" Target="../media/image17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76.png"/><Relationship Id="rId1" Type="http://schemas.openxmlformats.org/officeDocument/2006/relationships/image" Target="../media/image175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78.png"/><Relationship Id="rId1" Type="http://schemas.openxmlformats.org/officeDocument/2006/relationships/image" Target="../media/image177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80.png"/><Relationship Id="rId1" Type="http://schemas.openxmlformats.org/officeDocument/2006/relationships/image" Target="../media/image179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82.png"/><Relationship Id="rId1" Type="http://schemas.openxmlformats.org/officeDocument/2006/relationships/image" Target="../media/image181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8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85.png"/><Relationship Id="rId1" Type="http://schemas.openxmlformats.org/officeDocument/2006/relationships/image" Target="../media/image184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87.png"/><Relationship Id="rId1" Type="http://schemas.openxmlformats.org/officeDocument/2006/relationships/image" Target="../media/image186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89.png"/><Relationship Id="rId1" Type="http://schemas.openxmlformats.org/officeDocument/2006/relationships/image" Target="../media/image18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>
            <a:spLocks noGrp="1"/>
          </p:cNvSpPr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/>
              <a:t>Introduction to Computation</a:t>
            </a:r>
            <a:endParaRPr dirty="0"/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1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Autumn, 2023</a:t>
            </a:r>
            <a:endParaRPr lang="en-GB" dirty="0"/>
          </a:p>
        </p:txBody>
      </p:sp>
      <p:sp>
        <p:nvSpPr>
          <p:cNvPr id="4" name="文本框 3"/>
          <p:cNvSpPr txBox="1"/>
          <p:nvPr/>
        </p:nvSpPr>
        <p:spPr>
          <a:xfrm>
            <a:off x="485875" y="2940517"/>
            <a:ext cx="337464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Prof. Fan Cheng</a:t>
            </a:r>
            <a:endParaRPr lang="en-US" altLang="zh-CN" sz="18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endParaRPr lang="en-US" altLang="zh-CN" sz="18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altLang="zh-CN" sz="18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Shanghai Jiao</a:t>
            </a:r>
            <a:r>
              <a:rPr lang="zh-CN" altLang="en-US" sz="1800" dirty="0">
                <a:solidFill>
                  <a:schemeClr val="bg1"/>
                </a:solidFill>
                <a:latin typeface="Source Sans Pro" panose="020B0503030403020204" pitchFamily="34" charset="0"/>
              </a:rPr>
              <a:t> </a:t>
            </a:r>
            <a:r>
              <a:rPr lang="en-US" altLang="zh-CN" sz="18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Tong</a:t>
            </a:r>
            <a:r>
              <a:rPr lang="zh-CN" altLang="en-US" sz="1800" dirty="0">
                <a:solidFill>
                  <a:schemeClr val="bg1"/>
                </a:solidFill>
                <a:latin typeface="Source Sans Pro" panose="020B0503030403020204" pitchFamily="34" charset="0"/>
              </a:rPr>
              <a:t> </a:t>
            </a:r>
            <a:r>
              <a:rPr lang="en-US" altLang="zh-CN" sz="18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University</a:t>
            </a:r>
            <a:endParaRPr lang="en-US" altLang="zh-CN" sz="18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endParaRPr lang="en-US" altLang="zh-CN" sz="18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  <a:hlinkClick r:id="rId1"/>
            </a:endParaRPr>
          </a:p>
          <a:p>
            <a:r>
              <a:rPr lang="en-US" altLang="zh-CN" sz="18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chengfan85@gmail.com</a:t>
            </a:r>
            <a:endParaRPr lang="en-US" altLang="zh-CN" sz="18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altLang="zh-CN" sz="18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https://github.com/ichengfan/itc</a:t>
            </a:r>
            <a:endParaRPr lang="en-US" altLang="zh-CN" sz="18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4393" y="2821214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 descr="Premium Vector | Cute green tree python carto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4392" y="4038081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Image result for eight quee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7927" y="4038079"/>
            <a:ext cx="914399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组合 6"/>
          <p:cNvGrpSpPr/>
          <p:nvPr/>
        </p:nvGrpSpPr>
        <p:grpSpPr>
          <a:xfrm>
            <a:off x="6797927" y="2821214"/>
            <a:ext cx="914400" cy="914400"/>
            <a:chOff x="6180217" y="2783700"/>
            <a:chExt cx="914400" cy="914400"/>
          </a:xfrm>
        </p:grpSpPr>
        <p:sp>
          <p:nvSpPr>
            <p:cNvPr id="6" name="文本框 5"/>
            <p:cNvSpPr txBox="1"/>
            <p:nvPr/>
          </p:nvSpPr>
          <p:spPr>
            <a:xfrm>
              <a:off x="6180217" y="2783700"/>
              <a:ext cx="914400" cy="9144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zh-CN" altLang="en-US" dirty="0"/>
            </a:p>
          </p:txBody>
        </p:sp>
        <p:pic>
          <p:nvPicPr>
            <p:cNvPr id="3" name="Picture 6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18718" y="2783700"/>
              <a:ext cx="837395" cy="9144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title"/>
          </p:nvPr>
        </p:nvSpPr>
        <p:spPr>
          <a:xfrm>
            <a:off x="265500" y="1718250"/>
            <a:ext cx="4045200" cy="170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Outline</a:t>
            </a:r>
            <a:endParaRPr dirty="0"/>
          </a:p>
        </p:txBody>
      </p:sp>
      <p:sp>
        <p:nvSpPr>
          <p:cNvPr id="65" name="Google Shape;65;p14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US" altLang="zh-CN" dirty="0"/>
              <a:t>Tuple</a:t>
            </a:r>
            <a:endParaRPr lang="en-US" altLang="zh-CN" dirty="0"/>
          </a:p>
          <a:p>
            <a:r>
              <a:rPr lang="en-US" altLang="zh-CN" dirty="0" err="1"/>
              <a:t>Dict</a:t>
            </a:r>
            <a:endParaRPr lang="en-US" altLang="zh-CN" dirty="0"/>
          </a:p>
          <a:p>
            <a:r>
              <a:rPr lang="en-US" altLang="zh-CN" dirty="0"/>
              <a:t>String</a:t>
            </a:r>
            <a:endParaRPr lang="en-US" altLang="zh-CN" dirty="0"/>
          </a:p>
          <a:p>
            <a:r>
              <a:rPr lang="en-US" altLang="zh-CN" dirty="0"/>
              <a:t>Set</a:t>
            </a:r>
            <a:endParaRPr lang="en-US" altLang="zh-CN" dirty="0"/>
          </a:p>
          <a:p>
            <a:r>
              <a:rPr lang="en-US" altLang="zh-CN" dirty="0"/>
              <a:t>Summary</a:t>
            </a:r>
            <a:endParaRPr lang="en-US" altLang="zh-CN" dirty="0"/>
          </a:p>
        </p:txBody>
      </p:sp>
      <p:sp>
        <p:nvSpPr>
          <p:cNvPr id="4" name="椭圆 3"/>
          <p:cNvSpPr/>
          <p:nvPr/>
        </p:nvSpPr>
        <p:spPr>
          <a:xfrm>
            <a:off x="1785180" y="998621"/>
            <a:ext cx="1005840" cy="100584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/>
              <a:t>6</a:t>
            </a:r>
            <a:endParaRPr lang="zh-CN" altLang="en-US" sz="4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>
            <a:spLocks noGrp="1"/>
          </p:cNvSpPr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Tuple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Tuple (</a:t>
            </a:r>
            <a:r>
              <a:rPr lang="zh-CN" altLang="en-US" dirty="0"/>
              <a:t>元组</a:t>
            </a:r>
            <a:r>
              <a:rPr lang="en-US" altLang="zh-CN" dirty="0"/>
              <a:t>)</a:t>
            </a:r>
            <a:endParaRPr lang="en-US" alt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17701" y="1390893"/>
            <a:ext cx="4600208" cy="3008196"/>
          </a:xfrm>
        </p:spPr>
        <p:txBody>
          <a:bodyPr>
            <a:noAutofit/>
          </a:bodyPr>
          <a:lstStyle/>
          <a:p>
            <a:r>
              <a:rPr lang="en-US" altLang="zh-CN" sz="1400" dirty="0">
                <a:solidFill>
                  <a:schemeClr val="bg2"/>
                </a:solidFill>
              </a:rPr>
              <a:t>tup = (element1, elmement2, …, )</a:t>
            </a:r>
            <a:endParaRPr lang="en-US" altLang="zh-CN" sz="1400" dirty="0">
              <a:solidFill>
                <a:schemeClr val="bg2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tuple()</a:t>
            </a:r>
            <a:r>
              <a:rPr lang="en-US" altLang="zh-CN" sz="1400" dirty="0">
                <a:solidFill>
                  <a:schemeClr val="bg2"/>
                </a:solidFill>
              </a:rPr>
              <a:t> method will make a tuple (similar to list()) (tuple</a:t>
            </a:r>
            <a:r>
              <a:rPr lang="zh-CN" altLang="en-US" sz="1400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类型的</a:t>
            </a:r>
            <a:r>
              <a: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构造函数</a:t>
            </a:r>
            <a:r>
              <a:rPr lang="en-US" altLang="zh-CN" sz="1400" dirty="0">
                <a:solidFill>
                  <a:schemeClr val="bg2"/>
                </a:solidFill>
              </a:rPr>
              <a:t>)</a:t>
            </a:r>
            <a:endParaRPr lang="en-US" altLang="zh-CN" sz="1400" dirty="0">
              <a:solidFill>
                <a:schemeClr val="bg2"/>
              </a:solidFill>
            </a:endParaRPr>
          </a:p>
          <a:p>
            <a:r>
              <a:rPr lang="en-US" altLang="zh-CN" sz="1400" dirty="0">
                <a:solidFill>
                  <a:schemeClr val="bg2"/>
                </a:solidFill>
                <a:highlight>
                  <a:srgbClr val="FFFF00"/>
                </a:highlight>
              </a:rPr>
              <a:t>To create a tuple with a single element, we </a:t>
            </a:r>
            <a:r>
              <a:rPr lang="en-US" altLang="zh-CN" sz="1400" dirty="0">
                <a:solidFill>
                  <a:schemeClr val="tx1"/>
                </a:solidFill>
                <a:highlight>
                  <a:srgbClr val="FFFF00"/>
                </a:highlight>
              </a:rPr>
              <a:t>need to add a “,” at the end</a:t>
            </a:r>
            <a:endParaRPr lang="en-US" altLang="zh-CN" sz="1400" dirty="0">
              <a:solidFill>
                <a:schemeClr val="tx1"/>
              </a:solidFill>
              <a:highlight>
                <a:srgbClr val="FFFF00"/>
              </a:highlight>
            </a:endParaRPr>
          </a:p>
          <a:p>
            <a:pPr marL="114300" indent="0">
              <a:buNone/>
            </a:pPr>
            <a:r>
              <a:rPr lang="en-US" altLang="zh-CN" sz="1400" dirty="0">
                <a:solidFill>
                  <a:schemeClr val="bg2"/>
                </a:solidFill>
                <a:highlight>
                  <a:srgbClr val="FFFF00"/>
                </a:highlight>
              </a:rPr>
              <a:t>	</a:t>
            </a:r>
            <a:r>
              <a:rPr lang="en-US" altLang="zh-CN" sz="1400" b="1" dirty="0">
                <a:solidFill>
                  <a:schemeClr val="bg2"/>
                </a:solidFill>
                <a:highlight>
                  <a:srgbClr val="FFFF00"/>
                </a:highlight>
              </a:rPr>
              <a:t>tup = (</a:t>
            </a:r>
            <a:r>
              <a:rPr lang="en-US" altLang="zh-CN" sz="1400" b="1" dirty="0">
                <a:solidFill>
                  <a:schemeClr val="tx1"/>
                </a:solidFill>
                <a:highlight>
                  <a:srgbClr val="FFFF00"/>
                </a:highlight>
              </a:rPr>
              <a:t>element1,</a:t>
            </a:r>
            <a:r>
              <a:rPr lang="en-US" altLang="zh-CN" sz="1400" b="1" dirty="0">
                <a:solidFill>
                  <a:schemeClr val="bg2"/>
                </a:solidFill>
                <a:highlight>
                  <a:srgbClr val="FFFF00"/>
                </a:highlight>
              </a:rPr>
              <a:t>)</a:t>
            </a:r>
            <a:endParaRPr lang="en-US" altLang="zh-CN" sz="1400" b="1" dirty="0">
              <a:solidFill>
                <a:schemeClr val="bg2"/>
              </a:solidFill>
              <a:highlight>
                <a:srgbClr val="FFFF00"/>
              </a:highlight>
            </a:endParaRPr>
          </a:p>
          <a:p>
            <a:r>
              <a:rPr lang="en-US" altLang="zh-CN" sz="1400" dirty="0">
                <a:solidFill>
                  <a:schemeClr val="bg2"/>
                </a:solidFill>
              </a:rPr>
              <a:t>Tuple is </a:t>
            </a:r>
            <a:r>
              <a:rPr lang="en-US" altLang="zh-CN" sz="1400" dirty="0">
                <a:solidFill>
                  <a:schemeClr val="tx1"/>
                </a:solidFill>
                <a:highlight>
                  <a:srgbClr val="FFFF00"/>
                </a:highlight>
              </a:rPr>
              <a:t>ordered (</a:t>
            </a:r>
            <a:r>
              <a:rPr lang="zh-CN" altLang="en-US" sz="1400" dirty="0">
                <a:solidFill>
                  <a:schemeClr val="tx1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顺序排列</a:t>
            </a:r>
            <a:r>
              <a:rPr lang="en-US" altLang="zh-CN" sz="1400" dirty="0">
                <a:solidFill>
                  <a:schemeClr val="tx1"/>
                </a:solidFill>
                <a:highlight>
                  <a:srgbClr val="FFFF00"/>
                </a:highlight>
              </a:rPr>
              <a:t>)</a:t>
            </a:r>
            <a:r>
              <a:rPr lang="en-US" altLang="zh-CN" sz="1400" dirty="0">
                <a:solidFill>
                  <a:schemeClr val="bg2"/>
                </a:solidFill>
                <a:highlight>
                  <a:srgbClr val="FFFF00"/>
                </a:highlight>
              </a:rPr>
              <a:t> and </a:t>
            </a:r>
            <a:r>
              <a:rPr lang="en-US" altLang="zh-CN" sz="1400" dirty="0">
                <a:solidFill>
                  <a:schemeClr val="tx1"/>
                </a:solidFill>
                <a:highlight>
                  <a:srgbClr val="FFFF00"/>
                </a:highlight>
              </a:rPr>
              <a:t>immutable (</a:t>
            </a:r>
            <a:r>
              <a:rPr lang="zh-CN" altLang="en-US" sz="1400" dirty="0">
                <a:solidFill>
                  <a:schemeClr val="tx1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不可变</a:t>
            </a:r>
            <a:r>
              <a:rPr lang="en-US" altLang="zh-CN" sz="1400" dirty="0">
                <a:solidFill>
                  <a:schemeClr val="tx1"/>
                </a:solidFill>
                <a:highlight>
                  <a:srgbClr val="FFFF00"/>
                </a:highlight>
              </a:rPr>
              <a:t>).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lvl="1"/>
            <a:r>
              <a:rPr lang="en-US" altLang="zh-CN" sz="1200" dirty="0" err="1">
                <a:solidFill>
                  <a:schemeClr val="tx1"/>
                </a:solidFill>
              </a:rPr>
              <a:t>len</a:t>
            </a:r>
            <a:r>
              <a:rPr lang="en-US" altLang="zh-CN" sz="1200" dirty="0">
                <a:solidFill>
                  <a:schemeClr val="tx1"/>
                </a:solidFill>
              </a:rPr>
              <a:t>(), type()</a:t>
            </a:r>
            <a:r>
              <a:rPr lang="en-US" altLang="zh-CN" sz="1200" dirty="0">
                <a:solidFill>
                  <a:schemeClr val="bg2"/>
                </a:solidFill>
              </a:rPr>
              <a:t>, </a:t>
            </a:r>
            <a:r>
              <a:rPr lang="en-US" altLang="zh-CN" sz="1200" dirty="0">
                <a:solidFill>
                  <a:schemeClr val="tx1"/>
                </a:solidFill>
              </a:rPr>
              <a:t>[], in, not in, for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lvl="1"/>
            <a:r>
              <a:rPr lang="en-US" altLang="zh-CN" sz="1200" dirty="0">
                <a:solidFill>
                  <a:schemeClr val="bg2"/>
                </a:solidFill>
              </a:rPr>
              <a:t>You cannot modify a tuple, which is a grammar error(</a:t>
            </a:r>
            <a:r>
              <a:rPr lang="zh-CN" altLang="en-US" sz="1200" dirty="0">
                <a:solidFill>
                  <a:schemeClr val="bg2"/>
                </a:solidFill>
              </a:rPr>
              <a:t>不可对元组中元素单独修改</a:t>
            </a:r>
            <a:r>
              <a:rPr lang="en-US" altLang="zh-CN" sz="1200" dirty="0">
                <a:solidFill>
                  <a:schemeClr val="bg2"/>
                </a:solidFill>
              </a:rPr>
              <a:t>)</a:t>
            </a:r>
            <a:endParaRPr lang="en-US" altLang="zh-CN" sz="1200" dirty="0">
              <a:solidFill>
                <a:schemeClr val="bg2"/>
              </a:solidFill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587659" y="4138402"/>
            <a:ext cx="1612431" cy="623400"/>
            <a:chOff x="2868630" y="2246705"/>
            <a:chExt cx="2053566" cy="828617"/>
          </a:xfrm>
        </p:grpSpPr>
        <p:pic>
          <p:nvPicPr>
            <p:cNvPr id="4" name="Picture 1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68630" y="2246705"/>
              <a:ext cx="1534758" cy="544996"/>
            </a:xfrm>
            <a:prstGeom prst="rect">
              <a:avLst/>
            </a:prstGeom>
          </p:spPr>
        </p:pic>
        <p:pic>
          <p:nvPicPr>
            <p:cNvPr id="5" name="Picture 2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68630" y="2833726"/>
              <a:ext cx="2053566" cy="241596"/>
            </a:xfrm>
            <a:prstGeom prst="rect">
              <a:avLst/>
            </a:prstGeom>
          </p:spPr>
        </p:pic>
      </p:grpSp>
      <p:grpSp>
        <p:nvGrpSpPr>
          <p:cNvPr id="13" name="组合 12"/>
          <p:cNvGrpSpPr/>
          <p:nvPr/>
        </p:nvGrpSpPr>
        <p:grpSpPr>
          <a:xfrm>
            <a:off x="5171363" y="1423931"/>
            <a:ext cx="2967276" cy="845181"/>
            <a:chOff x="5357651" y="2246705"/>
            <a:chExt cx="3531446" cy="978941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57651" y="2246705"/>
              <a:ext cx="3531445" cy="736443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57651" y="3046271"/>
              <a:ext cx="3531446" cy="179375"/>
            </a:xfrm>
            <a:prstGeom prst="rect">
              <a:avLst/>
            </a:prstGeom>
          </p:spPr>
        </p:pic>
      </p:grpSp>
      <p:grpSp>
        <p:nvGrpSpPr>
          <p:cNvPr id="16" name="Group 15"/>
          <p:cNvGrpSpPr/>
          <p:nvPr/>
        </p:nvGrpSpPr>
        <p:grpSpPr>
          <a:xfrm>
            <a:off x="5171363" y="2337586"/>
            <a:ext cx="3620698" cy="1605090"/>
            <a:chOff x="5171363" y="1448185"/>
            <a:chExt cx="3620698" cy="1605090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71363" y="1448185"/>
              <a:ext cx="3620698" cy="940028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71363" y="2457301"/>
              <a:ext cx="3620698" cy="595974"/>
            </a:xfrm>
            <a:prstGeom prst="rect">
              <a:avLst/>
            </a:prstGeom>
          </p:spPr>
        </p:pic>
      </p:grpSp>
      <p:sp>
        <p:nvSpPr>
          <p:cNvPr id="12" name="Rectangle 10"/>
          <p:cNvSpPr/>
          <p:nvPr/>
        </p:nvSpPr>
        <p:spPr>
          <a:xfrm>
            <a:off x="7466549" y="4909382"/>
            <a:ext cx="1593608" cy="193880"/>
          </a:xfrm>
          <a:prstGeom prst="rect">
            <a:avLst/>
          </a:prstGeom>
          <a:solidFill>
            <a:srgbClr val="FFF3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chemeClr val="bg2"/>
                </a:solidFill>
                <a:latin typeface="Source Sans Pro" panose="020B0503030403020204" pitchFamily="34" charset="0"/>
              </a:rPr>
              <a:t>元组：</a:t>
            </a:r>
            <a:r>
              <a:rPr lang="zh-CN" altLang="en-US" sz="1200" dirty="0">
                <a:solidFill>
                  <a:schemeClr val="tx1"/>
                </a:solidFill>
                <a:latin typeface="Source Sans Pro" panose="020B0503030403020204" pitchFamily="34" charset="0"/>
              </a:rPr>
              <a:t>不可修改</a:t>
            </a:r>
            <a:r>
              <a:rPr lang="zh-CN" altLang="en-US" sz="1200" dirty="0">
                <a:solidFill>
                  <a:schemeClr val="bg2"/>
                </a:solidFill>
                <a:latin typeface="Source Sans Pro" panose="020B0503030403020204" pitchFamily="34" charset="0"/>
              </a:rPr>
              <a:t>的</a:t>
            </a:r>
            <a:r>
              <a:rPr lang="en-US" altLang="zh-CN" sz="12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list</a:t>
            </a:r>
            <a:endParaRPr lang="en-US" sz="1200" dirty="0">
              <a:solidFill>
                <a:schemeClr val="bg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19857" y="4186645"/>
            <a:ext cx="2724589" cy="313622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49429" y="4548773"/>
            <a:ext cx="2191963" cy="198575"/>
          </a:xfrm>
          <a:prstGeom prst="rect">
            <a:avLst/>
          </a:prstGeom>
        </p:spPr>
      </p:pic>
      <p:pic>
        <p:nvPicPr>
          <p:cNvPr id="11" name="Picture 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63" y="4006653"/>
            <a:ext cx="1345316" cy="370271"/>
          </a:xfrm>
          <a:prstGeom prst="rect">
            <a:avLst/>
          </a:prstGeom>
        </p:spPr>
      </p:pic>
      <p:pic>
        <p:nvPicPr>
          <p:cNvPr id="14" name="Picture 10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8516" y="4409816"/>
            <a:ext cx="4200545" cy="425372"/>
          </a:xfrm>
          <a:prstGeom prst="rect">
            <a:avLst/>
          </a:prstGeom>
        </p:spPr>
      </p:pic>
      <p:sp>
        <p:nvSpPr>
          <p:cNvPr id="15" name="文本框 2"/>
          <p:cNvSpPr txBox="1"/>
          <p:nvPr/>
        </p:nvSpPr>
        <p:spPr>
          <a:xfrm>
            <a:off x="419663" y="1068425"/>
            <a:ext cx="8304673" cy="307777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Tuples are written with round brackets () (could be omitted)</a:t>
            </a:r>
            <a:endParaRPr lang="en-US" altLang="zh-CN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Immutable and Mutable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400" dirty="0">
                <a:solidFill>
                  <a:schemeClr val="bg2"/>
                </a:solidFill>
              </a:rPr>
              <a:t>Tuple is </a:t>
            </a:r>
            <a:r>
              <a:rPr lang="en-US" sz="1400" dirty="0">
                <a:solidFill>
                  <a:schemeClr val="tx1"/>
                </a:solidFill>
              </a:rPr>
              <a:t>immutable. </a:t>
            </a:r>
            <a:r>
              <a:rPr lang="en-US" sz="1400" dirty="0">
                <a:solidFill>
                  <a:schemeClr val="bg2"/>
                </a:solidFill>
              </a:rPr>
              <a:t>The elements of tuples could be </a:t>
            </a:r>
            <a:r>
              <a:rPr lang="en-US" sz="1400" dirty="0">
                <a:solidFill>
                  <a:schemeClr val="tx1"/>
                </a:solidFill>
              </a:rPr>
              <a:t>mutable</a:t>
            </a:r>
            <a:endParaRPr lang="en-US" sz="1400" dirty="0">
              <a:solidFill>
                <a:schemeClr val="tx1"/>
              </a:solidFill>
            </a:endParaRPr>
          </a:p>
          <a:p>
            <a:pPr lvl="1"/>
            <a:r>
              <a:rPr lang="en-US" sz="1200" dirty="0">
                <a:solidFill>
                  <a:schemeClr val="tx1"/>
                </a:solidFill>
              </a:rPr>
              <a:t>Immutable: cannot appear at the left side of “=”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Reassignment</a:t>
            </a:r>
            <a:r>
              <a:rPr lang="en-US" sz="1400" dirty="0">
                <a:solidFill>
                  <a:schemeClr val="bg2"/>
                </a:solidFill>
              </a:rPr>
              <a:t> is allowed</a:t>
            </a:r>
            <a:endParaRPr lang="en-US" sz="1400" dirty="0">
              <a:solidFill>
                <a:schemeClr val="bg2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  <a:highlight>
                  <a:srgbClr val="FFFF00"/>
                </a:highlight>
              </a:rPr>
              <a:t>del</a:t>
            </a:r>
            <a:r>
              <a:rPr lang="en-US" sz="1400" dirty="0">
                <a:solidFill>
                  <a:schemeClr val="bg2"/>
                </a:solidFill>
                <a:highlight>
                  <a:srgbClr val="FFFF00"/>
                </a:highlight>
              </a:rPr>
              <a:t> an element is not allowed, but del the whole tuple is allowed</a:t>
            </a:r>
            <a:r>
              <a:rPr lang="zh-CN" altLang="en-US" sz="1400" dirty="0">
                <a:solidFill>
                  <a:schemeClr val="bg2"/>
                </a:solidFill>
                <a:highlight>
                  <a:srgbClr val="FFFF00"/>
                </a:highlight>
                <a:ea typeface="宋体" panose="02010600030101010101" pitchFamily="2" charset="-122"/>
              </a:rPr>
              <a:t>（只能删除元组全体，不能单独删除</a:t>
            </a:r>
            <a:r>
              <a:rPr lang="zh-CN" altLang="en-US" sz="1400" dirty="0">
                <a:solidFill>
                  <a:schemeClr val="bg2"/>
                </a:solidFill>
                <a:highlight>
                  <a:srgbClr val="FFFF00"/>
                </a:highlight>
                <a:ea typeface="宋体" panose="02010600030101010101" pitchFamily="2" charset="-122"/>
              </a:rPr>
              <a:t>元素）</a:t>
            </a:r>
            <a:endParaRPr lang="zh-CN" altLang="en-US" sz="1400" dirty="0">
              <a:solidFill>
                <a:schemeClr val="bg2"/>
              </a:solidFill>
              <a:highlight>
                <a:srgbClr val="FFFF00"/>
              </a:highlight>
              <a:ea typeface="宋体" panose="02010600030101010101" pitchFamily="2" charset="-122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1405" y="2467460"/>
            <a:ext cx="3569975" cy="1742889"/>
          </a:xfrm>
          <a:prstGeom prst="rect">
            <a:avLst/>
          </a:prstGeom>
        </p:spPr>
      </p:pic>
      <p:pic>
        <p:nvPicPr>
          <p:cNvPr id="7" name="Picture 6" descr="A black background with white text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405" y="4361971"/>
            <a:ext cx="1622940" cy="301661"/>
          </a:xfrm>
          <a:prstGeom prst="rect">
            <a:avLst/>
          </a:prstGeom>
        </p:spPr>
      </p:pic>
      <p:pic>
        <p:nvPicPr>
          <p:cNvPr id="8" name="Picture 2" descr="Text&#10;&#10;Description automatically generated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4376" y="2292559"/>
            <a:ext cx="1723580" cy="1753996"/>
          </a:xfrm>
          <a:prstGeom prst="rect">
            <a:avLst/>
          </a:prstGeom>
        </p:spPr>
      </p:pic>
      <p:pic>
        <p:nvPicPr>
          <p:cNvPr id="9" name="Picture 6" descr="Text&#10;&#10;Description automatically generated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4376" y="4106336"/>
            <a:ext cx="1819195" cy="598091"/>
          </a:xfrm>
          <a:prstGeom prst="rect">
            <a:avLst/>
          </a:prstGeom>
        </p:spPr>
      </p:pic>
      <p:pic>
        <p:nvPicPr>
          <p:cNvPr id="12" name="图片 8" descr="文本&#10;&#10;描述已自动生成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0526" y="4368359"/>
            <a:ext cx="1216869" cy="595625"/>
          </a:xfrm>
          <a:prstGeom prst="rect">
            <a:avLst/>
          </a:prstGeom>
        </p:spPr>
      </p:pic>
      <p:pic>
        <p:nvPicPr>
          <p:cNvPr id="13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1201" y="4785229"/>
            <a:ext cx="1727835" cy="17874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755765" y="4764405"/>
            <a:ext cx="2235835" cy="4660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sz="1200" dirty="0">
                <a:solidFill>
                  <a:schemeClr val="bg2"/>
                </a:solidFill>
                <a:highlight>
                  <a:srgbClr val="FFFF00"/>
                </a:highlight>
                <a:latin typeface="Source Sans Pro" panose="020B0503030403020204" pitchFamily="34" charset="0"/>
                <a:ea typeface="Source Sans Pro" panose="020B0503030403020204" pitchFamily="34" charset="0"/>
              </a:rPr>
              <a:t>list</a:t>
            </a:r>
            <a:r>
              <a:rPr lang="zh-CN" altLang="en-US" sz="1200" dirty="0">
                <a:solidFill>
                  <a:schemeClr val="bg2"/>
                </a:solidFill>
                <a:highlight>
                  <a:srgbClr val="FFFF00"/>
                </a:highlight>
                <a:latin typeface="Source Sans Pro" panose="020B0503030403020204" pitchFamily="34" charset="0"/>
                <a:ea typeface="黑体" panose="02010609060101010101" pitchFamily="49" charset="-122"/>
              </a:rPr>
              <a:t>是直接修改，</a:t>
            </a:r>
            <a:r>
              <a:rPr lang="en-US" altLang="zh-CN" sz="1200" dirty="0">
                <a:solidFill>
                  <a:schemeClr val="bg2"/>
                </a:solidFill>
                <a:highlight>
                  <a:srgbClr val="FFFF00"/>
                </a:highlight>
                <a:latin typeface="Source Sans Pro" panose="020B0503030403020204" pitchFamily="34" charset="0"/>
                <a:ea typeface="Source Sans Pro" panose="020B0503030403020204" pitchFamily="34" charset="0"/>
              </a:rPr>
              <a:t>tuple</a:t>
            </a:r>
            <a:r>
              <a:rPr lang="zh-CN" altLang="en-US" sz="1200" dirty="0">
                <a:solidFill>
                  <a:schemeClr val="bg2"/>
                </a:solidFill>
                <a:highlight>
                  <a:srgbClr val="FFFF00"/>
                </a:highlight>
                <a:latin typeface="Source Sans Pro" panose="020B0503030403020204" pitchFamily="34" charset="0"/>
                <a:ea typeface="黑体" panose="02010609060101010101" pitchFamily="49" charset="-122"/>
              </a:rPr>
              <a:t>是创新</a:t>
            </a:r>
            <a:endParaRPr lang="zh-CN" altLang="en-US" sz="1200" dirty="0">
              <a:solidFill>
                <a:schemeClr val="bg2"/>
              </a:solidFill>
              <a:highlight>
                <a:srgbClr val="FFFF00"/>
              </a:highlight>
              <a:latin typeface="Source Sans Pro" panose="020B0503030403020204" pitchFamily="34" charset="0"/>
              <a:ea typeface="黑体" panose="02010609060101010101" pitchFamily="49" charset="-122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1546" y="2292559"/>
            <a:ext cx="1494439" cy="244544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31546" y="4828409"/>
            <a:ext cx="1588655" cy="292647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846070" y="1036955"/>
            <a:ext cx="24542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元组元素的元素可以</a:t>
            </a:r>
            <a:r>
              <a:rPr lang="zh-CN" altLang="en-US"/>
              <a:t>被修改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002270" y="4963795"/>
            <a:ext cx="9182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highlight>
                  <a:srgbClr val="FFFF00"/>
                </a:highlight>
              </a:rPr>
              <a:t>重新</a:t>
            </a:r>
            <a:r>
              <a:rPr lang="zh-CN" altLang="en-US">
                <a:highlight>
                  <a:srgbClr val="FFFF00"/>
                </a:highlight>
              </a:rPr>
              <a:t>赋值</a:t>
            </a:r>
            <a:endParaRPr lang="zh-CN" altLang="en-US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Tuple: packing and unpacking</a:t>
            </a:r>
            <a:endParaRPr lang="en-US" alt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699" y="2627812"/>
            <a:ext cx="8611433" cy="2376450"/>
          </a:xfrm>
        </p:spPr>
        <p:txBody>
          <a:bodyPr>
            <a:normAutofit/>
          </a:bodyPr>
          <a:lstStyle/>
          <a:p>
            <a:r>
              <a:rPr lang="en-US" altLang="zh-CN" sz="1400" dirty="0">
                <a:solidFill>
                  <a:schemeClr val="tx1"/>
                </a:solidFill>
              </a:rPr>
              <a:t>Packing</a:t>
            </a:r>
            <a:r>
              <a:rPr lang="en-US" altLang="zh-CN" sz="1400" dirty="0">
                <a:solidFill>
                  <a:schemeClr val="bg2"/>
                </a:solidFill>
              </a:rPr>
              <a:t>: serval variables can be grouped into a tuple</a:t>
            </a:r>
            <a:endParaRPr lang="en-US" altLang="zh-CN" sz="1400" dirty="0">
              <a:solidFill>
                <a:schemeClr val="bg2"/>
              </a:solidFill>
            </a:endParaRPr>
          </a:p>
          <a:p>
            <a:pPr lvl="1"/>
            <a:r>
              <a:rPr lang="en-US" altLang="zh-CN" sz="1200" dirty="0">
                <a:solidFill>
                  <a:schemeClr val="bg2"/>
                </a:solidFill>
              </a:rPr>
              <a:t>x = a, b, c, d # x will be a tuple with four elements</a:t>
            </a:r>
            <a:endParaRPr lang="en-US" altLang="zh-CN" sz="1200" dirty="0">
              <a:solidFill>
                <a:schemeClr val="bg2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Unpacking</a:t>
            </a:r>
            <a:r>
              <a:rPr lang="en-US" altLang="zh-CN" sz="1400" dirty="0">
                <a:solidFill>
                  <a:schemeClr val="bg2"/>
                </a:solidFill>
              </a:rPr>
              <a:t>: a tuple can be broken up into several elements</a:t>
            </a:r>
            <a:endParaRPr lang="en-US" altLang="zh-CN" sz="1400" dirty="0">
              <a:solidFill>
                <a:schemeClr val="bg2"/>
              </a:solidFill>
            </a:endParaRPr>
          </a:p>
          <a:p>
            <a:pPr lvl="1"/>
            <a:r>
              <a:rPr lang="en-US" altLang="zh-CN" sz="1200" dirty="0">
                <a:solidFill>
                  <a:schemeClr val="bg2"/>
                </a:solidFill>
              </a:rPr>
              <a:t>x1, x2, x3, x4 = x # Then x1 = a, x2=b, x3 =c, x4 =d</a:t>
            </a:r>
            <a:endParaRPr lang="en-US" altLang="zh-CN" sz="1200" dirty="0">
              <a:solidFill>
                <a:schemeClr val="bg2"/>
              </a:solidFill>
            </a:endParaRPr>
          </a:p>
          <a:p>
            <a:pPr lvl="1">
              <a:buClr>
                <a:schemeClr val="tx2"/>
              </a:buClr>
            </a:pPr>
            <a:r>
              <a:rPr lang="en-US" altLang="zh-CN" sz="1200" dirty="0">
                <a:solidFill>
                  <a:schemeClr val="tx1"/>
                </a:solidFill>
              </a:rPr>
              <a:t>The left and right should have the same number of elements</a:t>
            </a:r>
            <a:endParaRPr lang="en-US" altLang="zh-CN" sz="1200" dirty="0">
              <a:solidFill>
                <a:schemeClr val="tx1"/>
              </a:solidFill>
            </a:endParaRPr>
          </a:p>
          <a:p>
            <a:pPr>
              <a:buClr>
                <a:schemeClr val="tx2"/>
              </a:buClr>
            </a:pPr>
            <a:r>
              <a:rPr lang="en-US" altLang="zh-CN" sz="1400" dirty="0">
                <a:solidFill>
                  <a:schemeClr val="tx1"/>
                </a:solidFill>
              </a:rPr>
              <a:t>Unpacking and packing </a:t>
            </a:r>
            <a:r>
              <a: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可以嵌套</a:t>
            </a:r>
            <a:endParaRPr lang="zh-CN" altLang="en-US" sz="14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buClr>
                <a:schemeClr val="tx2"/>
              </a:buClr>
            </a:pPr>
            <a:r>
              <a:rPr lang="en-US" altLang="zh-CN" sz="1200" dirty="0">
                <a:solidFill>
                  <a:schemeClr val="tx1"/>
                </a:solidFill>
              </a:rPr>
              <a:t>((a, b), c) = ((1, 2), 3)</a:t>
            </a:r>
            <a:endParaRPr lang="en-US" altLang="zh-CN" sz="1200" dirty="0">
              <a:solidFill>
                <a:schemeClr val="tx1"/>
              </a:solidFill>
            </a:endParaRPr>
          </a:p>
          <a:p>
            <a:pPr>
              <a:buClr>
                <a:schemeClr val="tx2"/>
              </a:buClr>
            </a:pPr>
            <a:r>
              <a:rPr lang="en-US" altLang="zh-CN" sz="1400" b="1" dirty="0">
                <a:solidFill>
                  <a:schemeClr val="tx1"/>
                </a:solidFill>
              </a:rPr>
              <a:t> </a:t>
            </a:r>
            <a:r>
              <a:rPr lang="en-US" altLang="zh-CN" sz="1400" dirty="0">
                <a:solidFill>
                  <a:schemeClr val="tx1"/>
                </a:solidFill>
              </a:rPr>
              <a:t>Simultaneous assignment </a:t>
            </a:r>
            <a:r>
              <a:rPr lang="en-US" altLang="zh-CN" sz="1400" dirty="0">
                <a:solidFill>
                  <a:schemeClr val="bg2"/>
                </a:solidFill>
              </a:rPr>
              <a:t>is based on Tuple</a:t>
            </a:r>
            <a:r>
              <a:rPr lang="zh-CN" altLang="en-US" sz="1400" dirty="0">
                <a:solidFill>
                  <a:schemeClr val="bg2"/>
                </a:solidFill>
              </a:rPr>
              <a:t>：</a:t>
            </a:r>
            <a:endParaRPr lang="en-US" altLang="zh-CN" sz="1400" dirty="0">
              <a:solidFill>
                <a:schemeClr val="bg2"/>
              </a:solidFill>
            </a:endParaRPr>
          </a:p>
          <a:p>
            <a:pPr marL="114300" indent="0">
              <a:buClr>
                <a:schemeClr val="tx2"/>
              </a:buClr>
              <a:buNone/>
            </a:pPr>
            <a:r>
              <a:rPr lang="zh-CN" altLang="en-US" sz="1400" dirty="0">
                <a:solidFill>
                  <a:schemeClr val="bg2"/>
                </a:solidFill>
              </a:rPr>
              <a:t>                </a:t>
            </a:r>
            <a:r>
              <a:rPr lang="zh-CN" altLang="en-US" sz="1200" dirty="0">
                <a:solidFill>
                  <a:schemeClr val="bg2"/>
                </a:solidFill>
              </a:rPr>
              <a:t>       </a:t>
            </a:r>
            <a:r>
              <a:rPr lang="en-US" altLang="zh-CN" sz="1200" dirty="0">
                <a:solidFill>
                  <a:schemeClr val="bg2"/>
                </a:solidFill>
              </a:rPr>
              <a:t>x1, x2, x3, x4 = a, b, c, d</a:t>
            </a:r>
            <a:endParaRPr lang="en-US" altLang="zh-CN" sz="1200" b="1" dirty="0">
              <a:solidFill>
                <a:schemeClr val="bg2"/>
              </a:solidFill>
            </a:endParaRPr>
          </a:p>
        </p:txBody>
      </p:sp>
      <p:pic>
        <p:nvPicPr>
          <p:cNvPr id="4" name="Picture 2" descr="Image result for packi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3157" y="1236705"/>
            <a:ext cx="1778184" cy="1364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8" descr="Image result for unpack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1278" y="1239970"/>
            <a:ext cx="1361443" cy="1361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1328" y="2819442"/>
            <a:ext cx="1079349" cy="302020"/>
          </a:xfrm>
          <a:prstGeom prst="rect">
            <a:avLst/>
          </a:prstGeom>
        </p:spPr>
      </p:pic>
      <p:pic>
        <p:nvPicPr>
          <p:cNvPr id="8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1328" y="3304432"/>
            <a:ext cx="1375685" cy="374655"/>
          </a:xfrm>
          <a:prstGeom prst="rect">
            <a:avLst/>
          </a:prstGeom>
        </p:spPr>
      </p:pic>
      <p:pic>
        <p:nvPicPr>
          <p:cNvPr id="9" name="Picture 1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1328" y="3821900"/>
            <a:ext cx="3071804" cy="373959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641057" y="4680849"/>
            <a:ext cx="2324753" cy="286711"/>
          </a:xfrm>
          <a:prstGeom prst="rect">
            <a:avLst/>
          </a:prstGeom>
          <a:solidFill>
            <a:srgbClr val="FFF3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chemeClr val="bg2"/>
                </a:solidFill>
                <a:latin typeface="Source Sans Pro" panose="020B0503030403020204" pitchFamily="34" charset="0"/>
              </a:rPr>
              <a:t>元组：</a:t>
            </a:r>
            <a:r>
              <a:rPr lang="zh-CN" altLang="en-US" sz="1200" dirty="0">
                <a:solidFill>
                  <a:schemeClr val="tx1"/>
                </a:solidFill>
                <a:latin typeface="Source Sans Pro" panose="020B0503030403020204" pitchFamily="34" charset="0"/>
              </a:rPr>
              <a:t>函数中同时</a:t>
            </a:r>
            <a:r>
              <a:rPr lang="en-US" altLang="zh-CN" sz="1200" dirty="0">
                <a:solidFill>
                  <a:schemeClr val="tx1"/>
                </a:solidFill>
                <a:latin typeface="Source Sans Pro" panose="020B0503030403020204" pitchFamily="34" charset="0"/>
              </a:rPr>
              <a:t>return </a:t>
            </a:r>
            <a:r>
              <a:rPr lang="zh-CN" altLang="en-US" sz="1200" dirty="0">
                <a:solidFill>
                  <a:schemeClr val="tx1"/>
                </a:solidFill>
                <a:latin typeface="Source Sans Pro" panose="020B0503030403020204" pitchFamily="34" charset="0"/>
              </a:rPr>
              <a:t>多个值</a:t>
            </a:r>
            <a:endParaRPr lang="en-US" sz="1200" dirty="0">
              <a:solidFill>
                <a:schemeClr val="bg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1328" y="1236521"/>
            <a:ext cx="3188777" cy="139995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Tuple: immutable list</a:t>
            </a:r>
            <a:endParaRPr lang="en-US" alt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1169193"/>
          </a:xfrm>
        </p:spPr>
        <p:txBody>
          <a:bodyPr>
            <a:normAutofit/>
          </a:bodyPr>
          <a:lstStyle/>
          <a:p>
            <a:r>
              <a:rPr lang="en-US" altLang="zh-CN" sz="1400" dirty="0" err="1">
                <a:solidFill>
                  <a:schemeClr val="bg2"/>
                </a:solidFill>
              </a:rPr>
              <a:t>tuple_a.</a:t>
            </a:r>
            <a:r>
              <a:rPr lang="en-US" altLang="zh-CN" sz="1400" dirty="0" err="1">
                <a:solidFill>
                  <a:schemeClr val="tx1"/>
                </a:solidFill>
              </a:rPr>
              <a:t>count</a:t>
            </a:r>
            <a:r>
              <a:rPr lang="en-US" altLang="zh-CN" sz="1400" dirty="0">
                <a:solidFill>
                  <a:schemeClr val="tx1"/>
                </a:solidFill>
              </a:rPr>
              <a:t>(x)</a:t>
            </a:r>
            <a:r>
              <a:rPr lang="en-US" altLang="zh-CN" sz="1400" dirty="0">
                <a:solidFill>
                  <a:schemeClr val="bg2"/>
                </a:solidFill>
              </a:rPr>
              <a:t>: Returns the number of times a specified value occurs in a tuple</a:t>
            </a:r>
            <a:endParaRPr lang="en-US" altLang="zh-CN" sz="1400" dirty="0">
              <a:solidFill>
                <a:schemeClr val="bg2"/>
              </a:solidFill>
            </a:endParaRPr>
          </a:p>
          <a:p>
            <a:r>
              <a:rPr lang="en-US" altLang="zh-CN" sz="1400" dirty="0" err="1">
                <a:solidFill>
                  <a:schemeClr val="bg2"/>
                </a:solidFill>
              </a:rPr>
              <a:t>tuple_a.</a:t>
            </a:r>
            <a:r>
              <a:rPr lang="en-US" altLang="zh-CN" sz="1400" dirty="0" err="1">
                <a:solidFill>
                  <a:schemeClr val="tx1"/>
                </a:solidFill>
              </a:rPr>
              <a:t>index</a:t>
            </a:r>
            <a:r>
              <a:rPr lang="en-US" altLang="zh-CN" sz="1400" dirty="0">
                <a:solidFill>
                  <a:schemeClr val="tx1"/>
                </a:solidFill>
              </a:rPr>
              <a:t>(x)</a:t>
            </a:r>
            <a:r>
              <a:rPr lang="en-US" altLang="zh-CN" sz="1400" dirty="0">
                <a:solidFill>
                  <a:schemeClr val="bg2"/>
                </a:solidFill>
              </a:rPr>
              <a:t>: Searches the tuple for a specified value and returns the position of where it was found</a:t>
            </a:r>
            <a:endParaRPr lang="en-US" altLang="zh-CN" sz="1400" dirty="0">
              <a:solidFill>
                <a:schemeClr val="bg2"/>
              </a:solidFill>
            </a:endParaRPr>
          </a:p>
          <a:p>
            <a:pPr lvl="1"/>
            <a:r>
              <a:rPr lang="en-US" altLang="zh-CN" sz="1200" dirty="0">
                <a:solidFill>
                  <a:schemeClr val="bg2"/>
                </a:solidFill>
              </a:rPr>
              <a:t>When x is not in </a:t>
            </a:r>
            <a:r>
              <a:rPr lang="en-US" altLang="zh-CN" sz="1200" dirty="0" err="1">
                <a:solidFill>
                  <a:schemeClr val="bg2"/>
                </a:solidFill>
              </a:rPr>
              <a:t>tuple_a</a:t>
            </a:r>
            <a:r>
              <a:rPr lang="en-US" altLang="zh-CN" sz="1200" dirty="0">
                <a:solidFill>
                  <a:schemeClr val="bg2"/>
                </a:solidFill>
              </a:rPr>
              <a:t>, an error will arise</a:t>
            </a:r>
            <a:endParaRPr lang="en-US" altLang="zh-CN" sz="1200" dirty="0">
              <a:solidFill>
                <a:schemeClr val="bg2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[], [::], +, *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pic>
        <p:nvPicPr>
          <p:cNvPr id="4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184" y="2224952"/>
            <a:ext cx="3108548" cy="1766073"/>
          </a:xfrm>
          <a:prstGeom prst="rect">
            <a:avLst/>
          </a:prstGeom>
        </p:spPr>
      </p:pic>
      <p:pic>
        <p:nvPicPr>
          <p:cNvPr id="5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184" y="4065446"/>
            <a:ext cx="2057953" cy="988887"/>
          </a:xfrm>
          <a:prstGeom prst="rect">
            <a:avLst/>
          </a:prstGeom>
        </p:spPr>
      </p:pic>
      <p:pic>
        <p:nvPicPr>
          <p:cNvPr id="6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792" y="4059816"/>
            <a:ext cx="1656852" cy="235829"/>
          </a:xfrm>
          <a:prstGeom prst="rect">
            <a:avLst/>
          </a:prstGeom>
        </p:spPr>
      </p:pic>
      <p:pic>
        <p:nvPicPr>
          <p:cNvPr id="7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792" y="4853410"/>
            <a:ext cx="3352415" cy="170173"/>
          </a:xfrm>
          <a:prstGeom prst="rect">
            <a:avLst/>
          </a:prstGeom>
        </p:spPr>
      </p:pic>
      <p:pic>
        <p:nvPicPr>
          <p:cNvPr id="9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2299" y="2224952"/>
            <a:ext cx="1749496" cy="1513518"/>
          </a:xfrm>
          <a:prstGeom prst="rect">
            <a:avLst/>
          </a:prstGeom>
        </p:spPr>
      </p:pic>
      <p:pic>
        <p:nvPicPr>
          <p:cNvPr id="10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2299" y="4063078"/>
            <a:ext cx="2665395" cy="514971"/>
          </a:xfrm>
          <a:prstGeom prst="rect">
            <a:avLst/>
          </a:prstGeom>
        </p:spPr>
      </p:pic>
      <p:sp>
        <p:nvSpPr>
          <p:cNvPr id="17" name="Rectangle 10"/>
          <p:cNvSpPr/>
          <p:nvPr/>
        </p:nvSpPr>
        <p:spPr>
          <a:xfrm>
            <a:off x="7306887" y="4788162"/>
            <a:ext cx="1620437" cy="228970"/>
          </a:xfrm>
          <a:prstGeom prst="rect">
            <a:avLst/>
          </a:prstGeom>
          <a:solidFill>
            <a:srgbClr val="FFF3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元组：</a:t>
            </a:r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不可修改</a:t>
            </a:r>
            <a:r>
              <a:rPr lang="zh-CN" altLang="en-US" sz="1200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en-US" altLang="zh-CN" sz="12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list</a:t>
            </a:r>
            <a:endParaRPr lang="en-US" sz="1200" dirty="0">
              <a:solidFill>
                <a:schemeClr val="bg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Quick test</a:t>
            </a:r>
            <a:endParaRPr lang="en-US" alt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2378516"/>
          </a:xfrm>
        </p:spPr>
        <p:txBody>
          <a:bodyPr>
            <a:normAutofit/>
          </a:bodyPr>
          <a:lstStyle/>
          <a:p>
            <a:r>
              <a:rPr lang="en-US" altLang="zh-CN" sz="1400" dirty="0">
                <a:solidFill>
                  <a:schemeClr val="bg2"/>
                </a:solidFill>
              </a:rPr>
              <a:t>a=1</a:t>
            </a:r>
            <a:r>
              <a:rPr lang="zh-CN" altLang="en-US" sz="1400" dirty="0">
                <a:solidFill>
                  <a:schemeClr val="bg2"/>
                </a:solidFill>
              </a:rPr>
              <a:t>与</a:t>
            </a:r>
            <a:r>
              <a:rPr lang="en-US" altLang="zh-CN" sz="1400" dirty="0">
                <a:solidFill>
                  <a:schemeClr val="bg2"/>
                </a:solidFill>
              </a:rPr>
              <a:t>a=(1,)</a:t>
            </a:r>
            <a:r>
              <a:rPr lang="zh-CN" altLang="en-US" sz="1400" dirty="0">
                <a:solidFill>
                  <a:schemeClr val="bg2"/>
                </a:solidFill>
              </a:rPr>
              <a:t>的差异</a:t>
            </a:r>
            <a:endParaRPr lang="en-US" altLang="zh-CN" sz="1400" dirty="0">
              <a:solidFill>
                <a:schemeClr val="bg2"/>
              </a:solidFill>
            </a:endParaRPr>
          </a:p>
          <a:p>
            <a:r>
              <a:rPr lang="en-US" altLang="zh-CN" sz="1400" dirty="0">
                <a:solidFill>
                  <a:schemeClr val="bg2"/>
                </a:solidFill>
              </a:rPr>
              <a:t>Tuple</a:t>
            </a:r>
            <a:r>
              <a:rPr lang="zh-CN" altLang="en-US" sz="1400" dirty="0">
                <a:solidFill>
                  <a:schemeClr val="bg2"/>
                </a:solidFill>
              </a:rPr>
              <a:t>不可修改，</a:t>
            </a:r>
            <a:r>
              <a:rPr lang="en-US" altLang="zh-CN" sz="1400" dirty="0">
                <a:solidFill>
                  <a:schemeClr val="bg2"/>
                </a:solidFill>
              </a:rPr>
              <a:t>list</a:t>
            </a:r>
            <a:r>
              <a:rPr lang="zh-CN" altLang="en-US" sz="1400" dirty="0">
                <a:solidFill>
                  <a:schemeClr val="bg2"/>
                </a:solidFill>
              </a:rPr>
              <a:t>可修改</a:t>
            </a:r>
            <a:endParaRPr lang="zh-CN" altLang="en-US" sz="14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>
            <a:spLocks noGrp="1"/>
          </p:cNvSpPr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Dict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/>
              <a:t>Dictionary</a:t>
            </a:r>
            <a:endParaRPr kumimoji="1" lang="zh-CN" altLang="en-US" dirty="0"/>
          </a:p>
        </p:txBody>
      </p:sp>
      <p:pic>
        <p:nvPicPr>
          <p:cNvPr id="4" name="Picture 2" descr="Image result for åå¡å­å¸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1399" y="1173069"/>
            <a:ext cx="1669719" cy="1669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Image result for dictionary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6518" y="1140433"/>
            <a:ext cx="1702355" cy="1702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 descr="Image result for 字典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6910" y="1068424"/>
            <a:ext cx="1774364" cy="17743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9"/>
          <p:cNvSpPr/>
          <p:nvPr/>
        </p:nvSpPr>
        <p:spPr>
          <a:xfrm>
            <a:off x="6117022" y="4625603"/>
            <a:ext cx="2049204" cy="1972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Source Sans Pro" panose="020B0503030403020204"/>
                <a:ea typeface="华文楷体" panose="02010600040101010101" pitchFamily="2" charset="-122"/>
                <a:cs typeface="Times New Roman" panose="02020603050405020304" pitchFamily="18" charset="0"/>
                <a:sym typeface="Source Sans Pro" panose="020B0503030403020204"/>
              </a:rPr>
              <a:t>Dict is more efficient than list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9638" y="2947432"/>
            <a:ext cx="7864721" cy="1751043"/>
          </a:xfrm>
        </p:spPr>
        <p:txBody>
          <a:bodyPr>
            <a:noAutofit/>
          </a:bodyPr>
          <a:lstStyle/>
          <a:p>
            <a:r>
              <a:rPr lang="en-US" altLang="zh-CN" sz="1400" dirty="0">
                <a:solidFill>
                  <a:schemeClr val="tx1"/>
                </a:solidFill>
              </a:rPr>
              <a:t>List</a:t>
            </a:r>
            <a:r>
              <a:rPr lang="en-US" altLang="zh-CN" sz="1400" dirty="0">
                <a:solidFill>
                  <a:schemeClr val="bg2"/>
                </a:solidFill>
              </a:rPr>
              <a:t> search:  Search from the first item to the last</a:t>
            </a:r>
            <a:endParaRPr lang="en-US" altLang="zh-CN" sz="1400" dirty="0">
              <a:solidFill>
                <a:schemeClr val="bg2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Dictionary</a:t>
            </a:r>
            <a:r>
              <a:rPr lang="en-US" altLang="zh-CN" sz="1400" dirty="0">
                <a:solidFill>
                  <a:schemeClr val="bg2"/>
                </a:solidFill>
              </a:rPr>
              <a:t> search: We use keywords to search the dictionary, not a list search</a:t>
            </a:r>
            <a:endParaRPr lang="en-US" altLang="zh-CN" sz="1400" dirty="0">
              <a:solidFill>
                <a:schemeClr val="bg2"/>
              </a:solidFill>
            </a:endParaRPr>
          </a:p>
          <a:p>
            <a:pPr lvl="1"/>
            <a:r>
              <a:rPr lang="en-US" altLang="zh-CN" sz="1200" dirty="0">
                <a:solidFill>
                  <a:schemeClr val="bg2"/>
                </a:solidFill>
              </a:rPr>
              <a:t>“University” U-N-I-V-E-R-S-I-T-Y. We won’t search the whole dictionary</a:t>
            </a:r>
            <a:endParaRPr lang="en-US" altLang="zh-CN" sz="1200" dirty="0">
              <a:solidFill>
                <a:schemeClr val="bg2"/>
              </a:solidFill>
            </a:endParaRPr>
          </a:p>
          <a:p>
            <a:r>
              <a:rPr lang="en-US" altLang="zh-CN" sz="1400" dirty="0">
                <a:solidFill>
                  <a:schemeClr val="bg2"/>
                </a:solidFill>
              </a:rPr>
              <a:t>In Python </a:t>
            </a:r>
            <a:r>
              <a:rPr lang="en-US" altLang="zh-CN" sz="1400" dirty="0" err="1">
                <a:solidFill>
                  <a:schemeClr val="bg2"/>
                </a:solidFill>
              </a:rPr>
              <a:t>Dict</a:t>
            </a:r>
            <a:r>
              <a:rPr lang="en-US" altLang="zh-CN" sz="1400" dirty="0">
                <a:solidFill>
                  <a:schemeClr val="bg2"/>
                </a:solidFill>
              </a:rPr>
              <a:t>, we use keys to index values; it is unordered, not an ordered list</a:t>
            </a:r>
            <a:endParaRPr lang="en-US" altLang="zh-CN" sz="1400" dirty="0">
              <a:solidFill>
                <a:schemeClr val="bg2"/>
              </a:solidFill>
            </a:endParaRPr>
          </a:p>
          <a:p>
            <a:pPr lvl="1"/>
            <a:r>
              <a:rPr lang="en-US" altLang="zh-CN" sz="1200" dirty="0" err="1">
                <a:solidFill>
                  <a:schemeClr val="bg2"/>
                </a:solidFill>
              </a:rPr>
              <a:t>Dict</a:t>
            </a:r>
            <a:r>
              <a:rPr lang="en-US" altLang="zh-CN" sz="1200" dirty="0">
                <a:solidFill>
                  <a:schemeClr val="bg2"/>
                </a:solidFill>
              </a:rPr>
              <a:t>: Words and their interpretations</a:t>
            </a:r>
            <a:endParaRPr lang="en-US" altLang="zh-CN" sz="1200" dirty="0">
              <a:solidFill>
                <a:schemeClr val="bg2"/>
              </a:solidFill>
            </a:endParaRPr>
          </a:p>
          <a:p>
            <a:pPr lvl="1"/>
            <a:r>
              <a:rPr lang="en-US" altLang="zh-CN" sz="1200" dirty="0">
                <a:solidFill>
                  <a:schemeClr val="bg2"/>
                </a:solidFill>
              </a:rPr>
              <a:t>Word -- Key(</a:t>
            </a:r>
            <a:r>
              <a:rPr lang="zh-CN" altLang="en-US" sz="1200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关键字</a:t>
            </a:r>
            <a:r>
              <a:rPr lang="en-US" altLang="zh-CN" sz="1200" dirty="0">
                <a:solidFill>
                  <a:schemeClr val="bg2"/>
                </a:solidFill>
              </a:rPr>
              <a:t>)</a:t>
            </a:r>
            <a:endParaRPr lang="en-US" altLang="zh-CN" sz="1200" dirty="0">
              <a:solidFill>
                <a:schemeClr val="bg2"/>
              </a:solidFill>
            </a:endParaRPr>
          </a:p>
          <a:p>
            <a:pPr lvl="1"/>
            <a:r>
              <a:rPr lang="en-US" altLang="zh-CN" sz="1200" dirty="0">
                <a:solidFill>
                  <a:schemeClr val="bg2"/>
                </a:solidFill>
              </a:rPr>
              <a:t>Interpretation – Value(</a:t>
            </a:r>
            <a:r>
              <a:rPr lang="zh-CN" altLang="en-US" sz="1200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值</a:t>
            </a:r>
            <a:r>
              <a:rPr lang="en-US" altLang="zh-CN" sz="1200" dirty="0">
                <a:solidFill>
                  <a:schemeClr val="bg2"/>
                </a:solidFill>
              </a:rPr>
              <a:t>) </a:t>
            </a:r>
            <a:endParaRPr lang="en-US" altLang="zh-CN" sz="12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Dict: Creation</a:t>
            </a:r>
            <a:endParaRPr lang="en-US" altLang="zh-CN" dirty="0"/>
          </a:p>
        </p:txBody>
      </p:sp>
      <p:pic>
        <p:nvPicPr>
          <p:cNvPr id="26" name="Picture 8" descr="A picture containing graphical user interface&#10;&#10;Description automatically generated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986" y="1426181"/>
            <a:ext cx="4375615" cy="1173325"/>
          </a:xfrm>
          <a:prstGeom prst="rect">
            <a:avLst/>
          </a:prstGeom>
        </p:spPr>
      </p:pic>
      <p:pic>
        <p:nvPicPr>
          <p:cNvPr id="27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9757" y="1422213"/>
            <a:ext cx="1467040" cy="622800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311700" y="2598394"/>
            <a:ext cx="8203126" cy="586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15000"/>
              </a:lnSpc>
              <a:buClr>
                <a:srgbClr val="7F7F7F"/>
              </a:buClr>
              <a:buSzPts val="1800"/>
              <a:buFont typeface="Wingdings" panose="05000000000000000000" pitchFamily="2" charset="2"/>
              <a:buChar char="l"/>
              <a:defRPr/>
            </a:pP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highlight>
                  <a:srgbClr val="FFFF00"/>
                </a:highlight>
                <a:uLnTx/>
                <a:uFillTx/>
                <a:latin typeface="Source Sans Pro" panose="020B0503030403020204"/>
                <a:ea typeface="Source Sans Pro" panose="020B0503030403020204"/>
                <a:sym typeface="Source Sans Pro" panose="020B0503030403020204"/>
              </a:rPr>
              <a:t>The key should be only </a:t>
            </a: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highlight>
                  <a:srgbClr val="FFFF00"/>
                </a:highlight>
                <a:uLnTx/>
                <a:uFillTx/>
                <a:latin typeface="Source Sans Pro" panose="020B0503030403020204"/>
                <a:ea typeface="Source Sans Pro" panose="020B0503030403020204"/>
                <a:sym typeface="Source Sans Pro" panose="020B0503030403020204"/>
              </a:rPr>
              <a:t>immutable</a:t>
            </a: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highlight>
                  <a:srgbClr val="FFFF00"/>
                </a:highlight>
                <a:uLnTx/>
                <a:uFillTx/>
                <a:latin typeface="Source Sans Pro" panose="020B0503030403020204"/>
                <a:ea typeface="Source Sans Pro" panose="020B0503030403020204"/>
                <a:sym typeface="Source Sans Pro" panose="020B0503030403020204"/>
              </a:rPr>
              <a:t> </a:t>
            </a: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highlight>
                  <a:srgbClr val="FFFF00"/>
                </a:highlight>
                <a:uLnTx/>
                <a:uFillTx/>
                <a:latin typeface="Source Sans Pro" panose="020B0503030403020204"/>
                <a:ea typeface="Source Sans Pro" panose="020B0503030403020204"/>
                <a:sym typeface="Source Sans Pro" panose="020B0503030403020204"/>
              </a:rPr>
              <a:t>type</a:t>
            </a: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uLnTx/>
                <a:uFillTx/>
                <a:latin typeface="Source Sans Pro" panose="020B0503030403020204"/>
                <a:ea typeface="Source Sans Pro" panose="020B0503030403020204"/>
                <a:sym typeface="Source Sans Pro" panose="020B0503030403020204"/>
              </a:rPr>
              <a:t>. </a:t>
            </a:r>
            <a:r>
              <a:rPr kumimoji="0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sym typeface="Source Sans Pro" panose="020B0503030403020204"/>
              </a:rPr>
              <a:t>关键字是</a:t>
            </a:r>
            <a:r>
              <a:rPr kumimoji="0" lang="zh-CN" altLang="en-US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highlight>
                  <a:srgbClr val="FFFF00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sym typeface="Source Sans Pro" panose="020B0503030403020204"/>
              </a:rPr>
              <a:t>唯一的且</a:t>
            </a: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highlight>
                  <a:srgbClr val="FFFF00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sym typeface="Source Sans Pro" panose="020B0503030403020204"/>
              </a:rPr>
              <a:t>immutable</a:t>
            </a: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Source Sans Pro" panose="020B0503030403020204"/>
                <a:ea typeface="Source Sans Pro" panose="020B0503030403020204"/>
                <a:sym typeface="Source Sans Pro" panose="020B0503030403020204"/>
              </a:rPr>
              <a:t>. </a:t>
            </a: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uLnTx/>
                <a:uFillTx/>
                <a:latin typeface="Source Sans Pro" panose="020B0503030403020204"/>
                <a:ea typeface="Source Sans Pro" panose="020B0503030403020204"/>
                <a:sym typeface="Source Sans Pro" panose="020B0503030403020204"/>
              </a:rPr>
              <a:t>List type (</a:t>
            </a: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Source Sans Pro" panose="020B0503030403020204"/>
                <a:ea typeface="Source Sans Pro" panose="020B0503030403020204"/>
                <a:sym typeface="Source Sans Pro" panose="020B0503030403020204"/>
              </a:rPr>
              <a:t>mutable</a:t>
            </a: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uLnTx/>
                <a:uFillTx/>
                <a:latin typeface="Source Sans Pro" panose="020B0503030403020204"/>
                <a:ea typeface="Source Sans Pro" panose="020B0503030403020204"/>
                <a:sym typeface="Source Sans Pro" panose="020B0503030403020204"/>
              </a:rPr>
              <a:t>) cannot be the key</a:t>
            </a:r>
            <a:endParaRPr kumimoji="0" lang="en-US" altLang="zh-CN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uLnTx/>
              <a:uFillTx/>
              <a:latin typeface="Source Sans Pro" panose="020B0503030403020204"/>
              <a:ea typeface="Source Sans Pro" panose="020B0503030403020204"/>
              <a:sym typeface="Source Sans Pro" panose="020B0503030403020204"/>
            </a:endParaRPr>
          </a:p>
        </p:txBody>
      </p:sp>
      <p:pic>
        <p:nvPicPr>
          <p:cNvPr id="32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5681" y="2925899"/>
            <a:ext cx="3895079" cy="482861"/>
          </a:xfrm>
          <a:prstGeom prst="rect">
            <a:avLst/>
          </a:prstGeom>
        </p:spPr>
      </p:pic>
      <p:pic>
        <p:nvPicPr>
          <p:cNvPr id="3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987" y="3443520"/>
            <a:ext cx="6168810" cy="252698"/>
          </a:xfrm>
          <a:prstGeom prst="rect">
            <a:avLst/>
          </a:prstGeom>
        </p:spPr>
      </p:pic>
      <p:sp>
        <p:nvSpPr>
          <p:cNvPr id="34" name="文本框 33"/>
          <p:cNvSpPr txBox="1"/>
          <p:nvPr/>
        </p:nvSpPr>
        <p:spPr>
          <a:xfrm>
            <a:off x="323850" y="4017645"/>
            <a:ext cx="4393565" cy="338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Wingdings" panose="05000000000000000000" pitchFamily="2" charset="2"/>
              <a:buChar char="l"/>
              <a:defRPr/>
            </a:pP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uLnTx/>
                <a:uFillTx/>
                <a:latin typeface="Source Sans Pro" panose="020B0503030403020204"/>
                <a:ea typeface="Source Sans Pro" panose="020B0503030403020204"/>
                <a:sym typeface="Source Sans Pro" panose="020B0503030403020204"/>
              </a:rPr>
              <a:t>Values can be any type. Nested dict.value </a:t>
            </a:r>
            <a:r>
              <a:rPr kumimoji="0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uLnTx/>
                <a:uFillTx/>
                <a:latin typeface="Source Sans Pro" panose="020B0503030403020204"/>
                <a:ea typeface="Source Sans Pro" panose="020B0503030403020204"/>
                <a:sym typeface="Source Sans Pro" panose="020B0503030403020204"/>
              </a:rPr>
              <a:t>可以是</a:t>
            </a: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uLnTx/>
                <a:uFillTx/>
                <a:latin typeface="Source Sans Pro" panose="020B0503030403020204"/>
                <a:ea typeface="Source Sans Pro" panose="020B0503030403020204"/>
                <a:sym typeface="Source Sans Pro" panose="020B0503030403020204"/>
              </a:rPr>
              <a:t>dic</a:t>
            </a:r>
            <a:endParaRPr kumimoji="0" lang="en-US" altLang="zh-CN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uLnTx/>
              <a:uFillTx/>
              <a:latin typeface="Source Sans Pro" panose="020B0503030403020204"/>
              <a:ea typeface="Source Sans Pro" panose="020B0503030403020204"/>
              <a:sym typeface="Source Sans Pro" panose="020B0503030403020204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23542" y="4367639"/>
            <a:ext cx="4685813" cy="324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Wingdings" panose="05000000000000000000" pitchFamily="2" charset="2"/>
              <a:buChar char="l"/>
              <a:defRPr/>
            </a:pPr>
            <a:r>
              <a:rPr kumimoji="0" lang="en-US" altLang="zh-CN" i="0" u="none" strike="noStrike" kern="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uLnTx/>
                <a:uFillTx/>
                <a:latin typeface="Source Sans Pro" panose="020B0503030403020204"/>
                <a:ea typeface="Source Sans Pro" panose="020B0503030403020204"/>
                <a:sym typeface="Source Sans Pro" panose="020B0503030403020204"/>
              </a:rPr>
              <a:t>len</a:t>
            </a: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uLnTx/>
                <a:uFillTx/>
                <a:latin typeface="Source Sans Pro" panose="020B0503030403020204"/>
                <a:ea typeface="Source Sans Pro" panose="020B0503030403020204"/>
                <a:sym typeface="Source Sans Pro" panose="020B0503030403020204"/>
              </a:rPr>
              <a:t>(</a:t>
            </a:r>
            <a:r>
              <a:rPr kumimoji="0" lang="en-US" altLang="zh-CN" i="0" u="none" strike="noStrike" kern="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uLnTx/>
                <a:uFillTx/>
                <a:latin typeface="Source Sans Pro" panose="020B0503030403020204"/>
                <a:ea typeface="Source Sans Pro" panose="020B0503030403020204"/>
                <a:sym typeface="Source Sans Pro" panose="020B0503030403020204"/>
              </a:rPr>
              <a:t>dict</a:t>
            </a: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uLnTx/>
                <a:uFillTx/>
                <a:latin typeface="Source Sans Pro" panose="020B0503030403020204"/>
                <a:ea typeface="Source Sans Pro" panose="020B0503030403020204"/>
                <a:sym typeface="Source Sans Pro" panose="020B0503030403020204"/>
              </a:rPr>
              <a:t>) returns the length of </a:t>
            </a:r>
            <a:r>
              <a:rPr kumimoji="0" lang="en-US" altLang="zh-CN" i="0" u="none" strike="noStrike" kern="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uLnTx/>
                <a:uFillTx/>
                <a:latin typeface="Source Sans Pro" panose="020B0503030403020204"/>
                <a:ea typeface="Source Sans Pro" panose="020B0503030403020204"/>
                <a:sym typeface="Source Sans Pro" panose="020B0503030403020204"/>
              </a:rPr>
              <a:t>dict</a:t>
            </a:r>
            <a:endParaRPr kumimoji="0" lang="en-US" altLang="zh-CN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uLnTx/>
              <a:uFillTx/>
              <a:latin typeface="Source Sans Pro" panose="020B0503030403020204"/>
              <a:ea typeface="Source Sans Pro" panose="020B0503030403020204"/>
              <a:sym typeface="Source Sans Pro" panose="020B0503030403020204"/>
            </a:endParaRPr>
          </a:p>
        </p:txBody>
      </p:sp>
      <p:pic>
        <p:nvPicPr>
          <p:cNvPr id="36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986" y="3745583"/>
            <a:ext cx="4905732" cy="284491"/>
          </a:xfrm>
          <a:prstGeom prst="rect">
            <a:avLst/>
          </a:prstGeom>
        </p:spPr>
      </p:pic>
      <p:pic>
        <p:nvPicPr>
          <p:cNvPr id="37" name="Pictur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987" y="4692181"/>
            <a:ext cx="3534132" cy="348103"/>
          </a:xfrm>
          <a:prstGeom prst="rect">
            <a:avLst/>
          </a:prstGeom>
        </p:spPr>
      </p:pic>
      <p:pic>
        <p:nvPicPr>
          <p:cNvPr id="38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297" y="4843920"/>
            <a:ext cx="257305" cy="19636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6564" y="4180181"/>
            <a:ext cx="3824758" cy="85416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81385" y="4809507"/>
            <a:ext cx="236112" cy="198830"/>
          </a:xfrm>
          <a:prstGeom prst="rect">
            <a:avLst/>
          </a:prstGeom>
        </p:spPr>
      </p:pic>
      <p:sp>
        <p:nvSpPr>
          <p:cNvPr id="4" name="文本框 2"/>
          <p:cNvSpPr txBox="1"/>
          <p:nvPr/>
        </p:nvSpPr>
        <p:spPr>
          <a:xfrm>
            <a:off x="419663" y="1068425"/>
            <a:ext cx="8304673" cy="307777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The elements of </a:t>
            </a:r>
            <a:r>
              <a:rPr lang="en-US" altLang="zh-CN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dict</a:t>
            </a:r>
            <a:r>
              <a:rPr lang="en-US" altLang="zh-CN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should be a pair -- key: value.  “</a:t>
            </a:r>
            <a:r>
              <a:rPr lang="zh-CN" altLang="en-US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林则徐</a:t>
            </a:r>
            <a:r>
              <a:rPr lang="zh-CN" altLang="en-US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”</a:t>
            </a:r>
            <a:r>
              <a:rPr lang="en-US" altLang="zh-CN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: “</a:t>
            </a:r>
            <a:r>
              <a:rPr lang="zh-CN" altLang="en-US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民族英雄</a:t>
            </a:r>
            <a:r>
              <a:rPr lang="zh-CN" altLang="en-US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”</a:t>
            </a:r>
            <a:r>
              <a:rPr lang="en-US" altLang="zh-CN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. All the pairs are enclosed by {}</a:t>
            </a:r>
            <a:endParaRPr lang="en-US" altLang="zh-CN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err="1"/>
              <a:t>dict</a:t>
            </a:r>
            <a:r>
              <a:rPr lang="en-US" altLang="zh-CN" dirty="0"/>
              <a:t>()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1204831"/>
          </a:xfrm>
        </p:spPr>
        <p:txBody>
          <a:bodyPr>
            <a:normAutofit/>
          </a:bodyPr>
          <a:lstStyle/>
          <a:p>
            <a:r>
              <a:rPr lang="en-US" sz="1400" dirty="0" err="1">
                <a:solidFill>
                  <a:schemeClr val="bg2"/>
                </a:solidFill>
              </a:rPr>
              <a:t>dict</a:t>
            </a:r>
            <a:r>
              <a:rPr lang="en-US" sz="1400" dirty="0" err="1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类的构造函数</a:t>
            </a:r>
            <a:r>
              <a:rPr lang="zh-CN" altLang="en-US" sz="1400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en-US" sz="1400" dirty="0">
              <a:solidFill>
                <a:schemeClr val="bg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sz="1400" dirty="0">
                <a:solidFill>
                  <a:schemeClr val="bg2"/>
                </a:solidFill>
              </a:rPr>
              <a:t>class </a:t>
            </a:r>
            <a:r>
              <a:rPr lang="en-US" sz="1400" dirty="0" err="1">
                <a:solidFill>
                  <a:schemeClr val="bg2"/>
                </a:solidFill>
              </a:rPr>
              <a:t>dict</a:t>
            </a:r>
            <a:r>
              <a:rPr lang="en-US" sz="1400" dirty="0">
                <a:solidFill>
                  <a:schemeClr val="bg2"/>
                </a:solidFill>
              </a:rPr>
              <a:t>(**</a:t>
            </a:r>
            <a:r>
              <a:rPr lang="en-US" sz="1400" dirty="0" err="1">
                <a:solidFill>
                  <a:schemeClr val="bg2"/>
                </a:solidFill>
              </a:rPr>
              <a:t>kwarg</a:t>
            </a:r>
            <a:r>
              <a:rPr lang="en-US" sz="1400" dirty="0">
                <a:solidFill>
                  <a:schemeClr val="bg2"/>
                </a:solidFill>
              </a:rPr>
              <a:t>)</a:t>
            </a:r>
            <a:endParaRPr lang="en-US" sz="1400" dirty="0">
              <a:solidFill>
                <a:schemeClr val="bg2"/>
              </a:solidFill>
            </a:endParaRPr>
          </a:p>
          <a:p>
            <a:r>
              <a:rPr lang="en-US" sz="1400" dirty="0">
                <a:solidFill>
                  <a:schemeClr val="bg2"/>
                </a:solidFill>
              </a:rPr>
              <a:t>class </a:t>
            </a:r>
            <a:r>
              <a:rPr lang="en-US" sz="1400" dirty="0" err="1">
                <a:solidFill>
                  <a:schemeClr val="bg2"/>
                </a:solidFill>
              </a:rPr>
              <a:t>dict</a:t>
            </a:r>
            <a:r>
              <a:rPr lang="en-US" sz="1400" dirty="0">
                <a:solidFill>
                  <a:schemeClr val="bg2"/>
                </a:solidFill>
              </a:rPr>
              <a:t>(mapping, **</a:t>
            </a:r>
            <a:r>
              <a:rPr lang="en-US" sz="1400" dirty="0" err="1">
                <a:solidFill>
                  <a:schemeClr val="bg2"/>
                </a:solidFill>
              </a:rPr>
              <a:t>kwarg</a:t>
            </a:r>
            <a:r>
              <a:rPr lang="en-US" sz="1400" dirty="0">
                <a:solidFill>
                  <a:schemeClr val="bg2"/>
                </a:solidFill>
              </a:rPr>
              <a:t>)</a:t>
            </a:r>
            <a:endParaRPr lang="en-US" sz="1400" dirty="0">
              <a:solidFill>
                <a:schemeClr val="bg2"/>
              </a:solidFill>
            </a:endParaRPr>
          </a:p>
          <a:p>
            <a:r>
              <a:rPr lang="en-US" sz="1400" dirty="0">
                <a:solidFill>
                  <a:schemeClr val="bg2"/>
                </a:solidFill>
              </a:rPr>
              <a:t>class </a:t>
            </a:r>
            <a:r>
              <a:rPr lang="en-US" sz="1400" dirty="0" err="1">
                <a:solidFill>
                  <a:schemeClr val="bg2"/>
                </a:solidFill>
              </a:rPr>
              <a:t>dict</a:t>
            </a:r>
            <a:r>
              <a:rPr lang="en-US" sz="1400" dirty="0">
                <a:solidFill>
                  <a:schemeClr val="bg2"/>
                </a:solidFill>
              </a:rPr>
              <a:t>(</a:t>
            </a:r>
            <a:r>
              <a:rPr lang="en-US" sz="1400" dirty="0" err="1">
                <a:solidFill>
                  <a:schemeClr val="bg2"/>
                </a:solidFill>
              </a:rPr>
              <a:t>iterable</a:t>
            </a:r>
            <a:r>
              <a:rPr lang="en-US" sz="1400" dirty="0">
                <a:solidFill>
                  <a:schemeClr val="bg2"/>
                </a:solidFill>
              </a:rPr>
              <a:t>, **</a:t>
            </a:r>
            <a:r>
              <a:rPr lang="en-US" sz="1400" dirty="0" err="1">
                <a:solidFill>
                  <a:schemeClr val="bg2"/>
                </a:solidFill>
              </a:rPr>
              <a:t>kwarg</a:t>
            </a:r>
            <a:r>
              <a:rPr lang="en-US" sz="1400" dirty="0">
                <a:solidFill>
                  <a:schemeClr val="bg2"/>
                </a:solidFill>
              </a:rPr>
              <a:t>)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(dt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=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 err="1">
                <a:solidFill>
                  <a:schemeClr val="bg2"/>
                </a:solidFill>
              </a:rPr>
              <a:t>dict</a:t>
            </a:r>
            <a:r>
              <a:rPr lang="en-US" altLang="zh-CN" sz="1400" dirty="0">
                <a:solidFill>
                  <a:schemeClr val="bg2"/>
                </a:solidFill>
              </a:rPr>
              <a:t>({}))</a:t>
            </a:r>
            <a:endParaRPr lang="en-US" sz="1400" dirty="0">
              <a:solidFill>
                <a:schemeClr val="bg2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084" y="2249171"/>
            <a:ext cx="4922476" cy="262046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4033" y="3253344"/>
            <a:ext cx="2798267" cy="612121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966720" y="452120"/>
            <a:ext cx="61391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三种构造方式：</a:t>
            </a:r>
            <a:endParaRPr lang="zh-CN" altLang="en-US"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Dict: </a:t>
            </a:r>
            <a:r>
              <a:rPr lang="en-US" altLang="zh-CN" dirty="0">
                <a:solidFill>
                  <a:schemeClr val="bg2"/>
                </a:solidFill>
              </a:rPr>
              <a:t>[]</a:t>
            </a:r>
            <a:br>
              <a:rPr lang="en-US" altLang="zh-CN" dirty="0">
                <a:solidFill>
                  <a:schemeClr val="bg2"/>
                </a:solidFill>
              </a:rPr>
            </a:br>
            <a:endParaRPr lang="en-US" altLang="zh-CN" dirty="0">
              <a:solidFill>
                <a:schemeClr val="bg2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23541" y="963319"/>
            <a:ext cx="8268197" cy="1328095"/>
          </a:xfrm>
        </p:spPr>
        <p:txBody>
          <a:bodyPr numCol="1">
            <a:norm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1400" dirty="0">
                <a:solidFill>
                  <a:schemeClr val="bg2"/>
                </a:solidFill>
              </a:rPr>
              <a:t>Values of a dictionary can be accessed via </a:t>
            </a:r>
            <a:r>
              <a:rPr lang="en-US" altLang="zh-CN" sz="1400" dirty="0" err="1">
                <a:solidFill>
                  <a:schemeClr val="tx1"/>
                </a:solidFill>
              </a:rPr>
              <a:t>dict</a:t>
            </a:r>
            <a:r>
              <a:rPr lang="en-US" altLang="zh-CN" sz="1400" dirty="0">
                <a:solidFill>
                  <a:schemeClr val="tx1"/>
                </a:solidFill>
              </a:rPr>
              <a:t>[key]. </a:t>
            </a:r>
            <a:r>
              <a:rPr lang="en-US" altLang="zh-CN" sz="1400" dirty="0">
                <a:solidFill>
                  <a:schemeClr val="bg2"/>
                </a:solidFill>
              </a:rPr>
              <a:t>If the key is not existed in the </a:t>
            </a:r>
            <a:r>
              <a:rPr lang="en-US" altLang="zh-CN" sz="1400" dirty="0" err="1">
                <a:solidFill>
                  <a:schemeClr val="bg2"/>
                </a:solidFill>
              </a:rPr>
              <a:t>dict</a:t>
            </a:r>
            <a:r>
              <a:rPr lang="en-US" altLang="zh-CN" sz="1400" dirty="0">
                <a:solidFill>
                  <a:schemeClr val="bg2"/>
                </a:solidFill>
              </a:rPr>
              <a:t>, an error will arise</a:t>
            </a:r>
            <a:endParaRPr lang="en-US" altLang="zh-CN" sz="1400" dirty="0">
              <a:solidFill>
                <a:schemeClr val="bg2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1400" dirty="0">
                <a:solidFill>
                  <a:schemeClr val="bg2"/>
                </a:solidFill>
              </a:rPr>
              <a:t>Suppose we have a </a:t>
            </a:r>
            <a:r>
              <a:rPr lang="en-US" altLang="zh-CN" sz="1400" dirty="0" err="1">
                <a:solidFill>
                  <a:schemeClr val="bg2"/>
                </a:solidFill>
              </a:rPr>
              <a:t>dict</a:t>
            </a:r>
            <a:r>
              <a:rPr lang="en-US" altLang="zh-CN" sz="1400" dirty="0">
                <a:solidFill>
                  <a:schemeClr val="bg2"/>
                </a:solidFill>
              </a:rPr>
              <a:t> as follows: </a:t>
            </a:r>
            <a:endParaRPr lang="en-US" altLang="zh-CN" sz="1400" dirty="0">
              <a:solidFill>
                <a:schemeClr val="bg2"/>
              </a:solidFill>
            </a:endParaRPr>
          </a:p>
          <a:p>
            <a:pPr marL="742950" lvl="1" indent="-285750">
              <a:buClr>
                <a:schemeClr val="tx2"/>
              </a:buClr>
              <a:buSzPct val="140000"/>
            </a:pPr>
            <a:r>
              <a:rPr lang="en-US" altLang="zh-CN" sz="1200" dirty="0" err="1">
                <a:solidFill>
                  <a:schemeClr val="bg2"/>
                </a:solidFill>
              </a:rPr>
              <a:t>chn</a:t>
            </a:r>
            <a:r>
              <a:rPr lang="en-US" altLang="zh-CN" sz="1200" dirty="0">
                <a:solidFill>
                  <a:schemeClr val="bg2"/>
                </a:solidFill>
              </a:rPr>
              <a:t> = {"Hello":"</a:t>
            </a:r>
            <a:r>
              <a:rPr lang="zh-CN" altLang="en-US" sz="1200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你吼啊</a:t>
            </a:r>
            <a:r>
              <a:rPr lang="en-US" altLang="zh-CN" sz="1200" dirty="0">
                <a:solidFill>
                  <a:schemeClr val="bg2"/>
                </a:solidFill>
              </a:rPr>
              <a:t>", "World":"</a:t>
            </a:r>
            <a:r>
              <a:rPr lang="zh-CN" altLang="en-US" sz="1200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世界</a:t>
            </a:r>
            <a:r>
              <a:rPr lang="en-US" altLang="zh-CN" sz="1200" dirty="0">
                <a:solidFill>
                  <a:schemeClr val="bg2"/>
                </a:solidFill>
              </a:rPr>
              <a:t>", "SJTU":"</a:t>
            </a:r>
            <a:r>
              <a:rPr lang="zh-CN" altLang="en-US" sz="1200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上海交大</a:t>
            </a:r>
            <a:r>
              <a:rPr lang="en-US" altLang="zh-CN" sz="1200" dirty="0">
                <a:solidFill>
                  <a:schemeClr val="bg2"/>
                </a:solidFill>
              </a:rPr>
              <a:t>", "PI":3.14,   "Second":"</a:t>
            </a:r>
            <a:r>
              <a:rPr lang="zh-CN" altLang="en-US" sz="1200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秒</a:t>
            </a:r>
            <a:r>
              <a:rPr lang="en-US" altLang="zh-CN" sz="1200" dirty="0">
                <a:solidFill>
                  <a:schemeClr val="bg2"/>
                </a:solidFill>
              </a:rPr>
              <a:t>"}</a:t>
            </a:r>
            <a:endParaRPr lang="en-US" altLang="zh-CN" sz="1200" dirty="0">
              <a:solidFill>
                <a:schemeClr val="bg2"/>
              </a:solidFill>
            </a:endParaRPr>
          </a:p>
          <a:p>
            <a:pPr marL="742950" lvl="1" indent="-285750">
              <a:buClr>
                <a:schemeClr val="tx2"/>
              </a:buClr>
              <a:buSzPct val="140000"/>
            </a:pPr>
            <a:r>
              <a:rPr lang="en-US" altLang="zh-CN" sz="1200" dirty="0">
                <a:solidFill>
                  <a:schemeClr val="bg2"/>
                </a:solidFill>
              </a:rPr>
              <a:t> All its keys are: “Hello”, “World”, “SJTU”, “PI”, “Second”</a:t>
            </a:r>
            <a:endParaRPr lang="en-US" altLang="zh-CN" sz="1200" dirty="0">
              <a:solidFill>
                <a:schemeClr val="bg2"/>
              </a:solidFill>
            </a:endParaRPr>
          </a:p>
          <a:p>
            <a:pPr marL="742950" lvl="1" indent="-285750">
              <a:buClr>
                <a:schemeClr val="tx2"/>
              </a:buClr>
              <a:buSzPct val="140000"/>
            </a:pPr>
            <a:r>
              <a:rPr lang="en-US" altLang="zh-CN" sz="1200" dirty="0">
                <a:solidFill>
                  <a:schemeClr val="bg2"/>
                </a:solidFill>
              </a:rPr>
              <a:t>An error will arise if you use other values to access the </a:t>
            </a:r>
            <a:r>
              <a:rPr lang="en-US" altLang="zh-CN" sz="1200" dirty="0" err="1">
                <a:solidFill>
                  <a:schemeClr val="bg2"/>
                </a:solidFill>
              </a:rPr>
              <a:t>chn</a:t>
            </a:r>
            <a:endParaRPr lang="en-US" altLang="zh-CN" sz="1200" dirty="0">
              <a:solidFill>
                <a:schemeClr val="bg2"/>
              </a:solidFill>
            </a:endParaRPr>
          </a:p>
        </p:txBody>
      </p:sp>
      <p:pic>
        <p:nvPicPr>
          <p:cNvPr id="4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583" y="2205330"/>
            <a:ext cx="5447845" cy="577873"/>
          </a:xfrm>
          <a:prstGeom prst="rect">
            <a:avLst/>
          </a:prstGeom>
        </p:spPr>
      </p:pic>
      <p:pic>
        <p:nvPicPr>
          <p:cNvPr id="8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429" y="2205553"/>
            <a:ext cx="507924" cy="383171"/>
          </a:xfrm>
          <a:prstGeom prst="rect">
            <a:avLst/>
          </a:prstGeom>
        </p:spPr>
      </p:pic>
      <p:pic>
        <p:nvPicPr>
          <p:cNvPr id="9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583" y="2852085"/>
            <a:ext cx="2415505" cy="36825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4688379" y="4547591"/>
            <a:ext cx="4143922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defRPr/>
            </a:pPr>
            <a:r>
              <a:rPr lang="en-US" altLang="zh-CN" sz="1200" dirty="0">
                <a:solidFill>
                  <a:schemeClr val="bg2"/>
                </a:solidFill>
                <a:latin typeface="Source Sans Pro" panose="020B0503030403020204"/>
                <a:ea typeface="华文楷体" panose="0201060004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In principle, there is </a:t>
            </a:r>
            <a:r>
              <a:rPr lang="en-US" altLang="zh-CN" sz="1200" dirty="0">
                <a:solidFill>
                  <a:schemeClr val="tx1"/>
                </a:solidFill>
                <a:latin typeface="Source Sans Pro" panose="020B0503030403020204"/>
                <a:ea typeface="华文楷体" panose="0201060004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no order </a:t>
            </a:r>
            <a:r>
              <a:rPr lang="en-US" altLang="zh-CN" sz="1200" dirty="0">
                <a:solidFill>
                  <a:schemeClr val="bg2"/>
                </a:solidFill>
                <a:latin typeface="Source Sans Pro" panose="020B0503030403020204"/>
                <a:ea typeface="华文楷体" panose="0201060004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on the keys, unless you specify it. For example: a = {"test":1, 1.2:3, 3:"hello", 5:[1,2,3]}  </a:t>
            </a:r>
            <a:endParaRPr lang="en-US" altLang="zh-CN" sz="1200" dirty="0">
              <a:solidFill>
                <a:schemeClr val="bg2"/>
              </a:solidFill>
              <a:latin typeface="Source Sans Pro" panose="020B0503030403020204"/>
              <a:ea typeface="华文楷体" panose="02010600040101010101" pitchFamily="2" charset="-122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7" name="文本框 34"/>
          <p:cNvSpPr txBox="1"/>
          <p:nvPr/>
        </p:nvSpPr>
        <p:spPr>
          <a:xfrm>
            <a:off x="323541" y="3253083"/>
            <a:ext cx="6670902" cy="324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Wingdings" panose="05000000000000000000" pitchFamily="2" charset="2"/>
              <a:buChar char="l"/>
              <a:defRPr/>
            </a:pP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uLnTx/>
                <a:uFillTx/>
                <a:latin typeface="Source Sans Pro" panose="020B0503030403020204"/>
                <a:ea typeface="Source Sans Pro" panose="020B0503030403020204"/>
                <a:sym typeface="Source Sans Pro" panose="020B0503030403020204"/>
              </a:rPr>
              <a:t>Unless the index is a </a:t>
            </a: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Source Sans Pro" panose="020B0503030403020204"/>
                <a:ea typeface="Source Sans Pro" panose="020B0503030403020204"/>
                <a:sym typeface="Source Sans Pro" panose="020B0503030403020204"/>
              </a:rPr>
              <a:t>keyword</a:t>
            </a: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uLnTx/>
                <a:uFillTx/>
                <a:latin typeface="Source Sans Pro" panose="020B0503030403020204"/>
                <a:ea typeface="Source Sans Pro" panose="020B0503030403020204"/>
                <a:sym typeface="Source Sans Pro" panose="020B0503030403020204"/>
              </a:rPr>
              <a:t>, </a:t>
            </a:r>
            <a:r>
              <a:rPr kumimoji="0" lang="en-US" altLang="zh-CN" i="0" u="none" strike="noStrike" kern="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uLnTx/>
                <a:uFillTx/>
                <a:latin typeface="Source Sans Pro" panose="020B0503030403020204"/>
                <a:ea typeface="Source Sans Pro" panose="020B0503030403020204"/>
                <a:sym typeface="Source Sans Pro" panose="020B0503030403020204"/>
              </a:rPr>
              <a:t>dict</a:t>
            </a: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uLnTx/>
                <a:uFillTx/>
                <a:latin typeface="Source Sans Pro" panose="020B0503030403020204"/>
                <a:ea typeface="Source Sans Pro" panose="020B0503030403020204"/>
                <a:sym typeface="Source Sans Pro" panose="020B0503030403020204"/>
              </a:rPr>
              <a:t> cannot be accessed by an index (</a:t>
            </a:r>
            <a:r>
              <a:rPr kumimoji="0" lang="en-US" altLang="zh-CN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uLnTx/>
                <a:uFillTx/>
                <a:latin typeface="Source Sans Pro" panose="020B0503030403020204"/>
                <a:ea typeface="Source Sans Pro" panose="020B0503030403020204"/>
                <a:sym typeface="Source Sans Pro" panose="020B0503030403020204"/>
              </a:rPr>
              <a:t>KeyError</a:t>
            </a: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uLnTx/>
                <a:uFillTx/>
                <a:latin typeface="Source Sans Pro" panose="020B0503030403020204"/>
                <a:ea typeface="Source Sans Pro" panose="020B0503030403020204"/>
                <a:sym typeface="Source Sans Pro" panose="020B0503030403020204"/>
              </a:rPr>
              <a:t>)</a:t>
            </a:r>
            <a:endParaRPr kumimoji="0" lang="en-US" altLang="zh-CN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uLnTx/>
              <a:uFillTx/>
              <a:latin typeface="Source Sans Pro" panose="020B0503030403020204"/>
              <a:ea typeface="Source Sans Pro" panose="020B0503030403020204"/>
              <a:sym typeface="Source Sans Pro" panose="020B0503030403020204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386" y="3682210"/>
            <a:ext cx="2879094" cy="77163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3048" y="3682210"/>
            <a:ext cx="472336" cy="203468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3048" y="4023441"/>
            <a:ext cx="4337416" cy="430399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053590" y="591185"/>
            <a:ext cx="263461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字典不能通过序号访问</a:t>
            </a:r>
            <a:r>
              <a:rPr lang="zh-CN" altLang="en-US"/>
              <a:t>元素</a:t>
            </a:r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get() and </a:t>
            </a:r>
            <a:r>
              <a:rPr lang="en-US" dirty="0" err="1"/>
              <a:t>setdefault</a:t>
            </a:r>
            <a:r>
              <a:rPr lang="en-US" dirty="0"/>
              <a:t>()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4"/>
            <a:ext cx="8520600" cy="1964146"/>
          </a:xfrm>
        </p:spPr>
        <p:txBody>
          <a:bodyPr>
            <a:normAutofit/>
          </a:bodyPr>
          <a:lstStyle/>
          <a:p>
            <a:r>
              <a:rPr lang="en-US" sz="1400" dirty="0">
                <a:solidFill>
                  <a:schemeClr val="bg2"/>
                </a:solidFill>
              </a:rPr>
              <a:t>If we try to access a value of the key that doesn't exist in the dictionary, Python will return a </a:t>
            </a:r>
            <a:r>
              <a:rPr lang="en-US" sz="1400" dirty="0" err="1">
                <a:solidFill>
                  <a:schemeClr val="bg2"/>
                </a:solidFill>
              </a:rPr>
              <a:t>KeyError</a:t>
            </a:r>
            <a:r>
              <a:rPr lang="en-US" sz="1400" dirty="0">
                <a:solidFill>
                  <a:schemeClr val="bg2"/>
                </a:solidFill>
              </a:rPr>
              <a:t>. </a:t>
            </a:r>
            <a:endParaRPr lang="en-US" sz="1400" dirty="0">
              <a:solidFill>
                <a:schemeClr val="bg2"/>
              </a:solidFill>
            </a:endParaRPr>
          </a:p>
          <a:p>
            <a:r>
              <a:rPr lang="en-US" sz="1400" dirty="0">
                <a:solidFill>
                  <a:schemeClr val="bg2"/>
                </a:solidFill>
              </a:rPr>
              <a:t>To get around this problem, we can use the </a:t>
            </a:r>
            <a:r>
              <a:rPr lang="en-US" sz="1400" dirty="0">
                <a:solidFill>
                  <a:schemeClr val="tx1"/>
                </a:solidFill>
              </a:rPr>
              <a:t>get() method </a:t>
            </a:r>
            <a:r>
              <a:rPr lang="en-US" sz="1400" dirty="0">
                <a:solidFill>
                  <a:schemeClr val="bg2"/>
                </a:solidFill>
              </a:rPr>
              <a:t>that will return the value if its key is in the dictionary, or it will return some default value that we set</a:t>
            </a:r>
            <a:endParaRPr lang="en-US" sz="1400" dirty="0">
              <a:solidFill>
                <a:schemeClr val="bg2"/>
              </a:solidFill>
            </a:endParaRPr>
          </a:p>
          <a:p>
            <a:r>
              <a:rPr lang="en-US" sz="1400" dirty="0" err="1">
                <a:solidFill>
                  <a:schemeClr val="tx1"/>
                </a:solidFill>
              </a:rPr>
              <a:t>setdefault</a:t>
            </a:r>
            <a:r>
              <a:rPr lang="en-US" sz="1400" dirty="0">
                <a:solidFill>
                  <a:schemeClr val="tx1"/>
                </a:solidFill>
              </a:rPr>
              <a:t>(). </a:t>
            </a:r>
            <a:r>
              <a:rPr lang="en-US" sz="1400" dirty="0">
                <a:solidFill>
                  <a:schemeClr val="bg2"/>
                </a:solidFill>
              </a:rPr>
              <a:t>The </a:t>
            </a:r>
            <a:r>
              <a:rPr lang="en-US" sz="1400" dirty="0" err="1">
                <a:solidFill>
                  <a:schemeClr val="bg2"/>
                </a:solidFill>
              </a:rPr>
              <a:t>setdefault</a:t>
            </a:r>
            <a:r>
              <a:rPr lang="en-US" sz="1400" dirty="0">
                <a:solidFill>
                  <a:schemeClr val="bg2"/>
                </a:solidFill>
              </a:rPr>
              <a:t>() method is often confused with the get() method. They perform more or less the same task. Indeed, if we suspect that there is a non-existing key in the dictionary, we can use this method to return a default value. However, in contrast to get(), this method inserts the default value of this key in the dictionary</a:t>
            </a:r>
            <a:endParaRPr lang="en-US" sz="1400" dirty="0">
              <a:solidFill>
                <a:schemeClr val="bg2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844" y="3019696"/>
            <a:ext cx="2333766" cy="77097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5605" y="3014240"/>
            <a:ext cx="2647950" cy="8858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5605" y="4052116"/>
            <a:ext cx="214594" cy="31864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2945" y="3019696"/>
            <a:ext cx="2162325" cy="89775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2551" y="4047069"/>
            <a:ext cx="214594" cy="17998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1729" y="4046927"/>
            <a:ext cx="3648025" cy="340671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759835" y="71755"/>
            <a:ext cx="5384800" cy="12471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/>
              <a:t>如果我们尝试访问字典中不存在的键值，Python 将返回 KeyError。为了解决这个问题，我们可以使用 get（） 方法，如果它的键在字典中，它将返回该值，或者它将返回我们设置的一些默认值setdefault（） 中。setdefault（） 方法经常与 get（） 方法混淆。它们执行或多或少相同的任务。事实上，如果我们怀疑字典中不存在一个键，我们可以使用此方法返回默认值。但是，与 get（） 相反，此方法在字典中插入此键的默认值</a:t>
            </a:r>
            <a:endParaRPr lang="zh-CN" altLang="en-US" sz="1200"/>
          </a:p>
        </p:txBody>
      </p:sp>
      <p:sp>
        <p:nvSpPr>
          <p:cNvPr id="9" name="文本框 8"/>
          <p:cNvSpPr txBox="1"/>
          <p:nvPr/>
        </p:nvSpPr>
        <p:spPr>
          <a:xfrm>
            <a:off x="3077845" y="4523105"/>
            <a:ext cx="40392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这里还是会报错，因为</a:t>
            </a:r>
            <a:r>
              <a:rPr lang="en-US" altLang="zh-CN"/>
              <a:t>get</a:t>
            </a:r>
            <a:r>
              <a:rPr lang="zh-CN" altLang="en-US"/>
              <a:t>没有在字典中添加元素，但如果用</a:t>
            </a:r>
            <a:r>
              <a:rPr lang="en-US" altLang="zh-CN"/>
              <a:t>setdefault</a:t>
            </a:r>
            <a:r>
              <a:rPr lang="zh-CN" altLang="en-US"/>
              <a:t>代替</a:t>
            </a:r>
            <a:r>
              <a:rPr lang="en-US" altLang="zh-CN"/>
              <a:t>get</a:t>
            </a:r>
            <a:r>
              <a:rPr lang="zh-CN" altLang="en-US"/>
              <a:t>则可用</a:t>
            </a:r>
            <a:r>
              <a:rPr lang="en-US" altLang="zh-CN"/>
              <a:t>dt[4]</a:t>
            </a:r>
            <a:r>
              <a:rPr lang="zh-CN" altLang="en-US"/>
              <a:t>检索了</a:t>
            </a:r>
            <a:endParaRPr lang="zh-CN" altLang="en-US"/>
          </a:p>
        </p:txBody>
      </p:sp>
      <p:cxnSp>
        <p:nvCxnSpPr>
          <p:cNvPr id="11" name="直接箭头连接符 10"/>
          <p:cNvCxnSpPr/>
          <p:nvPr/>
        </p:nvCxnSpPr>
        <p:spPr>
          <a:xfrm>
            <a:off x="4307205" y="3730625"/>
            <a:ext cx="4445" cy="825500"/>
          </a:xfrm>
          <a:prstGeom prst="straightConnector1">
            <a:avLst/>
          </a:prstGeom>
          <a:ln>
            <a:solidFill>
              <a:srgbClr val="00B0F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Dict: Removing Items</a:t>
            </a:r>
            <a:endParaRPr lang="en-US" alt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700" y="990026"/>
            <a:ext cx="8520600" cy="1461139"/>
          </a:xfrm>
        </p:spPr>
        <p:txBody>
          <a:bodyPr>
            <a:noAutofit/>
          </a:bodyPr>
          <a:lstStyle/>
          <a:p>
            <a:r>
              <a:rPr lang="en-US" altLang="zh-CN" sz="1400" dirty="0">
                <a:solidFill>
                  <a:schemeClr val="tx1"/>
                </a:solidFill>
              </a:rPr>
              <a:t>delete</a:t>
            </a:r>
            <a:r>
              <a:rPr lang="en-US" altLang="zh-CN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 err="1">
                <a:solidFill>
                  <a:schemeClr val="bg2"/>
                </a:solidFill>
              </a:rPr>
              <a:t>dict</a:t>
            </a:r>
            <a:r>
              <a:rPr lang="en-US" altLang="zh-CN" sz="1400" dirty="0">
                <a:solidFill>
                  <a:schemeClr val="bg2"/>
                </a:solidFill>
              </a:rPr>
              <a:t>[key]: The del keyword removes the item with the specified key name. The del keyword can also delete the dictionary completely</a:t>
            </a:r>
            <a:endParaRPr lang="en-US" altLang="zh-CN" sz="1400" dirty="0">
              <a:solidFill>
                <a:schemeClr val="bg2"/>
              </a:solidFill>
            </a:endParaRPr>
          </a:p>
          <a:p>
            <a:r>
              <a:rPr lang="en-US" altLang="zh-CN" sz="1400" dirty="0" err="1">
                <a:solidFill>
                  <a:schemeClr val="bg2"/>
                </a:solidFill>
              </a:rPr>
              <a:t>Dict.</a:t>
            </a:r>
            <a:r>
              <a:rPr lang="en-US" altLang="zh-CN" sz="1400" dirty="0" err="1">
                <a:solidFill>
                  <a:schemeClr val="tx1"/>
                </a:solidFill>
              </a:rPr>
              <a:t>clear</a:t>
            </a:r>
            <a:r>
              <a:rPr lang="en-US" altLang="zh-CN" sz="1400" dirty="0">
                <a:solidFill>
                  <a:schemeClr val="bg2"/>
                </a:solidFill>
              </a:rPr>
              <a:t>(): make an empty </a:t>
            </a:r>
            <a:r>
              <a:rPr lang="en-US" altLang="zh-CN" sz="1400" dirty="0" err="1">
                <a:solidFill>
                  <a:schemeClr val="bg2"/>
                </a:solidFill>
              </a:rPr>
              <a:t>dict</a:t>
            </a:r>
            <a:endParaRPr lang="en-US" altLang="zh-CN" sz="1400" dirty="0">
              <a:solidFill>
                <a:schemeClr val="bg2"/>
              </a:solidFill>
            </a:endParaRPr>
          </a:p>
          <a:p>
            <a:r>
              <a:rPr lang="en-US" altLang="zh-CN" sz="1400" dirty="0" err="1">
                <a:solidFill>
                  <a:schemeClr val="bg2"/>
                </a:solidFill>
              </a:rPr>
              <a:t>dict.</a:t>
            </a:r>
            <a:r>
              <a:rPr lang="en-US" altLang="zh-CN" sz="1400" dirty="0" err="1">
                <a:solidFill>
                  <a:schemeClr val="tx1"/>
                </a:solidFill>
              </a:rPr>
              <a:t>pop</a:t>
            </a:r>
            <a:r>
              <a:rPr lang="en-US" altLang="zh-CN" sz="1400" dirty="0">
                <a:solidFill>
                  <a:schemeClr val="bg2"/>
                </a:solidFill>
              </a:rPr>
              <a:t>(</a:t>
            </a:r>
            <a:r>
              <a:rPr lang="en-US" altLang="zh-CN" sz="1400" dirty="0">
                <a:solidFill>
                  <a:schemeClr val="bg2"/>
                </a:solidFill>
              </a:rPr>
              <a:t>key): The pop(key) method removes the item with the specified key name</a:t>
            </a:r>
            <a:endParaRPr lang="en-US" altLang="zh-CN" sz="1400" dirty="0">
              <a:solidFill>
                <a:schemeClr val="bg2"/>
              </a:solidFill>
            </a:endParaRPr>
          </a:p>
          <a:p>
            <a:r>
              <a:rPr lang="en-US" altLang="zh-CN" sz="1400" dirty="0" err="1">
                <a:solidFill>
                  <a:schemeClr val="bg2"/>
                </a:solidFill>
              </a:rPr>
              <a:t>dict.</a:t>
            </a:r>
            <a:r>
              <a:rPr lang="en-US" altLang="zh-CN" sz="1400" dirty="0" err="1">
                <a:solidFill>
                  <a:schemeClr val="tx1"/>
                </a:solidFill>
              </a:rPr>
              <a:t>popitem</a:t>
            </a:r>
            <a:r>
              <a:rPr lang="en-US" altLang="zh-CN" sz="1400" dirty="0">
                <a:solidFill>
                  <a:schemeClr val="bg2"/>
                </a:solidFill>
              </a:rPr>
              <a:t>(): The </a:t>
            </a:r>
            <a:r>
              <a:rPr lang="en-US" altLang="zh-CN" sz="1400" dirty="0" err="1">
                <a:solidFill>
                  <a:schemeClr val="bg2"/>
                </a:solidFill>
              </a:rPr>
              <a:t>popitem</a:t>
            </a:r>
            <a:r>
              <a:rPr lang="en-US" altLang="zh-CN" sz="1400" dirty="0">
                <a:solidFill>
                  <a:schemeClr val="bg2"/>
                </a:solidFill>
              </a:rPr>
              <a:t>() method removes the last inserted item (in versions before 3.7, a random item is removed instead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华文仿宋" panose="02010600040101010101" pitchFamily="34" charset="-122"/>
                <a:cs typeface="+mn-cs"/>
                <a:sym typeface="Wingdings" panose="05000000000000000000" pitchFamily="2" charset="2"/>
              </a:rPr>
              <a:t> 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华文仿宋" panose="02010600040101010101" pitchFamily="34" charset="-122"/>
              <a:cs typeface="+mn-cs"/>
              <a:sym typeface="Wingdings" panose="05000000000000000000" pitchFamily="2" charset="2"/>
            </a:endParaRPr>
          </a:p>
          <a:p>
            <a:endParaRPr lang="en-US" altLang="zh-CN" sz="1200" dirty="0">
              <a:solidFill>
                <a:schemeClr val="bg2"/>
              </a:solidFill>
            </a:endParaRPr>
          </a:p>
        </p:txBody>
      </p:sp>
      <p:pic>
        <p:nvPicPr>
          <p:cNvPr id="8" name="Picture 7" descr="A picture containing box and whisker chart&#10;&#10;Description automatically generated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295" y="4479441"/>
            <a:ext cx="3428347" cy="493914"/>
          </a:xfrm>
          <a:prstGeom prst="rect">
            <a:avLst/>
          </a:prstGeom>
        </p:spPr>
      </p:pic>
      <p:pic>
        <p:nvPicPr>
          <p:cNvPr id="10" name="Pictur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3130" y="3593958"/>
            <a:ext cx="4197990" cy="44540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39" y="2571750"/>
            <a:ext cx="4547061" cy="177414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6066" y="2571750"/>
            <a:ext cx="4335054" cy="68448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 Multi-Line Statements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857435"/>
          </a:xfrm>
        </p:spPr>
        <p:txBody>
          <a:bodyPr>
            <a:normAutofit lnSpcReduction="10000"/>
          </a:bodyPr>
          <a:lstStyle/>
          <a:p>
            <a:r>
              <a:rPr lang="en-US" sz="1400" dirty="0">
                <a:solidFill>
                  <a:schemeClr val="bg2"/>
                </a:solidFill>
              </a:rPr>
              <a:t>Explicit line continuation: </a:t>
            </a:r>
            <a:r>
              <a:rPr lang="en-US" sz="1400" dirty="0">
                <a:solidFill>
                  <a:schemeClr val="tx1"/>
                </a:solidFill>
              </a:rPr>
              <a:t>\</a:t>
            </a:r>
            <a:r>
              <a:rPr lang="en-US" sz="1400" dirty="0">
                <a:solidFill>
                  <a:schemeClr val="bg2"/>
                </a:solidFill>
              </a:rPr>
              <a:t>, use the line continuation character (\) to split a statement into multiple lines</a:t>
            </a:r>
            <a:endParaRPr lang="en-US" sz="1400" dirty="0">
              <a:solidFill>
                <a:schemeClr val="bg2"/>
              </a:solidFill>
            </a:endParaRPr>
          </a:p>
          <a:p>
            <a:r>
              <a:rPr lang="en-US" sz="1400" dirty="0">
                <a:solidFill>
                  <a:schemeClr val="bg2"/>
                </a:solidFill>
              </a:rPr>
              <a:t>Implicit line continuation: Implicit line continuation is used when you split a statement using either parenthesis </a:t>
            </a:r>
            <a:r>
              <a:rPr lang="en-US" sz="1400" dirty="0">
                <a:solidFill>
                  <a:schemeClr val="tx1"/>
                </a:solidFill>
              </a:rPr>
              <a:t>( ), </a:t>
            </a:r>
            <a:r>
              <a:rPr lang="en-US" sz="1400" dirty="0">
                <a:solidFill>
                  <a:schemeClr val="bg2"/>
                </a:solidFill>
              </a:rPr>
              <a:t>brackets </a:t>
            </a:r>
            <a:r>
              <a:rPr lang="en-US" sz="1400" dirty="0">
                <a:solidFill>
                  <a:schemeClr val="tx1"/>
                </a:solidFill>
              </a:rPr>
              <a:t>[ ]</a:t>
            </a:r>
            <a:r>
              <a:rPr lang="en-US" sz="1400" dirty="0">
                <a:solidFill>
                  <a:schemeClr val="bg2"/>
                </a:solidFill>
              </a:rPr>
              <a:t>, and braces </a:t>
            </a:r>
            <a:r>
              <a:rPr lang="en-US" sz="1400" dirty="0">
                <a:solidFill>
                  <a:schemeClr val="tx1"/>
                </a:solidFill>
              </a:rPr>
              <a:t>{ }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8102" y="2019813"/>
            <a:ext cx="1834198" cy="242980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9389" y="4814930"/>
            <a:ext cx="21082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\</a:t>
            </a:r>
            <a:r>
              <a:rPr lang="zh-CN" altLang="en-US" sz="1200" dirty="0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后面不能有空格</a:t>
            </a:r>
            <a:r>
              <a:rPr lang="en-US" altLang="zh-CN" sz="1200" dirty="0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200" dirty="0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转义字符</a:t>
            </a:r>
            <a:r>
              <a:rPr lang="en-US" altLang="zh-CN" sz="1200" dirty="0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en-US" altLang="zh-CN" sz="1200" dirty="0">
              <a:highlight>
                <a:srgbClr val="FFFF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389" y="2009910"/>
            <a:ext cx="1785862" cy="2429803"/>
          </a:xfrm>
          <a:prstGeom prst="rect">
            <a:avLst/>
          </a:prstGeom>
        </p:spPr>
      </p:pic>
      <p:pic>
        <p:nvPicPr>
          <p:cNvPr id="14" name="Picture 13" descr="A black background with white text&#10;&#10;Description automatically generat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389" y="4459519"/>
            <a:ext cx="2283608" cy="374847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2354" y="2009910"/>
            <a:ext cx="1894282" cy="3049540"/>
          </a:xfrm>
          <a:prstGeom prst="rect">
            <a:avLst/>
          </a:prstGeom>
        </p:spPr>
      </p:pic>
      <p:pic>
        <p:nvPicPr>
          <p:cNvPr id="18" name="Picture 17" descr="A black background with white text&#10;&#10;Description automatically generat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8353" y="4584629"/>
            <a:ext cx="2078769" cy="46060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Dict: modification, copy and merge</a:t>
            </a:r>
            <a:endParaRPr lang="en-US" alt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700" y="990027"/>
            <a:ext cx="8520600" cy="1652449"/>
          </a:xfrm>
        </p:spPr>
        <p:txBody>
          <a:bodyPr>
            <a:noAutofit/>
          </a:bodyPr>
          <a:lstStyle/>
          <a:p>
            <a:r>
              <a:rPr lang="en-US" altLang="zh-CN" sz="1400" dirty="0">
                <a:solidFill>
                  <a:schemeClr val="bg2"/>
                </a:solidFill>
              </a:rPr>
              <a:t>The values can be </a:t>
            </a:r>
            <a:r>
              <a:rPr lang="en-US" altLang="zh-CN" sz="1400" dirty="0">
                <a:solidFill>
                  <a:schemeClr val="tx1"/>
                </a:solidFill>
              </a:rPr>
              <a:t>reassigned/updated/added </a:t>
            </a:r>
            <a:r>
              <a:rPr lang="en-US" altLang="zh-CN" sz="1400" dirty="0">
                <a:solidFill>
                  <a:schemeClr val="bg2"/>
                </a:solidFill>
              </a:rPr>
              <a:t>via its key</a:t>
            </a:r>
            <a:endParaRPr lang="en-US" altLang="zh-CN" sz="1400" dirty="0">
              <a:solidFill>
                <a:schemeClr val="bg2"/>
              </a:solidFill>
            </a:endParaRPr>
          </a:p>
          <a:p>
            <a:pPr marL="114300" indent="0">
              <a:buNone/>
            </a:pPr>
            <a:endParaRPr lang="en-US" altLang="zh-CN" sz="1400" dirty="0">
              <a:solidFill>
                <a:schemeClr val="bg2"/>
              </a:solidFill>
            </a:endParaRPr>
          </a:p>
          <a:p>
            <a:endParaRPr lang="en-US" altLang="zh-CN" sz="1400" dirty="0">
              <a:solidFill>
                <a:schemeClr val="bg2"/>
              </a:solidFill>
            </a:endParaRPr>
          </a:p>
          <a:p>
            <a:pPr marL="114300" indent="0">
              <a:buNone/>
            </a:pPr>
            <a:endParaRPr lang="en-US" altLang="zh-CN" sz="1400" dirty="0">
              <a:solidFill>
                <a:schemeClr val="bg2"/>
              </a:solidFill>
            </a:endParaRPr>
          </a:p>
          <a:p>
            <a:r>
              <a:rPr lang="en-US" altLang="zh-CN" sz="1400" dirty="0">
                <a:solidFill>
                  <a:schemeClr val="bg2"/>
                </a:solidFill>
              </a:rPr>
              <a:t>The dictionary in python  is </a:t>
            </a:r>
            <a:r>
              <a:rPr lang="en-US" altLang="zh-CN" sz="1400" b="1" dirty="0">
                <a:solidFill>
                  <a:schemeClr val="tx1"/>
                </a:solidFill>
              </a:rPr>
              <a:t>mutable</a:t>
            </a:r>
            <a:r>
              <a:rPr lang="en-US" altLang="zh-CN" sz="1400" dirty="0">
                <a:solidFill>
                  <a:schemeClr val="bg2"/>
                </a:solidFill>
              </a:rPr>
              <a:t>. You need to make a copy in case of modification: </a:t>
            </a:r>
            <a:r>
              <a:rPr lang="en-US" altLang="zh-CN" sz="1400" b="1" dirty="0" err="1">
                <a:solidFill>
                  <a:schemeClr val="tx1"/>
                </a:solidFill>
              </a:rPr>
              <a:t>dict.copy</a:t>
            </a:r>
            <a:r>
              <a:rPr lang="en-US" altLang="zh-CN" sz="1400" b="1" dirty="0">
                <a:solidFill>
                  <a:schemeClr val="tx1"/>
                </a:solidFill>
              </a:rPr>
              <a:t>()</a:t>
            </a:r>
            <a:endParaRPr lang="en-US" altLang="zh-CN" sz="1400" b="1" dirty="0">
              <a:solidFill>
                <a:schemeClr val="tx1"/>
              </a:solidFill>
            </a:endParaRPr>
          </a:p>
          <a:p>
            <a:pPr lvl="1"/>
            <a:r>
              <a:rPr lang="en-US" altLang="zh-CN" sz="1200" dirty="0">
                <a:solidFill>
                  <a:schemeClr val="bg2"/>
                </a:solidFill>
              </a:rPr>
              <a:t>It is also possible to use the </a:t>
            </a:r>
            <a:r>
              <a:rPr lang="en-US" altLang="zh-CN" sz="1200" dirty="0" err="1">
                <a:solidFill>
                  <a:schemeClr val="tx1"/>
                </a:solidFill>
              </a:rPr>
              <a:t>dict</a:t>
            </a:r>
            <a:r>
              <a:rPr lang="en-US" altLang="zh-CN" sz="1200" dirty="0">
                <a:solidFill>
                  <a:schemeClr val="tx1"/>
                </a:solidFill>
              </a:rPr>
              <a:t>() </a:t>
            </a:r>
            <a:r>
              <a:rPr lang="en-US" altLang="zh-CN" sz="1200" dirty="0">
                <a:solidFill>
                  <a:schemeClr val="bg2"/>
                </a:solidFill>
              </a:rPr>
              <a:t>constructor to make a new dictionary</a:t>
            </a:r>
            <a:endParaRPr lang="en-US" altLang="zh-CN" sz="1200" dirty="0">
              <a:solidFill>
                <a:schemeClr val="bg2"/>
              </a:solidFill>
            </a:endParaRPr>
          </a:p>
        </p:txBody>
      </p:sp>
      <p:pic>
        <p:nvPicPr>
          <p:cNvPr id="4" name="Picture 1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797" y="1362560"/>
            <a:ext cx="2363343" cy="677723"/>
          </a:xfrm>
          <a:prstGeom prst="rect">
            <a:avLst/>
          </a:prstGeom>
        </p:spPr>
      </p:pic>
      <p:pic>
        <p:nvPicPr>
          <p:cNvPr id="5" name="Picture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6267" y="1368797"/>
            <a:ext cx="1634082" cy="219600"/>
          </a:xfrm>
          <a:prstGeom prst="rect">
            <a:avLst/>
          </a:prstGeom>
        </p:spPr>
      </p:pic>
      <p:pic>
        <p:nvPicPr>
          <p:cNvPr id="11" name="Picture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6267" y="1730984"/>
            <a:ext cx="1826764" cy="258608"/>
          </a:xfrm>
          <a:prstGeom prst="rect">
            <a:avLst/>
          </a:prstGeom>
        </p:spPr>
      </p:pic>
      <p:pic>
        <p:nvPicPr>
          <p:cNvPr id="1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199" y="2642476"/>
            <a:ext cx="3159332" cy="785903"/>
          </a:xfrm>
          <a:prstGeom prst="rect">
            <a:avLst/>
          </a:prstGeom>
        </p:spPr>
      </p:pic>
      <p:pic>
        <p:nvPicPr>
          <p:cNvPr id="13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7777" y="2652151"/>
            <a:ext cx="2573149" cy="435889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4234756" y="3120602"/>
            <a:ext cx="24324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defRPr/>
            </a:pPr>
            <a:r>
              <a:rPr lang="en-US" altLang="zh-CN" sz="1200" dirty="0">
                <a:solidFill>
                  <a:schemeClr val="bg2"/>
                </a:solidFill>
                <a:latin typeface="Source Sans Pro" panose="020B0503030403020204"/>
                <a:ea typeface="华文楷体" panose="0201060004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b is the </a:t>
            </a:r>
            <a:r>
              <a:rPr lang="en-US" altLang="zh-CN" sz="1200" dirty="0">
                <a:solidFill>
                  <a:schemeClr val="tx1"/>
                </a:solidFill>
                <a:latin typeface="Source Sans Pro" panose="020B0503030403020204"/>
                <a:ea typeface="华文楷体" panose="0201060004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alias</a:t>
            </a:r>
            <a:r>
              <a:rPr lang="en-US" altLang="zh-CN" sz="1200" dirty="0">
                <a:solidFill>
                  <a:schemeClr val="bg2"/>
                </a:solidFill>
                <a:latin typeface="Source Sans Pro" panose="020B0503030403020204"/>
                <a:ea typeface="华文楷体" panose="0201060004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 of a; c is a copy of a</a:t>
            </a:r>
            <a:endParaRPr lang="en-US" altLang="zh-CN" sz="1200" dirty="0">
              <a:solidFill>
                <a:schemeClr val="bg2"/>
              </a:solidFill>
              <a:latin typeface="Source Sans Pro" panose="020B0503030403020204"/>
              <a:ea typeface="华文楷体" panose="02010600040101010101" pitchFamily="2" charset="-122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199" y="3789958"/>
            <a:ext cx="5026447" cy="602784"/>
          </a:xfrm>
          <a:prstGeom prst="rect">
            <a:avLst/>
          </a:prstGeom>
        </p:spPr>
      </p:pic>
      <p:pic>
        <p:nvPicPr>
          <p:cNvPr id="8" name="Picture 7" descr="A picture containing clock, orange, mounted, hanging&#10;&#10;Description automatically generated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0832" y="3789958"/>
            <a:ext cx="376378" cy="271214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180455" y="155575"/>
            <a:ext cx="276796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a = {1:2, 2:3, 3:4}</a:t>
            </a:r>
            <a:endParaRPr lang="zh-CN" altLang="en-US"/>
          </a:p>
          <a:p>
            <a:r>
              <a:rPr lang="zh-CN" altLang="en-US"/>
              <a:t>b = a</a:t>
            </a:r>
            <a:endParaRPr lang="zh-CN" altLang="en-US"/>
          </a:p>
          <a:p>
            <a:r>
              <a:rPr lang="zh-CN" altLang="en-US"/>
              <a:t>c = a.copy()</a:t>
            </a:r>
            <a:endParaRPr lang="zh-CN" altLang="en-US"/>
          </a:p>
          <a:p>
            <a:r>
              <a:rPr lang="zh-CN" altLang="en-US"/>
              <a:t>b[1] = 0</a:t>
            </a:r>
            <a:endParaRPr lang="zh-CN" altLang="en-US"/>
          </a:p>
          <a:p>
            <a:r>
              <a:rPr lang="zh-CN" altLang="en-US"/>
              <a:t>c[2] = 5</a:t>
            </a:r>
            <a:endParaRPr lang="zh-CN" altLang="en-US"/>
          </a:p>
          <a:p>
            <a:r>
              <a:rPr lang="zh-CN" altLang="en-US"/>
              <a:t>print(a)</a:t>
            </a:r>
            <a:endParaRPr lang="zh-CN" altLang="en-US"/>
          </a:p>
          <a:p>
            <a:r>
              <a:rPr lang="zh-CN" altLang="en-US"/>
              <a:t>print(b)</a:t>
            </a:r>
            <a:endParaRPr lang="zh-CN" altLang="en-US"/>
          </a:p>
          <a:p>
            <a:r>
              <a:rPr lang="zh-CN" altLang="en-US"/>
              <a:t>print(c)</a:t>
            </a:r>
            <a:endParaRPr lang="zh-CN" altLang="en-US"/>
          </a:p>
          <a:p>
            <a:r>
              <a:rPr lang="zh-CN" altLang="en-US"/>
              <a:t>#a,b一起改变，与c互不影响</a:t>
            </a:r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Merge:</a:t>
            </a:r>
            <a:r>
              <a:rPr lang="zh-CN" altLang="en-US" dirty="0"/>
              <a:t> **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|,</a:t>
            </a:r>
            <a:r>
              <a:rPr lang="zh-CN" altLang="en-US" dirty="0"/>
              <a:t> </a:t>
            </a:r>
            <a:r>
              <a:rPr lang="en-US" altLang="zh-CN" dirty="0"/>
              <a:t>update()</a:t>
            </a:r>
            <a:endParaRPr lang="en-US" alt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700" y="990027"/>
            <a:ext cx="8520600" cy="2332013"/>
          </a:xfrm>
        </p:spPr>
        <p:txBody>
          <a:bodyPr>
            <a:noAutofit/>
          </a:bodyPr>
          <a:lstStyle/>
          <a:p>
            <a:r>
              <a:rPr lang="en-US" altLang="zh-CN" sz="1400" dirty="0">
                <a:solidFill>
                  <a:schemeClr val="bg2"/>
                </a:solidFill>
              </a:rPr>
              <a:t>Merge two dictionaries x and y,  z = {**x, **y}(</a:t>
            </a:r>
            <a:r>
              <a:rPr lang="zh-CN" altLang="en-US" sz="1400" dirty="0">
                <a:solidFill>
                  <a:schemeClr val="bg2"/>
                </a:solidFill>
              </a:rPr>
              <a:t>合并字典</a:t>
            </a:r>
            <a:r>
              <a:rPr lang="en-US" altLang="zh-CN" sz="1400" dirty="0">
                <a:solidFill>
                  <a:schemeClr val="bg2"/>
                </a:solidFill>
              </a:rPr>
              <a:t>)</a:t>
            </a:r>
            <a:endParaRPr lang="en-US" altLang="zh-CN" sz="1400" dirty="0">
              <a:solidFill>
                <a:schemeClr val="bg2"/>
              </a:solidFill>
            </a:endParaRPr>
          </a:p>
          <a:p>
            <a:endParaRPr lang="en-US" altLang="zh-CN" sz="1400" dirty="0">
              <a:solidFill>
                <a:schemeClr val="bg2"/>
              </a:solidFill>
            </a:endParaRPr>
          </a:p>
          <a:p>
            <a:endParaRPr lang="en-US" altLang="zh-CN" sz="1400" dirty="0">
              <a:solidFill>
                <a:schemeClr val="bg2"/>
              </a:solidFill>
            </a:endParaRPr>
          </a:p>
          <a:p>
            <a:endParaRPr lang="en-US" altLang="zh-CN" sz="1400" dirty="0">
              <a:solidFill>
                <a:schemeClr val="bg2"/>
              </a:solidFill>
            </a:endParaRPr>
          </a:p>
          <a:p>
            <a:endParaRPr lang="en-US" altLang="zh-CN" sz="1400" dirty="0">
              <a:solidFill>
                <a:schemeClr val="bg2"/>
              </a:solidFill>
            </a:endParaRPr>
          </a:p>
          <a:p>
            <a:endParaRPr lang="en-US" altLang="zh-CN" sz="1400" dirty="0">
              <a:solidFill>
                <a:schemeClr val="bg2"/>
              </a:solidFill>
            </a:endParaRPr>
          </a:p>
          <a:p>
            <a:r>
              <a:rPr lang="en-US" altLang="zh-CN" sz="1400" dirty="0" err="1">
                <a:solidFill>
                  <a:schemeClr val="bg2"/>
                </a:solidFill>
              </a:rPr>
              <a:t>dta.update</a:t>
            </a:r>
            <a:r>
              <a:rPr lang="en-US" altLang="zh-CN" sz="1400" dirty="0">
                <a:solidFill>
                  <a:schemeClr val="bg2"/>
                </a:solidFill>
              </a:rPr>
              <a:t>(</a:t>
            </a:r>
            <a:r>
              <a:rPr lang="en-US" altLang="zh-CN" sz="1400" dirty="0" err="1">
                <a:solidFill>
                  <a:schemeClr val="bg2"/>
                </a:solidFill>
              </a:rPr>
              <a:t>dtb</a:t>
            </a:r>
            <a:r>
              <a:rPr lang="en-US" altLang="zh-CN" sz="1400" dirty="0">
                <a:solidFill>
                  <a:schemeClr val="bg2"/>
                </a:solidFill>
              </a:rPr>
              <a:t>):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return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tx1"/>
                </a:solidFill>
              </a:rPr>
              <a:t>None</a:t>
            </a:r>
            <a:r>
              <a:rPr lang="en-US" altLang="zh-CN" sz="1400" dirty="0">
                <a:solidFill>
                  <a:schemeClr val="bg2"/>
                </a:solidFill>
              </a:rPr>
              <a:t>,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update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 err="1">
                <a:solidFill>
                  <a:schemeClr val="bg2"/>
                </a:solidFill>
              </a:rPr>
              <a:t>dta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in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place</a:t>
            </a:r>
            <a:endParaRPr lang="en-US" altLang="zh-CN" sz="1400" dirty="0">
              <a:solidFill>
                <a:schemeClr val="bg2"/>
              </a:solidFill>
            </a:endParaRPr>
          </a:p>
          <a:p>
            <a:r>
              <a:rPr lang="en-US" altLang="zh-CN" sz="1400" dirty="0" err="1">
                <a:solidFill>
                  <a:schemeClr val="bg2"/>
                </a:solidFill>
              </a:rPr>
              <a:t>dta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|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 err="1">
                <a:solidFill>
                  <a:schemeClr val="bg2"/>
                </a:solidFill>
              </a:rPr>
              <a:t>dtb</a:t>
            </a:r>
            <a:endParaRPr lang="en-US" altLang="zh-CN" sz="1400" dirty="0">
              <a:solidFill>
                <a:schemeClr val="bg2"/>
              </a:solidFill>
            </a:endParaRPr>
          </a:p>
        </p:txBody>
      </p:sp>
      <p:pic>
        <p:nvPicPr>
          <p:cNvPr id="17" name="Picture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588" y="1458385"/>
            <a:ext cx="1992268" cy="665924"/>
          </a:xfrm>
          <a:prstGeom prst="rect">
            <a:avLst/>
          </a:prstGeom>
        </p:spPr>
      </p:pic>
      <p:pic>
        <p:nvPicPr>
          <p:cNvPr id="18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588" y="2315123"/>
            <a:ext cx="3994149" cy="2032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3625" y="1310105"/>
            <a:ext cx="2080820" cy="101229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3625" y="2336110"/>
            <a:ext cx="2349500" cy="2032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6140" y="3059863"/>
            <a:ext cx="2284523" cy="1853834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3867042"/>
            <a:ext cx="3481431" cy="336538"/>
          </a:xfrm>
          <a:prstGeom prst="rect">
            <a:avLst/>
          </a:prstGeom>
        </p:spPr>
      </p:pic>
      <p:sp>
        <p:nvSpPr>
          <p:cNvPr id="4" name="文本框 9"/>
          <p:cNvSpPr txBox="1"/>
          <p:nvPr/>
        </p:nvSpPr>
        <p:spPr>
          <a:xfrm>
            <a:off x="6724995" y="4547591"/>
            <a:ext cx="2107305" cy="4603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defRPr/>
            </a:pPr>
            <a:r>
              <a:rPr lang="zh-CN" altLang="en-US" sz="1200" dirty="0">
                <a:solidFill>
                  <a:schemeClr val="bg2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相同的</a:t>
            </a:r>
            <a:r>
              <a:rPr lang="en-US" altLang="zh-CN" sz="1200" dirty="0">
                <a:solidFill>
                  <a:schemeClr val="bg2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key</a:t>
            </a:r>
            <a:r>
              <a:rPr lang="zh-CN" altLang="en-US" sz="1200" dirty="0">
                <a:solidFill>
                  <a:schemeClr val="bg2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，后面会取代前面（</a:t>
            </a:r>
            <a:r>
              <a:rPr lang="en-US" altLang="zh-CN" sz="1200" dirty="0">
                <a:solidFill>
                  <a:schemeClr val="bg2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{**x,**y}</a:t>
            </a:r>
            <a:r>
              <a:rPr lang="zh-CN" altLang="en-US" sz="1200" dirty="0">
                <a:solidFill>
                  <a:schemeClr val="bg2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中</a:t>
            </a:r>
            <a:r>
              <a:rPr lang="en-US" altLang="zh-CN" sz="1200" dirty="0">
                <a:solidFill>
                  <a:schemeClr val="bg2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y</a:t>
            </a:r>
            <a:r>
              <a:rPr lang="zh-CN" altLang="en-US" sz="1200" dirty="0">
                <a:solidFill>
                  <a:schemeClr val="bg2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会取代</a:t>
            </a:r>
            <a:r>
              <a:rPr lang="en-US" altLang="zh-CN" sz="1200" dirty="0">
                <a:solidFill>
                  <a:schemeClr val="bg2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x</a:t>
            </a:r>
            <a:r>
              <a:rPr lang="zh-CN" altLang="en-US" sz="1200" dirty="0">
                <a:solidFill>
                  <a:schemeClr val="bg2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）</a:t>
            </a:r>
            <a:endParaRPr lang="zh-CN" altLang="en-US" sz="1200" dirty="0">
              <a:solidFill>
                <a:schemeClr val="bg2"/>
              </a:solidFill>
              <a:highlight>
                <a:srgbClr val="FFFF00"/>
              </a:highlight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11785" y="3169285"/>
            <a:ext cx="125031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生成新的字典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626610" y="2626360"/>
            <a:ext cx="20472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修改</a:t>
            </a:r>
            <a:r>
              <a:rPr lang="en-US" altLang="zh-CN"/>
              <a:t>a</a:t>
            </a:r>
            <a:r>
              <a:rPr lang="zh-CN" altLang="en-US">
                <a:ea typeface="宋体" panose="02010600030101010101" pitchFamily="2" charset="-122"/>
              </a:rPr>
              <a:t>而不是重新赋值</a:t>
            </a:r>
            <a:endParaRPr lang="zh-CN" altLang="en-US">
              <a:ea typeface="宋体" panose="02010600030101010101" pitchFamily="2" charset="-122"/>
            </a:endParaRPr>
          </a:p>
        </p:txBody>
      </p:sp>
      <p:cxnSp>
        <p:nvCxnSpPr>
          <p:cNvPr id="10" name="曲线连接符 9"/>
          <p:cNvCxnSpPr/>
          <p:nvPr/>
        </p:nvCxnSpPr>
        <p:spPr>
          <a:xfrm>
            <a:off x="4028440" y="2802890"/>
            <a:ext cx="668020" cy="46355"/>
          </a:xfrm>
          <a:prstGeom prst="curvedConnector3">
            <a:avLst>
              <a:gd name="adj1" fmla="val 38973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Keys(), values(), items()</a:t>
            </a:r>
            <a:endParaRPr lang="en-US" alt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700" y="931623"/>
            <a:ext cx="8520600" cy="1026344"/>
          </a:xfrm>
        </p:spPr>
        <p:txBody>
          <a:bodyPr>
            <a:noAutofit/>
          </a:bodyPr>
          <a:lstStyle/>
          <a:p>
            <a:r>
              <a:rPr lang="en-US" altLang="zh-CN" sz="1400" dirty="0">
                <a:solidFill>
                  <a:schemeClr val="bg2"/>
                </a:solidFill>
              </a:rPr>
              <a:t>For a dictionary </a:t>
            </a:r>
            <a:r>
              <a:rPr lang="en-US" altLang="zh-CN" sz="1400" dirty="0" err="1">
                <a:solidFill>
                  <a:schemeClr val="bg2"/>
                </a:solidFill>
              </a:rPr>
              <a:t>dict</a:t>
            </a:r>
            <a:r>
              <a:rPr lang="en-US" altLang="zh-CN" sz="1400" dirty="0">
                <a:solidFill>
                  <a:schemeClr val="bg2"/>
                </a:solidFill>
              </a:rPr>
              <a:t>, there are several methods to get its useful information:</a:t>
            </a:r>
            <a:endParaRPr lang="en-US" altLang="zh-CN" sz="1400" dirty="0">
              <a:solidFill>
                <a:schemeClr val="bg2"/>
              </a:solidFill>
            </a:endParaRPr>
          </a:p>
          <a:p>
            <a:pPr lvl="1"/>
            <a:r>
              <a:rPr lang="en-US" altLang="zh-CN" sz="1200" dirty="0" err="1">
                <a:solidFill>
                  <a:schemeClr val="bg2"/>
                </a:solidFill>
              </a:rPr>
              <a:t>dict.</a:t>
            </a:r>
            <a:r>
              <a:rPr lang="en-US" altLang="zh-CN" sz="1200" dirty="0" err="1">
                <a:solidFill>
                  <a:schemeClr val="tx1"/>
                </a:solidFill>
              </a:rPr>
              <a:t>keys</a:t>
            </a:r>
            <a:r>
              <a:rPr lang="en-US" altLang="zh-CN" sz="1200" dirty="0">
                <a:solidFill>
                  <a:schemeClr val="tx1"/>
                </a:solidFill>
              </a:rPr>
              <a:t>()</a:t>
            </a:r>
            <a:r>
              <a:rPr lang="en-US" altLang="zh-CN" sz="1200" dirty="0">
                <a:solidFill>
                  <a:schemeClr val="bg2"/>
                </a:solidFill>
              </a:rPr>
              <a:t>, returns all its keys</a:t>
            </a:r>
            <a:endParaRPr lang="en-US" altLang="zh-CN" sz="1200" dirty="0">
              <a:solidFill>
                <a:schemeClr val="bg2"/>
              </a:solidFill>
            </a:endParaRPr>
          </a:p>
          <a:p>
            <a:pPr lvl="1"/>
            <a:r>
              <a:rPr lang="en-US" altLang="zh-CN" sz="1200" dirty="0" err="1">
                <a:solidFill>
                  <a:schemeClr val="bg2"/>
                </a:solidFill>
              </a:rPr>
              <a:t>dict.</a:t>
            </a:r>
            <a:r>
              <a:rPr lang="en-US" altLang="zh-CN" sz="1200" dirty="0" err="1">
                <a:solidFill>
                  <a:schemeClr val="tx1"/>
                </a:solidFill>
              </a:rPr>
              <a:t>values</a:t>
            </a:r>
            <a:r>
              <a:rPr lang="en-US" altLang="zh-CN" sz="1200" dirty="0">
                <a:solidFill>
                  <a:schemeClr val="tx1"/>
                </a:solidFill>
              </a:rPr>
              <a:t>()</a:t>
            </a:r>
            <a:r>
              <a:rPr lang="en-US" altLang="zh-CN" sz="1200" dirty="0">
                <a:solidFill>
                  <a:schemeClr val="bg2"/>
                </a:solidFill>
              </a:rPr>
              <a:t>, returns all its values</a:t>
            </a:r>
            <a:endParaRPr lang="en-US" altLang="zh-CN" sz="1200" dirty="0">
              <a:solidFill>
                <a:schemeClr val="bg2"/>
              </a:solidFill>
            </a:endParaRPr>
          </a:p>
          <a:p>
            <a:pPr lvl="1"/>
            <a:r>
              <a:rPr lang="en-US" altLang="zh-CN" sz="1200" dirty="0" err="1">
                <a:solidFill>
                  <a:schemeClr val="bg2"/>
                </a:solidFill>
              </a:rPr>
              <a:t>dict.</a:t>
            </a:r>
            <a:r>
              <a:rPr lang="en-US" altLang="zh-CN" sz="1200" dirty="0" err="1">
                <a:solidFill>
                  <a:schemeClr val="tx1"/>
                </a:solidFill>
              </a:rPr>
              <a:t>items</a:t>
            </a:r>
            <a:r>
              <a:rPr lang="en-US" altLang="zh-CN" sz="1200" dirty="0">
                <a:solidFill>
                  <a:schemeClr val="tx1"/>
                </a:solidFill>
              </a:rPr>
              <a:t>()</a:t>
            </a:r>
            <a:r>
              <a:rPr lang="en-US" altLang="zh-CN" sz="1200" dirty="0">
                <a:solidFill>
                  <a:schemeClr val="bg2"/>
                </a:solidFill>
              </a:rPr>
              <a:t>, returns all its items (key:</a:t>
            </a:r>
            <a:r>
              <a:rPr lang="zh-CN" altLang="en-US" sz="1200" dirty="0">
                <a:solidFill>
                  <a:schemeClr val="bg2"/>
                </a:solidFill>
              </a:rPr>
              <a:t> </a:t>
            </a:r>
            <a:r>
              <a:rPr lang="en-US" altLang="zh-CN" sz="1200" dirty="0">
                <a:solidFill>
                  <a:schemeClr val="bg2"/>
                </a:solidFill>
              </a:rPr>
              <a:t>value pairs) </a:t>
            </a:r>
            <a:endParaRPr lang="en-US" altLang="zh-CN" sz="1200" dirty="0">
              <a:solidFill>
                <a:schemeClr val="bg2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11700" y="3697130"/>
            <a:ext cx="4392158" cy="324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3429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Source Sans Pro" panose="020B0503030403020204"/>
              <a:buChar char="●"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ource Sans Pro" panose="020B0503030403020204"/>
                <a:ea typeface="Source Sans Pro" panose="020B0503030403020204"/>
                <a:sym typeface="Source Sans Pro" panose="020B0503030403020204"/>
              </a:rPr>
              <a:t>in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Sans Pro" panose="020B0503030403020204"/>
                <a:ea typeface="Source Sans Pro" panose="020B0503030403020204"/>
                <a:sym typeface="Source Sans Pro" panose="020B0503030403020204"/>
              </a:rPr>
              <a:t> and 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ource Sans Pro" panose="020B0503030403020204"/>
                <a:ea typeface="Source Sans Pro" panose="020B0503030403020204"/>
                <a:sym typeface="Source Sans Pro" panose="020B0503030403020204"/>
              </a:rPr>
              <a:t>not in </a:t>
            </a:r>
            <a:r>
              <a:rPr lang="en-US" altLang="zh-CN" dirty="0">
                <a:latin typeface="Source Sans Pro" panose="020B0503030403020204"/>
                <a:ea typeface="Source Sans Pro" panose="020B0503030403020204"/>
                <a:sym typeface="Source Sans Pro" panose="020B0503030403020204"/>
              </a:rPr>
              <a:t>are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Sans Pro" panose="020B0503030403020204"/>
                <a:ea typeface="Source Sans Pro" panose="020B0503030403020204"/>
                <a:sym typeface="Source Sans Pro" panose="020B0503030403020204"/>
              </a:rPr>
              <a:t> used to test the membership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ource Sans Pro" panose="020B0503030403020204"/>
              <a:ea typeface="Source Sans Pro" panose="020B0503030403020204"/>
              <a:sym typeface="Source Sans Pro" panose="020B0503030403020204"/>
            </a:endParaRPr>
          </a:p>
        </p:txBody>
      </p:sp>
      <p:pic>
        <p:nvPicPr>
          <p:cNvPr id="7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890" y="1956145"/>
            <a:ext cx="4392158" cy="744434"/>
          </a:xfrm>
          <a:prstGeom prst="rect">
            <a:avLst/>
          </a:prstGeom>
        </p:spPr>
      </p:pic>
      <p:pic>
        <p:nvPicPr>
          <p:cNvPr id="8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890" y="2785743"/>
            <a:ext cx="5705800" cy="586800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890" y="4090730"/>
            <a:ext cx="2139105" cy="698024"/>
          </a:xfrm>
          <a:prstGeom prst="rect">
            <a:avLst/>
          </a:prstGeom>
        </p:spPr>
      </p:pic>
      <p:pic>
        <p:nvPicPr>
          <p:cNvPr id="20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4657" y="4090730"/>
            <a:ext cx="596360" cy="609914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208972" y="3396337"/>
            <a:ext cx="6989772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defRPr/>
            </a:pPr>
            <a:r>
              <a:rPr lang="en-US" altLang="zh-CN" sz="1200" dirty="0" err="1">
                <a:solidFill>
                  <a:schemeClr val="bg2"/>
                </a:solidFill>
                <a:highlight>
                  <a:srgbClr val="FFFF00"/>
                </a:highlight>
                <a:latin typeface="Source Sans Pro" panose="020B0503030403020204"/>
                <a:ea typeface="华文楷体" panose="0201060004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dict.keys</a:t>
            </a:r>
            <a:r>
              <a:rPr lang="en-US" altLang="zh-CN" sz="1200" dirty="0">
                <a:solidFill>
                  <a:schemeClr val="bg2"/>
                </a:solidFill>
                <a:highlight>
                  <a:srgbClr val="FFFF00"/>
                </a:highlight>
                <a:latin typeface="Source Sans Pro" panose="020B0503030403020204"/>
                <a:ea typeface="华文楷体" panose="0201060004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(), </a:t>
            </a:r>
            <a:r>
              <a:rPr lang="en-US" altLang="zh-CN" sz="1200" dirty="0" err="1">
                <a:solidFill>
                  <a:schemeClr val="bg2"/>
                </a:solidFill>
                <a:highlight>
                  <a:srgbClr val="FFFF00"/>
                </a:highlight>
                <a:latin typeface="Source Sans Pro" panose="020B0503030403020204"/>
                <a:ea typeface="华文楷体" panose="0201060004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dict.values</a:t>
            </a:r>
            <a:r>
              <a:rPr lang="en-US" altLang="zh-CN" sz="1200" dirty="0">
                <a:solidFill>
                  <a:schemeClr val="bg2"/>
                </a:solidFill>
                <a:highlight>
                  <a:srgbClr val="FFFF00"/>
                </a:highlight>
                <a:latin typeface="Source Sans Pro" panose="020B0503030403020204"/>
                <a:ea typeface="华文楷体" panose="0201060004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(), and </a:t>
            </a:r>
            <a:r>
              <a:rPr lang="en-US" altLang="zh-CN" sz="1200" dirty="0" err="1">
                <a:solidFill>
                  <a:schemeClr val="bg2"/>
                </a:solidFill>
                <a:highlight>
                  <a:srgbClr val="FFFF00"/>
                </a:highlight>
                <a:latin typeface="Source Sans Pro" panose="020B0503030403020204"/>
                <a:ea typeface="华文楷体" panose="0201060004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dict.items</a:t>
            </a:r>
            <a:r>
              <a:rPr lang="en-US" altLang="zh-CN" sz="1200" dirty="0">
                <a:solidFill>
                  <a:schemeClr val="bg2"/>
                </a:solidFill>
                <a:highlight>
                  <a:srgbClr val="FFFF00"/>
                </a:highlight>
                <a:latin typeface="Source Sans Pro" panose="020B0503030403020204"/>
                <a:ea typeface="华文楷体" panose="0201060004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() will not directly return a </a:t>
            </a:r>
            <a:r>
              <a:rPr lang="en-US" altLang="zh-CN" sz="1200" dirty="0">
                <a:solidFill>
                  <a:schemeClr val="tx1"/>
                </a:solidFill>
                <a:highlight>
                  <a:srgbClr val="FFFF00"/>
                </a:highlight>
                <a:latin typeface="Source Sans Pro" panose="020B0503030403020204"/>
                <a:ea typeface="华文楷体" panose="0201060004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list</a:t>
            </a:r>
            <a:r>
              <a:rPr lang="en-US" altLang="zh-CN" sz="1200" dirty="0">
                <a:solidFill>
                  <a:schemeClr val="bg2"/>
                </a:solidFill>
                <a:highlight>
                  <a:srgbClr val="FFFF00"/>
                </a:highlight>
                <a:latin typeface="Source Sans Pro" panose="020B0503030403020204"/>
                <a:ea typeface="华文楷体" panose="0201060004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. You should transform yourself.</a:t>
            </a:r>
            <a:r>
              <a:rPr lang="zh-CN" altLang="en-US" sz="1200" dirty="0">
                <a:solidFill>
                  <a:schemeClr val="bg2"/>
                </a:solidFill>
                <a:highlight>
                  <a:srgbClr val="FFFF00"/>
                </a:highlight>
                <a:latin typeface="Source Sans Pro" panose="020B0503030403020204"/>
                <a:ea typeface="华文楷体" panose="0201060004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（不会直接返回</a:t>
            </a:r>
            <a:r>
              <a:rPr lang="zh-CN" altLang="en-US" sz="1200" dirty="0">
                <a:solidFill>
                  <a:schemeClr val="bg2"/>
                </a:solidFill>
                <a:highlight>
                  <a:srgbClr val="FFFF00"/>
                </a:highlight>
                <a:latin typeface="Source Sans Pro" panose="020B0503030403020204"/>
                <a:ea typeface="华文楷体" panose="0201060004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列表）</a:t>
            </a:r>
            <a:endParaRPr lang="zh-CN" altLang="en-US" sz="1200" dirty="0">
              <a:solidFill>
                <a:schemeClr val="bg2"/>
              </a:solidFill>
              <a:highlight>
                <a:srgbClr val="FFFF00"/>
              </a:highlight>
              <a:latin typeface="Source Sans Pro" panose="020B0503030403020204"/>
              <a:ea typeface="华文楷体" panose="02010600040101010101" pitchFamily="2" charset="-122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668520" y="4138295"/>
            <a:ext cx="10528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判断</a:t>
            </a:r>
            <a:r>
              <a:rPr lang="en-US" altLang="zh-CN"/>
              <a:t>key</a:t>
            </a:r>
            <a:r>
              <a:rPr lang="zh-CN" altLang="en-US">
                <a:ea typeface="宋体" panose="02010600030101010101" pitchFamily="2" charset="-122"/>
              </a:rPr>
              <a:t>在不在里面</a:t>
            </a:r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Loop Through a Dictionary</a:t>
            </a:r>
            <a:br>
              <a:rPr lang="en-US" altLang="zh-CN" dirty="0"/>
            </a:br>
            <a:br>
              <a:rPr lang="en-US" altLang="zh-CN" dirty="0"/>
            </a:br>
            <a:br>
              <a:rPr lang="en-US" altLang="zh-CN" dirty="0"/>
            </a:br>
            <a:endParaRPr lang="en-US" alt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23542" y="963320"/>
            <a:ext cx="8274048" cy="2020512"/>
          </a:xfrm>
        </p:spPr>
        <p:txBody>
          <a:bodyPr numCol="1">
            <a:norm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1400" dirty="0">
                <a:solidFill>
                  <a:schemeClr val="bg2"/>
                </a:solidFill>
              </a:rPr>
              <a:t>Print all key names in the dictionary, one by one:</a:t>
            </a:r>
            <a:endParaRPr lang="en-US" altLang="zh-CN" sz="1400" dirty="0">
              <a:solidFill>
                <a:schemeClr val="bg2"/>
              </a:solidFill>
            </a:endParaRPr>
          </a:p>
          <a:p>
            <a:pPr lvl="1"/>
            <a:r>
              <a:rPr lang="en-US" altLang="zh-CN" sz="1200" dirty="0">
                <a:solidFill>
                  <a:schemeClr val="bg2"/>
                </a:solidFill>
              </a:rPr>
              <a:t>for x in </a:t>
            </a:r>
            <a:r>
              <a:rPr lang="en-US" altLang="zh-CN" sz="1200" dirty="0" err="1">
                <a:solidFill>
                  <a:schemeClr val="bg2"/>
                </a:solidFill>
              </a:rPr>
              <a:t>dict</a:t>
            </a:r>
            <a:r>
              <a:rPr lang="en-US" altLang="zh-CN" sz="1200" dirty="0">
                <a:solidFill>
                  <a:schemeClr val="bg2"/>
                </a:solidFill>
              </a:rPr>
              <a:t>: print(x)</a:t>
            </a:r>
            <a:endParaRPr lang="en-US" altLang="zh-CN" sz="1200" dirty="0">
              <a:solidFill>
                <a:schemeClr val="bg2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1400" dirty="0">
                <a:solidFill>
                  <a:schemeClr val="bg2"/>
                </a:solidFill>
              </a:rPr>
              <a:t>Print all values in the dictionary, one by one:</a:t>
            </a:r>
            <a:endParaRPr lang="en-US" altLang="zh-CN" sz="1400" dirty="0">
              <a:solidFill>
                <a:schemeClr val="bg2"/>
              </a:solidFill>
            </a:endParaRPr>
          </a:p>
          <a:p>
            <a:pPr lvl="1"/>
            <a:r>
              <a:rPr lang="en-US" altLang="zh-CN" sz="1200" dirty="0">
                <a:solidFill>
                  <a:schemeClr val="bg2"/>
                </a:solidFill>
              </a:rPr>
              <a:t>for x in </a:t>
            </a:r>
            <a:r>
              <a:rPr lang="en-US" altLang="zh-CN" sz="1200" dirty="0" err="1">
                <a:solidFill>
                  <a:schemeClr val="bg2"/>
                </a:solidFill>
              </a:rPr>
              <a:t>dict</a:t>
            </a:r>
            <a:r>
              <a:rPr lang="en-US" altLang="zh-CN" sz="1200" dirty="0">
                <a:solidFill>
                  <a:schemeClr val="bg2"/>
                </a:solidFill>
              </a:rPr>
              <a:t>: print(</a:t>
            </a:r>
            <a:r>
              <a:rPr lang="en-US" altLang="zh-CN" sz="1200" dirty="0" err="1">
                <a:solidFill>
                  <a:schemeClr val="bg2"/>
                </a:solidFill>
              </a:rPr>
              <a:t>dict</a:t>
            </a:r>
            <a:r>
              <a:rPr lang="en-US" altLang="zh-CN" sz="1200" dirty="0">
                <a:solidFill>
                  <a:schemeClr val="bg2"/>
                </a:solidFill>
              </a:rPr>
              <a:t>[x])</a:t>
            </a:r>
            <a:endParaRPr lang="en-US" altLang="zh-CN" sz="1200" dirty="0">
              <a:solidFill>
                <a:schemeClr val="bg2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1400" dirty="0">
                <a:solidFill>
                  <a:schemeClr val="bg2"/>
                </a:solidFill>
              </a:rPr>
              <a:t>You can also use the values() method to return values of a dictionary:</a:t>
            </a:r>
            <a:endParaRPr lang="en-US" altLang="zh-CN" sz="1400" dirty="0">
              <a:solidFill>
                <a:schemeClr val="bg2"/>
              </a:solidFill>
            </a:endParaRPr>
          </a:p>
          <a:p>
            <a:pPr lvl="1"/>
            <a:r>
              <a:rPr lang="en-US" altLang="zh-CN" sz="1200" dirty="0">
                <a:solidFill>
                  <a:schemeClr val="bg2"/>
                </a:solidFill>
              </a:rPr>
              <a:t>for x in </a:t>
            </a:r>
            <a:r>
              <a:rPr lang="en-US" altLang="zh-CN" sz="1200" dirty="0" err="1">
                <a:solidFill>
                  <a:schemeClr val="bg2"/>
                </a:solidFill>
              </a:rPr>
              <a:t>thisdict.values</a:t>
            </a:r>
            <a:r>
              <a:rPr lang="en-US" altLang="zh-CN" sz="1200" dirty="0">
                <a:solidFill>
                  <a:schemeClr val="bg2"/>
                </a:solidFill>
              </a:rPr>
              <a:t>(): print(x)</a:t>
            </a:r>
            <a:endParaRPr lang="en-US" altLang="zh-CN" sz="1200" dirty="0">
              <a:solidFill>
                <a:schemeClr val="bg2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1400" dirty="0">
                <a:solidFill>
                  <a:schemeClr val="bg2"/>
                </a:solidFill>
              </a:rPr>
              <a:t>Loop through both keys and values, by using the items() method:</a:t>
            </a:r>
            <a:endParaRPr lang="en-US" altLang="zh-CN" sz="1400" dirty="0">
              <a:solidFill>
                <a:schemeClr val="bg2"/>
              </a:solidFill>
            </a:endParaRPr>
          </a:p>
          <a:p>
            <a:pPr lvl="1"/>
            <a:r>
              <a:rPr lang="en-US" altLang="zh-CN" sz="1200" dirty="0">
                <a:solidFill>
                  <a:schemeClr val="bg2"/>
                </a:solidFill>
              </a:rPr>
              <a:t>for x in </a:t>
            </a:r>
            <a:r>
              <a:rPr lang="en-US" altLang="zh-CN" sz="1200" dirty="0" err="1">
                <a:solidFill>
                  <a:schemeClr val="bg2"/>
                </a:solidFill>
              </a:rPr>
              <a:t>thisdict.items</a:t>
            </a:r>
            <a:r>
              <a:rPr lang="en-US" altLang="zh-CN" sz="1200" dirty="0">
                <a:solidFill>
                  <a:schemeClr val="bg2"/>
                </a:solidFill>
              </a:rPr>
              <a:t>(): print(x,</a:t>
            </a:r>
            <a:r>
              <a:rPr lang="zh-CN" altLang="en-US" sz="1200" dirty="0">
                <a:solidFill>
                  <a:schemeClr val="bg2"/>
                </a:solidFill>
              </a:rPr>
              <a:t> </a:t>
            </a:r>
            <a:r>
              <a:rPr lang="en-US" altLang="zh-CN" sz="1200" dirty="0">
                <a:solidFill>
                  <a:schemeClr val="bg2"/>
                </a:solidFill>
              </a:rPr>
              <a:t>y)</a:t>
            </a:r>
            <a:endParaRPr lang="en-US" altLang="zh-CN" sz="1200" dirty="0">
              <a:solidFill>
                <a:schemeClr val="bg2"/>
              </a:solidFill>
            </a:endParaRPr>
          </a:p>
        </p:txBody>
      </p:sp>
      <p:pic>
        <p:nvPicPr>
          <p:cNvPr id="10" name="Picture 2" descr="Text&#10;&#10;Description automatically generated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261" y="2983832"/>
            <a:ext cx="5182712" cy="1828800"/>
          </a:xfrm>
          <a:prstGeom prst="rect">
            <a:avLst/>
          </a:prstGeom>
        </p:spPr>
      </p:pic>
      <p:pic>
        <p:nvPicPr>
          <p:cNvPr id="11" name="Picture 7" descr="Text, whiteboard&#10;&#10;Description automatically generated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5592" y="1978680"/>
            <a:ext cx="823096" cy="283395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Dictionary Methods</a:t>
            </a:r>
            <a:br>
              <a:rPr lang="en-US" altLang="zh-CN" dirty="0"/>
            </a:br>
            <a:br>
              <a:rPr lang="en-US" altLang="zh-CN" dirty="0"/>
            </a:br>
            <a:br>
              <a:rPr lang="en-US" altLang="zh-CN" dirty="0"/>
            </a:br>
            <a:br>
              <a:rPr lang="en-US" altLang="zh-CN" dirty="0"/>
            </a:br>
            <a:br>
              <a:rPr lang="en-US" altLang="zh-CN" dirty="0"/>
            </a:br>
            <a:endParaRPr lang="en-US" alt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700" y="920416"/>
            <a:ext cx="6991658" cy="449022"/>
          </a:xfrm>
        </p:spPr>
        <p:txBody>
          <a:bodyPr numCol="1">
            <a:norm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1400" dirty="0">
                <a:solidFill>
                  <a:schemeClr val="bg2"/>
                </a:solidFill>
              </a:rPr>
              <a:t>Python has a set of built-in methods that you can use on dictionaries.</a:t>
            </a:r>
            <a:endParaRPr lang="en-US" altLang="zh-CN" sz="1400" dirty="0">
              <a:solidFill>
                <a:schemeClr val="bg2"/>
              </a:solidFill>
            </a:endParaRPr>
          </a:p>
        </p:txBody>
      </p:sp>
      <p:graphicFrame>
        <p:nvGraphicFramePr>
          <p:cNvPr id="4" name="Table 5"/>
          <p:cNvGraphicFramePr>
            <a:graphicFrameLocks noGrp="1"/>
          </p:cNvGraphicFramePr>
          <p:nvPr/>
        </p:nvGraphicFramePr>
        <p:xfrm>
          <a:off x="418901" y="1273690"/>
          <a:ext cx="7825061" cy="3683466"/>
        </p:xfrm>
        <a:graphic>
          <a:graphicData uri="http://schemas.openxmlformats.org/drawingml/2006/table">
            <a:tbl>
              <a:tblPr firstRow="1" bandRow="1"/>
              <a:tblGrid>
                <a:gridCol w="1806840"/>
                <a:gridCol w="6018221"/>
              </a:tblGrid>
              <a:tr h="281154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1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1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1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1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1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1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1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1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1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9pPr>
                    </a:lstStyle>
                    <a:p>
                      <a:pPr algn="l" fontAlgn="t"/>
                      <a:r>
                        <a:rPr lang="en-US" sz="1000" dirty="0"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Method</a:t>
                      </a:r>
                      <a:endParaRPr lang="en-US" sz="1000" dirty="0"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76200" marT="76200" marB="76200"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254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1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1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1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1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1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1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1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1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1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9pPr>
                    </a:lstStyle>
                    <a:p>
                      <a:pPr algn="l" fontAlgn="t"/>
                      <a:r>
                        <a:rPr lang="en-US" sz="1000"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  <a:endParaRPr lang="en-US" sz="1000"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254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81154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9pPr>
                    </a:lstStyle>
                    <a:p>
                      <a:pPr algn="l" fontAlgn="t"/>
                      <a:r>
                        <a:rPr lang="en-US" sz="1000" dirty="0"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clear()</a:t>
                      </a:r>
                      <a:endParaRPr lang="en-US" sz="1000" dirty="0"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76200" marT="76200" marB="76200"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254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9pPr>
                    </a:lstStyle>
                    <a:p>
                      <a:pPr algn="l" fontAlgn="t"/>
                      <a:r>
                        <a:rPr lang="en-US" sz="1000" dirty="0"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Removes all the elements from the dictionary</a:t>
                      </a:r>
                      <a:endParaRPr lang="en-US" sz="1000" dirty="0"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254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20000"/>
                      </a:srgbClr>
                    </a:solidFill>
                  </a:tcPr>
                </a:tc>
              </a:tr>
              <a:tr h="30480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9pPr>
                    </a:lstStyle>
                    <a:p>
                      <a:pPr algn="l" fontAlgn="t"/>
                      <a:r>
                        <a:rPr lang="en-US" sz="1000" dirty="0"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copy()</a:t>
                      </a:r>
                      <a:endParaRPr lang="en-US" sz="1000" dirty="0"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76200" marT="76200" marB="76200"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9pPr>
                    </a:lstStyle>
                    <a:p>
                      <a:pPr algn="l" fontAlgn="t"/>
                      <a:r>
                        <a:rPr lang="en-US" sz="1000"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Returns a copy of the dictionary</a:t>
                      </a:r>
                      <a:endParaRPr lang="en-US" sz="1000"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81154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9pPr>
                    </a:lstStyle>
                    <a:p>
                      <a:pPr algn="l" fontAlgn="t"/>
                      <a:r>
                        <a:rPr lang="en-US" sz="1000" dirty="0"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fromkeys()</a:t>
                      </a:r>
                      <a:endParaRPr lang="en-US" sz="1000" dirty="0"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76200" marT="76200" marB="76200"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9pPr>
                    </a:lstStyle>
                    <a:p>
                      <a:pPr algn="l" fontAlgn="t"/>
                      <a:r>
                        <a:rPr lang="en-US" sz="1000"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Returns a dictionary with the specified keys and value</a:t>
                      </a:r>
                      <a:endParaRPr lang="en-US" sz="1000"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20000"/>
                      </a:srgbClr>
                    </a:solidFill>
                  </a:tcPr>
                </a:tc>
              </a:tr>
              <a:tr h="281154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9pPr>
                    </a:lstStyle>
                    <a:p>
                      <a:pPr algn="l" fontAlgn="t"/>
                      <a:r>
                        <a:rPr lang="en-US" sz="1000" dirty="0"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get()</a:t>
                      </a:r>
                      <a:endParaRPr lang="en-US" sz="1000" dirty="0"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76200" marT="76200" marB="76200"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9pPr>
                    </a:lstStyle>
                    <a:p>
                      <a:pPr algn="l" fontAlgn="t"/>
                      <a:r>
                        <a:rPr lang="en-US" sz="1000"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Returns the value of the specified key</a:t>
                      </a:r>
                      <a:endParaRPr lang="en-US" sz="1000"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81154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9pPr>
                    </a:lstStyle>
                    <a:p>
                      <a:pPr algn="l" fontAlgn="t"/>
                      <a:r>
                        <a:rPr lang="en-US" sz="1000" dirty="0"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items()</a:t>
                      </a:r>
                      <a:endParaRPr lang="en-US" sz="1000" dirty="0"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76200" marT="76200" marB="76200"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9pPr>
                    </a:lstStyle>
                    <a:p>
                      <a:pPr algn="l" fontAlgn="t"/>
                      <a:r>
                        <a:rPr lang="en-US" sz="1000" dirty="0"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Returns all the tuples for each key value pair</a:t>
                      </a:r>
                      <a:endParaRPr lang="en-US" sz="1000" dirty="0"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20000"/>
                      </a:srgbClr>
                    </a:solidFill>
                  </a:tcPr>
                </a:tc>
              </a:tr>
              <a:tr h="281154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9pPr>
                    </a:lstStyle>
                    <a:p>
                      <a:pPr algn="l" fontAlgn="t"/>
                      <a:r>
                        <a:rPr lang="en-US" sz="1000" dirty="0"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keys()</a:t>
                      </a:r>
                      <a:endParaRPr lang="en-US" sz="1000" dirty="0"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76200" marT="76200" marB="76200"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9pPr>
                    </a:lstStyle>
                    <a:p>
                      <a:pPr algn="l" fontAlgn="t"/>
                      <a:r>
                        <a:rPr lang="en-US" sz="1000" dirty="0"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Returns all the dictionary's keys</a:t>
                      </a:r>
                      <a:endParaRPr lang="en-US" sz="1000" dirty="0"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81154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9pPr>
                    </a:lstStyle>
                    <a:p>
                      <a:pPr algn="l" fontAlgn="t"/>
                      <a:r>
                        <a:rPr lang="en-US" sz="1000" dirty="0"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pop()</a:t>
                      </a:r>
                      <a:endParaRPr lang="en-US" sz="1000" dirty="0"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76200" marT="76200" marB="76200"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9pPr>
                    </a:lstStyle>
                    <a:p>
                      <a:pPr algn="l" fontAlgn="t"/>
                      <a:r>
                        <a:rPr lang="en-US" sz="1000" dirty="0"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Removes the element with the specified key</a:t>
                      </a:r>
                      <a:endParaRPr lang="en-US" sz="1000" dirty="0"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20000"/>
                      </a:srgbClr>
                    </a:solidFill>
                  </a:tcPr>
                </a:tc>
              </a:tr>
              <a:tr h="281154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9pPr>
                    </a:lstStyle>
                    <a:p>
                      <a:pPr algn="l" fontAlgn="t"/>
                      <a:r>
                        <a:rPr lang="en-US" sz="1000" dirty="0" err="1"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popitem</a:t>
                      </a:r>
                      <a:r>
                        <a:rPr lang="en-US" sz="1000" dirty="0"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()</a:t>
                      </a:r>
                      <a:endParaRPr lang="en-US" sz="1000" dirty="0"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76200" marT="76200" marB="76200"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9pPr>
                    </a:lstStyle>
                    <a:p>
                      <a:pPr algn="l" fontAlgn="t"/>
                      <a:r>
                        <a:rPr lang="en-US" sz="1000" dirty="0"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Removes the last inserted key-value pair</a:t>
                      </a:r>
                      <a:endParaRPr lang="en-US" sz="1000" dirty="0"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30666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9pPr>
                    </a:lstStyle>
                    <a:p>
                      <a:pPr algn="l" fontAlgn="t"/>
                      <a:r>
                        <a:rPr lang="en-US" sz="1000" dirty="0" err="1"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setdefault</a:t>
                      </a:r>
                      <a:r>
                        <a:rPr lang="en-US" sz="1000" dirty="0"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()</a:t>
                      </a:r>
                      <a:endParaRPr lang="en-US" sz="1000" dirty="0"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76200" marT="76200" marB="76200"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9pPr>
                    </a:lstStyle>
                    <a:p>
                      <a:pPr algn="l" fontAlgn="t"/>
                      <a:r>
                        <a:rPr lang="en-US" sz="1000" dirty="0"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Returns the value of the specified key. If the key does not exist: insert the key, with the specified value</a:t>
                      </a:r>
                      <a:endParaRPr lang="en-US" sz="1000" dirty="0"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20000"/>
                      </a:srgbClr>
                    </a:solidFill>
                  </a:tcPr>
                </a:tc>
              </a:tr>
              <a:tr h="281154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9pPr>
                    </a:lstStyle>
                    <a:p>
                      <a:pPr algn="l" fontAlgn="t"/>
                      <a:r>
                        <a:rPr lang="en-US" sz="1000" dirty="0"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update()</a:t>
                      </a:r>
                      <a:endParaRPr lang="en-US" sz="1000" dirty="0"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76200" marT="76200" marB="76200"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9pPr>
                    </a:lstStyle>
                    <a:p>
                      <a:pPr algn="l" fontAlgn="t"/>
                      <a:r>
                        <a:rPr lang="en-US" sz="1000" dirty="0"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Updates the dictionary with the specified key-value pairs</a:t>
                      </a:r>
                      <a:endParaRPr lang="en-US" sz="1000" dirty="0"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81154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9pPr>
                    </a:lstStyle>
                    <a:p>
                      <a:pPr algn="l" fontAlgn="t"/>
                      <a:r>
                        <a:rPr lang="en-US" sz="1000" dirty="0"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values()</a:t>
                      </a:r>
                      <a:endParaRPr lang="en-US" sz="1000" dirty="0"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76200" marT="76200" marB="76200"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400" b="0" i="0" u="none" strike="noStrike" cap="none">
                          <a:solidFill>
                            <a:schemeClr val="tx1"/>
                          </a:solidFill>
                          <a:latin typeface="Tw Cen MT" panose="020B0602020104020603"/>
                          <a:sym typeface="Arial" panose="020B0604020202020204"/>
                        </a:defRPr>
                      </a:lvl9pPr>
                    </a:lstStyle>
                    <a:p>
                      <a:pPr algn="l" fontAlgn="t"/>
                      <a:r>
                        <a:rPr lang="en-US" sz="1000" dirty="0"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Returns all the values in the dictionary</a:t>
                      </a:r>
                      <a:endParaRPr lang="en-US" sz="1000" dirty="0"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>
                    <a:lnL w="12700" cmpd="sng">
                      <a:solidFill>
                        <a:srgbClr val="A5A5A5"/>
                      </a:solidFill>
                    </a:lnL>
                    <a:lnR w="12700" cmpd="sng">
                      <a:solidFill>
                        <a:srgbClr val="A5A5A5"/>
                      </a:solidFill>
                    </a:lnR>
                    <a:lnT w="12700" cmpd="sng">
                      <a:solidFill>
                        <a:srgbClr val="A5A5A5"/>
                      </a:solidFill>
                    </a:lnT>
                    <a:lnB w="12700" cmpd="sng">
                      <a:solidFill>
                        <a:srgbClr val="A5A5A5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2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Dict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应用：统计数量</a:t>
            </a:r>
            <a:br>
              <a:rPr lang="zh-CN" altLang="en-US" dirty="0"/>
            </a:br>
            <a:br>
              <a:rPr lang="zh-CN" altLang="en-US" dirty="0"/>
            </a:br>
            <a:br>
              <a:rPr lang="en-US" altLang="zh-CN" dirty="0"/>
            </a:br>
            <a:br>
              <a:rPr lang="en-US" altLang="zh-CN" dirty="0"/>
            </a:br>
            <a:endParaRPr lang="en-US" altLang="zh-CN" dirty="0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>
          <a:xfrm>
            <a:off x="311700" y="1068425"/>
            <a:ext cx="8520600" cy="2250646"/>
          </a:xfrm>
        </p:spPr>
        <p:txBody>
          <a:bodyPr>
            <a:normAutofit/>
          </a:bodyPr>
          <a:lstStyle/>
          <a:p>
            <a:r>
              <a:rPr lang="en-GB" altLang="zh-CN" sz="1400" dirty="0" err="1">
                <a:solidFill>
                  <a:schemeClr val="bg2"/>
                </a:solidFill>
              </a:rPr>
              <a:t>Dict</a:t>
            </a:r>
            <a:r>
              <a:rPr lang="zh-CN" altLang="en-US" sz="1400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的结构中</a:t>
            </a:r>
            <a:r>
              <a:rPr lang="en-GB" altLang="zh-CN" sz="1400" dirty="0">
                <a:solidFill>
                  <a:schemeClr val="bg2"/>
                </a:solidFill>
              </a:rPr>
              <a:t>key: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GB" altLang="zh-CN" sz="1400" dirty="0">
                <a:solidFill>
                  <a:schemeClr val="bg2"/>
                </a:solidFill>
              </a:rPr>
              <a:t>value, </a:t>
            </a:r>
            <a:r>
              <a:rPr lang="zh-CN" altLang="en-US" sz="1400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其中</a:t>
            </a:r>
            <a:r>
              <a:rPr lang="en-GB" altLang="zh-CN" sz="14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value</a:t>
            </a:r>
            <a:r>
              <a:rPr lang="zh-CN" altLang="en-US" sz="1400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可用来保存有用的信息，譬如数量</a:t>
            </a:r>
            <a:endParaRPr lang="zh-CN" altLang="en-US" sz="1400" dirty="0">
              <a:solidFill>
                <a:schemeClr val="bg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1400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给定一篇文章，统计每个单词出现的数量 </a:t>
            </a:r>
            <a:r>
              <a:rPr lang="en-US" altLang="zh-CN" sz="1200" dirty="0">
                <a:solidFill>
                  <a:schemeClr val="bg2"/>
                </a:solidFill>
                <a:hlinkClick r:id="rId1"/>
              </a:rPr>
              <a:t>https://www.abrahamlincolnonline.org/lincoln/speeches/gettysburg.htm</a:t>
            </a:r>
            <a:r>
              <a:rPr lang="en-US" altLang="zh-CN" sz="1200" dirty="0">
                <a:solidFill>
                  <a:schemeClr val="bg2"/>
                </a:solidFill>
              </a:rPr>
              <a:t> </a:t>
            </a:r>
            <a:r>
              <a:rPr lang="en-US" altLang="zh-CN" sz="1200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TW" altLang="en-US" sz="1200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葛底斯堡演</a:t>
            </a:r>
            <a:r>
              <a:rPr lang="zh-CN" altLang="en-US" sz="1200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说</a:t>
            </a:r>
            <a:r>
              <a:rPr lang="en-US" altLang="zh-CN" sz="1200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en-GB" altLang="zh-CN" sz="1200" dirty="0">
              <a:solidFill>
                <a:schemeClr val="bg2"/>
              </a:solidFill>
            </a:endParaRPr>
          </a:p>
          <a:p>
            <a:pPr marL="114300" indent="0">
              <a:buNone/>
            </a:pPr>
            <a:r>
              <a:rPr lang="en-GB" altLang="zh-CN" sz="1200" dirty="0">
                <a:solidFill>
                  <a:schemeClr val="bg2"/>
                </a:solidFill>
              </a:rPr>
              <a:t>speech = '''</a:t>
            </a:r>
            <a:endParaRPr lang="en-GB" altLang="zh-CN" sz="1200" dirty="0">
              <a:solidFill>
                <a:schemeClr val="bg2"/>
              </a:solidFill>
            </a:endParaRPr>
          </a:p>
          <a:p>
            <a:pPr marL="114300" indent="0">
              <a:buNone/>
            </a:pPr>
            <a:r>
              <a:rPr lang="en-US" altLang="zh-CN" sz="1200" dirty="0">
                <a:solidFill>
                  <a:schemeClr val="bg2"/>
                </a:solidFill>
              </a:rPr>
              <a:t>Four score and seven years ago our fathers brought forth on this continent, a new nation, conceived in Liberty, and dedicated to the proposition that all men are created equal.</a:t>
            </a:r>
            <a:endParaRPr lang="en-US" altLang="zh-CN" sz="1200" dirty="0">
              <a:solidFill>
                <a:schemeClr val="bg2"/>
              </a:solidFill>
            </a:endParaRPr>
          </a:p>
          <a:p>
            <a:pPr marL="114300" indent="0">
              <a:buNone/>
            </a:pPr>
            <a:r>
              <a:rPr lang="en-GB" altLang="zh-CN" sz="1200" dirty="0">
                <a:solidFill>
                  <a:schemeClr val="bg2"/>
                </a:solidFill>
              </a:rPr>
              <a:t>…</a:t>
            </a:r>
            <a:endParaRPr lang="en-GB" altLang="zh-CN" sz="1200" dirty="0">
              <a:solidFill>
                <a:schemeClr val="bg2"/>
              </a:solidFill>
            </a:endParaRPr>
          </a:p>
          <a:p>
            <a:pPr marL="114300" indent="0">
              <a:buNone/>
            </a:pPr>
            <a:r>
              <a:rPr lang="en-GB" altLang="zh-CN" sz="1200" dirty="0">
                <a:solidFill>
                  <a:schemeClr val="bg2"/>
                </a:solidFill>
              </a:rPr>
              <a:t>'''</a:t>
            </a:r>
            <a:endParaRPr lang="en-GB" altLang="zh-CN" sz="1200" dirty="0">
              <a:solidFill>
                <a:schemeClr val="bg2"/>
              </a:solidFill>
            </a:endParaRPr>
          </a:p>
        </p:txBody>
      </p:sp>
      <p:pic>
        <p:nvPicPr>
          <p:cNvPr id="6" name="Picture 16" descr="Text&#10;&#10;Description automatically generated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5603" y="2490378"/>
            <a:ext cx="4181123" cy="182924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25" y="4334098"/>
            <a:ext cx="9093550" cy="794532"/>
          </a:xfrm>
          <a:prstGeom prst="rect">
            <a:avLst/>
          </a:prstGeom>
        </p:spPr>
      </p:pic>
      <p:sp>
        <p:nvSpPr>
          <p:cNvPr id="7" name="文本框 9"/>
          <p:cNvSpPr txBox="1"/>
          <p:nvPr/>
        </p:nvSpPr>
        <p:spPr>
          <a:xfrm>
            <a:off x="6963877" y="3561402"/>
            <a:ext cx="1748148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defRPr/>
            </a:pPr>
            <a:r>
              <a:rPr lang="en-US" altLang="zh-CN" sz="1200" dirty="0" err="1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dict</a:t>
            </a:r>
            <a:r>
              <a:rPr lang="zh-CN" altLang="en-US" sz="1200" dirty="0">
                <a:solidFill>
                  <a:schemeClr val="bg2"/>
                </a:solidFill>
                <a:latin typeface="Source Sans Pro" panose="020B0503030403020204" pitchFamily="34" charset="0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查找、插入、删除比</a:t>
            </a:r>
            <a:r>
              <a:rPr lang="en-US" altLang="zh-CN" sz="12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list</a:t>
            </a:r>
            <a:r>
              <a:rPr lang="zh-CN" altLang="en-US" sz="1200" dirty="0">
                <a:solidFill>
                  <a:schemeClr val="bg2"/>
                </a:solidFill>
                <a:latin typeface="Source Sans Pro" panose="020B0503030403020204" pitchFamily="34" charset="0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快很多</a:t>
            </a:r>
            <a:endParaRPr lang="en-US" altLang="zh-CN" sz="1200" dirty="0">
              <a:solidFill>
                <a:schemeClr val="bg2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286760" y="2607945"/>
            <a:ext cx="20161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分解为一个个单词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err="1"/>
              <a:t>Dict</a:t>
            </a:r>
            <a:r>
              <a:rPr lang="en-US" altLang="zh-CN" dirty="0"/>
              <a:t>: more examples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719412"/>
          </a:xfrm>
        </p:spPr>
        <p:txBody>
          <a:bodyPr>
            <a:normAutofit/>
          </a:bodyPr>
          <a:lstStyle/>
          <a:p>
            <a:r>
              <a:rPr lang="en-US" sz="1400" dirty="0">
                <a:solidFill>
                  <a:schemeClr val="bg2"/>
                </a:solidFill>
              </a:rPr>
              <a:t>Replace conditional expression</a:t>
            </a:r>
            <a:endParaRPr lang="en-US" sz="1400" dirty="0">
              <a:solidFill>
                <a:schemeClr val="bg2"/>
              </a:solidFill>
            </a:endParaRPr>
          </a:p>
          <a:p>
            <a:r>
              <a:rPr lang="en-US" sz="1400" dirty="0">
                <a:solidFill>
                  <a:schemeClr val="bg2"/>
                </a:solidFill>
              </a:rPr>
              <a:t>Graph theory: weight</a:t>
            </a:r>
            <a:r>
              <a:rPr lang="en-US" altLang="zh-CN" sz="1400" dirty="0">
                <a:solidFill>
                  <a:schemeClr val="bg2"/>
                </a:solidFill>
              </a:rPr>
              <a:t>ed</a:t>
            </a:r>
            <a:r>
              <a:rPr lang="en-US" sz="1400" dirty="0">
                <a:solidFill>
                  <a:schemeClr val="bg2"/>
                </a:solidFill>
              </a:rPr>
              <a:t> graph</a:t>
            </a:r>
            <a:endParaRPr lang="en-US" sz="1400" dirty="0">
              <a:solidFill>
                <a:schemeClr val="bg2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067" y="2004955"/>
            <a:ext cx="3329248" cy="184414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619" y="2004955"/>
            <a:ext cx="4243712" cy="71534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067" y="3991025"/>
            <a:ext cx="325546" cy="19291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853364"/>
            <a:ext cx="185548" cy="17229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584067" y="4509762"/>
                <a:ext cx="236417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比</a:t>
                </a:r>
                <a:r>
                  <a:rPr lang="en-US" altLang="zh-CN" sz="12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if-</a:t>
                </a:r>
                <a:r>
                  <a:rPr lang="en-US" altLang="zh-CN" sz="1200" dirty="0" err="1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elif</a:t>
                </a:r>
                <a:r>
                  <a:rPr lang="en-US" altLang="zh-CN" sz="12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-else</a:t>
                </a:r>
                <a:r>
                  <a:rPr lang="zh-CN" altLang="en-US" sz="12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更清晰</a:t>
                </a:r>
                <a:r>
                  <a:rPr lang="en-US" altLang="zh-CN" sz="12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,</a:t>
                </a:r>
                <a:r>
                  <a:rPr lang="zh-CN" altLang="en-US" sz="12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配合</a:t>
                </a:r>
                <a14:m>
                  <m:oMath xmlns:m="http://schemas.openxmlformats.org/officeDocument/2006/math">
                    <m:r>
                      <a:rPr lang="en-US" altLang="zh-CN" sz="12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𝜆</m:t>
                    </m:r>
                  </m:oMath>
                </a14:m>
                <a:r>
                  <a:rPr lang="zh-CN" altLang="en-US" sz="12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表达式</a:t>
                </a:r>
                <a:endParaRPr lang="en-US" sz="12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067" y="4509762"/>
                <a:ext cx="2364173" cy="276999"/>
              </a:xfrm>
              <a:prstGeom prst="rect">
                <a:avLst/>
              </a:prstGeom>
              <a:blipFill rotWithShape="1">
                <a:blip r:embed="rId5"/>
                <a:stretch>
                  <a:fillRect l="-21" t="-226" r="24" b="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/>
          <p:cNvGrpSpPr/>
          <p:nvPr/>
        </p:nvGrpSpPr>
        <p:grpSpPr>
          <a:xfrm>
            <a:off x="5416233" y="2896451"/>
            <a:ext cx="2553682" cy="2048968"/>
            <a:chOff x="5230687" y="2791128"/>
            <a:chExt cx="2905151" cy="2290136"/>
          </a:xfrm>
        </p:grpSpPr>
        <p:graphicFrame>
          <p:nvGraphicFramePr>
            <p:cNvPr id="13" name="Diagram 12"/>
            <p:cNvGraphicFramePr/>
            <p:nvPr/>
          </p:nvGraphicFramePr>
          <p:xfrm>
            <a:off x="5230687" y="2791128"/>
            <a:ext cx="2905151" cy="2290136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6" r:lo="rId7" r:qs="rId8" r:cs="rId9"/>
            </a:graphicData>
          </a:graphic>
        </p:graphicFrame>
        <p:sp>
          <p:nvSpPr>
            <p:cNvPr id="15" name="TextBox 14"/>
            <p:cNvSpPr txBox="1"/>
            <p:nvPr/>
          </p:nvSpPr>
          <p:spPr>
            <a:xfrm>
              <a:off x="6411849" y="3572098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3</a:t>
              </a:r>
              <a:endParaRPr lang="en-US" sz="1200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176467" y="4371262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1</a:t>
              </a:r>
              <a:endParaRPr lang="en-US" sz="1200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021339" y="4183941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4</a:t>
              </a:r>
              <a:endParaRPr lang="en-US" sz="1200" dirty="0"/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4867910" y="814070"/>
            <a:ext cx="24485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字典是跳着搜索的，这和列表不同。</a:t>
            </a:r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String</a:t>
            </a:r>
            <a:endParaRPr kumimoji="1" lang="zh-CN" altLang="en-US" dirty="0"/>
          </a:p>
        </p:txBody>
      </p:sp>
      <p:pic>
        <p:nvPicPr>
          <p:cNvPr id="4" name="Picture 6" descr="Image result for string dna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1288" y="2968394"/>
            <a:ext cx="3057692" cy="1834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GB" altLang="zh-CN" dirty="0"/>
              <a:t>String: Review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Lecture</a:t>
            </a:r>
            <a:r>
              <a:rPr kumimoji="1" lang="zh-CN" altLang="en-US" dirty="0"/>
              <a:t> </a:t>
            </a:r>
            <a:r>
              <a:rPr kumimoji="1" lang="en-US" altLang="zh-CN" dirty="0"/>
              <a:t>3</a:t>
            </a:r>
            <a:br>
              <a:rPr kumimoji="1" lang="en-GB" altLang="zh-CN" dirty="0"/>
            </a:b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700" y="1086596"/>
            <a:ext cx="8520600" cy="3826225"/>
          </a:xfrm>
        </p:spPr>
        <p:txBody>
          <a:bodyPr>
            <a:noAutofit/>
          </a:bodyPr>
          <a:lstStyle/>
          <a:p>
            <a:pPr>
              <a:buClr>
                <a:schemeClr val="tx2"/>
              </a:buClr>
            </a:pPr>
            <a:r>
              <a:rPr kumimoji="1" lang="en-US" altLang="zh-CN" sz="1400" dirty="0">
                <a:solidFill>
                  <a:schemeClr val="bg2"/>
                </a:solidFill>
              </a:rPr>
              <a:t>String can be defined by “…”, ’…’, and “““…”””.</a:t>
            </a:r>
            <a:r>
              <a:rPr kumimoji="1" lang="zh-CN" altLang="en-US" sz="1400" dirty="0">
                <a:solidFill>
                  <a:schemeClr val="bg2"/>
                </a:solidFill>
              </a:rPr>
              <a:t> </a:t>
            </a:r>
            <a:r>
              <a:rPr kumimoji="1" lang="en-US" altLang="zh-CN" sz="1400" dirty="0">
                <a:solidFill>
                  <a:schemeClr val="bg2"/>
                </a:solidFill>
              </a:rPr>
              <a:t>str().</a:t>
            </a:r>
            <a:r>
              <a:rPr kumimoji="1" lang="zh-CN" altLang="en-US" sz="1400" dirty="0">
                <a:solidFill>
                  <a:schemeClr val="bg2"/>
                </a:solidFill>
              </a:rPr>
              <a:t> </a:t>
            </a:r>
            <a:r>
              <a:rPr kumimoji="1" lang="en-US" altLang="zh-CN" sz="1400" dirty="0">
                <a:solidFill>
                  <a:schemeClr val="bg2"/>
                </a:solidFill>
              </a:rPr>
              <a:t>Escape character: “\n”, “\t”</a:t>
            </a:r>
            <a:endParaRPr kumimoji="1" lang="en-US" altLang="zh-CN" sz="1400" dirty="0">
              <a:solidFill>
                <a:schemeClr val="bg2"/>
              </a:solidFill>
            </a:endParaRPr>
          </a:p>
          <a:p>
            <a:pPr>
              <a:buClr>
                <a:schemeClr val="tx2"/>
              </a:buClr>
            </a:pPr>
            <a:r>
              <a:rPr kumimoji="1" lang="en-US" altLang="zh-CN" sz="1400" dirty="0">
                <a:solidFill>
                  <a:schemeClr val="bg2"/>
                </a:solidFill>
                <a:highlight>
                  <a:srgbClr val="FFFF00"/>
                </a:highlight>
              </a:rPr>
              <a:t>input(): always returns a string</a:t>
            </a:r>
            <a:endParaRPr kumimoji="1" lang="en-GB" altLang="zh-CN" sz="1400" dirty="0">
              <a:solidFill>
                <a:schemeClr val="bg2"/>
              </a:solidFill>
              <a:highlight>
                <a:srgbClr val="FFFF00"/>
              </a:highlight>
            </a:endParaRPr>
          </a:p>
          <a:p>
            <a:pPr>
              <a:buClr>
                <a:schemeClr val="tx2"/>
              </a:buClr>
            </a:pPr>
            <a:r>
              <a:rPr kumimoji="1" lang="en-GB" altLang="zh-CN" sz="1400" dirty="0">
                <a:solidFill>
                  <a:schemeClr val="bg2"/>
                </a:solidFill>
              </a:rPr>
              <a:t>String is</a:t>
            </a:r>
            <a:r>
              <a:rPr kumimoji="1" lang="zh-CN" altLang="en-US" sz="1400" dirty="0">
                <a:solidFill>
                  <a:schemeClr val="bg2"/>
                </a:solidFill>
              </a:rPr>
              <a:t> </a:t>
            </a:r>
            <a:r>
              <a:rPr kumimoji="1" lang="en-US" altLang="zh-CN" sz="1400" dirty="0">
                <a:solidFill>
                  <a:schemeClr val="bg2"/>
                </a:solidFill>
              </a:rPr>
              <a:t>an</a:t>
            </a:r>
            <a:r>
              <a:rPr kumimoji="1" lang="zh-CN" altLang="en-US" sz="1400" dirty="0">
                <a:solidFill>
                  <a:schemeClr val="bg2"/>
                </a:solidFill>
              </a:rPr>
              <a:t> </a:t>
            </a:r>
            <a:r>
              <a:rPr kumimoji="1" lang="en-GB" altLang="zh-CN" sz="1400" dirty="0">
                <a:solidFill>
                  <a:schemeClr val="tx1"/>
                </a:solidFill>
                <a:highlight>
                  <a:srgbClr val="FFFF00"/>
                </a:highlight>
              </a:rPr>
              <a:t>immutable</a:t>
            </a:r>
            <a:r>
              <a:rPr kumimoji="1" lang="zh-CN" altLang="en-US" sz="1400" dirty="0">
                <a:solidFill>
                  <a:schemeClr val="tx1"/>
                </a:solidFill>
              </a:rPr>
              <a:t> </a:t>
            </a:r>
            <a:r>
              <a:rPr kumimoji="1" lang="en-US" altLang="zh-CN" sz="1400" dirty="0">
                <a:solidFill>
                  <a:schemeClr val="tx1"/>
                </a:solidFill>
              </a:rPr>
              <a:t>list</a:t>
            </a:r>
            <a:r>
              <a:rPr kumimoji="1" lang="en-GB" altLang="zh-CN" sz="1400" dirty="0">
                <a:solidFill>
                  <a:schemeClr val="bg2"/>
                </a:solidFill>
              </a:rPr>
              <a:t>. You cannot change a string. Yet you can </a:t>
            </a:r>
            <a:r>
              <a:rPr kumimoji="1" lang="en-GB" altLang="zh-CN" sz="1400" dirty="0">
                <a:solidFill>
                  <a:schemeClr val="tx1"/>
                </a:solidFill>
              </a:rPr>
              <a:t>reassign or create </a:t>
            </a:r>
            <a:r>
              <a:rPr kumimoji="1" lang="en-GB" altLang="zh-CN" sz="1400" dirty="0">
                <a:solidFill>
                  <a:schemeClr val="bg2"/>
                </a:solidFill>
              </a:rPr>
              <a:t>it</a:t>
            </a:r>
            <a:endParaRPr kumimoji="1" lang="en-GB" altLang="zh-CN" sz="1400" dirty="0">
              <a:solidFill>
                <a:schemeClr val="bg2"/>
              </a:solidFill>
            </a:endParaRPr>
          </a:p>
          <a:p>
            <a:pPr lvl="1">
              <a:buClr>
                <a:schemeClr val="tx2"/>
              </a:buClr>
            </a:pPr>
            <a:r>
              <a:rPr kumimoji="1" lang="en-GB" altLang="zh-CN" sz="1200" dirty="0">
                <a:solidFill>
                  <a:schemeClr val="tx1"/>
                </a:solidFill>
              </a:rPr>
              <a:t>[]:</a:t>
            </a:r>
            <a:r>
              <a:rPr kumimoji="1" lang="en-GB" altLang="zh-CN" sz="1200" dirty="0">
                <a:solidFill>
                  <a:schemeClr val="bg2"/>
                </a:solidFill>
              </a:rPr>
              <a:t> String can be accessed by </a:t>
            </a:r>
            <a:r>
              <a:rPr kumimoji="1" lang="en-GB" altLang="zh-CN" sz="1200" dirty="0">
                <a:solidFill>
                  <a:schemeClr val="tx1"/>
                </a:solidFill>
              </a:rPr>
              <a:t>str[</a:t>
            </a:r>
            <a:r>
              <a:rPr kumimoji="1" lang="en-GB" altLang="zh-CN" sz="1200" dirty="0" err="1">
                <a:solidFill>
                  <a:schemeClr val="tx1"/>
                </a:solidFill>
              </a:rPr>
              <a:t>i</a:t>
            </a:r>
            <a:r>
              <a:rPr kumimoji="1" lang="en-GB" altLang="zh-CN" sz="1200" dirty="0">
                <a:solidFill>
                  <a:schemeClr val="tx1"/>
                </a:solidFill>
              </a:rPr>
              <a:t>]</a:t>
            </a:r>
            <a:r>
              <a:rPr kumimoji="1" lang="en-US" altLang="en-GB" sz="1200" dirty="0">
                <a:solidFill>
                  <a:schemeClr val="tx1"/>
                </a:solidFill>
              </a:rPr>
              <a:t>(str[i] = “a” #error)</a:t>
            </a:r>
            <a:endParaRPr kumimoji="1" lang="en-GB" altLang="zh-CN" sz="1200" dirty="0">
              <a:solidFill>
                <a:schemeClr val="tx1"/>
              </a:solidFill>
            </a:endParaRPr>
          </a:p>
          <a:p>
            <a:pPr lvl="1">
              <a:buClr>
                <a:schemeClr val="tx2"/>
              </a:buClr>
            </a:pPr>
            <a:r>
              <a:rPr kumimoji="1" lang="en-GB" altLang="zh-CN" sz="1200" dirty="0">
                <a:solidFill>
                  <a:schemeClr val="tx1"/>
                </a:solidFill>
              </a:rPr>
              <a:t>str[start: stop: step]: </a:t>
            </a:r>
            <a:r>
              <a:rPr kumimoji="1" lang="en-GB" altLang="zh-CN" sz="1200" dirty="0">
                <a:solidFill>
                  <a:schemeClr val="bg2"/>
                </a:solidFill>
              </a:rPr>
              <a:t>The rule for a slice of the string are the same with list and tuple</a:t>
            </a:r>
            <a:endParaRPr kumimoji="1" lang="en-GB" altLang="zh-CN" sz="1200" dirty="0">
              <a:solidFill>
                <a:schemeClr val="bg2"/>
              </a:solidFill>
            </a:endParaRPr>
          </a:p>
          <a:p>
            <a:pPr lvl="1">
              <a:buClr>
                <a:schemeClr val="tx2"/>
              </a:buClr>
            </a:pPr>
            <a:r>
              <a:rPr kumimoji="1" lang="en-GB" altLang="zh-CN" sz="1200" dirty="0" err="1">
                <a:solidFill>
                  <a:schemeClr val="tx1"/>
                </a:solidFill>
              </a:rPr>
              <a:t>len</a:t>
            </a:r>
            <a:r>
              <a:rPr kumimoji="1" lang="en-GB" altLang="zh-CN" sz="1200" dirty="0">
                <a:solidFill>
                  <a:schemeClr val="tx1"/>
                </a:solidFill>
              </a:rPr>
              <a:t>(str), </a:t>
            </a:r>
            <a:r>
              <a:rPr kumimoji="1" lang="en-GB" altLang="zh-CN" sz="1200" dirty="0">
                <a:solidFill>
                  <a:schemeClr val="bg2"/>
                </a:solidFill>
              </a:rPr>
              <a:t>returns the length of a string</a:t>
            </a:r>
            <a:endParaRPr kumimoji="1" lang="en-GB" altLang="zh-CN" sz="1200" dirty="0">
              <a:solidFill>
                <a:schemeClr val="bg2"/>
              </a:solidFill>
            </a:endParaRPr>
          </a:p>
          <a:p>
            <a:pPr lvl="1">
              <a:buClr>
                <a:schemeClr val="tx2"/>
              </a:buClr>
            </a:pPr>
            <a:r>
              <a:rPr kumimoji="1" lang="en-GB" altLang="zh-CN" sz="1200" dirty="0">
                <a:solidFill>
                  <a:schemeClr val="tx1"/>
                </a:solidFill>
              </a:rPr>
              <a:t>+</a:t>
            </a:r>
            <a:r>
              <a:rPr kumimoji="1" lang="en-GB" altLang="zh-CN" sz="1200" dirty="0">
                <a:solidFill>
                  <a:schemeClr val="bg2"/>
                </a:solidFill>
              </a:rPr>
              <a:t>: str1 + str2, returns the concatenation of two strings</a:t>
            </a:r>
            <a:endParaRPr kumimoji="1" lang="en-GB" altLang="zh-CN" sz="1200" dirty="0">
              <a:solidFill>
                <a:schemeClr val="bg2"/>
              </a:solidFill>
            </a:endParaRPr>
          </a:p>
          <a:p>
            <a:pPr lvl="1">
              <a:buClr>
                <a:schemeClr val="tx2"/>
              </a:buClr>
            </a:pPr>
            <a:r>
              <a:rPr kumimoji="1" lang="en-GB" altLang="zh-CN" sz="1200" dirty="0">
                <a:solidFill>
                  <a:schemeClr val="tx1"/>
                </a:solidFill>
              </a:rPr>
              <a:t>*</a:t>
            </a:r>
            <a:r>
              <a:rPr kumimoji="1" lang="en-GB" altLang="zh-CN" sz="1200" dirty="0">
                <a:solidFill>
                  <a:schemeClr val="bg2"/>
                </a:solidFill>
              </a:rPr>
              <a:t>: str*n, repeats the string n times (What if 𝑛≤0?)</a:t>
            </a:r>
            <a:endParaRPr kumimoji="1" lang="en-GB" altLang="zh-CN" sz="1200" dirty="0">
              <a:solidFill>
                <a:schemeClr val="bg2"/>
              </a:solidFill>
            </a:endParaRPr>
          </a:p>
          <a:p>
            <a:pPr lvl="1">
              <a:buClr>
                <a:schemeClr val="tx2"/>
              </a:buClr>
            </a:pPr>
            <a:r>
              <a:rPr kumimoji="1" lang="en-GB" altLang="zh-CN" sz="1200" dirty="0">
                <a:solidFill>
                  <a:schemeClr val="bg2"/>
                </a:solidFill>
              </a:rPr>
              <a:t>Loop:   for x </a:t>
            </a:r>
            <a:r>
              <a:rPr kumimoji="1" lang="en-GB" altLang="zh-CN" sz="1200" dirty="0">
                <a:solidFill>
                  <a:schemeClr val="tx1"/>
                </a:solidFill>
              </a:rPr>
              <a:t>in</a:t>
            </a:r>
            <a:r>
              <a:rPr kumimoji="1" lang="en-GB" altLang="zh-CN" sz="1200" dirty="0">
                <a:solidFill>
                  <a:schemeClr val="bg2"/>
                </a:solidFill>
              </a:rPr>
              <a:t> str1:</a:t>
            </a:r>
            <a:r>
              <a:rPr kumimoji="1" lang="zh-CN" altLang="en-US" sz="1200" dirty="0">
                <a:solidFill>
                  <a:schemeClr val="bg2"/>
                </a:solidFill>
              </a:rPr>
              <a:t> </a:t>
            </a:r>
            <a:r>
              <a:rPr kumimoji="1" lang="en-US" altLang="zh-CN" sz="1200" dirty="0" err="1">
                <a:solidFill>
                  <a:schemeClr val="bg2"/>
                </a:solidFill>
              </a:rPr>
              <a:t>do_sth</a:t>
            </a:r>
            <a:r>
              <a:rPr kumimoji="1" lang="en-US" altLang="zh-CN" sz="1200" dirty="0">
                <a:solidFill>
                  <a:schemeClr val="bg2"/>
                </a:solidFill>
              </a:rPr>
              <a:t>()</a:t>
            </a:r>
            <a:endParaRPr kumimoji="1" lang="en-GB" altLang="zh-CN" sz="1200" dirty="0">
              <a:solidFill>
                <a:schemeClr val="bg2"/>
              </a:solidFill>
            </a:endParaRPr>
          </a:p>
          <a:p>
            <a:pPr>
              <a:buClr>
                <a:schemeClr val="tx2"/>
              </a:buClr>
            </a:pPr>
            <a:r>
              <a:rPr kumimoji="1" lang="en-US" altLang="zh-CN" sz="1400" dirty="0">
                <a:solidFill>
                  <a:schemeClr val="bg2"/>
                </a:solidFill>
              </a:rPr>
              <a:t>Alphabetical order : &gt;, &lt;, &gt;=, &lt;=, !=, ==</a:t>
            </a:r>
            <a:endParaRPr kumimoji="1" lang="en-US" altLang="zh-CN" sz="1400" dirty="0">
              <a:solidFill>
                <a:schemeClr val="bg2"/>
              </a:solidFill>
            </a:endParaRPr>
          </a:p>
          <a:p>
            <a:pPr>
              <a:buClr>
                <a:schemeClr val="tx2"/>
              </a:buClr>
            </a:pPr>
            <a:r>
              <a:rPr kumimoji="1" lang="en-US" altLang="zh-CN" sz="1400" dirty="0">
                <a:solidFill>
                  <a:schemeClr val="bg2"/>
                </a:solidFill>
              </a:rPr>
              <a:t>String format</a:t>
            </a:r>
            <a:endParaRPr kumimoji="1" lang="en-US" altLang="zh-CN" sz="1400" dirty="0">
              <a:solidFill>
                <a:schemeClr val="bg2"/>
              </a:solidFill>
            </a:endParaRPr>
          </a:p>
          <a:p>
            <a:pPr lvl="1">
              <a:buClr>
                <a:schemeClr val="tx2"/>
              </a:buClr>
            </a:pPr>
            <a:r>
              <a:rPr kumimoji="1" lang="en-US" altLang="zh-CN" sz="1200" dirty="0">
                <a:solidFill>
                  <a:schemeClr val="bg2"/>
                </a:solidFill>
              </a:rPr>
              <a:t>C-style</a:t>
            </a:r>
            <a:endParaRPr kumimoji="1" lang="en-US" altLang="zh-CN" sz="1200" dirty="0">
              <a:solidFill>
                <a:schemeClr val="bg2"/>
              </a:solidFill>
            </a:endParaRPr>
          </a:p>
          <a:p>
            <a:pPr lvl="1">
              <a:buClr>
                <a:schemeClr val="tx2"/>
              </a:buClr>
            </a:pPr>
            <a:r>
              <a:rPr kumimoji="1" lang="en-US" altLang="zh-CN" sz="1200" dirty="0">
                <a:solidFill>
                  <a:schemeClr val="bg2"/>
                </a:solidFill>
              </a:rPr>
              <a:t>“{}. ..{}”.format(x, y)</a:t>
            </a:r>
            <a:endParaRPr kumimoji="1" lang="en-US" altLang="zh-CN" sz="1200" dirty="0">
              <a:solidFill>
                <a:schemeClr val="bg2"/>
              </a:solidFill>
            </a:endParaRPr>
          </a:p>
          <a:p>
            <a:pPr lvl="1">
              <a:buClr>
                <a:schemeClr val="tx2"/>
              </a:buClr>
            </a:pPr>
            <a:r>
              <a:rPr kumimoji="1" lang="en-US" altLang="zh-CN" sz="1200" dirty="0">
                <a:solidFill>
                  <a:schemeClr val="bg2"/>
                </a:solidFill>
              </a:rPr>
              <a:t>F-string: f</a:t>
            </a:r>
            <a:r>
              <a:rPr kumimoji="1" lang="zh-CN" altLang="en-US" sz="1200" dirty="0">
                <a:solidFill>
                  <a:schemeClr val="bg2"/>
                </a:solidFill>
              </a:rPr>
              <a:t>“</a:t>
            </a:r>
            <a:r>
              <a:rPr kumimoji="1" lang="en-US" altLang="zh-CN" sz="1200" dirty="0">
                <a:solidFill>
                  <a:schemeClr val="bg2"/>
                </a:solidFill>
              </a:rPr>
              <a:t>{x}…{y}</a:t>
            </a:r>
            <a:r>
              <a:rPr kumimoji="1" lang="zh-CN" altLang="en-US" sz="1200" dirty="0">
                <a:solidFill>
                  <a:schemeClr val="bg2"/>
                </a:solidFill>
              </a:rPr>
              <a:t>”</a:t>
            </a:r>
            <a:endParaRPr kumimoji="1" lang="en-GB" altLang="zh-CN" sz="1200" dirty="0">
              <a:solidFill>
                <a:schemeClr val="bg2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192298" y="4811725"/>
            <a:ext cx="1836615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defRPr/>
            </a:pPr>
            <a:r>
              <a:rPr lang="en-US" altLang="zh-CN" sz="1200" dirty="0">
                <a:solidFill>
                  <a:schemeClr val="bg2"/>
                </a:solidFill>
                <a:latin typeface="Source Sans Pro" panose="020B0503030403020204"/>
                <a:ea typeface="华文楷体" panose="0201060004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string is an </a:t>
            </a:r>
            <a:r>
              <a:rPr lang="en-US" altLang="zh-CN" sz="1200" dirty="0">
                <a:solidFill>
                  <a:schemeClr val="tx1"/>
                </a:solidFill>
                <a:latin typeface="Source Sans Pro" panose="020B0503030403020204"/>
                <a:ea typeface="华文楷体" panose="0201060004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immutable</a:t>
            </a:r>
            <a:r>
              <a:rPr lang="en-US" altLang="zh-CN" sz="1200" dirty="0">
                <a:solidFill>
                  <a:schemeClr val="bg2"/>
                </a:solidFill>
                <a:latin typeface="Source Sans Pro" panose="020B0503030403020204"/>
                <a:ea typeface="华文楷体" panose="0201060004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 list!</a:t>
            </a:r>
            <a:endParaRPr lang="en-US" altLang="zh-CN" sz="1200" dirty="0">
              <a:solidFill>
                <a:schemeClr val="bg2"/>
              </a:solidFill>
              <a:latin typeface="Source Sans Pro" panose="020B0503030403020204"/>
              <a:ea typeface="华文楷体" panose="02010600040101010101" pitchFamily="2" charset="-122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277235" y="1443990"/>
            <a:ext cx="240601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每一个元素都是字符</a:t>
            </a:r>
            <a:endParaRPr lang="zh-CN" altLang="en-US"/>
          </a:p>
        </p:txBody>
      </p:sp>
      <p:cxnSp>
        <p:nvCxnSpPr>
          <p:cNvPr id="5" name="曲线连接符 4"/>
          <p:cNvCxnSpPr/>
          <p:nvPr/>
        </p:nvCxnSpPr>
        <p:spPr>
          <a:xfrm flipV="1">
            <a:off x="2637790" y="1620520"/>
            <a:ext cx="788035" cy="125095"/>
          </a:xfrm>
          <a:prstGeom prst="curvedConnector3">
            <a:avLst>
              <a:gd name="adj1" fmla="val 5004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GB" altLang="zh-CN" dirty="0"/>
              <a:t>split(): split a string</a:t>
            </a:r>
            <a:br>
              <a:rPr kumimoji="1" lang="en-GB" altLang="zh-CN" dirty="0"/>
            </a:br>
            <a:br>
              <a:rPr kumimoji="1" lang="en-GB" altLang="zh-CN" dirty="0"/>
            </a:b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1236409"/>
          </a:xfrm>
        </p:spPr>
        <p:txBody>
          <a:bodyPr>
            <a:noAutofit/>
          </a:bodyPr>
          <a:lstStyle/>
          <a:p>
            <a:r>
              <a:rPr kumimoji="1" lang="en-GB" altLang="zh-CN" sz="1400" dirty="0" err="1">
                <a:solidFill>
                  <a:schemeClr val="bg2"/>
                </a:solidFill>
              </a:rPr>
              <a:t>str.split</a:t>
            </a:r>
            <a:r>
              <a:rPr kumimoji="1" lang="en-GB" altLang="zh-CN" sz="1400" dirty="0">
                <a:solidFill>
                  <a:schemeClr val="bg2"/>
                </a:solidFill>
              </a:rPr>
              <a:t>(): Split a string into a</a:t>
            </a:r>
            <a:r>
              <a:rPr kumimoji="1" lang="en-GB" altLang="zh-CN" sz="1400" dirty="0">
                <a:solidFill>
                  <a:srgbClr val="C00000"/>
                </a:solidFill>
              </a:rPr>
              <a:t> </a:t>
            </a:r>
            <a:r>
              <a:rPr kumimoji="1" lang="en-GB" altLang="zh-CN" sz="1400" dirty="0">
                <a:solidFill>
                  <a:schemeClr val="tx1"/>
                </a:solidFill>
              </a:rPr>
              <a:t>list</a:t>
            </a:r>
            <a:r>
              <a:rPr kumimoji="1" lang="en-GB" altLang="zh-CN" sz="1400" dirty="0">
                <a:solidFill>
                  <a:srgbClr val="C00000"/>
                </a:solidFill>
              </a:rPr>
              <a:t> </a:t>
            </a:r>
            <a:r>
              <a:rPr kumimoji="1" lang="en-GB" altLang="zh-CN" sz="1400" dirty="0">
                <a:solidFill>
                  <a:schemeClr val="bg2"/>
                </a:solidFill>
              </a:rPr>
              <a:t>where </a:t>
            </a:r>
            <a:r>
              <a:rPr kumimoji="1" lang="en-GB" altLang="zh-CN" sz="1400" dirty="0">
                <a:solidFill>
                  <a:schemeClr val="tx1"/>
                </a:solidFill>
              </a:rPr>
              <a:t>each word </a:t>
            </a:r>
            <a:r>
              <a:rPr kumimoji="1" lang="en-GB" altLang="zh-CN" sz="1400" dirty="0">
                <a:solidFill>
                  <a:schemeClr val="bg2"/>
                </a:solidFill>
              </a:rPr>
              <a:t>is a list item:</a:t>
            </a:r>
            <a:endParaRPr kumimoji="1" lang="en-GB" altLang="zh-CN" sz="1400" dirty="0">
              <a:solidFill>
                <a:schemeClr val="bg2"/>
              </a:solidFill>
            </a:endParaRPr>
          </a:p>
          <a:p>
            <a:pPr marL="114300" indent="0">
              <a:buNone/>
            </a:pPr>
            <a:r>
              <a:rPr kumimoji="1" lang="en-GB" altLang="zh-CN" sz="1400" dirty="0">
                <a:solidFill>
                  <a:schemeClr val="bg2"/>
                </a:solidFill>
              </a:rPr>
              <a:t>			</a:t>
            </a:r>
            <a:r>
              <a:rPr kumimoji="1" lang="en-GB" altLang="zh-CN" sz="1400" dirty="0">
                <a:solidFill>
                  <a:schemeClr val="tx1"/>
                </a:solidFill>
              </a:rPr>
              <a:t>“I am from SJTU.” → [“I”, “am”, “from”, “SJTU”]</a:t>
            </a:r>
            <a:endParaRPr kumimoji="1" lang="en-GB" altLang="zh-CN" sz="1400" dirty="0">
              <a:solidFill>
                <a:schemeClr val="tx1"/>
              </a:solidFill>
            </a:endParaRPr>
          </a:p>
          <a:p>
            <a:r>
              <a:rPr kumimoji="1" lang="en-GB" altLang="zh-CN" sz="1400" dirty="0">
                <a:solidFill>
                  <a:schemeClr val="bg2"/>
                </a:solidFill>
              </a:rPr>
              <a:t>Parameter: </a:t>
            </a:r>
            <a:endParaRPr kumimoji="1" lang="en-GB" altLang="zh-CN" sz="1400" dirty="0">
              <a:solidFill>
                <a:schemeClr val="bg2"/>
              </a:solidFill>
            </a:endParaRPr>
          </a:p>
          <a:p>
            <a:pPr marL="114300" indent="0">
              <a:buNone/>
            </a:pPr>
            <a:r>
              <a:rPr kumimoji="1" lang="en-GB" altLang="zh-CN" sz="1200" dirty="0">
                <a:solidFill>
                  <a:schemeClr val="tx1"/>
                </a:solidFill>
              </a:rPr>
              <a:t>separator: </a:t>
            </a:r>
            <a:r>
              <a:rPr kumimoji="1" lang="en-GB" altLang="zh-CN" sz="1200" dirty="0">
                <a:solidFill>
                  <a:schemeClr val="bg2"/>
                </a:solidFill>
              </a:rPr>
              <a:t>Optional. Specifies the separator to use when splitting the string. By default any</a:t>
            </a:r>
            <a:r>
              <a:rPr kumimoji="1" lang="en-US" altLang="zh-CN" sz="1200" dirty="0">
                <a:solidFill>
                  <a:schemeClr val="bg2"/>
                </a:solidFill>
              </a:rPr>
              <a:t> </a:t>
            </a:r>
            <a:r>
              <a:rPr kumimoji="1" lang="en-GB" altLang="zh-CN" sz="1200" dirty="0">
                <a:solidFill>
                  <a:schemeClr val="tx1"/>
                </a:solidFill>
              </a:rPr>
              <a:t>whitespace</a:t>
            </a:r>
            <a:r>
              <a:rPr kumimoji="1" lang="en-GB" altLang="zh-CN" sz="1200" dirty="0">
                <a:solidFill>
                  <a:schemeClr val="bg2"/>
                </a:solidFill>
              </a:rPr>
              <a:t> is a separator</a:t>
            </a:r>
            <a:r>
              <a:rPr kumimoji="1" lang="en-US" altLang="en-GB" sz="1200" dirty="0">
                <a:solidFill>
                  <a:schemeClr val="bg2"/>
                </a:solidFill>
              </a:rPr>
              <a:t>(</a:t>
            </a:r>
            <a:r>
              <a:rPr kumimoji="1" lang="zh-CN" altLang="en-US" sz="1200" dirty="0">
                <a:solidFill>
                  <a:schemeClr val="bg2"/>
                </a:solidFill>
              </a:rPr>
              <a:t>默认是空格</a:t>
            </a:r>
            <a:r>
              <a:rPr kumimoji="1" lang="en-US" altLang="en-GB" sz="1200" dirty="0">
                <a:solidFill>
                  <a:schemeClr val="bg2"/>
                </a:solidFill>
              </a:rPr>
              <a:t>)</a:t>
            </a:r>
            <a:endParaRPr kumimoji="1" lang="en-US" altLang="en-GB" sz="1200" dirty="0">
              <a:solidFill>
                <a:schemeClr val="bg2"/>
              </a:solidFill>
            </a:endParaRPr>
          </a:p>
        </p:txBody>
      </p:sp>
      <p:sp>
        <p:nvSpPr>
          <p:cNvPr id="4" name="TextBox 21"/>
          <p:cNvSpPr txBox="1"/>
          <p:nvPr/>
        </p:nvSpPr>
        <p:spPr>
          <a:xfrm>
            <a:off x="496580" y="4501059"/>
            <a:ext cx="1415772" cy="276999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none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默认分隔符：空格</a:t>
            </a:r>
            <a:endParaRPr lang="zh-CN" altLang="en-US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TextBox 23"/>
          <p:cNvSpPr txBox="1"/>
          <p:nvPr/>
        </p:nvSpPr>
        <p:spPr>
          <a:xfrm>
            <a:off x="3393542" y="4501059"/>
            <a:ext cx="1107996" cy="276999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none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r>
              <a:rPr lang="zh-CN" altLang="en-US" sz="1200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自定义分隔符</a:t>
            </a:r>
            <a:endParaRPr lang="zh-CN" altLang="en-US" sz="1200" dirty="0">
              <a:solidFill>
                <a:schemeClr val="bg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TextBox 25"/>
          <p:cNvSpPr txBox="1"/>
          <p:nvPr/>
        </p:nvSpPr>
        <p:spPr>
          <a:xfrm>
            <a:off x="6956057" y="4485670"/>
            <a:ext cx="902811" cy="307777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none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实际应用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7" name="Picture 2" descr="Text&#10;&#10;Description automatically generated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350" y="2547983"/>
            <a:ext cx="1886232" cy="1120603"/>
          </a:xfrm>
          <a:prstGeom prst="rect">
            <a:avLst/>
          </a:prstGeom>
        </p:spPr>
      </p:pic>
      <p:pic>
        <p:nvPicPr>
          <p:cNvPr id="8" name="Picture 6" descr="Text&#10;&#10;Description automatically generated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602" y="2545026"/>
            <a:ext cx="3071876" cy="1015336"/>
          </a:xfrm>
          <a:prstGeom prst="rect">
            <a:avLst/>
          </a:prstGeom>
        </p:spPr>
      </p:pic>
      <p:pic>
        <p:nvPicPr>
          <p:cNvPr id="9" name="Picture 10" descr="Text&#10;&#10;Description automatically generated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7498" y="2545027"/>
            <a:ext cx="3319932" cy="867226"/>
          </a:xfrm>
          <a:prstGeom prst="rect">
            <a:avLst/>
          </a:prstGeom>
        </p:spPr>
      </p:pic>
      <p:pic>
        <p:nvPicPr>
          <p:cNvPr id="10" name="Picture 12" descr="A picture containing chart&#10;&#10;Description automatically generated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958" y="3876172"/>
            <a:ext cx="1709016" cy="289455"/>
          </a:xfrm>
          <a:prstGeom prst="rect">
            <a:avLst/>
          </a:prstGeom>
        </p:spPr>
      </p:pic>
      <p:pic>
        <p:nvPicPr>
          <p:cNvPr id="11" name="Picture 1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3515" y="3880573"/>
            <a:ext cx="3071876" cy="285054"/>
          </a:xfrm>
          <a:prstGeom prst="rect">
            <a:avLst/>
          </a:prstGeom>
        </p:spPr>
      </p:pic>
      <p:pic>
        <p:nvPicPr>
          <p:cNvPr id="12" name="Picture 19" descr="A picture containing text&#10;&#10;Description automatically generated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9404" y="3876172"/>
            <a:ext cx="3336119" cy="460936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727450" y="3322320"/>
            <a:ext cx="17557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逗号和空格</a:t>
            </a:r>
            <a:endParaRPr lang="zh-CN" altLang="en-US"/>
          </a:p>
        </p:txBody>
      </p:sp>
      <p:cxnSp>
        <p:nvCxnSpPr>
          <p:cNvPr id="17" name="曲线连接符 16"/>
          <p:cNvCxnSpPr/>
          <p:nvPr/>
        </p:nvCxnSpPr>
        <p:spPr>
          <a:xfrm>
            <a:off x="3425825" y="3401060"/>
            <a:ext cx="426720" cy="65405"/>
          </a:xfrm>
          <a:prstGeom prst="curvedConnector3">
            <a:avLst>
              <a:gd name="adj1" fmla="val 50149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GB" altLang="zh-CN" dirty="0"/>
              <a:t>join()</a:t>
            </a:r>
            <a:r>
              <a:rPr kumimoji="1" lang="en-US" altLang="zh-CN" dirty="0"/>
              <a:t>: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concatenate</a:t>
            </a:r>
            <a:r>
              <a:rPr kumimoji="1" lang="zh-CN" altLang="en-US" dirty="0"/>
              <a:t> </a:t>
            </a:r>
            <a:r>
              <a:rPr kumimoji="1" lang="en-US" altLang="zh-CN" dirty="0"/>
              <a:t>strings</a:t>
            </a:r>
            <a:br>
              <a:rPr kumimoji="1" lang="en-GB" altLang="zh-CN" dirty="0"/>
            </a:br>
            <a:br>
              <a:rPr kumimoji="1" lang="en-GB" altLang="zh-CN" dirty="0"/>
            </a:b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700" y="1092480"/>
            <a:ext cx="8520600" cy="694432"/>
          </a:xfrm>
        </p:spPr>
        <p:txBody>
          <a:bodyPr>
            <a:normAutofit/>
          </a:bodyPr>
          <a:lstStyle/>
          <a:p>
            <a:r>
              <a:rPr kumimoji="1" lang="en-GB" altLang="zh-CN" sz="1400" dirty="0" err="1">
                <a:solidFill>
                  <a:schemeClr val="tx1"/>
                </a:solidFill>
              </a:rPr>
              <a:t>str.join</a:t>
            </a:r>
            <a:r>
              <a:rPr kumimoji="1" lang="en-GB" altLang="zh-CN" sz="1400" dirty="0">
                <a:solidFill>
                  <a:schemeClr val="tx1"/>
                </a:solidFill>
              </a:rPr>
              <a:t>(): </a:t>
            </a:r>
            <a:r>
              <a:rPr kumimoji="1" lang="en-GB" altLang="zh-CN" sz="1400" dirty="0">
                <a:solidFill>
                  <a:schemeClr val="bg2"/>
                </a:solidFill>
              </a:rPr>
              <a:t>The join function is the inverse of </a:t>
            </a:r>
            <a:r>
              <a:rPr kumimoji="1" lang="en-GB" altLang="zh-CN" sz="1400" dirty="0">
                <a:solidFill>
                  <a:schemeClr val="tx1"/>
                </a:solidFill>
              </a:rPr>
              <a:t>split(). </a:t>
            </a:r>
            <a:r>
              <a:rPr kumimoji="1" lang="en-GB" altLang="zh-CN" sz="1400" dirty="0">
                <a:solidFill>
                  <a:schemeClr val="bg2"/>
                </a:solidFill>
              </a:rPr>
              <a:t>It takes </a:t>
            </a:r>
            <a:r>
              <a:rPr kumimoji="1" lang="en-GB" altLang="zh-CN" sz="1400" dirty="0">
                <a:solidFill>
                  <a:schemeClr val="tx1"/>
                </a:solidFill>
              </a:rPr>
              <a:t>a list of strings </a:t>
            </a:r>
            <a:r>
              <a:rPr kumimoji="1" lang="en-GB" altLang="zh-CN" sz="1400" dirty="0">
                <a:solidFill>
                  <a:schemeClr val="bg2"/>
                </a:solidFill>
              </a:rPr>
              <a:t>and concatenates the elements with a space between each pair</a:t>
            </a:r>
            <a:endParaRPr kumimoji="1" lang="en-GB" altLang="zh-CN" sz="1600" dirty="0">
              <a:solidFill>
                <a:schemeClr val="bg2"/>
              </a:solidFill>
            </a:endParaRPr>
          </a:p>
        </p:txBody>
      </p:sp>
      <p:pic>
        <p:nvPicPr>
          <p:cNvPr id="4" name="Picture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8843" y="1937916"/>
            <a:ext cx="3077275" cy="392972"/>
          </a:xfrm>
          <a:prstGeom prst="rect">
            <a:avLst/>
          </a:prstGeom>
        </p:spPr>
      </p:pic>
      <p:pic>
        <p:nvPicPr>
          <p:cNvPr id="5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666" y="1738346"/>
            <a:ext cx="3810605" cy="838469"/>
          </a:xfrm>
          <a:prstGeom prst="rect">
            <a:avLst/>
          </a:prstGeom>
        </p:spPr>
      </p:pic>
      <p:pic>
        <p:nvPicPr>
          <p:cNvPr id="6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666" y="2638230"/>
            <a:ext cx="3810605" cy="772165"/>
          </a:xfrm>
          <a:prstGeom prst="rect">
            <a:avLst/>
          </a:prstGeom>
        </p:spPr>
      </p:pic>
      <p:pic>
        <p:nvPicPr>
          <p:cNvPr id="8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384" y="3852910"/>
            <a:ext cx="2415377" cy="1078543"/>
          </a:xfrm>
          <a:prstGeom prst="rect">
            <a:avLst/>
          </a:prstGeom>
        </p:spPr>
      </p:pic>
      <p:pic>
        <p:nvPicPr>
          <p:cNvPr id="9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4198" y="4158682"/>
            <a:ext cx="1549286" cy="219091"/>
          </a:xfrm>
          <a:prstGeom prst="rect">
            <a:avLst/>
          </a:prstGeom>
        </p:spPr>
      </p:pic>
      <p:pic>
        <p:nvPicPr>
          <p:cNvPr id="11" name="Picture 14" descr="A close up of a sign&#10;&#10;Description automatically generated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8422" y="3852910"/>
            <a:ext cx="1593578" cy="378209"/>
          </a:xfrm>
          <a:prstGeom prst="rect">
            <a:avLst/>
          </a:prstGeom>
        </p:spPr>
      </p:pic>
      <p:pic>
        <p:nvPicPr>
          <p:cNvPr id="12" name="Picture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4113" y="3727265"/>
            <a:ext cx="3225692" cy="8676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8842" y="2822138"/>
            <a:ext cx="3077275" cy="464912"/>
          </a:xfrm>
          <a:prstGeom prst="rect">
            <a:avLst/>
          </a:prstGeom>
        </p:spPr>
      </p:pic>
      <p:sp>
        <p:nvSpPr>
          <p:cNvPr id="14" name="文本占位符 2"/>
          <p:cNvSpPr txBox="1"/>
          <p:nvPr/>
        </p:nvSpPr>
        <p:spPr>
          <a:xfrm>
            <a:off x="368542" y="3404236"/>
            <a:ext cx="8520600" cy="427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 panose="020B0503030403020204"/>
              <a:buChar char="●"/>
              <a:defRPr sz="1800" b="0" i="0" u="none" strike="noStrike" cap="none">
                <a:solidFill>
                  <a:schemeClr val="lt2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 panose="020B0503030403020204"/>
              <a:buChar char="○"/>
              <a:defRPr sz="1400" b="0" i="0" u="none" strike="noStrike" cap="none">
                <a:solidFill>
                  <a:schemeClr val="lt2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 panose="020B0503030403020204"/>
              <a:buChar char="■"/>
              <a:defRPr sz="1400" b="0" i="0" u="none" strike="noStrike" cap="none">
                <a:solidFill>
                  <a:schemeClr val="lt2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 panose="020B0503030403020204"/>
              <a:buChar char="●"/>
              <a:defRPr sz="1400" b="0" i="0" u="none" strike="noStrike" cap="none">
                <a:solidFill>
                  <a:schemeClr val="lt2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 panose="020B0503030403020204"/>
              <a:buChar char="○"/>
              <a:defRPr sz="1400" b="0" i="0" u="none" strike="noStrike" cap="none">
                <a:solidFill>
                  <a:schemeClr val="lt2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 panose="020B0503030403020204"/>
              <a:buChar char="■"/>
              <a:defRPr sz="1400" b="0" i="0" u="none" strike="noStrike" cap="none">
                <a:solidFill>
                  <a:schemeClr val="lt2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 panose="020B0503030403020204"/>
              <a:buChar char="●"/>
              <a:defRPr sz="1400" b="0" i="0" u="none" strike="noStrike" cap="none">
                <a:solidFill>
                  <a:schemeClr val="lt2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 panose="020B0503030403020204"/>
              <a:buChar char="○"/>
              <a:defRPr sz="1400" b="0" i="0" u="none" strike="noStrike" cap="none">
                <a:solidFill>
                  <a:schemeClr val="lt2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 panose="020B0503030403020204"/>
              <a:buChar char="■"/>
              <a:defRPr sz="1400" b="0" i="0" u="none" strike="noStrike" cap="none">
                <a:solidFill>
                  <a:schemeClr val="lt2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9pPr>
          </a:lstStyle>
          <a:p>
            <a:r>
              <a:rPr kumimoji="1" lang="en-GB" altLang="zh-CN" sz="1400" dirty="0" err="1">
                <a:solidFill>
                  <a:schemeClr val="bg2"/>
                </a:solidFill>
              </a:rPr>
              <a:t>str.join</a:t>
            </a:r>
            <a:r>
              <a:rPr kumimoji="1" lang="en-GB" altLang="zh-CN" sz="1400" dirty="0">
                <a:solidFill>
                  <a:schemeClr val="bg2"/>
                </a:solidFill>
              </a:rPr>
              <a:t>(): could also specify the separator letter</a:t>
            </a:r>
            <a:endParaRPr kumimoji="1" lang="en-GB" altLang="zh-CN" sz="1400" dirty="0">
              <a:solidFill>
                <a:schemeClr val="bg2"/>
              </a:solidFill>
            </a:endParaRPr>
          </a:p>
        </p:txBody>
      </p:sp>
      <p:pic>
        <p:nvPicPr>
          <p:cNvPr id="15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4113" y="4821907"/>
            <a:ext cx="1549286" cy="21909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628842" y="2402253"/>
            <a:ext cx="3016671" cy="324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marR="0" lvl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defRPr/>
            </a:pPr>
            <a:r>
              <a:rPr kumimoji="1" lang="en-GB" altLang="zh-CN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ource Sans Pro" panose="020B0503030403020204"/>
                <a:ea typeface="Source Sans Pro" panose="020B0503030403020204"/>
                <a:sym typeface="Source Sans Pro" panose="020B0503030403020204"/>
              </a:rPr>
              <a:t>List!</a:t>
            </a:r>
            <a:endParaRPr kumimoji="1" lang="en-GB" altLang="zh-CN" sz="1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ource Sans Pro" panose="020B0503030403020204"/>
              <a:ea typeface="Source Sans Pro" panose="020B0503030403020204"/>
              <a:sym typeface="Source Sans Pro" panose="020B0503030403020204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867083" y="4805755"/>
            <a:ext cx="7085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iterable</a:t>
            </a:r>
            <a:endParaRPr lang="zh-CN" altLang="en-US" dirty="0">
              <a:latin typeface="Source Sans Pro" panose="020B0503030403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622540" y="4709160"/>
            <a:ext cx="14738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只连接关键词</a:t>
            </a:r>
            <a:endParaRPr lang="zh-CN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/>
              <a:t>s</a:t>
            </a:r>
            <a:r>
              <a:rPr kumimoji="1" lang="en-GB" altLang="zh-CN" dirty="0"/>
              <a:t>tr: methods</a:t>
            </a:r>
            <a:br>
              <a:rPr kumimoji="1" lang="en-GB" altLang="zh-CN" dirty="0"/>
            </a:br>
            <a:br>
              <a:rPr kumimoji="1" lang="en-GB" altLang="zh-CN" dirty="0"/>
            </a:b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kumimoji="1" lang="en-GB" altLang="zh-CN" sz="1400" dirty="0">
                <a:solidFill>
                  <a:schemeClr val="bg2"/>
                </a:solidFill>
              </a:rPr>
              <a:t>Python string module provides several built-in functions to process strings</a:t>
            </a:r>
            <a:endParaRPr kumimoji="1" lang="en-GB" altLang="zh-CN" sz="1400" dirty="0">
              <a:solidFill>
                <a:schemeClr val="bg2"/>
              </a:solidFill>
            </a:endParaRPr>
          </a:p>
          <a:p>
            <a:pPr lvl="1"/>
            <a:r>
              <a:rPr kumimoji="1" lang="en-GB" altLang="zh-CN" sz="1200" dirty="0">
                <a:solidFill>
                  <a:schemeClr val="bg2"/>
                </a:solidFill>
              </a:rPr>
              <a:t>https://</a:t>
            </a:r>
            <a:r>
              <a:rPr kumimoji="1" lang="en-GB" altLang="zh-CN" sz="1200" dirty="0" err="1">
                <a:solidFill>
                  <a:schemeClr val="bg2"/>
                </a:solidFill>
              </a:rPr>
              <a:t>docs.python.org</a:t>
            </a:r>
            <a:r>
              <a:rPr kumimoji="1" lang="en-GB" altLang="zh-CN" sz="1200" dirty="0">
                <a:solidFill>
                  <a:schemeClr val="bg2"/>
                </a:solidFill>
              </a:rPr>
              <a:t>/3/library/</a:t>
            </a:r>
            <a:r>
              <a:rPr kumimoji="1" lang="en-GB" altLang="zh-CN" sz="1200" dirty="0" err="1">
                <a:solidFill>
                  <a:schemeClr val="bg2"/>
                </a:solidFill>
              </a:rPr>
              <a:t>stdtypes.html</a:t>
            </a:r>
            <a:endParaRPr kumimoji="1" lang="en-GB" altLang="zh-CN" sz="1200" dirty="0">
              <a:solidFill>
                <a:schemeClr val="bg2"/>
              </a:solidFill>
            </a:endParaRPr>
          </a:p>
          <a:p>
            <a:r>
              <a:rPr kumimoji="1" lang="en-GB" altLang="zh-CN" sz="1400" dirty="0" err="1">
                <a:solidFill>
                  <a:schemeClr val="bg2"/>
                </a:solidFill>
              </a:rPr>
              <a:t>str.</a:t>
            </a:r>
            <a:r>
              <a:rPr kumimoji="1" lang="en-GB" altLang="zh-CN" sz="1400" dirty="0" err="1">
                <a:solidFill>
                  <a:schemeClr val="tx1"/>
                </a:solidFill>
              </a:rPr>
              <a:t>find</a:t>
            </a:r>
            <a:r>
              <a:rPr kumimoji="1" lang="en-GB" altLang="zh-CN" sz="1400" dirty="0">
                <a:solidFill>
                  <a:schemeClr val="bg2"/>
                </a:solidFill>
              </a:rPr>
              <a:t>(sub, start, end): Return the lowest index in the string where substring sub is found within the slice s[</a:t>
            </a:r>
            <a:r>
              <a:rPr kumimoji="1" lang="en-GB" altLang="zh-CN" sz="1400" dirty="0" err="1">
                <a:solidFill>
                  <a:schemeClr val="bg2"/>
                </a:solidFill>
              </a:rPr>
              <a:t>start:end</a:t>
            </a:r>
            <a:r>
              <a:rPr kumimoji="1" lang="en-GB" altLang="zh-CN" sz="1400" dirty="0">
                <a:solidFill>
                  <a:schemeClr val="bg2"/>
                </a:solidFill>
              </a:rPr>
              <a:t>]. Optional arguments start and end are interpreted as in slice notation. </a:t>
            </a:r>
            <a:r>
              <a:rPr kumimoji="1" lang="en-GB" altLang="zh-CN" sz="1400" dirty="0">
                <a:solidFill>
                  <a:schemeClr val="bg2"/>
                </a:solidFill>
                <a:highlight>
                  <a:srgbClr val="FFFF00"/>
                </a:highlight>
              </a:rPr>
              <a:t>Return -1 if sub is not found.  </a:t>
            </a:r>
            <a:endParaRPr kumimoji="1" lang="en-GB" altLang="zh-CN" sz="1400" dirty="0">
              <a:solidFill>
                <a:schemeClr val="bg2"/>
              </a:solidFill>
              <a:highlight>
                <a:srgbClr val="FFFF00"/>
              </a:highlight>
            </a:endParaRPr>
          </a:p>
          <a:p>
            <a:pPr marL="114300" indent="0">
              <a:buNone/>
            </a:pPr>
            <a:endParaRPr kumimoji="1" lang="en-GB" altLang="zh-CN" sz="1400" dirty="0">
              <a:solidFill>
                <a:schemeClr val="bg2"/>
              </a:solidFill>
            </a:endParaRPr>
          </a:p>
          <a:p>
            <a:pPr marL="114300" indent="0">
              <a:buNone/>
            </a:pPr>
            <a:endParaRPr kumimoji="1" lang="en-GB" altLang="zh-CN" sz="1400" dirty="0">
              <a:solidFill>
                <a:schemeClr val="bg2"/>
              </a:solidFill>
            </a:endParaRPr>
          </a:p>
          <a:p>
            <a:pPr marL="114300" indent="0">
              <a:buNone/>
            </a:pPr>
            <a:endParaRPr kumimoji="1" lang="en-GB" altLang="zh-CN" sz="1400" dirty="0">
              <a:solidFill>
                <a:schemeClr val="bg2"/>
              </a:solidFill>
            </a:endParaRPr>
          </a:p>
          <a:p>
            <a:pPr marL="114300" indent="0">
              <a:buNone/>
            </a:pPr>
            <a:endParaRPr kumimoji="1" lang="en-GB" altLang="zh-CN" sz="1400" dirty="0">
              <a:solidFill>
                <a:schemeClr val="bg2"/>
              </a:solidFill>
            </a:endParaRPr>
          </a:p>
          <a:p>
            <a:r>
              <a:rPr kumimoji="1" lang="en-GB" altLang="zh-CN" sz="1400" dirty="0" err="1">
                <a:solidFill>
                  <a:schemeClr val="bg2"/>
                </a:solidFill>
              </a:rPr>
              <a:t>str.</a:t>
            </a:r>
            <a:r>
              <a:rPr kumimoji="1" lang="en-GB" altLang="zh-CN" sz="1400" dirty="0" err="1">
                <a:solidFill>
                  <a:schemeClr val="tx1"/>
                </a:solidFill>
              </a:rPr>
              <a:t>count</a:t>
            </a:r>
            <a:r>
              <a:rPr kumimoji="1" lang="en-GB" altLang="zh-CN" sz="1400" dirty="0">
                <a:solidFill>
                  <a:schemeClr val="bg2"/>
                </a:solidFill>
              </a:rPr>
              <a:t>(sub[, start[, end]]): Return the number of non-overlapping occurrences of substring sub in the range [start, end]. Optional arguments start and end are interpreted as in slice notation.</a:t>
            </a:r>
            <a:endParaRPr kumimoji="1" lang="en-GB" altLang="zh-CN" sz="1400" dirty="0">
              <a:solidFill>
                <a:schemeClr val="bg2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0329" y="2316560"/>
            <a:ext cx="2737473" cy="108823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1275" y="2571750"/>
            <a:ext cx="259472" cy="833040"/>
          </a:xfrm>
          <a:prstGeom prst="rect">
            <a:avLst/>
          </a:prstGeom>
        </p:spPr>
      </p:pic>
      <p:pic>
        <p:nvPicPr>
          <p:cNvPr id="7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1275" y="4261793"/>
            <a:ext cx="188159" cy="469162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6619" y="3919059"/>
            <a:ext cx="2981183" cy="1200217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/>
              <a:t>s</a:t>
            </a:r>
            <a:r>
              <a:rPr kumimoji="1" lang="en-GB" altLang="zh-CN" dirty="0"/>
              <a:t>tr: more</a:t>
            </a:r>
            <a:br>
              <a:rPr kumimoji="1" lang="en-GB" altLang="zh-CN" dirty="0"/>
            </a:br>
            <a:br>
              <a:rPr kumimoji="1" lang="en-GB" altLang="zh-CN" dirty="0"/>
            </a:b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2157731"/>
          </a:xfrm>
        </p:spPr>
        <p:txBody>
          <a:bodyPr>
            <a:noAutofit/>
          </a:bodyPr>
          <a:lstStyle/>
          <a:p>
            <a:r>
              <a:rPr kumimoji="1" lang="en-GB" altLang="zh-CN" sz="1400" dirty="0" err="1">
                <a:solidFill>
                  <a:schemeClr val="bg2"/>
                </a:solidFill>
              </a:rPr>
              <a:t>str.</a:t>
            </a:r>
            <a:r>
              <a:rPr kumimoji="1" lang="en-GB" altLang="zh-CN" sz="1400" dirty="0" err="1">
                <a:solidFill>
                  <a:schemeClr val="tx1"/>
                </a:solidFill>
              </a:rPr>
              <a:t>isdigit</a:t>
            </a:r>
            <a:r>
              <a:rPr kumimoji="1" lang="en-GB" altLang="zh-CN" sz="1400" dirty="0">
                <a:solidFill>
                  <a:schemeClr val="bg2"/>
                </a:solidFill>
              </a:rPr>
              <a:t>(): Return true if all characters in the string are digits and there is at least one character, false otherwise</a:t>
            </a:r>
            <a:endParaRPr kumimoji="1" lang="en-GB" altLang="zh-CN" sz="1400" dirty="0">
              <a:solidFill>
                <a:schemeClr val="bg2"/>
              </a:solidFill>
            </a:endParaRPr>
          </a:p>
          <a:p>
            <a:r>
              <a:rPr kumimoji="1" lang="en-GB" altLang="zh-CN" sz="1400" dirty="0">
                <a:solidFill>
                  <a:schemeClr val="bg2"/>
                </a:solidFill>
              </a:rPr>
              <a:t>str.</a:t>
            </a:r>
            <a:r>
              <a:rPr kumimoji="1" lang="en-GB" altLang="zh-CN" sz="1400" dirty="0">
                <a:solidFill>
                  <a:schemeClr val="tx1"/>
                </a:solidFill>
              </a:rPr>
              <a:t>upper</a:t>
            </a:r>
            <a:r>
              <a:rPr kumimoji="1" lang="en-GB" altLang="zh-CN" sz="1400" dirty="0">
                <a:solidFill>
                  <a:schemeClr val="bg2"/>
                </a:solidFill>
              </a:rPr>
              <a:t>(), str.lower(): Return a copy of the string with all the characters converted to upper/lower case</a:t>
            </a:r>
            <a:endParaRPr kumimoji="1" lang="en-GB" altLang="zh-CN" sz="1400" dirty="0">
              <a:solidFill>
                <a:schemeClr val="bg2"/>
              </a:solidFill>
            </a:endParaRPr>
          </a:p>
          <a:p>
            <a:r>
              <a:rPr kumimoji="1" lang="en-US" altLang="zh-CN" sz="1400" dirty="0">
                <a:solidFill>
                  <a:srgbClr val="000000"/>
                </a:solidFill>
              </a:rPr>
              <a:t>s</a:t>
            </a:r>
            <a:r>
              <a:rPr kumimoji="1" lang="en-GB" altLang="zh-CN" sz="1400" dirty="0">
                <a:solidFill>
                  <a:srgbClr val="000000"/>
                </a:solidFill>
              </a:rPr>
              <a:t>tr.</a:t>
            </a:r>
            <a:r>
              <a:rPr kumimoji="1" lang="en-GB" altLang="zh-CN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ource Sans Pro" panose="020B0503030403020204"/>
                <a:ea typeface="Source Sans Pro" panose="020B0503030403020204"/>
                <a:sym typeface="Source Sans Pro" panose="020B0503030403020204"/>
              </a:rPr>
              <a:t>strip</a:t>
            </a:r>
            <a:r>
              <a:rPr kumimoji="1" lang="en-GB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Sans Pro" panose="020B0503030403020204"/>
                <a:ea typeface="Source Sans Pro" panose="020B0503030403020204"/>
                <a:sym typeface="Source Sans Pro" panose="020B0503030403020204"/>
              </a:rPr>
              <a:t>() method removes any whitespace from the beginning or the end</a:t>
            </a:r>
            <a:endParaRPr kumimoji="1" lang="en-GB" altLang="zh-CN" sz="1400" dirty="0">
              <a:solidFill>
                <a:schemeClr val="bg2"/>
              </a:solidFill>
            </a:endParaRPr>
          </a:p>
          <a:p>
            <a:pPr lvl="1"/>
            <a:r>
              <a:rPr kumimoji="1" lang="en-GB" altLang="zh-CN" sz="1200" dirty="0">
                <a:solidFill>
                  <a:schemeClr val="bg2"/>
                </a:solidFill>
              </a:rPr>
              <a:t>str.rstrip(), str.lstrip(): Return a copy of the string with tailing/trailing characters removed</a:t>
            </a:r>
            <a:endParaRPr kumimoji="1" lang="en-GB" altLang="zh-CN" sz="1200" dirty="0">
              <a:solidFill>
                <a:schemeClr val="bg2"/>
              </a:solidFill>
            </a:endParaRPr>
          </a:p>
          <a:p>
            <a:r>
              <a:rPr kumimoji="1" lang="en-GB" altLang="zh-CN" sz="1400" dirty="0">
                <a:solidFill>
                  <a:schemeClr val="bg2"/>
                </a:solidFill>
              </a:rPr>
              <a:t>str.</a:t>
            </a:r>
            <a:r>
              <a:rPr kumimoji="1" lang="en-GB" altLang="zh-CN" sz="1400" dirty="0">
                <a:solidFill>
                  <a:schemeClr val="tx1"/>
                </a:solidFill>
              </a:rPr>
              <a:t>replace</a:t>
            </a:r>
            <a:r>
              <a:rPr kumimoji="1" lang="en-GB" altLang="zh-CN" sz="1400" dirty="0">
                <a:solidFill>
                  <a:schemeClr val="bg2"/>
                </a:solidFill>
              </a:rPr>
              <a:t>(old, new[, count]): Return a copy of the string with all occurrences of substring old replaced by new </a:t>
            </a:r>
            <a:endParaRPr kumimoji="1" lang="en-GB" altLang="zh-CN" sz="1400" dirty="0">
              <a:solidFill>
                <a:schemeClr val="bg2"/>
              </a:solidFill>
            </a:endParaRPr>
          </a:p>
          <a:p>
            <a:r>
              <a:rPr kumimoji="1" lang="en-GB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Sans Pro" panose="020B0503030403020204"/>
                <a:ea typeface="Source Sans Pro" panose="020B0503030403020204"/>
                <a:sym typeface="Source Sans Pro" panose="020B0503030403020204"/>
              </a:rPr>
              <a:t>String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Sans Pro" panose="020B0503030403020204"/>
                <a:ea typeface="Source Sans Pro" panose="020B0503030403020204"/>
                <a:sym typeface="Source Sans Pro" panose="020B0503030403020204"/>
              </a:rPr>
              <a:t> 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Sans Pro" panose="020B0503030403020204"/>
                <a:ea typeface="Source Sans Pro" panose="020B0503030403020204"/>
                <a:sym typeface="Source Sans Pro" panose="020B0503030403020204"/>
              </a:rPr>
              <a:t>literals</a:t>
            </a:r>
            <a:r>
              <a:rPr kumimoji="1" lang="en-GB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Sans Pro" panose="020B0503030403020204"/>
                <a:ea typeface="Source Sans Pro" panose="020B0503030403020204"/>
                <a:sym typeface="Source Sans Pro" panose="020B0503030403020204"/>
              </a:rPr>
              <a:t> can be processed directly on the content without defining a variable</a:t>
            </a:r>
            <a:endParaRPr kumimoji="1" lang="en-GB" altLang="zh-CN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ource Sans Pro" panose="020B0503030403020204"/>
              <a:ea typeface="Source Sans Pro" panose="020B0503030403020204"/>
              <a:sym typeface="Source Sans Pro" panose="020B0503030403020204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0501" y="3337443"/>
            <a:ext cx="1666681" cy="688208"/>
          </a:xfrm>
          <a:prstGeom prst="rect">
            <a:avLst/>
          </a:prstGeom>
        </p:spPr>
      </p:pic>
      <p:pic>
        <p:nvPicPr>
          <p:cNvPr id="12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118" y="3310206"/>
            <a:ext cx="2207965" cy="143089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0501" y="4402372"/>
            <a:ext cx="2644234" cy="338724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7439" y="4419606"/>
            <a:ext cx="2199615" cy="30425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2195" y="3337443"/>
            <a:ext cx="3850105" cy="577906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2195" y="3991025"/>
            <a:ext cx="3404217" cy="16852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\t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 err="1"/>
              <a:t>expandtabs</a:t>
            </a:r>
            <a:r>
              <a:rPr lang="en-US" altLang="zh-CN" dirty="0"/>
              <a:t>()</a:t>
            </a:r>
            <a:br>
              <a:rPr lang="zh-CN" altLang="en-US" dirty="0"/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1641088"/>
          </a:xfrm>
        </p:spPr>
        <p:txBody>
          <a:bodyPr>
            <a:normAutofit/>
          </a:bodyPr>
          <a:lstStyle/>
          <a:p>
            <a:r>
              <a:rPr lang="en-US" altLang="zh-CN" sz="1400" dirty="0">
                <a:solidFill>
                  <a:schemeClr val="bg2"/>
                </a:solidFill>
              </a:rPr>
              <a:t>\t: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tab.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How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many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blanks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in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print(‘\t’)?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It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is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subtle</a:t>
            </a:r>
            <a:endParaRPr lang="en-US" altLang="zh-CN" sz="1400" dirty="0">
              <a:solidFill>
                <a:schemeClr val="bg2"/>
              </a:solidFill>
            </a:endParaRPr>
          </a:p>
          <a:p>
            <a:r>
              <a:rPr lang="en-US" altLang="zh-CN" sz="1400" dirty="0">
                <a:solidFill>
                  <a:schemeClr val="bg2"/>
                </a:solidFill>
              </a:rPr>
              <a:t>\t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in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Microsoft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Office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Excel: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Jump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from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one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cell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to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the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next</a:t>
            </a:r>
            <a:endParaRPr lang="en-US" altLang="zh-CN" sz="1400" dirty="0">
              <a:solidFill>
                <a:schemeClr val="bg2"/>
              </a:solidFill>
            </a:endParaRPr>
          </a:p>
          <a:p>
            <a:r>
              <a:rPr lang="en-US" altLang="zh-CN" sz="1400" dirty="0">
                <a:solidFill>
                  <a:schemeClr val="bg2"/>
                </a:solidFill>
              </a:rPr>
              <a:t>In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default,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each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row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of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the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python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console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is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divided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into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cells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with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length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equals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to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8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spaces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endParaRPr lang="en-US" altLang="zh-CN" sz="1400" dirty="0">
              <a:solidFill>
                <a:schemeClr val="bg2"/>
              </a:solidFill>
            </a:endParaRPr>
          </a:p>
          <a:p>
            <a:pPr lvl="1"/>
            <a:r>
              <a:rPr lang="en-US" altLang="zh-CN" sz="1200" dirty="0">
                <a:solidFill>
                  <a:schemeClr val="bg2"/>
                </a:solidFill>
              </a:rPr>
              <a:t>8,</a:t>
            </a:r>
            <a:r>
              <a:rPr lang="zh-CN" altLang="en-US" sz="1200" dirty="0">
                <a:solidFill>
                  <a:schemeClr val="bg2"/>
                </a:solidFill>
              </a:rPr>
              <a:t> </a:t>
            </a:r>
            <a:r>
              <a:rPr lang="en-US" altLang="zh-CN" sz="1200" dirty="0">
                <a:solidFill>
                  <a:schemeClr val="bg2"/>
                </a:solidFill>
              </a:rPr>
              <a:t>16,</a:t>
            </a:r>
            <a:r>
              <a:rPr lang="zh-CN" altLang="en-US" sz="1200" dirty="0">
                <a:solidFill>
                  <a:schemeClr val="bg2"/>
                </a:solidFill>
              </a:rPr>
              <a:t> </a:t>
            </a:r>
            <a:r>
              <a:rPr lang="en-US" altLang="zh-CN" sz="1200" dirty="0">
                <a:solidFill>
                  <a:schemeClr val="bg2"/>
                </a:solidFill>
              </a:rPr>
              <a:t>32,</a:t>
            </a:r>
            <a:r>
              <a:rPr lang="zh-CN" altLang="en-US" sz="1200" dirty="0">
                <a:solidFill>
                  <a:schemeClr val="bg2"/>
                </a:solidFill>
              </a:rPr>
              <a:t> </a:t>
            </a:r>
            <a:r>
              <a:rPr lang="en-US" altLang="zh-CN" sz="1200" dirty="0">
                <a:solidFill>
                  <a:schemeClr val="bg2"/>
                </a:solidFill>
              </a:rPr>
              <a:t>…,</a:t>
            </a:r>
            <a:r>
              <a:rPr lang="zh-CN" altLang="en-US" sz="1200" dirty="0">
                <a:solidFill>
                  <a:schemeClr val="bg2"/>
                </a:solidFill>
              </a:rPr>
              <a:t> </a:t>
            </a:r>
            <a:r>
              <a:rPr lang="en-US" altLang="zh-CN" sz="1200" dirty="0">
                <a:solidFill>
                  <a:schemeClr val="bg2"/>
                </a:solidFill>
              </a:rPr>
              <a:t>8n,</a:t>
            </a:r>
            <a:r>
              <a:rPr lang="zh-CN" altLang="en-US" sz="1200" dirty="0">
                <a:solidFill>
                  <a:schemeClr val="bg2"/>
                </a:solidFill>
              </a:rPr>
              <a:t> </a:t>
            </a:r>
            <a:r>
              <a:rPr lang="en-US" altLang="zh-CN" sz="1200" dirty="0">
                <a:solidFill>
                  <a:schemeClr val="bg2"/>
                </a:solidFill>
              </a:rPr>
              <a:t>…</a:t>
            </a:r>
            <a:endParaRPr lang="en-US" altLang="zh-CN" sz="1200" dirty="0">
              <a:solidFill>
                <a:schemeClr val="bg2"/>
              </a:solidFill>
            </a:endParaRPr>
          </a:p>
          <a:p>
            <a:r>
              <a:rPr lang="en-US" altLang="zh-CN" sz="1400" dirty="0">
                <a:solidFill>
                  <a:schemeClr val="bg2"/>
                </a:solidFill>
              </a:rPr>
              <a:t>\t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will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move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the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cursor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to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the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beginning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the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next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cell</a:t>
            </a:r>
            <a:endParaRPr lang="en-US" altLang="zh-CN" sz="1400" dirty="0">
              <a:solidFill>
                <a:schemeClr val="bg2"/>
              </a:solidFill>
            </a:endParaRPr>
          </a:p>
          <a:p>
            <a:r>
              <a:rPr lang="en-US" altLang="zh-CN" sz="1400" dirty="0" err="1">
                <a:solidFill>
                  <a:schemeClr val="bg2"/>
                </a:solidFill>
              </a:rPr>
              <a:t>str.expandtabs</a:t>
            </a:r>
            <a:r>
              <a:rPr lang="en-US" altLang="zh-CN" sz="1400" dirty="0">
                <a:solidFill>
                  <a:schemeClr val="bg2"/>
                </a:solidFill>
              </a:rPr>
              <a:t>(n):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set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the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current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tab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size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to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be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n(</a:t>
            </a:r>
            <a:r>
              <a:rPr lang="zh-CN" altLang="en-US" sz="1400" dirty="0">
                <a:solidFill>
                  <a:schemeClr val="bg2"/>
                </a:solidFill>
              </a:rPr>
              <a:t>设置</a:t>
            </a:r>
            <a:r>
              <a:rPr lang="en-US" altLang="zh-CN" sz="1400" dirty="0">
                <a:solidFill>
                  <a:schemeClr val="bg2"/>
                </a:solidFill>
              </a:rPr>
              <a:t>tab</a:t>
            </a:r>
            <a:r>
              <a:rPr lang="zh-CN" altLang="en-US" sz="1400" dirty="0">
                <a:solidFill>
                  <a:schemeClr val="bg2"/>
                </a:solidFill>
              </a:rPr>
              <a:t>的大小</a:t>
            </a:r>
            <a:r>
              <a:rPr lang="en-US" altLang="zh-CN" sz="1400" dirty="0">
                <a:solidFill>
                  <a:schemeClr val="bg2"/>
                </a:solidFill>
              </a:rPr>
              <a:t>)</a:t>
            </a:r>
            <a:endParaRPr lang="en-US" sz="1400" dirty="0">
              <a:solidFill>
                <a:schemeClr val="bg2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830" y="2707780"/>
            <a:ext cx="3296243" cy="108282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4214" y="2707780"/>
            <a:ext cx="1732543" cy="145425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9277" y="4270454"/>
            <a:ext cx="1256833" cy="84810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2899" y="2707780"/>
            <a:ext cx="2822900" cy="134220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2899" y="4166061"/>
            <a:ext cx="533400" cy="952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450" y="4021367"/>
            <a:ext cx="25450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微软</a:t>
            </a:r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office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办公文档中，对于每个单元格，有左对齐、右对齐、居中</a:t>
            </a:r>
            <a:endParaRPr lang="zh-CN" altLang="en-US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085715" y="2223770"/>
            <a:ext cx="17570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跳到下一个格子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931660" y="4129405"/>
            <a:ext cx="14884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改变格子长度</a:t>
            </a:r>
            <a:endParaRPr lang="zh-CN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/>
              <a:t>s</a:t>
            </a:r>
            <a:r>
              <a:rPr kumimoji="1" lang="en-GB" altLang="zh-CN" dirty="0" err="1"/>
              <a:t>tr.format</a:t>
            </a:r>
            <a:r>
              <a:rPr kumimoji="1" lang="en-GB" altLang="zh-CN" dirty="0"/>
              <a:t>()</a:t>
            </a:r>
            <a:br>
              <a:rPr kumimoji="1" lang="en-GB" altLang="zh-CN" dirty="0"/>
            </a:br>
            <a:br>
              <a:rPr kumimoji="1" lang="en-GB" altLang="zh-CN" dirty="0"/>
            </a:b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700" y="996164"/>
            <a:ext cx="8520600" cy="1438199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kumimoji="1" lang="en-GB" altLang="zh-CN" dirty="0"/>
              <a:t>	</a:t>
            </a:r>
            <a:r>
              <a:rPr kumimoji="1" lang="en-GB" altLang="zh-CN" sz="1600" dirty="0">
                <a:solidFill>
                  <a:schemeClr val="bg2"/>
                </a:solidFill>
              </a:rPr>
              <a:t>	</a:t>
            </a:r>
            <a:r>
              <a:rPr kumimoji="1" lang="en-GB" altLang="zh-CN" sz="1400" dirty="0">
                <a:solidFill>
                  <a:schemeClr val="bg2"/>
                </a:solidFill>
              </a:rPr>
              <a:t>“I am {} from {}”.format(name, city)</a:t>
            </a:r>
            <a:endParaRPr kumimoji="1" lang="en-GB" altLang="zh-CN" sz="1400" dirty="0">
              <a:solidFill>
                <a:schemeClr val="bg2"/>
              </a:solidFill>
            </a:endParaRPr>
          </a:p>
          <a:p>
            <a:r>
              <a:rPr kumimoji="1" lang="en-GB" altLang="zh-CN" sz="1400" dirty="0">
                <a:solidFill>
                  <a:schemeClr val="bg2"/>
                </a:solidFill>
              </a:rPr>
              <a:t>{}: placeholder </a:t>
            </a:r>
            <a:r>
              <a:rPr kumimoji="1" lang="zh-CN" altLang="en-US" sz="1400" dirty="0">
                <a:solidFill>
                  <a:schemeClr val="bg2"/>
                </a:solidFill>
              </a:rPr>
              <a:t>占位符</a:t>
            </a:r>
            <a:endParaRPr kumimoji="1" lang="zh-CN" altLang="en-US" sz="1400" dirty="0">
              <a:solidFill>
                <a:schemeClr val="bg2"/>
              </a:solidFill>
            </a:endParaRPr>
          </a:p>
          <a:p>
            <a:r>
              <a:rPr kumimoji="1" lang="en-GB" altLang="zh-CN" sz="1400" dirty="0">
                <a:solidFill>
                  <a:schemeClr val="bg2"/>
                </a:solidFill>
              </a:rPr>
              <a:t>format(): formats the specified value(s) and insert them inside the string's placeholder</a:t>
            </a:r>
            <a:endParaRPr kumimoji="1" lang="en-GB" altLang="zh-CN" sz="1400" dirty="0">
              <a:solidFill>
                <a:schemeClr val="bg2"/>
              </a:solidFill>
            </a:endParaRPr>
          </a:p>
          <a:p>
            <a:pPr lvl="1"/>
            <a:r>
              <a:rPr kumimoji="1" lang="en-GB" altLang="zh-CN" sz="1200" dirty="0">
                <a:solidFill>
                  <a:schemeClr val="bg2"/>
                </a:solidFill>
              </a:rPr>
              <a:t>The format() method returns the formatted string</a:t>
            </a:r>
            <a:endParaRPr kumimoji="1" lang="en-GB" altLang="zh-CN" sz="1200" dirty="0">
              <a:solidFill>
                <a:schemeClr val="bg2"/>
              </a:solidFill>
            </a:endParaRPr>
          </a:p>
          <a:p>
            <a:r>
              <a:rPr kumimoji="1" lang="en-GB" altLang="zh-CN" sz="1400" dirty="0">
                <a:solidFill>
                  <a:schemeClr val="bg2"/>
                </a:solidFill>
              </a:rPr>
              <a:t>You may use </a:t>
            </a:r>
            <a:r>
              <a:rPr kumimoji="1" lang="en-GB" altLang="zh-CN" sz="1400" dirty="0">
                <a:solidFill>
                  <a:schemeClr val="tx1"/>
                </a:solidFill>
              </a:rPr>
              <a:t>index</a:t>
            </a:r>
            <a:r>
              <a:rPr kumimoji="1" lang="en-GB" altLang="zh-CN" sz="1400" dirty="0">
                <a:solidFill>
                  <a:schemeClr val="bg2"/>
                </a:solidFill>
              </a:rPr>
              <a:t> or </a:t>
            </a:r>
            <a:r>
              <a:rPr kumimoji="1" lang="en-GB" altLang="zh-CN" sz="1400" dirty="0">
                <a:solidFill>
                  <a:schemeClr val="tx1"/>
                </a:solidFill>
              </a:rPr>
              <a:t>variable</a:t>
            </a:r>
            <a:r>
              <a:rPr kumimoji="1" lang="en-GB" altLang="zh-CN" sz="1400" dirty="0">
                <a:solidFill>
                  <a:schemeClr val="bg2"/>
                </a:solidFill>
              </a:rPr>
              <a:t> to denote the placeholders</a:t>
            </a:r>
            <a:endParaRPr kumimoji="1" lang="en-GB" altLang="zh-CN" sz="1400" dirty="0">
              <a:solidFill>
                <a:schemeClr val="bg2"/>
              </a:solidFill>
            </a:endParaRPr>
          </a:p>
        </p:txBody>
      </p:sp>
      <p:pic>
        <p:nvPicPr>
          <p:cNvPr id="4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295" y="2394178"/>
            <a:ext cx="4253597" cy="874244"/>
          </a:xfrm>
          <a:prstGeom prst="rect">
            <a:avLst/>
          </a:prstGeom>
        </p:spPr>
      </p:pic>
      <p:pic>
        <p:nvPicPr>
          <p:cNvPr id="5" name="Picture 5" descr="A close up of a sign&#10;&#10;Description automatically generated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487" y="2394178"/>
            <a:ext cx="1568945" cy="426612"/>
          </a:xfrm>
          <a:prstGeom prst="rect">
            <a:avLst/>
          </a:prstGeom>
        </p:spPr>
      </p:pic>
      <p:sp>
        <p:nvSpPr>
          <p:cNvPr id="7" name="TextBox 17"/>
          <p:cNvSpPr txBox="1"/>
          <p:nvPr/>
        </p:nvSpPr>
        <p:spPr>
          <a:xfrm>
            <a:off x="6829004" y="3358405"/>
            <a:ext cx="1843722" cy="461665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zh-CN" sz="1200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#Accessing arguments by position or name</a:t>
            </a:r>
            <a:endParaRPr lang="zh-CN" altLang="en-US" sz="1200" dirty="0">
              <a:latin typeface="Source Sans Pro" panose="020B0503030403020204" pitchFamily="34" charset="0"/>
            </a:endParaRPr>
          </a:p>
        </p:txBody>
      </p:sp>
      <p:pic>
        <p:nvPicPr>
          <p:cNvPr id="8" name="Picture 13" descr="A close up of a sign&#10;&#10;Description automatically generated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5499" y="4428548"/>
            <a:ext cx="3292106" cy="677072"/>
          </a:xfrm>
          <a:prstGeom prst="rect">
            <a:avLst/>
          </a:prstGeom>
        </p:spPr>
      </p:pic>
      <p:sp>
        <p:nvSpPr>
          <p:cNvPr id="9" name="文本框 3"/>
          <p:cNvSpPr txBox="1"/>
          <p:nvPr/>
        </p:nvSpPr>
        <p:spPr>
          <a:xfrm>
            <a:off x="4305993" y="232799"/>
            <a:ext cx="468918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defRPr/>
            </a:pPr>
            <a:r>
              <a:rPr lang="zh-CN" altLang="en-US" sz="12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注意：</a:t>
            </a:r>
            <a:r>
              <a:rPr lang="en-US" altLang="zh-CN" sz="12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f-string</a:t>
            </a:r>
            <a:r>
              <a:rPr lang="zh-CN" altLang="en-US" sz="1200" dirty="0">
                <a:solidFill>
                  <a:schemeClr val="bg2"/>
                </a:solidFill>
                <a:latin typeface="Source Sans Pro" panose="020B0503030403020204" pitchFamily="34" charset="0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中的格式化控制符号与</a:t>
            </a:r>
            <a:r>
              <a:rPr lang="en-US" altLang="zh-CN" sz="1200" dirty="0" err="1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str.format</a:t>
            </a:r>
            <a:r>
              <a:rPr lang="en-US" altLang="zh-CN" sz="12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()</a:t>
            </a:r>
            <a:r>
              <a:rPr lang="zh-CN" altLang="en-US" sz="1200" dirty="0">
                <a:solidFill>
                  <a:schemeClr val="bg2"/>
                </a:solidFill>
                <a:latin typeface="Source Sans Pro" panose="020B0503030403020204" pitchFamily="34" charset="0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一样，为了演示方便，这里采用了</a:t>
            </a:r>
            <a:r>
              <a:rPr lang="en-US" altLang="zh-CN" sz="1200" dirty="0" err="1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str.format</a:t>
            </a:r>
            <a:r>
              <a:rPr lang="en-US" altLang="zh-CN" sz="12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()</a:t>
            </a:r>
            <a:r>
              <a:rPr lang="zh-CN" altLang="en-US" sz="1200" dirty="0">
                <a:solidFill>
                  <a:schemeClr val="bg2"/>
                </a:solidFill>
                <a:latin typeface="Source Sans Pro" panose="020B0503030403020204" pitchFamily="34" charset="0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的方式来编码，</a:t>
            </a:r>
            <a:r>
              <a:rPr lang="zh-CN" altLang="en-US" sz="1200" dirty="0">
                <a:solidFill>
                  <a:schemeClr val="tx1"/>
                </a:solidFill>
                <a:latin typeface="Source Sans Pro" panose="020B0503030403020204" pitchFamily="34" charset="0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推荐优先使用</a:t>
            </a:r>
            <a:r>
              <a:rPr lang="en-US" altLang="zh-CN" sz="12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f-string</a:t>
            </a:r>
            <a:endParaRPr lang="en-US" altLang="zh-CN" sz="1200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351" y="3301154"/>
            <a:ext cx="4784571" cy="1804466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/>
              <a:t>s</a:t>
            </a:r>
            <a:r>
              <a:rPr kumimoji="1" lang="en-GB" altLang="zh-CN" dirty="0"/>
              <a:t>tr.format(): b, o, x</a:t>
            </a:r>
            <a:endParaRPr kumimoji="1" lang="zh-CN" altLang="en-US" dirty="0"/>
          </a:p>
        </p:txBody>
      </p:sp>
      <p:sp>
        <p:nvSpPr>
          <p:cNvPr id="4" name="TextBox 14"/>
          <p:cNvSpPr txBox="1"/>
          <p:nvPr/>
        </p:nvSpPr>
        <p:spPr>
          <a:xfrm>
            <a:off x="6887556" y="1537937"/>
            <a:ext cx="1944744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defTabSz="95059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d: 10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黑体" panose="02010609060101010101" pitchFamily="49" charset="-122"/>
                <a:cs typeface="+mn-cs"/>
              </a:rPr>
              <a:t>进制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(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黑体" panose="02010609060101010101" pitchFamily="49" charset="-122"/>
                <a:cs typeface="+mn-cs"/>
              </a:rPr>
              <a:t>默认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)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  <a:p>
            <a:pPr marL="0" marR="0" lvl="0" indent="0" defTabSz="95059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b, o, x: 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黑体" panose="02010609060101010101" pitchFamily="49" charset="-122"/>
                <a:cs typeface="+mn-cs"/>
              </a:rPr>
              <a:t>二、八、十六进制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" panose="020B0503030403020204" pitchFamily="34" charset="0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5" name="Picture 6" descr="Text, letter&#10;&#10;Description automatically generated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544" y="1581725"/>
            <a:ext cx="1945424" cy="1507493"/>
          </a:xfrm>
          <a:prstGeom prst="rect">
            <a:avLst/>
          </a:prstGeom>
        </p:spPr>
      </p:pic>
      <p:pic>
        <p:nvPicPr>
          <p:cNvPr id="6" name="Picture 8" descr="A picture containing logo&#10;&#10;Description automatically generated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660" y="1591291"/>
            <a:ext cx="1042783" cy="419018"/>
          </a:xfrm>
          <a:prstGeom prst="rect">
            <a:avLst/>
          </a:prstGeom>
        </p:spPr>
      </p:pic>
      <p:pic>
        <p:nvPicPr>
          <p:cNvPr id="7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545" y="3294741"/>
            <a:ext cx="1945424" cy="1266134"/>
          </a:xfrm>
          <a:prstGeom prst="rect">
            <a:avLst/>
          </a:prstGeom>
        </p:spPr>
      </p:pic>
      <p:pic>
        <p:nvPicPr>
          <p:cNvPr id="8" name="Picture 13" descr="Text&#10;&#10;Description automatically generated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660" y="3294741"/>
            <a:ext cx="643857" cy="419018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419663" y="1068425"/>
            <a:ext cx="8304673" cy="307777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The bin() method converts and returns the binary equivalent string of a given integer </a:t>
            </a:r>
            <a:endParaRPr lang="en-US" altLang="zh-CN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12" name="Picture 3" descr="Text&#10;&#10;Description automatically generated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4961" y="1592638"/>
            <a:ext cx="1944744" cy="648248"/>
          </a:xfrm>
          <a:prstGeom prst="rect">
            <a:avLst/>
          </a:prstGeom>
        </p:spPr>
      </p:pic>
      <p:pic>
        <p:nvPicPr>
          <p:cNvPr id="13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4961" y="2394277"/>
            <a:ext cx="2150797" cy="177473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24961" y="3297103"/>
            <a:ext cx="3698395" cy="739679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24961" y="4161787"/>
            <a:ext cx="695325" cy="21907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755130" y="4184650"/>
            <a:ext cx="19691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二进制里有多少个一</a:t>
            </a:r>
            <a:endParaRPr lang="zh-CN" altLang="en-US"/>
          </a:p>
        </p:txBody>
      </p:sp>
      <p:cxnSp>
        <p:nvCxnSpPr>
          <p:cNvPr id="9" name="曲线连接符 8"/>
          <p:cNvCxnSpPr>
            <a:endCxn id="3" idx="1"/>
          </p:cNvCxnSpPr>
          <p:nvPr/>
        </p:nvCxnSpPr>
        <p:spPr>
          <a:xfrm rot="5400000" flipV="1">
            <a:off x="6499860" y="4082415"/>
            <a:ext cx="450215" cy="60325"/>
          </a:xfrm>
          <a:prstGeom prst="curved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6305550" y="2042795"/>
            <a:ext cx="24295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进制转化</a:t>
            </a:r>
            <a:r>
              <a:rPr lang="en-US" altLang="zh-CN"/>
              <a:t>bin(), oct(), hex(), int(“”, base = 2/8/16)</a:t>
            </a:r>
            <a:endParaRPr lang="en-US" altLang="zh-CN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Format string </a:t>
            </a:r>
            <a:endParaRPr lang="en-US" alt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700" y="1142248"/>
            <a:ext cx="8520600" cy="1768732"/>
          </a:xfrm>
        </p:spPr>
        <p:txBody>
          <a:bodyPr>
            <a:normAutofit/>
          </a:bodyPr>
          <a:lstStyle/>
          <a:p>
            <a:r>
              <a:rPr lang="en-US" altLang="zh-CN" sz="14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{:format}</a:t>
            </a:r>
            <a:r>
              <a:rPr lang="zh-CN" altLang="en-US" sz="1400" dirty="0">
                <a:solidFill>
                  <a:schemeClr val="bg2"/>
                </a:solidFill>
                <a:latin typeface="Source Sans Pro" panose="020B0503030403020204" pitchFamily="34" charset="0"/>
                <a:ea typeface="黑体" panose="02010609060101010101" pitchFamily="49" charset="-122"/>
              </a:rPr>
              <a:t>：</a:t>
            </a:r>
            <a:r>
              <a:rPr lang="en-US" altLang="zh-CN" sz="14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Alignment(</a:t>
            </a:r>
            <a:r>
              <a:rPr lang="zh-CN" altLang="en-US" sz="1400" dirty="0">
                <a:solidFill>
                  <a:schemeClr val="bg2"/>
                </a:solidFill>
                <a:latin typeface="Source Sans Pro" panose="020B0503030403020204" pitchFamily="34" charset="0"/>
                <a:ea typeface="黑体" panose="02010609060101010101" pitchFamily="49" charset="-122"/>
              </a:rPr>
              <a:t>对齐方式</a:t>
            </a:r>
            <a:r>
              <a:rPr lang="en-US" altLang="zh-CN" sz="14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:</a:t>
            </a:r>
            <a:r>
              <a:rPr lang="zh-CN" altLang="en-US" sz="1400" dirty="0">
                <a:solidFill>
                  <a:schemeClr val="bg2"/>
                </a:solidFill>
                <a:latin typeface="Source Sans Pro" panose="020B0503030403020204" pitchFamily="34" charset="0"/>
                <a:ea typeface="黑体" panose="02010609060101010101" pitchFamily="49" charset="-122"/>
              </a:rPr>
              <a:t> </a:t>
            </a:r>
            <a:r>
              <a:rPr lang="en-US" altLang="zh-CN" sz="14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&lt;,</a:t>
            </a:r>
            <a:r>
              <a:rPr lang="zh-CN" altLang="en-US" sz="1400" dirty="0">
                <a:solidFill>
                  <a:schemeClr val="tx1"/>
                </a:solidFill>
                <a:latin typeface="Source Sans Pro" panose="020B0503030403020204" pitchFamily="34" charset="0"/>
                <a:ea typeface="黑体" panose="02010609060101010101" pitchFamily="49" charset="-122"/>
              </a:rPr>
              <a:t> </a:t>
            </a:r>
            <a:r>
              <a:rPr lang="en-US" altLang="zh-CN" sz="14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=,</a:t>
            </a:r>
            <a:r>
              <a:rPr lang="zh-CN" altLang="en-US" sz="1400" dirty="0">
                <a:solidFill>
                  <a:schemeClr val="tx1"/>
                </a:solidFill>
                <a:latin typeface="Source Sans Pro" panose="020B0503030403020204" pitchFamily="34" charset="0"/>
                <a:ea typeface="黑体" panose="02010609060101010101" pitchFamily="49" charset="-122"/>
              </a:rPr>
              <a:t>  </a:t>
            </a:r>
            <a:r>
              <a:rPr lang="en-US" altLang="zh-CN" sz="14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&gt;</a:t>
            </a:r>
            <a:r>
              <a:rPr lang="en-US" altLang="zh-CN" sz="14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), width(</a:t>
            </a:r>
            <a:r>
              <a:rPr lang="zh-CN" altLang="en-US" sz="1400" dirty="0">
                <a:solidFill>
                  <a:schemeClr val="bg2"/>
                </a:solidFill>
                <a:latin typeface="Source Sans Pro" panose="020B0503030403020204" pitchFamily="34" charset="0"/>
                <a:ea typeface="黑体" panose="02010609060101010101" pitchFamily="49" charset="-122"/>
              </a:rPr>
              <a:t>宽度</a:t>
            </a:r>
            <a:r>
              <a:rPr lang="en-US" altLang="zh-CN" sz="14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), </a:t>
            </a:r>
            <a:r>
              <a:rPr lang="zh-CN" altLang="en-US" sz="1400" dirty="0">
                <a:solidFill>
                  <a:schemeClr val="bg2"/>
                </a:solidFill>
                <a:latin typeface="Source Sans Pro" panose="020B0503030403020204" pitchFamily="34" charset="0"/>
                <a:ea typeface="黑体" panose="02010609060101010101" pitchFamily="49" charset="-122"/>
              </a:rPr>
              <a:t>小数位</a:t>
            </a:r>
            <a:endParaRPr lang="zh-CN" altLang="en-US" sz="1400" dirty="0">
              <a:solidFill>
                <a:schemeClr val="bg2"/>
              </a:solidFill>
              <a:latin typeface="Source Sans Pro" panose="020B0503030403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en-US" sz="1200" dirty="0">
                <a:solidFill>
                  <a:schemeClr val="bg2"/>
                </a:solidFill>
                <a:latin typeface="Source Sans Pro" panose="020B0503030403020204" pitchFamily="34" charset="0"/>
                <a:ea typeface="黑体" panose="02010609060101010101" pitchFamily="49" charset="-122"/>
              </a:rPr>
              <a:t>每个单元格，有宽度。所谓宽度</a:t>
            </a:r>
            <a:r>
              <a:rPr lang="en-US" altLang="zh-CN" sz="12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(width)</a:t>
            </a:r>
            <a:r>
              <a:rPr lang="zh-CN" altLang="en-US" sz="1200" dirty="0">
                <a:solidFill>
                  <a:schemeClr val="bg2"/>
                </a:solidFill>
                <a:latin typeface="Source Sans Pro" panose="020B0503030403020204" pitchFamily="34" charset="0"/>
                <a:ea typeface="黑体" panose="02010609060101010101" pitchFamily="49" charset="-122"/>
              </a:rPr>
              <a:t>为</a:t>
            </a:r>
            <a:r>
              <a:rPr lang="en-US" altLang="zh-CN" sz="12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10</a:t>
            </a:r>
            <a:r>
              <a:rPr lang="zh-CN" altLang="en-US" sz="1200" dirty="0">
                <a:solidFill>
                  <a:schemeClr val="bg2"/>
                </a:solidFill>
                <a:latin typeface="Source Sans Pro" panose="020B0503030403020204" pitchFamily="34" charset="0"/>
                <a:ea typeface="黑体" panose="02010609060101010101" pitchFamily="49" charset="-122"/>
              </a:rPr>
              <a:t>，就是输出的时候，用当前光标位置后面</a:t>
            </a:r>
            <a:r>
              <a:rPr lang="en-US" altLang="zh-CN" sz="12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10</a:t>
            </a:r>
            <a:r>
              <a:rPr lang="zh-CN" altLang="en-US" sz="1200" dirty="0">
                <a:solidFill>
                  <a:schemeClr val="bg2"/>
                </a:solidFill>
                <a:latin typeface="Source Sans Pro" panose="020B0503030403020204" pitchFamily="34" charset="0"/>
                <a:ea typeface="黑体" panose="02010609060101010101" pitchFamily="49" charset="-122"/>
              </a:rPr>
              <a:t>个位置来输出数据。有三种情况：</a:t>
            </a:r>
            <a:endParaRPr lang="zh-CN" altLang="en-US" sz="1200" dirty="0">
              <a:solidFill>
                <a:schemeClr val="bg2"/>
              </a:solidFill>
              <a:latin typeface="Source Sans Pro" panose="020B0503030403020204" pitchFamily="34" charset="0"/>
              <a:ea typeface="黑体" panose="02010609060101010101" pitchFamily="49" charset="-122"/>
            </a:endParaRPr>
          </a:p>
          <a:p>
            <a:pPr lvl="2"/>
            <a:r>
              <a:rPr lang="zh-CN" altLang="en-US" sz="1200" dirty="0">
                <a:solidFill>
                  <a:schemeClr val="bg2"/>
                </a:solidFill>
                <a:latin typeface="Source Sans Pro" panose="020B0503030403020204" pitchFamily="34" charset="0"/>
                <a:ea typeface="黑体" panose="02010609060101010101" pitchFamily="49" charset="-122"/>
              </a:rPr>
              <a:t>数据长度大于</a:t>
            </a:r>
            <a:r>
              <a:rPr lang="en-US" altLang="zh-CN" sz="12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10</a:t>
            </a:r>
            <a:r>
              <a:rPr lang="zh-CN" altLang="en-US" sz="1200" dirty="0">
                <a:solidFill>
                  <a:schemeClr val="bg2"/>
                </a:solidFill>
                <a:latin typeface="Source Sans Pro" panose="020B0503030403020204" pitchFamily="34" charset="0"/>
                <a:ea typeface="黑体" panose="02010609060101010101" pitchFamily="49" charset="-122"/>
              </a:rPr>
              <a:t>。</a:t>
            </a:r>
            <a:r>
              <a:rPr lang="zh-CN" altLang="en-US" sz="1200" dirty="0">
                <a:solidFill>
                  <a:schemeClr val="bg2"/>
                </a:solidFill>
                <a:highlight>
                  <a:srgbClr val="FFFF00"/>
                </a:highlight>
                <a:latin typeface="Source Sans Pro" panose="020B0503030403020204" pitchFamily="34" charset="0"/>
                <a:ea typeface="黑体" panose="02010609060101010101" pitchFamily="49" charset="-122"/>
              </a:rPr>
              <a:t>默认输出</a:t>
            </a:r>
            <a:endParaRPr lang="zh-CN" altLang="en-US" sz="1200" dirty="0">
              <a:solidFill>
                <a:schemeClr val="bg2"/>
              </a:solidFill>
              <a:latin typeface="Source Sans Pro" panose="020B0503030403020204" pitchFamily="34" charset="0"/>
              <a:ea typeface="黑体" panose="02010609060101010101" pitchFamily="49" charset="-122"/>
            </a:endParaRPr>
          </a:p>
          <a:p>
            <a:pPr lvl="2"/>
            <a:r>
              <a:rPr lang="zh-CN" altLang="en-US" sz="1200" dirty="0">
                <a:solidFill>
                  <a:schemeClr val="bg2"/>
                </a:solidFill>
                <a:latin typeface="Source Sans Pro" panose="020B0503030403020204" pitchFamily="34" charset="0"/>
                <a:ea typeface="黑体" panose="02010609060101010101" pitchFamily="49" charset="-122"/>
              </a:rPr>
              <a:t>小于</a:t>
            </a:r>
            <a:r>
              <a:rPr lang="en-US" altLang="zh-CN" sz="12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10</a:t>
            </a:r>
            <a:r>
              <a:rPr lang="zh-CN" altLang="en-US" sz="1200" dirty="0">
                <a:solidFill>
                  <a:schemeClr val="bg2"/>
                </a:solidFill>
                <a:latin typeface="Source Sans Pro" panose="020B0503030403020204" pitchFamily="34" charset="0"/>
                <a:ea typeface="黑体" panose="02010609060101010101" pitchFamily="49" charset="-122"/>
              </a:rPr>
              <a:t>。左对齐和右对齐（默认右对齐）</a:t>
            </a:r>
            <a:endParaRPr lang="zh-CN" altLang="en-US" sz="1200" dirty="0">
              <a:solidFill>
                <a:schemeClr val="bg2"/>
              </a:solidFill>
              <a:latin typeface="Source Sans Pro" panose="020B0503030403020204" pitchFamily="34" charset="0"/>
              <a:ea typeface="黑体" panose="02010609060101010101" pitchFamily="49" charset="-122"/>
            </a:endParaRPr>
          </a:p>
          <a:p>
            <a:pPr lvl="2"/>
            <a:r>
              <a:rPr lang="zh-CN" altLang="en-US" sz="1200" dirty="0">
                <a:solidFill>
                  <a:schemeClr val="bg2"/>
                </a:solidFill>
                <a:latin typeface="Source Sans Pro" panose="020B0503030403020204" pitchFamily="34" charset="0"/>
                <a:ea typeface="黑体" panose="02010609060101010101" pitchFamily="49" charset="-122"/>
              </a:rPr>
              <a:t>等于</a:t>
            </a:r>
            <a:r>
              <a:rPr lang="en-US" altLang="zh-CN" sz="12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10</a:t>
            </a:r>
            <a:r>
              <a:rPr lang="zh-CN" altLang="en-US" sz="1200" dirty="0">
                <a:solidFill>
                  <a:schemeClr val="bg2"/>
                </a:solidFill>
                <a:latin typeface="Source Sans Pro" panose="020B0503030403020204" pitchFamily="34" charset="0"/>
                <a:ea typeface="黑体" panose="02010609060101010101" pitchFamily="49" charset="-122"/>
              </a:rPr>
              <a:t>。 正常输出即可</a:t>
            </a:r>
            <a:endParaRPr lang="zh-CN" altLang="en-US" sz="1200" dirty="0">
              <a:solidFill>
                <a:schemeClr val="bg2"/>
              </a:solidFill>
              <a:latin typeface="Source Sans Pro" panose="020B0503030403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en-US" sz="1200" dirty="0">
                <a:solidFill>
                  <a:schemeClr val="bg2"/>
                </a:solidFill>
                <a:latin typeface="Source Sans Pro" panose="020B0503030403020204" pitchFamily="34" charset="0"/>
                <a:ea typeface="黑体" panose="02010609060101010101" pitchFamily="49" charset="-122"/>
              </a:rPr>
              <a:t>对于浮点数，要进一步指明小数点后面的位数。</a:t>
            </a:r>
            <a:r>
              <a:rPr lang="en-US" altLang="zh-CN" sz="12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10.3f</a:t>
            </a:r>
            <a:r>
              <a:rPr lang="zh-CN" altLang="en-US" sz="1200" dirty="0">
                <a:solidFill>
                  <a:schemeClr val="bg2"/>
                </a:solidFill>
                <a:latin typeface="Source Sans Pro" panose="020B0503030403020204" pitchFamily="34" charset="0"/>
                <a:ea typeface="黑体" panose="02010609060101010101" pitchFamily="49" charset="-122"/>
              </a:rPr>
              <a:t>就是宽度为</a:t>
            </a:r>
            <a:r>
              <a:rPr lang="en-US" altLang="zh-CN" sz="12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10</a:t>
            </a:r>
            <a:r>
              <a:rPr lang="zh-CN" altLang="en-US" sz="1200" dirty="0">
                <a:solidFill>
                  <a:schemeClr val="bg2"/>
                </a:solidFill>
                <a:latin typeface="Source Sans Pro" panose="020B0503030403020204" pitchFamily="34" charset="0"/>
                <a:ea typeface="黑体" panose="02010609060101010101" pitchFamily="49" charset="-122"/>
              </a:rPr>
              <a:t>，后面保留</a:t>
            </a:r>
            <a:r>
              <a:rPr lang="en-US" altLang="zh-CN" sz="12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  <a:r>
              <a:rPr lang="zh-CN" altLang="en-US" sz="1200" dirty="0">
                <a:solidFill>
                  <a:schemeClr val="bg2"/>
                </a:solidFill>
                <a:latin typeface="Source Sans Pro" panose="020B0503030403020204" pitchFamily="34" charset="0"/>
                <a:ea typeface="黑体" panose="02010609060101010101" pitchFamily="49" charset="-122"/>
              </a:rPr>
              <a:t>位</a:t>
            </a:r>
            <a:r>
              <a:rPr lang="en-US" altLang="zh-CN" sz="12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 f</a:t>
            </a:r>
            <a:r>
              <a:rPr lang="zh-CN" altLang="en-US" sz="1200" dirty="0">
                <a:solidFill>
                  <a:schemeClr val="bg2"/>
                </a:solidFill>
                <a:latin typeface="Source Sans Pro" panose="020B0503030403020204" pitchFamily="34" charset="0"/>
                <a:ea typeface="黑体" panose="02010609060101010101" pitchFamily="49" charset="-122"/>
              </a:rPr>
              <a:t>表示浮点数</a:t>
            </a:r>
            <a:endParaRPr lang="zh-CN" altLang="en-US" sz="1200" dirty="0">
              <a:solidFill>
                <a:schemeClr val="bg2"/>
              </a:solidFill>
              <a:latin typeface="Source Sans Pro" panose="020B0503030403020204" pitchFamily="34" charset="0"/>
              <a:ea typeface="黑体" panose="02010609060101010101" pitchFamily="49" charset="-122"/>
            </a:endParaRPr>
          </a:p>
          <a:p>
            <a:pPr lvl="1"/>
            <a:endParaRPr lang="zh-CN" altLang="en-US" sz="1200" dirty="0">
              <a:solidFill>
                <a:schemeClr val="bg2"/>
              </a:solidFill>
            </a:endParaRPr>
          </a:p>
        </p:txBody>
      </p:sp>
      <p:pic>
        <p:nvPicPr>
          <p:cNvPr id="4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428" y="2902202"/>
            <a:ext cx="4158014" cy="661972"/>
          </a:xfrm>
          <a:prstGeom prst="rect">
            <a:avLst/>
          </a:prstGeom>
        </p:spPr>
      </p:pic>
      <p:pic>
        <p:nvPicPr>
          <p:cNvPr id="5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161" y="2901534"/>
            <a:ext cx="1374473" cy="537084"/>
          </a:xfrm>
          <a:prstGeom prst="rect">
            <a:avLst/>
          </a:prstGeom>
        </p:spPr>
      </p:pic>
      <p:pic>
        <p:nvPicPr>
          <p:cNvPr id="6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428" y="3850146"/>
            <a:ext cx="6228861" cy="857246"/>
          </a:xfrm>
          <a:prstGeom prst="rect">
            <a:avLst/>
          </a:prstGeom>
        </p:spPr>
      </p:pic>
      <p:pic>
        <p:nvPicPr>
          <p:cNvPr id="7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0663" y="3850146"/>
            <a:ext cx="2221637" cy="680649"/>
          </a:xfrm>
          <a:prstGeom prst="rect">
            <a:avLst/>
          </a:prstGeom>
        </p:spPr>
      </p:pic>
      <p:sp>
        <p:nvSpPr>
          <p:cNvPr id="9" name="文本占位符 2"/>
          <p:cNvSpPr txBox="1"/>
          <p:nvPr/>
        </p:nvSpPr>
        <p:spPr>
          <a:xfrm>
            <a:off x="6083353" y="2821095"/>
            <a:ext cx="2377257" cy="832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 panose="020B0503030403020204"/>
              <a:buChar char="●"/>
              <a:defRPr sz="1800" b="0" i="0" u="none" strike="noStrike" cap="none">
                <a:solidFill>
                  <a:schemeClr val="lt2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1pPr>
            <a:lvl2pPr marL="914400" marR="0" lvl="1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 panose="020B0503030403020204"/>
              <a:buChar char="○"/>
              <a:defRPr sz="1400" b="0" i="0" u="none" strike="noStrike" cap="none">
                <a:solidFill>
                  <a:schemeClr val="lt2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2pPr>
            <a:lvl3pPr marL="1371600" marR="0" lvl="2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 panose="020B0503030403020204"/>
              <a:buChar char="■"/>
              <a:defRPr sz="1400" b="0" i="0" u="none" strike="noStrike" cap="none">
                <a:solidFill>
                  <a:schemeClr val="lt2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3pPr>
            <a:lvl4pPr marL="1828800" marR="0" lvl="3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 panose="020B0503030403020204"/>
              <a:buChar char="●"/>
              <a:defRPr sz="1400" b="0" i="0" u="none" strike="noStrike" cap="none">
                <a:solidFill>
                  <a:schemeClr val="lt2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4pPr>
            <a:lvl5pPr marL="2286000" marR="0" lvl="4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 panose="020B0503030403020204"/>
              <a:buChar char="○"/>
              <a:defRPr sz="1400" b="0" i="0" u="none" strike="noStrike" cap="none">
                <a:solidFill>
                  <a:schemeClr val="lt2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5pPr>
            <a:lvl6pPr marL="2743200" marR="0" lvl="5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 panose="020B0503030403020204"/>
              <a:buChar char="■"/>
              <a:defRPr sz="1400" b="0" i="0" u="none" strike="noStrike" cap="none">
                <a:solidFill>
                  <a:schemeClr val="lt2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6pPr>
            <a:lvl7pPr marL="3200400" marR="0" lvl="6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 panose="020B0503030403020204"/>
              <a:buChar char="●"/>
              <a:defRPr sz="1400" b="0" i="0" u="none" strike="noStrike" cap="none">
                <a:solidFill>
                  <a:schemeClr val="lt2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7pPr>
            <a:lvl8pPr marL="3657600" marR="0" lvl="7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 panose="020B0503030403020204"/>
              <a:buChar char="○"/>
              <a:defRPr sz="1400" b="0" i="0" u="none" strike="noStrike" cap="none">
                <a:solidFill>
                  <a:schemeClr val="lt2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8pPr>
            <a:lvl9pPr marL="4114800" marR="0" lvl="8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 panose="020B0503030403020204"/>
              <a:buChar char="■"/>
              <a:defRPr sz="1400" b="0" i="0" u="none" strike="noStrike" cap="none">
                <a:solidFill>
                  <a:schemeClr val="lt2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9pPr>
          </a:lstStyle>
          <a:p>
            <a:r>
              <a:rPr lang="zh-CN" altLang="en-US" sz="1200" dirty="0">
                <a:solidFill>
                  <a:schemeClr val="bg2"/>
                </a:solidFill>
              </a:rPr>
              <a:t>宽度为</a:t>
            </a:r>
            <a:r>
              <a:rPr lang="en-US" altLang="zh-CN" sz="1200" dirty="0">
                <a:solidFill>
                  <a:schemeClr val="bg2"/>
                </a:solidFill>
              </a:rPr>
              <a:t>10</a:t>
            </a:r>
            <a:r>
              <a:rPr lang="zh-CN" altLang="en-US" sz="1200" dirty="0">
                <a:solidFill>
                  <a:schemeClr val="bg2"/>
                </a:solidFill>
              </a:rPr>
              <a:t>，右对齐 </a:t>
            </a:r>
            <a:r>
              <a:rPr lang="en-US" altLang="zh-CN" sz="1200" dirty="0">
                <a:solidFill>
                  <a:schemeClr val="bg2"/>
                </a:solidFill>
              </a:rPr>
              <a:t>&gt;</a:t>
            </a:r>
            <a:endParaRPr lang="zh-CN" altLang="en-US" sz="1200" dirty="0">
              <a:solidFill>
                <a:schemeClr val="bg2"/>
              </a:solidFill>
            </a:endParaRPr>
          </a:p>
          <a:p>
            <a:r>
              <a:rPr lang="zh-CN" altLang="en-US" sz="1200" dirty="0">
                <a:solidFill>
                  <a:schemeClr val="bg2"/>
                </a:solidFill>
              </a:rPr>
              <a:t>宽度为</a:t>
            </a:r>
            <a:r>
              <a:rPr lang="en-US" altLang="zh-CN" sz="1200" dirty="0">
                <a:solidFill>
                  <a:schemeClr val="bg2"/>
                </a:solidFill>
              </a:rPr>
              <a:t>10</a:t>
            </a:r>
            <a:r>
              <a:rPr lang="zh-CN" altLang="en-US" sz="1200" dirty="0">
                <a:solidFill>
                  <a:schemeClr val="bg2"/>
                </a:solidFill>
              </a:rPr>
              <a:t>， 左对齐 </a:t>
            </a:r>
            <a:r>
              <a:rPr lang="en-US" altLang="zh-CN" sz="1200" dirty="0">
                <a:solidFill>
                  <a:schemeClr val="bg2"/>
                </a:solidFill>
              </a:rPr>
              <a:t>&lt;</a:t>
            </a:r>
            <a:endParaRPr lang="zh-CN" altLang="en-US" sz="1200" dirty="0">
              <a:solidFill>
                <a:schemeClr val="bg2"/>
              </a:solidFill>
            </a:endParaRPr>
          </a:p>
          <a:p>
            <a:r>
              <a:rPr lang="zh-CN" altLang="en-US" sz="1200" dirty="0">
                <a:solidFill>
                  <a:schemeClr val="bg2"/>
                </a:solidFill>
              </a:rPr>
              <a:t>宽度为</a:t>
            </a:r>
            <a:r>
              <a:rPr lang="en-US" altLang="zh-CN" sz="1200" dirty="0">
                <a:solidFill>
                  <a:schemeClr val="bg2"/>
                </a:solidFill>
              </a:rPr>
              <a:t>10</a:t>
            </a:r>
            <a:r>
              <a:rPr lang="zh-CN" altLang="en-US" sz="1200" dirty="0">
                <a:solidFill>
                  <a:schemeClr val="bg2"/>
                </a:solidFill>
              </a:rPr>
              <a:t>，保留三位小数</a:t>
            </a:r>
            <a:endParaRPr lang="zh-CN" altLang="en-US" sz="1200" dirty="0">
              <a:solidFill>
                <a:schemeClr val="bg2"/>
              </a:solidFill>
            </a:endParaRPr>
          </a:p>
        </p:txBody>
      </p:sp>
      <p:sp>
        <p:nvSpPr>
          <p:cNvPr id="11" name="文本占位符 2"/>
          <p:cNvSpPr txBox="1"/>
          <p:nvPr/>
        </p:nvSpPr>
        <p:spPr>
          <a:xfrm>
            <a:off x="158424" y="4744757"/>
            <a:ext cx="2377257" cy="398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 panose="020B0503030403020204"/>
              <a:buChar char="●"/>
              <a:defRPr sz="1800" b="0" i="0" u="none" strike="noStrike" cap="none">
                <a:solidFill>
                  <a:schemeClr val="lt2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1pPr>
            <a:lvl2pPr marL="914400" marR="0" lvl="1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 panose="020B0503030403020204"/>
              <a:buChar char="○"/>
              <a:defRPr sz="1400" b="0" i="0" u="none" strike="noStrike" cap="none">
                <a:solidFill>
                  <a:schemeClr val="lt2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2pPr>
            <a:lvl3pPr marL="1371600" marR="0" lvl="2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 panose="020B0503030403020204"/>
              <a:buChar char="■"/>
              <a:defRPr sz="1400" b="0" i="0" u="none" strike="noStrike" cap="none">
                <a:solidFill>
                  <a:schemeClr val="lt2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3pPr>
            <a:lvl4pPr marL="1828800" marR="0" lvl="3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 panose="020B0503030403020204"/>
              <a:buChar char="●"/>
              <a:defRPr sz="1400" b="0" i="0" u="none" strike="noStrike" cap="none">
                <a:solidFill>
                  <a:schemeClr val="lt2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4pPr>
            <a:lvl5pPr marL="2286000" marR="0" lvl="4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 panose="020B0503030403020204"/>
              <a:buChar char="○"/>
              <a:defRPr sz="1400" b="0" i="0" u="none" strike="noStrike" cap="none">
                <a:solidFill>
                  <a:schemeClr val="lt2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5pPr>
            <a:lvl6pPr marL="2743200" marR="0" lvl="5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 panose="020B0503030403020204"/>
              <a:buChar char="■"/>
              <a:defRPr sz="1400" b="0" i="0" u="none" strike="noStrike" cap="none">
                <a:solidFill>
                  <a:schemeClr val="lt2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6pPr>
            <a:lvl7pPr marL="3200400" marR="0" lvl="6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 panose="020B0503030403020204"/>
              <a:buChar char="●"/>
              <a:defRPr sz="1400" b="0" i="0" u="none" strike="noStrike" cap="none">
                <a:solidFill>
                  <a:schemeClr val="lt2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7pPr>
            <a:lvl8pPr marL="3657600" marR="0" lvl="7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 panose="020B0503030403020204"/>
              <a:buChar char="○"/>
              <a:defRPr sz="1400" b="0" i="0" u="none" strike="noStrike" cap="none">
                <a:solidFill>
                  <a:schemeClr val="lt2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8pPr>
            <a:lvl9pPr marL="4114800" marR="0" lvl="8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 panose="020B0503030403020204"/>
              <a:buChar char="■"/>
              <a:defRPr sz="1400" b="0" i="0" u="none" strike="noStrike" cap="none">
                <a:solidFill>
                  <a:schemeClr val="lt2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9pPr>
          </a:lstStyle>
          <a:p>
            <a:pPr marL="114300" indent="0">
              <a:buNone/>
            </a:pPr>
            <a:r>
              <a:rPr lang="zh-CN" altLang="en-US" sz="1200" dirty="0">
                <a:solidFill>
                  <a:schemeClr val="bg2"/>
                </a:solidFill>
              </a:rPr>
              <a:t>宽度为</a:t>
            </a:r>
            <a:r>
              <a:rPr lang="en-US" altLang="zh-CN" sz="1200" dirty="0">
                <a:solidFill>
                  <a:schemeClr val="bg2"/>
                </a:solidFill>
              </a:rPr>
              <a:t>5</a:t>
            </a:r>
            <a:r>
              <a:rPr lang="zh-CN" altLang="en-US" sz="1200" dirty="0">
                <a:solidFill>
                  <a:schemeClr val="bg2"/>
                </a:solidFill>
              </a:rPr>
              <a:t>，</a:t>
            </a:r>
            <a:r>
              <a:rPr lang="en-US" altLang="zh-CN" sz="1200" dirty="0">
                <a:solidFill>
                  <a:schemeClr val="bg2"/>
                </a:solidFill>
              </a:rPr>
              <a:t>&gt;</a:t>
            </a:r>
            <a:r>
              <a:rPr lang="zh-CN" altLang="en-US" sz="1200" dirty="0">
                <a:solidFill>
                  <a:schemeClr val="bg2"/>
                </a:solidFill>
              </a:rPr>
              <a:t>右对齐</a:t>
            </a:r>
            <a:endParaRPr lang="zh-CN" altLang="en-US" sz="12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/>
              <a:t>s</a:t>
            </a:r>
            <a:r>
              <a:rPr kumimoji="1" lang="en-GB" altLang="zh-CN" dirty="0" err="1"/>
              <a:t>tr.format</a:t>
            </a:r>
            <a:r>
              <a:rPr kumimoji="1" lang="en-GB" altLang="zh-CN" dirty="0"/>
              <a:t>(): f, d, c, s</a:t>
            </a:r>
            <a:br>
              <a:rPr kumimoji="1" lang="en-GB" altLang="zh-CN" dirty="0"/>
            </a:br>
            <a:br>
              <a:rPr kumimoji="1" lang="en-GB" altLang="zh-CN" dirty="0"/>
            </a:br>
            <a:endParaRPr kumimoji="1" lang="zh-CN" altLang="en-US" dirty="0"/>
          </a:p>
        </p:txBody>
      </p:sp>
      <p:pic>
        <p:nvPicPr>
          <p:cNvPr id="5" name="Picture 2" descr="A picture containing text&#10;&#10;Description automatically generated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00" y="1106640"/>
            <a:ext cx="5920258" cy="1248247"/>
          </a:xfrm>
          <a:prstGeom prst="rect">
            <a:avLst/>
          </a:prstGeom>
        </p:spPr>
      </p:pic>
      <p:pic>
        <p:nvPicPr>
          <p:cNvPr id="6" name="Picture 5" descr="Text, letter&#10;&#10;Description automatically generated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0943" y="2421745"/>
            <a:ext cx="3625057" cy="929969"/>
          </a:xfrm>
          <a:prstGeom prst="rect">
            <a:avLst/>
          </a:prstGeom>
        </p:spPr>
      </p:pic>
      <p:pic>
        <p:nvPicPr>
          <p:cNvPr id="7" name="Picture 7" descr="Text&#10;&#10;Description automatically generated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00" y="2424078"/>
            <a:ext cx="3419633" cy="1631901"/>
          </a:xfrm>
          <a:prstGeom prst="rect">
            <a:avLst/>
          </a:prstGeom>
        </p:spPr>
      </p:pic>
      <p:pic>
        <p:nvPicPr>
          <p:cNvPr id="8" name="Picture 9" descr="Text&#10;&#10;Description automatically generated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5564" y="2926496"/>
            <a:ext cx="1196542" cy="1110364"/>
          </a:xfrm>
          <a:prstGeom prst="rect">
            <a:avLst/>
          </a:prstGeom>
        </p:spPr>
      </p:pic>
      <p:pic>
        <p:nvPicPr>
          <p:cNvPr id="9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112" y="4113017"/>
            <a:ext cx="4816583" cy="447187"/>
          </a:xfrm>
          <a:prstGeom prst="rect">
            <a:avLst/>
          </a:prstGeom>
        </p:spPr>
      </p:pic>
      <p:pic>
        <p:nvPicPr>
          <p:cNvPr id="10" name="Picture 15" descr="A close up of a logo&#10;&#10;Description automatically generated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9813" y="4153533"/>
            <a:ext cx="2910200" cy="366153"/>
          </a:xfrm>
          <a:prstGeom prst="rect">
            <a:avLst/>
          </a:prstGeom>
        </p:spPr>
      </p:pic>
      <p:sp>
        <p:nvSpPr>
          <p:cNvPr id="11" name="TextBox 16"/>
          <p:cNvSpPr txBox="1"/>
          <p:nvPr/>
        </p:nvSpPr>
        <p:spPr>
          <a:xfrm>
            <a:off x="7952392" y="3326852"/>
            <a:ext cx="1153608" cy="276999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默认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位小数</a:t>
            </a:r>
            <a:endParaRPr lang="zh-CN" altLang="en-US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TextBox 14"/>
          <p:cNvSpPr txBox="1"/>
          <p:nvPr/>
        </p:nvSpPr>
        <p:spPr>
          <a:xfrm>
            <a:off x="6474601" y="1362074"/>
            <a:ext cx="24408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defTabSz="95059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f: 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黑体" panose="02010609060101010101" pitchFamily="49" charset="-122"/>
                <a:cs typeface="+mn-cs"/>
              </a:rPr>
              <a:t>浮点数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  d: 10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黑体" panose="02010609060101010101" pitchFamily="49" charset="-122"/>
                <a:cs typeface="+mn-cs"/>
              </a:rPr>
              <a:t>进制整数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  <a:p>
            <a:pPr marL="0" marR="0" lvl="0" indent="0" defTabSz="95059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c: 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黑体" panose="02010609060101010101" pitchFamily="49" charset="-122"/>
                <a:cs typeface="+mn-cs"/>
              </a:rPr>
              <a:t>字符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    s: 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黑体" panose="02010609060101010101" pitchFamily="49" charset="-122"/>
                <a:cs typeface="+mn-cs"/>
              </a:rPr>
              <a:t>字符串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" panose="020B0503030403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0" y="4746961"/>
            <a:ext cx="59202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latin typeface="Source Sans Pro" panose="020B0503030403020204" pitchFamily="34" charset="0"/>
                <a:ea typeface="Source Sans Pro" panose="020B0503030403020204" pitchFamily="34" charset="0"/>
                <a:cs typeface="Sabon Next LT" panose="020B0502040204020203" pitchFamily="2" charset="0"/>
              </a:rPr>
              <a:t>https://www.w3schools.com/python/ref_string_format.asp</a:t>
            </a:r>
            <a:endParaRPr lang="en-US" altLang="zh-CN" sz="1000" dirty="0">
              <a:latin typeface="Source Sans Pro" panose="020B0503030403020204" pitchFamily="34" charset="0"/>
              <a:ea typeface="Source Sans Pro" panose="020B0503030403020204" pitchFamily="34" charset="0"/>
              <a:cs typeface="Sabon Next LT" panose="020B0502040204020203" pitchFamily="2" charset="0"/>
            </a:endParaRPr>
          </a:p>
          <a:p>
            <a:r>
              <a:rPr lang="en-US" altLang="zh-CN" sz="1000" dirty="0">
                <a:latin typeface="Source Sans Pro" panose="020B0503030403020204" pitchFamily="34" charset="0"/>
                <a:ea typeface="Source Sans Pro" panose="020B0503030403020204" pitchFamily="34" charset="0"/>
                <a:cs typeface="Sabon Next LT" panose="020B0502040204020203" pitchFamily="2" charset="0"/>
              </a:rPr>
              <a:t>https://docs.python.org/3.8/library/string.html</a:t>
            </a:r>
            <a:endParaRPr lang="en-US" altLang="zh-CN" sz="1000" dirty="0">
              <a:latin typeface="Source Sans Pro" panose="020B0503030403020204" pitchFamily="34" charset="0"/>
              <a:ea typeface="Source Sans Pro" panose="020B0503030403020204" pitchFamily="34" charset="0"/>
              <a:cs typeface="Sabon Next LT" panose="020B0502040204020203" pitchFamily="2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229100" y="2392680"/>
            <a:ext cx="6769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居中</a:t>
            </a:r>
            <a:endParaRPr lang="zh-CN" altLang="en-US"/>
          </a:p>
        </p:txBody>
      </p:sp>
      <p:cxnSp>
        <p:nvCxnSpPr>
          <p:cNvPr id="4" name="曲线连接符 3"/>
          <p:cNvCxnSpPr/>
          <p:nvPr/>
        </p:nvCxnSpPr>
        <p:spPr>
          <a:xfrm>
            <a:off x="3894455" y="2336165"/>
            <a:ext cx="463550" cy="208915"/>
          </a:xfrm>
          <a:prstGeom prst="curvedConnector3">
            <a:avLst>
              <a:gd name="adj1" fmla="val 50137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6474460" y="1817370"/>
            <a:ext cx="9829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单个字符</a:t>
            </a:r>
            <a:endParaRPr lang="zh-CN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/>
              <a:t>s</a:t>
            </a:r>
            <a:r>
              <a:rPr kumimoji="1" lang="en-GB" altLang="zh-CN" dirty="0" err="1"/>
              <a:t>tr.format</a:t>
            </a:r>
            <a:r>
              <a:rPr kumimoji="1" lang="en-GB" altLang="zh-CN" dirty="0"/>
              <a:t>(): format types </a:t>
            </a:r>
            <a:br>
              <a:rPr kumimoji="1" lang="en-GB" altLang="zh-CN" dirty="0"/>
            </a:br>
            <a:br>
              <a:rPr kumimoji="1" lang="en-GB" altLang="zh-CN" dirty="0"/>
            </a:b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01823" y="1068424"/>
            <a:ext cx="8108023" cy="3510000"/>
          </a:xfrm>
          <a:ln w="12700">
            <a:noFill/>
          </a:ln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kumimoji="1" lang="en-GB" altLang="zh-CN" sz="1400" dirty="0">
                <a:solidFill>
                  <a:schemeClr val="bg2"/>
                </a:solidFill>
              </a:rPr>
              <a:t>:&lt;		Left aligns the result (within the available space)</a:t>
            </a:r>
            <a:endParaRPr kumimoji="1" lang="en-GB" altLang="zh-CN" sz="1400" dirty="0">
              <a:solidFill>
                <a:schemeClr val="bg2"/>
              </a:solidFill>
            </a:endParaRPr>
          </a:p>
          <a:p>
            <a:pPr marL="114300" indent="0">
              <a:buNone/>
            </a:pPr>
            <a:r>
              <a:rPr kumimoji="1" lang="en-GB" altLang="zh-CN" sz="1400" dirty="0">
                <a:solidFill>
                  <a:schemeClr val="bg2"/>
                </a:solidFill>
              </a:rPr>
              <a:t>:&gt;		Right aligns the result (within the available space)</a:t>
            </a:r>
            <a:endParaRPr kumimoji="1" lang="en-GB" altLang="zh-CN" sz="1400" dirty="0">
              <a:solidFill>
                <a:schemeClr val="bg2"/>
              </a:solidFill>
            </a:endParaRPr>
          </a:p>
          <a:p>
            <a:pPr marL="114300" indent="0">
              <a:buNone/>
            </a:pPr>
            <a:r>
              <a:rPr kumimoji="1" lang="en-GB" altLang="zh-CN" sz="1400" dirty="0">
                <a:solidFill>
                  <a:schemeClr val="bg2"/>
                </a:solidFill>
              </a:rPr>
              <a:t>:^		Center aligns the result (within the available space)</a:t>
            </a:r>
            <a:endParaRPr kumimoji="1" lang="en-GB" altLang="zh-CN" sz="1400" dirty="0">
              <a:solidFill>
                <a:schemeClr val="bg2"/>
              </a:solidFill>
            </a:endParaRPr>
          </a:p>
          <a:p>
            <a:pPr marL="114300" indent="0">
              <a:buNone/>
            </a:pPr>
            <a:r>
              <a:rPr kumimoji="1" lang="en-GB" altLang="zh-CN" sz="1400" dirty="0">
                <a:solidFill>
                  <a:schemeClr val="bg2"/>
                </a:solidFill>
              </a:rPr>
              <a:t>:=		Places the sign to the left most position</a:t>
            </a:r>
            <a:endParaRPr kumimoji="1" lang="en-GB" altLang="zh-CN" sz="1400" dirty="0">
              <a:solidFill>
                <a:schemeClr val="bg2"/>
              </a:solidFill>
            </a:endParaRPr>
          </a:p>
          <a:p>
            <a:pPr marL="114300" indent="0">
              <a:buNone/>
            </a:pPr>
            <a:r>
              <a:rPr kumimoji="1" lang="en-GB" altLang="zh-CN" sz="1400" dirty="0">
                <a:solidFill>
                  <a:schemeClr val="bg2"/>
                </a:solidFill>
              </a:rPr>
              <a:t>:+		Use a plus sign to indicate if the result is positive or negative</a:t>
            </a:r>
            <a:endParaRPr kumimoji="1" lang="en-GB" altLang="zh-CN" sz="1400" dirty="0">
              <a:solidFill>
                <a:schemeClr val="bg2"/>
              </a:solidFill>
            </a:endParaRPr>
          </a:p>
          <a:p>
            <a:pPr marL="114300" indent="0">
              <a:buNone/>
            </a:pPr>
            <a:r>
              <a:rPr kumimoji="1" lang="en-GB" altLang="zh-CN" sz="1400" dirty="0">
                <a:solidFill>
                  <a:schemeClr val="bg2"/>
                </a:solidFill>
              </a:rPr>
              <a:t>:-		Use a minus sign for negative values only</a:t>
            </a:r>
            <a:endParaRPr kumimoji="1" lang="en-GB" altLang="zh-CN" sz="1400" dirty="0">
              <a:solidFill>
                <a:schemeClr val="bg2"/>
              </a:solidFill>
            </a:endParaRPr>
          </a:p>
          <a:p>
            <a:pPr marL="114300" indent="0">
              <a:buNone/>
            </a:pPr>
            <a:r>
              <a:rPr kumimoji="1" lang="en-GB" altLang="zh-CN" sz="1400" dirty="0">
                <a:solidFill>
                  <a:schemeClr val="bg2"/>
                </a:solidFill>
              </a:rPr>
              <a:t>: 		Use a space to insert an extra space before positive numbers (and a minus sign            </a:t>
            </a:r>
            <a:endParaRPr kumimoji="1" lang="en-GB" altLang="zh-CN" sz="1400" dirty="0">
              <a:solidFill>
                <a:schemeClr val="bg2"/>
              </a:solidFill>
            </a:endParaRPr>
          </a:p>
          <a:p>
            <a:pPr marL="114300" indent="0">
              <a:buNone/>
            </a:pPr>
            <a:r>
              <a:rPr kumimoji="1" lang="en-GB" altLang="zh-CN" sz="1400" dirty="0">
                <a:solidFill>
                  <a:schemeClr val="bg2"/>
                </a:solidFill>
              </a:rPr>
              <a:t>                                                 before negative numbers)</a:t>
            </a:r>
            <a:endParaRPr kumimoji="1" lang="en-GB" altLang="zh-CN" sz="1400" dirty="0">
              <a:solidFill>
                <a:schemeClr val="bg2"/>
              </a:solidFill>
            </a:endParaRPr>
          </a:p>
          <a:p>
            <a:pPr marL="114300" indent="0">
              <a:buNone/>
            </a:pPr>
            <a:r>
              <a:rPr kumimoji="1" lang="en-GB" altLang="zh-CN" sz="1400" dirty="0">
                <a:solidFill>
                  <a:schemeClr val="bg2"/>
                </a:solidFill>
              </a:rPr>
              <a:t>:,		Use a comma as a thousand separator</a:t>
            </a:r>
            <a:endParaRPr kumimoji="1" lang="en-GB" altLang="zh-CN" sz="1400" dirty="0">
              <a:solidFill>
                <a:schemeClr val="bg2"/>
              </a:solidFill>
            </a:endParaRPr>
          </a:p>
          <a:p>
            <a:pPr marL="114300" indent="0">
              <a:buNone/>
            </a:pPr>
            <a:r>
              <a:rPr kumimoji="1" lang="en-GB" altLang="zh-CN" sz="1400" dirty="0">
                <a:solidFill>
                  <a:schemeClr val="bg2"/>
                </a:solidFill>
              </a:rPr>
              <a:t>:_		Use a underscore as a thousand separator</a:t>
            </a:r>
            <a:endParaRPr kumimoji="1" lang="en-GB" altLang="zh-CN" sz="1400" dirty="0">
              <a:solidFill>
                <a:schemeClr val="bg2"/>
              </a:solidFill>
            </a:endParaRPr>
          </a:p>
          <a:p>
            <a:pPr marL="114300" indent="0">
              <a:buNone/>
            </a:pPr>
            <a:r>
              <a:rPr kumimoji="1" lang="en-GB" altLang="zh-CN" sz="1400" dirty="0">
                <a:solidFill>
                  <a:schemeClr val="tx1"/>
                </a:solidFill>
              </a:rPr>
              <a:t>:b		Binary format</a:t>
            </a:r>
            <a:endParaRPr kumimoji="1" lang="en-GB" altLang="zh-CN" sz="14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kumimoji="1" lang="en-GB" altLang="zh-CN" sz="1400" dirty="0">
                <a:solidFill>
                  <a:schemeClr val="bg2"/>
                </a:solidFill>
              </a:rPr>
              <a:t>:c		Converts the value into the corresponding </a:t>
            </a:r>
            <a:r>
              <a:rPr kumimoji="1" lang="en-GB" altLang="zh-CN" sz="1400" dirty="0" err="1">
                <a:solidFill>
                  <a:schemeClr val="bg2"/>
                </a:solidFill>
              </a:rPr>
              <a:t>unicode</a:t>
            </a:r>
            <a:r>
              <a:rPr kumimoji="1" lang="en-GB" altLang="zh-CN" sz="1400" dirty="0">
                <a:solidFill>
                  <a:schemeClr val="bg2"/>
                </a:solidFill>
              </a:rPr>
              <a:t> character</a:t>
            </a:r>
            <a:endParaRPr kumimoji="1" lang="en-GB" altLang="zh-CN" sz="1400" dirty="0">
              <a:solidFill>
                <a:schemeClr val="bg2"/>
              </a:solidFill>
            </a:endParaRPr>
          </a:p>
          <a:p>
            <a:pPr marL="114300" indent="0">
              <a:buNone/>
            </a:pPr>
            <a:r>
              <a:rPr kumimoji="1" lang="en-GB" altLang="zh-CN" sz="1400" dirty="0">
                <a:solidFill>
                  <a:schemeClr val="bg2"/>
                </a:solidFill>
              </a:rPr>
              <a:t>:d		Decimal format</a:t>
            </a:r>
            <a:endParaRPr kumimoji="1" lang="en-GB" altLang="zh-CN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/>
              <a:t>s</a:t>
            </a:r>
            <a:r>
              <a:rPr kumimoji="1" lang="en-GB" altLang="zh-CN" dirty="0" err="1"/>
              <a:t>tr.format</a:t>
            </a:r>
            <a:r>
              <a:rPr kumimoji="1" lang="en-GB" altLang="zh-CN" dirty="0"/>
              <a:t>(): format types </a:t>
            </a:r>
            <a:br>
              <a:rPr kumimoji="1" lang="en-GB" altLang="zh-CN" dirty="0"/>
            </a:br>
            <a:br>
              <a:rPr kumimoji="1" lang="en-GB" altLang="zh-CN" dirty="0"/>
            </a:b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17674" y="1196008"/>
            <a:ext cx="8108023" cy="2879432"/>
          </a:xfrm>
          <a:ln w="12700">
            <a:noFill/>
          </a:ln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kumimoji="1" lang="en-GB" altLang="zh-CN" sz="1400" dirty="0">
                <a:solidFill>
                  <a:schemeClr val="bg2"/>
                </a:solidFill>
              </a:rPr>
              <a:t>:e		Scientific format, with a lower case e</a:t>
            </a:r>
            <a:endParaRPr kumimoji="1" lang="en-GB" altLang="zh-CN" sz="1400" dirty="0">
              <a:solidFill>
                <a:schemeClr val="bg2"/>
              </a:solidFill>
            </a:endParaRPr>
          </a:p>
          <a:p>
            <a:pPr marL="114300" indent="0">
              <a:buNone/>
            </a:pPr>
            <a:r>
              <a:rPr kumimoji="1" lang="en-GB" altLang="zh-CN" sz="1400" dirty="0">
                <a:solidFill>
                  <a:schemeClr val="bg2"/>
                </a:solidFill>
              </a:rPr>
              <a:t>:E		Scientific format, with an upper case E</a:t>
            </a:r>
            <a:endParaRPr kumimoji="1" lang="en-GB" altLang="zh-CN" sz="1400" dirty="0">
              <a:solidFill>
                <a:schemeClr val="bg2"/>
              </a:solidFill>
            </a:endParaRPr>
          </a:p>
          <a:p>
            <a:pPr marL="114300" indent="0">
              <a:buNone/>
            </a:pPr>
            <a:r>
              <a:rPr kumimoji="1" lang="en-GB" altLang="zh-CN" sz="1400" dirty="0">
                <a:solidFill>
                  <a:schemeClr val="bg2"/>
                </a:solidFill>
              </a:rPr>
              <a:t>:f		Fix point number format</a:t>
            </a:r>
            <a:endParaRPr kumimoji="1" lang="en-GB" altLang="zh-CN" sz="1400" dirty="0">
              <a:solidFill>
                <a:schemeClr val="bg2"/>
              </a:solidFill>
            </a:endParaRPr>
          </a:p>
          <a:p>
            <a:pPr marL="114300" indent="0">
              <a:buNone/>
            </a:pPr>
            <a:r>
              <a:rPr kumimoji="1" lang="en-GB" altLang="zh-CN" sz="1400" dirty="0">
                <a:solidFill>
                  <a:schemeClr val="bg2"/>
                </a:solidFill>
              </a:rPr>
              <a:t>:F		Fix point number format, in uppercase format (show inf and nan as INF and NAN)</a:t>
            </a:r>
            <a:endParaRPr kumimoji="1" lang="en-GB" altLang="zh-CN" sz="1400" dirty="0">
              <a:solidFill>
                <a:schemeClr val="bg2"/>
              </a:solidFill>
            </a:endParaRPr>
          </a:p>
          <a:p>
            <a:pPr marL="114300" indent="0">
              <a:buNone/>
            </a:pPr>
            <a:r>
              <a:rPr kumimoji="1" lang="en-GB" altLang="zh-CN" sz="1400" dirty="0">
                <a:solidFill>
                  <a:schemeClr val="bg2"/>
                </a:solidFill>
              </a:rPr>
              <a:t>:g		General format</a:t>
            </a:r>
            <a:endParaRPr kumimoji="1" lang="en-GB" altLang="zh-CN" sz="1400" dirty="0">
              <a:solidFill>
                <a:schemeClr val="bg2"/>
              </a:solidFill>
            </a:endParaRPr>
          </a:p>
          <a:p>
            <a:pPr marL="114300" indent="0">
              <a:buNone/>
            </a:pPr>
            <a:r>
              <a:rPr kumimoji="1" lang="en-GB" altLang="zh-CN" sz="1400" dirty="0">
                <a:solidFill>
                  <a:schemeClr val="bg2"/>
                </a:solidFill>
              </a:rPr>
              <a:t>:G		General format (using a upper case E for scientific notations)</a:t>
            </a:r>
            <a:endParaRPr kumimoji="1" lang="en-GB" altLang="zh-CN" sz="1400" dirty="0">
              <a:solidFill>
                <a:schemeClr val="bg2"/>
              </a:solidFill>
            </a:endParaRPr>
          </a:p>
          <a:p>
            <a:pPr marL="114300" indent="0">
              <a:buNone/>
            </a:pPr>
            <a:r>
              <a:rPr kumimoji="1" lang="en-GB" altLang="zh-CN" sz="1400" dirty="0">
                <a:solidFill>
                  <a:schemeClr val="bg2"/>
                </a:solidFill>
              </a:rPr>
              <a:t>:o		Octal format</a:t>
            </a:r>
            <a:endParaRPr kumimoji="1" lang="en-GB" altLang="zh-CN" sz="1400" dirty="0">
              <a:solidFill>
                <a:schemeClr val="bg2"/>
              </a:solidFill>
            </a:endParaRPr>
          </a:p>
          <a:p>
            <a:pPr marL="114300" indent="0">
              <a:buNone/>
            </a:pPr>
            <a:r>
              <a:rPr kumimoji="1" lang="en-GB" altLang="zh-CN" sz="1400" dirty="0">
                <a:solidFill>
                  <a:schemeClr val="bg2"/>
                </a:solidFill>
              </a:rPr>
              <a:t>:x		Hex format, lower case</a:t>
            </a:r>
            <a:endParaRPr kumimoji="1" lang="en-GB" altLang="zh-CN" sz="1400" dirty="0">
              <a:solidFill>
                <a:schemeClr val="bg2"/>
              </a:solidFill>
            </a:endParaRPr>
          </a:p>
          <a:p>
            <a:pPr marL="114300" indent="0">
              <a:buNone/>
            </a:pPr>
            <a:r>
              <a:rPr kumimoji="1" lang="en-GB" altLang="zh-CN" sz="1400" dirty="0">
                <a:solidFill>
                  <a:schemeClr val="bg2"/>
                </a:solidFill>
              </a:rPr>
              <a:t>:X		Hex format, upper case</a:t>
            </a:r>
            <a:endParaRPr kumimoji="1" lang="en-GB" altLang="zh-CN" sz="1400" dirty="0">
              <a:solidFill>
                <a:schemeClr val="bg2"/>
              </a:solidFill>
            </a:endParaRPr>
          </a:p>
          <a:p>
            <a:pPr marL="114300" indent="0">
              <a:buNone/>
            </a:pPr>
            <a:r>
              <a:rPr kumimoji="1" lang="en-GB" altLang="zh-CN" sz="1400" dirty="0">
                <a:solidFill>
                  <a:schemeClr val="bg2"/>
                </a:solidFill>
              </a:rPr>
              <a:t>:n		Number format</a:t>
            </a:r>
            <a:endParaRPr kumimoji="1" lang="en-GB" altLang="zh-CN" sz="1400" dirty="0">
              <a:solidFill>
                <a:schemeClr val="bg2"/>
              </a:solidFill>
            </a:endParaRPr>
          </a:p>
          <a:p>
            <a:pPr marL="114300" indent="0">
              <a:buNone/>
            </a:pPr>
            <a:r>
              <a:rPr kumimoji="1" lang="en-GB" altLang="zh-CN" sz="1400" dirty="0">
                <a:solidFill>
                  <a:schemeClr val="bg2"/>
                </a:solidFill>
              </a:rPr>
              <a:t>:%		Percentage format</a:t>
            </a:r>
            <a:endParaRPr kumimoji="1" lang="en-GB" altLang="zh-CN" sz="1400" dirty="0">
              <a:solidFill>
                <a:schemeClr val="bg2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38787" y="4203023"/>
            <a:ext cx="79869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Python </a:t>
            </a:r>
            <a:r>
              <a:rPr lang="en-US" altLang="zh-CN" sz="12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built-in format() </a:t>
            </a:r>
            <a:r>
              <a:rPr lang="en-US" altLang="zh-CN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function is similar to the String format method. Internally, both methods call the __format__() method of an object.</a:t>
            </a:r>
            <a:endParaRPr lang="zh-CN" altLang="en-US" sz="1200" dirty="0">
              <a:latin typeface="Source Sans Pro" panose="020B0503030403020204" pitchFamily="34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GB" altLang="zh-CN" dirty="0"/>
              <a:t>f-String: Formatted string literals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937743"/>
          </a:xfrm>
        </p:spPr>
        <p:txBody>
          <a:bodyPr>
            <a:normAutofit/>
          </a:bodyPr>
          <a:lstStyle/>
          <a:p>
            <a:r>
              <a:rPr kumimoji="1" lang="en-GB" altLang="zh-CN" sz="1400" dirty="0">
                <a:solidFill>
                  <a:schemeClr val="tx1"/>
                </a:solidFill>
              </a:rPr>
              <a:t>Python version ≥ 3.6</a:t>
            </a:r>
            <a:r>
              <a:rPr kumimoji="1" lang="en-US" altLang="zh-CN" sz="1400" dirty="0">
                <a:solidFill>
                  <a:schemeClr val="tx1"/>
                </a:solidFill>
              </a:rPr>
              <a:t>.</a:t>
            </a:r>
            <a:r>
              <a:rPr kumimoji="1" lang="zh-CN" altLang="en-US" sz="1400" dirty="0">
                <a:solidFill>
                  <a:schemeClr val="tx1"/>
                </a:solidFill>
              </a:rPr>
              <a:t> </a:t>
            </a:r>
            <a:r>
              <a:rPr kumimoji="1"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推荐使用</a:t>
            </a:r>
            <a:endParaRPr kumimoji="1" lang="en-GB" altLang="zh-CN" sz="14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kumimoji="1" lang="en-GB" altLang="zh-CN" sz="1400" dirty="0">
                <a:solidFill>
                  <a:schemeClr val="bg2"/>
                </a:solidFill>
              </a:rPr>
              <a:t>Formatted string literals (also called f-strings for short) let you include the value of Python expressions inside a string by prefixing the string with f or F and writing expressions as {expression}.</a:t>
            </a:r>
            <a:endParaRPr kumimoji="1" lang="en-GB" altLang="zh-CN" sz="1400" dirty="0">
              <a:solidFill>
                <a:schemeClr val="bg2"/>
              </a:solidFill>
            </a:endParaRPr>
          </a:p>
        </p:txBody>
      </p:sp>
      <p:pic>
        <p:nvPicPr>
          <p:cNvPr id="5" name="Picture 6" descr="A picture containing logo&#10;&#10;Description automatically generated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779" y="2090218"/>
            <a:ext cx="3130965" cy="1103095"/>
          </a:xfrm>
          <a:prstGeom prst="rect">
            <a:avLst/>
          </a:prstGeom>
        </p:spPr>
      </p:pic>
      <p:pic>
        <p:nvPicPr>
          <p:cNvPr id="6" name="Picture 9" descr="Text&#10;&#10;Description automatically generated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779" y="3612480"/>
            <a:ext cx="2566365" cy="1206642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779" y="3262092"/>
            <a:ext cx="1574343" cy="305666"/>
          </a:xfrm>
          <a:prstGeom prst="rect">
            <a:avLst/>
          </a:prstGeom>
        </p:spPr>
      </p:pic>
      <p:pic>
        <p:nvPicPr>
          <p:cNvPr id="8" name="Picture 1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779" y="4887901"/>
            <a:ext cx="2211556" cy="222904"/>
          </a:xfrm>
          <a:prstGeom prst="rect">
            <a:avLst/>
          </a:prstGeom>
        </p:spPr>
      </p:pic>
      <p:pic>
        <p:nvPicPr>
          <p:cNvPr id="9" name="Picture 2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6961" y="2090218"/>
            <a:ext cx="4485333" cy="402047"/>
          </a:xfrm>
          <a:prstGeom prst="rect">
            <a:avLst/>
          </a:prstGeom>
        </p:spPr>
      </p:pic>
      <p:pic>
        <p:nvPicPr>
          <p:cNvPr id="10" name="Picture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6961" y="2641765"/>
            <a:ext cx="2905672" cy="170444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3966221" y="2906984"/>
            <a:ext cx="4572000" cy="572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3429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Source Sans Pro" panose="020B0503030403020204"/>
              <a:buChar char="●"/>
              <a:defRPr/>
            </a:pP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ource Sans Pro" panose="020B0503030403020204"/>
                <a:ea typeface="Source Sans Pro" panose="020B0503030403020204"/>
                <a:sym typeface="Source Sans Pro" panose="020B0503030403020204"/>
              </a:rPr>
              <a:t>f-strings support = for self-documenting expressions and debugging (</a:t>
            </a:r>
            <a:r>
              <a:rPr kumimoji="1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ource Sans Pro" panose="020B0503030403020204"/>
                <a:ea typeface="Source Sans Pro" panose="020B0503030403020204"/>
                <a:sym typeface="Source Sans Pro" panose="020B0503030403020204"/>
              </a:rPr>
              <a:t>Py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ource Sans Pro" panose="020B0503030403020204"/>
                <a:ea typeface="Source Sans Pro" panose="020B0503030403020204"/>
                <a:sym typeface="Source Sans Pro" panose="020B0503030403020204"/>
              </a:rPr>
              <a:t> 3.8)</a:t>
            </a:r>
            <a:endParaRPr kumimoji="1" lang="en-GB" altLang="zh-CN" sz="1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ource Sans Pro" panose="020B0503030403020204"/>
              <a:ea typeface="Source Sans Pro" panose="020B0503030403020204"/>
              <a:sym typeface="Source Sans Pro" panose="020B0503030403020204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26961" y="3475161"/>
            <a:ext cx="2997046" cy="1387522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4076299" y="4864584"/>
            <a:ext cx="340734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/>
              <a:t>user='eric_idle' member_since=datetime.date(1975, 7, 31)</a:t>
            </a:r>
            <a:endParaRPr lang="zh-CN" alt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GB" altLang="zh-CN" dirty="0"/>
              <a:t>String module </a:t>
            </a:r>
            <a:r>
              <a:rPr kumimoji="1" lang="en-US" altLang="zh-CN" dirty="0"/>
              <a:t>(</a:t>
            </a:r>
            <a:r>
              <a:rPr kumimoji="1" lang="en-US" altLang="zh-CN" dirty="0">
                <a:solidFill>
                  <a:schemeClr val="tx1"/>
                </a:solidFill>
              </a:rPr>
              <a:t>Not </a:t>
            </a:r>
            <a:r>
              <a:rPr kumimoji="1" lang="en-US" altLang="zh-CN">
                <a:solidFill>
                  <a:schemeClr val="tx1"/>
                </a:solidFill>
              </a:rPr>
              <a:t>recommended</a:t>
            </a:r>
            <a:r>
              <a:rPr kumimoji="1" lang="en-US" altLang="zh-CN"/>
              <a:t>)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700" y="1152476"/>
            <a:ext cx="8520600" cy="856050"/>
          </a:xfrm>
        </p:spPr>
        <p:txBody>
          <a:bodyPr>
            <a:normAutofit/>
          </a:bodyPr>
          <a:lstStyle/>
          <a:p>
            <a:r>
              <a:rPr kumimoji="1" lang="en-GB" altLang="zh-CN" sz="1400" dirty="0">
                <a:solidFill>
                  <a:schemeClr val="bg2"/>
                </a:solidFill>
              </a:rPr>
              <a:t>Python provides string module, where many useful constants and methods are included</a:t>
            </a:r>
            <a:endParaRPr kumimoji="1" lang="en-GB" altLang="zh-CN" sz="1400" dirty="0">
              <a:solidFill>
                <a:schemeClr val="bg2"/>
              </a:solidFill>
            </a:endParaRPr>
          </a:p>
          <a:p>
            <a:pPr lvl="1"/>
            <a:r>
              <a:rPr kumimoji="1" lang="en-GB" altLang="zh-CN" sz="1200" dirty="0">
                <a:solidFill>
                  <a:schemeClr val="tx1"/>
                </a:solidFill>
                <a:hlinkClick r:id="rId1"/>
              </a:rPr>
              <a:t>https://docs.python.org/3/library/string.html</a:t>
            </a:r>
            <a:endParaRPr kumimoji="1" lang="en-GB" altLang="zh-CN" sz="1200" dirty="0">
              <a:solidFill>
                <a:schemeClr val="tx1"/>
              </a:solidFill>
            </a:endParaRPr>
          </a:p>
          <a:p>
            <a:pPr lvl="1"/>
            <a:r>
              <a:rPr kumimoji="1" lang="en-GB" altLang="zh-CN" sz="1200" dirty="0">
                <a:solidFill>
                  <a:schemeClr val="bg2"/>
                </a:solidFill>
              </a:rPr>
              <a:t>To use this module, </a:t>
            </a:r>
            <a:r>
              <a:rPr kumimoji="1" lang="en-GB" altLang="zh-CN" sz="1200" dirty="0">
                <a:solidFill>
                  <a:srgbClr val="C00000"/>
                </a:solidFill>
              </a:rPr>
              <a:t>import string</a:t>
            </a:r>
            <a:endParaRPr kumimoji="1" lang="en-GB" altLang="zh-CN" sz="1200" dirty="0">
              <a:solidFill>
                <a:srgbClr val="C00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11700" y="3677071"/>
            <a:ext cx="6061295" cy="820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3429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Source Sans Pro" panose="020B0503030403020204"/>
              <a:buChar char="●"/>
              <a:defRPr/>
            </a:pPr>
            <a:r>
              <a:rPr kumimoji="1" lang="en-GB" altLang="zh-CN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Sans Pro" panose="020B0503030403020204"/>
                <a:ea typeface="Source Sans Pro" panose="020B0503030403020204"/>
                <a:sym typeface="Source Sans Pro" panose="020B0503030403020204"/>
              </a:rPr>
              <a:t>string.asci_letters</a:t>
            </a:r>
            <a:r>
              <a:rPr kumimoji="1" lang="en-GB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Sans Pro" panose="020B0503030403020204"/>
                <a:ea typeface="Source Sans Pro" panose="020B0503030403020204"/>
                <a:sym typeface="Source Sans Pro" panose="020B0503030403020204"/>
              </a:rPr>
              <a:t> includes all the letters</a:t>
            </a:r>
            <a:endParaRPr kumimoji="1" lang="en-GB" altLang="zh-CN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ource Sans Pro" panose="020B0503030403020204"/>
              <a:ea typeface="Source Sans Pro" panose="020B0503030403020204"/>
              <a:sym typeface="Source Sans Pro" panose="020B0503030403020204"/>
            </a:endParaRPr>
          </a:p>
          <a:p>
            <a:pPr marL="457200" marR="0" lvl="0" indent="-3429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Source Sans Pro" panose="020B0503030403020204"/>
              <a:buChar char="●"/>
              <a:defRPr/>
            </a:pPr>
            <a:r>
              <a:rPr kumimoji="1" lang="en-GB" altLang="zh-CN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Sans Pro" panose="020B0503030403020204"/>
                <a:ea typeface="Source Sans Pro" panose="020B0503030403020204"/>
                <a:sym typeface="Source Sans Pro" panose="020B0503030403020204"/>
              </a:rPr>
              <a:t>string.punctuation</a:t>
            </a:r>
            <a:r>
              <a:rPr kumimoji="1" lang="en-GB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Sans Pro" panose="020B0503030403020204"/>
                <a:ea typeface="Source Sans Pro" panose="020B0503030403020204"/>
                <a:sym typeface="Source Sans Pro" panose="020B0503030403020204"/>
              </a:rPr>
              <a:t> includes all the punctuation</a:t>
            </a:r>
            <a:endParaRPr kumimoji="1" lang="en-GB" altLang="zh-CN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ource Sans Pro" panose="020B0503030403020204"/>
              <a:ea typeface="Source Sans Pro" panose="020B0503030403020204"/>
              <a:sym typeface="Source Sans Pro" panose="020B0503030403020204"/>
            </a:endParaRPr>
          </a:p>
          <a:p>
            <a:pPr marL="457200" marR="0" lvl="0" indent="-3429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Source Sans Pro" panose="020B0503030403020204"/>
              <a:buChar char="●"/>
              <a:defRPr/>
            </a:pPr>
            <a:r>
              <a:rPr kumimoji="1" lang="en-GB" altLang="zh-CN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Sans Pro" panose="020B0503030403020204"/>
                <a:ea typeface="Source Sans Pro" panose="020B0503030403020204"/>
                <a:sym typeface="Source Sans Pro" panose="020B0503030403020204"/>
              </a:rPr>
              <a:t>string.asci_lowercase</a:t>
            </a:r>
            <a:r>
              <a:rPr kumimoji="1" lang="en-GB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Sans Pro" panose="020B0503030403020204"/>
                <a:ea typeface="Source Sans Pro" panose="020B0503030403020204"/>
                <a:sym typeface="Source Sans Pro" panose="020B0503030403020204"/>
              </a:rPr>
              <a:t> includes all the lowercase letters</a:t>
            </a:r>
            <a:endParaRPr kumimoji="1" lang="en-GB" altLang="zh-CN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ource Sans Pro" panose="020B0503030403020204"/>
              <a:ea typeface="Source Sans Pro" panose="020B0503030403020204"/>
              <a:sym typeface="Source Sans Pro" panose="020B0503030403020204"/>
            </a:endParaRPr>
          </a:p>
        </p:txBody>
      </p:sp>
      <p:pic>
        <p:nvPicPr>
          <p:cNvPr id="6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210" y="2008526"/>
            <a:ext cx="2907011" cy="897226"/>
          </a:xfrm>
          <a:prstGeom prst="rect">
            <a:avLst/>
          </a:prstGeom>
        </p:spPr>
      </p:pic>
      <p:pic>
        <p:nvPicPr>
          <p:cNvPr id="7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36" y="2998235"/>
            <a:ext cx="4732622" cy="583384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624952" y="2837862"/>
            <a:ext cx="2136825" cy="175432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defRPr/>
            </a:pPr>
            <a:r>
              <a:rPr lang="en-US" altLang="zh-CN" sz="1200" dirty="0" err="1">
                <a:solidFill>
                  <a:schemeClr val="bg2"/>
                </a:solidFill>
                <a:latin typeface="Source Sans Pro" panose="020B0503030403020204"/>
                <a:ea typeface="华文楷体" panose="0201060004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string.ascii_letters</a:t>
            </a:r>
            <a:endParaRPr lang="en-US" altLang="zh-CN" sz="1200" dirty="0">
              <a:solidFill>
                <a:schemeClr val="bg2"/>
              </a:solidFill>
              <a:latin typeface="Source Sans Pro" panose="020B0503030403020204"/>
              <a:ea typeface="华文楷体" panose="02010600040101010101" pitchFamily="2" charset="-122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defRPr/>
            </a:pPr>
            <a:r>
              <a:rPr lang="en-US" altLang="zh-CN" sz="1200" dirty="0" err="1">
                <a:solidFill>
                  <a:schemeClr val="bg2"/>
                </a:solidFill>
                <a:latin typeface="Source Sans Pro" panose="020B0503030403020204"/>
                <a:ea typeface="华文楷体" panose="0201060004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string.ascii_lowercase</a:t>
            </a:r>
            <a:endParaRPr lang="en-US" altLang="zh-CN" sz="1200" dirty="0">
              <a:solidFill>
                <a:schemeClr val="bg2"/>
              </a:solidFill>
              <a:latin typeface="Source Sans Pro" panose="020B0503030403020204"/>
              <a:ea typeface="华文楷体" panose="02010600040101010101" pitchFamily="2" charset="-122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defRPr/>
            </a:pPr>
            <a:r>
              <a:rPr lang="en-US" altLang="zh-CN" sz="1200" dirty="0" err="1">
                <a:solidFill>
                  <a:schemeClr val="bg2"/>
                </a:solidFill>
                <a:latin typeface="Source Sans Pro" panose="020B0503030403020204"/>
                <a:ea typeface="华文楷体" panose="0201060004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string.ascii_uppercase</a:t>
            </a:r>
            <a:endParaRPr lang="en-US" altLang="zh-CN" sz="1200" dirty="0">
              <a:solidFill>
                <a:schemeClr val="bg2"/>
              </a:solidFill>
              <a:latin typeface="Source Sans Pro" panose="020B0503030403020204"/>
              <a:ea typeface="华文楷体" panose="02010600040101010101" pitchFamily="2" charset="-122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defRPr/>
            </a:pPr>
            <a:r>
              <a:rPr lang="en-US" altLang="zh-CN" sz="1200" dirty="0" err="1">
                <a:solidFill>
                  <a:schemeClr val="bg2"/>
                </a:solidFill>
                <a:latin typeface="Source Sans Pro" panose="020B0503030403020204"/>
                <a:ea typeface="华文楷体" panose="0201060004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string.digits</a:t>
            </a:r>
            <a:endParaRPr lang="en-US" altLang="zh-CN" sz="1200" dirty="0">
              <a:solidFill>
                <a:schemeClr val="bg2"/>
              </a:solidFill>
              <a:latin typeface="Source Sans Pro" panose="020B0503030403020204"/>
              <a:ea typeface="华文楷体" panose="02010600040101010101" pitchFamily="2" charset="-122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defRPr/>
            </a:pPr>
            <a:r>
              <a:rPr lang="en-US" altLang="zh-CN" sz="1200" dirty="0" err="1">
                <a:solidFill>
                  <a:schemeClr val="bg2"/>
                </a:solidFill>
                <a:latin typeface="Source Sans Pro" panose="020B0503030403020204"/>
                <a:ea typeface="华文楷体" panose="0201060004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string.hexdigits</a:t>
            </a:r>
            <a:endParaRPr lang="en-US" altLang="zh-CN" sz="1200" dirty="0">
              <a:solidFill>
                <a:schemeClr val="bg2"/>
              </a:solidFill>
              <a:latin typeface="Source Sans Pro" panose="020B0503030403020204"/>
              <a:ea typeface="华文楷体" panose="02010600040101010101" pitchFamily="2" charset="-122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defRPr/>
            </a:pPr>
            <a:r>
              <a:rPr lang="en-US" altLang="zh-CN" sz="1200" dirty="0" err="1">
                <a:solidFill>
                  <a:schemeClr val="bg2"/>
                </a:solidFill>
                <a:latin typeface="Source Sans Pro" panose="020B0503030403020204"/>
                <a:ea typeface="华文楷体" panose="0201060004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string.octdigits</a:t>
            </a:r>
            <a:endParaRPr lang="en-US" altLang="zh-CN" sz="1200" dirty="0">
              <a:solidFill>
                <a:schemeClr val="bg2"/>
              </a:solidFill>
              <a:latin typeface="Source Sans Pro" panose="020B0503030403020204"/>
              <a:ea typeface="华文楷体" panose="02010600040101010101" pitchFamily="2" charset="-122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defRPr/>
            </a:pPr>
            <a:r>
              <a:rPr lang="en-US" altLang="zh-CN" sz="1200" dirty="0" err="1">
                <a:solidFill>
                  <a:schemeClr val="bg2"/>
                </a:solidFill>
                <a:latin typeface="Source Sans Pro" panose="020B0503030403020204"/>
                <a:ea typeface="华文楷体" panose="0201060004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string.punctuation</a:t>
            </a:r>
            <a:endParaRPr lang="en-US" altLang="zh-CN" sz="1200" dirty="0">
              <a:solidFill>
                <a:schemeClr val="bg2"/>
              </a:solidFill>
              <a:latin typeface="Source Sans Pro" panose="020B0503030403020204"/>
              <a:ea typeface="华文楷体" panose="02010600040101010101" pitchFamily="2" charset="-122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defRPr/>
            </a:pPr>
            <a:r>
              <a:rPr lang="en-US" altLang="zh-CN" sz="1200" dirty="0" err="1">
                <a:solidFill>
                  <a:schemeClr val="bg2"/>
                </a:solidFill>
                <a:latin typeface="Source Sans Pro" panose="020B0503030403020204"/>
                <a:ea typeface="华文楷体" panose="0201060004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string.printable</a:t>
            </a:r>
            <a:endParaRPr lang="en-US" altLang="zh-CN" sz="1200" dirty="0">
              <a:solidFill>
                <a:schemeClr val="bg2"/>
              </a:solidFill>
              <a:latin typeface="Source Sans Pro" panose="020B0503030403020204"/>
              <a:ea typeface="华文楷体" panose="02010600040101010101" pitchFamily="2" charset="-122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defRPr/>
            </a:pPr>
            <a:r>
              <a:rPr lang="en-US" altLang="zh-CN" sz="1200" dirty="0" err="1">
                <a:solidFill>
                  <a:schemeClr val="bg2"/>
                </a:solidFill>
                <a:latin typeface="Source Sans Pro" panose="020B0503030403020204"/>
                <a:ea typeface="华文楷体" panose="0201060004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string.whitespace</a:t>
            </a:r>
            <a:endParaRPr lang="en-US" altLang="zh-CN" sz="1200" dirty="0">
              <a:solidFill>
                <a:schemeClr val="bg2"/>
              </a:solidFill>
              <a:latin typeface="Source Sans Pro" panose="020B0503030403020204"/>
              <a:ea typeface="华文楷体" panose="02010600040101010101" pitchFamily="2" charset="-122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17578" y="4698475"/>
            <a:ext cx="776556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050" dirty="0">
                <a:solidFill>
                  <a:schemeClr val="bg2"/>
                </a:solidFill>
                <a:latin typeface="Source Sans Pro" panose="020B0503030403020204"/>
                <a:sym typeface="Source Sans Pro" panose="020B0503030403020204"/>
              </a:rPr>
              <a:t>formatter — Generic output formatting</a:t>
            </a:r>
            <a:r>
              <a:rPr kumimoji="1" lang="en-US" altLang="zh-CN" sz="1050">
                <a:solidFill>
                  <a:schemeClr val="bg2"/>
                </a:solidFill>
                <a:latin typeface="Source Sans Pro" panose="020B0503030403020204"/>
                <a:sym typeface="Source Sans Pro" panose="020B0503030403020204"/>
              </a:rPr>
              <a:t>:</a:t>
            </a:r>
            <a:r>
              <a:rPr kumimoji="1" lang="zh-CN" altLang="en-US" sz="1050">
                <a:solidFill>
                  <a:schemeClr val="bg2"/>
                </a:solidFill>
                <a:latin typeface="Source Sans Pro" panose="020B0503030403020204"/>
                <a:sym typeface="Source Sans Pro" panose="020B0503030403020204"/>
              </a:rPr>
              <a:t> </a:t>
            </a:r>
            <a:r>
              <a:rPr kumimoji="1" lang="zh-CN" altLang="en-US" sz="1050" dirty="0">
                <a:solidFill>
                  <a:schemeClr val="bg2"/>
                </a:solidFill>
                <a:latin typeface="Source Sans Pro" panose="020B0503030403020204"/>
                <a:sym typeface="Source Sans Pro" panose="020B0503030403020204"/>
              </a:rPr>
              <a:t>Deprecated since version 3.4: Due to lack of usage, the formatter module has been deprecated.</a:t>
            </a:r>
            <a:endParaRPr kumimoji="1" lang="zh-CN" altLang="en-US" sz="1050" dirty="0">
              <a:solidFill>
                <a:schemeClr val="bg2"/>
              </a:solidFill>
              <a:latin typeface="Source Sans Pro" panose="020B0503030403020204"/>
              <a:sym typeface="Source Sans Pro" panose="020B0503030403020204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Set</a:t>
            </a:r>
            <a:endParaRPr kumimoji="1" lang="zh-CN" altLang="en-US" dirty="0"/>
          </a:p>
        </p:txBody>
      </p:sp>
      <p:pic>
        <p:nvPicPr>
          <p:cNvPr id="3" name="Picture 2" descr="Image result for venn set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0465" y="2910912"/>
            <a:ext cx="2907751" cy="1970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GB" altLang="zh-CN" dirty="0"/>
              <a:t>Set: create</a:t>
            </a:r>
            <a:br>
              <a:rPr kumimoji="1" lang="en-GB" altLang="zh-CN" dirty="0"/>
            </a:br>
            <a:br>
              <a:rPr kumimoji="1" lang="en-GB" altLang="zh-CN" dirty="0"/>
            </a:b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700" y="1407532"/>
            <a:ext cx="8520600" cy="1562691"/>
          </a:xfrm>
        </p:spPr>
        <p:txBody>
          <a:bodyPr>
            <a:noAutofit/>
          </a:bodyPr>
          <a:lstStyle/>
          <a:p>
            <a:r>
              <a:rPr kumimoji="1" lang="en-GB" altLang="zh-CN" sz="1400" dirty="0">
                <a:solidFill>
                  <a:schemeClr val="bg2"/>
                </a:solidFill>
              </a:rPr>
              <a:t>Basic uses include membership testing and eliminating </a:t>
            </a:r>
            <a:r>
              <a:rPr kumimoji="1" lang="en-GB" altLang="zh-CN" sz="1400" dirty="0">
                <a:solidFill>
                  <a:schemeClr val="tx1"/>
                </a:solidFill>
              </a:rPr>
              <a:t>duplicate entries </a:t>
            </a:r>
            <a:r>
              <a:rPr kumimoji="1" lang="en-GB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1"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重复</a:t>
            </a:r>
            <a:r>
              <a:rPr kumimoji="1"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). </a:t>
            </a:r>
            <a:endParaRPr kumimoji="1" lang="en-US" altLang="zh-CN" sz="14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kumimoji="1" lang="en-GB" altLang="zh-CN" sz="1400" dirty="0">
                <a:solidFill>
                  <a:schemeClr val="bg2"/>
                </a:solidFill>
              </a:rPr>
              <a:t>Set objects also support </a:t>
            </a:r>
            <a:r>
              <a:rPr kumimoji="1" lang="en-GB" altLang="zh-CN" sz="1400" dirty="0">
                <a:solidFill>
                  <a:schemeClr val="tx1"/>
                </a:solidFill>
              </a:rPr>
              <a:t>mathematical operations </a:t>
            </a:r>
            <a:r>
              <a:rPr kumimoji="1" lang="en-GB" altLang="zh-CN" sz="1400" dirty="0">
                <a:solidFill>
                  <a:schemeClr val="bg2"/>
                </a:solidFill>
              </a:rPr>
              <a:t>like </a:t>
            </a:r>
            <a:r>
              <a:rPr kumimoji="1" lang="en-GB" altLang="zh-CN" sz="1400" dirty="0">
                <a:solidFill>
                  <a:schemeClr val="tx1"/>
                </a:solidFill>
              </a:rPr>
              <a:t>union, intersection, difference, and symmetric difference.</a:t>
            </a:r>
            <a:endParaRPr kumimoji="1" lang="en-GB" altLang="zh-CN" sz="1400" dirty="0">
              <a:solidFill>
                <a:schemeClr val="tx1"/>
              </a:solidFill>
            </a:endParaRPr>
          </a:p>
          <a:p>
            <a:r>
              <a:rPr kumimoji="1" lang="en-GB" altLang="zh-CN" sz="1400" dirty="0">
                <a:solidFill>
                  <a:schemeClr val="tx1"/>
                </a:solidFill>
              </a:rPr>
              <a:t>Curly braces {} </a:t>
            </a:r>
            <a:r>
              <a:rPr kumimoji="1" lang="en-GB" altLang="zh-CN" sz="1400" dirty="0">
                <a:solidFill>
                  <a:schemeClr val="bg2"/>
                </a:solidFill>
              </a:rPr>
              <a:t>or the </a:t>
            </a:r>
            <a:r>
              <a:rPr kumimoji="1" lang="en-GB" altLang="zh-CN" sz="1400" dirty="0">
                <a:solidFill>
                  <a:schemeClr val="tx1"/>
                </a:solidFill>
              </a:rPr>
              <a:t>set() </a:t>
            </a:r>
            <a:r>
              <a:rPr kumimoji="1" lang="en-GB" altLang="zh-CN" sz="1400" dirty="0">
                <a:solidFill>
                  <a:schemeClr val="bg2"/>
                </a:solidFill>
              </a:rPr>
              <a:t>function can be used to create sets. </a:t>
            </a:r>
            <a:endParaRPr kumimoji="1" lang="en-GB" altLang="zh-CN" sz="1400" dirty="0">
              <a:solidFill>
                <a:schemeClr val="bg2"/>
              </a:solidFill>
            </a:endParaRPr>
          </a:p>
          <a:p>
            <a:pPr marL="114300" indent="0">
              <a:buNone/>
            </a:pPr>
            <a:r>
              <a:rPr kumimoji="1" lang="en-GB" altLang="zh-CN" sz="1400" dirty="0">
                <a:solidFill>
                  <a:schemeClr val="bg2"/>
                </a:solidFill>
              </a:rPr>
              <a:t>        </a:t>
            </a:r>
            <a:r>
              <a:rPr kumimoji="1" lang="en-GB" altLang="zh-CN" sz="1400" dirty="0">
                <a:solidFill>
                  <a:schemeClr val="bg2"/>
                </a:solidFill>
                <a:highlight>
                  <a:srgbClr val="FFFF00"/>
                </a:highlight>
              </a:rPr>
              <a:t>Note: to create an empty set you have to use set(), not {}; the latter creates </a:t>
            </a:r>
            <a:r>
              <a:rPr kumimoji="1" lang="en-GB" altLang="zh-CN" sz="1400" dirty="0">
                <a:solidFill>
                  <a:schemeClr val="tx1"/>
                </a:solidFill>
                <a:highlight>
                  <a:srgbClr val="FFFF00"/>
                </a:highlight>
              </a:rPr>
              <a:t>an empty dictionary</a:t>
            </a:r>
            <a:endParaRPr kumimoji="1" lang="en-GB" altLang="zh-CN" sz="1400" dirty="0">
              <a:solidFill>
                <a:schemeClr val="tx1"/>
              </a:solidFill>
              <a:highlight>
                <a:srgbClr val="FFFF00"/>
              </a:highlight>
            </a:endParaRPr>
          </a:p>
          <a:p>
            <a:pPr marL="114300" indent="0">
              <a:buNone/>
            </a:pPr>
            <a:r>
              <a:rPr kumimoji="1" lang="en-GB" altLang="zh-CN" sz="1400" dirty="0">
                <a:solidFill>
                  <a:schemeClr val="bg2"/>
                </a:solidFill>
              </a:rPr>
              <a:t>		fruit = {'apple', 'orange',  'pear',  'banana'}</a:t>
            </a:r>
            <a:endParaRPr kumimoji="1" lang="en-GB" altLang="zh-CN" sz="2000" dirty="0"/>
          </a:p>
        </p:txBody>
      </p:sp>
      <p:pic>
        <p:nvPicPr>
          <p:cNvPr id="4" name="Picture 2" descr="Text, letter&#10;&#10;Description automatically generated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3152" y="3034581"/>
            <a:ext cx="2348847" cy="1865803"/>
          </a:xfrm>
          <a:prstGeom prst="rect">
            <a:avLst/>
          </a:prstGeom>
        </p:spPr>
      </p:pic>
      <p:pic>
        <p:nvPicPr>
          <p:cNvPr id="5" name="Picture 5" descr="Text, letter&#10;&#10;Description automatically generated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6407" y="3772933"/>
            <a:ext cx="2144260" cy="723632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0" y="4900384"/>
            <a:ext cx="523614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https://docs.python.org/3/tutorial/datastructures.html#sets</a:t>
            </a:r>
            <a:endParaRPr lang="en-US" altLang="zh-CN" sz="1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文本框 3"/>
          <p:cNvSpPr txBox="1"/>
          <p:nvPr/>
        </p:nvSpPr>
        <p:spPr>
          <a:xfrm>
            <a:off x="7617204" y="4188788"/>
            <a:ext cx="918070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defRPr/>
            </a:pPr>
            <a:r>
              <a:rPr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anose="020B0503030403020204"/>
                <a:ea typeface="华文楷体" panose="0201060004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{}:</a:t>
            </a:r>
            <a:r>
              <a:rPr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anose="020B0503030403020204"/>
                <a:ea typeface="华文楷体" panose="0201060004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CN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anose="020B0503030403020204"/>
                <a:ea typeface="华文楷体" panose="0201060004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dict</a:t>
            </a:r>
            <a:endParaRPr lang="en-US" altLang="zh-CN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ource Sans Pro" panose="020B0503030403020204"/>
              <a:ea typeface="华文楷体" panose="02010600040101010101" pitchFamily="2" charset="-122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19663" y="1068425"/>
            <a:ext cx="8304673" cy="307777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 set is an unordered collection with no duplicate elements. </a:t>
            </a:r>
            <a:endParaRPr lang="en-US" altLang="zh-CN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GB" altLang="zh-CN" dirty="0"/>
              <a:t>set()</a:t>
            </a:r>
            <a:br>
              <a:rPr kumimoji="1" lang="en-GB" altLang="zh-CN" dirty="0"/>
            </a:br>
            <a:br>
              <a:rPr kumimoji="1" lang="en-GB" altLang="zh-CN" dirty="0"/>
            </a:b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785" y="930275"/>
            <a:ext cx="8520430" cy="2693670"/>
          </a:xfrm>
        </p:spPr>
        <p:txBody>
          <a:bodyPr>
            <a:noAutofit/>
          </a:bodyPr>
          <a:lstStyle/>
          <a:p>
            <a:r>
              <a:rPr kumimoji="1" lang="en-GB" altLang="zh-CN" sz="1400" dirty="0">
                <a:solidFill>
                  <a:schemeClr val="bg2"/>
                </a:solidFill>
              </a:rPr>
              <a:t>The parameter of set() can be type of str, list, </a:t>
            </a:r>
            <a:r>
              <a:rPr kumimoji="1" lang="en-GB" altLang="zh-CN" sz="1400" dirty="0" err="1">
                <a:solidFill>
                  <a:schemeClr val="bg2"/>
                </a:solidFill>
              </a:rPr>
              <a:t>dict</a:t>
            </a:r>
            <a:endParaRPr kumimoji="1" lang="en-GB" altLang="zh-CN" sz="1400" dirty="0">
              <a:solidFill>
                <a:schemeClr val="bg2"/>
              </a:solidFill>
            </a:endParaRPr>
          </a:p>
          <a:p>
            <a:pPr lvl="1"/>
            <a:r>
              <a:rPr kumimoji="1" lang="en-GB" altLang="zh-CN" sz="1200" dirty="0">
                <a:solidFill>
                  <a:schemeClr val="bg2"/>
                </a:solidFill>
              </a:rPr>
              <a:t>List, tuple: all the elements</a:t>
            </a:r>
            <a:endParaRPr kumimoji="1" lang="en-GB" altLang="zh-CN" sz="1200" dirty="0">
              <a:solidFill>
                <a:schemeClr val="bg2"/>
              </a:solidFill>
            </a:endParaRPr>
          </a:p>
          <a:p>
            <a:pPr lvl="1"/>
            <a:r>
              <a:rPr kumimoji="1" lang="en-GB" altLang="zh-CN" sz="1200" dirty="0" err="1">
                <a:solidFill>
                  <a:schemeClr val="bg2"/>
                </a:solidFill>
              </a:rPr>
              <a:t>Dict</a:t>
            </a:r>
            <a:r>
              <a:rPr kumimoji="1" lang="en-GB" altLang="zh-CN" sz="1200" dirty="0">
                <a:solidFill>
                  <a:schemeClr val="bg2"/>
                </a:solidFill>
              </a:rPr>
              <a:t>: all the keywords</a:t>
            </a:r>
            <a:endParaRPr kumimoji="1" lang="en-GB" altLang="zh-CN" sz="1200" dirty="0">
              <a:solidFill>
                <a:schemeClr val="bg2"/>
              </a:solidFill>
            </a:endParaRPr>
          </a:p>
          <a:p>
            <a:pPr lvl="1"/>
            <a:r>
              <a:rPr kumimoji="1" lang="en-GB" altLang="zh-CN" sz="1200" dirty="0">
                <a:solidFill>
                  <a:schemeClr val="bg2"/>
                </a:solidFill>
              </a:rPr>
              <a:t>String: all the characters</a:t>
            </a:r>
            <a:endParaRPr kumimoji="1" lang="en-GB" altLang="zh-CN" sz="1200" dirty="0">
              <a:solidFill>
                <a:schemeClr val="bg2"/>
              </a:solidFill>
            </a:endParaRPr>
          </a:p>
          <a:p>
            <a:r>
              <a:rPr kumimoji="1" lang="en-GB" altLang="zh-CN" sz="1400" dirty="0">
                <a:solidFill>
                  <a:schemeClr val="bg2"/>
                </a:solidFill>
              </a:rPr>
              <a:t>You </a:t>
            </a:r>
            <a:r>
              <a:rPr kumimoji="1" lang="en-GB" altLang="zh-CN" sz="1400" dirty="0">
                <a:solidFill>
                  <a:schemeClr val="tx1"/>
                </a:solidFill>
              </a:rPr>
              <a:t>cannot access</a:t>
            </a:r>
            <a:r>
              <a:rPr kumimoji="1" lang="en-GB" altLang="zh-CN" sz="1400" dirty="0">
                <a:solidFill>
                  <a:schemeClr val="bg2"/>
                </a:solidFill>
              </a:rPr>
              <a:t> items in a set by referring to </a:t>
            </a:r>
            <a:r>
              <a:rPr kumimoji="1" lang="en-GB" altLang="zh-CN" sz="1400" dirty="0">
                <a:solidFill>
                  <a:schemeClr val="tx1"/>
                </a:solidFill>
              </a:rPr>
              <a:t>an index</a:t>
            </a:r>
            <a:r>
              <a:rPr kumimoji="1" lang="en-GB" altLang="zh-CN" sz="1400" dirty="0">
                <a:solidFill>
                  <a:schemeClr val="bg2"/>
                </a:solidFill>
              </a:rPr>
              <a:t>, since sets are unordered the items has no index</a:t>
            </a:r>
            <a:r>
              <a:rPr kumimoji="1" lang="en-US" altLang="en-GB" sz="1400" dirty="0">
                <a:solidFill>
                  <a:schemeClr val="bg2"/>
                </a:solidFill>
              </a:rPr>
              <a:t>(</a:t>
            </a:r>
            <a:r>
              <a:rPr kumimoji="1" lang="zh-CN" altLang="en-US" sz="1400" dirty="0">
                <a:solidFill>
                  <a:schemeClr val="bg2"/>
                </a:solidFill>
              </a:rPr>
              <a:t>不可通过下标访问</a:t>
            </a:r>
            <a:r>
              <a:rPr kumimoji="1" lang="en-US" altLang="en-GB" sz="1400" dirty="0">
                <a:solidFill>
                  <a:schemeClr val="bg2"/>
                </a:solidFill>
              </a:rPr>
              <a:t>)</a:t>
            </a:r>
            <a:endParaRPr kumimoji="1" lang="en-GB" altLang="zh-CN" sz="1400" dirty="0">
              <a:solidFill>
                <a:schemeClr val="bg2"/>
              </a:solidFill>
            </a:endParaRPr>
          </a:p>
          <a:p>
            <a:r>
              <a:rPr kumimoji="1" lang="en-GB" altLang="zh-CN" sz="1400" dirty="0">
                <a:solidFill>
                  <a:schemeClr val="bg2"/>
                </a:solidFill>
              </a:rPr>
              <a:t>To add one item to a set use the </a:t>
            </a:r>
            <a:r>
              <a:rPr kumimoji="1" lang="en-GB" altLang="zh-CN" sz="1400" dirty="0">
                <a:solidFill>
                  <a:schemeClr val="tx1"/>
                </a:solidFill>
              </a:rPr>
              <a:t>add() </a:t>
            </a:r>
            <a:r>
              <a:rPr kumimoji="1" lang="en-GB" altLang="zh-CN" sz="1400" dirty="0">
                <a:solidFill>
                  <a:schemeClr val="bg2"/>
                </a:solidFill>
              </a:rPr>
              <a:t>method</a:t>
            </a:r>
            <a:endParaRPr kumimoji="1" lang="en-GB" altLang="zh-CN" sz="1400" dirty="0">
              <a:solidFill>
                <a:schemeClr val="bg2"/>
              </a:solidFill>
            </a:endParaRPr>
          </a:p>
          <a:p>
            <a:r>
              <a:rPr kumimoji="1" lang="en-GB" altLang="zh-CN" sz="1400" dirty="0">
                <a:solidFill>
                  <a:schemeClr val="bg2"/>
                </a:solidFill>
              </a:rPr>
              <a:t>To add more than one item to a set use the </a:t>
            </a:r>
            <a:r>
              <a:rPr kumimoji="1" lang="en-GB" altLang="zh-CN" sz="1400" dirty="0">
                <a:solidFill>
                  <a:schemeClr val="tx1"/>
                </a:solidFill>
              </a:rPr>
              <a:t>update()</a:t>
            </a:r>
            <a:r>
              <a:rPr kumimoji="1" lang="en-GB" altLang="zh-CN" sz="1400" dirty="0">
                <a:solidFill>
                  <a:srgbClr val="C00000"/>
                </a:solidFill>
              </a:rPr>
              <a:t> </a:t>
            </a:r>
            <a:r>
              <a:rPr kumimoji="1" lang="en-GB" altLang="zh-CN" sz="1400" dirty="0">
                <a:solidFill>
                  <a:schemeClr val="bg2"/>
                </a:solidFill>
              </a:rPr>
              <a:t>method</a:t>
            </a:r>
            <a:endParaRPr kumimoji="1" lang="en-GB" altLang="zh-CN" sz="1400" dirty="0">
              <a:solidFill>
                <a:schemeClr val="bg2"/>
              </a:solidFill>
            </a:endParaRPr>
          </a:p>
          <a:p>
            <a:r>
              <a:rPr kumimoji="1" lang="en-GB" altLang="zh-CN" sz="1400" dirty="0">
                <a:solidFill>
                  <a:schemeClr val="bg2"/>
                </a:solidFill>
              </a:rPr>
              <a:t>To remove an item in a set, use the </a:t>
            </a:r>
            <a:r>
              <a:rPr kumimoji="1" lang="en-GB" altLang="zh-CN" sz="1400" dirty="0">
                <a:solidFill>
                  <a:schemeClr val="tx1"/>
                </a:solidFill>
              </a:rPr>
              <a:t>remove()</a:t>
            </a:r>
            <a:r>
              <a:rPr kumimoji="1" lang="en-GB" altLang="zh-CN" sz="1400" dirty="0">
                <a:solidFill>
                  <a:schemeClr val="bg2"/>
                </a:solidFill>
              </a:rPr>
              <a:t>, or the </a:t>
            </a:r>
            <a:r>
              <a:rPr kumimoji="1" lang="en-GB" altLang="zh-CN" sz="1400" dirty="0">
                <a:solidFill>
                  <a:schemeClr val="tx1"/>
                </a:solidFill>
              </a:rPr>
              <a:t>discard() </a:t>
            </a:r>
            <a:r>
              <a:rPr kumimoji="1" lang="en-GB" altLang="zh-CN" sz="1400" dirty="0">
                <a:solidFill>
                  <a:schemeClr val="bg2"/>
                </a:solidFill>
              </a:rPr>
              <a:t>method</a:t>
            </a:r>
            <a:endParaRPr kumimoji="1" lang="en-GB" altLang="zh-CN" sz="1400" dirty="0">
              <a:solidFill>
                <a:schemeClr val="bg2"/>
              </a:solidFill>
            </a:endParaRPr>
          </a:p>
          <a:p>
            <a:r>
              <a:rPr kumimoji="1" lang="en-GB" altLang="zh-CN" sz="1400" dirty="0">
                <a:solidFill>
                  <a:schemeClr val="bg2"/>
                </a:solidFill>
              </a:rPr>
              <a:t>The </a:t>
            </a:r>
            <a:r>
              <a:rPr kumimoji="1" lang="en-GB" altLang="zh-CN" sz="1400" dirty="0">
                <a:solidFill>
                  <a:schemeClr val="tx1"/>
                </a:solidFill>
              </a:rPr>
              <a:t>clear() </a:t>
            </a:r>
            <a:r>
              <a:rPr kumimoji="1" lang="en-GB" altLang="zh-CN" sz="1400" dirty="0">
                <a:solidFill>
                  <a:schemeClr val="bg2"/>
                </a:solidFill>
              </a:rPr>
              <a:t>method empties the set</a:t>
            </a:r>
            <a:endParaRPr kumimoji="1" lang="en-GB" altLang="zh-CN" sz="1400" dirty="0">
              <a:solidFill>
                <a:schemeClr val="bg2"/>
              </a:solidFill>
            </a:endParaRPr>
          </a:p>
          <a:p>
            <a:r>
              <a:rPr kumimoji="1" lang="en-GB" altLang="zh-CN" sz="1400" dirty="0">
                <a:solidFill>
                  <a:schemeClr val="bg2"/>
                </a:solidFill>
              </a:rPr>
              <a:t>All the above methods can be implemented by basic set operations </a:t>
            </a:r>
            <a:endParaRPr kumimoji="1" lang="en-GB" altLang="zh-CN" sz="1400" dirty="0">
              <a:solidFill>
                <a:schemeClr val="bg2"/>
              </a:solidFill>
            </a:endParaRPr>
          </a:p>
        </p:txBody>
      </p:sp>
      <p:pic>
        <p:nvPicPr>
          <p:cNvPr id="4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104" y="3660274"/>
            <a:ext cx="1558004" cy="1427445"/>
          </a:xfrm>
          <a:prstGeom prst="rect">
            <a:avLst/>
          </a:prstGeom>
        </p:spPr>
      </p:pic>
      <p:pic>
        <p:nvPicPr>
          <p:cNvPr id="5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8369" y="3675628"/>
            <a:ext cx="1227254" cy="661499"/>
          </a:xfrm>
          <a:prstGeom prst="rect">
            <a:avLst/>
          </a:prstGeom>
        </p:spPr>
      </p:pic>
      <p:pic>
        <p:nvPicPr>
          <p:cNvPr id="6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8369" y="4467455"/>
            <a:ext cx="1606198" cy="364196"/>
          </a:xfrm>
          <a:prstGeom prst="rect">
            <a:avLst/>
          </a:prstGeom>
        </p:spPr>
      </p:pic>
      <p:pic>
        <p:nvPicPr>
          <p:cNvPr id="7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5452" y="3660274"/>
            <a:ext cx="2550252" cy="1462261"/>
          </a:xfrm>
          <a:prstGeom prst="rect">
            <a:avLst/>
          </a:prstGeom>
        </p:spPr>
      </p:pic>
      <p:pic>
        <p:nvPicPr>
          <p:cNvPr id="8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8341" y="3675628"/>
            <a:ext cx="2467530" cy="3492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8341" y="4373996"/>
            <a:ext cx="1227254" cy="284463"/>
          </a:xfrm>
          <a:prstGeom prst="rect">
            <a:avLst/>
          </a:prstGeom>
        </p:spPr>
      </p:pic>
      <p:sp>
        <p:nvSpPr>
          <p:cNvPr id="10" name="文本框 7"/>
          <p:cNvSpPr txBox="1"/>
          <p:nvPr/>
        </p:nvSpPr>
        <p:spPr>
          <a:xfrm>
            <a:off x="6499051" y="4831651"/>
            <a:ext cx="2418180" cy="246221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r>
              <a:rPr lang="zh-CN" altLang="en-US" sz="1000" dirty="0">
                <a:latin typeface="+mn-lt"/>
              </a:rPr>
              <a:t>TypeError: unhashable type: 'list'</a:t>
            </a:r>
            <a:endParaRPr lang="zh-CN" altLang="en-US" sz="1000" dirty="0">
              <a:latin typeface="+mn-lt"/>
            </a:endParaRPr>
          </a:p>
        </p:txBody>
      </p:sp>
      <p:sp>
        <p:nvSpPr>
          <p:cNvPr id="13" name="文本框 3"/>
          <p:cNvSpPr txBox="1"/>
          <p:nvPr/>
        </p:nvSpPr>
        <p:spPr>
          <a:xfrm>
            <a:off x="6581301" y="3000303"/>
            <a:ext cx="2401610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defRPr/>
            </a:pPr>
            <a:r>
              <a:rPr lang="en-US" altLang="zh-CN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anose="020B0503030403020204"/>
                <a:ea typeface="华文楷体" panose="0201060004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return None: </a:t>
            </a:r>
            <a:r>
              <a:rPr lang="en-US" altLang="zh-CN" sz="12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anose="020B0503030403020204"/>
                <a:ea typeface="华文楷体" panose="0201060004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set.add</a:t>
            </a:r>
            <a:r>
              <a:rPr lang="en-US" altLang="zh-CN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anose="020B0503030403020204"/>
                <a:ea typeface="华文楷体" panose="0201060004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(), </a:t>
            </a:r>
            <a:r>
              <a:rPr lang="en-US" altLang="zh-CN" sz="12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anose="020B0503030403020204"/>
                <a:ea typeface="华文楷体" panose="0201060004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set.update</a:t>
            </a:r>
            <a:r>
              <a:rPr lang="en-US" altLang="zh-CN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anose="020B0503030403020204"/>
                <a:ea typeface="华文楷体" panose="0201060004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()</a:t>
            </a:r>
            <a:endParaRPr lang="en-US" altLang="zh-CN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ource Sans Pro" panose="020B0503030403020204"/>
              <a:ea typeface="华文楷体" panose="02010600040101010101" pitchFamily="2" charset="-122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076450" y="4894580"/>
            <a:ext cx="15068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把关键字拆开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668520" y="1320165"/>
            <a:ext cx="15436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数据结构类型</a:t>
            </a:r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7775575" y="4032885"/>
            <a:ext cx="136842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highlight>
                  <a:srgbClr val="FFFF00"/>
                </a:highlight>
              </a:rPr>
              <a:t>集合内元素必须是不可修改的，但集合是可以修改的</a:t>
            </a:r>
            <a:endParaRPr lang="zh-CN" altLang="en-US">
              <a:highlight>
                <a:srgbClr val="FFFF00"/>
              </a:highlight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260600" y="4237990"/>
            <a:ext cx="15449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不能直接加数</a:t>
            </a:r>
            <a:endParaRPr lang="zh-CN" alt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GB" altLang="zh-CN" dirty="0"/>
              <a:t>Set operations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845038"/>
          </a:xfrm>
        </p:spPr>
        <p:txBody>
          <a:bodyPr>
            <a:noAutofit/>
          </a:bodyPr>
          <a:lstStyle/>
          <a:p>
            <a:r>
              <a:rPr kumimoji="1" lang="en-GB" altLang="zh-CN" sz="1400" dirty="0">
                <a:solidFill>
                  <a:schemeClr val="bg2"/>
                </a:solidFill>
              </a:rPr>
              <a:t>A|B: Returns a set which is the </a:t>
            </a:r>
            <a:r>
              <a:rPr kumimoji="1" lang="en-GB" altLang="zh-CN" sz="1400" dirty="0">
                <a:solidFill>
                  <a:schemeClr val="tx1"/>
                </a:solidFill>
              </a:rPr>
              <a:t>union</a:t>
            </a:r>
            <a:r>
              <a:rPr kumimoji="1" lang="en-GB" altLang="zh-CN" sz="1400" dirty="0">
                <a:solidFill>
                  <a:schemeClr val="bg2"/>
                </a:solidFill>
              </a:rPr>
              <a:t> of sets A and B</a:t>
            </a:r>
            <a:r>
              <a:rPr kumimoji="1" lang="en-US" altLang="en-GB" sz="1400" dirty="0">
                <a:solidFill>
                  <a:schemeClr val="bg2"/>
                </a:solidFill>
              </a:rPr>
              <a:t> </a:t>
            </a:r>
            <a:r>
              <a:rPr kumimoji="1" lang="zh-CN" altLang="en-US" sz="1400" dirty="0">
                <a:solidFill>
                  <a:schemeClr val="bg2"/>
                </a:solidFill>
                <a:ea typeface="宋体" panose="02010600030101010101" pitchFamily="2" charset="-122"/>
              </a:rPr>
              <a:t>（</a:t>
            </a:r>
            <a:r>
              <a:rPr kumimoji="1" lang="zh-CN" altLang="en-US" sz="1400" dirty="0">
                <a:solidFill>
                  <a:schemeClr val="bg2"/>
                </a:solidFill>
                <a:ea typeface="宋体" panose="02010600030101010101" pitchFamily="2" charset="-122"/>
              </a:rPr>
              <a:t>并集）</a:t>
            </a:r>
            <a:endParaRPr kumimoji="1" lang="en-GB" altLang="zh-CN" sz="1400" dirty="0">
              <a:solidFill>
                <a:schemeClr val="bg2"/>
              </a:solidFill>
            </a:endParaRPr>
          </a:p>
          <a:p>
            <a:r>
              <a:rPr kumimoji="1" lang="en-GB" altLang="zh-CN" sz="1400" dirty="0">
                <a:solidFill>
                  <a:schemeClr val="bg2"/>
                </a:solidFill>
              </a:rPr>
              <a:t>A&amp; B: Returns a set which is the </a:t>
            </a:r>
            <a:r>
              <a:rPr kumimoji="1" lang="en-GB" altLang="zh-CN" sz="1400" dirty="0">
                <a:solidFill>
                  <a:schemeClr val="tx1"/>
                </a:solidFill>
              </a:rPr>
              <a:t>intersection</a:t>
            </a:r>
            <a:r>
              <a:rPr kumimoji="1" lang="en-GB" altLang="zh-CN" sz="1400" dirty="0">
                <a:solidFill>
                  <a:schemeClr val="bg2"/>
                </a:solidFill>
              </a:rPr>
              <a:t> of sets A and B</a:t>
            </a:r>
            <a:r>
              <a:rPr kumimoji="1" lang="en-US" altLang="en-GB" sz="1400" dirty="0">
                <a:solidFill>
                  <a:schemeClr val="bg2"/>
                </a:solidFill>
              </a:rPr>
              <a:t> </a:t>
            </a:r>
            <a:r>
              <a:rPr kumimoji="1" lang="zh-CN" altLang="en-US" sz="1400" dirty="0">
                <a:solidFill>
                  <a:schemeClr val="bg2"/>
                </a:solidFill>
                <a:ea typeface="宋体" panose="02010600030101010101" pitchFamily="2" charset="-122"/>
              </a:rPr>
              <a:t>（</a:t>
            </a:r>
            <a:r>
              <a:rPr kumimoji="1" lang="zh-CN" altLang="en-US" sz="1400" dirty="0">
                <a:solidFill>
                  <a:schemeClr val="bg2"/>
                </a:solidFill>
                <a:ea typeface="宋体" panose="02010600030101010101" pitchFamily="2" charset="-122"/>
              </a:rPr>
              <a:t>交集）</a:t>
            </a:r>
            <a:endParaRPr kumimoji="1" lang="en-GB" altLang="zh-CN" sz="1400" dirty="0">
              <a:solidFill>
                <a:schemeClr val="bg2"/>
              </a:solidFill>
            </a:endParaRPr>
          </a:p>
          <a:p>
            <a:r>
              <a:rPr kumimoji="1" lang="en-GB" altLang="zh-CN" sz="1400" dirty="0">
                <a:solidFill>
                  <a:schemeClr val="bg2"/>
                </a:solidFill>
              </a:rPr>
              <a:t>A-B: Returns the set </a:t>
            </a:r>
            <a:r>
              <a:rPr kumimoji="1" lang="en-GB" altLang="zh-CN" sz="1400" dirty="0">
                <a:solidFill>
                  <a:schemeClr val="tx1"/>
                </a:solidFill>
              </a:rPr>
              <a:t>difference</a:t>
            </a:r>
            <a:r>
              <a:rPr kumimoji="1" lang="en-GB" altLang="zh-CN" sz="1400" dirty="0">
                <a:solidFill>
                  <a:schemeClr val="bg2"/>
                </a:solidFill>
              </a:rPr>
              <a:t> of A and B (the elements included in A, but not included in B)</a:t>
            </a:r>
            <a:r>
              <a:rPr kumimoji="1" lang="en-US" altLang="en-GB" sz="1400" dirty="0">
                <a:solidFill>
                  <a:schemeClr val="bg2"/>
                </a:solidFill>
              </a:rPr>
              <a:t> </a:t>
            </a:r>
            <a:r>
              <a:rPr kumimoji="1" lang="zh-CN" altLang="en-US" sz="1400" dirty="0">
                <a:solidFill>
                  <a:schemeClr val="bg2"/>
                </a:solidFill>
                <a:ea typeface="宋体" panose="02010600030101010101" pitchFamily="2" charset="-122"/>
              </a:rPr>
              <a:t>（</a:t>
            </a:r>
            <a:r>
              <a:rPr kumimoji="1" lang="zh-CN" altLang="en-US" sz="1400" dirty="0">
                <a:solidFill>
                  <a:schemeClr val="bg2"/>
                </a:solidFill>
                <a:ea typeface="宋体" panose="02010600030101010101" pitchFamily="2" charset="-122"/>
              </a:rPr>
              <a:t>差集）</a:t>
            </a:r>
            <a:endParaRPr kumimoji="1" lang="en-GB" altLang="zh-CN" sz="1400" dirty="0">
              <a:solidFill>
                <a:schemeClr val="bg2"/>
              </a:solidFill>
            </a:endParaRPr>
          </a:p>
          <a:p>
            <a:r>
              <a:rPr kumimoji="1" lang="en-GB" altLang="zh-CN" sz="1400" dirty="0">
                <a:solidFill>
                  <a:schemeClr val="bg2"/>
                </a:solidFill>
              </a:rPr>
              <a:t>A^B: Returns the </a:t>
            </a:r>
            <a:r>
              <a:rPr kumimoji="1" lang="en-GB" altLang="zh-CN" sz="1400" dirty="0">
                <a:solidFill>
                  <a:schemeClr val="tx1"/>
                </a:solidFill>
              </a:rPr>
              <a:t>symmetric difference </a:t>
            </a:r>
            <a:r>
              <a:rPr kumimoji="1" lang="en-GB" altLang="zh-CN" sz="1400" dirty="0">
                <a:solidFill>
                  <a:schemeClr val="bg2"/>
                </a:solidFill>
              </a:rPr>
              <a:t>of sets A and B (the elements belonging to either A or B, but not to both sets simultaneously)</a:t>
            </a:r>
            <a:r>
              <a:rPr kumimoji="1" lang="en-US" altLang="en-GB" sz="1400" dirty="0">
                <a:solidFill>
                  <a:schemeClr val="bg2"/>
                </a:solidFill>
              </a:rPr>
              <a:t> </a:t>
            </a:r>
            <a:r>
              <a:rPr kumimoji="1" lang="zh-CN" altLang="en-US" sz="1400" dirty="0">
                <a:solidFill>
                  <a:schemeClr val="bg2"/>
                </a:solidFill>
                <a:ea typeface="宋体" panose="02010600030101010101" pitchFamily="2" charset="-122"/>
              </a:rPr>
              <a:t>（并集减</a:t>
            </a:r>
            <a:r>
              <a:rPr kumimoji="1" lang="zh-CN" altLang="en-US" sz="1400" dirty="0">
                <a:solidFill>
                  <a:schemeClr val="bg2"/>
                </a:solidFill>
                <a:ea typeface="宋体" panose="02010600030101010101" pitchFamily="2" charset="-122"/>
              </a:rPr>
              <a:t>交集）</a:t>
            </a:r>
            <a:endParaRPr kumimoji="1" lang="en-GB" altLang="zh-CN" sz="1400" dirty="0">
              <a:solidFill>
                <a:schemeClr val="bg2"/>
              </a:solidFill>
            </a:endParaRPr>
          </a:p>
          <a:p>
            <a:pPr marL="114300" indent="0">
              <a:buNone/>
            </a:pPr>
            <a:endParaRPr kumimoji="1" lang="en-GB" altLang="zh-CN" sz="1400" dirty="0">
              <a:solidFill>
                <a:schemeClr val="bg2"/>
              </a:solidFill>
            </a:endParaRPr>
          </a:p>
          <a:p>
            <a:pPr marL="114300" indent="0">
              <a:buNone/>
            </a:pPr>
            <a:endParaRPr kumimoji="1" lang="en-GB" altLang="zh-CN" sz="1400" dirty="0">
              <a:solidFill>
                <a:schemeClr val="bg2"/>
              </a:solidFill>
            </a:endParaRPr>
          </a:p>
          <a:p>
            <a:pPr marL="114300" indent="0">
              <a:buNone/>
            </a:pPr>
            <a:endParaRPr kumimoji="1" lang="en-GB" altLang="zh-CN" sz="1400" dirty="0">
              <a:solidFill>
                <a:schemeClr val="bg2"/>
              </a:solidFill>
            </a:endParaRPr>
          </a:p>
          <a:p>
            <a:pPr marL="114300" indent="0">
              <a:buNone/>
            </a:pPr>
            <a:endParaRPr kumimoji="1" lang="en-GB" altLang="zh-CN" sz="1400" dirty="0">
              <a:solidFill>
                <a:schemeClr val="bg2"/>
              </a:solidFill>
            </a:endParaRPr>
          </a:p>
          <a:p>
            <a:pPr marL="114300" indent="0">
              <a:buNone/>
            </a:pPr>
            <a:endParaRPr kumimoji="1" lang="en-GB" altLang="zh-CN" sz="1400" dirty="0">
              <a:solidFill>
                <a:schemeClr val="bg2"/>
              </a:solidFill>
            </a:endParaRPr>
          </a:p>
          <a:p>
            <a:pPr marL="114300" indent="0">
              <a:buNone/>
            </a:pPr>
            <a:endParaRPr kumimoji="1" lang="en-GB" altLang="zh-CN" sz="1400" dirty="0">
              <a:solidFill>
                <a:schemeClr val="bg2"/>
              </a:solidFill>
            </a:endParaRPr>
          </a:p>
          <a:p>
            <a:pPr marL="114300" indent="0">
              <a:buNone/>
            </a:pPr>
            <a:endParaRPr kumimoji="1" lang="en-GB" altLang="zh-CN" sz="1400" dirty="0">
              <a:solidFill>
                <a:schemeClr val="bg2"/>
              </a:solidFill>
            </a:endParaRPr>
          </a:p>
          <a:p>
            <a:r>
              <a:rPr kumimoji="1" lang="en-GB" altLang="zh-CN" sz="1400" dirty="0">
                <a:solidFill>
                  <a:schemeClr val="bg2"/>
                </a:solidFill>
              </a:rPr>
              <a:t>A</a:t>
            </a:r>
            <a:r>
              <a:rPr kumimoji="1" lang="en-GB" altLang="zh-CN" sz="1400" dirty="0">
                <a:solidFill>
                  <a:schemeClr val="tx1"/>
                </a:solidFill>
              </a:rPr>
              <a:t>&lt;=</a:t>
            </a:r>
            <a:r>
              <a:rPr kumimoji="1" lang="en-GB" altLang="zh-CN" sz="1400" dirty="0">
                <a:solidFill>
                  <a:schemeClr val="bg2"/>
                </a:solidFill>
              </a:rPr>
              <a:t>B: Returns true if A is a subset of B</a:t>
            </a:r>
            <a:r>
              <a:rPr kumimoji="1" lang="en-US" altLang="en-GB" sz="1400" dirty="0">
                <a:solidFill>
                  <a:schemeClr val="bg2"/>
                </a:solidFill>
              </a:rPr>
              <a:t> </a:t>
            </a:r>
            <a:r>
              <a:rPr kumimoji="1" lang="zh-CN" altLang="en-US" sz="1400" dirty="0">
                <a:solidFill>
                  <a:schemeClr val="bg2"/>
                </a:solidFill>
                <a:ea typeface="宋体" panose="02010600030101010101" pitchFamily="2" charset="-122"/>
              </a:rPr>
              <a:t>（是否</a:t>
            </a:r>
            <a:r>
              <a:rPr kumimoji="1" lang="zh-CN" altLang="en-US" sz="1400" dirty="0">
                <a:solidFill>
                  <a:schemeClr val="bg2"/>
                </a:solidFill>
                <a:ea typeface="宋体" panose="02010600030101010101" pitchFamily="2" charset="-122"/>
              </a:rPr>
              <a:t>蕴含于）</a:t>
            </a:r>
            <a:endParaRPr kumimoji="1" lang="en-GB" altLang="zh-CN" sz="1400" dirty="0">
              <a:solidFill>
                <a:schemeClr val="bg2"/>
              </a:solidFill>
            </a:endParaRPr>
          </a:p>
          <a:p>
            <a:r>
              <a:rPr kumimoji="1" lang="en-GB" altLang="zh-CN" sz="1400" dirty="0">
                <a:solidFill>
                  <a:schemeClr val="bg2"/>
                </a:solidFill>
              </a:rPr>
              <a:t>A</a:t>
            </a:r>
            <a:r>
              <a:rPr kumimoji="1" lang="en-GB" altLang="zh-CN" sz="1400" dirty="0">
                <a:solidFill>
                  <a:schemeClr val="tx1"/>
                </a:solidFill>
              </a:rPr>
              <a:t>&gt;=</a:t>
            </a:r>
            <a:r>
              <a:rPr kumimoji="1" lang="en-GB" altLang="zh-CN" sz="1400" dirty="0">
                <a:solidFill>
                  <a:schemeClr val="bg2"/>
                </a:solidFill>
              </a:rPr>
              <a:t>B: Returns true if B is a subset of A</a:t>
            </a:r>
            <a:endParaRPr kumimoji="1" lang="en-GB" altLang="zh-CN" sz="1400" dirty="0">
              <a:solidFill>
                <a:schemeClr val="bg2"/>
              </a:solidFill>
            </a:endParaRPr>
          </a:p>
          <a:p>
            <a:r>
              <a:rPr kumimoji="1" lang="en-GB" altLang="zh-CN" sz="1400" dirty="0">
                <a:solidFill>
                  <a:schemeClr val="bg2"/>
                </a:solidFill>
              </a:rPr>
              <a:t>Similar, A</a:t>
            </a:r>
            <a:r>
              <a:rPr kumimoji="1" lang="en-GB" altLang="zh-CN" sz="1400" dirty="0">
                <a:solidFill>
                  <a:schemeClr val="tx1"/>
                </a:solidFill>
              </a:rPr>
              <a:t>&lt;</a:t>
            </a:r>
            <a:r>
              <a:rPr kumimoji="1" lang="en-GB" altLang="zh-CN" sz="1400" dirty="0">
                <a:solidFill>
                  <a:schemeClr val="bg2"/>
                </a:solidFill>
              </a:rPr>
              <a:t>B, A</a:t>
            </a:r>
            <a:r>
              <a:rPr kumimoji="1" lang="en-GB" altLang="zh-CN" sz="1400" dirty="0">
                <a:solidFill>
                  <a:schemeClr val="tx1"/>
                </a:solidFill>
              </a:rPr>
              <a:t>&gt;</a:t>
            </a:r>
            <a:r>
              <a:rPr kumimoji="1" lang="en-GB" altLang="zh-CN" sz="1400" dirty="0">
                <a:solidFill>
                  <a:schemeClr val="bg2"/>
                </a:solidFill>
              </a:rPr>
              <a:t>B</a:t>
            </a:r>
            <a:endParaRPr kumimoji="1" lang="en-GB" altLang="zh-CN" sz="1400" dirty="0">
              <a:solidFill>
                <a:schemeClr val="bg2"/>
              </a:solidFill>
            </a:endParaRPr>
          </a:p>
        </p:txBody>
      </p:sp>
      <p:pic>
        <p:nvPicPr>
          <p:cNvPr id="4" name="Picture 4" descr="Set Difference in Python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881" y="2462697"/>
            <a:ext cx="2692206" cy="1573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Set Symmetric Difference in Pyth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3913" y="2504207"/>
            <a:ext cx="2613548" cy="1486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/>
          <p:cNvSpPr txBox="1"/>
          <p:nvPr/>
        </p:nvSpPr>
        <p:spPr>
          <a:xfrm>
            <a:off x="2508981" y="3991025"/>
            <a:ext cx="5560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GB" altLang="zh-CN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Source Sans Pro" panose="020B0503030403020204"/>
                <a:ea typeface="Source Sans Pro" panose="020B0503030403020204"/>
                <a:sym typeface="Source Sans Pro" panose="020B0503030403020204"/>
              </a:rPr>
              <a:t>A-B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02970" y="4005385"/>
            <a:ext cx="5560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GB" altLang="zh-CN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Source Sans Pro" panose="020B0503030403020204"/>
                <a:ea typeface="Source Sans Pro" panose="020B0503030403020204"/>
                <a:sym typeface="Source Sans Pro" panose="020B0503030403020204"/>
              </a:rPr>
              <a:t>A^B</a:t>
            </a:r>
            <a:endParaRPr lang="zh-CN" altLang="en-US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920" y="592918"/>
            <a:ext cx="5171745" cy="2772837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920" y="3449130"/>
            <a:ext cx="7162916" cy="1508764"/>
          </a:xfrm>
          <a:prstGeom prst="rect">
            <a:avLst/>
          </a:prstGeom>
        </p:spPr>
      </p:pic>
      <p:pic>
        <p:nvPicPr>
          <p:cNvPr id="6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4691" y="1612369"/>
            <a:ext cx="611612" cy="366967"/>
          </a:xfrm>
          <a:prstGeom prst="rect">
            <a:avLst/>
          </a:prstGeom>
        </p:spPr>
      </p:pic>
      <p:pic>
        <p:nvPicPr>
          <p:cNvPr id="8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4691" y="592918"/>
            <a:ext cx="2954578" cy="77581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978875" y="4619418"/>
            <a:ext cx="880394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defRPr/>
            </a:pPr>
            <a:r>
              <a:rPr lang="en-US" altLang="zh-CN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anose="020B0503030403020204"/>
                <a:ea typeface="华文楷体" panose="0201060004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Code talks!</a:t>
            </a:r>
            <a:endParaRPr lang="en-US" altLang="zh-CN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ource Sans Pro" panose="020B0503030403020204"/>
              <a:ea typeface="华文楷体" panose="02010600040101010101" pitchFamily="2" charset="-122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821680" y="2510155"/>
            <a:ext cx="15830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删去重复的</a:t>
            </a:r>
            <a:endParaRPr lang="zh-CN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>
            <a:spLocks noGrp="1"/>
          </p:cNvSpPr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/>
              <a:t>Summary</a:t>
            </a:r>
            <a:endParaRPr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/>
              <a:t>List,</a:t>
            </a:r>
            <a:r>
              <a:rPr kumimoji="1" lang="zh-CN" altLang="en-US" dirty="0"/>
              <a:t> </a:t>
            </a:r>
            <a:r>
              <a:rPr kumimoji="1" lang="en-US" altLang="zh-CN" dirty="0"/>
              <a:t>tuple,</a:t>
            </a:r>
            <a:r>
              <a:rPr kumimoji="1" lang="zh-CN" altLang="en-US" dirty="0"/>
              <a:t> </a:t>
            </a:r>
            <a:r>
              <a:rPr kumimoji="1" lang="en-US" altLang="zh-CN" dirty="0"/>
              <a:t>str,</a:t>
            </a:r>
            <a:r>
              <a:rPr kumimoji="1" lang="zh-CN" altLang="en-US" dirty="0"/>
              <a:t> </a:t>
            </a:r>
            <a:r>
              <a:rPr kumimoji="1" lang="en-GB" altLang="zh-CN" dirty="0" err="1"/>
              <a:t>dict</a:t>
            </a:r>
            <a:r>
              <a:rPr kumimoji="1" lang="en-US" altLang="zh-CN" dirty="0"/>
              <a:t>,</a:t>
            </a:r>
            <a:r>
              <a:rPr kumimoji="1" lang="zh-CN" altLang="en-US" dirty="0"/>
              <a:t> </a:t>
            </a:r>
            <a:r>
              <a:rPr kumimoji="1" lang="en-US" altLang="zh-CN" dirty="0"/>
              <a:t>set</a:t>
            </a:r>
            <a:br>
              <a:rPr kumimoji="1" lang="en-GB" altLang="zh-CN" dirty="0"/>
            </a:br>
            <a:br>
              <a:rPr kumimoji="1" lang="en-GB" altLang="zh-CN" dirty="0"/>
            </a:b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700" y="1152473"/>
            <a:ext cx="8520600" cy="3145207"/>
          </a:xfrm>
        </p:spPr>
        <p:txBody>
          <a:bodyPr numCol="2">
            <a:normAutofit/>
          </a:bodyPr>
          <a:lstStyle/>
          <a:p>
            <a:r>
              <a:rPr kumimoji="1" lang="en-US" altLang="zh-CN" sz="1400" dirty="0">
                <a:solidFill>
                  <a:schemeClr val="tx1"/>
                </a:solidFill>
              </a:rPr>
              <a:t>Mutable:</a:t>
            </a:r>
            <a:r>
              <a:rPr kumimoji="1" lang="zh-CN" altLang="en-US" sz="1400" dirty="0">
                <a:solidFill>
                  <a:schemeClr val="tx1"/>
                </a:solidFill>
              </a:rPr>
              <a:t> </a:t>
            </a:r>
            <a:r>
              <a:rPr kumimoji="1" lang="en-US" altLang="zh-CN" sz="1400" dirty="0">
                <a:solidFill>
                  <a:schemeClr val="bg2"/>
                </a:solidFill>
              </a:rPr>
              <a:t>list,</a:t>
            </a:r>
            <a:r>
              <a:rPr kumimoji="1" lang="zh-CN" altLang="en-US" sz="1400" dirty="0">
                <a:solidFill>
                  <a:schemeClr val="bg2"/>
                </a:solidFill>
              </a:rPr>
              <a:t> </a:t>
            </a:r>
            <a:r>
              <a:rPr kumimoji="1" lang="en-US" altLang="zh-CN" sz="1400" dirty="0" err="1">
                <a:solidFill>
                  <a:schemeClr val="bg2"/>
                </a:solidFill>
              </a:rPr>
              <a:t>dict</a:t>
            </a:r>
            <a:r>
              <a:rPr kumimoji="1" lang="en-US" altLang="zh-CN" sz="1400" dirty="0">
                <a:solidFill>
                  <a:schemeClr val="bg2"/>
                </a:solidFill>
              </a:rPr>
              <a:t>,</a:t>
            </a:r>
            <a:r>
              <a:rPr kumimoji="1" lang="zh-CN" altLang="en-US" sz="1400" dirty="0">
                <a:solidFill>
                  <a:schemeClr val="bg2"/>
                </a:solidFill>
              </a:rPr>
              <a:t> </a:t>
            </a:r>
            <a:r>
              <a:rPr kumimoji="1" lang="en-US" altLang="zh-CN" sz="1400" dirty="0">
                <a:solidFill>
                  <a:schemeClr val="bg2"/>
                </a:solidFill>
              </a:rPr>
              <a:t>set</a:t>
            </a:r>
            <a:endParaRPr kumimoji="1" lang="en-US" altLang="zh-CN" sz="1400" dirty="0">
              <a:solidFill>
                <a:schemeClr val="bg2"/>
              </a:solidFill>
            </a:endParaRPr>
          </a:p>
          <a:p>
            <a:r>
              <a:rPr kumimoji="1" lang="en-US" altLang="zh-CN" sz="1400" dirty="0">
                <a:solidFill>
                  <a:schemeClr val="bg2"/>
                </a:solidFill>
              </a:rPr>
              <a:t>Immutable:</a:t>
            </a:r>
            <a:r>
              <a:rPr kumimoji="1" lang="zh-CN" altLang="en-US" sz="1400" dirty="0">
                <a:solidFill>
                  <a:schemeClr val="bg2"/>
                </a:solidFill>
              </a:rPr>
              <a:t> </a:t>
            </a:r>
            <a:r>
              <a:rPr kumimoji="1" lang="en-US" altLang="zh-CN" sz="1400" dirty="0">
                <a:solidFill>
                  <a:schemeClr val="bg2"/>
                </a:solidFill>
              </a:rPr>
              <a:t>tuple,</a:t>
            </a:r>
            <a:r>
              <a:rPr kumimoji="1" lang="zh-CN" altLang="en-US" sz="1400" dirty="0">
                <a:solidFill>
                  <a:schemeClr val="bg2"/>
                </a:solidFill>
              </a:rPr>
              <a:t> </a:t>
            </a:r>
            <a:r>
              <a:rPr kumimoji="1" lang="en-US" altLang="zh-CN" sz="1400" dirty="0">
                <a:solidFill>
                  <a:schemeClr val="bg2"/>
                </a:solidFill>
              </a:rPr>
              <a:t>str</a:t>
            </a:r>
            <a:endParaRPr kumimoji="1" lang="en-US" altLang="zh-CN" sz="1400" dirty="0">
              <a:solidFill>
                <a:schemeClr val="bg2"/>
              </a:solidFill>
            </a:endParaRPr>
          </a:p>
          <a:p>
            <a:r>
              <a:rPr kumimoji="1" lang="en-US" altLang="zh-CN" sz="1400" dirty="0">
                <a:solidFill>
                  <a:schemeClr val="tx1"/>
                </a:solidFill>
              </a:rPr>
              <a:t>Ordered:</a:t>
            </a:r>
            <a:r>
              <a:rPr kumimoji="1" lang="zh-CN" altLang="en-US" sz="1400" dirty="0">
                <a:solidFill>
                  <a:schemeClr val="bg2"/>
                </a:solidFill>
              </a:rPr>
              <a:t> </a:t>
            </a:r>
            <a:r>
              <a:rPr kumimoji="1" lang="en-US" altLang="zh-CN" sz="1400" dirty="0">
                <a:solidFill>
                  <a:schemeClr val="bg2"/>
                </a:solidFill>
              </a:rPr>
              <a:t>list,</a:t>
            </a:r>
            <a:r>
              <a:rPr kumimoji="1" lang="zh-CN" altLang="en-US" sz="1400" dirty="0">
                <a:solidFill>
                  <a:schemeClr val="bg2"/>
                </a:solidFill>
              </a:rPr>
              <a:t> </a:t>
            </a:r>
            <a:r>
              <a:rPr kumimoji="1" lang="en-US" altLang="zh-CN" sz="1400" dirty="0">
                <a:solidFill>
                  <a:schemeClr val="bg2"/>
                </a:solidFill>
              </a:rPr>
              <a:t>tuple,</a:t>
            </a:r>
            <a:r>
              <a:rPr kumimoji="1" lang="zh-CN" altLang="en-US" sz="1400" dirty="0">
                <a:solidFill>
                  <a:schemeClr val="bg2"/>
                </a:solidFill>
              </a:rPr>
              <a:t> </a:t>
            </a:r>
            <a:r>
              <a:rPr kumimoji="1" lang="en-US" altLang="zh-CN" sz="1400" dirty="0">
                <a:solidFill>
                  <a:schemeClr val="bg2"/>
                </a:solidFill>
              </a:rPr>
              <a:t>str</a:t>
            </a:r>
            <a:endParaRPr kumimoji="1" lang="en-US" altLang="zh-CN" sz="1400" dirty="0">
              <a:solidFill>
                <a:schemeClr val="bg2"/>
              </a:solidFill>
            </a:endParaRPr>
          </a:p>
          <a:p>
            <a:r>
              <a:rPr kumimoji="1" lang="en-US" altLang="zh-CN" sz="1400" dirty="0">
                <a:solidFill>
                  <a:schemeClr val="bg2"/>
                </a:solidFill>
              </a:rPr>
              <a:t>Unordered:</a:t>
            </a:r>
            <a:r>
              <a:rPr kumimoji="1" lang="zh-CN" altLang="en-US" sz="1400" dirty="0">
                <a:solidFill>
                  <a:schemeClr val="bg2"/>
                </a:solidFill>
              </a:rPr>
              <a:t> </a:t>
            </a:r>
            <a:r>
              <a:rPr kumimoji="1" lang="en-US" altLang="zh-CN" sz="1400" dirty="0" err="1">
                <a:solidFill>
                  <a:schemeClr val="bg2"/>
                </a:solidFill>
              </a:rPr>
              <a:t>dict</a:t>
            </a:r>
            <a:r>
              <a:rPr kumimoji="1" lang="en-US" altLang="zh-CN" sz="1400" dirty="0">
                <a:solidFill>
                  <a:schemeClr val="bg2"/>
                </a:solidFill>
              </a:rPr>
              <a:t>,</a:t>
            </a:r>
            <a:r>
              <a:rPr kumimoji="1" lang="zh-CN" altLang="en-US" sz="1400" dirty="0">
                <a:solidFill>
                  <a:schemeClr val="bg2"/>
                </a:solidFill>
              </a:rPr>
              <a:t> </a:t>
            </a:r>
            <a:r>
              <a:rPr kumimoji="1" lang="en-US" altLang="zh-CN" sz="1400" dirty="0">
                <a:solidFill>
                  <a:schemeClr val="bg2"/>
                </a:solidFill>
              </a:rPr>
              <a:t>set</a:t>
            </a:r>
            <a:endParaRPr kumimoji="1" lang="en-US" altLang="zh-CN" sz="1400" dirty="0">
              <a:solidFill>
                <a:schemeClr val="bg2"/>
              </a:solidFill>
            </a:endParaRPr>
          </a:p>
          <a:p>
            <a:r>
              <a:rPr kumimoji="1" lang="en-US" altLang="zh-CN" sz="1400" dirty="0">
                <a:solidFill>
                  <a:schemeClr val="bg2"/>
                </a:solidFill>
                <a:highlight>
                  <a:srgbClr val="FFFF00"/>
                </a:highlight>
              </a:rPr>
              <a:t>Elements</a:t>
            </a:r>
            <a:r>
              <a:rPr kumimoji="1" lang="zh-CN" altLang="en-US" sz="1400" dirty="0">
                <a:solidFill>
                  <a:schemeClr val="bg2"/>
                </a:solidFill>
                <a:highlight>
                  <a:srgbClr val="FFFF00"/>
                </a:highlight>
              </a:rPr>
              <a:t> </a:t>
            </a:r>
            <a:r>
              <a:rPr kumimoji="1" lang="en-US" altLang="zh-CN" sz="1400" dirty="0">
                <a:solidFill>
                  <a:schemeClr val="bg2"/>
                </a:solidFill>
                <a:highlight>
                  <a:srgbClr val="FFFF00"/>
                </a:highlight>
              </a:rPr>
              <a:t>of</a:t>
            </a:r>
            <a:r>
              <a:rPr kumimoji="1" lang="zh-CN" altLang="en-US" sz="1400" dirty="0">
                <a:solidFill>
                  <a:schemeClr val="bg2"/>
                </a:solidFill>
                <a:highlight>
                  <a:srgbClr val="FFFF00"/>
                </a:highlight>
              </a:rPr>
              <a:t> </a:t>
            </a:r>
            <a:r>
              <a:rPr kumimoji="1" lang="en-US" altLang="zh-CN" sz="1400" dirty="0" err="1">
                <a:solidFill>
                  <a:schemeClr val="bg2"/>
                </a:solidFill>
                <a:highlight>
                  <a:srgbClr val="FFFF00"/>
                </a:highlight>
              </a:rPr>
              <a:t>dicts</a:t>
            </a:r>
            <a:r>
              <a:rPr kumimoji="1" lang="zh-CN" altLang="en-US" sz="1400" dirty="0">
                <a:solidFill>
                  <a:schemeClr val="bg2"/>
                </a:solidFill>
                <a:highlight>
                  <a:srgbClr val="FFFF00"/>
                </a:highlight>
              </a:rPr>
              <a:t> </a:t>
            </a:r>
            <a:r>
              <a:rPr kumimoji="1" lang="en-US" altLang="zh-CN" sz="1400" dirty="0">
                <a:solidFill>
                  <a:schemeClr val="bg2"/>
                </a:solidFill>
                <a:highlight>
                  <a:srgbClr val="FFFF00"/>
                </a:highlight>
              </a:rPr>
              <a:t>and</a:t>
            </a:r>
            <a:r>
              <a:rPr kumimoji="1" lang="zh-CN" altLang="en-US" sz="1400" dirty="0">
                <a:solidFill>
                  <a:schemeClr val="bg2"/>
                </a:solidFill>
                <a:highlight>
                  <a:srgbClr val="FFFF00"/>
                </a:highlight>
              </a:rPr>
              <a:t> </a:t>
            </a:r>
            <a:r>
              <a:rPr kumimoji="1" lang="en-US" altLang="zh-CN" sz="1400" dirty="0">
                <a:solidFill>
                  <a:schemeClr val="bg2"/>
                </a:solidFill>
                <a:highlight>
                  <a:srgbClr val="FFFF00"/>
                </a:highlight>
              </a:rPr>
              <a:t>sets</a:t>
            </a:r>
            <a:r>
              <a:rPr kumimoji="1" lang="zh-CN" altLang="en-US" sz="1400" dirty="0">
                <a:solidFill>
                  <a:schemeClr val="bg2"/>
                </a:solidFill>
                <a:highlight>
                  <a:srgbClr val="FFFF00"/>
                </a:highlight>
              </a:rPr>
              <a:t> </a:t>
            </a:r>
            <a:r>
              <a:rPr kumimoji="1" lang="en-US" altLang="zh-CN" sz="1400" dirty="0">
                <a:solidFill>
                  <a:schemeClr val="bg2"/>
                </a:solidFill>
                <a:highlight>
                  <a:srgbClr val="FFFF00"/>
                </a:highlight>
              </a:rPr>
              <a:t>should</a:t>
            </a:r>
            <a:r>
              <a:rPr kumimoji="1" lang="zh-CN" altLang="en-US" sz="1400" dirty="0">
                <a:solidFill>
                  <a:schemeClr val="bg2"/>
                </a:solidFill>
                <a:highlight>
                  <a:srgbClr val="FFFF00"/>
                </a:highlight>
              </a:rPr>
              <a:t> </a:t>
            </a:r>
            <a:r>
              <a:rPr kumimoji="1" lang="en-US" altLang="zh-CN" sz="1400" dirty="0">
                <a:solidFill>
                  <a:schemeClr val="bg2"/>
                </a:solidFill>
                <a:highlight>
                  <a:srgbClr val="FFFF00"/>
                </a:highlight>
              </a:rPr>
              <a:t>be</a:t>
            </a:r>
            <a:r>
              <a:rPr kumimoji="1" lang="zh-CN" altLang="en-US" sz="1400" dirty="0">
                <a:solidFill>
                  <a:schemeClr val="bg2"/>
                </a:solidFill>
                <a:highlight>
                  <a:srgbClr val="FFFF00"/>
                </a:highlight>
              </a:rPr>
              <a:t> </a:t>
            </a:r>
            <a:r>
              <a:rPr kumimoji="1" lang="en-US" altLang="zh-CN" sz="1400" dirty="0">
                <a:solidFill>
                  <a:schemeClr val="bg2"/>
                </a:solidFill>
                <a:highlight>
                  <a:srgbClr val="FFFF00"/>
                </a:highlight>
              </a:rPr>
              <a:t>immutable</a:t>
            </a:r>
            <a:r>
              <a:rPr kumimoji="1" lang="en-US" altLang="zh-CN" sz="1400" dirty="0">
                <a:solidFill>
                  <a:schemeClr val="bg2"/>
                </a:solidFill>
              </a:rPr>
              <a:t>.</a:t>
            </a:r>
            <a:r>
              <a:rPr kumimoji="1" lang="zh-CN" altLang="en-US" sz="1400" dirty="0">
                <a:solidFill>
                  <a:schemeClr val="bg2"/>
                </a:solidFill>
              </a:rPr>
              <a:t> </a:t>
            </a:r>
            <a:r>
              <a:rPr kumimoji="1" lang="en-US" altLang="zh-CN" sz="1400" dirty="0">
                <a:solidFill>
                  <a:schemeClr val="bg2"/>
                </a:solidFill>
              </a:rPr>
              <a:t>Element</a:t>
            </a:r>
            <a:r>
              <a:rPr kumimoji="1" lang="zh-CN" altLang="en-US" sz="1400" dirty="0">
                <a:solidFill>
                  <a:schemeClr val="bg2"/>
                </a:solidFill>
              </a:rPr>
              <a:t> </a:t>
            </a:r>
            <a:r>
              <a:rPr kumimoji="1" lang="en-US" altLang="zh-CN" sz="1400" dirty="0">
                <a:solidFill>
                  <a:schemeClr val="bg2"/>
                </a:solidFill>
              </a:rPr>
              <a:t>of</a:t>
            </a:r>
            <a:r>
              <a:rPr kumimoji="1" lang="zh-CN" altLang="en-US" sz="1400" dirty="0">
                <a:solidFill>
                  <a:schemeClr val="bg2"/>
                </a:solidFill>
              </a:rPr>
              <a:t> </a:t>
            </a:r>
            <a:r>
              <a:rPr kumimoji="1" lang="en-US" altLang="zh-CN" sz="1400" dirty="0">
                <a:solidFill>
                  <a:schemeClr val="bg2"/>
                </a:solidFill>
              </a:rPr>
              <a:t>tuples</a:t>
            </a:r>
            <a:r>
              <a:rPr kumimoji="1" lang="zh-CN" altLang="en-US" sz="1400" dirty="0">
                <a:solidFill>
                  <a:schemeClr val="bg2"/>
                </a:solidFill>
              </a:rPr>
              <a:t> </a:t>
            </a:r>
            <a:r>
              <a:rPr kumimoji="1" lang="en-US" altLang="zh-CN" sz="1400" dirty="0">
                <a:solidFill>
                  <a:schemeClr val="bg2"/>
                </a:solidFill>
              </a:rPr>
              <a:t>could</a:t>
            </a:r>
            <a:r>
              <a:rPr kumimoji="1" lang="zh-CN" altLang="en-US" sz="1400" dirty="0">
                <a:solidFill>
                  <a:schemeClr val="bg2"/>
                </a:solidFill>
              </a:rPr>
              <a:t> </a:t>
            </a:r>
            <a:r>
              <a:rPr kumimoji="1" lang="en-US" altLang="zh-CN" sz="1400" dirty="0">
                <a:solidFill>
                  <a:schemeClr val="bg2"/>
                </a:solidFill>
              </a:rPr>
              <a:t>be</a:t>
            </a:r>
            <a:r>
              <a:rPr kumimoji="1" lang="zh-CN" altLang="en-US" sz="1400" dirty="0">
                <a:solidFill>
                  <a:schemeClr val="bg2"/>
                </a:solidFill>
              </a:rPr>
              <a:t> </a:t>
            </a:r>
            <a:r>
              <a:rPr kumimoji="1" lang="en-US" altLang="zh-CN" sz="1400" dirty="0">
                <a:solidFill>
                  <a:schemeClr val="bg2"/>
                </a:solidFill>
              </a:rPr>
              <a:t>immutable</a:t>
            </a:r>
            <a:endParaRPr kumimoji="1" lang="en-US" altLang="zh-CN" sz="1400" dirty="0">
              <a:solidFill>
                <a:schemeClr val="bg2"/>
              </a:solidFill>
            </a:endParaRPr>
          </a:p>
          <a:p>
            <a:r>
              <a:rPr kumimoji="1" lang="en-US" altLang="zh-CN" sz="1400" dirty="0">
                <a:solidFill>
                  <a:schemeClr val="bg2"/>
                </a:solidFill>
              </a:rPr>
              <a:t>List</a:t>
            </a:r>
            <a:r>
              <a:rPr kumimoji="1" lang="zh-CN" altLang="en-US" sz="1400" dirty="0">
                <a:solidFill>
                  <a:schemeClr val="bg2"/>
                </a:solidFill>
              </a:rPr>
              <a:t> </a:t>
            </a:r>
            <a:r>
              <a:rPr kumimoji="1" lang="en-US" altLang="zh-CN" sz="1400" dirty="0">
                <a:solidFill>
                  <a:schemeClr val="bg2"/>
                </a:solidFill>
              </a:rPr>
              <a:t>vs</a:t>
            </a:r>
            <a:r>
              <a:rPr kumimoji="1" lang="zh-CN" altLang="en-US" sz="1400" dirty="0">
                <a:solidFill>
                  <a:schemeClr val="bg2"/>
                </a:solidFill>
              </a:rPr>
              <a:t> </a:t>
            </a:r>
            <a:r>
              <a:rPr kumimoji="1" lang="en-US" altLang="zh-CN" sz="1400" dirty="0">
                <a:solidFill>
                  <a:schemeClr val="bg2"/>
                </a:solidFill>
              </a:rPr>
              <a:t>tuple:</a:t>
            </a:r>
            <a:r>
              <a:rPr kumimoji="1" lang="zh-CN" altLang="en-US" sz="1400" dirty="0">
                <a:solidFill>
                  <a:schemeClr val="bg2"/>
                </a:solidFill>
              </a:rPr>
              <a:t> </a:t>
            </a:r>
            <a:r>
              <a:rPr kumimoji="1" lang="en-US" altLang="zh-CN" sz="1400" dirty="0">
                <a:solidFill>
                  <a:schemeClr val="bg2"/>
                </a:solidFill>
              </a:rPr>
              <a:t>if</a:t>
            </a:r>
            <a:r>
              <a:rPr kumimoji="1" lang="zh-CN" altLang="en-US" sz="1400" dirty="0">
                <a:solidFill>
                  <a:schemeClr val="bg2"/>
                </a:solidFill>
              </a:rPr>
              <a:t> </a:t>
            </a:r>
            <a:r>
              <a:rPr kumimoji="1" lang="en-US" altLang="zh-CN" sz="1400" dirty="0">
                <a:solidFill>
                  <a:schemeClr val="bg2"/>
                </a:solidFill>
              </a:rPr>
              <a:t>we</a:t>
            </a:r>
            <a:r>
              <a:rPr kumimoji="1" lang="zh-CN" altLang="en-US" sz="1400" dirty="0">
                <a:solidFill>
                  <a:schemeClr val="bg2"/>
                </a:solidFill>
              </a:rPr>
              <a:t> </a:t>
            </a:r>
            <a:r>
              <a:rPr kumimoji="1" lang="en-US" altLang="zh-CN" sz="1400" dirty="0">
                <a:solidFill>
                  <a:schemeClr val="bg2"/>
                </a:solidFill>
              </a:rPr>
              <a:t>don’t</a:t>
            </a:r>
            <a:r>
              <a:rPr kumimoji="1" lang="zh-CN" altLang="en-US" sz="1400" dirty="0">
                <a:solidFill>
                  <a:schemeClr val="bg2"/>
                </a:solidFill>
              </a:rPr>
              <a:t> </a:t>
            </a:r>
            <a:r>
              <a:rPr kumimoji="1" lang="en-US" altLang="zh-CN" sz="1400" dirty="0">
                <a:solidFill>
                  <a:schemeClr val="bg2"/>
                </a:solidFill>
              </a:rPr>
              <a:t>need</a:t>
            </a:r>
            <a:r>
              <a:rPr kumimoji="1" lang="zh-CN" altLang="en-US" sz="1400" dirty="0">
                <a:solidFill>
                  <a:schemeClr val="bg2"/>
                </a:solidFill>
              </a:rPr>
              <a:t> </a:t>
            </a:r>
            <a:r>
              <a:rPr kumimoji="1" lang="en-US" altLang="zh-CN" sz="1400" dirty="0">
                <a:solidFill>
                  <a:schemeClr val="bg2"/>
                </a:solidFill>
              </a:rPr>
              <a:t>to</a:t>
            </a:r>
            <a:r>
              <a:rPr kumimoji="1" lang="zh-CN" altLang="en-US" sz="1400" dirty="0">
                <a:solidFill>
                  <a:schemeClr val="bg2"/>
                </a:solidFill>
              </a:rPr>
              <a:t> </a:t>
            </a:r>
            <a:r>
              <a:rPr kumimoji="1" lang="en-US" altLang="zh-CN" sz="1400" dirty="0">
                <a:solidFill>
                  <a:schemeClr val="bg2"/>
                </a:solidFill>
              </a:rPr>
              <a:t>alter</a:t>
            </a:r>
            <a:r>
              <a:rPr kumimoji="1" lang="zh-CN" altLang="en-US" sz="1400" dirty="0">
                <a:solidFill>
                  <a:schemeClr val="bg2"/>
                </a:solidFill>
              </a:rPr>
              <a:t>  </a:t>
            </a:r>
            <a:r>
              <a:rPr kumimoji="1" lang="en-US" altLang="zh-CN" sz="1400" dirty="0">
                <a:solidFill>
                  <a:schemeClr val="bg2"/>
                </a:solidFill>
              </a:rPr>
              <a:t>the</a:t>
            </a:r>
            <a:r>
              <a:rPr kumimoji="1" lang="zh-CN" altLang="en-US" sz="1400" dirty="0">
                <a:solidFill>
                  <a:schemeClr val="bg2"/>
                </a:solidFill>
              </a:rPr>
              <a:t> </a:t>
            </a:r>
            <a:r>
              <a:rPr kumimoji="1" lang="en-US" altLang="zh-CN" sz="1400" dirty="0">
                <a:solidFill>
                  <a:schemeClr val="bg2"/>
                </a:solidFill>
              </a:rPr>
              <a:t>elements,</a:t>
            </a:r>
            <a:r>
              <a:rPr kumimoji="1" lang="zh-CN" altLang="en-US" sz="1400" dirty="0">
                <a:solidFill>
                  <a:schemeClr val="bg2"/>
                </a:solidFill>
              </a:rPr>
              <a:t> </a:t>
            </a:r>
            <a:r>
              <a:rPr kumimoji="1" lang="en-US" altLang="zh-CN" sz="1400" dirty="0">
                <a:solidFill>
                  <a:schemeClr val="bg2"/>
                </a:solidFill>
              </a:rPr>
              <a:t>tuple</a:t>
            </a:r>
            <a:r>
              <a:rPr kumimoji="1" lang="zh-CN" altLang="en-US" sz="1400" dirty="0">
                <a:solidFill>
                  <a:schemeClr val="bg2"/>
                </a:solidFill>
              </a:rPr>
              <a:t> </a:t>
            </a:r>
            <a:r>
              <a:rPr kumimoji="1" lang="en-US" altLang="zh-CN" sz="1400" dirty="0">
                <a:solidFill>
                  <a:schemeClr val="bg2"/>
                </a:solidFill>
              </a:rPr>
              <a:t>is</a:t>
            </a:r>
            <a:r>
              <a:rPr kumimoji="1" lang="zh-CN" altLang="en-US" sz="1400" dirty="0">
                <a:solidFill>
                  <a:schemeClr val="bg2"/>
                </a:solidFill>
              </a:rPr>
              <a:t> </a:t>
            </a:r>
            <a:r>
              <a:rPr kumimoji="1" lang="en-US" altLang="zh-CN" sz="1400" dirty="0">
                <a:solidFill>
                  <a:schemeClr val="bg2"/>
                </a:solidFill>
              </a:rPr>
              <a:t>preferred;</a:t>
            </a:r>
            <a:r>
              <a:rPr kumimoji="1" lang="zh-CN" altLang="en-US" sz="1400" dirty="0">
                <a:solidFill>
                  <a:schemeClr val="bg2"/>
                </a:solidFill>
              </a:rPr>
              <a:t> </a:t>
            </a:r>
            <a:r>
              <a:rPr kumimoji="1" lang="en-US" altLang="zh-CN" sz="1400" dirty="0">
                <a:solidFill>
                  <a:schemeClr val="bg2"/>
                </a:solidFill>
              </a:rPr>
              <a:t>e.g.,</a:t>
            </a:r>
            <a:r>
              <a:rPr kumimoji="1" lang="zh-CN" altLang="en-US" sz="1400" dirty="0">
                <a:solidFill>
                  <a:schemeClr val="bg2"/>
                </a:solidFill>
              </a:rPr>
              <a:t> </a:t>
            </a:r>
            <a:r>
              <a:rPr kumimoji="1" lang="en-US" altLang="zh-CN" sz="1400" dirty="0">
                <a:solidFill>
                  <a:schemeClr val="bg2"/>
                </a:solidFill>
              </a:rPr>
              <a:t>return</a:t>
            </a:r>
            <a:r>
              <a:rPr kumimoji="1" lang="zh-CN" altLang="en-US" sz="1400" dirty="0">
                <a:solidFill>
                  <a:schemeClr val="bg2"/>
                </a:solidFill>
              </a:rPr>
              <a:t> </a:t>
            </a:r>
            <a:r>
              <a:rPr kumimoji="1" lang="en-US" altLang="zh-CN" sz="1400" dirty="0">
                <a:solidFill>
                  <a:schemeClr val="bg2"/>
                </a:solidFill>
              </a:rPr>
              <a:t>values</a:t>
            </a:r>
            <a:endParaRPr kumimoji="1" lang="en-US" altLang="zh-CN" sz="1400" dirty="0">
              <a:solidFill>
                <a:schemeClr val="bg2"/>
              </a:solidFill>
            </a:endParaRPr>
          </a:p>
          <a:p>
            <a:r>
              <a:rPr kumimoji="1" lang="en-US" altLang="zh-CN" sz="1400" dirty="0">
                <a:solidFill>
                  <a:schemeClr val="bg2"/>
                </a:solidFill>
              </a:rPr>
              <a:t>Methods</a:t>
            </a:r>
            <a:r>
              <a:rPr kumimoji="1" lang="zh-CN" altLang="en-US" sz="1400" dirty="0">
                <a:solidFill>
                  <a:schemeClr val="bg2"/>
                </a:solidFill>
              </a:rPr>
              <a:t> </a:t>
            </a:r>
            <a:r>
              <a:rPr kumimoji="1" lang="en-US" altLang="zh-CN" sz="1400" dirty="0">
                <a:solidFill>
                  <a:schemeClr val="bg2"/>
                </a:solidFill>
              </a:rPr>
              <a:t>of</a:t>
            </a:r>
            <a:r>
              <a:rPr kumimoji="1" lang="zh-CN" altLang="en-US" sz="1400" dirty="0">
                <a:solidFill>
                  <a:schemeClr val="bg2"/>
                </a:solidFill>
              </a:rPr>
              <a:t> </a:t>
            </a:r>
            <a:r>
              <a:rPr kumimoji="1" lang="en-US" altLang="zh-CN" sz="1400" dirty="0">
                <a:solidFill>
                  <a:schemeClr val="bg2"/>
                </a:solidFill>
              </a:rPr>
              <a:t>data</a:t>
            </a:r>
            <a:r>
              <a:rPr kumimoji="1" lang="zh-CN" altLang="en-US" sz="1400" dirty="0">
                <a:solidFill>
                  <a:schemeClr val="bg2"/>
                </a:solidFill>
              </a:rPr>
              <a:t> </a:t>
            </a:r>
            <a:r>
              <a:rPr kumimoji="1" lang="en-US" altLang="zh-CN" sz="1400" dirty="0">
                <a:solidFill>
                  <a:schemeClr val="bg2"/>
                </a:solidFill>
              </a:rPr>
              <a:t>structures:</a:t>
            </a:r>
            <a:r>
              <a:rPr kumimoji="1" lang="zh-CN" altLang="en-US" sz="1400" dirty="0">
                <a:solidFill>
                  <a:schemeClr val="bg2"/>
                </a:solidFill>
              </a:rPr>
              <a:t> </a:t>
            </a:r>
            <a:r>
              <a:rPr kumimoji="1" lang="en-US" altLang="zh-CN" sz="1400" dirty="0">
                <a:solidFill>
                  <a:schemeClr val="bg2"/>
                </a:solidFill>
              </a:rPr>
              <a:t>modified</a:t>
            </a:r>
            <a:r>
              <a:rPr kumimoji="1" lang="zh-CN" altLang="en-US" sz="1400" dirty="0">
                <a:solidFill>
                  <a:schemeClr val="bg2"/>
                </a:solidFill>
              </a:rPr>
              <a:t> </a:t>
            </a:r>
            <a:r>
              <a:rPr kumimoji="1" lang="en-US" altLang="zh-CN" sz="1400" dirty="0">
                <a:solidFill>
                  <a:schemeClr val="bg2"/>
                </a:solidFill>
              </a:rPr>
              <a:t>in</a:t>
            </a:r>
            <a:r>
              <a:rPr kumimoji="1" lang="zh-CN" altLang="en-US" sz="1400" dirty="0">
                <a:solidFill>
                  <a:schemeClr val="bg2"/>
                </a:solidFill>
              </a:rPr>
              <a:t> </a:t>
            </a:r>
            <a:r>
              <a:rPr kumimoji="1" lang="en-US" altLang="zh-CN" sz="1400" dirty="0">
                <a:solidFill>
                  <a:schemeClr val="bg2"/>
                </a:solidFill>
              </a:rPr>
              <a:t>place</a:t>
            </a:r>
            <a:r>
              <a:rPr kumimoji="1" lang="zh-CN" altLang="en-US" sz="1400" dirty="0">
                <a:solidFill>
                  <a:schemeClr val="bg2"/>
                </a:solidFill>
              </a:rPr>
              <a:t> </a:t>
            </a:r>
            <a:r>
              <a:rPr kumimoji="1" lang="en-US" altLang="zh-CN" sz="1400" dirty="0">
                <a:solidFill>
                  <a:schemeClr val="bg2"/>
                </a:solidFill>
              </a:rPr>
              <a:t>or</a:t>
            </a:r>
            <a:r>
              <a:rPr kumimoji="1" lang="zh-CN" altLang="en-US" sz="1400" dirty="0">
                <a:solidFill>
                  <a:schemeClr val="bg2"/>
                </a:solidFill>
              </a:rPr>
              <a:t>  </a:t>
            </a:r>
            <a:r>
              <a:rPr kumimoji="1" lang="en-US" altLang="zh-CN" sz="1400" dirty="0">
                <a:solidFill>
                  <a:schemeClr val="bg2"/>
                </a:solidFill>
              </a:rPr>
              <a:t>create</a:t>
            </a:r>
            <a:r>
              <a:rPr kumimoji="1" lang="zh-CN" altLang="en-US" sz="1400" dirty="0">
                <a:solidFill>
                  <a:schemeClr val="bg2"/>
                </a:solidFill>
              </a:rPr>
              <a:t> </a:t>
            </a:r>
            <a:r>
              <a:rPr kumimoji="1" lang="en-US" altLang="zh-CN" sz="1400" dirty="0">
                <a:solidFill>
                  <a:schemeClr val="bg2"/>
                </a:solidFill>
              </a:rPr>
              <a:t>a</a:t>
            </a:r>
            <a:r>
              <a:rPr kumimoji="1" lang="zh-CN" altLang="en-US" sz="1400" dirty="0">
                <a:solidFill>
                  <a:schemeClr val="bg2"/>
                </a:solidFill>
              </a:rPr>
              <a:t> </a:t>
            </a:r>
            <a:r>
              <a:rPr kumimoji="1" lang="en-US" altLang="zh-CN" sz="1400" dirty="0">
                <a:solidFill>
                  <a:schemeClr val="bg2"/>
                </a:solidFill>
              </a:rPr>
              <a:t>new</a:t>
            </a:r>
            <a:r>
              <a:rPr kumimoji="1" lang="zh-CN" altLang="en-US" sz="1400" dirty="0">
                <a:solidFill>
                  <a:schemeClr val="bg2"/>
                </a:solidFill>
              </a:rPr>
              <a:t> </a:t>
            </a:r>
            <a:r>
              <a:rPr kumimoji="1" lang="en-US" altLang="zh-CN" sz="1400" dirty="0">
                <a:solidFill>
                  <a:schemeClr val="bg2"/>
                </a:solidFill>
              </a:rPr>
              <a:t>one</a:t>
            </a:r>
            <a:endParaRPr kumimoji="1" lang="en-US" altLang="zh-CN" sz="1400" dirty="0">
              <a:solidFill>
                <a:schemeClr val="bg2"/>
              </a:solidFill>
            </a:endParaRPr>
          </a:p>
          <a:p>
            <a:pPr lvl="1"/>
            <a:r>
              <a:rPr kumimoji="1" lang="en-US" altLang="zh-CN" sz="1200" dirty="0" err="1">
                <a:solidFill>
                  <a:schemeClr val="bg2"/>
                </a:solidFill>
              </a:rPr>
              <a:t>List.sort</a:t>
            </a:r>
            <a:r>
              <a:rPr kumimoji="1" lang="en-US" altLang="zh-CN" sz="1200" dirty="0">
                <a:solidFill>
                  <a:schemeClr val="bg2"/>
                </a:solidFill>
              </a:rPr>
              <a:t>()</a:t>
            </a:r>
            <a:endParaRPr kumimoji="1" lang="en-US" altLang="zh-CN" sz="1200" dirty="0">
              <a:solidFill>
                <a:schemeClr val="bg2"/>
              </a:solidFill>
            </a:endParaRPr>
          </a:p>
          <a:p>
            <a:r>
              <a:rPr kumimoji="1" lang="en-US" altLang="zh-CN" sz="1400" dirty="0">
                <a:solidFill>
                  <a:schemeClr val="bg2"/>
                </a:solidFill>
                <a:highlight>
                  <a:srgbClr val="FFFF00"/>
                </a:highlight>
              </a:rPr>
              <a:t>range() is not a data structure, but with similar operations</a:t>
            </a:r>
            <a:endParaRPr kumimoji="1" lang="en-US" altLang="zh-CN" sz="1400" dirty="0">
              <a:solidFill>
                <a:schemeClr val="bg2"/>
              </a:solidFill>
              <a:highlight>
                <a:srgbClr val="FFFF00"/>
              </a:highlight>
            </a:endParaRPr>
          </a:p>
          <a:p>
            <a:pPr lvl="1"/>
            <a:r>
              <a:rPr kumimoji="1" lang="en-US" altLang="zh-CN" sz="1200" dirty="0">
                <a:solidFill>
                  <a:schemeClr val="bg2"/>
                </a:solidFill>
                <a:highlight>
                  <a:srgbClr val="FFFF00"/>
                </a:highlight>
              </a:rPr>
              <a:t>x = range(100)</a:t>
            </a:r>
            <a:endParaRPr kumimoji="1" lang="en-US" altLang="zh-CN" sz="1200" dirty="0">
              <a:solidFill>
                <a:schemeClr val="bg2"/>
              </a:solidFill>
              <a:highlight>
                <a:srgbClr val="FFFF00"/>
              </a:highlight>
            </a:endParaRPr>
          </a:p>
          <a:p>
            <a:pPr lvl="1"/>
            <a:r>
              <a:rPr kumimoji="1" lang="en-US" altLang="zh-CN" sz="1200" dirty="0">
                <a:solidFill>
                  <a:schemeClr val="bg2"/>
                </a:solidFill>
                <a:highlight>
                  <a:srgbClr val="FFFF00"/>
                </a:highlight>
              </a:rPr>
              <a:t>x[1], </a:t>
            </a:r>
            <a:r>
              <a:rPr kumimoji="1" lang="zh-CN" altLang="en-US" sz="1200" dirty="0">
                <a:solidFill>
                  <a:schemeClr val="bg2"/>
                </a:solidFill>
                <a:highlight>
                  <a:srgbClr val="FFFF00"/>
                </a:highlight>
              </a:rPr>
              <a:t> </a:t>
            </a:r>
            <a:r>
              <a:rPr kumimoji="1" lang="en-US" altLang="zh-CN" sz="1200" dirty="0">
                <a:solidFill>
                  <a:schemeClr val="bg2"/>
                </a:solidFill>
                <a:highlight>
                  <a:srgbClr val="FFFF00"/>
                </a:highlight>
              </a:rPr>
              <a:t>x[1:</a:t>
            </a:r>
            <a:r>
              <a:rPr kumimoji="1" lang="zh-CN" altLang="en-US" sz="1200" dirty="0">
                <a:solidFill>
                  <a:schemeClr val="bg2"/>
                </a:solidFill>
                <a:highlight>
                  <a:srgbClr val="FFFF00"/>
                </a:highlight>
              </a:rPr>
              <a:t> </a:t>
            </a:r>
            <a:r>
              <a:rPr kumimoji="1" lang="en-US" altLang="zh-CN" sz="1200" dirty="0">
                <a:solidFill>
                  <a:schemeClr val="bg2"/>
                </a:solidFill>
                <a:highlight>
                  <a:srgbClr val="FFFF00"/>
                </a:highlight>
              </a:rPr>
              <a:t>10:</a:t>
            </a:r>
            <a:r>
              <a:rPr kumimoji="1" lang="zh-CN" altLang="en-US" sz="1200" dirty="0">
                <a:solidFill>
                  <a:schemeClr val="bg2"/>
                </a:solidFill>
                <a:highlight>
                  <a:srgbClr val="FFFF00"/>
                </a:highlight>
              </a:rPr>
              <a:t> </a:t>
            </a:r>
            <a:r>
              <a:rPr kumimoji="1" lang="en-US" altLang="zh-CN" sz="1200" dirty="0">
                <a:solidFill>
                  <a:schemeClr val="bg2"/>
                </a:solidFill>
                <a:highlight>
                  <a:srgbClr val="FFFF00"/>
                </a:highlight>
              </a:rPr>
              <a:t>2]</a:t>
            </a:r>
            <a:endParaRPr kumimoji="1" lang="en-US" altLang="zh-CN" sz="1200" dirty="0">
              <a:solidFill>
                <a:schemeClr val="bg2"/>
              </a:solidFill>
              <a:highlight>
                <a:srgbClr val="FFFF00"/>
              </a:highlight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612555" y="4340300"/>
            <a:ext cx="2062087" cy="29168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114300" marR="0" lvl="0" indent="0" algn="ctr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Source Sans Pro" panose="020B0503030403020204"/>
              <a:buNone/>
              <a:defRPr/>
            </a:pPr>
            <a:r>
              <a:rPr kumimoji="1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ource Sans Pro" panose="020B0503030403020204"/>
                <a:ea typeface="Source Sans Pro" panose="020B0503030403020204"/>
                <a:sym typeface="Source Sans Pro" panose="020B0503030403020204"/>
              </a:rPr>
              <a:t>KISS:</a:t>
            </a:r>
            <a:r>
              <a:rPr kumimoji="1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ource Sans Pro" panose="020B0503030403020204"/>
                <a:ea typeface="Source Sans Pro" panose="020B0503030403020204"/>
                <a:sym typeface="Source Sans Pro" panose="020B0503030403020204"/>
              </a:rPr>
              <a:t> </a:t>
            </a:r>
            <a:r>
              <a:rPr kumimoji="1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ource Sans Pro" panose="020B0503030403020204"/>
                <a:ea typeface="Source Sans Pro" panose="020B0503030403020204"/>
                <a:sym typeface="Source Sans Pro" panose="020B0503030403020204"/>
              </a:rPr>
              <a:t>Keep It Stupid Simple</a:t>
            </a:r>
            <a:endParaRPr kumimoji="1" lang="en-GB" altLang="zh-CN" sz="1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ource Sans Pro" panose="020B0503030403020204"/>
              <a:ea typeface="Source Sans Pro" panose="020B0503030403020204"/>
              <a:sym typeface="Source Sans Pro" panose="020B0503030403020204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List,</a:t>
            </a:r>
            <a:r>
              <a:rPr lang="zh-CN" altLang="en-US" dirty="0"/>
              <a:t> </a:t>
            </a:r>
            <a:r>
              <a:rPr lang="en-US" altLang="zh-CN" dirty="0" err="1"/>
              <a:t>Dict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Set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85" y="1662430"/>
            <a:ext cx="8520430" cy="3178810"/>
          </a:xfrm>
        </p:spPr>
        <p:txBody>
          <a:bodyPr>
            <a:normAutofit lnSpcReduction="20000"/>
          </a:bodyPr>
          <a:lstStyle/>
          <a:p>
            <a:r>
              <a:rPr lang="en-US" sz="1400" dirty="0">
                <a:solidFill>
                  <a:schemeClr val="bg2"/>
                </a:solidFill>
              </a:rPr>
              <a:t>List is </a:t>
            </a:r>
            <a:r>
              <a:rPr lang="en-US" sz="1400" dirty="0">
                <a:solidFill>
                  <a:schemeClr val="tx1"/>
                </a:solidFill>
              </a:rPr>
              <a:t>ordered</a:t>
            </a:r>
            <a:r>
              <a:rPr lang="en-US" sz="1400" dirty="0">
                <a:solidFill>
                  <a:schemeClr val="bg2"/>
                </a:solidFill>
              </a:rPr>
              <a:t> while </a:t>
            </a:r>
            <a:r>
              <a:rPr lang="en-US" sz="1400" dirty="0" err="1">
                <a:solidFill>
                  <a:schemeClr val="bg2"/>
                </a:solidFill>
              </a:rPr>
              <a:t>dict</a:t>
            </a:r>
            <a:r>
              <a:rPr lang="en-US" sz="1400" dirty="0">
                <a:solidFill>
                  <a:schemeClr val="bg2"/>
                </a:solidFill>
              </a:rPr>
              <a:t> and set are not. List[::] is allowed, which is not legal for </a:t>
            </a:r>
            <a:r>
              <a:rPr lang="en-US" sz="1400" dirty="0" err="1">
                <a:solidFill>
                  <a:schemeClr val="bg2"/>
                </a:solidFill>
              </a:rPr>
              <a:t>dict</a:t>
            </a:r>
            <a:r>
              <a:rPr lang="en-US" sz="1400" dirty="0">
                <a:solidFill>
                  <a:schemeClr val="bg2"/>
                </a:solidFill>
              </a:rPr>
              <a:t> and set</a:t>
            </a:r>
            <a:endParaRPr lang="en-US" sz="1400" dirty="0">
              <a:solidFill>
                <a:schemeClr val="bg2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Insert, alter, delete operation </a:t>
            </a:r>
            <a:r>
              <a:rPr lang="en-US" sz="1400" dirty="0">
                <a:solidFill>
                  <a:schemeClr val="bg2"/>
                </a:solidFill>
              </a:rPr>
              <a:t>are much </a:t>
            </a:r>
            <a:r>
              <a:rPr lang="en-US" sz="1400" dirty="0">
                <a:solidFill>
                  <a:schemeClr val="bg2"/>
                </a:solidFill>
                <a:highlight>
                  <a:srgbClr val="FFFF00"/>
                </a:highlight>
              </a:rPr>
              <a:t>faster</a:t>
            </a:r>
            <a:r>
              <a:rPr lang="en-US" sz="1400" dirty="0">
                <a:solidFill>
                  <a:schemeClr val="bg2"/>
                </a:solidFill>
              </a:rPr>
              <a:t> in set and </a:t>
            </a:r>
            <a:r>
              <a:rPr lang="en-US" sz="1400" dirty="0" err="1">
                <a:solidFill>
                  <a:schemeClr val="bg2"/>
                </a:solidFill>
              </a:rPr>
              <a:t>dict</a:t>
            </a:r>
            <a:r>
              <a:rPr lang="en-US" sz="1400" dirty="0">
                <a:solidFill>
                  <a:schemeClr val="bg2"/>
                </a:solidFill>
              </a:rPr>
              <a:t> than list</a:t>
            </a:r>
            <a:endParaRPr lang="en-US" sz="1400" dirty="0">
              <a:solidFill>
                <a:schemeClr val="bg2"/>
              </a:solidFill>
            </a:endParaRPr>
          </a:p>
          <a:p>
            <a:r>
              <a:rPr lang="en-US" sz="1400" dirty="0" err="1">
                <a:solidFill>
                  <a:schemeClr val="bg2"/>
                </a:solidFill>
              </a:rPr>
              <a:t>dict</a:t>
            </a:r>
            <a:r>
              <a:rPr lang="en-US" sz="1400" dirty="0">
                <a:solidFill>
                  <a:schemeClr val="bg2"/>
                </a:solidFill>
              </a:rPr>
              <a:t> vs set: Set is a simplified version of dict. 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endParaRPr lang="en-US" altLang="zh-CN" sz="1400" dirty="0">
              <a:solidFill>
                <a:schemeClr val="bg2"/>
              </a:solidFill>
            </a:endParaRPr>
          </a:p>
          <a:p>
            <a:r>
              <a:rPr lang="en-US" altLang="zh-CN" sz="1400" dirty="0">
                <a:solidFill>
                  <a:schemeClr val="bg2"/>
                </a:solidFill>
              </a:rPr>
              <a:t>Elements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in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 err="1">
                <a:solidFill>
                  <a:schemeClr val="bg2"/>
                </a:solidFill>
              </a:rPr>
              <a:t>dict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can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be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duplicated,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Key: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values.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sz="1400" dirty="0" err="1">
                <a:solidFill>
                  <a:schemeClr val="bg2"/>
                </a:solidFill>
              </a:rPr>
              <a:t>Dict</a:t>
            </a:r>
            <a:r>
              <a:rPr 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can</a:t>
            </a:r>
            <a:r>
              <a:rPr lang="en-US" sz="1400" dirty="0">
                <a:solidFill>
                  <a:schemeClr val="bg2"/>
                </a:solidFill>
              </a:rPr>
              <a:t> used to represent a collection with duplicates while set cannot </a:t>
            </a:r>
            <a:endParaRPr lang="en-US" sz="1400" dirty="0">
              <a:solidFill>
                <a:schemeClr val="bg2"/>
              </a:solidFill>
            </a:endParaRPr>
          </a:p>
          <a:p>
            <a:r>
              <a:rPr lang="en-US" sz="1400" dirty="0">
                <a:solidFill>
                  <a:schemeClr val="bg2"/>
                </a:solidFill>
              </a:rPr>
              <a:t>If set is enough for </a:t>
            </a:r>
            <a:r>
              <a:rPr lang="en-US" altLang="zh-CN" sz="1400" dirty="0">
                <a:solidFill>
                  <a:schemeClr val="bg2"/>
                </a:solidFill>
              </a:rPr>
              <a:t>your</a:t>
            </a:r>
            <a:r>
              <a:rPr lang="en-US" sz="1400" dirty="0">
                <a:solidFill>
                  <a:schemeClr val="bg2"/>
                </a:solidFill>
              </a:rPr>
              <a:t> problem, then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set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sz="1400" dirty="0">
                <a:solidFill>
                  <a:schemeClr val="bg2"/>
                </a:solidFill>
              </a:rPr>
              <a:t>should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be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the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choice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  <a:highlight>
                  <a:srgbClr val="FFFF00"/>
                </a:highlight>
              </a:rPr>
              <a:t>to</a:t>
            </a:r>
            <a:r>
              <a:rPr lang="en-US" sz="1400" dirty="0">
                <a:solidFill>
                  <a:schemeClr val="bg2"/>
                </a:solidFill>
                <a:highlight>
                  <a:srgbClr val="FFFF00"/>
                </a:highlight>
              </a:rPr>
              <a:t> keep it as simple as possible. </a:t>
            </a:r>
            <a:endParaRPr lang="en-US" sz="1400" dirty="0">
              <a:solidFill>
                <a:schemeClr val="bg2"/>
              </a:solidFill>
              <a:highlight>
                <a:srgbClr val="FFFF00"/>
              </a:highlight>
            </a:endParaRPr>
          </a:p>
          <a:p>
            <a:r>
              <a:rPr lang="en-US" altLang="zh-CN" sz="1400" dirty="0">
                <a:solidFill>
                  <a:schemeClr val="bg2"/>
                </a:solidFill>
              </a:rPr>
              <a:t>Set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and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 err="1">
                <a:solidFill>
                  <a:schemeClr val="bg2"/>
                </a:solidFill>
              </a:rPr>
              <a:t>dict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require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tx1"/>
                </a:solidFill>
              </a:rPr>
              <a:t>much</a:t>
            </a:r>
            <a:r>
              <a:rPr lang="zh-CN" altLang="en-US" sz="1400" dirty="0">
                <a:solidFill>
                  <a:schemeClr val="tx1"/>
                </a:solidFill>
              </a:rPr>
              <a:t> </a:t>
            </a:r>
            <a:r>
              <a:rPr lang="en-US" altLang="zh-CN" sz="1400" dirty="0">
                <a:solidFill>
                  <a:schemeClr val="tx1"/>
                </a:solidFill>
              </a:rPr>
              <a:t>more</a:t>
            </a:r>
            <a:r>
              <a:rPr lang="zh-CN" altLang="en-US" sz="1400" dirty="0">
                <a:solidFill>
                  <a:schemeClr val="tx1"/>
                </a:solidFill>
              </a:rPr>
              <a:t> </a:t>
            </a:r>
            <a:r>
              <a:rPr lang="en-US" altLang="zh-CN" sz="1400" dirty="0">
                <a:solidFill>
                  <a:schemeClr val="tx1"/>
                </a:solidFill>
              </a:rPr>
              <a:t>space</a:t>
            </a:r>
            <a:r>
              <a:rPr lang="zh-CN" altLang="en-US" sz="1400" dirty="0">
                <a:solidFill>
                  <a:schemeClr val="tx1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than</a:t>
            </a:r>
            <a:r>
              <a:rPr lang="zh-CN" altLang="en-US" sz="1400" dirty="0">
                <a:solidFill>
                  <a:schemeClr val="bg2"/>
                </a:solidFill>
              </a:rPr>
              <a:t> </a:t>
            </a:r>
            <a:r>
              <a:rPr lang="en-US" altLang="zh-CN" sz="1400" dirty="0">
                <a:solidFill>
                  <a:schemeClr val="bg2"/>
                </a:solidFill>
              </a:rPr>
              <a:t>list</a:t>
            </a:r>
            <a:endParaRPr lang="en-US" altLang="zh-CN" sz="1400" dirty="0">
              <a:solidFill>
                <a:schemeClr val="bg2"/>
              </a:solidFill>
            </a:endParaRPr>
          </a:p>
          <a:p>
            <a:r>
              <a:rPr lang="en-US" sz="1400" dirty="0">
                <a:solidFill>
                  <a:schemeClr val="bg2"/>
                </a:solidFill>
              </a:rPr>
              <a:t>List 是有序的，而 dict 和 set 不是。List[：：] 是允许的，这对于 dict 和 set 是不合法的</a:t>
            </a:r>
            <a:endParaRPr lang="en-US" sz="1400" dirty="0">
              <a:solidFill>
                <a:schemeClr val="bg2"/>
              </a:solidFill>
            </a:endParaRPr>
          </a:p>
          <a:p>
            <a:r>
              <a:rPr lang="en-US" sz="1400" dirty="0">
                <a:solidFill>
                  <a:schemeClr val="bg2"/>
                </a:solidFill>
              </a:rPr>
              <a:t>在 set 和 dict 中插入、更改、删除操作比 list 快得多</a:t>
            </a:r>
            <a:endParaRPr lang="en-US" sz="1400" dirty="0">
              <a:solidFill>
                <a:schemeClr val="bg2"/>
              </a:solidFill>
            </a:endParaRPr>
          </a:p>
          <a:p>
            <a:r>
              <a:rPr lang="en-US" sz="1400" dirty="0">
                <a:solidFill>
                  <a:schemeClr val="bg2"/>
                </a:solidFill>
              </a:rPr>
              <a:t>dict vs set：Set 是 dict 的简化版本。 </a:t>
            </a:r>
            <a:endParaRPr lang="en-US" sz="1400" dirty="0">
              <a:solidFill>
                <a:schemeClr val="bg2"/>
              </a:solidFill>
            </a:endParaRPr>
          </a:p>
          <a:p>
            <a:r>
              <a:rPr lang="en-US" sz="1400" dirty="0">
                <a:solidFill>
                  <a:schemeClr val="bg2"/>
                </a:solidFill>
              </a:rPr>
              <a:t>dict 中的元素可以复制，Key： values。Dict 可用于表示具有重复项的集合，而 set 不能</a:t>
            </a:r>
            <a:endParaRPr lang="en-US" sz="1400" dirty="0">
              <a:solidFill>
                <a:schemeClr val="bg2"/>
              </a:solidFill>
            </a:endParaRPr>
          </a:p>
          <a:p>
            <a:r>
              <a:rPr lang="en-US" sz="1400" dirty="0">
                <a:solidFill>
                  <a:schemeClr val="bg2"/>
                </a:solidFill>
              </a:rPr>
              <a:t>如果 set 足以解决您的问题，那么 set 应该是使其尽可能简单的选择。</a:t>
            </a:r>
            <a:endParaRPr lang="en-US" sz="1400" dirty="0">
              <a:solidFill>
                <a:schemeClr val="bg2"/>
              </a:solidFill>
            </a:endParaRPr>
          </a:p>
          <a:p>
            <a:r>
              <a:rPr lang="en-US" sz="1400" dirty="0">
                <a:solidFill>
                  <a:schemeClr val="bg2"/>
                </a:solidFill>
              </a:rPr>
              <a:t>set 和 dict 需要的空间比 list 多得多</a:t>
            </a:r>
            <a:endParaRPr lang="en-US" sz="1400" dirty="0">
              <a:solidFill>
                <a:schemeClr val="bg2"/>
              </a:solidFill>
            </a:endParaRPr>
          </a:p>
        </p:txBody>
      </p:sp>
      <p:graphicFrame>
        <p:nvGraphicFramePr>
          <p:cNvPr id="4" name="表格 2"/>
          <p:cNvGraphicFramePr>
            <a:graphicFrameLocks noGrp="1"/>
          </p:cNvGraphicFramePr>
          <p:nvPr/>
        </p:nvGraphicFramePr>
        <p:xfrm>
          <a:off x="846110" y="1237078"/>
          <a:ext cx="3725890" cy="2568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589"/>
                <a:gridCol w="372589"/>
                <a:gridCol w="372589"/>
                <a:gridCol w="372589"/>
                <a:gridCol w="372589"/>
                <a:gridCol w="372589"/>
                <a:gridCol w="372589"/>
                <a:gridCol w="372589"/>
                <a:gridCol w="372589"/>
                <a:gridCol w="372589"/>
              </a:tblGrid>
              <a:tr h="256813">
                <a:tc>
                  <a:txBody>
                    <a:bodyPr/>
                    <a:lstStyle/>
                    <a:p>
                      <a:endParaRPr lang="zh-CN" altLang="en-US" sz="1000" b="0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0" dirty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zh-CN" altLang="en-US" sz="1000" b="0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0" dirty="0">
                          <a:solidFill>
                            <a:schemeClr val="bg2"/>
                          </a:solidFill>
                        </a:rPr>
                        <a:t>6</a:t>
                      </a:r>
                      <a:endParaRPr lang="zh-CN" altLang="en-US" sz="1000" b="0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0" dirty="0">
                          <a:solidFill>
                            <a:schemeClr val="bg2"/>
                          </a:solidFill>
                        </a:rPr>
                        <a:t>9</a:t>
                      </a:r>
                      <a:endParaRPr lang="zh-CN" altLang="en-US" sz="1000" b="0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0" dirty="0">
                          <a:solidFill>
                            <a:schemeClr val="bg2"/>
                          </a:solidFill>
                        </a:rPr>
                        <a:t>12</a:t>
                      </a:r>
                      <a:endParaRPr lang="zh-CN" altLang="en-US" sz="1000" b="0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0" b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0" b="0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0" b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0" b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0" b="0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5295208" y="4317235"/>
            <a:ext cx="3454250" cy="50327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11430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Source Sans Pro" panose="020B0503030403020204"/>
              <a:buNone/>
              <a:defRPr/>
            </a:pPr>
            <a:r>
              <a:rPr kumimoji="1"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ource Sans Pro" panose="020B0503030403020204"/>
              </a:rPr>
              <a:t>大规模查找、插入、修改、删除用</a:t>
            </a:r>
            <a:r>
              <a:rPr kumimoji="1" lang="en-US" altLang="zh-CN" sz="120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" panose="020B0503030403020204"/>
              </a:rPr>
              <a:t>dict</a:t>
            </a:r>
            <a:r>
              <a:rPr kumimoji="1"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ource Sans Pro" panose="020B0503030403020204"/>
              </a:rPr>
              <a:t>或者</a:t>
            </a:r>
            <a:r>
              <a:rPr kumimoji="1" lang="en-US" altLang="zh-CN" sz="12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" panose="020B0503030403020204"/>
              </a:rPr>
              <a:t>set</a:t>
            </a:r>
            <a:endParaRPr kumimoji="1" lang="en-US" altLang="zh-CN" sz="1200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  <a:sym typeface="Source Sans Pro" panose="020B0503030403020204"/>
            </a:endParaRPr>
          </a:p>
          <a:p>
            <a:pPr marL="11430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Source Sans Pro" panose="020B0503030403020204"/>
              <a:buNone/>
              <a:defRPr/>
            </a:pPr>
            <a:r>
              <a:rPr kumimoji="1" lang="zh-CN" altLang="en-US" sz="12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" panose="020B0503030403020204"/>
              </a:rPr>
              <a:t>顺序访问用</a:t>
            </a:r>
            <a:r>
              <a:rPr kumimoji="1" lang="en-US" altLang="zh-CN" sz="12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" panose="020B0503030403020204"/>
              </a:rPr>
              <a:t>list,</a:t>
            </a:r>
            <a:r>
              <a:rPr kumimoji="1" lang="zh-CN" altLang="en-US" sz="12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Source Sans Pro" panose="020B0503030403020204"/>
              </a:rPr>
              <a:t> 列表推导</a:t>
            </a:r>
            <a:endParaRPr kumimoji="1" lang="en-GB" altLang="zh-CN" sz="1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sym typeface="Source Sans Pro" panose="020B0503030403020204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GB" altLang="zh-CN" dirty="0"/>
              <a:t>Loop</a:t>
            </a:r>
            <a:r>
              <a:rPr kumimoji="1" lang="zh-CN" altLang="en-US" dirty="0"/>
              <a:t>在编程中的意义 </a:t>
            </a:r>
            <a:br>
              <a:rPr kumimoji="1" lang="zh-CN" altLang="en-US" dirty="0"/>
            </a:br>
            <a:br>
              <a:rPr kumimoji="1" lang="zh-CN" altLang="en-US" dirty="0"/>
            </a:b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1154497"/>
          </a:xfrm>
        </p:spPr>
        <p:txBody>
          <a:bodyPr>
            <a:normAutofit/>
          </a:bodyPr>
          <a:lstStyle/>
          <a:p>
            <a:r>
              <a:rPr kumimoji="1" lang="zh-CN" altLang="en-US" sz="1400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遍历一个集合的元素</a:t>
            </a:r>
            <a:endParaRPr kumimoji="1" lang="zh-CN" altLang="en-US" sz="1400" dirty="0">
              <a:solidFill>
                <a:schemeClr val="bg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kumimoji="1" lang="zh-CN" altLang="en-US" sz="1400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根据循环结束时各个变量的状态，判断现在程序的状态，执行下一阶段的命令 </a:t>
            </a:r>
            <a:r>
              <a:rPr kumimoji="1" lang="en-US" altLang="zh-CN" sz="1400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1" lang="zh-CN" altLang="en-US" sz="1400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合理利用程序运行中各种信息</a:t>
            </a:r>
            <a:r>
              <a:rPr kumimoji="1" lang="en-US" altLang="zh-CN" sz="1400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kumimoji="1" lang="en-US" altLang="zh-CN" sz="1400" dirty="0">
              <a:solidFill>
                <a:schemeClr val="bg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kumimoji="1" lang="zh-CN" altLang="en-US" sz="1200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利用循环结束时</a:t>
            </a:r>
            <a:r>
              <a:rPr kumimoji="1" lang="en-GB" altLang="zh-CN" sz="1200" dirty="0">
                <a:solidFill>
                  <a:schemeClr val="bg2"/>
                </a:solidFill>
              </a:rPr>
              <a:t>x</a:t>
            </a:r>
            <a:r>
              <a:rPr kumimoji="1" lang="zh-CN" altLang="en-US" sz="1200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的状态，进行下一步操作</a:t>
            </a:r>
            <a:endParaRPr kumimoji="1" lang="zh-CN" altLang="en-US" sz="1200" dirty="0">
              <a:solidFill>
                <a:schemeClr val="bg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" name="Picture 2" descr="A picture containing text&#10;&#10;Description automatically generated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9878" y="2306972"/>
            <a:ext cx="3304243" cy="2641501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649896" y="4458531"/>
            <a:ext cx="2182403" cy="48994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11430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Source Sans Pro" panose="020B0503030403020204"/>
              <a:buNone/>
              <a:defRPr/>
            </a:pPr>
            <a:r>
              <a:rPr kumimoji="1" lang="zh-CN" altLang="en-GB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sym typeface="Source Sans Pro" panose="020B0503030403020204"/>
              </a:rPr>
              <a:t>计算机</a:t>
            </a:r>
            <a:r>
              <a:rPr kumimoji="1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sym typeface="Source Sans Pro" panose="020B0503030403020204"/>
              </a:rPr>
              <a:t>的本质在于高速重复</a:t>
            </a:r>
            <a:endParaRPr kumimoji="1" lang="en-US" altLang="zh-CN" sz="1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sym typeface="Source Sans Pro" panose="020B0503030403020204"/>
            </a:endParaRPr>
          </a:p>
          <a:p>
            <a:pPr marL="11430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Source Sans Pro" panose="020B0503030403020204"/>
              <a:buNone/>
              <a:defRPr/>
            </a:pPr>
            <a:r>
              <a:rPr kumimoji="1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sym typeface="Source Sans Pro" panose="020B0503030403020204"/>
              </a:rPr>
              <a:t>切香肠战术</a:t>
            </a:r>
            <a:endParaRPr kumimoji="1" lang="en-GB" altLang="zh-CN" sz="1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sym typeface="Source Sans Pro" panose="020B0503030403020204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GB" altLang="zh-CN" dirty="0"/>
              <a:t>for x in </a:t>
            </a:r>
            <a:r>
              <a:rPr kumimoji="1" lang="en-GB" altLang="zh-CN" dirty="0" err="1"/>
              <a:t>collection_a</a:t>
            </a:r>
            <a:r>
              <a:rPr kumimoji="1" lang="en-GB" altLang="zh-CN" dirty="0"/>
              <a:t>: </a:t>
            </a:r>
            <a:r>
              <a:rPr kumimoji="1" lang="zh-CN" altLang="en-US" dirty="0"/>
              <a:t>状态不变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700" y="1152474"/>
            <a:ext cx="8520600" cy="852495"/>
          </a:xfrm>
        </p:spPr>
        <p:txBody>
          <a:bodyPr>
            <a:normAutofit/>
          </a:bodyPr>
          <a:lstStyle/>
          <a:p>
            <a:r>
              <a:rPr kumimoji="1" lang="zh-CN" altLang="en-US" sz="1400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当</a:t>
            </a:r>
            <a:r>
              <a:rPr kumimoji="1" lang="en-GB" altLang="zh-CN" sz="1400" dirty="0">
                <a:solidFill>
                  <a:schemeClr val="bg2"/>
                </a:solidFill>
              </a:rPr>
              <a:t>for</a:t>
            </a:r>
            <a:r>
              <a:rPr kumimoji="1" lang="zh-CN" altLang="en-US" sz="1400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开始运行时，</a:t>
            </a:r>
            <a:r>
              <a:rPr kumimoji="1" lang="en-GB" altLang="zh-CN" sz="1400" dirty="0">
                <a:solidFill>
                  <a:schemeClr val="bg2"/>
                </a:solidFill>
              </a:rPr>
              <a:t>x</a:t>
            </a:r>
            <a:r>
              <a:rPr kumimoji="1" lang="zh-CN" altLang="en-US" sz="1400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的遍历序列就定义好了</a:t>
            </a:r>
            <a:endParaRPr kumimoji="1" lang="zh-CN" altLang="en-US" sz="1400" dirty="0">
              <a:solidFill>
                <a:schemeClr val="bg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kumimoji="1" lang="zh-CN" altLang="en-US" sz="1200" dirty="0">
                <a:solidFill>
                  <a:schemeClr val="bg2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改变</a:t>
            </a:r>
            <a:r>
              <a:rPr kumimoji="1" lang="en-GB" altLang="zh-CN" sz="1200" dirty="0">
                <a:solidFill>
                  <a:schemeClr val="bg2"/>
                </a:solidFill>
                <a:highlight>
                  <a:srgbClr val="FFFF00"/>
                </a:highlight>
              </a:rPr>
              <a:t>x</a:t>
            </a:r>
            <a:r>
              <a:rPr kumimoji="1" lang="zh-CN" altLang="en-US" sz="1200" dirty="0">
                <a:solidFill>
                  <a:schemeClr val="bg2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不会改变</a:t>
            </a:r>
            <a:r>
              <a:rPr kumimoji="1" lang="en-GB" altLang="zh-CN" sz="1200" dirty="0" err="1">
                <a:solidFill>
                  <a:schemeClr val="bg2"/>
                </a:solidFill>
                <a:highlight>
                  <a:srgbClr val="FFFF00"/>
                </a:highlight>
              </a:rPr>
              <a:t>collection_a</a:t>
            </a:r>
            <a:endParaRPr kumimoji="1" lang="en-GB" altLang="zh-CN" sz="1200" dirty="0">
              <a:solidFill>
                <a:schemeClr val="bg2"/>
              </a:solidFill>
              <a:highlight>
                <a:srgbClr val="FFFF00"/>
              </a:highlight>
            </a:endParaRPr>
          </a:p>
          <a:p>
            <a:pPr lvl="1"/>
            <a:r>
              <a:rPr kumimoji="1" lang="zh-CN" altLang="en-US" sz="1200" dirty="0">
                <a:solidFill>
                  <a:schemeClr val="bg2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改变</a:t>
            </a:r>
            <a:r>
              <a:rPr kumimoji="1" lang="en-GB" altLang="zh-CN" sz="1200" dirty="0">
                <a:solidFill>
                  <a:schemeClr val="bg2"/>
                </a:solidFill>
                <a:highlight>
                  <a:srgbClr val="FFFF00"/>
                </a:highlight>
              </a:rPr>
              <a:t>x</a:t>
            </a:r>
            <a:r>
              <a:rPr kumimoji="1" lang="zh-CN" altLang="en-US" sz="1200" dirty="0">
                <a:solidFill>
                  <a:schemeClr val="bg2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不会改变</a:t>
            </a:r>
            <a:r>
              <a:rPr kumimoji="1" lang="en-GB" altLang="zh-CN" sz="1200" dirty="0">
                <a:solidFill>
                  <a:schemeClr val="bg2"/>
                </a:solidFill>
                <a:highlight>
                  <a:srgbClr val="FFFF00"/>
                </a:highlight>
              </a:rPr>
              <a:t>x</a:t>
            </a:r>
            <a:r>
              <a:rPr kumimoji="1" lang="zh-CN" altLang="en-US" sz="1200" dirty="0">
                <a:solidFill>
                  <a:schemeClr val="bg2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的遍历序列</a:t>
            </a:r>
            <a:endParaRPr kumimoji="1" lang="zh-CN" altLang="en-US" sz="1200" dirty="0">
              <a:solidFill>
                <a:schemeClr val="bg2"/>
              </a:solidFill>
              <a:highlight>
                <a:srgbClr val="FFFF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7" name="Picture 10" descr="Text&#10;&#10;Description automatically generated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7990" y="2004969"/>
            <a:ext cx="2244321" cy="256605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17990" y="4698475"/>
            <a:ext cx="13580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GB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sym typeface="Source Sans Pro" panose="020B0503030403020204"/>
              </a:rPr>
              <a:t>i</a:t>
            </a:r>
            <a:r>
              <a:rPr kumimoji="1" lang="en-GB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sym typeface="Source Sans Pro" panose="020B0503030403020204"/>
              </a:rPr>
              <a:t>=0, 1, …, 6</a:t>
            </a: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sym typeface="Source Sans Pro" panose="020B0503030403020204"/>
              </a:rPr>
              <a:t>不变</a:t>
            </a:r>
            <a:endParaRPr kumimoji="1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sym typeface="Source Sans Pro" panose="020B050303040302020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718" y="2004969"/>
            <a:ext cx="5534255" cy="2334764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Table&#10;&#10;Description automatically generated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621" y="722514"/>
            <a:ext cx="1405822" cy="369847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116" y="628649"/>
            <a:ext cx="41148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GB" altLang="zh-CN" dirty="0"/>
              <a:t>for</a:t>
            </a:r>
            <a:r>
              <a:rPr kumimoji="1" lang="zh-CN" altLang="en-US" dirty="0"/>
              <a:t>的陷阱</a:t>
            </a:r>
            <a:r>
              <a:rPr kumimoji="1" lang="en-US" altLang="zh-CN" dirty="0"/>
              <a:t>: </a:t>
            </a:r>
            <a:r>
              <a:rPr kumimoji="1" lang="zh-CN" altLang="en-US" dirty="0"/>
              <a:t>应对 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265616"/>
          </a:xfrm>
        </p:spPr>
        <p:txBody>
          <a:bodyPr>
            <a:noAutofit/>
          </a:bodyPr>
          <a:lstStyle/>
          <a:p>
            <a:r>
              <a:rPr kumimoji="1" lang="en-GB" altLang="zh-CN" sz="1400" dirty="0">
                <a:solidFill>
                  <a:schemeClr val="bg2"/>
                </a:solidFill>
              </a:rPr>
              <a:t>Code that modifies a collection while iterating over that same collection can be tricky to get right. </a:t>
            </a:r>
            <a:endParaRPr kumimoji="1" lang="en-GB" altLang="zh-CN" sz="1400" dirty="0">
              <a:solidFill>
                <a:schemeClr val="bg2"/>
              </a:solidFill>
            </a:endParaRPr>
          </a:p>
          <a:p>
            <a:pPr lvl="1"/>
            <a:r>
              <a:rPr kumimoji="1" lang="en-GB" altLang="zh-CN" sz="1200" dirty="0">
                <a:solidFill>
                  <a:schemeClr val="bg2"/>
                </a:solidFill>
              </a:rPr>
              <a:t>for</a:t>
            </a:r>
            <a:r>
              <a:rPr kumimoji="1" lang="zh-CN" altLang="en-US" sz="1200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内部的循环机理实现需要定义</a:t>
            </a:r>
            <a:r>
              <a:rPr kumimoji="1" lang="en-GB" altLang="zh-CN" sz="1200" dirty="0" err="1">
                <a:solidFill>
                  <a:schemeClr val="bg2"/>
                </a:solidFill>
              </a:rPr>
              <a:t>iter</a:t>
            </a:r>
            <a:r>
              <a:rPr kumimoji="1" lang="en-GB" altLang="zh-CN" sz="1200" dirty="0">
                <a:solidFill>
                  <a:schemeClr val="bg2"/>
                </a:solidFill>
              </a:rPr>
              <a:t>() </a:t>
            </a:r>
            <a:r>
              <a:rPr kumimoji="1" lang="en-GB" altLang="zh-CN" sz="1200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1" lang="zh-CN" altLang="en-US" sz="1200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高级议题，后面讲到</a:t>
            </a:r>
            <a:r>
              <a:rPr kumimoji="1" lang="en-US" altLang="zh-CN" sz="1200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kumimoji="1" lang="en-US" altLang="zh-CN" sz="1200" dirty="0">
              <a:solidFill>
                <a:schemeClr val="bg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kumimoji="1" lang="zh-CN" altLang="en-US" sz="1400" dirty="0">
                <a:solidFill>
                  <a:schemeClr val="bg2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尽量不要一边修改集合</a:t>
            </a:r>
            <a:r>
              <a:rPr kumimoji="1" lang="en-GB" altLang="zh-CN" sz="1400" dirty="0" err="1">
                <a:solidFill>
                  <a:schemeClr val="bg2"/>
                </a:solidFill>
                <a:highlight>
                  <a:srgbClr val="FFFF00"/>
                </a:highlight>
              </a:rPr>
              <a:t>collection_a</a:t>
            </a:r>
            <a:r>
              <a:rPr kumimoji="1" lang="en-GB" altLang="zh-CN" sz="1400" dirty="0">
                <a:solidFill>
                  <a:schemeClr val="bg2"/>
                </a:solidFill>
                <a:highlight>
                  <a:srgbClr val="FFFF00"/>
                </a:highlight>
              </a:rPr>
              <a:t>, </a:t>
            </a:r>
            <a:r>
              <a:rPr kumimoji="1" lang="zh-CN" altLang="en-US" sz="1400" dirty="0">
                <a:solidFill>
                  <a:schemeClr val="bg2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一边进行</a:t>
            </a:r>
            <a:r>
              <a:rPr kumimoji="1" lang="en-GB" altLang="zh-CN" sz="1400" dirty="0">
                <a:solidFill>
                  <a:schemeClr val="bg2"/>
                </a:solidFill>
                <a:highlight>
                  <a:srgbClr val="FFFF00"/>
                </a:highlight>
              </a:rPr>
              <a:t>for x in </a:t>
            </a:r>
            <a:r>
              <a:rPr kumimoji="1" lang="en-GB" altLang="zh-CN" sz="1400" dirty="0" err="1">
                <a:solidFill>
                  <a:schemeClr val="bg2"/>
                </a:solidFill>
                <a:highlight>
                  <a:srgbClr val="FFFF00"/>
                </a:highlight>
              </a:rPr>
              <a:t>collection_a</a:t>
            </a:r>
            <a:r>
              <a:rPr kumimoji="1" lang="zh-CN" altLang="en-US" sz="1400" dirty="0">
                <a:solidFill>
                  <a:schemeClr val="bg2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操作</a:t>
            </a:r>
            <a:endParaRPr kumimoji="1" lang="zh-CN" altLang="en-US" sz="1400" dirty="0">
              <a:solidFill>
                <a:schemeClr val="bg2"/>
              </a:solidFill>
              <a:highlight>
                <a:srgbClr val="FFFF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kumimoji="1" lang="zh-CN" altLang="en-US" sz="1400" dirty="0">
                <a:solidFill>
                  <a:schemeClr val="bg2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r>
              <a:rPr kumimoji="1" lang="en-GB" altLang="zh-CN" sz="1400" dirty="0">
                <a:solidFill>
                  <a:schemeClr val="bg2"/>
                </a:solidFill>
                <a:highlight>
                  <a:srgbClr val="FFFF00"/>
                </a:highlight>
              </a:rPr>
              <a:t>for x in xxx: </a:t>
            </a:r>
            <a:r>
              <a:rPr kumimoji="1" lang="en-GB" altLang="zh-CN" sz="1400" dirty="0" err="1">
                <a:solidFill>
                  <a:schemeClr val="bg2"/>
                </a:solidFill>
                <a:highlight>
                  <a:srgbClr val="FFFF00"/>
                </a:highlight>
              </a:rPr>
              <a:t>do_sth</a:t>
            </a:r>
            <a:r>
              <a:rPr kumimoji="1" lang="en-GB" altLang="zh-CN" sz="1400" dirty="0">
                <a:solidFill>
                  <a:schemeClr val="bg2"/>
                </a:solidFill>
                <a:highlight>
                  <a:srgbClr val="FFFF00"/>
                </a:highlight>
              </a:rPr>
              <a:t>()</a:t>
            </a:r>
            <a:endParaRPr kumimoji="1" lang="en-GB" altLang="zh-CN" sz="1400" dirty="0">
              <a:solidFill>
                <a:schemeClr val="bg2"/>
              </a:solidFill>
              <a:highlight>
                <a:srgbClr val="FFFF00"/>
              </a:highlight>
            </a:endParaRPr>
          </a:p>
          <a:p>
            <a:pPr lvl="1"/>
            <a:r>
              <a:rPr kumimoji="1" lang="en-GB" altLang="zh-CN" sz="1200" dirty="0" err="1">
                <a:solidFill>
                  <a:schemeClr val="bg2"/>
                </a:solidFill>
                <a:highlight>
                  <a:srgbClr val="FFFF00"/>
                </a:highlight>
              </a:rPr>
              <a:t>do_sth</a:t>
            </a:r>
            <a:r>
              <a:rPr kumimoji="1" lang="en-GB" altLang="zh-CN" sz="1200" dirty="0">
                <a:solidFill>
                  <a:schemeClr val="bg2"/>
                </a:solidFill>
                <a:highlight>
                  <a:srgbClr val="FFFF00"/>
                </a:highlight>
              </a:rPr>
              <a:t>()</a:t>
            </a:r>
            <a:r>
              <a:rPr kumimoji="1" lang="zh-CN" altLang="en-US" sz="1200" dirty="0">
                <a:solidFill>
                  <a:schemeClr val="bg2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对</a:t>
            </a:r>
            <a:r>
              <a:rPr kumimoji="1" lang="en-GB" altLang="zh-CN" sz="1200" dirty="0">
                <a:solidFill>
                  <a:schemeClr val="bg2"/>
                </a:solidFill>
                <a:highlight>
                  <a:srgbClr val="FFFF00"/>
                </a:highlight>
              </a:rPr>
              <a:t>x</a:t>
            </a:r>
            <a:r>
              <a:rPr kumimoji="1" lang="zh-CN" altLang="en-US" sz="1200" dirty="0">
                <a:solidFill>
                  <a:schemeClr val="bg2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的修改并不改变</a:t>
            </a:r>
            <a:r>
              <a:rPr kumimoji="1" lang="en-GB" altLang="zh-CN" sz="1200" dirty="0">
                <a:solidFill>
                  <a:schemeClr val="bg2"/>
                </a:solidFill>
                <a:highlight>
                  <a:srgbClr val="FFFF00"/>
                </a:highlight>
              </a:rPr>
              <a:t>x</a:t>
            </a:r>
            <a:r>
              <a:rPr kumimoji="1" lang="zh-CN" altLang="en-US" sz="1200" dirty="0">
                <a:solidFill>
                  <a:schemeClr val="bg2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的遍历顺序</a:t>
            </a:r>
            <a:r>
              <a:rPr kumimoji="1" lang="en-GB" altLang="zh-CN" sz="1200" dirty="0">
                <a:solidFill>
                  <a:schemeClr val="bg2"/>
                </a:solidFill>
                <a:highlight>
                  <a:srgbClr val="FFFF00"/>
                </a:highlight>
              </a:rPr>
              <a:t>for</a:t>
            </a:r>
            <a:r>
              <a:rPr kumimoji="1" lang="zh-CN" altLang="en-US" sz="1200" dirty="0">
                <a:solidFill>
                  <a:schemeClr val="bg2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kumimoji="1" lang="en-GB" altLang="zh-CN" sz="1200" dirty="0">
                <a:solidFill>
                  <a:schemeClr val="bg2"/>
                </a:solidFill>
                <a:highlight>
                  <a:srgbClr val="FFFF00"/>
                </a:highlight>
              </a:rPr>
              <a:t>range</a:t>
            </a:r>
            <a:r>
              <a:rPr kumimoji="1" lang="zh-CN" altLang="en-US" sz="1200" dirty="0">
                <a:solidFill>
                  <a:schemeClr val="bg2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结合的时候也有这种现象</a:t>
            </a:r>
            <a:endParaRPr kumimoji="1" lang="zh-CN" altLang="en-US" sz="1200" dirty="0">
              <a:solidFill>
                <a:schemeClr val="bg2"/>
              </a:solidFill>
              <a:highlight>
                <a:srgbClr val="FFFF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kumimoji="1" lang="zh-CN" altLang="en-US" sz="1400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解决思路：</a:t>
            </a:r>
            <a:endParaRPr kumimoji="1" lang="en-US" altLang="zh-CN" sz="1400" dirty="0">
              <a:solidFill>
                <a:schemeClr val="bg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kumimoji="1" lang="zh-CN" altLang="en-US" sz="1200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</a:t>
            </a:r>
            <a:r>
              <a:rPr kumimoji="1" lang="en-GB" altLang="zh-CN" sz="1200" dirty="0">
                <a:solidFill>
                  <a:schemeClr val="bg2"/>
                </a:solidFill>
              </a:rPr>
              <a:t>while </a:t>
            </a:r>
            <a:r>
              <a:rPr kumimoji="1" lang="zh-CN" altLang="en-US" sz="1200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手工操作</a:t>
            </a:r>
            <a:endParaRPr kumimoji="1" lang="zh-CN" altLang="en-US" sz="1200" dirty="0">
              <a:solidFill>
                <a:schemeClr val="bg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kumimoji="1" lang="zh-CN" altLang="en-US" sz="1200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用集合</a:t>
            </a:r>
            <a:r>
              <a:rPr kumimoji="1" lang="en-GB" altLang="zh-CN" sz="1200" dirty="0" err="1">
                <a:solidFill>
                  <a:schemeClr val="bg2"/>
                </a:solidFill>
              </a:rPr>
              <a:t>collection_a.copy</a:t>
            </a:r>
            <a:r>
              <a:rPr kumimoji="1" lang="en-GB" altLang="zh-CN" sz="1200" dirty="0">
                <a:solidFill>
                  <a:schemeClr val="bg2"/>
                </a:solidFill>
              </a:rPr>
              <a:t>()</a:t>
            </a:r>
            <a:r>
              <a:rPr kumimoji="1" lang="zh-CN" altLang="en-US" sz="1200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来处理</a:t>
            </a:r>
            <a:endParaRPr kumimoji="1" lang="zh-CN" altLang="en-US" sz="1200" dirty="0">
              <a:solidFill>
                <a:schemeClr val="bg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kumimoji="1" lang="zh-CN" altLang="en-US" sz="1200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</a:t>
            </a:r>
            <a:r>
              <a:rPr kumimoji="1" lang="en-GB" altLang="zh-CN" sz="1200" dirty="0">
                <a:solidFill>
                  <a:schemeClr val="bg2"/>
                </a:solidFill>
              </a:rPr>
              <a:t>for x in reversed(</a:t>
            </a:r>
            <a:r>
              <a:rPr kumimoji="1" lang="en-GB" altLang="zh-CN" sz="1200" dirty="0" err="1">
                <a:solidFill>
                  <a:schemeClr val="bg2"/>
                </a:solidFill>
              </a:rPr>
              <a:t>lst</a:t>
            </a:r>
            <a:r>
              <a:rPr kumimoji="1" lang="en-GB" altLang="zh-CN" sz="1200" dirty="0">
                <a:solidFill>
                  <a:schemeClr val="bg2"/>
                </a:solidFill>
              </a:rPr>
              <a:t>): </a:t>
            </a:r>
            <a:endParaRPr kumimoji="1" lang="en-GB" altLang="zh-CN" sz="1200" dirty="0">
              <a:solidFill>
                <a:schemeClr val="bg2"/>
              </a:solidFill>
            </a:endParaRPr>
          </a:p>
          <a:p>
            <a:pPr lvl="1"/>
            <a:r>
              <a:rPr kumimoji="1" lang="zh-CN" altLang="en-US" sz="1200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列表推导</a:t>
            </a:r>
            <a:endParaRPr kumimoji="1" lang="en-US" altLang="zh-CN" sz="1200" dirty="0">
              <a:solidFill>
                <a:schemeClr val="bg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53087" y="4632836"/>
            <a:ext cx="6206150" cy="435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1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400"/>
              <a:defRPr/>
            </a:pPr>
            <a:r>
              <a:rPr kumimoji="1" lang="en-GB" altLang="zh-CN" sz="10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Source Sans Pro" panose="020B0503030403020204"/>
                <a:ea typeface="Source Sans Pro" panose="020B0503030403020204"/>
                <a:sym typeface="Source Sans Pro" panose="020B0503030403020204"/>
              </a:rPr>
              <a:t>https://</a:t>
            </a:r>
            <a:r>
              <a:rPr kumimoji="1" lang="en-GB" altLang="zh-CN" sz="1000" b="0" i="0" u="none" strike="noStrike" kern="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Source Sans Pro" panose="020B0503030403020204"/>
                <a:ea typeface="Source Sans Pro" panose="020B0503030403020204"/>
                <a:sym typeface="Source Sans Pro" panose="020B0503030403020204"/>
              </a:rPr>
              <a:t>docs.python.org</a:t>
            </a:r>
            <a:r>
              <a:rPr kumimoji="1" lang="en-GB" altLang="zh-CN" sz="10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Source Sans Pro" panose="020B0503030403020204"/>
                <a:ea typeface="Source Sans Pro" panose="020B0503030403020204"/>
                <a:sym typeface="Source Sans Pro" panose="020B0503030403020204"/>
              </a:rPr>
              <a:t>/3/tutorial/</a:t>
            </a:r>
            <a:r>
              <a:rPr kumimoji="1" lang="en-GB" altLang="zh-CN" sz="1000" b="0" i="0" u="none" strike="noStrike" kern="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Source Sans Pro" panose="020B0503030403020204"/>
                <a:ea typeface="Source Sans Pro" panose="020B0503030403020204"/>
                <a:sym typeface="Source Sans Pro" panose="020B0503030403020204"/>
              </a:rPr>
              <a:t>controlflow.html#for-statements</a:t>
            </a:r>
            <a:endParaRPr kumimoji="1" lang="en-GB" altLang="zh-CN" sz="10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Source Sans Pro" panose="020B0503030403020204"/>
              <a:ea typeface="Source Sans Pro" panose="020B0503030403020204"/>
              <a:sym typeface="Source Sans Pro" panose="020B0503030403020204"/>
            </a:endParaRPr>
          </a:p>
          <a:p>
            <a:pPr marR="0" lvl="1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400"/>
              <a:defRPr/>
            </a:pPr>
            <a:r>
              <a:rPr kumimoji="1" lang="en-GB" altLang="zh-CN" sz="10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Source Sans Pro" panose="020B0503030403020204"/>
                <a:ea typeface="Source Sans Pro" panose="020B0503030403020204"/>
                <a:sym typeface="Source Sans Pro" panose="020B0503030403020204"/>
              </a:rPr>
              <a:t>https://</a:t>
            </a:r>
            <a:r>
              <a:rPr kumimoji="1" lang="en-GB" altLang="zh-CN" sz="1000" b="0" i="0" u="none" strike="noStrike" kern="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Source Sans Pro" panose="020B0503030403020204"/>
                <a:ea typeface="Source Sans Pro" panose="020B0503030403020204"/>
                <a:sym typeface="Source Sans Pro" panose="020B0503030403020204"/>
              </a:rPr>
              <a:t>sopython.com</a:t>
            </a:r>
            <a:r>
              <a:rPr kumimoji="1" lang="en-GB" altLang="zh-CN" sz="10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Source Sans Pro" panose="020B0503030403020204"/>
                <a:ea typeface="Source Sans Pro" panose="020B0503030403020204"/>
                <a:sym typeface="Source Sans Pro" panose="020B0503030403020204"/>
              </a:rPr>
              <a:t>/canon/95/removing-items-from-a-list-while-iterating-over-the-list/</a:t>
            </a:r>
            <a:endParaRPr kumimoji="1" lang="zh-CN" altLang="en-US" sz="10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Source Sans Pro" panose="020B0503030403020204"/>
              <a:sym typeface="Source Sans Pro" panose="020B0503030403020204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>
          <a:xfrm>
            <a:off x="311699" y="4147968"/>
            <a:ext cx="7383747" cy="671081"/>
          </a:xfrm>
        </p:spPr>
        <p:txBody>
          <a:bodyPr>
            <a:noAutofit/>
          </a:bodyPr>
          <a:lstStyle/>
          <a:p>
            <a:pPr marL="0"/>
            <a:r>
              <a:rPr kumimoji="1"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血泪教训：</a:t>
            </a:r>
            <a:r>
              <a:rPr kumimoji="1" lang="en-GB" altLang="zh-CN" sz="1400" dirty="0">
                <a:solidFill>
                  <a:schemeClr val="bg2"/>
                </a:solidFill>
              </a:rPr>
              <a:t>for </a:t>
            </a:r>
            <a:r>
              <a:rPr kumimoji="1" lang="zh-CN" altLang="en-US" sz="1400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kumimoji="1" lang="en-GB" altLang="zh-CN" sz="1400" dirty="0">
                <a:solidFill>
                  <a:schemeClr val="bg2"/>
                </a:solidFill>
              </a:rPr>
              <a:t>remove</a:t>
            </a:r>
            <a:r>
              <a:rPr kumimoji="1" lang="zh-CN" altLang="en-US" sz="1400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尽量不要一起用</a:t>
            </a:r>
            <a:endParaRPr kumimoji="1" lang="zh-CN" altLang="en-US" sz="1400" dirty="0">
              <a:solidFill>
                <a:schemeClr val="bg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/>
            <a:r>
              <a:rPr kumimoji="1" lang="zh-CN" altLang="en-US" sz="1400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特别注意：不要一边修改一个数据结构，一边遍历它，否则遍历的顺序可能会很古怪</a:t>
            </a:r>
            <a:endParaRPr kumimoji="1" lang="zh-CN" altLang="en-US" sz="1400" dirty="0">
              <a:solidFill>
                <a:schemeClr val="bg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" name="Picture 4" descr="Text&#10;&#10;Description automatically generated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531" y="450843"/>
            <a:ext cx="3853057" cy="3439846"/>
          </a:xfrm>
          <a:prstGeom prst="rect">
            <a:avLst/>
          </a:prstGeom>
        </p:spPr>
      </p:pic>
      <p:pic>
        <p:nvPicPr>
          <p:cNvPr id="4" name="Picture 6" descr="A close up of a clock&#10;&#10;Description automatically generated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4679" y="1918035"/>
            <a:ext cx="1621619" cy="653715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/>
              <a:t>+=, /=, *=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700" y="1152474"/>
            <a:ext cx="8520600" cy="2262174"/>
          </a:xfrm>
        </p:spPr>
        <p:txBody>
          <a:bodyPr>
            <a:normAutofit/>
          </a:bodyPr>
          <a:lstStyle/>
          <a:p>
            <a:r>
              <a:rPr kumimoji="1" lang="en-GB" altLang="zh-CN" sz="1400" dirty="0">
                <a:solidFill>
                  <a:schemeClr val="bg2"/>
                </a:solidFill>
              </a:rPr>
              <a:t>In python, when you write an expr like a = a + b, you may just write it as a += b</a:t>
            </a:r>
            <a:endParaRPr kumimoji="1" lang="en-GB" altLang="zh-CN" sz="1400" dirty="0">
              <a:solidFill>
                <a:schemeClr val="bg2"/>
              </a:solidFill>
            </a:endParaRPr>
          </a:p>
          <a:p>
            <a:pPr lvl="1"/>
            <a:r>
              <a:rPr kumimoji="1" lang="en-GB" altLang="zh-CN" sz="1200" dirty="0">
                <a:solidFill>
                  <a:schemeClr val="bg2"/>
                </a:solidFill>
              </a:rPr>
              <a:t>+=, -=, *=, /=, //=</a:t>
            </a:r>
            <a:endParaRPr kumimoji="1" lang="en-GB" altLang="zh-CN" sz="1200" dirty="0">
              <a:solidFill>
                <a:schemeClr val="bg2"/>
              </a:solidFill>
            </a:endParaRPr>
          </a:p>
          <a:p>
            <a:r>
              <a:rPr kumimoji="1" lang="en-GB" altLang="zh-CN" sz="1400" dirty="0">
                <a:solidFill>
                  <a:schemeClr val="bg2"/>
                </a:solidFill>
              </a:rPr>
              <a:t>However, you should pay attention to the situations when a is mutable: list, </a:t>
            </a:r>
            <a:r>
              <a:rPr kumimoji="1" lang="en-GB" altLang="zh-CN" sz="1400" dirty="0" err="1">
                <a:solidFill>
                  <a:schemeClr val="bg2"/>
                </a:solidFill>
              </a:rPr>
              <a:t>dict</a:t>
            </a:r>
            <a:endParaRPr kumimoji="1" lang="en-GB" altLang="zh-CN" sz="1400" dirty="0">
              <a:solidFill>
                <a:schemeClr val="bg2"/>
              </a:solidFill>
            </a:endParaRPr>
          </a:p>
          <a:p>
            <a:r>
              <a:rPr kumimoji="1" lang="zh-CN" altLang="en-US" sz="1400" dirty="0">
                <a:solidFill>
                  <a:schemeClr val="bg2"/>
                </a:solidFill>
                <a:latin typeface="Source Sans Pro" panose="020B0503030403020204" pitchFamily="34" charset="0"/>
                <a:ea typeface="黑体" panose="02010609060101010101" pitchFamily="49" charset="-122"/>
              </a:rPr>
              <a:t>不可被修改</a:t>
            </a:r>
            <a:endParaRPr kumimoji="1" lang="en-US" altLang="zh-CN" sz="1400" dirty="0">
              <a:solidFill>
                <a:schemeClr val="bg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lvl="1"/>
            <a:r>
              <a:rPr kumimoji="1" lang="zh-CN" altLang="en-US" sz="1200" dirty="0">
                <a:solidFill>
                  <a:schemeClr val="bg2"/>
                </a:solidFill>
                <a:latin typeface="Source Sans Pro" panose="020B0503030403020204" pitchFamily="34" charset="0"/>
                <a:ea typeface="黑体" panose="02010609060101010101" pitchFamily="49" charset="-122"/>
              </a:rPr>
              <a:t>基本类型：</a:t>
            </a:r>
            <a:r>
              <a:rPr kumimoji="1" lang="en-US" altLang="zh-CN" sz="12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int, float, complex</a:t>
            </a:r>
            <a:endParaRPr kumimoji="1" lang="en-US" altLang="zh-CN" sz="1200" dirty="0">
              <a:solidFill>
                <a:schemeClr val="bg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lvl="1"/>
            <a:r>
              <a:rPr kumimoji="1" lang="zh-CN" altLang="en-US" sz="1200" dirty="0">
                <a:solidFill>
                  <a:schemeClr val="bg2"/>
                </a:solidFill>
                <a:latin typeface="Source Sans Pro" panose="020B0503030403020204" pitchFamily="34" charset="0"/>
                <a:ea typeface="黑体" panose="02010609060101010101" pitchFamily="49" charset="-122"/>
              </a:rPr>
              <a:t>数据结构</a:t>
            </a:r>
            <a:r>
              <a:rPr kumimoji="1" lang="en-US" altLang="zh-CN" sz="12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: tuple, string</a:t>
            </a:r>
            <a:endParaRPr kumimoji="1" lang="en-US" altLang="zh-CN" sz="1200" dirty="0">
              <a:solidFill>
                <a:schemeClr val="bg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kumimoji="1" lang="zh-CN" altLang="en-US" sz="1400" dirty="0">
                <a:solidFill>
                  <a:schemeClr val="bg2"/>
                </a:solidFill>
                <a:latin typeface="Source Sans Pro" panose="020B0503030403020204" pitchFamily="34" charset="0"/>
                <a:ea typeface="黑体" panose="02010609060101010101" pitchFamily="49" charset="-122"/>
              </a:rPr>
              <a:t>可被修改（在原有基础上修改，</a:t>
            </a:r>
            <a:r>
              <a:rPr kumimoji="1" lang="en-US" altLang="zh-CN" sz="1400" dirty="0">
                <a:solidFill>
                  <a:schemeClr val="bg2"/>
                </a:solidFill>
                <a:latin typeface="Source Sans Pro" panose="020B0503030403020204" pitchFamily="34" charset="0"/>
                <a:ea typeface="黑体" panose="02010609060101010101" pitchFamily="49" charset="-122"/>
              </a:rPr>
              <a:t> id</a:t>
            </a:r>
            <a:r>
              <a:rPr kumimoji="1" lang="zh-CN" altLang="en-US" sz="1400" dirty="0">
                <a:solidFill>
                  <a:schemeClr val="bg2"/>
                </a:solidFill>
                <a:latin typeface="Source Sans Pro" panose="020B0503030403020204" pitchFamily="34" charset="0"/>
                <a:ea typeface="黑体" panose="02010609060101010101" pitchFamily="49" charset="-122"/>
              </a:rPr>
              <a:t>不变）</a:t>
            </a:r>
            <a:endParaRPr kumimoji="1" lang="zh-CN" altLang="en-US" sz="1400" dirty="0">
              <a:solidFill>
                <a:schemeClr val="bg2"/>
              </a:solidFill>
              <a:latin typeface="Source Sans Pro" panose="020B0503030403020204" pitchFamily="34" charset="0"/>
              <a:ea typeface="黑体" panose="02010609060101010101" pitchFamily="49" charset="-122"/>
            </a:endParaRPr>
          </a:p>
          <a:p>
            <a:pPr lvl="1"/>
            <a:r>
              <a:rPr kumimoji="1" lang="en-US" altLang="zh-CN" sz="12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List,</a:t>
            </a:r>
            <a:r>
              <a:rPr kumimoji="1" lang="zh-CN" altLang="en-US" sz="1200" dirty="0">
                <a:solidFill>
                  <a:schemeClr val="bg2"/>
                </a:solidFill>
                <a:latin typeface="Source Sans Pro" panose="020B0503030403020204" pitchFamily="34" charset="0"/>
                <a:ea typeface="黑体" panose="02010609060101010101" pitchFamily="49" charset="-122"/>
              </a:rPr>
              <a:t> </a:t>
            </a:r>
            <a:r>
              <a:rPr kumimoji="1" lang="en-US" altLang="zh-CN" sz="1200" dirty="0" err="1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dict</a:t>
            </a:r>
            <a:r>
              <a:rPr kumimoji="1" lang="en-US" altLang="zh-CN" sz="12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</a:t>
            </a:r>
            <a:r>
              <a:rPr kumimoji="1" lang="zh-CN" altLang="en-US" sz="1200" dirty="0">
                <a:solidFill>
                  <a:schemeClr val="bg2"/>
                </a:solidFill>
                <a:latin typeface="Source Sans Pro" panose="020B0503030403020204" pitchFamily="34" charset="0"/>
                <a:ea typeface="黑体" panose="02010609060101010101" pitchFamily="49" charset="-122"/>
              </a:rPr>
              <a:t> </a:t>
            </a:r>
            <a:r>
              <a:rPr kumimoji="1" lang="en-US" altLang="zh-CN" sz="12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set</a:t>
            </a:r>
            <a:endParaRPr kumimoji="1" lang="en-US" altLang="zh-CN" sz="1200" dirty="0">
              <a:solidFill>
                <a:schemeClr val="bg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lvl="1"/>
            <a:r>
              <a:rPr kumimoji="1" lang="zh-CN" altLang="en-US" sz="1200" dirty="0">
                <a:solidFill>
                  <a:schemeClr val="bg2"/>
                </a:solidFill>
                <a:latin typeface="Source Sans Pro" panose="020B0503030403020204" pitchFamily="34" charset="0"/>
                <a:ea typeface="黑体" panose="02010609060101010101" pitchFamily="49" charset="-122"/>
              </a:rPr>
              <a:t>自定义复合类型</a:t>
            </a:r>
            <a:endParaRPr kumimoji="1" lang="zh-CN" altLang="en-US" sz="1200" dirty="0">
              <a:solidFill>
                <a:schemeClr val="bg2"/>
              </a:solidFill>
              <a:latin typeface="Source Sans Pro" panose="020B0503030403020204" pitchFamily="34" charset="0"/>
              <a:ea typeface="黑体" panose="02010609060101010101" pitchFamily="49" charset="-122"/>
            </a:endParaRPr>
          </a:p>
        </p:txBody>
      </p:sp>
      <p:pic>
        <p:nvPicPr>
          <p:cNvPr id="6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6159" y="2881642"/>
            <a:ext cx="2454148" cy="2262174"/>
          </a:xfrm>
          <a:prstGeom prst="rect">
            <a:avLst/>
          </a:prstGeom>
        </p:spPr>
      </p:pic>
      <p:sp>
        <p:nvSpPr>
          <p:cNvPr id="4" name="文本框 4"/>
          <p:cNvSpPr txBox="1"/>
          <p:nvPr/>
        </p:nvSpPr>
        <p:spPr>
          <a:xfrm>
            <a:off x="6652471" y="4443250"/>
            <a:ext cx="2022172" cy="48994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114300" marR="0" lvl="0" indent="0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Source Sans Pro" panose="020B0503030403020204"/>
              <a:buNone/>
              <a:defRPr/>
            </a:pPr>
            <a:r>
              <a:rPr kumimoji="1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sym typeface="Source Sans Pro" panose="020B0503030403020204"/>
              </a:rPr>
              <a:t>特别注意区别</a:t>
            </a:r>
            <a:endParaRPr kumimoji="1" lang="zh-CN" altLang="en-US" sz="12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sym typeface="Source Sans Pro" panose="020B0503030403020204"/>
            </a:endParaRPr>
          </a:p>
          <a:p>
            <a:pPr marL="114300" marR="0" lvl="0" indent="0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Source Sans Pro" panose="020B0503030403020204"/>
              <a:buNone/>
              <a:defRPr/>
            </a:pPr>
            <a:r>
              <a:rPr kumimoji="1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sym typeface="Source Sans Pro" panose="020B0503030403020204"/>
              </a:rPr>
              <a:t>创造新变量</a:t>
            </a:r>
            <a:r>
              <a:rPr kumimoji="1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sym typeface="Source Sans Pro" panose="020B0503030403020204"/>
              </a:rPr>
              <a:t>,</a:t>
            </a:r>
            <a:r>
              <a:rPr kumimoji="1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sym typeface="Source Sans Pro" panose="020B0503030403020204"/>
              </a:rPr>
              <a:t> 改造旧变量</a:t>
            </a:r>
            <a:endParaRPr kumimoji="1" lang="zh-CN" altLang="en-US" sz="1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sym typeface="Source Sans Pro" panose="020B0503030403020204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819617" y="4035664"/>
            <a:ext cx="18439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800" b="0" i="0" dirty="0">
                <a:solidFill>
                  <a:schemeClr val="bg2"/>
                </a:solidFill>
                <a:effectLst/>
                <a:latin typeface="Consolas" panose="020B0609020204030204" pitchFamily="49" charset="0"/>
              </a:rPr>
              <a:t>1941395606080 </a:t>
            </a:r>
            <a:endParaRPr lang="en-US" altLang="zh-CN" sz="800" b="0" i="0" dirty="0">
              <a:solidFill>
                <a:schemeClr val="bg2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800" b="0" i="0" dirty="0">
                <a:solidFill>
                  <a:schemeClr val="bg2"/>
                </a:solidFill>
                <a:effectLst/>
                <a:latin typeface="Consolas" panose="020B0609020204030204" pitchFamily="49" charset="0"/>
              </a:rPr>
              <a:t>1941396016256</a:t>
            </a:r>
            <a:endParaRPr lang="zh-CN" altLang="en-US" sz="800" dirty="0">
              <a:solidFill>
                <a:schemeClr val="bg2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9617" y="2758020"/>
            <a:ext cx="1891864" cy="1233006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408680" y="2129155"/>
            <a:ext cx="15671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会重新创建一份，</a:t>
            </a:r>
            <a:r>
              <a:rPr lang="en-US" altLang="zh-CN"/>
              <a:t>id</a:t>
            </a:r>
            <a:r>
              <a:rPr lang="zh-CN" altLang="en-US"/>
              <a:t>改变</a:t>
            </a:r>
            <a:endParaRPr lang="zh-CN" alt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Mutability of parameters</a:t>
            </a:r>
            <a:br>
              <a:rPr lang="en-US" altLang="zh-CN" dirty="0"/>
            </a:br>
            <a:endParaRPr lang="en-US" altLang="zh-CN" dirty="0"/>
          </a:p>
        </p:txBody>
      </p:sp>
      <p:sp>
        <p:nvSpPr>
          <p:cNvPr id="3" name="文本框 2"/>
          <p:cNvSpPr txBox="1"/>
          <p:nvPr/>
        </p:nvSpPr>
        <p:spPr>
          <a:xfrm>
            <a:off x="419663" y="1068425"/>
            <a:ext cx="8304673" cy="307777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If a mutable parameter is passed into a function, it may be altered inside the function </a:t>
            </a:r>
            <a:endParaRPr lang="en-US" altLang="zh-CN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6467302" y="2162969"/>
            <a:ext cx="236694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highlight>
                  <a:srgbClr val="FFFF00"/>
                </a:highlight>
                <a:latin typeface="Source Sans Pro" panose="020B0503030403020204" pitchFamily="34" charset="0"/>
                <a:ea typeface="Source Sans Pro" panose="020B0503030403020204" pitchFamily="34" charset="0"/>
              </a:rPr>
              <a:t>a: </a:t>
            </a:r>
            <a:r>
              <a:rPr lang="zh-CN" altLang="en-US" dirty="0">
                <a:highlight>
                  <a:srgbClr val="FFFF00"/>
                </a:highlight>
                <a:latin typeface="Source Sans Pro" panose="020B0503030403020204" pitchFamily="34" charset="0"/>
                <a:ea typeface="黑体" panose="02010609060101010101" pitchFamily="49" charset="-122"/>
              </a:rPr>
              <a:t>基本</a:t>
            </a:r>
            <a:r>
              <a:rPr lang="en-US" altLang="zh-CN" dirty="0">
                <a:highlight>
                  <a:srgbClr val="FFFF00"/>
                </a:highlight>
                <a:latin typeface="Source Sans Pro" panose="020B0503030403020204" pitchFamily="34" charset="0"/>
                <a:ea typeface="Source Sans Pro" panose="020B0503030403020204" pitchFamily="34" charset="0"/>
              </a:rPr>
              <a:t>int</a:t>
            </a:r>
            <a:r>
              <a:rPr lang="zh-CN" altLang="en-US" dirty="0">
                <a:highlight>
                  <a:srgbClr val="FFFF00"/>
                </a:highlight>
                <a:latin typeface="Source Sans Pro" panose="020B0503030403020204" pitchFamily="34" charset="0"/>
                <a:ea typeface="黑体" panose="02010609060101010101" pitchFamily="49" charset="-122"/>
              </a:rPr>
              <a:t>类型，不可修改。</a:t>
            </a:r>
            <a:endParaRPr lang="zh-CN" altLang="en-US" dirty="0">
              <a:highlight>
                <a:srgbClr val="FFFF00"/>
              </a:highlight>
              <a:latin typeface="Source Sans Pro" panose="020B0503030403020204" pitchFamily="34" charset="0"/>
              <a:ea typeface="黑体" panose="02010609060101010101" pitchFamily="49" charset="-122"/>
            </a:endParaRPr>
          </a:p>
          <a:p>
            <a:r>
              <a:rPr lang="en-US" altLang="zh-CN" dirty="0">
                <a:highlight>
                  <a:srgbClr val="FFFF00"/>
                </a:highlight>
                <a:latin typeface="Source Sans Pro" panose="020B0503030403020204" pitchFamily="34" charset="0"/>
                <a:ea typeface="Source Sans Pro" panose="020B0503030403020204" pitchFamily="34" charset="0"/>
              </a:rPr>
              <a:t>b: </a:t>
            </a:r>
            <a:r>
              <a:rPr lang="zh-CN" altLang="en-US" dirty="0">
                <a:highlight>
                  <a:srgbClr val="FFFF00"/>
                </a:highlight>
                <a:latin typeface="Source Sans Pro" panose="020B0503030403020204" pitchFamily="34" charset="0"/>
                <a:ea typeface="黑体" panose="02010609060101010101" pitchFamily="49" charset="-122"/>
              </a:rPr>
              <a:t>是</a:t>
            </a:r>
            <a:r>
              <a:rPr lang="en-US" altLang="zh-CN" dirty="0">
                <a:highlight>
                  <a:srgbClr val="FFFF00"/>
                </a:highlight>
                <a:latin typeface="Source Sans Pro" panose="020B0503030403020204" pitchFamily="34" charset="0"/>
                <a:ea typeface="Source Sans Pro" panose="020B0503030403020204" pitchFamily="34" charset="0"/>
              </a:rPr>
              <a:t>list</a:t>
            </a:r>
            <a:r>
              <a:rPr lang="zh-CN" altLang="en-US" dirty="0">
                <a:highlight>
                  <a:srgbClr val="FFFF00"/>
                </a:highlight>
                <a:latin typeface="Source Sans Pro" panose="020B0503030403020204" pitchFamily="34" charset="0"/>
                <a:ea typeface="黑体" panose="02010609060101010101" pitchFamily="49" charset="-122"/>
              </a:rPr>
              <a:t>，可以被修改。</a:t>
            </a:r>
            <a:endParaRPr lang="zh-CN" altLang="en-US" dirty="0">
              <a:highlight>
                <a:srgbClr val="FFFF00"/>
              </a:highlight>
              <a:latin typeface="Source Sans Pro" panose="020B0503030403020204" pitchFamily="34" charset="0"/>
              <a:ea typeface="黑体" panose="02010609060101010101" pitchFamily="49" charset="-122"/>
            </a:endParaRPr>
          </a:p>
          <a:p>
            <a:r>
              <a:rPr lang="zh-CN" altLang="en-US" dirty="0">
                <a:highlight>
                  <a:srgbClr val="FFFF00"/>
                </a:highlight>
                <a:latin typeface="Source Sans Pro" panose="020B0503030403020204" pitchFamily="34" charset="0"/>
                <a:ea typeface="黑体" panose="02010609060101010101" pitchFamily="49" charset="-122"/>
              </a:rPr>
              <a:t>参数传递：</a:t>
            </a:r>
            <a:endParaRPr lang="zh-CN" altLang="en-US" dirty="0">
              <a:highlight>
                <a:srgbClr val="FFFF00"/>
              </a:highlight>
              <a:latin typeface="Source Sans Pro" panose="020B0503030403020204" pitchFamily="34" charset="0"/>
              <a:ea typeface="黑体" panose="02010609060101010101" pitchFamily="49" charset="-122"/>
            </a:endParaRPr>
          </a:p>
          <a:p>
            <a:r>
              <a:rPr lang="en-US" altLang="zh-CN" dirty="0">
                <a:highlight>
                  <a:srgbClr val="FFFF00"/>
                </a:highlight>
                <a:latin typeface="Source Sans Pro" panose="020B0503030403020204" pitchFamily="34" charset="0"/>
                <a:ea typeface="Source Sans Pro" panose="020B0503030403020204" pitchFamily="34" charset="0"/>
              </a:rPr>
              <a:t>	</a:t>
            </a:r>
            <a:r>
              <a:rPr lang="en-US" altLang="zh-CN" dirty="0" err="1">
                <a:highlight>
                  <a:srgbClr val="FFFF00"/>
                </a:highlight>
                <a:latin typeface="Source Sans Pro" panose="020B0503030403020204" pitchFamily="34" charset="0"/>
                <a:ea typeface="Source Sans Pro" panose="020B0503030403020204" pitchFamily="34" charset="0"/>
              </a:rPr>
              <a:t>inta</a:t>
            </a:r>
            <a:r>
              <a:rPr lang="en-US" altLang="zh-CN" dirty="0">
                <a:highlight>
                  <a:srgbClr val="FFFF00"/>
                </a:highlight>
                <a:latin typeface="Source Sans Pro" panose="020B0503030403020204" pitchFamily="34" charset="0"/>
                <a:ea typeface="Source Sans Pro" panose="020B0503030403020204" pitchFamily="34" charset="0"/>
              </a:rPr>
              <a:t> = a</a:t>
            </a:r>
            <a:endParaRPr lang="en-US" altLang="zh-CN" dirty="0">
              <a:highlight>
                <a:srgbClr val="FFFF00"/>
              </a:highlight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altLang="zh-CN" dirty="0">
                <a:highlight>
                  <a:srgbClr val="FFFF00"/>
                </a:highlight>
                <a:latin typeface="Source Sans Pro" panose="020B0503030403020204" pitchFamily="34" charset="0"/>
                <a:ea typeface="Source Sans Pro" panose="020B0503030403020204" pitchFamily="34" charset="0"/>
              </a:rPr>
              <a:t>	 </a:t>
            </a:r>
            <a:r>
              <a:rPr lang="en-US" altLang="zh-CN" dirty="0" err="1">
                <a:highlight>
                  <a:srgbClr val="FFFF00"/>
                </a:highlight>
                <a:latin typeface="Source Sans Pro" panose="020B0503030403020204" pitchFamily="34" charset="0"/>
                <a:ea typeface="Source Sans Pro" panose="020B0503030403020204" pitchFamily="34" charset="0"/>
              </a:rPr>
              <a:t>listb</a:t>
            </a:r>
            <a:r>
              <a:rPr lang="en-US" altLang="zh-CN" dirty="0">
                <a:highlight>
                  <a:srgbClr val="FFFF00"/>
                </a:highlight>
                <a:latin typeface="Source Sans Pro" panose="020B0503030403020204" pitchFamily="34" charset="0"/>
                <a:ea typeface="Source Sans Pro" panose="020B0503030403020204" pitchFamily="34" charset="0"/>
              </a:rPr>
              <a:t> = b</a:t>
            </a:r>
            <a:endParaRPr lang="en-US" altLang="zh-CN" dirty="0">
              <a:highlight>
                <a:srgbClr val="FFFF00"/>
              </a:highlight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zh-CN" altLang="en-US" dirty="0">
                <a:solidFill>
                  <a:schemeClr val="bg2"/>
                </a:solidFill>
                <a:highlight>
                  <a:srgbClr val="FFFF00"/>
                </a:highlight>
                <a:latin typeface="Source Sans Pro" panose="020B0503030403020204" pitchFamily="34" charset="0"/>
                <a:ea typeface="黑体" panose="02010609060101010101" pitchFamily="49" charset="-122"/>
              </a:rPr>
              <a:t>修改</a:t>
            </a:r>
            <a:r>
              <a:rPr lang="en-US" altLang="zh-CN" dirty="0" err="1">
                <a:solidFill>
                  <a:schemeClr val="bg2"/>
                </a:solidFill>
                <a:highlight>
                  <a:srgbClr val="FFFF00"/>
                </a:highlight>
                <a:latin typeface="Source Sans Pro" panose="020B0503030403020204" pitchFamily="34" charset="0"/>
                <a:ea typeface="Source Sans Pro" panose="020B0503030403020204" pitchFamily="34" charset="0"/>
              </a:rPr>
              <a:t>listb</a:t>
            </a:r>
            <a:r>
              <a:rPr lang="zh-CN" altLang="en-US" dirty="0">
                <a:solidFill>
                  <a:schemeClr val="bg2"/>
                </a:solidFill>
                <a:highlight>
                  <a:srgbClr val="FFFF00"/>
                </a:highlight>
                <a:latin typeface="Source Sans Pro" panose="020B0503030403020204" pitchFamily="34" charset="0"/>
                <a:ea typeface="黑体" panose="02010609060101010101" pitchFamily="49" charset="-122"/>
              </a:rPr>
              <a:t>就修改了</a:t>
            </a:r>
            <a:r>
              <a:rPr lang="en-US" altLang="zh-CN" dirty="0">
                <a:solidFill>
                  <a:schemeClr val="bg2"/>
                </a:solidFill>
                <a:highlight>
                  <a:srgbClr val="FFFF00"/>
                </a:highlight>
                <a:latin typeface="Source Sans Pro" panose="020B0503030403020204" pitchFamily="34" charset="0"/>
                <a:ea typeface="Source Sans Pro" panose="020B0503030403020204" pitchFamily="34" charset="0"/>
              </a:rPr>
              <a:t>b</a:t>
            </a:r>
            <a:endParaRPr lang="en-US" altLang="zh-CN" dirty="0">
              <a:solidFill>
                <a:schemeClr val="bg2"/>
              </a:solidFill>
              <a:highlight>
                <a:srgbClr val="FFFF00"/>
              </a:highlight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6" name="Picture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052" y="4075075"/>
            <a:ext cx="5288192" cy="786781"/>
          </a:xfrm>
          <a:prstGeom prst="rect">
            <a:avLst/>
          </a:prstGeom>
        </p:spPr>
      </p:pic>
      <p:sp>
        <p:nvSpPr>
          <p:cNvPr id="7" name="文本框 3"/>
          <p:cNvSpPr txBox="1"/>
          <p:nvPr/>
        </p:nvSpPr>
        <p:spPr>
          <a:xfrm>
            <a:off x="6143574" y="4106969"/>
            <a:ext cx="2580762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defRPr/>
            </a:pP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讨论：从程序设计的角度而言，你认为参数应该被修改吗？</a:t>
            </a:r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052" y="1508642"/>
            <a:ext cx="5285581" cy="2493032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GB" altLang="zh-CN"/>
              <a:t>Built-in functions</a:t>
            </a:r>
            <a:br>
              <a:rPr kumimoji="1" lang="en-GB" altLang="zh-CN"/>
            </a:br>
            <a:br>
              <a:rPr kumimoji="1" lang="en-GB" altLang="zh-CN"/>
            </a:b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700" y="1152476"/>
            <a:ext cx="8520600" cy="688834"/>
          </a:xfrm>
        </p:spPr>
        <p:txBody>
          <a:bodyPr>
            <a:normAutofit/>
          </a:bodyPr>
          <a:lstStyle/>
          <a:p>
            <a:r>
              <a:rPr kumimoji="1" lang="en-GB" altLang="zh-CN" sz="1400" dirty="0">
                <a:solidFill>
                  <a:schemeClr val="bg2"/>
                </a:solidFill>
              </a:rPr>
              <a:t>The Python interpreter has a number of functions and types built into it that are always available. They are listed here in alphabetical order</a:t>
            </a:r>
            <a:endParaRPr kumimoji="1" lang="en-GB" altLang="zh-CN" sz="1400" dirty="0">
              <a:solidFill>
                <a:schemeClr val="bg2"/>
              </a:solidFill>
            </a:endParaRPr>
          </a:p>
        </p:txBody>
      </p:sp>
      <p:pic>
        <p:nvPicPr>
          <p:cNvPr id="4" name="Picture 6" descr="Table&#10;&#10;Description automatically generated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6237" y="1841310"/>
            <a:ext cx="4338389" cy="2641496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0" y="4870783"/>
            <a:ext cx="420840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https://docs.python.org/3.8/library/functions.html</a:t>
            </a:r>
            <a:endParaRPr lang="en-US" altLang="zh-CN" sz="1000" dirty="0">
              <a:solidFill>
                <a:schemeClr val="bg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Rectangle 8"/>
          <p:cNvSpPr/>
          <p:nvPr/>
        </p:nvSpPr>
        <p:spPr>
          <a:xfrm>
            <a:off x="6073540" y="4632314"/>
            <a:ext cx="2668557" cy="4104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Tips: </a:t>
            </a:r>
            <a:r>
              <a:rPr lang="zh-CN" altLang="en-US" sz="1200" dirty="0">
                <a:solidFill>
                  <a:schemeClr val="tx1"/>
                </a:solidFill>
                <a:latin typeface="Source Sans Pro" panose="020B0503030403020204" pitchFamily="34" charset="0"/>
                <a:ea typeface="黑体" panose="02010609060101010101" pitchFamily="49" charset="-122"/>
              </a:rPr>
              <a:t>当你需要实现一个基本的功能的时候，</a:t>
            </a:r>
            <a:r>
              <a:rPr lang="en-US" altLang="zh-CN" sz="12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python</a:t>
            </a:r>
            <a:r>
              <a:rPr lang="zh-CN" altLang="en-US" sz="1200" dirty="0">
                <a:solidFill>
                  <a:schemeClr val="tx1"/>
                </a:solidFill>
                <a:latin typeface="Source Sans Pro" panose="020B0503030403020204" pitchFamily="34" charset="0"/>
                <a:ea typeface="黑体" panose="02010609060101010101" pitchFamily="49" charset="-122"/>
              </a:rPr>
              <a:t>可能已经帮你实现了</a:t>
            </a:r>
            <a:endParaRPr lang="zh-CN" altLang="en-US" sz="1200" dirty="0">
              <a:solidFill>
                <a:schemeClr val="tx1"/>
              </a:solidFill>
              <a:latin typeface="Source Sans Pro" panose="020B0503030403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GB" altLang="zh-CN"/>
              <a:t>sorted: </a:t>
            </a:r>
            <a:r>
              <a:rPr kumimoji="1" lang="zh-CN" altLang="en-US"/>
              <a:t>排序</a:t>
            </a:r>
            <a:br>
              <a:rPr kumimoji="1" lang="zh-CN" altLang="en-US"/>
            </a:br>
            <a:br>
              <a:rPr kumimoji="1" lang="zh-CN" altLang="en-US"/>
            </a:b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700" y="1152476"/>
            <a:ext cx="8520600" cy="1297110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kumimoji="1" lang="en-GB" altLang="zh-CN" sz="1400" dirty="0">
                <a:solidFill>
                  <a:schemeClr val="bg2"/>
                </a:solidFill>
              </a:rPr>
              <a:t>Python lists have a built-in list.sort() method that modifies the list in-place. There is also a sorted() built-in function that builds a new sorted list from an iterable</a:t>
            </a:r>
            <a:endParaRPr kumimoji="1" lang="en-GB" altLang="zh-CN" sz="1400" dirty="0">
              <a:solidFill>
                <a:schemeClr val="bg2"/>
              </a:solidFill>
            </a:endParaRPr>
          </a:p>
          <a:p>
            <a:r>
              <a:rPr kumimoji="1" lang="en-GB" altLang="zh-CN" sz="1200" dirty="0">
                <a:solidFill>
                  <a:schemeClr val="bg2"/>
                </a:solidFill>
              </a:rPr>
              <a:t>sorted(x): </a:t>
            </a:r>
            <a:r>
              <a:rPr kumimoji="1" lang="zh-CN" altLang="en-US" sz="1200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</a:t>
            </a:r>
            <a:r>
              <a:rPr kumimoji="1" lang="en-GB" altLang="zh-CN" sz="1200" dirty="0">
                <a:solidFill>
                  <a:schemeClr val="bg2"/>
                </a:solidFill>
              </a:rPr>
              <a:t>x</a:t>
            </a:r>
            <a:r>
              <a:rPr kumimoji="1" lang="zh-CN" altLang="en-US" sz="1200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排序并</a:t>
            </a:r>
            <a:r>
              <a:rPr kumimoji="1" lang="en-GB" altLang="zh-CN" sz="1200" dirty="0">
                <a:solidFill>
                  <a:schemeClr val="bg2"/>
                </a:solidFill>
              </a:rPr>
              <a:t>return</a:t>
            </a:r>
            <a:r>
              <a:rPr kumimoji="1" lang="zh-CN" altLang="en-US" sz="1200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新的</a:t>
            </a:r>
            <a:r>
              <a:rPr kumimoji="1" lang="en-GB" altLang="zh-CN" sz="1200" dirty="0">
                <a:solidFill>
                  <a:schemeClr val="bg2"/>
                </a:solidFill>
                <a:highlight>
                  <a:srgbClr val="FFFF00"/>
                </a:highlight>
              </a:rPr>
              <a:t>list</a:t>
            </a:r>
            <a:r>
              <a:rPr kumimoji="1" lang="zh-CN" altLang="en-US" sz="1200" dirty="0">
                <a:solidFill>
                  <a:schemeClr val="bg2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变量</a:t>
            </a:r>
            <a:endParaRPr kumimoji="1" lang="zh-CN" altLang="en-US" sz="1200" dirty="0">
              <a:solidFill>
                <a:schemeClr val="bg2"/>
              </a:solidFill>
              <a:highlight>
                <a:srgbClr val="FFFF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kumimoji="1" lang="en-GB" altLang="zh-CN" sz="1200" dirty="0">
                <a:solidFill>
                  <a:schemeClr val="bg2"/>
                </a:solidFill>
              </a:rPr>
              <a:t>list.sort(): </a:t>
            </a:r>
            <a:r>
              <a:rPr kumimoji="1" lang="zh-CN" altLang="en-US" sz="1200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对列表排序，</a:t>
            </a:r>
            <a:r>
              <a:rPr kumimoji="1" lang="zh-CN" altLang="en-US" sz="1200" dirty="0">
                <a:solidFill>
                  <a:schemeClr val="bg2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无返回值</a:t>
            </a:r>
            <a:endParaRPr kumimoji="1" lang="zh-CN" altLang="en-US" sz="1200" dirty="0">
              <a:solidFill>
                <a:schemeClr val="bg2"/>
              </a:solidFill>
              <a:highlight>
                <a:srgbClr val="FFFF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kumimoji="1" lang="en-GB" altLang="zh-CN" sz="1200" dirty="0">
                <a:solidFill>
                  <a:schemeClr val="bg2"/>
                </a:solidFill>
              </a:rPr>
              <a:t>https://docs.python.org/3/howto/sorting.html</a:t>
            </a:r>
            <a:endParaRPr kumimoji="1" lang="en-GB" altLang="zh-CN" sz="1200" dirty="0">
              <a:solidFill>
                <a:schemeClr val="bg2"/>
              </a:solidFill>
            </a:endParaRPr>
          </a:p>
        </p:txBody>
      </p:sp>
      <p:pic>
        <p:nvPicPr>
          <p:cNvPr id="5" name="Picture 16" descr="A picture containing text, device, meter&#10;&#10;Description automatically generated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2532" y="2449586"/>
            <a:ext cx="2344520" cy="77934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368" y="2449586"/>
            <a:ext cx="45593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GB" altLang="zh-CN"/>
              <a:t>zip() 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486202"/>
          </a:xfrm>
        </p:spPr>
        <p:txBody>
          <a:bodyPr>
            <a:normAutofit/>
          </a:bodyPr>
          <a:lstStyle/>
          <a:p>
            <a:r>
              <a:rPr kumimoji="1" lang="zh-CN" altLang="en-US" sz="1400" dirty="0">
                <a:solidFill>
                  <a:schemeClr val="bg2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将</a:t>
            </a:r>
            <a:r>
              <a:rPr kumimoji="1" lang="en-GB" altLang="zh-CN" sz="1400" dirty="0">
                <a:solidFill>
                  <a:schemeClr val="bg2"/>
                </a:solidFill>
                <a:highlight>
                  <a:srgbClr val="FFFF00"/>
                </a:highlight>
              </a:rPr>
              <a:t>n</a:t>
            </a:r>
            <a:r>
              <a:rPr kumimoji="1" lang="zh-CN" altLang="en-US" sz="1400" dirty="0">
                <a:solidFill>
                  <a:schemeClr val="bg2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个</a:t>
            </a:r>
            <a:r>
              <a:rPr kumimoji="1" lang="en-GB" altLang="zh-CN" sz="1400" dirty="0">
                <a:solidFill>
                  <a:schemeClr val="bg2"/>
                </a:solidFill>
                <a:highlight>
                  <a:srgbClr val="FFFF00"/>
                </a:highlight>
              </a:rPr>
              <a:t>list(tuple, str</a:t>
            </a:r>
            <a:r>
              <a:rPr kumimoji="1" lang="zh-CN" altLang="en-US" sz="1400" dirty="0">
                <a:solidFill>
                  <a:schemeClr val="bg2"/>
                </a:solidFill>
                <a:highlight>
                  <a:srgbClr val="FFFF00"/>
                </a:highlight>
              </a:rPr>
              <a:t>等等</a:t>
            </a:r>
            <a:r>
              <a:rPr kumimoji="1" lang="en-GB" altLang="zh-CN" sz="1400" dirty="0">
                <a:solidFill>
                  <a:schemeClr val="bg2"/>
                </a:solidFill>
                <a:highlight>
                  <a:srgbClr val="FFFF00"/>
                </a:highlight>
              </a:rPr>
              <a:t>)</a:t>
            </a:r>
            <a:r>
              <a:rPr kumimoji="1" lang="zh-CN" altLang="en-US" sz="1400" dirty="0">
                <a:solidFill>
                  <a:schemeClr val="bg2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按元素合并为一个新</a:t>
            </a:r>
            <a:r>
              <a:rPr kumimoji="1" lang="en-GB" altLang="zh-CN" sz="1400" dirty="0">
                <a:solidFill>
                  <a:schemeClr val="bg2"/>
                </a:solidFill>
                <a:highlight>
                  <a:srgbClr val="FFFF00"/>
                </a:highlight>
              </a:rPr>
              <a:t>list</a:t>
            </a:r>
            <a:r>
              <a:rPr kumimoji="1" lang="en-GB" altLang="zh-CN" sz="1400" dirty="0">
                <a:solidFill>
                  <a:schemeClr val="bg2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kumimoji="1" lang="zh-CN" altLang="en-US" sz="1400" dirty="0">
                <a:solidFill>
                  <a:schemeClr val="bg2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每个元素都是</a:t>
            </a:r>
            <a:r>
              <a:rPr kumimoji="1" lang="en-GB" altLang="zh-CN" sz="1400" dirty="0">
                <a:solidFill>
                  <a:schemeClr val="bg2"/>
                </a:solidFill>
                <a:highlight>
                  <a:srgbClr val="FFFF00"/>
                </a:highlight>
              </a:rPr>
              <a:t>n</a:t>
            </a:r>
            <a:r>
              <a:rPr kumimoji="1" lang="zh-CN" altLang="en-US" sz="1400" dirty="0">
                <a:solidFill>
                  <a:schemeClr val="bg2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维的</a:t>
            </a:r>
            <a:endParaRPr kumimoji="1" lang="zh-CN" altLang="en-US" sz="1400" dirty="0">
              <a:solidFill>
                <a:schemeClr val="bg2"/>
              </a:solidFill>
              <a:highlight>
                <a:srgbClr val="FFFF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5" name="Picture 6" descr="A picture containing meter, clock&#10;&#10;Description automatically generated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9118" y="1638677"/>
            <a:ext cx="3031958" cy="57348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598" y="1638677"/>
            <a:ext cx="4430248" cy="2609161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/>
              <a:t>e</a:t>
            </a:r>
            <a:r>
              <a:rPr kumimoji="1" lang="en-GB" altLang="zh-CN" err="1"/>
              <a:t>val</a:t>
            </a:r>
            <a:r>
              <a:rPr kumimoji="1" lang="en-US" altLang="zh-CN"/>
              <a:t>()</a:t>
            </a:r>
            <a:br>
              <a:rPr kumimoji="1" lang="en-GB" altLang="zh-CN"/>
            </a:br>
            <a:br>
              <a:rPr kumimoji="1" lang="en-GB" altLang="zh-CN"/>
            </a:b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700" y="1014220"/>
            <a:ext cx="8520600" cy="3446580"/>
          </a:xfrm>
        </p:spPr>
        <p:txBody>
          <a:bodyPr>
            <a:noAutofit/>
          </a:bodyPr>
          <a:lstStyle/>
          <a:p>
            <a:r>
              <a:rPr kumimoji="1" lang="en-GB" altLang="zh-CN" sz="1400" dirty="0">
                <a:solidFill>
                  <a:schemeClr val="bg2"/>
                </a:solidFill>
              </a:rPr>
              <a:t>eval</a:t>
            </a:r>
            <a:r>
              <a:rPr kumimoji="1" lang="zh-CN" altLang="en-US" sz="1400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可以用</a:t>
            </a:r>
            <a:r>
              <a:rPr kumimoji="1" lang="zh-CN" altLang="en-US" sz="1400" dirty="0">
                <a:solidFill>
                  <a:schemeClr val="bg2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来计算一个字符串形式的表达式的值</a:t>
            </a:r>
            <a:endParaRPr kumimoji="1" lang="zh-CN" altLang="en-US" sz="1400" dirty="0">
              <a:solidFill>
                <a:schemeClr val="bg2"/>
              </a:solidFill>
              <a:highlight>
                <a:srgbClr val="FFFF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kumimoji="1" lang="en-GB" altLang="zh-CN" sz="1200" dirty="0">
                <a:solidFill>
                  <a:schemeClr val="bg2"/>
                </a:solidFill>
              </a:rPr>
              <a:t>eval(“123+456”)</a:t>
            </a:r>
            <a:endParaRPr kumimoji="1" lang="en-GB" altLang="zh-CN" sz="1200" dirty="0">
              <a:solidFill>
                <a:schemeClr val="bg2"/>
              </a:solidFill>
            </a:endParaRPr>
          </a:p>
          <a:p>
            <a:pPr lvl="1"/>
            <a:r>
              <a:rPr kumimoji="1" lang="zh-CN" altLang="en-US" sz="1200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返回值是表达式的值</a:t>
            </a:r>
            <a:endParaRPr kumimoji="1" lang="zh-CN" altLang="en-US" sz="1200" dirty="0">
              <a:solidFill>
                <a:schemeClr val="bg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kumimoji="1" lang="en-GB" altLang="zh-CN" sz="1400" dirty="0">
                <a:solidFill>
                  <a:schemeClr val="bg2"/>
                </a:solidFill>
              </a:rPr>
              <a:t>eval</a:t>
            </a:r>
            <a:r>
              <a:rPr kumimoji="1" lang="zh-CN" altLang="en-US" sz="1400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完整的功能要强大很多</a:t>
            </a:r>
            <a:r>
              <a:rPr kumimoji="1" lang="en-US" altLang="zh-CN" sz="1400" dirty="0">
                <a:solidFill>
                  <a:schemeClr val="bg2"/>
                </a:solidFill>
              </a:rPr>
              <a:t>: </a:t>
            </a:r>
            <a:r>
              <a:rPr kumimoji="1" lang="en-GB" altLang="zh-CN" sz="1400" dirty="0">
                <a:solidFill>
                  <a:schemeClr val="tx1"/>
                </a:solidFill>
              </a:rPr>
              <a:t>It is an interesting hack/utility in Python which lets a Python program run Python code within itself</a:t>
            </a:r>
            <a:endParaRPr kumimoji="1" lang="en-GB" altLang="zh-CN" sz="1400" dirty="0">
              <a:solidFill>
                <a:schemeClr val="tx1"/>
              </a:solidFill>
            </a:endParaRPr>
          </a:p>
          <a:p>
            <a:pPr lvl="1"/>
            <a:r>
              <a:rPr kumimoji="1" lang="en-GB" altLang="zh-CN" sz="1200" dirty="0">
                <a:solidFill>
                  <a:schemeClr val="tx1"/>
                </a:solidFill>
              </a:rPr>
              <a:t>The eval() method parses the expression passed to it and runs python expression(code) within the program.</a:t>
            </a:r>
            <a:endParaRPr kumimoji="1" lang="en-GB" altLang="zh-CN" sz="1200" dirty="0">
              <a:solidFill>
                <a:schemeClr val="tx1"/>
              </a:solidFill>
            </a:endParaRPr>
          </a:p>
          <a:p>
            <a:r>
              <a:rPr kumimoji="1" lang="zh-CN" altLang="en-US" sz="1400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譬如</a:t>
            </a:r>
            <a:r>
              <a:rPr kumimoji="1" lang="en-GB" altLang="zh-CN" sz="1400" dirty="0">
                <a:solidFill>
                  <a:schemeClr val="bg2"/>
                </a:solidFill>
              </a:rPr>
              <a:t>eval</a:t>
            </a:r>
            <a:r>
              <a:rPr kumimoji="1" lang="zh-CN" altLang="en-US" sz="1400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可以</a:t>
            </a:r>
            <a:r>
              <a:rPr kumimoji="1" lang="zh-CN" altLang="en-US" sz="1400" dirty="0">
                <a:solidFill>
                  <a:schemeClr val="bg2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将一个字符串形式的</a:t>
            </a:r>
            <a:r>
              <a:rPr kumimoji="1" lang="en-GB" altLang="zh-CN" sz="1400" dirty="0">
                <a:solidFill>
                  <a:schemeClr val="bg2"/>
                </a:solidFill>
                <a:highlight>
                  <a:srgbClr val="FFFF00"/>
                </a:highlight>
              </a:rPr>
              <a:t>list</a:t>
            </a:r>
            <a:r>
              <a:rPr kumimoji="1" lang="zh-CN" altLang="en-GB" sz="1400" dirty="0">
                <a:solidFill>
                  <a:schemeClr val="bg2"/>
                </a:solidFill>
                <a:highlight>
                  <a:srgbClr val="FFFF00"/>
                </a:highlight>
              </a:rPr>
              <a:t>，</a:t>
            </a:r>
            <a:r>
              <a:rPr kumimoji="1" lang="zh-CN" altLang="en-US" sz="1400" dirty="0">
                <a:solidFill>
                  <a:schemeClr val="bg2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转换为</a:t>
            </a:r>
            <a:r>
              <a:rPr kumimoji="1" lang="en-GB" altLang="zh-CN" sz="1400" dirty="0">
                <a:solidFill>
                  <a:schemeClr val="bg2"/>
                </a:solidFill>
                <a:highlight>
                  <a:srgbClr val="FFFF00"/>
                </a:highlight>
              </a:rPr>
              <a:t>list</a:t>
            </a:r>
            <a:endParaRPr kumimoji="1" lang="en-GB" altLang="zh-CN" sz="1400" dirty="0">
              <a:solidFill>
                <a:schemeClr val="bg2"/>
              </a:solidFill>
              <a:highlight>
                <a:srgbClr val="FFFF00"/>
              </a:highlight>
            </a:endParaRPr>
          </a:p>
          <a:p>
            <a:pPr lvl="1"/>
            <a:r>
              <a:rPr kumimoji="1" lang="en-GB" altLang="zh-CN" sz="1200" dirty="0">
                <a:solidFill>
                  <a:schemeClr val="bg2"/>
                </a:solidFill>
              </a:rPr>
              <a:t>lst = eval(“[1,2,3,[1,2,3]]”)</a:t>
            </a:r>
            <a:endParaRPr kumimoji="1" lang="en-GB" altLang="zh-CN" sz="1200" dirty="0">
              <a:solidFill>
                <a:schemeClr val="bg2"/>
              </a:solidFill>
            </a:endParaRPr>
          </a:p>
          <a:p>
            <a:r>
              <a:rPr kumimoji="1" lang="zh-CN" altLang="en-US" sz="1400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计算一般的表达式</a:t>
            </a:r>
            <a:endParaRPr kumimoji="1" lang="zh-CN" altLang="en-US" sz="1400" dirty="0">
              <a:solidFill>
                <a:schemeClr val="bg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kumimoji="1" lang="en-GB" altLang="zh-CN" sz="1200" dirty="0">
                <a:solidFill>
                  <a:schemeClr val="bg2"/>
                </a:solidFill>
              </a:rPr>
              <a:t>x= 1 y =2 z=eval(“(x+1)**y+y”)</a:t>
            </a:r>
            <a:endParaRPr kumimoji="1" lang="en-GB" altLang="zh-CN" sz="1200" dirty="0">
              <a:solidFill>
                <a:schemeClr val="bg2"/>
              </a:solidFill>
            </a:endParaRPr>
          </a:p>
          <a:p>
            <a:pPr lvl="1"/>
            <a:r>
              <a:rPr kumimoji="1" lang="en-GB" altLang="zh-CN" sz="1200" dirty="0">
                <a:solidFill>
                  <a:schemeClr val="bg2"/>
                </a:solidFill>
              </a:rPr>
              <a:t>program = </a:t>
            </a:r>
            <a:r>
              <a:rPr kumimoji="1" lang="en-GB" altLang="zh-CN" sz="1200" dirty="0">
                <a:solidFill>
                  <a:schemeClr val="tx1"/>
                </a:solidFill>
              </a:rPr>
              <a:t>input</a:t>
            </a:r>
            <a:r>
              <a:rPr kumimoji="1" lang="en-GB" altLang="zh-CN" sz="1200" dirty="0">
                <a:solidFill>
                  <a:schemeClr val="bg2"/>
                </a:solidFill>
              </a:rPr>
              <a:t>(</a:t>
            </a:r>
            <a:r>
              <a:rPr kumimoji="1" lang="en-GB" altLang="zh-CN" sz="1200" dirty="0">
                <a:solidFill>
                  <a:schemeClr val="accent5"/>
                </a:solidFill>
              </a:rPr>
              <a:t>'Enter a program:'</a:t>
            </a:r>
            <a:r>
              <a:rPr kumimoji="1" lang="en-GB" altLang="zh-CN" sz="1200" dirty="0">
                <a:solidFill>
                  <a:schemeClr val="bg2"/>
                </a:solidFill>
              </a:rPr>
              <a:t>)</a:t>
            </a:r>
            <a:endParaRPr kumimoji="1" lang="en-GB" altLang="zh-CN" sz="1200" dirty="0">
              <a:solidFill>
                <a:schemeClr val="bg2"/>
              </a:solidFill>
            </a:endParaRPr>
          </a:p>
          <a:p>
            <a:pPr lvl="1"/>
            <a:r>
              <a:rPr kumimoji="1" lang="en-GB" altLang="zh-CN" sz="1200" dirty="0">
                <a:solidFill>
                  <a:schemeClr val="bg2"/>
                </a:solidFill>
              </a:rPr>
              <a:t>eval(program) #[print(item) for item in [1, 2, 3]]</a:t>
            </a:r>
            <a:endParaRPr kumimoji="1" lang="en-GB" altLang="zh-CN" sz="1200" dirty="0">
              <a:solidFill>
                <a:schemeClr val="bg2"/>
              </a:solidFill>
            </a:endParaRPr>
          </a:p>
          <a:p>
            <a:r>
              <a:rPr kumimoji="1" lang="en-GB" altLang="zh-CN" sz="1400" dirty="0">
                <a:solidFill>
                  <a:schemeClr val="bg2"/>
                </a:solidFill>
              </a:rPr>
              <a:t>Error: eval(“a=1”)</a:t>
            </a:r>
            <a:endParaRPr kumimoji="1" lang="en-GB" altLang="zh-CN" sz="1400" dirty="0">
              <a:solidFill>
                <a:schemeClr val="bg2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8501" y="4698475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https://www.programiz.com/python-programming/methods/built-in/eval</a:t>
            </a:r>
            <a:endParaRPr lang="en-US" altLang="zh-CN" sz="1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altLang="zh-CN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https://www.geeksforgeeks.org/eval-in-python/</a:t>
            </a:r>
            <a:endParaRPr lang="en-US" altLang="zh-CN" sz="1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GB" altLang="zh-CN"/>
              <a:t>exec()</a:t>
            </a:r>
            <a:br>
              <a:rPr kumimoji="1" lang="en-GB" altLang="zh-CN"/>
            </a:br>
            <a:br>
              <a:rPr kumimoji="1" lang="en-GB" altLang="zh-CN"/>
            </a:b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1154497"/>
          </a:xfrm>
        </p:spPr>
        <p:txBody>
          <a:bodyPr>
            <a:noAutofit/>
          </a:bodyPr>
          <a:lstStyle/>
          <a:p>
            <a:r>
              <a:rPr kumimoji="1" lang="en-GB" altLang="zh-CN" sz="1400" dirty="0">
                <a:solidFill>
                  <a:schemeClr val="bg2"/>
                </a:solidFill>
              </a:rPr>
              <a:t>The exec() method executes the dynamically created program, which is either a string or a code object</a:t>
            </a:r>
            <a:endParaRPr kumimoji="1" lang="en-GB" altLang="zh-CN" sz="1400" dirty="0">
              <a:solidFill>
                <a:schemeClr val="bg2"/>
              </a:solidFill>
            </a:endParaRPr>
          </a:p>
          <a:p>
            <a:pPr lvl="1"/>
            <a:r>
              <a:rPr kumimoji="1" lang="en-GB" altLang="zh-CN" sz="1200" dirty="0">
                <a:solidFill>
                  <a:schemeClr val="bg2"/>
                </a:solidFill>
              </a:rPr>
              <a:t>Return none</a:t>
            </a:r>
            <a:r>
              <a:rPr kumimoji="1" lang="en-US" altLang="en-GB" sz="1200" dirty="0">
                <a:solidFill>
                  <a:schemeClr val="bg2"/>
                </a:solidFill>
              </a:rPr>
              <a:t> </a:t>
            </a:r>
            <a:r>
              <a:rPr kumimoji="1" lang="zh-CN" altLang="en-US" sz="1200" dirty="0">
                <a:solidFill>
                  <a:schemeClr val="bg2"/>
                </a:solidFill>
                <a:ea typeface="宋体" panose="02010600030101010101" pitchFamily="2" charset="-122"/>
              </a:rPr>
              <a:t>（执行字符串表示的</a:t>
            </a:r>
            <a:r>
              <a:rPr kumimoji="1" lang="zh-CN" altLang="en-US" sz="1200" dirty="0">
                <a:solidFill>
                  <a:schemeClr val="bg2"/>
                </a:solidFill>
                <a:ea typeface="宋体" panose="02010600030101010101" pitchFamily="2" charset="-122"/>
              </a:rPr>
              <a:t>代码）</a:t>
            </a:r>
            <a:endParaRPr kumimoji="1" lang="en-GB" altLang="zh-CN" sz="1200" dirty="0">
              <a:solidFill>
                <a:schemeClr val="bg2"/>
              </a:solidFill>
            </a:endParaRPr>
          </a:p>
          <a:p>
            <a:r>
              <a:rPr kumimoji="1" lang="en-GB" altLang="zh-CN" sz="1400" dirty="0">
                <a:solidFill>
                  <a:schemeClr val="bg2"/>
                </a:solidFill>
              </a:rPr>
              <a:t>program = input('Enter a program:’)</a:t>
            </a:r>
            <a:endParaRPr kumimoji="1" lang="en-GB" altLang="zh-CN" sz="1400" dirty="0">
              <a:solidFill>
                <a:schemeClr val="bg2"/>
              </a:solidFill>
            </a:endParaRPr>
          </a:p>
          <a:p>
            <a:pPr marL="114300" indent="0">
              <a:buNone/>
            </a:pPr>
            <a:r>
              <a:rPr kumimoji="1" lang="zh-CN" altLang="en-US" sz="1400" dirty="0">
                <a:solidFill>
                  <a:schemeClr val="bg2"/>
                </a:solidFill>
              </a:rPr>
              <a:t>          </a:t>
            </a:r>
            <a:r>
              <a:rPr kumimoji="1" lang="en-GB" altLang="zh-CN" sz="1400" dirty="0">
                <a:solidFill>
                  <a:schemeClr val="bg2"/>
                </a:solidFill>
              </a:rPr>
              <a:t>exec(program) #[print(item) for item in [1, 2, 3]]</a:t>
            </a:r>
            <a:endParaRPr kumimoji="1" lang="en-GB" altLang="zh-CN" sz="1400" dirty="0">
              <a:solidFill>
                <a:schemeClr val="bg2"/>
              </a:solidFill>
            </a:endParaRPr>
          </a:p>
        </p:txBody>
      </p:sp>
      <p:pic>
        <p:nvPicPr>
          <p:cNvPr id="4" name="Picture 3" descr="A picture containing text&#10;&#10;Description automatically generated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498" y="2391022"/>
            <a:ext cx="1888839" cy="538891"/>
          </a:xfrm>
          <a:prstGeom prst="rect">
            <a:avLst/>
          </a:prstGeom>
        </p:spPr>
      </p:pic>
      <p:pic>
        <p:nvPicPr>
          <p:cNvPr id="5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4909" y="2391022"/>
            <a:ext cx="752733" cy="258752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0" y="4743390"/>
            <a:ext cx="57174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https://www.programiz.com/python-programming/methods/built-in/exec</a:t>
            </a:r>
            <a:endParaRPr lang="en-US" altLang="zh-CN" sz="1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altLang="zh-CN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https://stackoverflow.com/questions/2220699/whats-the-difference-between-eval-exec-and-compile</a:t>
            </a:r>
            <a:endParaRPr lang="en-US" altLang="zh-CN" sz="1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zY3Mjg3YTY0M2FkYzQ0ZWU2NjE0NDY1YWY1MmI1YWEifQ=="/>
</p:tagLst>
</file>

<file path=ppt/theme/theme1.xml><?xml version="1.0" encoding="utf-8"?>
<a:theme xmlns:a="http://schemas.openxmlformats.org/drawingml/2006/main" name="Plum">
  <a:themeElements>
    <a:clrScheme name="Plum">
      <a:dk1>
        <a:srgbClr val="611BB8"/>
      </a:dk1>
      <a:lt1>
        <a:srgbClr val="FFFFFF"/>
      </a:lt1>
      <a:dk2>
        <a:srgbClr val="000000"/>
      </a:dk2>
      <a:lt2>
        <a:srgbClr val="7F7F7F"/>
      </a:lt2>
      <a:accent1>
        <a:srgbClr val="333333"/>
      </a:accent1>
      <a:accent2>
        <a:srgbClr val="5E2B97"/>
      </a:accent2>
      <a:accent3>
        <a:srgbClr val="7E57C2"/>
      </a:accent3>
      <a:accent4>
        <a:srgbClr val="C77025"/>
      </a:accent4>
      <a:accent5>
        <a:srgbClr val="009688"/>
      </a:accent5>
      <a:accent6>
        <a:srgbClr val="FFD600"/>
      </a:accent6>
      <a:hlink>
        <a:srgbClr val="009688"/>
      </a:hlink>
      <a:folHlink>
        <a:srgbClr val="0096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19153</Words>
  <Application>WPS 演示</Application>
  <PresentationFormat>全屏显示(16:9)</PresentationFormat>
  <Paragraphs>719</Paragraphs>
  <Slides>58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58</vt:i4>
      </vt:variant>
    </vt:vector>
  </HeadingPairs>
  <TitlesOfParts>
    <vt:vector size="80" baseType="lpstr">
      <vt:lpstr>Arial</vt:lpstr>
      <vt:lpstr>宋体</vt:lpstr>
      <vt:lpstr>Wingdings</vt:lpstr>
      <vt:lpstr>Arial</vt:lpstr>
      <vt:lpstr>Raleway</vt:lpstr>
      <vt:lpstr>Source Sans Pro</vt:lpstr>
      <vt:lpstr>Source Sans Pro</vt:lpstr>
      <vt:lpstr>黑体</vt:lpstr>
      <vt:lpstr>华文楷体</vt:lpstr>
      <vt:lpstr>Times New Roman</vt:lpstr>
      <vt:lpstr>微软雅黑</vt:lpstr>
      <vt:lpstr>Arial Unicode MS</vt:lpstr>
      <vt:lpstr>Tw Cen MT</vt:lpstr>
      <vt:lpstr>华文仿宋</vt:lpstr>
      <vt:lpstr>Cambria Math</vt:lpstr>
      <vt:lpstr>Sabon Next LT</vt:lpstr>
      <vt:lpstr>Segoe UI Symbol</vt:lpstr>
      <vt:lpstr>Consolas</vt:lpstr>
      <vt:lpstr>BatangChe</vt:lpstr>
      <vt:lpstr>ksdb</vt:lpstr>
      <vt:lpstr>等线</vt:lpstr>
      <vt:lpstr>Plum</vt:lpstr>
      <vt:lpstr>Introduction to Computation</vt:lpstr>
      <vt:lpstr>Outline</vt:lpstr>
      <vt:lpstr>Tuple</vt:lpstr>
      <vt:lpstr>Tuple (元组)</vt:lpstr>
      <vt:lpstr>Immutable and Mutable</vt:lpstr>
      <vt:lpstr>Tuple: packing and unpacking</vt:lpstr>
      <vt:lpstr>Tuple: immutable list</vt:lpstr>
      <vt:lpstr>Quick test</vt:lpstr>
      <vt:lpstr>Dict</vt:lpstr>
      <vt:lpstr>Dictionary</vt:lpstr>
      <vt:lpstr>Dict: Creation</vt:lpstr>
      <vt:lpstr>dict()</vt:lpstr>
      <vt:lpstr>Dict: [] </vt:lpstr>
      <vt:lpstr>get() and setdefault()</vt:lpstr>
      <vt:lpstr>Dict: Removing Items</vt:lpstr>
      <vt:lpstr> Multi-Line Statements</vt:lpstr>
      <vt:lpstr>Dict: modification, copy and merge</vt:lpstr>
      <vt:lpstr>Merge: **, |, update()</vt:lpstr>
      <vt:lpstr>Keys(), values(), items()</vt:lpstr>
      <vt:lpstr>Loop Through a Dictionary   </vt:lpstr>
      <vt:lpstr>Dictionary Methods     </vt:lpstr>
      <vt:lpstr>Dict应用：统计数量    </vt:lpstr>
      <vt:lpstr>Dict: more examples</vt:lpstr>
      <vt:lpstr>String</vt:lpstr>
      <vt:lpstr>String: Review of Lecture 3 </vt:lpstr>
      <vt:lpstr>split(): split a string  </vt:lpstr>
      <vt:lpstr>join(): concatenate strings  </vt:lpstr>
      <vt:lpstr>str: methods  </vt:lpstr>
      <vt:lpstr>str: more  </vt:lpstr>
      <vt:lpstr>\t and expandtabs() </vt:lpstr>
      <vt:lpstr>str.format()  </vt:lpstr>
      <vt:lpstr>str.format(): b, o, x</vt:lpstr>
      <vt:lpstr>Format string </vt:lpstr>
      <vt:lpstr>str.format(): f, d, c, s  </vt:lpstr>
      <vt:lpstr>str.format(): format types   </vt:lpstr>
      <vt:lpstr>str.format(): format types   </vt:lpstr>
      <vt:lpstr>f-String: Formatted string literals</vt:lpstr>
      <vt:lpstr>String module (Not recommended)</vt:lpstr>
      <vt:lpstr>Set</vt:lpstr>
      <vt:lpstr>Set: create  </vt:lpstr>
      <vt:lpstr>set()  </vt:lpstr>
      <vt:lpstr>Set operations</vt:lpstr>
      <vt:lpstr>PowerPoint 演示文稿</vt:lpstr>
      <vt:lpstr>Summary</vt:lpstr>
      <vt:lpstr>List, tuple, str, dict, set  </vt:lpstr>
      <vt:lpstr>List, Dict, Set</vt:lpstr>
      <vt:lpstr>Loop在编程中的意义   </vt:lpstr>
      <vt:lpstr>for x in collection_a: 状态不变</vt:lpstr>
      <vt:lpstr>PowerPoint 演示文稿</vt:lpstr>
      <vt:lpstr>for的陷阱: 应对 </vt:lpstr>
      <vt:lpstr>PowerPoint 演示文稿</vt:lpstr>
      <vt:lpstr>+=, /=, *=</vt:lpstr>
      <vt:lpstr>Mutability of parameters </vt:lpstr>
      <vt:lpstr>Built-in functions  </vt:lpstr>
      <vt:lpstr>sorted: 排序  </vt:lpstr>
      <vt:lpstr>zip() </vt:lpstr>
      <vt:lpstr>eval()  </vt:lpstr>
      <vt:lpstr>exec() 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Computation</dc:title>
  <dc:creator>Fan Cheng</dc:creator>
  <cp:lastModifiedBy>陈卓妍</cp:lastModifiedBy>
  <cp:revision>18</cp:revision>
  <dcterms:created xsi:type="dcterms:W3CDTF">2023-10-24T02:32:00Z</dcterms:created>
  <dcterms:modified xsi:type="dcterms:W3CDTF">2023-12-28T15:21:57Z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66CE2C31E3EC4F528CF47E073A71C9E5_12</vt:lpwstr>
  </property>
  <property fmtid="{D5CDD505-2E9C-101B-9397-08002B2CF9AE}" pid="3" name="KSOProductBuildVer">
    <vt:lpwstr>2052-12.1.0.15712</vt:lpwstr>
  </property>
</Properties>
</file>